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3" r:id="rId23"/>
    <p:sldId id="274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8900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F83EB-129D-EDD4-AEA5-EAB3ECEFF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0D029-2F9E-E115-BA8F-FFBF43473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F957-2C52-B0B3-3916-3DF041D6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BAC98-547B-1652-DBAB-4636C4D6B1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6758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1D4ED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761695" y="4762195"/>
            <a:ext cx="2857500" cy="2857500"/>
          </a:xfrm>
          <a:prstGeom prst="ellipse">
            <a:avLst/>
          </a:prstGeom>
          <a:solidFill>
            <a:srgbClr val="0EA5E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524805" y="1767535"/>
            <a:ext cx="1143000" cy="7589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21201" y="2082089"/>
            <a:ext cx="39547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PROBLEM SOLVING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2399" y="2567635"/>
            <a:ext cx="854964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100" b="1" kern="0" spc="-150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디자인씽킹과</a:t>
            </a:r>
            <a:r>
              <a:rPr lang="en-US" sz="5100" b="1" kern="0" spc="-15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5100" b="1" kern="0" spc="-150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5100" b="1" kern="0" spc="-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1228039" y="3375965"/>
            <a:ext cx="97447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공감(Empathize)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아이데이션(Ideate)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506370" y="4508906"/>
            <a:ext cx="71816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546941" y="6239038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6456" y="6210692"/>
            <a:ext cx="110368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</a:t>
            </a:r>
            <a:endParaRPr lang="en-US" sz="15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44407" y="507949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38590" y="479603"/>
            <a:ext cx="319399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문제해결 &amp; GenAI 활용</a:t>
            </a:r>
            <a:endParaRPr lang="en-US" sz="15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B6F974F2-91BE-9F40-A962-E676922DD0C7}"/>
              </a:ext>
            </a:extLst>
          </p:cNvPr>
          <p:cNvSpPr/>
          <p:nvPr/>
        </p:nvSpPr>
        <p:spPr>
          <a:xfrm>
            <a:off x="7659925" y="5745175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4320AABE-0833-DF8C-A20C-62D883D483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7740393" y="5850331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C3753747-08FF-1F90-5EAF-4734F14B7EAA}"/>
              </a:ext>
            </a:extLst>
          </p:cNvPr>
          <p:cNvSpPr txBox="1"/>
          <p:nvPr/>
        </p:nvSpPr>
        <p:spPr>
          <a:xfrm>
            <a:off x="8193932" y="5700827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6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399946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4866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800100"/>
            <a:ext cx="4817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학습목표와 진행 구성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863072" y="1028700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695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705356"/>
            <a:ext cx="57607" cy="46771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2202" y="20482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80998" y="1990649"/>
            <a:ext cx="23015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&amp; 산출물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772461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2"/>
          <p:cNvSpPr txBox="1"/>
          <p:nvPr/>
        </p:nvSpPr>
        <p:spPr>
          <a:xfrm>
            <a:off x="1257300" y="2695651"/>
            <a:ext cx="463536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중심의 문제해결 프로세스 습득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86307" y="3429000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4"/>
          <p:cNvSpPr txBox="1"/>
          <p:nvPr/>
        </p:nvSpPr>
        <p:spPr>
          <a:xfrm>
            <a:off x="1257300" y="3353105"/>
            <a:ext cx="546227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공감-정의-아이데이션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도출부터 아이디어 발산까지 경험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86307" y="4086454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6"/>
          <p:cNvSpPr txBox="1"/>
          <p:nvPr/>
        </p:nvSpPr>
        <p:spPr>
          <a:xfrm>
            <a:off x="1257300" y="4009644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GenAI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AI를 도구로 활용해 결과물 고도화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86307" y="5838444"/>
            <a:ext cx="1214323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#인터뷰인사이트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285086" y="5838444"/>
            <a:ext cx="838505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#페르소나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117190" y="5838444"/>
            <a:ext cx="1090879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#아이디어보드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86500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286500" y="1705356"/>
            <a:ext cx="57607" cy="467715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6610198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6610198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6672377" y="2048256"/>
            <a:ext cx="256946" cy="2286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105802" y="1990649"/>
            <a:ext cx="14237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&amp; 운영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610198" y="2781605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6"/>
          <p:cNvSpPr txBox="1"/>
          <p:nvPr/>
        </p:nvSpPr>
        <p:spPr>
          <a:xfrm>
            <a:off x="6782104" y="2695651"/>
            <a:ext cx="493622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(개념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이해와 Empathize 단계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6610198" y="3438144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28"/>
          <p:cNvSpPr txBox="1"/>
          <p:nvPr/>
        </p:nvSpPr>
        <p:spPr>
          <a:xfrm>
            <a:off x="6782105" y="3353105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(정의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Define, Ideate 단계 및 GenAI 활용 실습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6610198" y="4095598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4" name="Text 30"/>
          <p:cNvSpPr txBox="1"/>
          <p:nvPr/>
        </p:nvSpPr>
        <p:spPr>
          <a:xfrm>
            <a:off x="6782105" y="4009644"/>
            <a:ext cx="512358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타임박스 (75~90분)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45분 + 실습/토론 30분 + Q&amp;A 5분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610198" y="5838444"/>
            <a:ext cx="1010412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#Interactive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611466" y="5838444"/>
            <a:ext cx="972007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#Workshop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3523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476402"/>
            <a:ext cx="40672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Definition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771754"/>
            <a:ext cx="54443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디자인씽킹이란 무엇인가?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82858" y="948233"/>
            <a:ext cx="746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" y="5829300"/>
            <a:ext cx="11048695" cy="552298"/>
          </a:xfrm>
          <a:prstGeom prst="rect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5829300"/>
            <a:ext cx="38405" cy="55229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847649" y="6001207"/>
            <a:ext cx="161849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00607" y="5829300"/>
            <a:ext cx="779160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문제 해결 기술이 </a:t>
            </a:r>
            <a:r>
              <a:rPr lang="en-US" sz="15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사람에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대한 공감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바탕으로 혁신을 만들어내는 사고의 태도입니다.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71500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571500" y="1605686"/>
            <a:ext cx="5381244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33" r="-233"/>
          <a:stretch/>
        </p:blipFill>
        <p:spPr>
          <a:xfrm>
            <a:off x="761695" y="1844345"/>
            <a:ext cx="418795" cy="47640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38951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238951" y="1605686"/>
            <a:ext cx="5381244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233" r="-233"/>
          <a:stretch/>
        </p:blipFill>
        <p:spPr>
          <a:xfrm>
            <a:off x="6429146" y="1844345"/>
            <a:ext cx="418795" cy="476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7182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“혁신적인 비즈니스 전략을 수립하기 </a:t>
            </a: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위하여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디자인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작업의 프로세스를 </a:t>
            </a: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활용하는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창의적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· 융합적 사고방식”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33718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“사람 중심의 공감을 </a:t>
            </a: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통해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새롭게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문제점을 해석하고 </a:t>
            </a: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풀어내어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창의적인</a:t>
            </a: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혁신을 촉진하는 그로스 마인드셋”</a:t>
            </a:r>
            <a:endParaRPr lang="en-US" sz="18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88036"/>
            <a:ext cx="39913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 &amp; Timebox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83387"/>
            <a:ext cx="472379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</a:t>
            </a:r>
            <a:r>
              <a:rPr lang="en-US" sz="28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타임박스</a:t>
            </a: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(75~90분)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792663" y="724205"/>
            <a:ext cx="746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04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429207"/>
            <a:ext cx="6067044" cy="4953305"/>
          </a:xfrm>
          <a:prstGeom prst="roundRect">
            <a:avLst>
              <a:gd name="adj" fmla="val 568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429207"/>
            <a:ext cx="6067044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28700" y="2162556"/>
            <a:ext cx="5533949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1805026"/>
            <a:ext cx="209398" cy="20939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52398" y="1752905"/>
            <a:ext cx="30723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순서 (Time Schedule)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28700" y="29525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028700" y="2419502"/>
            <a:ext cx="857707" cy="295351"/>
          </a:xfrm>
          <a:prstGeom prst="roundRect">
            <a:avLst>
              <a:gd name="adj" fmla="val 599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2076602" y="2419502"/>
            <a:ext cx="2981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디자인씽킹 &amp; AI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76602" y="2648102"/>
            <a:ext cx="34829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 핵심 개념과 생성형 AI의 역할 소개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28700" y="3600907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1028700" y="3066898"/>
            <a:ext cx="857707" cy="295351"/>
          </a:xfrm>
          <a:prstGeom prst="roundRect">
            <a:avLst>
              <a:gd name="adj" fmla="val 599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2076602" y="3066898"/>
            <a:ext cx="3440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핵심: 공감과 정의 (Empathize &amp; Define)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076602" y="3295498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공감하기와 문제정의 단계 심층 이해 및 AI 활용 사례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8700" y="4248302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1028700" y="3715207"/>
            <a:ext cx="857707" cy="295351"/>
          </a:xfrm>
          <a:prstGeom prst="roundRect">
            <a:avLst>
              <a:gd name="adj" fmla="val 599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2076602" y="3715207"/>
            <a:ext cx="28931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미니 워크숍 (Ideation)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76602" y="3943807"/>
            <a:ext cx="343174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AI를 활용한 아이디어 발산 및 수렴 실습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28700" y="48956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1028700" y="4362602"/>
            <a:ext cx="857707" cy="295351"/>
          </a:xfrm>
          <a:prstGeom prst="roundRect">
            <a:avLst>
              <a:gd name="adj" fmla="val 599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2076602" y="4362602"/>
            <a:ext cx="2397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정리: 발표 및 회고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76602" y="4591202"/>
            <a:ext cx="274960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결과 공유 및 핵심 내용 리마인드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028700" y="5009998"/>
            <a:ext cx="857707" cy="295351"/>
          </a:xfrm>
          <a:prstGeom prst="roundRect">
            <a:avLst>
              <a:gd name="adj" fmla="val 5992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 txBox="1"/>
          <p:nvPr/>
        </p:nvSpPr>
        <p:spPr>
          <a:xfrm>
            <a:off x="2076602" y="5009998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076602" y="5238598"/>
            <a:ext cx="31290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질의응답 및 다음 단계 안내 (Optional)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208215" y="1429207"/>
            <a:ext cx="4229100" cy="4953305"/>
          </a:xfrm>
          <a:prstGeom prst="roundRect">
            <a:avLst>
              <a:gd name="adj" fmla="val 779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7208215" y="1429207"/>
            <a:ext cx="4229100" cy="57607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7475220" y="1752905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(Activities)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475220" y="206197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7617866" y="2204618"/>
            <a:ext cx="190195" cy="152705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923276" y="2061972"/>
            <a:ext cx="12938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인터뷰 실습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475220" y="259598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7617866" y="2738628"/>
            <a:ext cx="190195" cy="152705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923276" y="2595982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설정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475220" y="3129077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7866" y="3271723"/>
            <a:ext cx="152705" cy="15270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884871" y="3129077"/>
            <a:ext cx="12353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브레인스토밍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7475220" y="4833518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 (Outputs)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7475220" y="5143500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7617866" y="5286146"/>
            <a:ext cx="114300" cy="152705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7846466" y="5143500"/>
            <a:ext cx="13267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문제정의서 (POV)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7475220" y="5676595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617866" y="5820156"/>
            <a:ext cx="114300" cy="15270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7846466" y="5676595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보드</a:t>
            </a:r>
            <a:endParaRPr lang="en-US" sz="1200" dirty="0"/>
          </a:p>
        </p:txBody>
      </p:sp>
      <p:sp>
        <p:nvSpPr>
          <p:cNvPr id="51" name="Text 43"/>
          <p:cNvSpPr txBox="1"/>
          <p:nvPr/>
        </p:nvSpPr>
        <p:spPr>
          <a:xfrm>
            <a:off x="1200607" y="2457907"/>
            <a:ext cx="5148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0-15분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1155802" y="3105302"/>
            <a:ext cx="60624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15-40분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1155802" y="3752698"/>
            <a:ext cx="60624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40-65분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1155802" y="4401007"/>
            <a:ext cx="60624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65-75분</a:t>
            </a:r>
            <a:endParaRPr lang="en-US" sz="1100" dirty="0"/>
          </a:p>
        </p:txBody>
      </p:sp>
      <p:sp>
        <p:nvSpPr>
          <p:cNvPr id="55" name="Text 47"/>
          <p:cNvSpPr txBox="1"/>
          <p:nvPr/>
        </p:nvSpPr>
        <p:spPr>
          <a:xfrm>
            <a:off x="1155802" y="5048402"/>
            <a:ext cx="60624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75-90분</a:t>
            </a:r>
            <a:endParaRPr lang="en-US" sz="11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48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33856"/>
            <a:ext cx="10668305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316382"/>
            <a:ext cx="35341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92531"/>
            <a:ext cx="48161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863072" y="761695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38098" y="1733702"/>
            <a:ext cx="9715500" cy="38405"/>
          </a:xfrm>
          <a:prstGeom prst="roundRect">
            <a:avLst>
              <a:gd name="adj" fmla="val 1190470"/>
            </a:avLst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238098" y="1733702"/>
            <a:ext cx="5124298" cy="38405"/>
          </a:xfrm>
          <a:prstGeom prst="roundRect">
            <a:avLst>
              <a:gd name="adj" fmla="val 1190470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FE41740-404C-7CE1-E127-0E41215B6EC0}"/>
              </a:ext>
            </a:extLst>
          </p:cNvPr>
          <p:cNvGrpSpPr/>
          <p:nvPr/>
        </p:nvGrpSpPr>
        <p:grpSpPr>
          <a:xfrm>
            <a:off x="850514" y="2282499"/>
            <a:ext cx="1562202" cy="2689094"/>
            <a:chOff x="965606" y="2819094"/>
            <a:chExt cx="752727" cy="1295705"/>
          </a:xfrm>
        </p:grpSpPr>
        <p:sp>
          <p:nvSpPr>
            <p:cNvPr id="10" name="Shape 8"/>
            <p:cNvSpPr/>
            <p:nvPr/>
          </p:nvSpPr>
          <p:spPr>
            <a:xfrm>
              <a:off x="1046870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1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43466" y="3135515"/>
              <a:ext cx="197006" cy="197006"/>
            </a:xfrm>
            <a:prstGeom prst="rect">
              <a:avLst/>
            </a:prstGeom>
          </p:spPr>
        </p:pic>
        <p:sp>
          <p:nvSpPr>
            <p:cNvPr id="12" name="Shape 9"/>
            <p:cNvSpPr/>
            <p:nvPr/>
          </p:nvSpPr>
          <p:spPr>
            <a:xfrm>
              <a:off x="1239362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273428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965606" y="3644447"/>
              <a:ext cx="752727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공감하기</a:t>
              </a:r>
              <a:endParaRPr lang="en-US" sz="20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65606" y="3935031"/>
              <a:ext cx="752727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Empathize</a:t>
              </a:r>
              <a:endParaRPr lang="en-US" sz="1200" dirty="0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BA22ABB-B188-33CB-81DA-1A23FA03F251}"/>
              </a:ext>
            </a:extLst>
          </p:cNvPr>
          <p:cNvGrpSpPr/>
          <p:nvPr/>
        </p:nvGrpSpPr>
        <p:grpSpPr>
          <a:xfrm>
            <a:off x="2711792" y="2282499"/>
            <a:ext cx="1514504" cy="2689094"/>
            <a:chOff x="2555683" y="2819094"/>
            <a:chExt cx="729744" cy="1295705"/>
          </a:xfrm>
        </p:grpSpPr>
        <p:sp>
          <p:nvSpPr>
            <p:cNvPr id="16" name="Shape 13"/>
            <p:cNvSpPr/>
            <p:nvPr/>
          </p:nvSpPr>
          <p:spPr>
            <a:xfrm>
              <a:off x="2625456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822052" y="3135515"/>
              <a:ext cx="197006" cy="197006"/>
            </a:xfrm>
            <a:prstGeom prst="rect">
              <a:avLst/>
            </a:prstGeom>
          </p:spPr>
        </p:pic>
        <p:sp>
          <p:nvSpPr>
            <p:cNvPr id="18" name="Shape 14"/>
            <p:cNvSpPr/>
            <p:nvPr/>
          </p:nvSpPr>
          <p:spPr>
            <a:xfrm>
              <a:off x="281794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285201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2555683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문제정의</a:t>
              </a:r>
              <a:endParaRPr lang="en-US" sz="2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256963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Define</a:t>
              </a:r>
              <a:endParaRPr lang="en-US" sz="120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E613050-B17E-3F70-36E7-B125B76939CA}"/>
              </a:ext>
            </a:extLst>
          </p:cNvPr>
          <p:cNvGrpSpPr/>
          <p:nvPr/>
        </p:nvGrpSpPr>
        <p:grpSpPr>
          <a:xfrm>
            <a:off x="4525372" y="2282499"/>
            <a:ext cx="1514504" cy="2689094"/>
            <a:chOff x="4248294" y="2819094"/>
            <a:chExt cx="729744" cy="1295705"/>
          </a:xfrm>
        </p:grpSpPr>
        <p:sp>
          <p:nvSpPr>
            <p:cNvPr id="22" name="Shape 18"/>
            <p:cNvSpPr/>
            <p:nvPr/>
          </p:nvSpPr>
          <p:spPr>
            <a:xfrm>
              <a:off x="4318067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3" name="Image 2" descr="preencoded.png"/>
            <p:cNvPicPr>
              <a:picLocks noChangeAspect="1"/>
            </p:cNvPicPr>
            <p:nvPr/>
          </p:nvPicPr>
          <p:blipFill>
            <a:blip r:embed="rId5"/>
            <a:srcRect t="-847" b="-847"/>
            <a:stretch/>
          </p:blipFill>
          <p:spPr>
            <a:xfrm>
              <a:off x="4540520" y="3135515"/>
              <a:ext cx="145292" cy="197006"/>
            </a:xfrm>
            <a:prstGeom prst="rect">
              <a:avLst/>
            </a:prstGeom>
          </p:spPr>
        </p:pic>
        <p:sp>
          <p:nvSpPr>
            <p:cNvPr id="24" name="Shape 19"/>
            <p:cNvSpPr/>
            <p:nvPr/>
          </p:nvSpPr>
          <p:spPr>
            <a:xfrm>
              <a:off x="451055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454462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1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4248294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</a:t>
              </a:r>
              <a:endParaRPr lang="en-US" sz="2000" dirty="0"/>
            </a:p>
          </p:txBody>
        </p:sp>
        <p:sp>
          <p:nvSpPr>
            <p:cNvPr id="27" name="Text 22"/>
            <p:cNvSpPr txBox="1"/>
            <p:nvPr/>
          </p:nvSpPr>
          <p:spPr>
            <a:xfrm>
              <a:off x="426224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Ideate</a:t>
              </a:r>
              <a:endParaRPr lang="en-US" sz="1200" dirty="0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E19078DC-66AE-6421-F90F-A0B36236394B}"/>
              </a:ext>
            </a:extLst>
          </p:cNvPr>
          <p:cNvGrpSpPr/>
          <p:nvPr/>
        </p:nvGrpSpPr>
        <p:grpSpPr>
          <a:xfrm>
            <a:off x="5999318" y="2282499"/>
            <a:ext cx="1890999" cy="2689094"/>
            <a:chOff x="5848968" y="2819094"/>
            <a:chExt cx="911153" cy="1295705"/>
          </a:xfrm>
        </p:grpSpPr>
        <p:sp>
          <p:nvSpPr>
            <p:cNvPr id="28" name="Shape 23"/>
            <p:cNvSpPr/>
            <p:nvPr/>
          </p:nvSpPr>
          <p:spPr>
            <a:xfrm>
              <a:off x="6026684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19175" y="3144544"/>
              <a:ext cx="170738" cy="170738"/>
            </a:xfrm>
            <a:prstGeom prst="rect">
              <a:avLst/>
            </a:prstGeom>
          </p:spPr>
        </p:pic>
        <p:sp>
          <p:nvSpPr>
            <p:cNvPr id="30" name="Text 24"/>
            <p:cNvSpPr txBox="1"/>
            <p:nvPr/>
          </p:nvSpPr>
          <p:spPr>
            <a:xfrm>
              <a:off x="5848968" y="3644447"/>
              <a:ext cx="91115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프로토타입</a:t>
              </a:r>
              <a:endParaRPr lang="en-US" sz="20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5876877" y="3935031"/>
              <a:ext cx="855335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Prototype</a:t>
              </a:r>
              <a:endParaRPr lang="en-US" sz="1200" dirty="0"/>
            </a:p>
          </p:txBody>
        </p:sp>
        <p:sp>
          <p:nvSpPr>
            <p:cNvPr id="40" name="Shape 32"/>
            <p:cNvSpPr/>
            <p:nvPr/>
          </p:nvSpPr>
          <p:spPr>
            <a:xfrm>
              <a:off x="6210555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6236003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79C60A-432F-06D3-E9F2-5B36BA29C0D7}"/>
              </a:ext>
            </a:extLst>
          </p:cNvPr>
          <p:cNvGrpSpPr/>
          <p:nvPr/>
        </p:nvGrpSpPr>
        <p:grpSpPr>
          <a:xfrm>
            <a:off x="8071827" y="2282499"/>
            <a:ext cx="1153337" cy="2689093"/>
            <a:chOff x="7764441" y="2819094"/>
            <a:chExt cx="555721" cy="1295705"/>
          </a:xfrm>
        </p:grpSpPr>
        <p:sp>
          <p:nvSpPr>
            <p:cNvPr id="32" name="Shape 26"/>
            <p:cNvSpPr/>
            <p:nvPr/>
          </p:nvSpPr>
          <p:spPr>
            <a:xfrm>
              <a:off x="7764441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56933" y="3144544"/>
              <a:ext cx="170738" cy="170738"/>
            </a:xfrm>
            <a:prstGeom prst="rect">
              <a:avLst/>
            </a:prstGeom>
          </p:spPr>
        </p:pic>
        <p:sp>
          <p:nvSpPr>
            <p:cNvPr id="34" name="Text 27"/>
            <p:cNvSpPr txBox="1"/>
            <p:nvPr/>
          </p:nvSpPr>
          <p:spPr>
            <a:xfrm>
              <a:off x="7768546" y="3644447"/>
              <a:ext cx="54751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테스트</a:t>
              </a:r>
              <a:endParaRPr lang="en-US" sz="20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768546" y="3935031"/>
              <a:ext cx="547513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Test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948313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973760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A7F8FF3C-67C7-5D07-45C2-33BBAB8B0327}"/>
              </a:ext>
            </a:extLst>
          </p:cNvPr>
          <p:cNvGrpSpPr/>
          <p:nvPr/>
        </p:nvGrpSpPr>
        <p:grpSpPr>
          <a:xfrm>
            <a:off x="9781142" y="2282499"/>
            <a:ext cx="1172076" cy="2689094"/>
            <a:chOff x="8859533" y="2819094"/>
            <a:chExt cx="564750" cy="1295705"/>
          </a:xfrm>
        </p:grpSpPr>
        <p:sp>
          <p:nvSpPr>
            <p:cNvPr id="36" name="Shape 29"/>
            <p:cNvSpPr/>
            <p:nvPr/>
          </p:nvSpPr>
          <p:spPr>
            <a:xfrm>
              <a:off x="8864047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648" r="-1648"/>
            <a:stretch/>
          </p:blipFill>
          <p:spPr>
            <a:xfrm>
              <a:off x="9064747" y="3144544"/>
              <a:ext cx="154321" cy="170738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8859533" y="3644447"/>
              <a:ext cx="564750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실현</a:t>
              </a:r>
              <a:endParaRPr lang="en-US" sz="20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8859533" y="3935031"/>
              <a:ext cx="564750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Realize</a:t>
              </a:r>
              <a:endParaRPr lang="en-US" sz="1200" dirty="0"/>
            </a:p>
          </p:txBody>
        </p:sp>
        <p:sp>
          <p:nvSpPr>
            <p:cNvPr id="44" name="Shape 36"/>
            <p:cNvSpPr/>
            <p:nvPr/>
          </p:nvSpPr>
          <p:spPr>
            <a:xfrm>
              <a:off x="9047919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9073366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46" name="Shape 38"/>
          <p:cNvSpPr/>
          <p:nvPr/>
        </p:nvSpPr>
        <p:spPr>
          <a:xfrm>
            <a:off x="761695" y="5600700"/>
            <a:ext cx="10668305" cy="780898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9"/>
          <p:cNvSpPr/>
          <p:nvPr/>
        </p:nvSpPr>
        <p:spPr>
          <a:xfrm>
            <a:off x="761695" y="5600700"/>
            <a:ext cx="38405" cy="78089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0"/>
          <p:cNvSpPr txBox="1"/>
          <p:nvPr/>
        </p:nvSpPr>
        <p:spPr>
          <a:xfrm>
            <a:off x="1505102" y="5869534"/>
            <a:ext cx="852678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강의에서는</a:t>
            </a: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- 정의 - 아이데이션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앞 3단계에 집중하여 문제해결의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기초를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다집니다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5886907"/>
            <a:ext cx="228600" cy="228600"/>
          </a:xfrm>
          <a:prstGeom prst="rect">
            <a:avLst/>
          </a:prstGeom>
        </p:spPr>
      </p:pic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500" dirty="0"/>
          </a:p>
        </p:txBody>
      </p:sp>
      <p:sp>
        <p:nvSpPr>
          <p:cNvPr id="7" name="Text 5"/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4463186"/>
            <a:ext cx="704911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경험을 깊이 있게 이해하고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숨겨진 니즈와 인사이트를 발견하는 과정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2514" y="1514246"/>
            <a:ext cx="9144" cy="4114800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33158" y="1814170"/>
            <a:ext cx="43059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33158" y="2385670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671816" y="2542946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95260" y="2667305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38414" y="2490826"/>
            <a:ext cx="1594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38414" y="2757830"/>
            <a:ext cx="183337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맥락 이해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33158" y="3366821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7671816" y="3524098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7780630" y="3648456"/>
            <a:ext cx="256946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38414" y="3471977"/>
            <a:ext cx="2088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산출물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338414" y="3738982"/>
            <a:ext cx="246796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 &amp; 주요 니즈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433158" y="4347972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7671816" y="450524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7766914" y="4629607"/>
            <a:ext cx="286207" cy="2286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38414" y="4453128"/>
            <a:ext cx="18626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방식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38414" y="4719218"/>
            <a:ext cx="237286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· 인터뷰 · 경험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 + 공감</a:t>
            </a:r>
            <a:endParaRPr lang="en-US" sz="5400" dirty="0"/>
          </a:p>
        </p:txBody>
      </p:sp>
      <p:sp>
        <p:nvSpPr>
          <p:cNvPr id="28" name="Text 23"/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028700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208483"/>
            <a:ext cx="857707" cy="247802"/>
          </a:xfrm>
          <a:prstGeom prst="roundRect">
            <a:avLst>
              <a:gd name="adj" fmla="val 283849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180490" y="589686"/>
            <a:ext cx="368411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 (Empathize)</a:t>
            </a:r>
            <a:endParaRPr lang="en-US" sz="2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626262"/>
            <a:ext cx="304495" cy="3044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92663" y="580644"/>
            <a:ext cx="746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07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7707" y="236830"/>
            <a:ext cx="7434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61695" y="1238098"/>
            <a:ext cx="5181905" cy="5238598"/>
          </a:xfrm>
          <a:prstGeom prst="roundRect">
            <a:avLst>
              <a:gd name="adj" fmla="val 519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1238098"/>
            <a:ext cx="51819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028700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1028700" y="1604772"/>
            <a:ext cx="237744" cy="20939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62456" y="1552651"/>
            <a:ext cx="196778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및 방법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028700" y="220004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1114654" y="2295144"/>
            <a:ext cx="171907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85900" y="2180844"/>
            <a:ext cx="35058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(Observation)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485900" y="2467051"/>
            <a:ext cx="40315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행동 패턴과 숨겨진 니즈를 제3자의 눈으로 발견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028700" y="2842870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104595" y="2938882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85900" y="2824582"/>
            <a:ext cx="3543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(Interview)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485900" y="3109874"/>
            <a:ext cx="4134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대화를 통해 "왜(Why)"라는 질문으로 심층 심리 파악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1028700" y="34866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152144" y="3581705"/>
            <a:ext cx="95098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85900" y="3467405"/>
            <a:ext cx="34198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체험 (Experience)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485900" y="3752698"/>
            <a:ext cx="3945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환경에 직접 들어가 불편함을 몸소 느끼는 과정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1028700" y="5529377"/>
            <a:ext cx="4647895" cy="685800"/>
          </a:xfrm>
          <a:prstGeom prst="roundRect">
            <a:avLst>
              <a:gd name="adj" fmla="val 1851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1139342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Sympathy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동정 (불쌍함)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3386938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3344875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(동일시)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229807" y="1238098"/>
            <a:ext cx="5201107" cy="5238598"/>
          </a:xfrm>
          <a:prstGeom prst="roundRect">
            <a:avLst>
              <a:gd name="adj" fmla="val 51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6229807" y="1238098"/>
            <a:ext cx="5201107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505956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04" r="-1004"/>
          <a:stretch/>
        </p:blipFill>
        <p:spPr>
          <a:xfrm>
            <a:off x="6505956" y="1604772"/>
            <a:ext cx="267005" cy="20939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67144" y="1552651"/>
            <a:ext cx="1662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600" dirty="0"/>
          </a:p>
        </p:txBody>
      </p:sp>
      <p:sp>
        <p:nvSpPr>
          <p:cNvPr id="37" name="Shape 29"/>
          <p:cNvSpPr/>
          <p:nvPr/>
        </p:nvSpPr>
        <p:spPr>
          <a:xfrm>
            <a:off x="6505956" y="2180844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6505956" y="2180844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6933895" y="2295144"/>
            <a:ext cx="4239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질문 생성</a:t>
            </a:r>
            <a:endParaRPr lang="en-US" sz="12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705295" y="2333549"/>
            <a:ext cx="152705" cy="152705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6705295" y="2581351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6505956" y="3395167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4"/>
          <p:cNvSpPr/>
          <p:nvPr/>
        </p:nvSpPr>
        <p:spPr>
          <a:xfrm>
            <a:off x="6505956" y="3395167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6895490" y="3509467"/>
            <a:ext cx="4277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요약 및 감정 분석</a:t>
            </a:r>
            <a:endParaRPr lang="en-US" sz="1200" dirty="0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rcRect t="-100" b="-100"/>
          <a:stretch/>
        </p:blipFill>
        <p:spPr>
          <a:xfrm>
            <a:off x="6705295" y="3546958"/>
            <a:ext cx="114300" cy="152705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6705295" y="3794760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6505956" y="5606186"/>
            <a:ext cx="4647895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7746" y="5739689"/>
            <a:ext cx="171907" cy="171907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924751" y="5730545"/>
            <a:ext cx="6305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데이터 기반의 추론만 가능합니다. 실제 사용자의 미묘한 뉘앙스나 </a:t>
            </a: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표정은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확인해야 하며, AI의 분석 결과를 맹신하지 마세요.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3277210" y="5777179"/>
            <a:ext cx="2286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6829654" y="2695651"/>
            <a:ext cx="614842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"대학생들의 [수강신청] 경험과 관련된 불편함을 깊이 파악하고 싶어.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심층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인터뷰를 위한 질문 리스트 10개를 만들어줘."</a:t>
            </a:r>
            <a:endParaRPr lang="en-US" sz="900" dirty="0"/>
          </a:p>
        </p:txBody>
      </p:sp>
      <p:sp>
        <p:nvSpPr>
          <p:cNvPr id="52" name="Text 41"/>
          <p:cNvSpPr txBox="1"/>
          <p:nvPr/>
        </p:nvSpPr>
        <p:spPr>
          <a:xfrm>
            <a:off x="6829654" y="3909060"/>
            <a:ext cx="593628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"다음 인터뷰 내용에서 사용자가 느낀 핵심 감정(Emotion) 3가지와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가장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큰 페인포인트를 요약해줘."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90549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381305"/>
            <a:ext cx="4429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Activity Canvas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657454"/>
            <a:ext cx="602406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인터뷰 → 인사이트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10545317" y="610819"/>
            <a:ext cx="1287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소요시간: 20분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1747" y="658368"/>
            <a:ext cx="152705" cy="152705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3183941" y="3848710"/>
            <a:ext cx="105156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6043270" y="3848710"/>
            <a:ext cx="105156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8903513" y="3848710"/>
            <a:ext cx="105156" cy="171907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71500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7"/>
          <p:cNvSpPr/>
          <p:nvPr/>
        </p:nvSpPr>
        <p:spPr>
          <a:xfrm>
            <a:off x="571500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8"/>
          <p:cNvSpPr/>
          <p:nvPr/>
        </p:nvSpPr>
        <p:spPr>
          <a:xfrm>
            <a:off x="743407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 txBox="1"/>
          <p:nvPr/>
        </p:nvSpPr>
        <p:spPr>
          <a:xfrm>
            <a:off x="836676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780898" y="1687982"/>
            <a:ext cx="11567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User Interview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2321662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397557" y="1747418"/>
            <a:ext cx="123444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569464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rcRect l="-775" r="-775"/>
          <a:stretch/>
        </p:blipFill>
        <p:spPr>
          <a:xfrm>
            <a:off x="1648663" y="2307031"/>
            <a:ext cx="314554" cy="24780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80898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914400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5"/>
          <p:cNvSpPr txBox="1"/>
          <p:nvPr/>
        </p:nvSpPr>
        <p:spPr>
          <a:xfrm>
            <a:off x="1143000" y="2848356"/>
            <a:ext cx="1700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짝과 역할 나누기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(사용자 / 인터뷰어)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914400" y="3325673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1143000" y="3210001"/>
            <a:ext cx="226954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경험한 '불편함' 스토리 듣기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14400" y="3775558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139800" y="3795445"/>
            <a:ext cx="9976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"왜?" 3번 묻기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3431743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431743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602736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3696919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3641141" y="1687982"/>
            <a:ext cx="96377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관찰/메모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33" name="Shape 25"/>
          <p:cNvSpPr/>
          <p:nvPr/>
        </p:nvSpPr>
        <p:spPr>
          <a:xfrm>
            <a:off x="5181905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7800" y="1747418"/>
            <a:ext cx="123444" cy="12344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428793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7"/>
          <a:srcRect l="-1169" r="-1169"/>
          <a:stretch/>
        </p:blipFill>
        <p:spPr>
          <a:xfrm>
            <a:off x="4571086" y="2307031"/>
            <a:ext cx="190195" cy="247802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3641141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3774643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4003243" y="284835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키워드 기록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3774643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4003243" y="3110789"/>
            <a:ext cx="149047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단어 포착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(답답함, 짜증 등)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3774643" y="3589020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003243" y="3579419"/>
            <a:ext cx="16440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장애물(Pain Point) 식별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6291072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291072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2979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556248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48" name="Text 38"/>
          <p:cNvSpPr txBox="1"/>
          <p:nvPr/>
        </p:nvSpPr>
        <p:spPr>
          <a:xfrm>
            <a:off x="6500470" y="1687982"/>
            <a:ext cx="1077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 Map</a:t>
            </a:r>
            <a:endParaRPr lang="en-US" sz="1500" dirty="0"/>
          </a:p>
        </p:txBody>
      </p:sp>
      <p:sp>
        <p:nvSpPr>
          <p:cNvPr id="49" name="Shape 39"/>
          <p:cNvSpPr/>
          <p:nvPr/>
        </p:nvSpPr>
        <p:spPr>
          <a:xfrm>
            <a:off x="8041234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17129" y="1747418"/>
            <a:ext cx="123444" cy="123444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289036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8"/>
          <a:srcRect t="-476" b="-476"/>
          <a:stretch/>
        </p:blipFill>
        <p:spPr>
          <a:xfrm>
            <a:off x="7387438" y="2307031"/>
            <a:ext cx="276149" cy="247802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6500470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6633972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3"/>
          <p:cNvSpPr txBox="1"/>
          <p:nvPr/>
        </p:nvSpPr>
        <p:spPr>
          <a:xfrm>
            <a:off x="6862572" y="2848356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Says: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발언</a:t>
            </a:r>
            <a:endParaRPr lang="en-US" sz="1000" dirty="0"/>
          </a:p>
        </p:txBody>
      </p:sp>
      <p:sp>
        <p:nvSpPr>
          <p:cNvPr id="56" name="Shape 44"/>
          <p:cNvSpPr/>
          <p:nvPr/>
        </p:nvSpPr>
        <p:spPr>
          <a:xfrm>
            <a:off x="6633972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6862572" y="3110789"/>
            <a:ext cx="13606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Thinks: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속마음 추측</a:t>
            </a:r>
            <a:endParaRPr lang="en-US" sz="1000" dirty="0"/>
          </a:p>
        </p:txBody>
      </p:sp>
      <p:sp>
        <p:nvSpPr>
          <p:cNvPr id="58" name="Shape 46"/>
          <p:cNvSpPr/>
          <p:nvPr/>
        </p:nvSpPr>
        <p:spPr>
          <a:xfrm>
            <a:off x="6633972" y="340248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7"/>
          <p:cNvSpPr txBox="1"/>
          <p:nvPr/>
        </p:nvSpPr>
        <p:spPr>
          <a:xfrm>
            <a:off x="6862572" y="3373222"/>
            <a:ext cx="1066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Does: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패턴</a:t>
            </a:r>
            <a:endParaRPr lang="en-US" sz="1000" dirty="0"/>
          </a:p>
        </p:txBody>
      </p:sp>
      <p:sp>
        <p:nvSpPr>
          <p:cNvPr id="60" name="Shape 48"/>
          <p:cNvSpPr/>
          <p:nvPr/>
        </p:nvSpPr>
        <p:spPr>
          <a:xfrm>
            <a:off x="6633972" y="366491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9"/>
          <p:cNvSpPr txBox="1"/>
          <p:nvPr/>
        </p:nvSpPr>
        <p:spPr>
          <a:xfrm>
            <a:off x="6862572" y="3636569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Feels: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상태</a:t>
            </a:r>
            <a:endParaRPr lang="en-US" sz="1000" dirty="0"/>
          </a:p>
        </p:txBody>
      </p:sp>
      <p:sp>
        <p:nvSpPr>
          <p:cNvPr id="62" name="Shape 50"/>
          <p:cNvSpPr/>
          <p:nvPr/>
        </p:nvSpPr>
        <p:spPr>
          <a:xfrm>
            <a:off x="9151315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51"/>
          <p:cNvSpPr/>
          <p:nvPr/>
        </p:nvSpPr>
        <p:spPr>
          <a:xfrm>
            <a:off x="9151315" y="1392631"/>
            <a:ext cx="24761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52"/>
          <p:cNvSpPr/>
          <p:nvPr/>
        </p:nvSpPr>
        <p:spPr>
          <a:xfrm>
            <a:off x="9322308" y="1297534"/>
            <a:ext cx="267005" cy="26700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3"/>
          <p:cNvSpPr txBox="1"/>
          <p:nvPr/>
        </p:nvSpPr>
        <p:spPr>
          <a:xfrm>
            <a:off x="9416491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6" name="Text 54"/>
          <p:cNvSpPr txBox="1"/>
          <p:nvPr/>
        </p:nvSpPr>
        <p:spPr>
          <a:xfrm>
            <a:off x="9360713" y="1687982"/>
            <a:ext cx="9189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POV</a:t>
            </a:r>
            <a:endParaRPr lang="en-US" sz="1500" dirty="0"/>
          </a:p>
        </p:txBody>
      </p:sp>
      <p:sp>
        <p:nvSpPr>
          <p:cNvPr id="67" name="Shape 55"/>
          <p:cNvSpPr/>
          <p:nvPr/>
        </p:nvSpPr>
        <p:spPr>
          <a:xfrm>
            <a:off x="10901477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977372" y="1747418"/>
            <a:ext cx="123444" cy="123444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11149279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</a:t>
            </a:r>
            <a:endParaRPr lang="en-US" sz="900" dirty="0"/>
          </a:p>
        </p:txBody>
      </p:sp>
      <p:pic>
        <p:nvPicPr>
          <p:cNvPr id="70" name="Image 11" descr="preencoded.png"/>
          <p:cNvPicPr>
            <a:picLocks noChangeAspect="1"/>
          </p:cNvPicPr>
          <p:nvPr/>
        </p:nvPicPr>
        <p:blipFill>
          <a:blip r:embed="rId10"/>
          <a:srcRect l="-1169" r="-1169"/>
          <a:stretch/>
        </p:blipFill>
        <p:spPr>
          <a:xfrm>
            <a:off x="10290658" y="2307031"/>
            <a:ext cx="190195" cy="247802"/>
          </a:xfrm>
          <a:prstGeom prst="rect">
            <a:avLst/>
          </a:prstGeom>
        </p:spPr>
      </p:pic>
      <p:sp>
        <p:nvSpPr>
          <p:cNvPr id="71" name="Shape 57"/>
          <p:cNvSpPr/>
          <p:nvPr/>
        </p:nvSpPr>
        <p:spPr>
          <a:xfrm>
            <a:off x="9360713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58"/>
          <p:cNvSpPr/>
          <p:nvPr/>
        </p:nvSpPr>
        <p:spPr>
          <a:xfrm>
            <a:off x="9494215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59"/>
          <p:cNvSpPr txBox="1"/>
          <p:nvPr/>
        </p:nvSpPr>
        <p:spPr>
          <a:xfrm>
            <a:off x="9722815" y="2848356"/>
            <a:ext cx="135239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문장 완성하기</a:t>
            </a:r>
            <a:endParaRPr lang="en-US" sz="1000" dirty="0"/>
          </a:p>
        </p:txBody>
      </p:sp>
      <p:sp>
        <p:nvSpPr>
          <p:cNvPr id="74" name="Shape 60"/>
          <p:cNvSpPr/>
          <p:nvPr/>
        </p:nvSpPr>
        <p:spPr>
          <a:xfrm>
            <a:off x="9494215" y="3110789"/>
            <a:ext cx="1790395" cy="504749"/>
          </a:xfrm>
          <a:prstGeom prst="roundRect">
            <a:avLst>
              <a:gd name="adj" fmla="val 27345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61"/>
          <p:cNvSpPr txBox="1"/>
          <p:nvPr/>
        </p:nvSpPr>
        <p:spPr>
          <a:xfrm>
            <a:off x="9570110" y="3186684"/>
            <a:ext cx="1950415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"사용자는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때문에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79806"/>
            <a:ext cx="4629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Phase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46811"/>
            <a:ext cx="57561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정의(Define): 진짜 문제 찾기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863072" y="752551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57346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90295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90295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6249" y="174284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05102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90295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133856" y="2352751"/>
            <a:ext cx="44769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공감을 통해 얻은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바탕으로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진짜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발견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단계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90295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133856" y="2971800"/>
            <a:ext cx="34006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원하는 것(Needs)과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Points)의 윤곽을 명확히 정의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0295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133856" y="3590849"/>
            <a:ext cx="2595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현상이 아닌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90295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990295" y="5341925"/>
            <a:ext cx="28346" cy="81930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1133856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 Goal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33856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"우리가 해결해야 할 문제는 ____ 이다"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문장으로 정의하기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69003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4369003" y="1380744"/>
            <a:ext cx="3457346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97603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597603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3557" y="1742846"/>
            <a:ext cx="228600" cy="2286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111496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도구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4597603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740250" y="2352751"/>
            <a:ext cx="3848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(Persona)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사용자를 대표하는 가상의 인물 설정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597603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 txBox="1"/>
          <p:nvPr/>
        </p:nvSpPr>
        <p:spPr>
          <a:xfrm>
            <a:off x="4740250" y="2971800"/>
            <a:ext cx="308518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범위, 제약사항 등을 문서화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597603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4740250" y="3590849"/>
            <a:ext cx="215432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(Point of View)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+ 니즈 + 인사이트 조합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4597603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3"/>
          <p:cNvSpPr/>
          <p:nvPr/>
        </p:nvSpPr>
        <p:spPr>
          <a:xfrm>
            <a:off x="4597603" y="5341925"/>
            <a:ext cx="28346" cy="8193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4"/>
          <p:cNvSpPr txBox="1"/>
          <p:nvPr/>
        </p:nvSpPr>
        <p:spPr>
          <a:xfrm>
            <a:off x="4740250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Example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4740250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"30대 직장인 A씨는 [야근 때문에] [건강한 식사]를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하길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원한다."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975397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7"/>
          <p:cNvSpPr/>
          <p:nvPr/>
        </p:nvSpPr>
        <p:spPr>
          <a:xfrm>
            <a:off x="7975397" y="1380744"/>
            <a:ext cx="3457346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8"/>
          <p:cNvSpPr/>
          <p:nvPr/>
        </p:nvSpPr>
        <p:spPr>
          <a:xfrm>
            <a:off x="8203997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9"/>
          <p:cNvSpPr/>
          <p:nvPr/>
        </p:nvSpPr>
        <p:spPr>
          <a:xfrm>
            <a:off x="8203997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6366F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261604" y="1742846"/>
            <a:ext cx="286207" cy="22860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718804" y="1714500"/>
            <a:ext cx="70317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8203997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347558" y="2352751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데이터를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 초안 작성 요청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8203997" y="3271723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4"/>
          <p:cNvSpPr txBox="1"/>
          <p:nvPr/>
        </p:nvSpPr>
        <p:spPr>
          <a:xfrm>
            <a:off x="8347558" y="3185770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HMW 질문 도출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"How Might We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(우리가 어떻게 하면 ~할 수 있을까?)"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10개 생성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8203997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6"/>
          <p:cNvSpPr/>
          <p:nvPr/>
        </p:nvSpPr>
        <p:spPr>
          <a:xfrm>
            <a:off x="8203997" y="5341925"/>
            <a:ext cx="28346" cy="81930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7"/>
          <p:cNvSpPr txBox="1"/>
          <p:nvPr/>
        </p:nvSpPr>
        <p:spPr>
          <a:xfrm>
            <a:off x="8347558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Idea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47558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인터뷰 내용을 바탕으로 20대 대학생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페르소나의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일과를 작성해줘."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202997"/>
            <a:ext cx="875995" cy="247802"/>
          </a:xfrm>
          <a:prstGeom prst="roundRect">
            <a:avLst>
              <a:gd name="adj" fmla="val 283849"/>
            </a:avLst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26728" y="362102"/>
            <a:ext cx="35039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내기 (Ideate)</a:t>
            </a:r>
            <a:endParaRPr lang="en-US" sz="2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174" y="395935"/>
            <a:ext cx="200254" cy="2670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054182" y="571500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66598" y="231343"/>
            <a:ext cx="762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71500" y="1143000"/>
            <a:ext cx="5372100" cy="5429707"/>
          </a:xfrm>
          <a:prstGeom prst="roundRect">
            <a:avLst>
              <a:gd name="adj" fmla="val 423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71500" y="1143000"/>
            <a:ext cx="5372100" cy="4754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00100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0100" y="1466698"/>
            <a:ext cx="219456" cy="19019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4654" y="1419149"/>
            <a:ext cx="178856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기법 및 도구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00100" y="19906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5198" y="2085746"/>
            <a:ext cx="152705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7300" y="1971446"/>
            <a:ext cx="40489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(Brainstorming)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253082"/>
            <a:ext cx="4703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 금지, 자유로운 발언을 통해 최대한 많은 아이디어를 쏟아내는 과정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0100" y="262432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86054" y="2719426"/>
            <a:ext cx="171907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57300" y="2605126"/>
            <a:ext cx="39246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 &amp; 시각화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885846"/>
            <a:ext cx="44156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단어에서 가지를 뻗어 나가며 생각을 확장하고 구조적으로 정리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00100" y="32580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905256" y="3353105"/>
            <a:ext cx="133502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57300" y="3238805"/>
            <a:ext cx="40864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 &amp; 브레인라이팅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519526"/>
            <a:ext cx="46232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침묵 속에 각자 포스트잇에 적어 붙이며 타인의 생각에 아이디어를 더함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800100" y="5605272"/>
            <a:ext cx="4914900" cy="743407"/>
          </a:xfrm>
          <a:prstGeom prst="roundRect">
            <a:avLst>
              <a:gd name="adj" fmla="val 1261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886054" y="5747918"/>
            <a:ext cx="4743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"Quantity drives Quality"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847649" y="6014923"/>
            <a:ext cx="48198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양이 질을 만든다: 초기에는 무조건 많은 양이 중요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6229807" y="1143000"/>
            <a:ext cx="5391302" cy="5429707"/>
          </a:xfrm>
          <a:prstGeom prst="roundRect">
            <a:avLst>
              <a:gd name="adj" fmla="val 42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6229807" y="1143000"/>
            <a:ext cx="5391302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67551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67551" y="1466698"/>
            <a:ext cx="237744" cy="19019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01307" y="1419149"/>
            <a:ext cx="151150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6467551" y="1971446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467551" y="1971446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6838798" y="2085746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무한 발산 (Diverge)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48602" y="2126894"/>
            <a:ext cx="133502" cy="13350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6648602" y="2357323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6467551" y="3142793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2"/>
          <p:cNvSpPr/>
          <p:nvPr/>
        </p:nvSpPr>
        <p:spPr>
          <a:xfrm>
            <a:off x="6467551" y="3142793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6838798" y="3257093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SCAMPER 변형 기법</a:t>
            </a:r>
            <a:endParaRPr lang="en-US" sz="1100" dirty="0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48602" y="3297326"/>
            <a:ext cx="133502" cy="133502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48602" y="3527755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467551" y="4313225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7551" y="4313225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838798" y="4427525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및 수렴 (Converge)</a:t>
            </a:r>
            <a:endParaRPr lang="en-US" sz="1100" dirty="0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48602" y="4467758"/>
            <a:ext cx="133502" cy="13350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6648602" y="4699102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9"/>
          <p:cNvSpPr/>
          <p:nvPr/>
        </p:nvSpPr>
        <p:spPr>
          <a:xfrm>
            <a:off x="6467551" y="5739689"/>
            <a:ext cx="4914900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590995" y="5882335"/>
            <a:ext cx="152705" cy="152705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838798" y="5863133"/>
            <a:ext cx="454365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아이디어는 기존 데이터를 기반으로 하므로 '뻔한(Cliché)' 것일 수 있습니다.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직관으로 필터링하고 발전시키세요.</a:t>
            </a:r>
            <a:endParaRPr lang="en-US" sz="900" dirty="0"/>
          </a:p>
        </p:txBody>
      </p:sp>
      <p:sp>
        <p:nvSpPr>
          <p:cNvPr id="53" name="Text 41"/>
          <p:cNvSpPr txBox="1"/>
          <p:nvPr/>
        </p:nvSpPr>
        <p:spPr>
          <a:xfrm>
            <a:off x="6752844" y="2471623"/>
            <a:ext cx="411545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문제(POV)를 해결할 수 있는 창의적이고 기발한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아이디어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20가지를 리스트로 제안해줘. 비용은 고려하지 마."</a:t>
            </a:r>
            <a:endParaRPr lang="en-US" sz="900" dirty="0"/>
          </a:p>
        </p:txBody>
      </p:sp>
      <p:sp>
        <p:nvSpPr>
          <p:cNvPr id="54" name="Text 42"/>
          <p:cNvSpPr txBox="1"/>
          <p:nvPr/>
        </p:nvSpPr>
        <p:spPr>
          <a:xfrm>
            <a:off x="6752844" y="3642055"/>
            <a:ext cx="435406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"이 아이디어를 [뒤집기(Reverse)] 기법을 적용해서 완전히 다르게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접근하는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방법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3가지를 알려줘."</a:t>
            </a:r>
            <a:endParaRPr lang="en-US" sz="900" dirty="0"/>
          </a:p>
        </p:txBody>
      </p:sp>
      <p:sp>
        <p:nvSpPr>
          <p:cNvPr id="55" name="Text 43"/>
          <p:cNvSpPr txBox="1"/>
          <p:nvPr/>
        </p:nvSpPr>
        <p:spPr>
          <a:xfrm>
            <a:off x="6752845" y="4813402"/>
            <a:ext cx="443128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[독창성]과 [실현 가능성] 점수를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매겨서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상위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3개를 추천해줘."</a:t>
            </a:r>
            <a:endParaRPr lang="en-US" sz="9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3976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237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251460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with GenAI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46811"/>
            <a:ext cx="80695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AI 협업 문제해결 워크시트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744200" y="437998"/>
            <a:ext cx="88239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4742" y="780898"/>
            <a:ext cx="15736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Total Workshop Time</a:t>
            </a:r>
            <a:endParaRPr lang="en-US" sz="1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191256" y="3804818"/>
            <a:ext cx="95098" cy="15270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6048756" y="3804818"/>
            <a:ext cx="95098" cy="152705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8906256" y="3804818"/>
            <a:ext cx="95098" cy="15270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71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8"/>
          <p:cNvSpPr/>
          <p:nvPr/>
        </p:nvSpPr>
        <p:spPr>
          <a:xfrm>
            <a:off x="571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 txBox="1"/>
          <p:nvPr/>
        </p:nvSpPr>
        <p:spPr>
          <a:xfrm>
            <a:off x="780898" y="1705356"/>
            <a:ext cx="79369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2361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38705" y="1762049"/>
            <a:ext cx="114300" cy="1143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590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1666951" y="2335378"/>
            <a:ext cx="286207" cy="2286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80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895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11045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사용자 선정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895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104595" y="3084271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895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8"/>
          <p:cNvSpPr txBox="1"/>
          <p:nvPr/>
        </p:nvSpPr>
        <p:spPr>
          <a:xfrm>
            <a:off x="1104595" y="3327502"/>
            <a:ext cx="12938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공감지도(Map) 초안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80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750" b="-1750"/>
          <a:stretch/>
        </p:blipFill>
        <p:spPr>
          <a:xfrm>
            <a:off x="886054" y="5375758"/>
            <a:ext cx="114300" cy="1051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37844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886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942746" y="5611673"/>
            <a:ext cx="17337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"20대 대학생의 [수강신청] 관련 페르소나와 </a:t>
            </a: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공감지도를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표로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작성해줘."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3429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34290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3638398" y="1705356"/>
            <a:ext cx="81655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219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96205" y="1762049"/>
            <a:ext cx="114300" cy="1143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47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52798" y="2335378"/>
            <a:ext cx="228600" cy="22860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3638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3752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3962095" y="2840126"/>
            <a:ext cx="15416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불편함(Pain) 파악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3752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962095" y="3084271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 탐색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3752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3962095" y="3327502"/>
            <a:ext cx="1757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POV(Point Of View) 작성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3638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8"/>
          <a:srcRect l="-783" r="-783"/>
          <a:stretch/>
        </p:blipFill>
        <p:spPr>
          <a:xfrm>
            <a:off x="3743554" y="5375758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391454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48" name="Shape 37"/>
          <p:cNvSpPr/>
          <p:nvPr/>
        </p:nvSpPr>
        <p:spPr>
          <a:xfrm>
            <a:off x="3743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3800246" y="5611673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"위 페르소나가 겪는 가장 큰 문제를 '사용자는 [ ] 때문에 [ ]를 원한다' 형식으로 정의해줘."</a:t>
            </a:r>
            <a:endParaRPr lang="en-US" sz="800" dirty="0"/>
          </a:p>
        </p:txBody>
      </p:sp>
      <p:sp>
        <p:nvSpPr>
          <p:cNvPr id="50" name="Shape 39"/>
          <p:cNvSpPr/>
          <p:nvPr/>
        </p:nvSpPr>
        <p:spPr>
          <a:xfrm>
            <a:off x="6286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0"/>
          <p:cNvSpPr/>
          <p:nvPr/>
        </p:nvSpPr>
        <p:spPr>
          <a:xfrm>
            <a:off x="6286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1"/>
          <p:cNvSpPr txBox="1"/>
          <p:nvPr/>
        </p:nvSpPr>
        <p:spPr>
          <a:xfrm>
            <a:off x="6495898" y="1705356"/>
            <a:ext cx="75986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8076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3705" y="1762049"/>
            <a:ext cx="114300" cy="11430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8305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7438644" y="2335378"/>
            <a:ext cx="171907" cy="228600"/>
          </a:xfrm>
          <a:prstGeom prst="rect">
            <a:avLst/>
          </a:prstGeom>
        </p:spPr>
      </p:pic>
      <p:sp>
        <p:nvSpPr>
          <p:cNvPr id="57" name="Shape 44"/>
          <p:cNvSpPr/>
          <p:nvPr/>
        </p:nvSpPr>
        <p:spPr>
          <a:xfrm>
            <a:off x="6495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5"/>
          <p:cNvSpPr/>
          <p:nvPr/>
        </p:nvSpPr>
        <p:spPr>
          <a:xfrm>
            <a:off x="6610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6"/>
          <p:cNvSpPr txBox="1"/>
          <p:nvPr/>
        </p:nvSpPr>
        <p:spPr>
          <a:xfrm>
            <a:off x="6819595" y="2840126"/>
            <a:ext cx="13533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(발산)</a:t>
            </a:r>
            <a:endParaRPr lang="en-US" sz="1000" dirty="0"/>
          </a:p>
        </p:txBody>
      </p:sp>
      <p:sp>
        <p:nvSpPr>
          <p:cNvPr id="60" name="Shape 47"/>
          <p:cNvSpPr/>
          <p:nvPr/>
        </p:nvSpPr>
        <p:spPr>
          <a:xfrm>
            <a:off x="6610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8"/>
          <p:cNvSpPr txBox="1"/>
          <p:nvPr/>
        </p:nvSpPr>
        <p:spPr>
          <a:xfrm>
            <a:off x="6819595" y="3084271"/>
            <a:ext cx="134416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Might We 질문</a:t>
            </a:r>
            <a:endParaRPr lang="en-US" sz="1000" dirty="0"/>
          </a:p>
        </p:txBody>
      </p:sp>
      <p:sp>
        <p:nvSpPr>
          <p:cNvPr id="62" name="Shape 49"/>
          <p:cNvSpPr/>
          <p:nvPr/>
        </p:nvSpPr>
        <p:spPr>
          <a:xfrm>
            <a:off x="6610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0"/>
          <p:cNvSpPr txBox="1"/>
          <p:nvPr/>
        </p:nvSpPr>
        <p:spPr>
          <a:xfrm>
            <a:off x="6819595" y="3327502"/>
            <a:ext cx="1027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 이상 도출</a:t>
            </a:r>
            <a:endParaRPr lang="en-US" sz="1000" dirty="0"/>
          </a:p>
        </p:txBody>
      </p:sp>
      <p:sp>
        <p:nvSpPr>
          <p:cNvPr id="64" name="Shape 51"/>
          <p:cNvSpPr/>
          <p:nvPr/>
        </p:nvSpPr>
        <p:spPr>
          <a:xfrm>
            <a:off x="6495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1" descr="preencoded.png"/>
          <p:cNvPicPr>
            <a:picLocks noChangeAspect="1"/>
          </p:cNvPicPr>
          <p:nvPr/>
        </p:nvPicPr>
        <p:blipFill>
          <a:blip r:embed="rId10"/>
          <a:srcRect l="-1677" r="-1677"/>
          <a:stretch/>
        </p:blipFill>
        <p:spPr>
          <a:xfrm>
            <a:off x="6601054" y="5375758"/>
            <a:ext cx="95098" cy="105156"/>
          </a:xfrm>
          <a:prstGeom prst="rect">
            <a:avLst/>
          </a:prstGeom>
        </p:spPr>
      </p:pic>
      <p:sp>
        <p:nvSpPr>
          <p:cNvPr id="66" name="Text 52"/>
          <p:cNvSpPr txBox="1"/>
          <p:nvPr/>
        </p:nvSpPr>
        <p:spPr>
          <a:xfrm>
            <a:off x="673455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67" name="Shape 53"/>
          <p:cNvSpPr/>
          <p:nvPr/>
        </p:nvSpPr>
        <p:spPr>
          <a:xfrm>
            <a:off x="6601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4"/>
          <p:cNvSpPr txBox="1"/>
          <p:nvPr/>
        </p:nvSpPr>
        <p:spPr>
          <a:xfrm>
            <a:off x="66577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문제를 해결할 수 있는 창의적인 아이디어 10가지를 리스트로 제안해줘."</a:t>
            </a:r>
            <a:endParaRPr lang="en-US" sz="800" dirty="0"/>
          </a:p>
        </p:txBody>
      </p:sp>
      <p:sp>
        <p:nvSpPr>
          <p:cNvPr id="69" name="Shape 55"/>
          <p:cNvSpPr/>
          <p:nvPr/>
        </p:nvSpPr>
        <p:spPr>
          <a:xfrm>
            <a:off x="9144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56"/>
          <p:cNvSpPr/>
          <p:nvPr/>
        </p:nvSpPr>
        <p:spPr>
          <a:xfrm>
            <a:off x="9144000" y="1380744"/>
            <a:ext cx="2476195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57"/>
          <p:cNvSpPr txBox="1"/>
          <p:nvPr/>
        </p:nvSpPr>
        <p:spPr>
          <a:xfrm>
            <a:off x="9353398" y="1705356"/>
            <a:ext cx="83941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평가/선정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Converge</a:t>
            </a:r>
            <a:endParaRPr lang="en-US" sz="1300" dirty="0"/>
          </a:p>
        </p:txBody>
      </p:sp>
      <p:sp>
        <p:nvSpPr>
          <p:cNvPr id="72" name="Shape 58"/>
          <p:cNvSpPr/>
          <p:nvPr/>
        </p:nvSpPr>
        <p:spPr>
          <a:xfrm>
            <a:off x="10934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1011205" y="1762049"/>
            <a:ext cx="114300" cy="114300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11162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75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267798" y="2335378"/>
            <a:ext cx="228600" cy="228600"/>
          </a:xfrm>
          <a:prstGeom prst="rect">
            <a:avLst/>
          </a:prstGeom>
        </p:spPr>
      </p:pic>
      <p:sp>
        <p:nvSpPr>
          <p:cNvPr id="76" name="Shape 60"/>
          <p:cNvSpPr/>
          <p:nvPr/>
        </p:nvSpPr>
        <p:spPr>
          <a:xfrm>
            <a:off x="9353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61"/>
          <p:cNvSpPr/>
          <p:nvPr/>
        </p:nvSpPr>
        <p:spPr>
          <a:xfrm>
            <a:off x="9467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62"/>
          <p:cNvSpPr txBox="1"/>
          <p:nvPr/>
        </p:nvSpPr>
        <p:spPr>
          <a:xfrm>
            <a:off x="96770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평가</a:t>
            </a:r>
            <a:endParaRPr lang="en-US" sz="1000" dirty="0"/>
          </a:p>
        </p:txBody>
      </p:sp>
      <p:sp>
        <p:nvSpPr>
          <p:cNvPr id="79" name="Shape 63"/>
          <p:cNvSpPr/>
          <p:nvPr/>
        </p:nvSpPr>
        <p:spPr>
          <a:xfrm>
            <a:off x="9467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64"/>
          <p:cNvSpPr txBox="1"/>
          <p:nvPr/>
        </p:nvSpPr>
        <p:spPr>
          <a:xfrm>
            <a:off x="9677095" y="3084271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 평가</a:t>
            </a:r>
            <a:endParaRPr lang="en-US" sz="1000" dirty="0"/>
          </a:p>
        </p:txBody>
      </p:sp>
      <p:sp>
        <p:nvSpPr>
          <p:cNvPr id="81" name="Shape 65"/>
          <p:cNvSpPr/>
          <p:nvPr/>
        </p:nvSpPr>
        <p:spPr>
          <a:xfrm>
            <a:off x="9467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66"/>
          <p:cNvSpPr txBox="1"/>
          <p:nvPr/>
        </p:nvSpPr>
        <p:spPr>
          <a:xfrm>
            <a:off x="9677095" y="3327502"/>
            <a:ext cx="9418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1개 선정</a:t>
            </a:r>
            <a:endParaRPr lang="en-US" sz="1000" dirty="0"/>
          </a:p>
        </p:txBody>
      </p:sp>
      <p:sp>
        <p:nvSpPr>
          <p:cNvPr id="83" name="Shape 67"/>
          <p:cNvSpPr/>
          <p:nvPr/>
        </p:nvSpPr>
        <p:spPr>
          <a:xfrm>
            <a:off x="9353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4" name="Image 14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458554" y="5375758"/>
            <a:ext cx="105156" cy="105156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9601200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86" name="Shape 69"/>
          <p:cNvSpPr/>
          <p:nvPr/>
        </p:nvSpPr>
        <p:spPr>
          <a:xfrm>
            <a:off x="9458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70"/>
          <p:cNvSpPr txBox="1"/>
          <p:nvPr/>
        </p:nvSpPr>
        <p:spPr>
          <a:xfrm>
            <a:off x="95152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실현 가능성과 임팩트가 가장 큰 3가지를 선정하고 이유를 말해줘."</a:t>
            </a:r>
            <a:endParaRPr lang="en-US" sz="800" dirty="0"/>
          </a:p>
        </p:txBody>
      </p:sp>
      <p:sp>
        <p:nvSpPr>
          <p:cNvPr id="88" name="Shape 71"/>
          <p:cNvSpPr/>
          <p:nvPr/>
        </p:nvSpPr>
        <p:spPr>
          <a:xfrm>
            <a:off x="724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72"/>
          <p:cNvSpPr txBox="1"/>
          <p:nvPr/>
        </p:nvSpPr>
        <p:spPr>
          <a:xfrm>
            <a:off x="817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Shape 73"/>
          <p:cNvSpPr/>
          <p:nvPr/>
        </p:nvSpPr>
        <p:spPr>
          <a:xfrm>
            <a:off x="35817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74"/>
          <p:cNvSpPr txBox="1"/>
          <p:nvPr/>
        </p:nvSpPr>
        <p:spPr>
          <a:xfrm>
            <a:off x="3674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92" name="Shape 75"/>
          <p:cNvSpPr/>
          <p:nvPr/>
        </p:nvSpPr>
        <p:spPr>
          <a:xfrm>
            <a:off x="6439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3" name="Text 76"/>
          <p:cNvSpPr txBox="1"/>
          <p:nvPr/>
        </p:nvSpPr>
        <p:spPr>
          <a:xfrm>
            <a:off x="6532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94" name="Shape 77"/>
          <p:cNvSpPr/>
          <p:nvPr/>
        </p:nvSpPr>
        <p:spPr>
          <a:xfrm>
            <a:off x="9296705" y="1285646"/>
            <a:ext cx="267005" cy="267005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78"/>
          <p:cNvSpPr txBox="1"/>
          <p:nvPr/>
        </p:nvSpPr>
        <p:spPr>
          <a:xfrm>
            <a:off x="9389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9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28600"/>
            <a:ext cx="3267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Generative AI Guidelines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23951"/>
            <a:ext cx="4627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사용 원칙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0863072" y="752551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57607" cy="418155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17053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61795" y="1647749"/>
            <a:ext cx="18589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Do: 올바른 활용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39115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220723" y="2289681"/>
            <a:ext cx="52568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결과물의 출처와 사용한 프롬프트를 명시합니다.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86307" y="300014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200607" y="3007308"/>
            <a:ext cx="50676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(Fact Check)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환각(Hallucination) 가능성을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관계를 반드시 확인합니다.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86307" y="3848252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200607" y="3737812"/>
            <a:ext cx="59335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부적절한 표현은 사용자가 직접 필터링하고 수정합니다.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6500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6286500" y="1380744"/>
            <a:ext cx="57607" cy="4181551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6610198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6610198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67805" y="1705356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86600" y="1647749"/>
            <a:ext cx="19952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Don't: 주의 사항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610198" y="239115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6743700" y="2303628"/>
            <a:ext cx="6409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타인의 민감한 정보나 대외비 데이터를 입력하지 않습니다.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610198" y="300014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6743700" y="2913533"/>
            <a:ext cx="617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침해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창작물을 무단으로 모방하거나 그대로 사용하지 않습니다.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610198" y="3610051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6743700" y="3522524"/>
            <a:ext cx="57140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맹목적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답변을 비판 없이 최종 결과물로 확정하지 않습니다.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61695" y="5753405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80283" y="5971946"/>
            <a:ext cx="142646" cy="19019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3438144" y="5753405"/>
            <a:ext cx="5658307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200" b="1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및 초안 작성 도구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로만 활용 (최종 의사결정은 인간의 몫)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93522"/>
            <a:ext cx="57442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Library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69671"/>
            <a:ext cx="791961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생성형 AI 프롬프트 템플릿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0863072" y="780898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67405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52805" y="1619402"/>
            <a:ext cx="847649" cy="247802"/>
          </a:xfrm>
          <a:prstGeom prst="roundRect">
            <a:avLst>
              <a:gd name="adj" fmla="val 283849"/>
            </a:avLst>
          </a:prstGeom>
          <a:solidFill>
            <a:srgbClr val="6366F1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847795" y="1664208"/>
            <a:ext cx="190195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952805" y="1976018"/>
            <a:ext cx="3277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인터뷰 질문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62602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362602" y="1380744"/>
            <a:ext cx="34674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552798" y="1619402"/>
            <a:ext cx="599846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87107" y="1664208"/>
            <a:ext cx="152705" cy="15270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52798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&amp; POV 정의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625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962595" y="1380744"/>
            <a:ext cx="3467405" cy="47549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153705" y="1619402"/>
            <a:ext cx="580644" cy="247802"/>
          </a:xfrm>
          <a:prstGeom prst="roundRect">
            <a:avLst>
              <a:gd name="adj" fmla="val 283849"/>
            </a:avLst>
          </a:prstGeom>
          <a:solidFill>
            <a:srgbClr val="0EA5E9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11125505" y="1664208"/>
            <a:ext cx="114300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53705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발산 (SCAMPER)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028700" y="1647749"/>
            <a:ext cx="7717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4629607" y="1647749"/>
            <a:ext cx="5239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0" y="1647749"/>
            <a:ext cx="5056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9528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3819449" y="241493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6249" y="2408568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Role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당신은 전문 UX 리서처입니다.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 겪는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 대해 심층 인터뷰를 진행하려 합니다. 사용자의 잠재된 니즈를 파악할 수 있는 "열린 질문(Open-ended)" 10가지를 작성해주세요.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Constraint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단답형 질문은 제외하세요.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552798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7420356" y="2414930"/>
            <a:ext cx="133502" cy="1335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677156" y="2452421"/>
            <a:ext cx="2915107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Context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인터뷰 요약: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내용을 바탕으로 대표적인 페르소나 1명을 생성하고, 아래 형식으로 POV(Point of View)를 정의해주세요.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Output Format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이름/나이/직업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Pain Point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POV: "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[이유]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때문에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[니즈]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1537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1020349" y="2414930"/>
            <a:ext cx="133502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267548" y="2392984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Problem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[정의된 문제]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문제를 해결하기 위한 창의적인 아이디어 20개를 제안해주세요. SCAMPER 기법을 활용하여 기존의 방식을 비틀거나 결합하는 혁신적인 아이디어를 </a:t>
            </a:r>
            <a:r>
              <a:rPr lang="en-US" sz="9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포함해주세요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실현 가능성보다 독창성을 우선시하세요.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761695" y="5619902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61949" y="5928970"/>
            <a:ext cx="142646" cy="14264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81405" y="5893308"/>
            <a:ext cx="1250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변수 가이드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10358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356555" y="5781751"/>
            <a:ext cx="857707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8496605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2457907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3445459" y="5800954"/>
            <a:ext cx="231160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대학생, 1인 가구, 사회초년생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5404104" y="5820156"/>
            <a:ext cx="79735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6262726" y="5800954"/>
            <a:ext cx="2722169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수강신청 실패, 점심 메뉴 결정 장애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544154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9531706" y="5800954"/>
            <a:ext cx="2115007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수행한 인터뷰 노트 요약본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66598" y="1123798"/>
            <a:ext cx="10858500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66598" y="316382"/>
            <a:ext cx="26453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6598" y="583387"/>
            <a:ext cx="373898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59084" y="752551"/>
            <a:ext cx="663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6598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66598" y="1380744"/>
            <a:ext cx="5286146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5198" y="1709928"/>
            <a:ext cx="142646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647749"/>
            <a:ext cx="102870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6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180844"/>
            <a:ext cx="114300" cy="133502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771546"/>
            <a:ext cx="114300" cy="133502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3362249"/>
            <a:ext cx="114300" cy="13350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38951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0"/>
          <p:cNvSpPr/>
          <p:nvPr/>
        </p:nvSpPr>
        <p:spPr>
          <a:xfrm>
            <a:off x="6238951" y="1380744"/>
            <a:ext cx="5286146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6467551" y="1709928"/>
            <a:ext cx="171907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34556" y="1647749"/>
            <a:ext cx="1882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(과제)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180844"/>
            <a:ext cx="105156" cy="133502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771546"/>
            <a:ext cx="105156" cy="133502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3362249"/>
            <a:ext cx="105156" cy="13350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123798" y="2133295"/>
            <a:ext cx="4007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공감 → 명확한 정의 → 다각도 아이데이션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1123798" y="2381098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시작은 사용자에 대한 깊은 이해</a:t>
            </a:r>
            <a:endParaRPr lang="en-US" sz="1200" dirty="0"/>
          </a:p>
        </p:txBody>
      </p:sp>
      <p:sp>
        <p:nvSpPr>
          <p:cNvPr id="24" name="Text 14"/>
          <p:cNvSpPr txBox="1"/>
          <p:nvPr/>
        </p:nvSpPr>
        <p:spPr>
          <a:xfrm>
            <a:off x="1123798" y="2723998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적용 포인트</a:t>
            </a:r>
            <a:endParaRPr lang="en-US" sz="1200" dirty="0"/>
          </a:p>
        </p:txBody>
      </p:sp>
      <p:sp>
        <p:nvSpPr>
          <p:cNvPr id="25" name="Text 15"/>
          <p:cNvSpPr txBox="1"/>
          <p:nvPr/>
        </p:nvSpPr>
        <p:spPr>
          <a:xfrm>
            <a:off x="1123798" y="2971800"/>
            <a:ext cx="3757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 프로토타입 제작, 빠른 학습과 반복적인 개선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1123798" y="3314700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본질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123798" y="3562502"/>
            <a:ext cx="4013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설계(Design)를 통해 실용적이고 기능적인 해답 도출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6687007" y="2133295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팀 주제 선정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6687007" y="2381098"/>
            <a:ext cx="3318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간 논의를 통해 해결할 문제 영역 결정</a:t>
            </a:r>
            <a:endParaRPr lang="en-US" sz="1200" dirty="0"/>
          </a:p>
        </p:txBody>
      </p:sp>
      <p:sp>
        <p:nvSpPr>
          <p:cNvPr id="30" name="Text 20"/>
          <p:cNvSpPr txBox="1"/>
          <p:nvPr/>
        </p:nvSpPr>
        <p:spPr>
          <a:xfrm>
            <a:off x="6687007" y="2723998"/>
            <a:ext cx="2165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공감 자료 수집 (3개 이상)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6687007" y="2971800"/>
            <a:ext cx="394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인터뷰, 관찰, 경험을 통한 실제 사용자 데이터 확보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6687007" y="3314700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1차안 작성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687007" y="3562502"/>
            <a:ext cx="33000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브리프, 페르소나, HMW 질문 도출</a:t>
            </a:r>
            <a:endParaRPr lang="en-US" sz="1200" dirty="0"/>
          </a:p>
        </p:txBody>
      </p:sp>
      <p:sp>
        <p:nvSpPr>
          <p:cNvPr id="34" name="Shape 24"/>
          <p:cNvSpPr/>
          <p:nvPr/>
        </p:nvSpPr>
        <p:spPr>
          <a:xfrm>
            <a:off x="666598" y="5333695"/>
            <a:ext cx="5391302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5"/>
          <p:cNvSpPr txBox="1"/>
          <p:nvPr/>
        </p:nvSpPr>
        <p:spPr>
          <a:xfrm>
            <a:off x="866851" y="5481828"/>
            <a:ext cx="51060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References</a:t>
            </a:r>
            <a:endParaRPr lang="en-US" sz="10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866851" y="5790895"/>
            <a:ext cx="114300" cy="13350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1057046" y="5757977"/>
            <a:ext cx="46488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 Brown, "Design Thinking", Harvard Business Review (2008)</a:t>
            </a:r>
            <a:endParaRPr lang="en-US" sz="10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866851" y="6029554"/>
            <a:ext cx="171907" cy="133502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114654" y="5995721"/>
            <a:ext cx="32762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Stanford d.school - Design Thinking Bootleg</a:t>
            </a:r>
            <a:endParaRPr lang="en-US" sz="1000" dirty="0"/>
          </a:p>
        </p:txBody>
      </p:sp>
      <p:sp>
        <p:nvSpPr>
          <p:cNvPr id="40" name="Shape 28"/>
          <p:cNvSpPr/>
          <p:nvPr/>
        </p:nvSpPr>
        <p:spPr>
          <a:xfrm>
            <a:off x="6344107" y="5333695"/>
            <a:ext cx="5181905" cy="1047902"/>
          </a:xfrm>
          <a:prstGeom prst="roundRect">
            <a:avLst>
              <a:gd name="adj" fmla="val 9519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10" descr="preencoded.png"/>
          <p:cNvPicPr>
            <a:picLocks noChangeAspect="1"/>
          </p:cNvPicPr>
          <p:nvPr/>
        </p:nvPicPr>
        <p:blipFill>
          <a:blip r:embed="rId9"/>
          <a:srcRect l="-27" r="-27"/>
          <a:stretch/>
        </p:blipFill>
        <p:spPr>
          <a:xfrm>
            <a:off x="8071409" y="5686654"/>
            <a:ext cx="384803" cy="3429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8642909" y="5529377"/>
            <a:ext cx="135056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&amp; A</a:t>
            </a:r>
            <a:endParaRPr lang="en-US" sz="3000" dirty="0"/>
          </a:p>
        </p:txBody>
      </p:sp>
      <p:sp>
        <p:nvSpPr>
          <p:cNvPr id="43" name="Text 30"/>
          <p:cNvSpPr txBox="1"/>
          <p:nvPr/>
        </p:nvSpPr>
        <p:spPr>
          <a:xfrm>
            <a:off x="8642909" y="5958230"/>
            <a:ext cx="1300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있으신가요?</a:t>
            </a:r>
            <a:endParaRPr lang="en-US" sz="12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7499-D6D1-C5AD-C7C5-D6DF087BB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4A2A700-E2AA-191B-DF2D-F0CE8063F3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C85038-F443-B60D-CCB5-C1AA385F62A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60A7DB1-29F9-7029-0619-4AD4A8F72232}"/>
              </a:ext>
            </a:extLst>
          </p:cNvPr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A60724-15C5-A9E0-EED4-2F580F49EE32}"/>
              </a:ext>
            </a:extLst>
          </p:cNvPr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09B264-FA19-64CD-AC6F-F52760220645}"/>
              </a:ext>
            </a:extLst>
          </p:cNvPr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3CD8981-7E24-9EBC-2E43-CF7AB1CB91AE}"/>
              </a:ext>
            </a:extLst>
          </p:cNvPr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02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06CCA1B-A4F4-8FE0-315E-033BA5E03C3D}"/>
              </a:ext>
            </a:extLst>
          </p:cNvPr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E370498-4AC2-9AAC-6F22-E0962FAB93A3}"/>
              </a:ext>
            </a:extLst>
          </p:cNvPr>
          <p:cNvSpPr txBox="1"/>
          <p:nvPr/>
        </p:nvSpPr>
        <p:spPr>
          <a:xfrm>
            <a:off x="571499" y="4463186"/>
            <a:ext cx="1102831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씽킹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(Design Thinking)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아래와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6단계로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구성되어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교육에서는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1~5단계가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가능하며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1단계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공감'은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혁신을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첫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단계입니다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실패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정의'로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돌아가는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반복적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중요합니다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altLang="ko-KR" sz="160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498DEA7-B5BC-ED0E-EE3B-2E8D8B1197DC}"/>
              </a:ext>
            </a:extLst>
          </p:cNvPr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요약정리</a:t>
            </a:r>
            <a:endParaRPr lang="en-US" sz="54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F08EE2FC-E972-8029-FA06-7D328DF1ABF0}"/>
              </a:ext>
            </a:extLst>
          </p:cNvPr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Summarization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902648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923E3C-5EAB-A4E2-ACDE-002B4E8F045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69478B5-428F-FE44-F73C-100B0FFFCF03}"/>
              </a:ext>
            </a:extLst>
          </p:cNvPr>
          <p:cNvSpPr/>
          <p:nvPr/>
        </p:nvSpPr>
        <p:spPr>
          <a:xfrm flipV="1">
            <a:off x="3289357" y="1543891"/>
            <a:ext cx="3787705" cy="1575026"/>
          </a:xfrm>
          <a:prstGeom prst="rect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6769C44-14E4-CEA9-3B9A-F44F97F2F674}"/>
              </a:ext>
            </a:extLst>
          </p:cNvPr>
          <p:cNvSpPr/>
          <p:nvPr/>
        </p:nvSpPr>
        <p:spPr>
          <a:xfrm>
            <a:off x="638511" y="3669084"/>
            <a:ext cx="11077041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045811E-B937-4435-01BC-0C582D822729}"/>
              </a:ext>
            </a:extLst>
          </p:cNvPr>
          <p:cNvSpPr/>
          <p:nvPr/>
        </p:nvSpPr>
        <p:spPr>
          <a:xfrm>
            <a:off x="3257353" y="2849340"/>
            <a:ext cx="114300" cy="95098"/>
          </a:xfrm>
          <a:prstGeom prst="rect">
            <a:avLst/>
          </a:prstGeom>
          <a:noFill/>
          <a:ln w="762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FA7C74C-26DB-4F15-862C-DF4C5434BC7D}"/>
              </a:ext>
            </a:extLst>
          </p:cNvPr>
          <p:cNvSpPr/>
          <p:nvPr/>
        </p:nvSpPr>
        <p:spPr>
          <a:xfrm>
            <a:off x="7991202" y="2896889"/>
            <a:ext cx="95098" cy="9509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72D6100-B340-382F-6495-84E65D983478}"/>
              </a:ext>
            </a:extLst>
          </p:cNvPr>
          <p:cNvSpPr txBox="1"/>
          <p:nvPr/>
        </p:nvSpPr>
        <p:spPr>
          <a:xfrm>
            <a:off x="4796841" y="1211008"/>
            <a:ext cx="2444912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실패 시 재정의 (Iteration)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52DF3CC-CE17-189F-C9F2-2F380BF9D699}"/>
              </a:ext>
            </a:extLst>
          </p:cNvPr>
          <p:cNvSpPr/>
          <p:nvPr/>
        </p:nvSpPr>
        <p:spPr>
          <a:xfrm>
            <a:off x="666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A6BE993-3361-746A-CC2C-B91E97379417}"/>
              </a:ext>
            </a:extLst>
          </p:cNvPr>
          <p:cNvSpPr txBox="1"/>
          <p:nvPr/>
        </p:nvSpPr>
        <p:spPr>
          <a:xfrm>
            <a:off x="790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아이스브레이크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20BDEC0-43D5-E64A-1F5F-8735A3159BBF}"/>
              </a:ext>
            </a:extLst>
          </p:cNvPr>
          <p:cNvSpPr txBox="1"/>
          <p:nvPr/>
        </p:nvSpPr>
        <p:spPr>
          <a:xfrm>
            <a:off x="790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icebreak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9BD5E54-C0FA-A9F9-DDBB-16B1FA787C91}"/>
              </a:ext>
            </a:extLst>
          </p:cNvPr>
          <p:cNvSpPr txBox="1"/>
          <p:nvPr/>
        </p:nvSpPr>
        <p:spPr>
          <a:xfrm>
            <a:off x="790956" y="4727448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닉네임 정하기</a:t>
            </a:r>
            <a:endParaRPr lang="en-US" sz="1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252BFC5-4F8B-A029-FCFC-0F6F4F24CC6A}"/>
              </a:ext>
            </a:extLst>
          </p:cNvPr>
          <p:cNvSpPr txBox="1"/>
          <p:nvPr/>
        </p:nvSpPr>
        <p:spPr>
          <a:xfrm>
            <a:off x="790955" y="4912157"/>
            <a:ext cx="774903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얼굴 그리기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D49C239-B1FC-067C-286B-11ED574F183E}"/>
              </a:ext>
            </a:extLst>
          </p:cNvPr>
          <p:cNvSpPr txBox="1"/>
          <p:nvPr/>
        </p:nvSpPr>
        <p:spPr>
          <a:xfrm>
            <a:off x="790956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BE91463-517D-EFC4-F798-E6DBEE2CF632}"/>
              </a:ext>
            </a:extLst>
          </p:cNvPr>
          <p:cNvSpPr txBox="1"/>
          <p:nvPr/>
        </p:nvSpPr>
        <p:spPr>
          <a:xfrm>
            <a:off x="790956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946F917-D028-3389-99E9-B98A7746D6CE}"/>
              </a:ext>
            </a:extLst>
          </p:cNvPr>
          <p:cNvSpPr txBox="1"/>
          <p:nvPr/>
        </p:nvSpPr>
        <p:spPr>
          <a:xfrm>
            <a:off x="790956" y="5574182"/>
            <a:ext cx="141326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관찰/설문조사/인터뷰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7ED2213-7FED-C4C1-9629-45B74964E08A}"/>
              </a:ext>
            </a:extLst>
          </p:cNvPr>
          <p:cNvSpPr txBox="1"/>
          <p:nvPr/>
        </p:nvSpPr>
        <p:spPr>
          <a:xfrm>
            <a:off x="790956" y="5785802"/>
            <a:ext cx="839090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롤플레잉게임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AF7D1F3-BC91-4B06-3020-608B5F03C091}"/>
              </a:ext>
            </a:extLst>
          </p:cNvPr>
          <p:cNvSpPr txBox="1"/>
          <p:nvPr/>
        </p:nvSpPr>
        <p:spPr>
          <a:xfrm>
            <a:off x="790956" y="5987451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19B5EBA-576C-3599-08AC-19AA23965363}"/>
              </a:ext>
            </a:extLst>
          </p:cNvPr>
          <p:cNvSpPr txBox="1"/>
          <p:nvPr/>
        </p:nvSpPr>
        <p:spPr>
          <a:xfrm>
            <a:off x="790955" y="6204514"/>
            <a:ext cx="717719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SWOT분석</a:t>
            </a:r>
            <a:endParaRPr lang="en-US" sz="12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AAE194E-5786-92CE-0DB7-6F3C73D88B53}"/>
              </a:ext>
            </a:extLst>
          </p:cNvPr>
          <p:cNvSpPr/>
          <p:nvPr/>
        </p:nvSpPr>
        <p:spPr>
          <a:xfrm>
            <a:off x="2572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B196BC5-D7BE-1E7C-AE0D-79B9638E3831}"/>
              </a:ext>
            </a:extLst>
          </p:cNvPr>
          <p:cNvSpPr txBox="1"/>
          <p:nvPr/>
        </p:nvSpPr>
        <p:spPr>
          <a:xfrm>
            <a:off x="2695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방향성 정의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15AF422-7CE8-A8FB-61AD-504AD19AB45F}"/>
              </a:ext>
            </a:extLst>
          </p:cNvPr>
          <p:cNvSpPr txBox="1"/>
          <p:nvPr/>
        </p:nvSpPr>
        <p:spPr>
          <a:xfrm>
            <a:off x="2695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project</a:t>
            </a: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BAA1D5-5337-4883-F36B-B11A408FA943}"/>
              </a:ext>
            </a:extLst>
          </p:cNvPr>
          <p:cNvSpPr txBox="1"/>
          <p:nvPr/>
        </p:nvSpPr>
        <p:spPr>
          <a:xfrm>
            <a:off x="2695651" y="4727448"/>
            <a:ext cx="1328071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프로젝트브리프 작성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E5CA2BB-EECC-A11C-8852-59A1E81261D9}"/>
              </a:ext>
            </a:extLst>
          </p:cNvPr>
          <p:cNvSpPr txBox="1"/>
          <p:nvPr/>
        </p:nvSpPr>
        <p:spPr>
          <a:xfrm>
            <a:off x="2695651" y="4912157"/>
            <a:ext cx="113434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차별화 전략 수립</a:t>
            </a:r>
            <a:endParaRPr lang="en-US" sz="1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739289E-E9BF-396F-6DB5-710EE5D1EAE7}"/>
              </a:ext>
            </a:extLst>
          </p:cNvPr>
          <p:cNvSpPr txBox="1"/>
          <p:nvPr/>
        </p:nvSpPr>
        <p:spPr>
          <a:xfrm>
            <a:off x="2695651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정의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E02548-5897-4DD6-B622-801CA1A19FD5}"/>
              </a:ext>
            </a:extLst>
          </p:cNvPr>
          <p:cNvSpPr txBox="1"/>
          <p:nvPr/>
        </p:nvSpPr>
        <p:spPr>
          <a:xfrm>
            <a:off x="2695651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user</a:t>
            </a: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2313CF3-9ABF-F57D-CDC7-B2B492B3D289}"/>
              </a:ext>
            </a:extLst>
          </p:cNvPr>
          <p:cNvSpPr txBox="1"/>
          <p:nvPr/>
        </p:nvSpPr>
        <p:spPr>
          <a:xfrm>
            <a:off x="2695651" y="5574182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요구사항 정의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800552B-86B9-52CD-FB07-DE8AA67F5653}"/>
              </a:ext>
            </a:extLst>
          </p:cNvPr>
          <p:cNvSpPr txBox="1"/>
          <p:nvPr/>
        </p:nvSpPr>
        <p:spPr>
          <a:xfrm>
            <a:off x="2695651" y="5720486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정의</a:t>
            </a:r>
            <a:endParaRPr lang="en-US" sz="12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F562916-2BE5-6D16-FF35-5982FC0E9767}"/>
              </a:ext>
            </a:extLst>
          </p:cNvPr>
          <p:cNvSpPr/>
          <p:nvPr/>
        </p:nvSpPr>
        <p:spPr>
          <a:xfrm>
            <a:off x="4476901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2AFE92D-6EE0-0D70-0B39-1BABF7A232C6}"/>
              </a:ext>
            </a:extLst>
          </p:cNvPr>
          <p:cNvSpPr txBox="1"/>
          <p:nvPr/>
        </p:nvSpPr>
        <p:spPr>
          <a:xfrm>
            <a:off x="460034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</a:t>
            </a:r>
            <a:endParaRPr lang="en-US" sz="14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4BBE4FA-0FD9-035D-3EF6-DD11699F9E47}"/>
              </a:ext>
            </a:extLst>
          </p:cNvPr>
          <p:cNvSpPr txBox="1"/>
          <p:nvPr/>
        </p:nvSpPr>
        <p:spPr>
          <a:xfrm>
            <a:off x="4606922" y="4435440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brainstorming</a:t>
            </a: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24C0C38-B525-8566-8690-15901D301E31}"/>
              </a:ext>
            </a:extLst>
          </p:cNvPr>
          <p:cNvSpPr txBox="1"/>
          <p:nvPr/>
        </p:nvSpPr>
        <p:spPr>
          <a:xfrm>
            <a:off x="4600346" y="4727448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69DEF6E-D573-BAC2-A3ED-8ED4A7779982}"/>
              </a:ext>
            </a:extLst>
          </p:cNvPr>
          <p:cNvSpPr txBox="1"/>
          <p:nvPr/>
        </p:nvSpPr>
        <p:spPr>
          <a:xfrm>
            <a:off x="4600346" y="4912157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90290E8-07F4-9111-3AA8-20C957E4A88D}"/>
              </a:ext>
            </a:extLst>
          </p:cNvPr>
          <p:cNvSpPr txBox="1"/>
          <p:nvPr/>
        </p:nvSpPr>
        <p:spPr>
          <a:xfrm>
            <a:off x="4600346" y="5096866"/>
            <a:ext cx="839090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브레인라이팅</a:t>
            </a:r>
            <a:endParaRPr lang="en-US" sz="12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EDB492D-2CD5-9E8A-38A5-D0E8B94BA2F7}"/>
              </a:ext>
            </a:extLst>
          </p:cNvPr>
          <p:cNvSpPr txBox="1"/>
          <p:nvPr/>
        </p:nvSpPr>
        <p:spPr>
          <a:xfrm>
            <a:off x="4600346" y="536752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시각화</a:t>
            </a:r>
            <a:endParaRPr lang="en-US" sz="14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F373A78-98CF-0D2D-C706-892893348A94}"/>
              </a:ext>
            </a:extLst>
          </p:cNvPr>
          <p:cNvSpPr txBox="1"/>
          <p:nvPr/>
        </p:nvSpPr>
        <p:spPr>
          <a:xfrm>
            <a:off x="4600346" y="5554066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visualize idea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AB2E5D0-8FCD-B028-6921-1BF417DB301C}"/>
              </a:ext>
            </a:extLst>
          </p:cNvPr>
          <p:cNvSpPr txBox="1"/>
          <p:nvPr/>
        </p:nvSpPr>
        <p:spPr>
          <a:xfrm>
            <a:off x="4600345" y="5758891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시나리오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087AB5B-BD7B-4C13-AC8D-111027DE75B5}"/>
              </a:ext>
            </a:extLst>
          </p:cNvPr>
          <p:cNvSpPr txBox="1"/>
          <p:nvPr/>
        </p:nvSpPr>
        <p:spPr>
          <a:xfrm>
            <a:off x="4600346" y="5975954"/>
            <a:ext cx="146811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정보구조도/스토리보드</a:t>
            </a:r>
            <a:endParaRPr lang="en-US" sz="12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33F55451-AB3B-0AD1-A0F7-15497479A026}"/>
              </a:ext>
            </a:extLst>
          </p:cNvPr>
          <p:cNvSpPr txBox="1"/>
          <p:nvPr/>
        </p:nvSpPr>
        <p:spPr>
          <a:xfrm>
            <a:off x="4600346" y="6183046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방향성</a:t>
            </a:r>
            <a:endParaRPr lang="en-US" sz="12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CE662F5-1C4C-89D3-D25D-AB4A2B932FE0}"/>
              </a:ext>
            </a:extLst>
          </p:cNvPr>
          <p:cNvSpPr/>
          <p:nvPr/>
        </p:nvSpPr>
        <p:spPr>
          <a:xfrm>
            <a:off x="6381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C74CEB4-BF5F-FDED-1E7B-AF7FEA0729C3}"/>
              </a:ext>
            </a:extLst>
          </p:cNvPr>
          <p:cNvSpPr txBox="1"/>
          <p:nvPr/>
        </p:nvSpPr>
        <p:spPr>
          <a:xfrm>
            <a:off x="6505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프로토타이핑</a:t>
            </a:r>
            <a:endParaRPr lang="en-US" sz="14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28C6F93-E85A-0196-03F4-1E0452BC0213}"/>
              </a:ext>
            </a:extLst>
          </p:cNvPr>
          <p:cNvSpPr txBox="1"/>
          <p:nvPr/>
        </p:nvSpPr>
        <p:spPr>
          <a:xfrm>
            <a:off x="6505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prototyping</a:t>
            </a: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6571E44-EDFE-B9EB-865D-EE259324304D}"/>
              </a:ext>
            </a:extLst>
          </p:cNvPr>
          <p:cNvSpPr txBox="1"/>
          <p:nvPr/>
        </p:nvSpPr>
        <p:spPr>
          <a:xfrm>
            <a:off x="6505956" y="4727448"/>
            <a:ext cx="63719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 실습</a:t>
            </a: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7ABECB4-1673-E4DA-3BE4-BB512EEC71D6}"/>
              </a:ext>
            </a:extLst>
          </p:cNvPr>
          <p:cNvSpPr txBox="1"/>
          <p:nvPr/>
        </p:nvSpPr>
        <p:spPr>
          <a:xfrm>
            <a:off x="6505956" y="4912157"/>
            <a:ext cx="63719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시안 제작</a:t>
            </a: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A5B08839-1FB2-E857-BFDB-02E9CDC9E042}"/>
              </a:ext>
            </a:extLst>
          </p:cNvPr>
          <p:cNvSpPr txBox="1"/>
          <p:nvPr/>
        </p:nvSpPr>
        <p:spPr>
          <a:xfrm>
            <a:off x="6505955" y="5096866"/>
            <a:ext cx="1097001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목업 (Mock-up)</a:t>
            </a:r>
            <a:endParaRPr lang="en-US" sz="12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67D9A9C0-554F-68C4-D0A6-8A8B3C832E3F}"/>
              </a:ext>
            </a:extLst>
          </p:cNvPr>
          <p:cNvSpPr/>
          <p:nvPr/>
        </p:nvSpPr>
        <p:spPr>
          <a:xfrm>
            <a:off x="8287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85AABD2-7D64-141E-6BB4-88B13EB8C37D}"/>
              </a:ext>
            </a:extLst>
          </p:cNvPr>
          <p:cNvSpPr txBox="1"/>
          <p:nvPr/>
        </p:nvSpPr>
        <p:spPr>
          <a:xfrm>
            <a:off x="8410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사용성 테스트</a:t>
            </a:r>
            <a:endParaRPr lang="en-US" sz="14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B2E65897-6792-D44E-7BEC-F6733B972ABD}"/>
              </a:ext>
            </a:extLst>
          </p:cNvPr>
          <p:cNvSpPr txBox="1"/>
          <p:nvPr/>
        </p:nvSpPr>
        <p:spPr>
          <a:xfrm>
            <a:off x="8410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usability test</a:t>
            </a: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CAD01F6-E138-4C5A-C391-D052945ABD0C}"/>
              </a:ext>
            </a:extLst>
          </p:cNvPr>
          <p:cNvSpPr txBox="1"/>
          <p:nvPr/>
        </p:nvSpPr>
        <p:spPr>
          <a:xfrm>
            <a:off x="8410650" y="4727448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사용대상자 선정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46737E89-A1C7-532B-36BA-3A308C64F524}"/>
              </a:ext>
            </a:extLst>
          </p:cNvPr>
          <p:cNvSpPr txBox="1"/>
          <p:nvPr/>
        </p:nvSpPr>
        <p:spPr>
          <a:xfrm>
            <a:off x="8410651" y="4912157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사용형태 관찰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CED0F69F-AB44-9265-E9B1-D3B9751414A0}"/>
              </a:ext>
            </a:extLst>
          </p:cNvPr>
          <p:cNvSpPr txBox="1"/>
          <p:nvPr/>
        </p:nvSpPr>
        <p:spPr>
          <a:xfrm>
            <a:off x="8410650" y="5096866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사용경험 인터뷰</a:t>
            </a:r>
            <a:endParaRPr lang="en-US" sz="12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98825FE7-242E-5386-4A76-B70BFE9F5509}"/>
              </a:ext>
            </a:extLst>
          </p:cNvPr>
          <p:cNvSpPr txBox="1"/>
          <p:nvPr/>
        </p:nvSpPr>
        <p:spPr>
          <a:xfrm>
            <a:off x="8410651" y="5281574"/>
            <a:ext cx="135724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 수집 및 분석</a:t>
            </a:r>
            <a:endParaRPr lang="en-US" sz="12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31ADB2FC-F8B2-3AC6-4DC4-2E8CD0B56B16}"/>
              </a:ext>
            </a:extLst>
          </p:cNvPr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E96E499-6A1A-96BB-44B6-A691678CAE1E}"/>
              </a:ext>
            </a:extLst>
          </p:cNvPr>
          <p:cNvSpPr txBox="1"/>
          <p:nvPr/>
        </p:nvSpPr>
        <p:spPr>
          <a:xfrm>
            <a:off x="571500" y="283464"/>
            <a:ext cx="3553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05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A2AEB1D1-21F9-E418-942C-774FFBA44CB2}"/>
              </a:ext>
            </a:extLst>
          </p:cNvPr>
          <p:cNvSpPr txBox="1"/>
          <p:nvPr/>
        </p:nvSpPr>
        <p:spPr>
          <a:xfrm>
            <a:off x="571500" y="579140"/>
            <a:ext cx="40837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프로세스</a:t>
            </a:r>
            <a:endParaRPr lang="en-US" sz="280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B7F80267-B3DE-F73D-4EC3-DFC3F1AA5EB5}"/>
              </a:ext>
            </a:extLst>
          </p:cNvPr>
          <p:cNvSpPr txBox="1"/>
          <p:nvPr/>
        </p:nvSpPr>
        <p:spPr>
          <a:xfrm>
            <a:off x="11124590" y="638251"/>
            <a:ext cx="5815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16</a:t>
            </a:r>
            <a:endParaRPr lang="en-US" sz="100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5122229D-702B-A16C-BDE4-86960E5477CF}"/>
              </a:ext>
            </a:extLst>
          </p:cNvPr>
          <p:cNvSpPr/>
          <p:nvPr/>
        </p:nvSpPr>
        <p:spPr>
          <a:xfrm>
            <a:off x="771099" y="1706340"/>
            <a:ext cx="1143000" cy="1143000"/>
          </a:xfrm>
          <a:prstGeom prst="ellipse">
            <a:avLst/>
          </a:prstGeom>
          <a:solidFill>
            <a:srgbClr val="FCA5A5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208A217-6E9C-E3EF-6BF1-8C1FE19B9C7F}"/>
              </a:ext>
            </a:extLst>
          </p:cNvPr>
          <p:cNvSpPr txBox="1"/>
          <p:nvPr/>
        </p:nvSpPr>
        <p:spPr>
          <a:xfrm>
            <a:off x="1203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3600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B38CE883-34C0-6A52-EF3E-133E9A1B06C2}"/>
              </a:ext>
            </a:extLst>
          </p:cNvPr>
          <p:cNvSpPr/>
          <p:nvPr/>
        </p:nvSpPr>
        <p:spPr>
          <a:xfrm>
            <a:off x="676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E7ACCB4F-7837-CB32-4A38-D5F3B6E84741}"/>
              </a:ext>
            </a:extLst>
          </p:cNvPr>
          <p:cNvSpPr/>
          <p:nvPr/>
        </p:nvSpPr>
        <p:spPr>
          <a:xfrm>
            <a:off x="676002" y="2944438"/>
            <a:ext cx="1333195" cy="38405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50A7ED1F-6BD5-7C0A-6EE2-457B4E261AFF}"/>
              </a:ext>
            </a:extLst>
          </p:cNvPr>
          <p:cNvSpPr txBox="1"/>
          <p:nvPr/>
        </p:nvSpPr>
        <p:spPr>
          <a:xfrm>
            <a:off x="622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2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23CFCDF-9898-3E7B-A830-E94E7587F2C9}"/>
              </a:ext>
            </a:extLst>
          </p:cNvPr>
          <p:cNvSpPr txBox="1"/>
          <p:nvPr/>
        </p:nvSpPr>
        <p:spPr>
          <a:xfrm>
            <a:off x="638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pic>
        <p:nvPicPr>
          <p:cNvPr id="66" name="Image 0" descr="preencoded.png">
            <a:extLst>
              <a:ext uri="{FF2B5EF4-FFF2-40B4-BE49-F238E27FC236}">
                <a16:creationId xmlns:a16="http://schemas.microsoft.com/office/drawing/2014/main" id="{9B567FE5-538B-A0DE-2FF0-4A1B14877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2171960" y="2531129"/>
            <a:ext cx="75895" cy="152705"/>
          </a:xfrm>
          <a:prstGeom prst="rect">
            <a:avLst/>
          </a:prstGeom>
        </p:spPr>
      </p:pic>
      <p:sp>
        <p:nvSpPr>
          <p:cNvPr id="67" name="Shape 64">
            <a:extLst>
              <a:ext uri="{FF2B5EF4-FFF2-40B4-BE49-F238E27FC236}">
                <a16:creationId xmlns:a16="http://schemas.microsoft.com/office/drawing/2014/main" id="{9910BBBB-B02E-9372-D2AB-1AB00EE31289}"/>
              </a:ext>
            </a:extLst>
          </p:cNvPr>
          <p:cNvSpPr/>
          <p:nvPr/>
        </p:nvSpPr>
        <p:spPr>
          <a:xfrm>
            <a:off x="2676709" y="1706340"/>
            <a:ext cx="1143000" cy="1143000"/>
          </a:xfrm>
          <a:prstGeom prst="ellipse">
            <a:avLst/>
          </a:prstGeom>
          <a:solidFill>
            <a:srgbClr val="F87171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18B556DF-D3FE-B49A-ADB4-9E535445B2EA}"/>
              </a:ext>
            </a:extLst>
          </p:cNvPr>
          <p:cNvSpPr txBox="1"/>
          <p:nvPr/>
        </p:nvSpPr>
        <p:spPr>
          <a:xfrm>
            <a:off x="3108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3600" dirty="0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BF6BA1C0-BF97-4ACF-0656-5E1CAAA027A5}"/>
              </a:ext>
            </a:extLst>
          </p:cNvPr>
          <p:cNvSpPr/>
          <p:nvPr/>
        </p:nvSpPr>
        <p:spPr>
          <a:xfrm>
            <a:off x="2581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FE8BC8DF-B21F-FB59-200E-0D5E9C759CF2}"/>
              </a:ext>
            </a:extLst>
          </p:cNvPr>
          <p:cNvSpPr/>
          <p:nvPr/>
        </p:nvSpPr>
        <p:spPr>
          <a:xfrm>
            <a:off x="2581611" y="2944438"/>
            <a:ext cx="1333195" cy="38405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>
            <a:extLst>
              <a:ext uri="{FF2B5EF4-FFF2-40B4-BE49-F238E27FC236}">
                <a16:creationId xmlns:a16="http://schemas.microsoft.com/office/drawing/2014/main" id="{5088EDEA-7510-15D8-5F28-75C7A6057541}"/>
              </a:ext>
            </a:extLst>
          </p:cNvPr>
          <p:cNvSpPr txBox="1"/>
          <p:nvPr/>
        </p:nvSpPr>
        <p:spPr>
          <a:xfrm>
            <a:off x="2527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</a:t>
            </a:r>
            <a:endParaRPr lang="en-US" sz="1200" dirty="0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C3F4315D-6313-F2BA-0040-9018AD687032}"/>
              </a:ext>
            </a:extLst>
          </p:cNvPr>
          <p:cNvSpPr txBox="1"/>
          <p:nvPr/>
        </p:nvSpPr>
        <p:spPr>
          <a:xfrm>
            <a:off x="2543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pic>
        <p:nvPicPr>
          <p:cNvPr id="73" name="Image 1" descr="preencoded.png">
            <a:extLst>
              <a:ext uri="{FF2B5EF4-FFF2-40B4-BE49-F238E27FC236}">
                <a16:creationId xmlns:a16="http://schemas.microsoft.com/office/drawing/2014/main" id="{EA5FC857-97BC-F2DA-5DF6-068A42D210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4076655" y="2531129"/>
            <a:ext cx="75895" cy="152705"/>
          </a:xfrm>
          <a:prstGeom prst="rect">
            <a:avLst/>
          </a:prstGeom>
        </p:spPr>
      </p:pic>
      <p:sp>
        <p:nvSpPr>
          <p:cNvPr id="74" name="Shape 70">
            <a:extLst>
              <a:ext uri="{FF2B5EF4-FFF2-40B4-BE49-F238E27FC236}">
                <a16:creationId xmlns:a16="http://schemas.microsoft.com/office/drawing/2014/main" id="{EB45CC6B-3563-C17B-4A86-DDA7D691A891}"/>
              </a:ext>
            </a:extLst>
          </p:cNvPr>
          <p:cNvSpPr/>
          <p:nvPr/>
        </p:nvSpPr>
        <p:spPr>
          <a:xfrm>
            <a:off x="4581404" y="1706340"/>
            <a:ext cx="1143000" cy="1143000"/>
          </a:xfrm>
          <a:prstGeom prst="ellipse">
            <a:avLst/>
          </a:prstGeom>
          <a:solidFill>
            <a:srgbClr val="F472B6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1">
            <a:extLst>
              <a:ext uri="{FF2B5EF4-FFF2-40B4-BE49-F238E27FC236}">
                <a16:creationId xmlns:a16="http://schemas.microsoft.com/office/drawing/2014/main" id="{830E3762-5634-1DE5-F1CE-70C58C54E0D7}"/>
              </a:ext>
            </a:extLst>
          </p:cNvPr>
          <p:cNvSpPr txBox="1"/>
          <p:nvPr/>
        </p:nvSpPr>
        <p:spPr>
          <a:xfrm>
            <a:off x="5013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3600" dirty="0"/>
          </a:p>
        </p:txBody>
      </p:sp>
      <p:sp>
        <p:nvSpPr>
          <p:cNvPr id="76" name="Shape 72">
            <a:extLst>
              <a:ext uri="{FF2B5EF4-FFF2-40B4-BE49-F238E27FC236}">
                <a16:creationId xmlns:a16="http://schemas.microsoft.com/office/drawing/2014/main" id="{F6327935-7098-5236-9524-057B533001F0}"/>
              </a:ext>
            </a:extLst>
          </p:cNvPr>
          <p:cNvSpPr/>
          <p:nvPr/>
        </p:nvSpPr>
        <p:spPr>
          <a:xfrm>
            <a:off x="4486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3">
            <a:extLst>
              <a:ext uri="{FF2B5EF4-FFF2-40B4-BE49-F238E27FC236}">
                <a16:creationId xmlns:a16="http://schemas.microsoft.com/office/drawing/2014/main" id="{BDE5347B-EDFD-4416-8963-DA56EDF3527B}"/>
              </a:ext>
            </a:extLst>
          </p:cNvPr>
          <p:cNvSpPr/>
          <p:nvPr/>
        </p:nvSpPr>
        <p:spPr>
          <a:xfrm>
            <a:off x="4486306" y="2944438"/>
            <a:ext cx="1333195" cy="38405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4">
            <a:extLst>
              <a:ext uri="{FF2B5EF4-FFF2-40B4-BE49-F238E27FC236}">
                <a16:creationId xmlns:a16="http://schemas.microsoft.com/office/drawing/2014/main" id="{F0208CEC-AACD-DEAB-5610-8C75141A4903}"/>
              </a:ext>
            </a:extLst>
          </p:cNvPr>
          <p:cNvSpPr txBox="1"/>
          <p:nvPr/>
        </p:nvSpPr>
        <p:spPr>
          <a:xfrm>
            <a:off x="4432357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도출</a:t>
            </a:r>
            <a:endParaRPr lang="en-US" sz="1200" dirty="0"/>
          </a:p>
        </p:txBody>
      </p:sp>
      <p:sp>
        <p:nvSpPr>
          <p:cNvPr id="79" name="Text 75">
            <a:extLst>
              <a:ext uri="{FF2B5EF4-FFF2-40B4-BE49-F238E27FC236}">
                <a16:creationId xmlns:a16="http://schemas.microsoft.com/office/drawing/2014/main" id="{E3890EEF-27AB-2500-8060-396717868B1C}"/>
              </a:ext>
            </a:extLst>
          </p:cNvPr>
          <p:cNvSpPr txBox="1"/>
          <p:nvPr/>
        </p:nvSpPr>
        <p:spPr>
          <a:xfrm>
            <a:off x="4447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6D7998A4-DC8A-7A53-792D-A077FD6308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5981350" y="2531129"/>
            <a:ext cx="75895" cy="152705"/>
          </a:xfrm>
          <a:prstGeom prst="rect">
            <a:avLst/>
          </a:prstGeom>
        </p:spPr>
      </p:pic>
      <p:sp>
        <p:nvSpPr>
          <p:cNvPr id="81" name="Shape 76">
            <a:extLst>
              <a:ext uri="{FF2B5EF4-FFF2-40B4-BE49-F238E27FC236}">
                <a16:creationId xmlns:a16="http://schemas.microsoft.com/office/drawing/2014/main" id="{B4B313D0-CFA1-97A4-B3DB-35DCC3CF003A}"/>
              </a:ext>
            </a:extLst>
          </p:cNvPr>
          <p:cNvSpPr/>
          <p:nvPr/>
        </p:nvSpPr>
        <p:spPr>
          <a:xfrm>
            <a:off x="6486099" y="1706340"/>
            <a:ext cx="1143000" cy="1143000"/>
          </a:xfrm>
          <a:prstGeom prst="ellipse">
            <a:avLst/>
          </a:prstGeom>
          <a:solidFill>
            <a:srgbClr val="C084FC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2" name="Text 77">
            <a:extLst>
              <a:ext uri="{FF2B5EF4-FFF2-40B4-BE49-F238E27FC236}">
                <a16:creationId xmlns:a16="http://schemas.microsoft.com/office/drawing/2014/main" id="{791B2BB5-FE78-0871-350D-AF73C26AE04A}"/>
              </a:ext>
            </a:extLst>
          </p:cNvPr>
          <p:cNvSpPr txBox="1"/>
          <p:nvPr/>
        </p:nvSpPr>
        <p:spPr>
          <a:xfrm>
            <a:off x="6918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3600" dirty="0"/>
          </a:p>
        </p:txBody>
      </p:sp>
      <p:sp>
        <p:nvSpPr>
          <p:cNvPr id="83" name="Shape 78">
            <a:extLst>
              <a:ext uri="{FF2B5EF4-FFF2-40B4-BE49-F238E27FC236}">
                <a16:creationId xmlns:a16="http://schemas.microsoft.com/office/drawing/2014/main" id="{0A8E6099-74A9-A6CF-40FA-7E84E7A060B9}"/>
              </a:ext>
            </a:extLst>
          </p:cNvPr>
          <p:cNvSpPr/>
          <p:nvPr/>
        </p:nvSpPr>
        <p:spPr>
          <a:xfrm>
            <a:off x="6391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79">
            <a:extLst>
              <a:ext uri="{FF2B5EF4-FFF2-40B4-BE49-F238E27FC236}">
                <a16:creationId xmlns:a16="http://schemas.microsoft.com/office/drawing/2014/main" id="{B000201B-8AC9-EC1A-9CA6-E9ED4CA996EB}"/>
              </a:ext>
            </a:extLst>
          </p:cNvPr>
          <p:cNvSpPr/>
          <p:nvPr/>
        </p:nvSpPr>
        <p:spPr>
          <a:xfrm>
            <a:off x="6391002" y="2944438"/>
            <a:ext cx="1333195" cy="38405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0">
            <a:extLst>
              <a:ext uri="{FF2B5EF4-FFF2-40B4-BE49-F238E27FC236}">
                <a16:creationId xmlns:a16="http://schemas.microsoft.com/office/drawing/2014/main" id="{8482D63E-C07A-53CA-585F-2E0C7B9FC990}"/>
              </a:ext>
            </a:extLst>
          </p:cNvPr>
          <p:cNvSpPr txBox="1"/>
          <p:nvPr/>
        </p:nvSpPr>
        <p:spPr>
          <a:xfrm>
            <a:off x="6337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시제품 제작</a:t>
            </a:r>
            <a:endParaRPr lang="en-US" sz="1200" dirty="0"/>
          </a:p>
        </p:txBody>
      </p:sp>
      <p:sp>
        <p:nvSpPr>
          <p:cNvPr id="86" name="Text 81">
            <a:extLst>
              <a:ext uri="{FF2B5EF4-FFF2-40B4-BE49-F238E27FC236}">
                <a16:creationId xmlns:a16="http://schemas.microsoft.com/office/drawing/2014/main" id="{F75105B7-10B6-E08E-A19A-45BEC9B18C17}"/>
              </a:ext>
            </a:extLst>
          </p:cNvPr>
          <p:cNvSpPr txBox="1"/>
          <p:nvPr/>
        </p:nvSpPr>
        <p:spPr>
          <a:xfrm>
            <a:off x="6353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00" dirty="0"/>
          </a:p>
        </p:txBody>
      </p:sp>
      <p:pic>
        <p:nvPicPr>
          <p:cNvPr id="87" name="Image 3" descr="preencoded.png">
            <a:extLst>
              <a:ext uri="{FF2B5EF4-FFF2-40B4-BE49-F238E27FC236}">
                <a16:creationId xmlns:a16="http://schemas.microsoft.com/office/drawing/2014/main" id="{1BFF6A8B-902A-5B30-C664-D6DE37DD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7886960" y="2531129"/>
            <a:ext cx="75895" cy="152705"/>
          </a:xfrm>
          <a:prstGeom prst="rect">
            <a:avLst/>
          </a:prstGeom>
        </p:spPr>
      </p:pic>
      <p:sp>
        <p:nvSpPr>
          <p:cNvPr id="88" name="Shape 82">
            <a:extLst>
              <a:ext uri="{FF2B5EF4-FFF2-40B4-BE49-F238E27FC236}">
                <a16:creationId xmlns:a16="http://schemas.microsoft.com/office/drawing/2014/main" id="{0600CEA2-4508-FDB0-4FA3-3B47C12A8202}"/>
              </a:ext>
            </a:extLst>
          </p:cNvPr>
          <p:cNvSpPr/>
          <p:nvPr/>
        </p:nvSpPr>
        <p:spPr>
          <a:xfrm>
            <a:off x="8391709" y="1706340"/>
            <a:ext cx="1143000" cy="1143000"/>
          </a:xfrm>
          <a:prstGeom prst="ellipse">
            <a:avLst/>
          </a:prstGeom>
          <a:solidFill>
            <a:srgbClr val="60A5FA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3">
            <a:extLst>
              <a:ext uri="{FF2B5EF4-FFF2-40B4-BE49-F238E27FC236}">
                <a16:creationId xmlns:a16="http://schemas.microsoft.com/office/drawing/2014/main" id="{0E4F1F63-F296-6324-CB76-4F8B1BCBD194}"/>
              </a:ext>
            </a:extLst>
          </p:cNvPr>
          <p:cNvSpPr txBox="1"/>
          <p:nvPr/>
        </p:nvSpPr>
        <p:spPr>
          <a:xfrm>
            <a:off x="8823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3600" dirty="0"/>
          </a:p>
        </p:txBody>
      </p:sp>
      <p:sp>
        <p:nvSpPr>
          <p:cNvPr id="90" name="Shape 84">
            <a:extLst>
              <a:ext uri="{FF2B5EF4-FFF2-40B4-BE49-F238E27FC236}">
                <a16:creationId xmlns:a16="http://schemas.microsoft.com/office/drawing/2014/main" id="{3DD611B8-5504-602D-166F-A8B4F6DFA587}"/>
              </a:ext>
            </a:extLst>
          </p:cNvPr>
          <p:cNvSpPr/>
          <p:nvPr/>
        </p:nvSpPr>
        <p:spPr>
          <a:xfrm>
            <a:off x="8296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5">
            <a:extLst>
              <a:ext uri="{FF2B5EF4-FFF2-40B4-BE49-F238E27FC236}">
                <a16:creationId xmlns:a16="http://schemas.microsoft.com/office/drawing/2014/main" id="{4D4C25A7-40A1-CCC4-DCB1-CE558225060A}"/>
              </a:ext>
            </a:extLst>
          </p:cNvPr>
          <p:cNvSpPr/>
          <p:nvPr/>
        </p:nvSpPr>
        <p:spPr>
          <a:xfrm>
            <a:off x="8296611" y="2944438"/>
            <a:ext cx="1333195" cy="3840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6">
            <a:extLst>
              <a:ext uri="{FF2B5EF4-FFF2-40B4-BE49-F238E27FC236}">
                <a16:creationId xmlns:a16="http://schemas.microsoft.com/office/drawing/2014/main" id="{8608C387-7891-9520-2230-B91263AA767A}"/>
              </a:ext>
            </a:extLst>
          </p:cNvPr>
          <p:cNvSpPr txBox="1"/>
          <p:nvPr/>
        </p:nvSpPr>
        <p:spPr>
          <a:xfrm>
            <a:off x="8242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93" name="Text 87">
            <a:extLst>
              <a:ext uri="{FF2B5EF4-FFF2-40B4-BE49-F238E27FC236}">
                <a16:creationId xmlns:a16="http://schemas.microsoft.com/office/drawing/2014/main" id="{FCD8CB81-AAD3-94BE-E44F-BC4BF861E5D5}"/>
              </a:ext>
            </a:extLst>
          </p:cNvPr>
          <p:cNvSpPr txBox="1"/>
          <p:nvPr/>
        </p:nvSpPr>
        <p:spPr>
          <a:xfrm>
            <a:off x="8258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</a:t>
            </a:r>
            <a:endParaRPr lang="en-US" sz="900" dirty="0"/>
          </a:p>
        </p:txBody>
      </p:sp>
      <p:pic>
        <p:nvPicPr>
          <p:cNvPr id="94" name="Image 4" descr="preencoded.png">
            <a:extLst>
              <a:ext uri="{FF2B5EF4-FFF2-40B4-BE49-F238E27FC236}">
                <a16:creationId xmlns:a16="http://schemas.microsoft.com/office/drawing/2014/main" id="{339F4AAB-D793-43DA-6FC2-8D8EEF70B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9791655" y="2531129"/>
            <a:ext cx="75895" cy="152705"/>
          </a:xfrm>
          <a:prstGeom prst="rect">
            <a:avLst/>
          </a:prstGeom>
        </p:spPr>
      </p:pic>
      <p:sp>
        <p:nvSpPr>
          <p:cNvPr id="95" name="Shape 88">
            <a:extLst>
              <a:ext uri="{FF2B5EF4-FFF2-40B4-BE49-F238E27FC236}">
                <a16:creationId xmlns:a16="http://schemas.microsoft.com/office/drawing/2014/main" id="{B252EA81-6549-229F-FD68-F24C94EB88DC}"/>
              </a:ext>
            </a:extLst>
          </p:cNvPr>
          <p:cNvSpPr/>
          <p:nvPr/>
        </p:nvSpPr>
        <p:spPr>
          <a:xfrm>
            <a:off x="10296404" y="1706340"/>
            <a:ext cx="1143000" cy="1143000"/>
          </a:xfrm>
          <a:prstGeom prst="ellipse">
            <a:avLst/>
          </a:prstGeom>
          <a:solidFill>
            <a:srgbClr val="4ADE80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9">
            <a:extLst>
              <a:ext uri="{FF2B5EF4-FFF2-40B4-BE49-F238E27FC236}">
                <a16:creationId xmlns:a16="http://schemas.microsoft.com/office/drawing/2014/main" id="{CFD9DEEF-E1D3-37C5-18B1-3D78A3B3531D}"/>
              </a:ext>
            </a:extLst>
          </p:cNvPr>
          <p:cNvSpPr txBox="1"/>
          <p:nvPr/>
        </p:nvSpPr>
        <p:spPr>
          <a:xfrm>
            <a:off x="10728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3600" dirty="0"/>
          </a:p>
        </p:txBody>
      </p:sp>
      <p:sp>
        <p:nvSpPr>
          <p:cNvPr id="97" name="Shape 90">
            <a:extLst>
              <a:ext uri="{FF2B5EF4-FFF2-40B4-BE49-F238E27FC236}">
                <a16:creationId xmlns:a16="http://schemas.microsoft.com/office/drawing/2014/main" id="{1169DA0A-5310-228F-2684-8241BE8DDA61}"/>
              </a:ext>
            </a:extLst>
          </p:cNvPr>
          <p:cNvSpPr/>
          <p:nvPr/>
        </p:nvSpPr>
        <p:spPr>
          <a:xfrm>
            <a:off x="10201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1">
            <a:extLst>
              <a:ext uri="{FF2B5EF4-FFF2-40B4-BE49-F238E27FC236}">
                <a16:creationId xmlns:a16="http://schemas.microsoft.com/office/drawing/2014/main" id="{E17C9E78-9893-490B-B7D6-82A19ABDA3A6}"/>
              </a:ext>
            </a:extLst>
          </p:cNvPr>
          <p:cNvSpPr/>
          <p:nvPr/>
        </p:nvSpPr>
        <p:spPr>
          <a:xfrm>
            <a:off x="10201306" y="2944438"/>
            <a:ext cx="1333195" cy="38405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2">
            <a:extLst>
              <a:ext uri="{FF2B5EF4-FFF2-40B4-BE49-F238E27FC236}">
                <a16:creationId xmlns:a16="http://schemas.microsoft.com/office/drawing/2014/main" id="{F040377F-9EB0-D4D8-1841-4359D9039087}"/>
              </a:ext>
            </a:extLst>
          </p:cNvPr>
          <p:cNvSpPr txBox="1"/>
          <p:nvPr/>
        </p:nvSpPr>
        <p:spPr>
          <a:xfrm>
            <a:off x="10148271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</a:t>
            </a:r>
            <a:endParaRPr lang="en-US" sz="1200" dirty="0"/>
          </a:p>
        </p:txBody>
      </p:sp>
      <p:sp>
        <p:nvSpPr>
          <p:cNvPr id="100" name="Text 93">
            <a:extLst>
              <a:ext uri="{FF2B5EF4-FFF2-40B4-BE49-F238E27FC236}">
                <a16:creationId xmlns:a16="http://schemas.microsoft.com/office/drawing/2014/main" id="{908EB2D0-A1DD-28D9-7733-B8E3002ACBCB}"/>
              </a:ext>
            </a:extLst>
          </p:cNvPr>
          <p:cNvSpPr txBox="1"/>
          <p:nvPr/>
        </p:nvSpPr>
        <p:spPr>
          <a:xfrm>
            <a:off x="10162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Realize</a:t>
            </a:r>
            <a:endParaRPr lang="en-US" sz="900" dirty="0"/>
          </a:p>
        </p:txBody>
      </p:sp>
      <p:sp>
        <p:nvSpPr>
          <p:cNvPr id="10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754700383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1758</Words>
  <Application>Microsoft Office PowerPoint</Application>
  <PresentationFormat>와이드스크린</PresentationFormat>
  <Paragraphs>418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Noto Serif KR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2026-01-25T19:07:46Z</dcterms:created>
  <dcterms:modified xsi:type="dcterms:W3CDTF">2026-01-25T20:50:28Z</dcterms:modified>
</cp:coreProperties>
</file>