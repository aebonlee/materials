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6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D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DF4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F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0EDD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D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Word + Outlook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참조 파일로 초안 → 가이드라인 기준 클레임 리뷰(교육생 질문) → 메일 요약…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 haleon.dreamitbiz.com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이 시간에 하는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시작하기 전 — Copilot 자리 두 군데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Word 실습 1 — 참조 파일로 회의록 초안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Word 실습 2 — 가이드라인 기준 클레임 리뷰 (교육생 질문 반영)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Outlook 실습 3 — 스레드 요약 → 미결 항목·내게 온 요청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Outlook 실습 4 — 답장 초안 + 톤 조절 + 약속 문장 확인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확장 예제 — 시간이 남을 때 (Word 5 · Outlook 6)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시작하기 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Copilot 자리 두 군데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시작하기 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962150" cy="59055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9621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앱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43250" y="2781300"/>
            <a:ext cx="8534400" cy="5905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43250" y="2781300"/>
            <a:ext cx="8534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15750" y="2781300"/>
            <a:ext cx="5429250" cy="5905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15750" y="2781300"/>
            <a:ext cx="54292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하는 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1962150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17716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Word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43250" y="3448050"/>
            <a:ext cx="8534400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38500" y="3448050"/>
            <a:ext cx="8343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 문서 위쪽 Copilot으로 초안 작성 입력 막대…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15750" y="3448050"/>
            <a:ext cx="5429250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11000" y="3448050"/>
            <a:ext cx="52387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초안 작성 / 문서 전체 두고 대화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1962150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17716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Outlook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43250" y="4171950"/>
            <a:ext cx="8534400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38500" y="4171950"/>
            <a:ext cx="8343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메일 위 Copilot의 요약(또는 [요약]) / 작…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15750" y="4171950"/>
            <a:ext cx="5429250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11000" y="4171950"/>
            <a:ext cx="52387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스레드 요약 / 답장 초안·코칭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Word 실습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참조 파일로 회의록 초안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Word 실습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71800"/>
            <a:ext cx="6324600" cy="4476750"/>
          </a:xfrm>
          <a:prstGeom prst="roundRect">
            <a:avLst>
              <a:gd name="adj" fmla="val 1276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wd-11-file-pic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0" y="3105276"/>
            <a:ext cx="6058002" cy="42097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7581900"/>
            <a:ext cx="6324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① / 를 치면 파일 고르기 창이 뜹니다. 검색 칸에 "회의메모"를 넣…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4800" y="2857500"/>
            <a:ext cx="9220200" cy="2447925"/>
          </a:xfrm>
          <a:prstGeom prst="roundRect">
            <a:avLst>
              <a:gd name="adj" fmla="val 1945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24800" y="2857500"/>
            <a:ext cx="47625" cy="2447925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10550" y="3871912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0550" y="3938588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9200" y="2971800"/>
            <a:ext cx="7981950" cy="2219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haleon-회의메모-더미.docx — 급하게 친 회의 메모…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24800" y="5457825"/>
            <a:ext cx="9220200" cy="2447925"/>
          </a:xfrm>
          <a:prstGeom prst="roundRect">
            <a:avLst>
              <a:gd name="adj" fmla="val 1945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24800" y="5457825"/>
            <a:ext cx="47625" cy="2447925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10550" y="6472238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0550" y="6538912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39200" y="5572125"/>
            <a:ext cx="7981950" cy="2219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순서가 중요합니다. 문장을 먼저 다 쓰고, 맨 앞으로 커서를…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Word 실습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/haleon-회의메모-더미.docx 를 근거로 정식 회의록을 작성해줘.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다음 순서로 구성해줘.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1) 회의 개요 — 일시, 참석자, 안건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2) 논의 내용 — 안건별로 나눠서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3) 결정사항 — 번호를 매겨서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4) 액션 아이템 — 표로. 열은 [할 일 / 담당 / 기한]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메모에 없는 내용은 만들어 넣지 말고, 정해지지 않은 항목은 '미정'으로 표시해줘.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Word 실습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181475"/>
            <a:ext cx="7810500" cy="2057400"/>
          </a:xfrm>
          <a:prstGeom prst="roundRect">
            <a:avLst>
              <a:gd name="adj" fmla="val 2777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wd-12-draft-prom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0" y="4315151"/>
            <a:ext cx="7543774" cy="1790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6372225"/>
            <a:ext cx="7810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② 파일이 파란 링크로 붙은 완성 프롬프트 — 오른쪽 화살표로 보냅니다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0700" y="2857500"/>
            <a:ext cx="7734300" cy="5048250"/>
          </a:xfrm>
          <a:prstGeom prst="roundRect">
            <a:avLst>
              <a:gd name="adj" fmla="val 94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10700" y="2857500"/>
            <a:ext cx="47625" cy="50482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96450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64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25100" y="2971800"/>
            <a:ext cx="6496050" cy="481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② 파일이 파란 링크로 붙은 완성 프롬프트 — 오른쪽 화살표…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Word 실습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71800"/>
            <a:ext cx="7258050" cy="4476750"/>
          </a:xfrm>
          <a:prstGeom prst="roundRect">
            <a:avLst>
              <a:gd name="adj" fmla="val 1276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wd-13-minutes-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0" y="3106501"/>
            <a:ext cx="6991439" cy="42073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7581900"/>
            <a:ext cx="72580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③ 회의 개요 표 — "참석자 이름·부서·직급은 확인 필요"까지 메모…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58250" y="2857500"/>
            <a:ext cx="8286750" cy="5048250"/>
          </a:xfrm>
          <a:prstGeom prst="roundRect">
            <a:avLst>
              <a:gd name="adj" fmla="val 94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58250" y="2857500"/>
            <a:ext cx="47625" cy="50482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0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72650" y="2971800"/>
            <a:ext cx="7048500" cy="481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③ 회의 개요 표 — "참석자 이름·부서·직급은 확인 필요"…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Word 실습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71800"/>
            <a:ext cx="6438900" cy="4476750"/>
          </a:xfrm>
          <a:prstGeom prst="roundRect">
            <a:avLst>
              <a:gd name="adj" fmla="val 1276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wd-14-minutes-deci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0" y="3105920"/>
            <a:ext cx="6172089" cy="420850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7581900"/>
            <a:ext cx="64389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④ 결정사항 5개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9100" y="2857500"/>
            <a:ext cx="9105900" cy="5048250"/>
          </a:xfrm>
          <a:prstGeom prst="roundRect">
            <a:avLst>
              <a:gd name="adj" fmla="val 94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39100" y="2857500"/>
            <a:ext cx="47625" cy="50482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24850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48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500" y="2971800"/>
            <a:ext cx="7867650" cy="481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④ 결정사항 5개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Word 실습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71800"/>
            <a:ext cx="6438900" cy="4476750"/>
          </a:xfrm>
          <a:prstGeom prst="roundRect">
            <a:avLst>
              <a:gd name="adj" fmla="val 1276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wd-15-minutes-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0" y="3105920"/>
            <a:ext cx="6172089" cy="420850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7581900"/>
            <a:ext cx="64389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⑤ 액션 아이템 — 메모에서 "확실치 않음"이던 영상 시안 담당은 "미…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9100" y="2857500"/>
            <a:ext cx="9105900" cy="5048250"/>
          </a:xfrm>
          <a:prstGeom prst="roundRect">
            <a:avLst>
              <a:gd name="adj" fmla="val 94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39100" y="2857500"/>
            <a:ext cx="47625" cy="50482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24850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48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500" y="2971800"/>
            <a:ext cx="7867650" cy="481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⑤ 액션 아이템 — 메모에서 "확실치 않음"이던 영상 시안…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Word 실습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가이드라인 기준 클레임 리뷰 (교육생 질문 반영)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파일 두 개 (OneDrive에 있어야 합니다)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731977" cy="59055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731977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파일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13077" y="2781300"/>
            <a:ext cx="9231923" cy="5905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13077" y="2781300"/>
            <a:ext cx="9231923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6731977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654147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haleon-광고가이드라인-발췌.docx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13077" y="3448050"/>
            <a:ext cx="9231923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8327" y="3448050"/>
            <a:ext cx="904142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식약처 「의약외품 표시·광고 가이드라인」(2025-0…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6731977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654147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haleon-광고문안-샘플.docx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13077" y="4171950"/>
            <a:ext cx="9231923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8327" y="4171950"/>
            <a:ext cx="904142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가상 손소독제 광고 문안 10문장. 가이드라인 3.2…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71800"/>
            <a:ext cx="5610225" cy="4476750"/>
          </a:xfrm>
          <a:prstGeom prst="roundRect">
            <a:avLst>
              <a:gd name="adj" fmla="val 1276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wd-01-prompt-file-r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836" y="3105150"/>
            <a:ext cx="5342408" cy="4210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7581900"/>
            <a:ext cx="56102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입력창에 / 로 발췌본 파일을 붙이고 조건을 이어 쓴 모습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10425" y="2857500"/>
            <a:ext cx="9934575" cy="1581150"/>
          </a:xfrm>
          <a:prstGeom prst="roundRect">
            <a:avLst>
              <a:gd name="adj" fmla="val 301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10425" y="2857500"/>
            <a:ext cx="47625" cy="15811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6175" y="343852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6175" y="35052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4825" y="2971800"/>
            <a:ext cx="8696325" cy="1352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haleon-광고문안-샘플.docx 를 열고 [홈] → Co…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10425" y="4591050"/>
            <a:ext cx="9934575" cy="1581150"/>
          </a:xfrm>
          <a:prstGeom prst="roundRect">
            <a:avLst>
              <a:gd name="adj" fmla="val 301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10425" y="4591050"/>
            <a:ext cx="47625" cy="15811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6175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6175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4825" y="4705350"/>
            <a:ext cx="8696325" cy="1352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창 아래 「편집 허용」을 「채팅만」으로 바꿉니다. 편집 허용…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10425" y="6324600"/>
            <a:ext cx="9934575" cy="1581150"/>
          </a:xfrm>
          <a:prstGeom prst="roundRect">
            <a:avLst>
              <a:gd name="adj" fmla="val 301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10425" y="6324600"/>
            <a:ext cx="47625" cy="15811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96175" y="690562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6175" y="69723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4825" y="6438900"/>
            <a:ext cx="8696325" cy="1352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입력창에 / 를 치고 광고가이드라인 을 입력하면 발췌본 파일…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/haleon-광고가이드라인-발췌.docx 의 3.2절(광고상의 주의)을 기준으로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이 문서의 광고 문안을 검토해줘.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결과는 표로. 열은 [문장 번호 / 원문 / 해당 절(3.2.1~3.2.8) 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판정(검토 필요·문제 없음) / 이유 / 수정안]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 판정 근거는 반드시 발췌본에 있는 조항이나 부적합 사례를 인용해줘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 발췌본에 근거가 없는 문장은 '근거 없음'으로 표시하고 판단하지 말아줘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 문안을 고쳐 쓰지는 말고, 수정안은 한 줄 제안으로만 적어줘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정답표 — 이 표와 Copilot 결과를 대조…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676900" cy="59055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676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2781300"/>
            <a:ext cx="5962650" cy="5905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781300"/>
            <a:ext cx="59626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심어 둔 유형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58750" y="2781300"/>
            <a:ext cx="4286250" cy="5905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58750" y="2781300"/>
            <a:ext cx="42862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가이드라인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676900" cy="619125"/>
          </a:xfrm>
          <a:prstGeom prst="roundRect">
            <a:avLst>
              <a:gd name="adj" fmla="val 6153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486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① 피부염·아토피까지 진정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3448050"/>
            <a:ext cx="5962650" cy="619125"/>
          </a:xfrm>
          <a:prstGeom prst="roundRect">
            <a:avLst>
              <a:gd name="adj" fmla="val 615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53250" y="3448050"/>
            <a:ext cx="57721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질환명·의학적 증상 표현, 의약품 오인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58750" y="3448050"/>
            <a:ext cx="4286250" cy="619125"/>
          </a:xfrm>
          <a:prstGeom prst="roundRect">
            <a:avLst>
              <a:gd name="adj" fmla="val 615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954000" y="3448050"/>
            <a:ext cx="40957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2.1 ①·② / 3.2.3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5676900" cy="619125"/>
          </a:xfrm>
          <a:prstGeom prst="roundRect">
            <a:avLst>
              <a:gd name="adj" fmla="val 6153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5486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② 임상시험으로 효능 입증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4143375"/>
            <a:ext cx="5962650" cy="619125"/>
          </a:xfrm>
          <a:prstGeom prst="roundRect">
            <a:avLst>
              <a:gd name="adj" fmla="val 615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53250" y="4143375"/>
            <a:ext cx="57721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객관적 근거 없는 '입증' 표현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858750" y="4143375"/>
            <a:ext cx="4286250" cy="619125"/>
          </a:xfrm>
          <a:prstGeom prst="roundRect">
            <a:avLst>
              <a:gd name="adj" fmla="val 615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954000" y="4143375"/>
            <a:ext cx="40957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2.1 ③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5676900" cy="619125"/>
          </a:xfrm>
          <a:prstGeom prst="roundRect">
            <a:avLst>
              <a:gd name="adj" fmla="val 6153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5486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③ 피부과 전문의 추천·약사들이 찾는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4838700"/>
            <a:ext cx="5962650" cy="619125"/>
          </a:xfrm>
          <a:prstGeom prst="roundRect">
            <a:avLst>
              <a:gd name="adj" fmla="val 615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53250" y="4838700"/>
            <a:ext cx="57721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의·약 전문가 추천·보증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858750" y="4838700"/>
            <a:ext cx="4286250" cy="619125"/>
          </a:xfrm>
          <a:prstGeom prst="roundRect">
            <a:avLst>
              <a:gd name="adj" fmla="val 615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954000" y="4838700"/>
            <a:ext cx="40957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5676900" cy="619125"/>
          </a:xfrm>
          <a:prstGeom prst="roundRect">
            <a:avLst>
              <a:gd name="adj" fmla="val 6153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5486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④ 부작용 전혀 없음·100% 안전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5534025"/>
            <a:ext cx="5962650" cy="619125"/>
          </a:xfrm>
          <a:prstGeom prst="roundRect">
            <a:avLst>
              <a:gd name="adj" fmla="val 615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53250" y="5534025"/>
            <a:ext cx="57721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안전성을 부당하게 강조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858750" y="5534025"/>
            <a:ext cx="4286250" cy="619125"/>
          </a:xfrm>
          <a:prstGeom prst="roundRect">
            <a:avLst>
              <a:gd name="adj" fmla="val 615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954000" y="5534025"/>
            <a:ext cx="40957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5676900" cy="619125"/>
          </a:xfrm>
          <a:prstGeom prst="roundRect">
            <a:avLst>
              <a:gd name="adj" fmla="val 6153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5486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⑤ 국내 최고·타사보다 2배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0" y="6229350"/>
            <a:ext cx="5962650" cy="619125"/>
          </a:xfrm>
          <a:prstGeom prst="roundRect">
            <a:avLst>
              <a:gd name="adj" fmla="val 615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53250" y="6229350"/>
            <a:ext cx="57721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최고·최상 절대 표현, 근거 없는 비교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858750" y="6229350"/>
            <a:ext cx="4286250" cy="619125"/>
          </a:xfrm>
          <a:prstGeom prst="roundRect">
            <a:avLst>
              <a:gd name="adj" fmla="val 615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954000" y="6229350"/>
            <a:ext cx="40957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5676900" cy="619125"/>
          </a:xfrm>
          <a:prstGeom prst="roundRect">
            <a:avLst>
              <a:gd name="adj" fmla="val 6153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5486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⑥ 100% 천연·유기농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0" y="6924675"/>
            <a:ext cx="5962650" cy="619125"/>
          </a:xfrm>
          <a:prstGeom prst="roundRect">
            <a:avLst>
              <a:gd name="adj" fmla="val 615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53250" y="6924675"/>
            <a:ext cx="57721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유기농·천연 표현 기준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858750" y="6924675"/>
            <a:ext cx="4286250" cy="619125"/>
          </a:xfrm>
          <a:prstGeom prst="roundRect">
            <a:avLst>
              <a:gd name="adj" fmla="val 615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954000" y="6924675"/>
            <a:ext cx="40957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실제로 돌려 보면 — 2026-10-13 실측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71800"/>
            <a:ext cx="5743575" cy="4476750"/>
          </a:xfrm>
          <a:prstGeom prst="roundRect">
            <a:avLst>
              <a:gd name="adj" fmla="val 1276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wd-03-result-3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413" y="3105150"/>
            <a:ext cx="5474834" cy="4210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7581900"/>
            <a:ext cx="57435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③~⑤ 판정 — 정답표와 같은 절을 짚었습니다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43775" y="2857500"/>
            <a:ext cx="9801225" cy="5048250"/>
          </a:xfrm>
          <a:prstGeom prst="roundRect">
            <a:avLst>
              <a:gd name="adj" fmla="val 94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43775" y="2857500"/>
            <a:ext cx="47625" cy="50482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29525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9525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8175" y="2971800"/>
            <a:ext cx="8562975" cy="481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①~⑥은 정답표와 같은 절로 「검토 필요」가 나왔습니다. ⑦…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실제로 돌려 보면 — 2026-10-13 실측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71800"/>
            <a:ext cx="5743575" cy="4476750"/>
          </a:xfrm>
          <a:prstGeom prst="roundRect">
            <a:avLst>
              <a:gd name="adj" fmla="val 1276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wd-04-result-6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0" y="3105627"/>
            <a:ext cx="5476984" cy="42090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7581900"/>
            <a:ext cx="57435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⑦은 '근거 없음'으로 놓쳤습니다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43775" y="2857500"/>
            <a:ext cx="9801225" cy="5048250"/>
          </a:xfrm>
          <a:prstGeom prst="roundRect">
            <a:avLst>
              <a:gd name="adj" fmla="val 94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43775" y="2857500"/>
            <a:ext cx="47625" cy="50482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29525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9525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8175" y="2971800"/>
            <a:ext cx="8562975" cy="481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⑦은 '근거 없음'으로 놓쳤습니다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실제로 돌려 보면 — 2026-10-13 실측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7번 문장을 3.2.2 기준으로 다시 봐줘. 어떤 부적합 사례에 해당하는지 원문을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인용해줘.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실제로 돌려 보면 — 2026-10-13 실측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71800"/>
            <a:ext cx="5743575" cy="4476750"/>
          </a:xfrm>
          <a:prstGeom prst="roundRect">
            <a:avLst>
              <a:gd name="adj" fmla="val 1276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wd-06-followup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0" y="3106597"/>
            <a:ext cx="5476882" cy="420715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7581900"/>
            <a:ext cx="57435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되묻자 ⑦이 3.2.2 '검토 필요'로 바로잡혔습니다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43775" y="2857500"/>
            <a:ext cx="9801225" cy="5048250"/>
          </a:xfrm>
          <a:prstGeom prst="roundRect">
            <a:avLst>
              <a:gd name="adj" fmla="val 94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43775" y="2857500"/>
            <a:ext cx="47625" cy="50482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29525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9525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8175" y="2971800"/>
            <a:ext cx="8562975" cy="481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되묻자 ⑦이 3.2.2 '검토 필요'로 바로잡혔습니다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실제로 돌려 보면 — 2026-10-13 실측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한 번에 다 맞히지 않는다는 것, 놓친 것은 정답표와 대조해야 보인다는 것.…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이 절의 화면 캡처는 2026-10-13 개인용 Microsoft 365 계정…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Copilot이 ⑧~⑩을 '검토 필요'로 잡았다면 그것이 바로 사람이 봐야 하…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반복하려면 — 저장된 프롬프트 (여기가 '반자…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Copilot 창에서 방금 쓴 프롬프트 오른쪽 메뉴 → [프롬프트 저장] (C…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다음 검토 때는 새 문안 파일을 열고 저장된 프롬프트를 불러와 실행만 합니다.…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가이드라인이 개정되면 발췌본 파일만 교체합니다. 프롬프트는 안 바뀝니다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되는 것 / 안 되는 것 — 질문에 대한 답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257769" cy="59055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257769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하고 싶은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38869" y="2781300"/>
            <a:ext cx="5208457" cy="5905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38869" y="2781300"/>
            <a:ext cx="5208457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에이전트 없이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85426" y="2781300"/>
            <a:ext cx="4459574" cy="5905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85426" y="2781300"/>
            <a:ext cx="4459574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6257769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606726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문안을 열고 버튼 몇 번으로 같은 기준 검토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38869" y="3448050"/>
            <a:ext cx="5208457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34119" y="3448050"/>
            <a:ext cx="501795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✓ 저장 프롬프트 + 참조 파일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685426" y="3448050"/>
            <a:ext cx="4459574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780676" y="3448050"/>
            <a:ext cx="426907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한 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6257769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606726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검토 결과를 표로 받아 담당자에게 전달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38869" y="4171950"/>
            <a:ext cx="5208457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34119" y="4171950"/>
            <a:ext cx="501795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✓ 결과 복사 → Outlook 초안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685426" y="4171950"/>
            <a:ext cx="4459574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780676" y="4171950"/>
            <a:ext cx="426907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 4로 이어집니다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6257769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606726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여러 문안을 한 번에 검토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38869" y="4895850"/>
            <a:ext cx="5208457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34119" y="4895850"/>
            <a:ext cx="501795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△ 문안을 한 파일로 모아 돌리면 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685426" y="4895850"/>
            <a:ext cx="4459574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780676" y="4895850"/>
            <a:ext cx="426907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파일이 많으면 품질이 떨어집니다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되는 것 / 안 되는 것 — 질문에 대한 답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팀 전용 검토 창구나 파일이 들어오면 저절로 도는 검토는 이 과정의 범위 밖입…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중요한 전제 하나. 가이드라인 첫 장에 "본 안내서는 법적 효력을 가지지 않으…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Outlook 실습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스레드 요약 → 미결 항목·내게 온 요청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Outlook 실습 3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953000"/>
            <a:ext cx="7810500" cy="523875"/>
          </a:xfrm>
          <a:prstGeom prst="roundRect">
            <a:avLst>
              <a:gd name="adj" fmla="val 10909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ol-01-copilot-summary-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0" y="5088606"/>
            <a:ext cx="7543825" cy="2526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5610225"/>
            <a:ext cx="7810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메일 본문 위의 'Copilot의 요약' 막대 (2026-10-13 실…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0700" y="2857500"/>
            <a:ext cx="7734300" cy="2447925"/>
          </a:xfrm>
          <a:prstGeom prst="roundRect">
            <a:avLst>
              <a:gd name="adj" fmla="val 1945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10700" y="2857500"/>
            <a:ext cx="47625" cy="2447925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96450" y="3871912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6450" y="3938588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25100" y="2971800"/>
            <a:ext cx="6496050" cy="2219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본인 메일함으로 합니다. 미리 골라 둔 스레드(회신 5개 이…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0700" y="5457825"/>
            <a:ext cx="7734300" cy="2447925"/>
          </a:xfrm>
          <a:prstGeom prst="roundRect">
            <a:avLst>
              <a:gd name="adj" fmla="val 1945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410700" y="5457825"/>
            <a:ext cx="47625" cy="2447925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96450" y="6472238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6450" y="6538912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25100" y="5572125"/>
            <a:ext cx="6496050" cy="2219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메일 위쪽 Copilot의 요약 막대(버전에 따라 [요약]…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Outlook 실습 3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이 메일 스레드에서 아직 결론이 나지 않은 항목만 뽑아줘.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각 항목마다 누가 답을 줘야 하는지, 언제까지인지도 함께 알려줘.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언급되지 않은 건 '미정'으로 표시해줘.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Outlook 실습 3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이 스레드에서 나에게 요청된 일이 있으면 알려줘.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없으면 없다고 말해줘.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"없으면 없다고 말해줘" 한 줄을 빼고 돌려 보세요. 할 일이 없는데도 만들어…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첨부파일 안의 내용은 요약에 잘 안 들어옵니다. 첨부가 핵심인 스레드면 첨부를…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Outlook 실습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답장 초안 + 톤 조절 + 약속 문장 확인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Outlook 실습 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[회신](답장) → 작성창 첫 줄 「Copilot으로 초안 작성(⌘+I)」 을…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문장이 아니라 요점만 적습니다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Outlook 실습 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일정 조정 요청은 수용하고, 자료는 이번 주 금요일까지 보내겠다고 답해줘.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예산 관련 질문은 아직 확정 전이라 다음 주에 별도로 회신하겠다고 해줘.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Outlook 실습 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71800"/>
            <a:ext cx="5724525" cy="4476750"/>
          </a:xfrm>
          <a:prstGeom prst="roundRect">
            <a:avLst>
              <a:gd name="adj" fmla="val 1276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ol-11-draft-prom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519" y="3105150"/>
            <a:ext cx="5457472" cy="4210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7581900"/>
            <a:ext cx="57245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① 요점만 넣습니다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24725" y="2857500"/>
            <a:ext cx="9820275" cy="5048250"/>
          </a:xfrm>
          <a:prstGeom prst="roundRect">
            <a:avLst>
              <a:gd name="adj" fmla="val 94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24725" y="2857500"/>
            <a:ext cx="47625" cy="50482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10475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0475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9125" y="2971800"/>
            <a:ext cx="8582025" cy="481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① 요점만 넣습니다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Outlook 실습 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![② 초안 — 아래 칸에서 톤·길이를 말로 조정하고 [유지] 또는 [취소]]…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초안이 나오면 한 번은 조절합니다 (버튼이 없으면 말로)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Outlook 실습 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654669" cy="59055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654669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35769" y="2781300"/>
            <a:ext cx="12309231" cy="5905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35769" y="2781300"/>
            <a:ext cx="12309231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프롬프트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3654669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346416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너무 길다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35769" y="3448050"/>
            <a:ext cx="12309231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1019" y="3448050"/>
            <a:ext cx="1211873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3문장으로 줄여줘. 인사말은 한 줄만 남겨줘.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3654669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346416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너무 돌려 말한다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35769" y="4171950"/>
            <a:ext cx="12309231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1019" y="4171950"/>
            <a:ext cx="1211873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결론을 첫 문장에 두고 직접적으로 써줘.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3654669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346416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윗분께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35769" y="4895850"/>
            <a:ext cx="12309231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1019" y="4895850"/>
            <a:ext cx="1211873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임원께 보내는 메일 톤으로. 배경 설명을 두 줄 앞에…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3654669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346416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영문으로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35769" y="5619750"/>
            <a:ext cx="12309231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1019" y="5619750"/>
            <a:ext cx="1211873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내용을 영문 비즈니스 메일로 바꿔줘. 격식 있는…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Outlook 실습 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943350"/>
            <a:ext cx="7810500" cy="2543175"/>
          </a:xfrm>
          <a:prstGeom prst="roundRect">
            <a:avLst>
              <a:gd name="adj" fmla="val 2247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ol-13-draft-adjus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0" y="4077967"/>
            <a:ext cx="7543709" cy="227394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6619875"/>
            <a:ext cx="7810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③ "결론을 첫 문장에" 조정 후 2/2판 — 화살표로 1판과 오갈 수…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0700" y="2857500"/>
            <a:ext cx="7734300" cy="5048250"/>
          </a:xfrm>
          <a:prstGeom prst="roundRect">
            <a:avLst>
              <a:gd name="adj" fmla="val 94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10700" y="2857500"/>
            <a:ext cx="47625" cy="50482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96450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64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25100" y="2971800"/>
            <a:ext cx="6496050" cy="481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③ "결론을 첫 문장에" 조정 후 2/2판 — 화살표로 1판…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보내기 전에 — 약속 문장만 다시 읽기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"금요일까지 보내겠다"고만 했는데 초안에 "검토까지 마쳐서 보내드리겠습니다"가…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2의 검토 결과 표를 복사해 "담당자에게 검토 결과를 전달하는 메일 초안…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확장 예제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시간이 남을 때 (Word 5 · Outlook 6)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Word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이 문서를 A4 한 장 분량으로 요약해줘.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 맨 위에 3줄짜리 핵심 요약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 그 아래에 항목별 요약 (원문 소제목 순서를 유지)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 맨 아래에 '결정이 필요한 사항' 목록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숫자와 날짜는 원문 그대로 옮기고, 원문에 없는 판단은 넣지 말아줘.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Word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선택한 부분을 사외 파트너에게 보낼 안내문 톤으로 바꿔줘.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 사내 약어와 부서 이름은 풀어서 쓰거나 빼줘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 지시하는 말투("~할 것")를 요청하는 말투("~해 주시기 바랍니다")로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 내부 일정이나 담당자 실명은 빼줘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Word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'현황' 부분의 서술형 문장을 표로 정리해줘.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열은 [항목 / 현재 상태 / 문제점 / 필요한 조치] 로 해줘.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Word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이 문서의 요약 부분을 영문으로 작성해줘.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글로벌 본사에 보고하는 톤으로, 고유명사와 숫자는 그대로 유지해줘.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Word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이 문서를 처음 읽는 사람 입장에서 검토해줘.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설명이 부족하거나 근거가 없는 문단을 찾아서,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어느 문단인지와 무엇이 빠졌는지 알려줘. 문서를 고치지는 말아줘.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Outlook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이 메일을 받는 사람이 어떻게 느낄지 알려줘.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불필요하게 공격적으로 읽힐 수 있는 문장이 있으면 짚어줘. 고치지는 말아줘.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Outlook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이 메일에서 상대가 무엇을 해야 하는지 한 문장으로 말해봐.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말할 수 없으면, 요청이 불명확한 거니까 어디가 모호한지 알려줘.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Outlook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지난 3일 동안 온 메일 중에서 내가 확인해야 할 것만 골라줘.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급한 순서로 정렬하고, 각각 왜 급한지 한 줄로 설명해줘.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Outlook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이번 주에 받은 회의 요청을 정리해줘.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겹치는 시간대가 있으면 알려주고, 참석 여부를 아직 답하지 않은 것도 표시해줘.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Outlook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이 스레드에서 나온 할 일을 표로 정리해줘.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열은 [할 일 / 담당 / 기한 / 근거가 된 메일 발신자] 로 해줘.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스레드에 없는 내용은 만들지 말고 '미정'으로 둬줘.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Outlook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이 영문 메일 초안을 검토해줘.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글로벌 본사에 보내는 건데, 지나치게 직접적이거나 어색한 표현이 있으면 짚어줘.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자연스러운 대안도 함께 제시해줘.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2교시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2교시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2교시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결과를 캡처 한 장으로 패들렛에 올려 주세요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패들렛 2교시 실습결과 칸에 올리기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의도대로 안 된 것은 질문 칸에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학습사이트에서 같은 내용을 다시 볼 수 있습니다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