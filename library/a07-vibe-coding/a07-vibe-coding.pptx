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26" r:id="rId77"/>
    <p:sldId id="327" r:id="rId78"/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8" r:id="rId79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EF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BF4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D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DEC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A07 · 바이브코딩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클로드 코드와 제미나이로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바이브코딩 포트폴리오 배포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터미널 AI 에이전트와 함께 만들고 GitHub Pages 로 공개하기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이애본 지음 · 홍문원(洪文院) 발행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CC BY-NC-ND 4.0 · useful-ai.dreamitbiz.com</a:t>
            </a:r>
          </a:p>
        </p:txBody>
      </p:sp>
      <p:sp>
        <p:nvSpPr>
          <p:cNvPr id="1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전체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 강의안의 순서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9814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9814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41052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1814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9300" y="41529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바이브코딩과 AI 코딩 도구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0" y="417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이해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7053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0" y="47053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" y="48291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9053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9300" y="48768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개발 환경 준비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500" y="48958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준비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292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43000" y="54292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1600" y="55530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6292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9300" y="56007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AI 에게 잘 요청하기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1500" y="56197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준비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1531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153150"/>
            <a:ext cx="57150" cy="62865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71600" y="62769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63531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9300" y="63246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포트폴리오 뼈대 만들기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1500" y="63436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제작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34500" y="39814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334500" y="3981450"/>
            <a:ext cx="57150" cy="62865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63100" y="41052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63100" y="41814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10800" y="41529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기능 더하기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383000" y="417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제작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34500" y="47053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334500" y="47053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563100" y="48291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63100" y="49053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10800" y="48768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다듬기 — 성능·접근성·보안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383000" y="48958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품질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334500" y="54292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334500" y="5429250"/>
            <a:ext cx="57150" cy="62865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563100" y="55530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63100" y="56292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10800" y="56007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GitHub Pages 배포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383000" y="56197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배포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334500" y="61531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334500" y="61531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563100" y="62769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63100" y="63531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10800" y="6324600"/>
            <a:ext cx="6096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문제 해결과 최종 점검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383000" y="63436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배포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5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학습목표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 강의안을 마치면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17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17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17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17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Claude Code·Gemini CLI 가 하는 일을 설명한다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66236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66236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66236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66236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역할·목표·제약·맥락을 갖춘 요청문을 쓴다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45293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45293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45293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45293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반응형 포트폴리오를 AI 와 함께 만든다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24351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24351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24351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24351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가 만든 코드를 직접 확인하고 고친다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0340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0340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60340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60340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GitHub Pages 로 내 사이트 주소를 만든다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결과물 — 인터넷에서 열리는 내 포트폴리오 주소 하나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3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준비물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시작 전에 갖출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78105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80962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프로그램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VS Code · Git · Node.js(LTS)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Chrome 같은 최신 브라우저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2924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2924175"/>
            <a:ext cx="78105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248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계정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GitHub 계정(배포용)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Claude 또는 Google 계정(AI 도구용)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591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5591175"/>
            <a:ext cx="78105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80962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6850" y="5915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기초 지식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HTML 태그·CSS 선택자·JS 문법을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조금 알면 AI 결과를 읽기 쉽다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34500" y="5591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34500" y="5591175"/>
            <a:ext cx="78105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8350" y="5915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마음가짐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가 쓴 코드도 내 이름으로 나간다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 읽고 확인한 뒤에 쓴다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바이브코딩과 AI 코딩 도구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말로 의도를 전하고, 결과를 보고, 다시 고친다 — 새 개발 방식과 그 도구를 먼저 이해합니다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1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바이브코딩이란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의도를 말한다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무엇을 만들고 싶은지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자연어로 설명한다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결과를 본다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가 쓴 코드를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브라우저에서 바로 확인한다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다시 고친다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마음에 안 드는 곳을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대화로 하나씩 바로잡는다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비유 — 내가 감독, AI 는 손이 빠른 조수입니다. 조수가 빨라도 무엇을 찍을지는 감독이 정합니다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2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예전 방식과 바이브코딩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직접 타이핑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문법과 세부를 내가 모두 쓴다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순서대로 한 줄씩 작성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문법 오류가 큰 장벽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속도 = 타이핑 속도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대화로 개발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의도와 설계를 내가 정한다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요청 → 결과 → 수정의 반복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설계·검토가 핵심 역할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속도 = 생각을 정리하는 속도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3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한눈에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바이브코딩의 반복 고리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요구사항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무엇을·누구에게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76812" y="3028950"/>
            <a:ext cx="209550" cy="209550"/>
          </a:xfrm>
          <a:prstGeom prst="rightArrow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5412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8762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구조·파일 나누기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39225" y="3028950"/>
            <a:ext cx="209550" cy="209550"/>
          </a:xfrm>
          <a:prstGeom prst="rightArrow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7825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1175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에게 요청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3101638" y="3028950"/>
            <a:ext cx="209550" cy="209550"/>
          </a:xfrm>
          <a:prstGeom prst="rightArrow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330238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463588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브라우저·콘솔 확인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50381" y="5086350"/>
            <a:ext cx="38100" cy="2095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5199519" y="5086350"/>
            <a:ext cx="38100" cy="2095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050381" y="5295900"/>
            <a:ext cx="12225338" cy="3810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2859881" y="5162550"/>
            <a:ext cx="381000" cy="266700"/>
          </a:xfrm>
          <a:prstGeom prst="rightArrow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432029" y="5791200"/>
            <a:ext cx="11423943" cy="742950"/>
          </a:xfrm>
          <a:prstGeom prst="roundRect">
            <a:avLst>
              <a:gd name="adj" fmla="val 6410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32029" y="5791200"/>
            <a:ext cx="11423943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검증에서 찾은 문제를 다시 요구사항으로 — 작은 단위로 여러 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 바퀴를 작게 돌수록 실수가 작을 때 잡힙니다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3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도구의 종류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채팅형 AI 와 터미널 에이전트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채팅형(웹·앱)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claude.ai · gemini.google.com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대화창에 코드를 붙여 넣어 질문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답을 내가 복사해 파일에 붙임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 폴더는 보지 못함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터미널 에이전트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Claude Code · Gemini CLI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프로젝트 폴더 안에서 실행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파일을 직접 읽고 고침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명령 실행 전 내 승인을 받음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3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도구 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Claude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무엇인가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Anthropic 이 만든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터미널용 코딩 에이전트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어떻게 쓰나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프로젝트 폴더에서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claude 를 실행해 대화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규칙 파일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CLAUDE.md 에 적은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프로젝트 규칙을 읽는다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이용하려면 Claude 유료 요금제나 API 계정이 필요합니다. 요금제·조건은 바뀔 수 있으니 공식 안내를 확인하세요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2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도구 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Gemini CLI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무엇인가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Google 이 공개한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오픈소스 터미널 에이전트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어떻게 쓰나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프로젝트 폴더에서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gemini 를 실행해 대화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규칙 파일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GEMINI.md 에 적은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프로젝트 규칙을 읽는다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Google 계정으로 로그인해 쓸 수 있습니다. 무료 사용 한도와 조건은 바뀔 수 있으니 공식 안내를 확인하세요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2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두 도구를 나란히 보면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781300"/>
            <a:ext cx="6042660" cy="59055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Claude 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Gemini CLI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만든 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34480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8730" y="34480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Anthropic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64240" y="34480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9490" y="34480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Google(오픈소스)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실행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41719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8730" y="41719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터미널에서 claude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64240" y="41719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9490" y="41719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터미널에서 gemini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로그인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8958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8730" y="48958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Claude 계정 또는 API 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64240" y="48958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9490" y="48958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Google 계정 또는 API 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규칙 파일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83480" y="56197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8730" y="56197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CLAUDE.md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64240" y="56197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9490" y="56197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GEMINI.md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공통점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83480" y="63436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8730" y="63436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읽기·수정, 명령 실행 — 실행 전 승인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064240" y="63436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159490" y="63436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읽기·수정, 명령 실행 — 실행 전 승인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0866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둘 중 하나만 있어도 이 강의안 전체를 따라올 수 있습니다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모델 성능·컨텍스트 길이는 버전마다 달라 이 표에 싣지 않습니다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4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안전 수칙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AI 와 코딩할 때 지킬 다섯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비밀번호·API 키·개인정보를 대화에 붙여 넣지 않는다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명령 실행 승인 전에 무슨 명령인지 읽는다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작은 단위로 요청하고 바로 확인한다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AI 가 쓴 코드도 직접 읽고 이해한 뒤 쓴다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자주 커밋해 언제든 되돌릴 수 있게 한다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3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개발 환경 준비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편집기·버전 관리·실행 환경·AI 에이전트 — 네 가지를 차례로 설치하고 확인합니다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1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설치 순서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네 가지를 차례로 설치합니다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 단계가 끝나면 터미널에서 버전이 찍히는지 확인하고 다음으로 넘어갑니다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code.visualstudio.com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코드 편집기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git-scm.com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macOS 는 Homebrew 도 가능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Node.js 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nodejs.org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npm 이 함께 설치됨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에이전트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Claude Code 또는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Gemini CLI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  <p:sp>
        <p:nvSpPr>
          <p:cNvPr id="2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VS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함께 깔아 두면 좋은 확장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Live Server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저장할 때마다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브라우저가 새로고침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Prettier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코드 들여쓰기·모양을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자동으로 정리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한국어 팩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메뉴를 한국어로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(선택 사항)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확장은 왼쪽 확장 탭(Windows Ctrl+Shift+X · macOS Cmd+Shift+X)에서 이름으로 검색해 설치합니다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2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설치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터미널에서 버전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 --version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node -v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npm -v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code --version   # VS Code 를 터미널에서 여는 명령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숫자는 사람마다 다릅니다 — 버전이 찍히면 설치 성공, 「명령을 찾을 수 없음」이면 재설치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Git 첫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내 이름과 이메일 등록 (한 번만)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 config --global user.name "[내 이름]"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 config --global user.email "[GitHub 이메일]"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 config --global init.defaultBranch main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 config --list   # 등록된 값 확인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이메일은 GitHub 계정과 같은 것을 권장합니다 — 커밋이 내 계정에 연결됩니다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에이전트 설치 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Claude Code 설치와 첫 실행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공식 문서의 설치 명령 실행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설치 방법은 바뀔 수 있으니 Anthropic 공식 문서를 따른다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프로젝트 폴더로 이동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cd [폴더 이름]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claude 입력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처음 실행하면 브라우저에서 로그인 절차가 열린다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/init 으로 규칙 파일 만들기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폴더를 살펴보고 CLAUDE.md 초안을 써 준다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claude 가 대화 입력을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기다리면 준비 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  <p:sp>
        <p:nvSpPr>
          <p:cNvPr id="3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에이전트 설치 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Gemini CLI 설치와 첫 실행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공식 문서의 설치 명령 실행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npm 으로 설치 — Node.js 가 먼저 있어야 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프로젝트 폴더로 이동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cd [폴더 이름]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gemini 입력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처음 실행하면 Google 계정 로그인 방식을 고른다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GEMINI.md 만들기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프로젝트 규칙을 적어 두면 매번 읽는다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gemini 가 대화 입력을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기다리면 준비 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  <p:sp>
        <p:nvSpPr>
          <p:cNvPr id="3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프로젝트 시작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폴더를 만들고 에이전트 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mkdir my-portfolio      # 폴더 만들기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cd my-portfolio         # 폴더 안으로 이동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 init                # Git 저장소로 시작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code .                  # 이 폴더를 VS Code 로 열기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claude                  # Claude Code 시작 (또는)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gemini                  # Gemini CLI 시작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폴더 이름은 영어 소문자와 하이픈(-)으로 — 나중에 사이트 주소의 일부가 됩니다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에이전트의 일하는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요청 한 번에 일어나는 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에이전트는 파일을 바꾸거나 명령을 실행하기 전에 내 승인을 묻습니다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요청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내가 원하는 것을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말로 적는다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살펴보기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폴더의 파일을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읽고 계획을 세운다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승인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바꿀 내용·실행할 명령을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보여 주고 묻는다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브라우저에서 결과를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보고 다음 요청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  <p:sp>
        <p:nvSpPr>
          <p:cNvPr id="2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API 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API 키는 언제 필요한가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 강의안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정적 포트폴리오에는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필요 없다 — 로그인으로 충분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필요한 경우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 코드가 AI API 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직접 호출할 때만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1A2A5E"/>
          </a:solidFill>
          <a:ln w="952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그때 주의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.env 는 .gitignore 에 넣고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요금 한도를 먼저 정한다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브라우저로 보내는 JS 에 넣은 키는 누구나 볼 수 있습니다. 키는 서버나 서버리스 함수 쪽에만 둡니다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  <p:sp>
        <p:nvSpPr>
          <p:cNvPr id="2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점검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체크포인트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환경 준비 완료 확인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8717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0650" y="294322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0650" y="3067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0750" y="28717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VS Code 가 열리고 확장(Live Server 등)이 켜져 있다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366236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90650" y="3733800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0650" y="3857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0750" y="366236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git --version · node -v 가 버전을 출력한다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" y="445293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0750" y="445293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git config 에 이름·이메일이 등록돼 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524351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90650" y="5314950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54387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0750" y="524351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프로젝트 폴더에서 claude 또는 gemini 가 실행된다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60340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0750" y="60340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index.html 을 Live Server 로 열면 127.0.0.1 주소가 뜬다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다섯 줄을 모두 통과하면 PART 3 으로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  <p:sp>
        <p:nvSpPr>
          <p:cNvPr id="3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AI 에게 잘 요청하기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도구라도 요청이 분명하면 고칠 일이 줄어듭니다 — 요청문의 뼈대를 익힙니다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  <p:sp>
        <p:nvSpPr>
          <p:cNvPr id="1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요청의 뼈대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명확한 요청의 세 요소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역할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어떤 전문가처럼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답할지 정해 준다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목표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무엇을 얻고 싶은지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결과물을 분명히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제약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쓸 기술·파일·금지할 것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경계를 적는다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예 — 「외부 라이브러리 없이 HTML·CSS·순수 JS 로, 모바일 우선 반응형으로 만들어 줘」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  <p:sp>
        <p:nvSpPr>
          <p:cNvPr id="2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맥락 주기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AI 가 알아야 할 세 가지 맥락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파일 구조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어떤 파일이 어디 있고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무엇을 새로 만들지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스타일 가이드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색·글꼴·여백 규칙을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구체적인 값으로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참조 코드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 쓴 코드 패턴을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따르라고 알려 준다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에이전트는 폴더를 직접 읽지만, 규칙(색·글꼴·금지 사항)은 말해 주지 않으면 모릅니다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  <p:sp>
        <p:nvSpPr>
          <p:cNvPr id="2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실습 프롬프트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프로젝트 규칙 파일 만들기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구조 — 역할 + 목표 + 제약 + 출력 형식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 폴더는 내 개인 포트폴리오 사이트야. 프로젝트 규칙 파일([CLAUDE.md 또는 GEMINI.md])을 만들어 줘. 내용: ① HTML·CSS·순수 JS 만 사용 ② 파일은 index.html·css/style.css·js/main.js ③ 메인 색 [#색상코드], 글꼴 [글꼴 이름] ④ 모바일 우선 반응형 ⑤ 파일 이름은 영어 소문자와 하이픈. 만들기 전에 초안을 먼저 보여 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산출물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에이전트가 매번 읽는 프로젝트 규칙 파일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  <p:sp>
        <p:nvSpPr>
          <p:cNvPr id="2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단계별 요청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한 번에 다 시키지 않는다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큰 일을 세 단계로 쪼개고, 단계마다 브라우저에서 확인한 뒤 다음 단계로 갑니다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508000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508000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5080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 구조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46609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HTML 골격과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섹션 순서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04000" y="3924300"/>
            <a:ext cx="508000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04000" y="3924300"/>
            <a:ext cx="5080000" cy="9144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0" y="4171950"/>
            <a:ext cx="5080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 스타일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3550" y="5143500"/>
            <a:ext cx="46609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CSS 색·배치·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반응형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065000" y="3924300"/>
            <a:ext cx="508000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65000" y="3924300"/>
            <a:ext cx="508000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65000" y="4171950"/>
            <a:ext cx="5080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 기능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74550" y="5143500"/>
            <a:ext cx="46609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JS 인터랙션·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접근성·최적화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  <p:sp>
        <p:nvSpPr>
          <p:cNvPr id="2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실습 프롬프트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리뷰를 요청할 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구조 — 검토 범위 + 확인 항목 + 출력 형식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index.html 을 검토해 줘. 특히 ① 시맨틱 태그를 알맞게 썼는지 ② 이미지 alt 가 빠진 곳 ③ 필요 없이 겹친 div 를 확인해 줘. 고칠 곳은 바꾸기 전·후 코드와 이유를 함께 보여 주고, 내가 승인하면 그때 파일을 고쳐 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산출물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이유가 붙은 수정 제안 목록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  <p:sp>
        <p:nvSpPr>
          <p:cNvPr id="2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실습 프롬프트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오류를 물어볼 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구조 — 에러 전문 + 상황 + 재현 순서 + 요청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[에러 로그] Uncaught TypeError: Cannot read properties of null (reading 'classList')
[상황] js/main.js 의 [함수 이름]에서 페이지를 열자마자 납니다.
[재현] 새로고침 → 메뉴 버튼 클릭
[요청] 원인을 먼저 설명하고, DOM 이 준비되는 시점을 고려한 수정안을 보여 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핵심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「안 돼요」 대신 에러 전문·상황·재현 순서를 함께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  <p:sp>
        <p:nvSpPr>
          <p:cNvPr id="2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PART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포트폴리오 뼈대 만들기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폴더 구조 → HTML 골격 → CSS 변수 → 반응형 격자 순서로 쌓습니다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  <p:sp>
        <p:nvSpPr>
          <p:cNvPr id="1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폴더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표준 폴더 구조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56260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562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경로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43700" y="2781300"/>
            <a:ext cx="10401300" cy="59055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43700" y="2781300"/>
            <a:ext cx="10401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역할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5562600" cy="619125"/>
          </a:xfrm>
          <a:prstGeom prst="roundRect">
            <a:avLst>
              <a:gd name="adj" fmla="val 6153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5372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index.html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43700" y="3448050"/>
            <a:ext cx="10401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8950" y="3448050"/>
            <a:ext cx="10210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첫 화면(메인 페이지)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43375"/>
            <a:ext cx="5562600" cy="619125"/>
          </a:xfrm>
          <a:prstGeom prst="roundRect">
            <a:avLst>
              <a:gd name="adj" fmla="val 6153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43375"/>
            <a:ext cx="5372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css/style.css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43700" y="4143375"/>
            <a:ext cx="10401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38950" y="4143375"/>
            <a:ext cx="10210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모든 스타일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38700"/>
            <a:ext cx="5562600" cy="619125"/>
          </a:xfrm>
          <a:prstGeom prst="roundRect">
            <a:avLst>
              <a:gd name="adj" fmla="val 6153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38700"/>
            <a:ext cx="5372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js/main.js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43700" y="4838700"/>
            <a:ext cx="10401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8950" y="4838700"/>
            <a:ext cx="10210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메뉴·다크모드 같은 동작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534025"/>
            <a:ext cx="5562600" cy="619125"/>
          </a:xfrm>
          <a:prstGeom prst="roundRect">
            <a:avLst>
              <a:gd name="adj" fmla="val 6153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534025"/>
            <a:ext cx="5372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images/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43700" y="5534025"/>
            <a:ext cx="10401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38950" y="5534025"/>
            <a:ext cx="10210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사진·아이콘(파일명은 소문자)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229350"/>
            <a:ext cx="5562600" cy="619125"/>
          </a:xfrm>
          <a:prstGeom prst="roundRect">
            <a:avLst>
              <a:gd name="adj" fmla="val 6153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229350"/>
            <a:ext cx="5372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README.md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43700" y="6229350"/>
            <a:ext cx="10401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38950" y="6229350"/>
            <a:ext cx="10210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프로젝트 설명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24675"/>
            <a:ext cx="5562600" cy="619125"/>
          </a:xfrm>
          <a:prstGeom prst="roundRect">
            <a:avLst>
              <a:gd name="adj" fmla="val 6153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924675"/>
            <a:ext cx="5372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.gitignore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43700" y="6924675"/>
            <a:ext cx="10401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38950" y="6924675"/>
            <a:ext cx="10210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Git 에 올리지 않을 파일 목록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구조가 표준에 가까울수록 사람도 AI 도 파일을 빨리 찾습니다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  <p:sp>
        <p:nvSpPr>
          <p:cNvPr id="4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실습 프롬프트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HTML 골격 요청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구조 — 목표 + 필수 요소 + 확인 요청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index.html 에 포트폴리오 골격을 만들어 줘. ① lang="ko" 와 viewport 메타 ② header·nav·main·footer 시맨틱 태그 ③ main 안에 hero·about·projects·contact 섹션 ④ 키보드 사용자를 위한 「본문 바로가기」 링크 ⑤ CSS·JS 파일 연결. 내용은 [이름]·[한 줄 소개] 자리만 비워 둬.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Live Server 로 열어 섹션 순서가 맞는지 본다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34</a:t>
            </a:r>
          </a:p>
        </p:txBody>
      </p:sp>
      <p:sp>
        <p:nvSpPr>
          <p:cNvPr id="2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결과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index.html 골격 (요약)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18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&lt;!doctype html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&lt;html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lang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"ko"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&lt;head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&lt;meta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charset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"utf-8"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&lt;meta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"viewport"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content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"width=device-width, initial-scale=1"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&lt;title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[이름] 포트폴리오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&lt;/title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&lt;link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rel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"stylesheet"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href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"css/style.css"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&lt;script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src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"js/main.js"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defer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&lt;/script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&lt;/head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&lt;body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&lt;a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class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"skip-link"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href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"#main"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본문 바로가기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&lt;/a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&lt;header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&lt;nav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aria-label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"주 메뉴"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…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&lt;/nav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&lt;/header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&lt;main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"main"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&lt;section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"about"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aria-labelledby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"about-title"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…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&lt;/section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&lt;section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"projects"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aria-labelledby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"projects-title"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…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&lt;/section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&lt;/main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&lt;footer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© [연도] [이름]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&lt;/footer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&lt;/body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&lt;/html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script 에 defer 를 붙이면 HTML 을 다 읽은 뒤 JS 가 실행됩니다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35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실습 프롬프트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CSS 변수로 스타일 시작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구조 — 스타일 가이드(구체 값) + 규칙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css/style.css 를 만들어 줘. :root 에 색·글꼴·여백 변수를 먼저 정의하고 모든 규칙이 이 변수를 쓰게 해 줘. 메인 색 [#색상코드], 글자색 [#색상코드], 배경색 [#색상코드], 글꼴 [글꼴 이름]. 글자와 배경의 명도 대비는 4.5:1 이상으로 맞춰 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장점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색을 바꿀 때 한 곳만 고치면 된다 — 다크모드의 바탕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36</a:t>
            </a:r>
          </a:p>
        </p:txBody>
      </p:sp>
      <p:sp>
        <p:nvSpPr>
          <p:cNvPr id="2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결과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style.css — 변수 정의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root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--color-primary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#1d4ed8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</a:t>
            </a: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예시 값 */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--color-text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#1f2937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--color-muted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#6b7280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--color-bg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#ffffff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--font-main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'Pretendard'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sans-serif;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--space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1rem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body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margin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font-family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var(--font-main);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color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var(--color-text);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background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var(--color-bg);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line-height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1.6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색상 코드는 예시입니다 — 내 사이트의 색으로 바꿔 쓰세요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37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반응형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반응형을 요청하는 세 가지 원칙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모바일 우선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작은 화면을 기본으로 쓰고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넓어질 때 덧붙인다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유동 단위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고정 px 대신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%·rem·vw 를 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분기점 명시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몇 px 에서 무엇이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바뀌는지 적어 준다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viewport 메타 태그가 없으면 휴대폰에서 미디어 쿼리가 기대대로 동작하지 않습니다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38</a:t>
            </a:r>
          </a:p>
        </p:txBody>
      </p:sp>
      <p:sp>
        <p:nvSpPr>
          <p:cNvPr id="2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실습 프롬프트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프로젝트 카드 격자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구조 — 목표 + 반응형 조건 + 접근성 조건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projects 섹션에 프로젝트 카드 격자를 만들어 줘. ① 카드는 article 태그, 썸네일·제목·설명·사용 기술·데모/코드 링크 ② 넓은 화면 3열, 좁은 화면 1열 — 미디어 쿼리 없이 auto-fit 으로 ③ 마우스를 올리면 살짝 떠오르고(transform) 키보드 포커스에도 같은 표시 ④ 아이콘 링크에는 aria-label.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창 폭을 줄여 3열 → 1열로 바뀌는지 본다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39</a:t>
            </a:r>
          </a:p>
        </p:txBody>
      </p:sp>
      <p:sp>
        <p:nvSpPr>
          <p:cNvPr id="2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결과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style.css — 카드 격자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.projects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display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grid;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grid-template-columns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repeat(auto-fit, minmax(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280px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1fr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gap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1.5rem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.project-card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border-radius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12px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box-shadow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2px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8px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rgb(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/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0.1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transition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transform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0.3s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ease;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project-card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:hover,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project-card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focus-within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transform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translateY(-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6px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transform 은 레이아웃을 다시 계산하지 않아 움직임이 부드럽습니다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40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PART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기능 더하기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메뉴·소개·연락 폼·다크모드·스크롤 효과·필터 — 하나씩 요청하고 하나씩 확인합니다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41</a:t>
            </a:r>
          </a:p>
        </p:txBody>
      </p:sp>
      <p:sp>
        <p:nvSpPr>
          <p:cNvPr id="1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실습 프롬프트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머리글과 메뉴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구조 — 배치 + 접근성 조건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header 를 만들어 줘. ① 왼쪽 로고, 오른쪽 메뉴 ② 스크롤해도 위에 붙어 있게(position: sticky) ③ 「본문 바로가기」 링크는 평소 숨기고 Tab 으로 포커스될 때만 보이게 ④ 좁은 화면에서는 메뉴 버튼으로 열고 닫기, 버튼에 aria-expanded.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마우스 없이 Tab 키만으로 메뉴를 열고 이동해 본다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42</a:t>
            </a:r>
          </a:p>
        </p:txBody>
      </p:sp>
      <p:sp>
        <p:nvSpPr>
          <p:cNvPr id="2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실습 프롬프트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소개(About) 섹션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구조 — 들어갈 내용 + 배치 + 접근성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about 섹션을 채워 줘. ① 프로필 사진(alt 는 「[이름] 프로필 사진」) ② 자기소개 [세 문장] ③ 기술 목록 [HTML, CSS, JavaScript …] ④ 「연락하기」 버튼 ⑤ 넓은 화면은 사진·글 좌우 배치, 좁은 화면은 위아래로 쌓기. 경력 타임라인은 [연도 — 내용] 형식의 목록으로 넣어 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주의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자기소개 글은 AI 초안을 내 말로 다시 쓴다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43</a:t>
            </a:r>
          </a:p>
        </p:txBody>
      </p:sp>
      <p:sp>
        <p:nvSpPr>
          <p:cNvPr id="2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폼 서비스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Formspree 로 폼 받기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GitHub Pages 는 서버가 없어 폼 데이터를 받지 못합니다 — 받아 주는 외부 서비스를 씁니다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가입·폼 생성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formspree.io 에서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 폼 만들기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주소 받기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formspree.io/f/[폼 ID]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형태의 주소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HTML 연결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form 의 action 에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주소, method=POST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테스트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직접 보내 보고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메일 수신 확인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44</a:t>
            </a:r>
          </a:p>
        </p:txBody>
      </p:sp>
      <p:sp>
        <p:nvSpPr>
          <p:cNvPr id="2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실습 프롬프트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연락 폼 연결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구조 — 서비스 + 검증 + 사용자 안내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contact 섹션에 연락 폼을 만들어 줘. 정적 사이트라 Formspree 같은 폼 서비스로 보낼 거야. action 은 [폼 서비스 주소]. ① 이름·이메일·메시지 필드, 각각 label 연결 ② required·type="email" 로 브라우저 기본 검증 ③ 스팸 방지용 숨김 필드 ④ 보낸 뒤 성공·실패 메시지를 화면에 표시.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내 메일로 테스트 메시지가 도착하는지 본다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45</a:t>
            </a:r>
          </a:p>
        </p:txBody>
      </p:sp>
      <p:sp>
        <p:nvSpPr>
          <p:cNvPr id="2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실습 프롬프트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다크모드 토글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구조 — 동작 + 저장 + 기본값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다크모드 토글 버튼을 만들어 줘. ① :root 색 변수를 [data-theme="dark"] 에서 다시 정의 ② 버튼을 누르면 html 의 data-theme 을 바꾸고 localStorage 에 저장 ③ 처음 온 사람은 운영체제 설정(prefers-color-scheme)을 따르기 ④ 버튼에 aria-pressed 로 현재 상태 표시.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새로고침해도 고른 테마가 유지되는지 본다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46</a:t>
            </a:r>
          </a:p>
        </p:txBody>
      </p:sp>
      <p:sp>
        <p:nvSpPr>
          <p:cNvPr id="2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결과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main.js — 다크모드 토글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root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documentElement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btn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querySelector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'#theme-toggle'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saved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localStorage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getItem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'theme'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prefersDark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matchMedia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'(prefers-color-scheme: dark)'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matches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setTheme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saved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?? (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prefersDark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? 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'dark'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: 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'light'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btn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addEventListener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'click'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() =&gt; {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5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next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root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dataset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theme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=== 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'dark'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? 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'light'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: 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'dark'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setTheme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next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localStorage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setItem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'theme'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next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});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function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setTheme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theme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root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dataset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theme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theme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btn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setAttribute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'aria-pressed'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theme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=== 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'dark'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저장값이 없으면 운영체제 설정을 따릅니다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47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실습 프롬프트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스크롤하면 나타나는 효과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구조 — 효과 + 구현 방식 + 배려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섹션이 화면에 20% 쯤 들어오면 아래에서 부드럽게 떠오르게 해 줘. ① scroll 이벤트 대신 IntersectionObserver 사용 ② 보이면 visible 클래스를 붙이고 한 번 나타난 요소는 관찰 해제(unobserve) ③ 움직임 줄이기 설정(prefers-reduced-motion)인 사람에게는 효과 없이 바로 보이게.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스크롤할 때 각 섹션이 한 번씩만 나타나는지 본다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48</a:t>
            </a:r>
          </a:p>
        </p:txBody>
      </p:sp>
      <p:sp>
        <p:nvSpPr>
          <p:cNvPr id="2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실습 프롬프트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프로젝트 필터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구조 — 데이터 규칙 + 동작 + 접근성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프로젝트 카드 위에 태그 필터 버튼을 만들어 줘. ① 각 카드에 data-tags="[태그1 태그2]" ② 버튼을 누르면 aria-pressed 를 바꾸고, 선택한 태그를 모두 가진 카드만 보이게(every 사용) ③ 숨길 때는 hidden 클래스를 토글 ④ 「전체」 버튼으로 초기화.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태그 두 개를 고르면 둘 다 가진 카드만 남는지 본다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49</a:t>
            </a:r>
          </a:p>
        </p:txBody>
      </p:sp>
      <p:sp>
        <p:nvSpPr>
          <p:cNvPr id="2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접근성 — 모달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모달 창을 요청할 때 넣을 네 조건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78105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80962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열릴 때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배경 스크롤 잠금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포커스는 모달 안 첫 요소로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2924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2924175"/>
            <a:ext cx="78105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248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Tab 이동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Tab·Shift+Tab 이 모달 안에서만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돌게(포커스 트랩)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591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5591175"/>
            <a:ext cx="78105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80962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6850" y="5915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닫기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ESC·닫기 버튼·배경 클릭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어느 것으로도 닫힌다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34500" y="5591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34500" y="5591175"/>
            <a:ext cx="78105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8350" y="5915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닫힌 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포커스를 처음 누른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카드로 되돌린다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50</a:t>
            </a:r>
          </a:p>
        </p:txBody>
      </p:sp>
      <p:sp>
        <p:nvSpPr>
          <p:cNvPr id="2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점검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체크포인트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포트폴리오 기본 완성 확인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8717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0650" y="294322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0650" y="3067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0750" y="28717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개발자 도구 기기 모드 360·390px 에서 가로 스크롤이 없다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366236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90650" y="3733800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0650" y="3857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0750" y="366236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768px(태블릿)·1280px(노트북)에서 배치가 자연스럽다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" y="445293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0750" y="445293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Tab 키만으로 모든 링크·버튼에 갈 수 있고 포커스가 보인다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5243512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90650" y="5314950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54387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0750" y="5243512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콘솔(F12)에 빨간 오류가 없다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6034088"/>
            <a:ext cx="16002000" cy="676275"/>
          </a:xfrm>
          <a:prstGeom prst="roundRect">
            <a:avLst>
              <a:gd name="adj" fmla="val 70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0750" y="6034088"/>
            <a:ext cx="145732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다크모드·필터·폼이 모두 동작한다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여기까지 됐으면 커밋하고 PART 6 으로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51</a:t>
            </a:r>
          </a:p>
        </p:txBody>
      </p:sp>
      <p:sp>
        <p:nvSpPr>
          <p:cNvPr id="3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PART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다듬기 — 성능·접근성·보안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빨리 뜨고, 누구나 쓸 수 있고, 안전한 사이트 — 측정하고 고치는 법을 익힙니다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52</a:t>
            </a:r>
          </a:p>
        </p:txBody>
      </p:sp>
      <p:sp>
        <p:nvSpPr>
          <p:cNvPr id="1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Core Web Vitals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사용자 경험을 재는 세 지표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LCP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가장 큰 내용이 뜨는 시간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좋음 2.5초 이하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INP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클릭·입력에 반응하는 시간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좋음 200ms 이하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CLS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화면이 덜컥 밀리는 정도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좋음 0.1 이하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INP 는 2024년 3월부터 FID 를 대신합니다. Lighthouse(Chrome 개발자 도구)·PageSpeed Insights 로 배포 주소를 잽니다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53</a:t>
            </a:r>
          </a:p>
        </p:txBody>
      </p:sp>
      <p:sp>
        <p:nvSpPr>
          <p:cNvPr id="2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이미지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이미지 최적화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78105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80962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새 형식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AVIF·WebP 를 먼저,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JPG 는 대비용으로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2924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2924175"/>
            <a:ext cx="78105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248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크기 명시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width·height 를 적어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자리를 미리 잡는다(CLS)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591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5591175"/>
            <a:ext cx="78105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80962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6850" y="5915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늦게 불러오기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화면 아래 이미지만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loading="lazy"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34500" y="5591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34500" y="5591175"/>
            <a:ext cx="78105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8350" y="5915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첫 화면 이미지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lazy 대신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fetchpriority="high"(LCP)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54</a:t>
            </a:r>
          </a:p>
        </p:txBody>
      </p:sp>
      <p:sp>
        <p:nvSpPr>
          <p:cNvPr id="2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결과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picture 태그로 형식 고르기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&lt;picture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&lt;source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srcset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"images/hero.avif"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"image/avif"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&lt;source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srcset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"images/hero.webp"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"image/webp"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&lt;img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src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"images/hero.jpg"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alt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"[사진 설명]"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width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"1200"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height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"630"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fetchpriority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"high"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&lt;/picture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브라우저는 위에서부터 읽을 수 있는 첫 형식을 고릅니다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55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접근성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적은 노력으로 큰 효과 — 접근성 점검 여섯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대체 텍스트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뜻 있는 이미지는 alt,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장식 이미지는 alt=""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2924175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폼 레이블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모든 입력칸에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label 을 연결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2924175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명도 대비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본문 글자 4.5:1 이상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(WCAG AA)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591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43000" y="5591175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53657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6850" y="5915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포커스 순서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Tab 순서 = 보이는 순서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tabindex 남용 금지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04000" y="5591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04000" y="5591175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deckgen:ornament"/>
          <p:cNvSpPr txBox="1"/>
          <p:nvPr/>
        </p:nvSpPr>
        <p:spPr>
          <a:xfrm>
            <a:off x="108267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7850" y="5915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자동 검사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Lighthouse·axe 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먼저 훑는다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065000" y="5591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2065000" y="5591175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deckgen:ornament"/>
          <p:cNvSpPr txBox="1"/>
          <p:nvPr/>
        </p:nvSpPr>
        <p:spPr>
          <a:xfrm>
            <a:off x="162877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88850" y="5915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사람 검사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자동 검사가 못 잡는 것은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키보드로 직접 써 본다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56</a:t>
            </a:r>
          </a:p>
        </p:txBody>
      </p:sp>
      <p:sp>
        <p:nvSpPr>
          <p:cNvPr id="3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보안 헤더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보안 헤더는 호스팅에 따라 다르다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GitHub Pages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응답 헤더를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직접 설정할 수 없다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1A2A5E"/>
          </a:solidFill>
          <a:ln w="952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8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Netlify·Cloudflare Pages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_headers 파일로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CSP 등 설정 가능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Pages 에서 할 수 있는 것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meta 태그 CSP(일부 제한)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외부 스크립트 최소화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어느 곳이든 HTTPS 를 켜고, API 키·개인정보를 코드에 넣지 않는 것이 기본입니다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57</a:t>
            </a:r>
          </a:p>
        </p:txBody>
      </p:sp>
      <p:sp>
        <p:nvSpPr>
          <p:cNvPr id="2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PART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GitHub Pages 배포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 컴퓨터의 코드를 GitHub 에 올리고, 누구나 열 수 있는 주소로 공개합니다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58</a:t>
            </a:r>
          </a:p>
        </p:txBody>
      </p:sp>
      <p:sp>
        <p:nvSpPr>
          <p:cNvPr id="1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Git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Git 은 저장 기록 장치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커밋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순간의 상태를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사진처럼 찍어 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브랜치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원본을 건드리지 않는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평행 작업 공간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원격 저장소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GitHub 에 올린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 저장소의 사본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비유 — 게임의 세이브 포인트. 자주 저장해 두면 망쳐도 그 지점으로 돌아갈 수 있습니다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59</a:t>
            </a:r>
          </a:p>
        </p:txBody>
      </p:sp>
      <p:sp>
        <p:nvSpPr>
          <p:cNvPr id="2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명령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자주 쓰는 Git 명령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명령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2781300"/>
            <a:ext cx="10241280" cy="59055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781300"/>
            <a:ext cx="102412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하는 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git status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3448050"/>
            <a:ext cx="102412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8970" y="3448050"/>
            <a:ext cx="100507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바뀐 파일·올릴 준비 상태 보기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43375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43375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git add 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4143375"/>
            <a:ext cx="102412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8970" y="4143375"/>
            <a:ext cx="100507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바뀐 파일을 모두 올릴 준비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38700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38700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git commit -m "메시지"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4838700"/>
            <a:ext cx="102412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8970" y="4838700"/>
            <a:ext cx="100507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지금 상태를 기록으로 저장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534025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534025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git log --oneline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03720" y="5534025"/>
            <a:ext cx="102412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98970" y="5534025"/>
            <a:ext cx="100507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저장 기록 훑어보기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229350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229350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git push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03720" y="6229350"/>
            <a:ext cx="102412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8970" y="6229350"/>
            <a:ext cx="100507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GitHub 로 올리기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24675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924675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git pull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03720" y="6924675"/>
            <a:ext cx="102412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8970" y="6924675"/>
            <a:ext cx="100507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GitHub 의 최신 내용 받기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AI 에이전트에게 커밋을 맡겨도, 무엇이 올라가는지는 git status 로 직접 확인합니다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60</a:t>
            </a:r>
          </a:p>
        </p:txBody>
      </p:sp>
      <p:sp>
        <p:nvSpPr>
          <p:cNvPr id="4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저장소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GitHub 에 빈 저장소 만들기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오른쪽 위 + → New 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GitHub 에 로그인한 상태에서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저장소 이름 입력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 my-portfolio — 주소의 일부가 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Public 선택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무료 계정은 공개 저장소에서 Pages 를 쓸 수 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Create repository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README 추가 없이 빈 저장소로 만든다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특별한 이름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[아이디].github.io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= 바로 사이트 주소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61</a:t>
            </a:r>
          </a:p>
        </p:txBody>
      </p:sp>
      <p:sp>
        <p:nvSpPr>
          <p:cNvPr id="3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첫 업로드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커밋하고 GitHub 로 올리기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 add 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 commit -m "포트폴리오 첫 버전"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 remote add origin https://github.com/[아이디]/[저장소].git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 branch -M main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 push -u origin main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주소는 저장소 화면의 HTTPS 주소를 복사합니다 — 첫 푸시에만 -u 를 붙입니다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62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Pages 켜기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GitHub Pages 설정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저장소 Settings 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저장소 위쪽 메뉴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왼쪽 메뉴 Pages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Code and automation 묶음 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Deploy from a branch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Branch: main · 폴더: / (root) → Save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주소 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몇 분 뒤 위쪽에 주소가 뜬다 — 이후 main 에 push 하면 자동 반영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내 사이트 주소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[아이디].github.io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/[저장소]/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63</a:t>
            </a:r>
          </a:p>
        </p:txBody>
      </p:sp>
      <p:sp>
        <p:nvSpPr>
          <p:cNvPr id="3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실습 프롬프트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에이전트에게 배포 전 점검 맡기기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구조 — 점검 목록 + 보고 형식 + 승인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GitHub Pages 에 올리기 전에 이 폴더를 점검해 줘. ① 파일 이름 대소문자와 HTML 안의 경로가 정확히 같은지 ② 절대 경로(/로 시작) 대신 상대 경로를 쓰는지 ③ .env·개인정보가 올라갈 파일에 없는지 ④ index.html 이 맨 위 폴더에 있는지. 문제 목록만 먼저 보여 주고, 고치는 것은 내가 승인한 뒤에 해 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이유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Pages 서버는 대소문자를 구분한다 — 내 PC 에선 되던 것이 깨진다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64</a:t>
            </a:r>
          </a:p>
        </p:txBody>
      </p:sp>
      <p:sp>
        <p:nvSpPr>
          <p:cNvPr id="2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선택 — 내 도메인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커스텀 도메인 연결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도메인이 있다면 [아이디].github.io 대신 내 주소로 열 수 있습니다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DNS 설정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도메인 업체에서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CNAME → [아이디].github.io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Pages 입력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Settings → Pages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Custom domain 저장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연결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DNS 확인이 끝날 때까지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기다린다(시간 소요)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HTTPS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Enforce HTTPS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체크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65</a:t>
            </a:r>
          </a:p>
        </p:txBody>
      </p:sp>
      <p:sp>
        <p:nvSpPr>
          <p:cNvPr id="2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PART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문제 해결과 최종 점검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배포 뒤에 자주 만나는 문제와, 공개 전에 마지막으로 볼 것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66</a:t>
            </a:r>
          </a:p>
        </p:txBody>
      </p:sp>
      <p:sp>
        <p:nvSpPr>
          <p:cNvPr id="1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문제 해결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자주 만나는 문제와 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990850"/>
            <a:ext cx="2857500" cy="8191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9908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500" y="29908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6250" y="29908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Pages 설정(main·/root) 확인, index.html 위치·이름 확인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981450"/>
            <a:ext cx="2857500" cy="8191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9814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그림 깨짐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0500" y="39814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6250" y="39814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Logo.png ≠ logo.png — git mv 로 소문자 이름 통일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972050"/>
            <a:ext cx="2857500" cy="8191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9720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반영 안 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0500" y="49720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6250" y="49720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배포에 몇 분 걸린다 — 기다린 뒤 강력 새로고침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962650"/>
            <a:ext cx="2857500" cy="8191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9626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푸시 거절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0500" y="59626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86250" y="59626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git pull 로 원격 변경을 먼저 받고 다시 push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953250"/>
            <a:ext cx="2857500" cy="8191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9532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CORS 오류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00500" y="69532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86250" y="69532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브라우저가 다른 출처 요청을 막은 것 — 다음 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67</a:t>
            </a:r>
          </a:p>
        </p:txBody>
      </p:sp>
      <p:sp>
        <p:nvSpPr>
          <p:cNvPr id="3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CORS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외부 API 가 막힐 때(CORS)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왜 막히나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API 서버가 내 사이트 주소를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허용하지 않았기 때문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바른 해결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자기 백엔드나 서버리스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함수를 거쳐 호출한다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1A2A5E"/>
          </a:solidFill>
          <a:ln w="952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개발 중에만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Vite 같은 개발 서버의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프록시 설정(배포엔 안 됨)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남이 운영하는 공개 CORS 프록시는 쓰지 않습니다 — 내 요청과 데이터가 남의 서버를 지나갑니다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68</a:t>
            </a:r>
          </a:p>
        </p:txBody>
      </p:sp>
      <p:sp>
        <p:nvSpPr>
          <p:cNvPr id="2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점검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체크포인트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공개 전 최종 점검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717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9700" y="28717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성능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71750" y="28717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57500" y="28717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이미지 압축·형식 확인, Lighthouse 지적 항목 정리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366236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09700" y="366236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71750" y="366236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57500" y="366236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title·description·OG 태그가 내 내용인지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445293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09700" y="445293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접근성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71750" y="445293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57500" y="445293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alt·키보드 이동·명도 대비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524351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09700" y="524351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71750" y="524351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57500" y="524351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HTTPS 켜짐, 키·개인정보가 코드에 없음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3000" y="60340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09700" y="60340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품질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71750" y="60340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57500" y="60340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콘솔 오류 0, 깨진 링크 없음, 휴대폰에서 직접 열어 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배포 주소를 휴대폰으로 열어 보는 것이 마지막 확인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A07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69</a:t>
            </a:r>
          </a:p>
        </p:txBody>
      </p:sp>
      <p:sp>
        <p:nvSpPr>
          <p:cNvPr id="3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A07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바이브코딩 포트폴리오 배포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는 손을 빠르게 해 줄 뿐 — 무엇을 만들지, 잘 됐는지는 내가 판단합니다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터미널 에이전트로 폴더 안에서 함께 작업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역할·목표·제약·맥락으로 요청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작게 만들고 브라우저에서 바로 확인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GitHub Pages 로 공개하고 점검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오늘의 산출물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[아이디].github.io 의 내 포트폴리오</a:t>
            </a:r>
          </a:p>
        </p:txBody>
      </p:sp>
      <p:sp>
        <p:nvSpPr>
          <p:cNvPr id="2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219456" cy="10287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1280160" y="3086100"/>
            <a:ext cx="146304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1280160" y="174879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HOW TO USE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1280160" y="2160270"/>
            <a:ext cx="15727680" cy="925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이 자료 사용 방법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1280160" y="3600450"/>
            <a:ext cx="15727680" cy="5349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수업·강의·자습에 그대로 쓰셔도 됩니다. 출처만 남겨 주세요.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PDF 는 화면으로 읽는 용도, PPTX 는 발표용입니다. PPTX 는 Pretendard 글꼴이 설치된 컴퓨터에서 가장 똑같이 보입니다.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출처 표기 예: 이애본(드림아이티비즈), 「자료 제목」, 홍문원, useful-ai.dreamitbiz.com, CC BY-NC-ND 4.0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프롬프트는 복사해 바로 쓸 수 있습니다. [대괄호]만 내 상황으로 바꾸세요.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모든 자료와 영상 강의는 useful-ai.dreamitbiz.com 에서 다시 받을 수 있습니다.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1280160" y="936117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219456" cy="10287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1280160" y="3086100"/>
            <a:ext cx="146304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1280160" y="174879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COPYRIGHT · LICENSE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1280160" y="2160270"/>
            <a:ext cx="15727680" cy="925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저작권 · 이용 조건 (CC BY-NC-ND 4.0)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1280160" y="3600450"/>
            <a:ext cx="15727680" cy="5349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저작권 © 2026 이애본(드림아이티비즈 DreamIT Biz). 발행 홍문원(洪文院, 출판사 신고번호 제2026-000026호). 이애본이 2026년 대학·기관 강의 현장에서 쓴 강의안을 전자출판용으로 다시 묶은 것입니다. ISBN: 등록 후 기재.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이 자료는 크리에이티브 커먼즈 저작자표시-비영리-변경금지 4.0 국제(CC BY-NC-ND 4.0) 라이선스를 따릅니다. creativecommons.org/licenses/by-nc-nd/4.0/deed.ko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저작자 표시(BY): 출처를 밝히면 그대로 복사해 수업·강의·자습에 쓸 수 있습니다. 비영리(NC): 유료 강의·판매·광고 수익 목적에는 쓸 수 없습니다. 변경금지(ND): 내용을 고치거나 잘라 재조합해 배포할 수 없습니다.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외부 서비스 화면 캡처와 상표는 교육 목적 인용이며 각 서비스의 소유입니다. AI 생성 이미지는 생성 도구의 이용 약관을 따릅니다.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라이선스 범위 밖의 이용(영리·변형·2차 저작)은 먼저 문의해 주세요. aebon@dreamitbiz.com · 카카오톡 ID aebon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1280160" y="936117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219456" cy="10287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1280160" y="3086100"/>
            <a:ext cx="146304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1280160" y="174879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CREDITS · CONTACT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1280160" y="2160270"/>
            <a:ext cx="15727680" cy="925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출처 · 문의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1280160" y="3600450"/>
            <a:ext cx="15727680" cy="5349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이애본 (Aebon Lee, Ph.D) — 드림아이티비즈 대표 · 한신대학교 AI·SW대학 겸임교수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useful-ai.dreamitbiz.com — 강의안·영상 강의 라이브러리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aebon@dreamitbiz.com · 카카오톡 ID aebon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© 2026 이애본 · 발행 홍문원(洪文院) · CC BY-NC-ND 4.0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1280160" y="936117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