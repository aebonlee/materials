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EFF3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BF1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CED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DE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집계와 그룹화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COUNT·SUM·AVG, GROUP BY, HAVING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한국기술교육대학교 경영학부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(CCT770) · 2026학년도 2학기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학습목표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이번 주를 마치면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17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17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집계 함수의 종류와 NULL 처리 방식을 정확히 이해한다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6236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6236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66236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66236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BY로 데이터를 묶어 경영 통계를 산출한다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45293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45293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45293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45293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WHERE와 HAVING의 차이를 설명하고 구분해 쓴다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24351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24351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24351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24351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ONLY_FULL_GROUP_BY 오류의 원인을 진단한다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0340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0340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60340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60340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취소 주문을 뺀 매출 집계처럼 조건과 집계를 결합한다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다온유통 5개 테이블로 경영 질문에 숫자로 답합니다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6주차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오늘 다루는 여섯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3434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3434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0" y="44672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45434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9300" y="45148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집계 함수 (Aggregate Function)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0673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0673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71600" y="51911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52673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9300" y="52387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GROUP BY — 그룹화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7912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7912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0" y="59150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59912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9300" y="59626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HAVING — 그룹 조건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34500" y="43434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334500" y="43434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63100" y="44672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63100" y="45434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10800" y="45148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실행 순서 다시 보기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34500" y="50673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334500" y="50673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3100" y="51911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63100" y="52673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10800" y="52387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취소 주문과 매출 집계 — 경영 관점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34500" y="57912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34500" y="57912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63100" y="59150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63100" y="59912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10800" y="59626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소계와 총계 — WITH ROLLUP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6주차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집계 함수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여러 행의 값을 하나로 요약하는 함수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함수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68427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6842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NULL 처리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COUNT(*)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68427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66522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 행의 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144500" y="3448050"/>
            <a:ext cx="4000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39750" y="3448050"/>
            <a:ext cx="3810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NULL 포함하여 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50825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48920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COUNT(컬럼)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044043"/>
            <a:ext cx="68427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044043"/>
            <a:ext cx="66522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해당 컬럼이 NULL이 아닌 행의 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144500" y="4044043"/>
            <a:ext cx="4000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239750" y="4044043"/>
            <a:ext cx="3810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NULL 제외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50825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48920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COUNT(DISTINCT 컬럼)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640036"/>
            <a:ext cx="68427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640036"/>
            <a:ext cx="66522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중복 제거한 값의 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144500" y="4640036"/>
            <a:ext cx="4000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239750" y="4640036"/>
            <a:ext cx="3810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NULL 제외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50825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48920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SUM(컬럼)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236029"/>
            <a:ext cx="68427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236029"/>
            <a:ext cx="66522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합계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144500" y="5236029"/>
            <a:ext cx="4000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239750" y="5236029"/>
            <a:ext cx="3810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NULL 제외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50825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48920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AVG(컬럼)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5832021"/>
            <a:ext cx="68427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8890" y="5832021"/>
            <a:ext cx="66522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평균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3144500" y="5832021"/>
            <a:ext cx="4000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239750" y="5832021"/>
            <a:ext cx="3810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NULL 제외 (분모에서도 빠짐)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50825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48920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MIN(컬럼) / MAX(컬럼)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63640" y="6428014"/>
            <a:ext cx="68427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8890" y="6428014"/>
            <a:ext cx="66522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최솟값 / 최댓값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3144500" y="6428014"/>
            <a:ext cx="4000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239750" y="6428014"/>
            <a:ext cx="3810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NULL 제외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50825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48920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GROUP_CONCAT(컬럼)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63640" y="7024007"/>
            <a:ext cx="68427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58890" y="7024007"/>
            <a:ext cx="66522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값을 하나의 문자열로 연결 (MySQL)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144500" y="7024007"/>
            <a:ext cx="4000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239750" y="7024007"/>
            <a:ext cx="3810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NULL 제외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그룹이 지정되지 않으면 테이블 전체를 하나의 그룹으로 본다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6주차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집계 함수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COUNT(*)와 COUNT(컬럼)의 차이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514600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51460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2882646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2882646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3250692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3250692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4354830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435483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14500" y="4722876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14500" y="4722876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14500" y="5090922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14500" y="5090922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</p:txBody>
      </p:sp>
      <p:sp>
        <p:nvSpPr>
          <p:cNvPr id="23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COUNT(*)             AS 전체직원수,  -- 8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COUNT(salary)        AS 연봉입력수,  -- 7  (NULL 제외)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COUNT(DISTINCT dept) AS 부서수      -- 4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employees;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AVG(salary)                 AS 평균1,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SUM(salary) / COUNT(*)      AS 평균2,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AVG(IFNULL(salary, 0))      AS 평균3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employees;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68000" y="2679573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915650" y="2508123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15650" y="2508123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0" y="234315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30000" y="234315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658600" y="273843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658600" y="273843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230100" y="245745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COUNT(*) = 8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자체를 세므로 NULL도 포함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668000" y="3047619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915650" y="2876169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15650" y="287616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0" y="364807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30000" y="364807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658600" y="404336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658600" y="404336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30100" y="376237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COUNT(salary) = 7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E008 조하늘의 NULL 제외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668000" y="3415665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915650" y="3244215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915650" y="324421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430000" y="495300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430000" y="495300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658600" y="534828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658600" y="534828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230100" y="506730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COUNT(DISTINCT) = 4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부서명은 한 번만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668000" y="4887849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0915650" y="4716399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915650" y="471639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30000" y="625792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1430000" y="625792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658600" y="665321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658600" y="665321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230100" y="637222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6–8행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같은 「평균」, 세 값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7명·8명 분모, NULL을 0으로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AVG는 NULL을 분자와 분모 모두에서 뺀다 — 0으로 볼지는 경영적 판단, 시험 단골 함정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6주차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집계 함수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온라인 주문 세기와 상품 현황 요약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주문 15건 중 emp_id가 NULL인 온라인 주문이 7건이므로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COUNT(*)      AS 전체주문,   -- 15 : 온라인·오프라인 모두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COUNT(emp_id) AS 오프라인주문 -- 8  (온라인 주문 제외)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orders;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상품 표 전체를 한 줄로 요약 — 그룹이 없으니 결과는 1행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COUNT(*)          AS 상품수,   -- 10 : 등록된 상품 수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ROUND(AVG(price)) AS 평균가,   -- 32620 : 평균 판매가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MAX(price)        AS 최고가,   -- 189000 (공기청정기)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MIN(price)        AS 최저가,   -- 3200 (A5 스프링 노트)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SUM(stock)        AS 총재고    -- 모든 상품의 재고 수량 합계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products;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온라인 주문은 담당 직원이 없어 emp_id가 비어 있다 — COUNT(emp_id)는 오프라인 주문만 센다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6주차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GROUP BY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같은 값끼리 묶어 묶음마다 집계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514600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51460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2882646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2882646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3250692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3250692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3986784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3986784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14500" y="4722876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14500" y="4722876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14500" y="5090922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14500" y="5090922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714500" y="5458968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714500" y="5458968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714500" y="5827014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714500" y="5827014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</p:txBody>
      </p:sp>
      <p:sp>
        <p:nvSpPr>
          <p:cNvPr id="27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category,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COUNT(*)          AS 상품수,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ROUND(AVG(price)) AS 평균가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products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GROUP BY category;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/* 결과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가전      2  115500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식품      3   19433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생활용품  3    9733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문구      2    3850  */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68000" y="2679573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915650" y="2508123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15650" y="2508123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0" y="234315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0" y="234315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58600" y="273843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58600" y="273843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30100" y="245745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그룹 기준 열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SELECT에 그대로 쓸 수 있다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68000" y="3231642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915650" y="3060192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15650" y="306019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430000" y="364807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430000" y="364807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658600" y="404336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658600" y="404336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230100" y="376237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2–3행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그룹마다 한 번씩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카테고리 안의 행 수·평균가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668000" y="4151757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915650" y="3980307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15650" y="3980307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430000" y="495300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430000" y="495300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658600" y="534828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658600" y="534828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230100" y="506730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category가 같은 행끼리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카테고리 수만큼 행이 나온다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668000" y="5439918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915650" y="5268468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915650" y="526846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430000" y="625792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430000" y="625792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658600" y="665321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658600" y="665321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230100" y="637222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7–10행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결과 4행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가전·식품·생활용품·문구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GROUP BY: 같은 값을 가진 행끼리 묶어, 묶음(그룹)마다 집계 함수를 한 번씩 계산한다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6주차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GROUP BY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한 열로 묶기, 두 열의 조합으로 묶기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343150"/>
            <a:ext cx="7810500" cy="533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2550" y="2343150"/>
            <a:ext cx="73914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등급별 고객 수 (VIP 2, GOLD 3, SILVER 5)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2876550"/>
            <a:ext cx="7810500" cy="4552950"/>
          </a:xfrm>
          <a:prstGeom prst="roundRect">
            <a:avLst>
              <a:gd name="adj" fmla="val 418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76550"/>
            <a:ext cx="533400" cy="45529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76400" y="3817620"/>
            <a:ext cx="7277100" cy="394335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76400" y="3817620"/>
            <a:ext cx="47625" cy="394335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code-lineno"/>
          <p:cNvSpPr txBox="1"/>
          <p:nvPr/>
        </p:nvSpPr>
        <p:spPr>
          <a:xfrm>
            <a:off x="1143000" y="3028950"/>
            <a:ext cx="419100" cy="4248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04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3104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3104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</p:txBody>
      </p:sp>
      <p:sp>
        <p:nvSpPr>
          <p:cNvPr id="15" name="deckgen:code"/>
          <p:cNvSpPr txBox="1"/>
          <p:nvPr/>
        </p:nvSpPr>
        <p:spPr>
          <a:xfrm>
            <a:off x="1828800" y="3028950"/>
            <a:ext cx="6972300" cy="4248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04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grade, COUNT(*) AS 고객수</a:t>
            </a:r>
          </a:p>
          <a:p>
            <a:pPr algn="l">
              <a:lnSpc>
                <a:spcPts val="3104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customers</a:t>
            </a:r>
          </a:p>
          <a:p>
            <a:pPr algn="l">
              <a:lnSpc>
                <a:spcPts val="3104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GROUP BY grade;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34500" y="2343150"/>
            <a:ext cx="7810500" cy="533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44050" y="2343150"/>
            <a:ext cx="73914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다중 컬럼 그룹화: 등급 + 도시별 고객 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34500" y="2876550"/>
            <a:ext cx="7810500" cy="4552950"/>
          </a:xfrm>
          <a:prstGeom prst="roundRect">
            <a:avLst>
              <a:gd name="adj" fmla="val 418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334500" y="2876550"/>
            <a:ext cx="533400" cy="45529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867900" y="3817620"/>
            <a:ext cx="7277100" cy="394335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67900" y="3817620"/>
            <a:ext cx="47625" cy="394335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867900" y="4211955"/>
            <a:ext cx="7277100" cy="394335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867900" y="4211955"/>
            <a:ext cx="47625" cy="394335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deckgen:code-lineno"/>
          <p:cNvSpPr txBox="1"/>
          <p:nvPr/>
        </p:nvSpPr>
        <p:spPr>
          <a:xfrm>
            <a:off x="9334500" y="3028950"/>
            <a:ext cx="419100" cy="4248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04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3104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3104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3104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</p:txBody>
      </p:sp>
      <p:sp>
        <p:nvSpPr>
          <p:cNvPr id="25" name="deckgen:code"/>
          <p:cNvSpPr txBox="1"/>
          <p:nvPr/>
        </p:nvSpPr>
        <p:spPr>
          <a:xfrm>
            <a:off x="10020300" y="3028950"/>
            <a:ext cx="6972300" cy="4248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04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grade, city, COUNT(*) AS 고객수</a:t>
            </a:r>
          </a:p>
          <a:p>
            <a:pPr algn="l">
              <a:lnSpc>
                <a:spcPts val="3104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customers</a:t>
            </a:r>
          </a:p>
          <a:p>
            <a:pPr algn="l">
              <a:lnSpc>
                <a:spcPts val="3104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GROUP BY grade, city</a:t>
            </a:r>
          </a:p>
          <a:p>
            <a:pPr algn="l">
              <a:lnSpc>
                <a:spcPts val="3104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ORDER BY grade, city;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두 열의 「조합」이 같은 행끼리 한 그룹(예: GOLD·서울) · 집계 결과는 순서가 보장되지 않으므로 ORDER BY로 정렬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6주차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GROUP BY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부서별 평균 연봉 — NULL이 집계에 미치는 영향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882646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882646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250692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250692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6195060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619506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</p:txBody>
      </p:sp>
      <p:sp>
        <p:nvSpPr>
          <p:cNvPr id="17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dept,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COUNT(*)             AS 직원수,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COUNT(salary)        AS 연봉입력수,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ROUND(AVG(salary),1) AS 평균연봉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employees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GROUP BY dept;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/* 결과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영업팀      3  3  403.3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마케팅팀    2  2  410.0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물류팀      2  2  390.0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경영지원팀  1  0  NULL   */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68000" y="3047619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915650" y="2876169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15650" y="287616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0" y="23431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0" y="23431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658600" y="29559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658600" y="29559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30100" y="24574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부서 인원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NULL과 상관없이 행 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68000" y="3415665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915650" y="3244215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15650" y="324421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0" y="40830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430000" y="40830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658600" y="46958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658600" y="46958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30100" y="41973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연봉 입력 인원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salary가 있는 직원만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68000" y="6360033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915650" y="6188583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15650" y="6188583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30000" y="58229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430000" y="58229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658600" y="64357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658600" y="64357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30100" y="59372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11행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경영지원팀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salary가 전부 NULL → AVG는 NULL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「직원 수」와 「연봉 데이터가 있는 직원 수」는 다른 질문 — 집계 함수가 그대로 보여 준다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6주차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2.1 ONLY_FULL_GROUP_BY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SELECT에는 그룹 기준 열과 집계 함수만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1430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514600"/>
            <a:ext cx="10858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51460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5090922"/>
            <a:ext cx="10858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5090922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6195060"/>
            <a:ext cx="10858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619506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6563106"/>
            <a:ext cx="10858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6563106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</p:txBody>
      </p:sp>
      <p:sp>
        <p:nvSpPr>
          <p:cNvPr id="19" name="deckgen:code"/>
          <p:cNvSpPr txBox="1"/>
          <p:nvPr/>
        </p:nvSpPr>
        <p:spPr>
          <a:xfrm>
            <a:off x="1885950" y="2514600"/>
            <a:ext cx="10515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grade, name, COUNT(*)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customers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GROUP BY grade;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ERROR 1055 (42000): Expression #2 of SELECT list is not in GROUP BY clause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  ... only_full_group_by 모드에서 발생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해결 ① 그룹 기준에 추가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grade, city, COUNT(*) FROM customers GROUP BY grade, city;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해결 ② 집계 함수로 감싸기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grade, GROUP_CONCAT(name) AS 고객목록, COUNT(*) AS 고객수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customers GROUP BY grade;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573000" y="2679573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2820650" y="2508123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20650" y="2508123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335000" y="2343150"/>
            <a:ext cx="3810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3335000" y="23431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563600" y="29559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563600" y="29559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35100" y="2457450"/>
            <a:ext cx="2800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오류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name은 등급마다 여러 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73000" y="5255895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2820650" y="5084445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820650" y="508444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3335000" y="4083050"/>
            <a:ext cx="3810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3335000" y="40830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3563600" y="46958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563600" y="46958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35100" y="4197350"/>
            <a:ext cx="2800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8행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해결 ①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그룹이 더 잘게 나뉜다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573000" y="6544056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2820650" y="6372606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820650" y="6372606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3335000" y="5822950"/>
            <a:ext cx="3810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3335000" y="58229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3563600" y="64357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3563600" y="64357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35100" y="5937250"/>
            <a:ext cx="2800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11–12행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해결 ②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GROUP_CONCAT도 집계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MySQL 8.0은 ONLY_FULL_GROUP_BY 모드가 기본으로 켜져 있어 규칙을 어기면 오류가 난다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6주차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HAVING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WHERE는 행, HAVING은 그룹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60426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WHERE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HAVING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적용 대상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개별 행(row)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그룹(group)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실행 시점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 이전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719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719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 이후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집계 함수 사용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958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958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용도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6197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6197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집계 대상 행을 선별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6197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6197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집계 결과를 선별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WHERE는 집계할 행을 고르고, HAVING은 집계가 끝난 결과를 고른다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6주차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HAVING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결제 금액 10만 원 이상인 주문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882646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882646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986784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986784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5090922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5090922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5458968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5458968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</p:txBody>
      </p:sp>
      <p:sp>
        <p:nvSpPr>
          <p:cNvPr id="19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order_id,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SUM(qty * unit_price) AS 결제금액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order_items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GROUP BY order_id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HAVING SUM(qty * unit_price) &gt;= 100000;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결과: 1003(189000), 1008(114000), 1010(226000)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order_id, COUNT(*) AS 상품종수 FROM order_items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GROUP BY order_id HAVING COUNT(*) &gt;= 2;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68000" y="3047619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915650" y="2876169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15650" y="287616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0" y="23431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0" y="23431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658600" y="29559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658600" y="29559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30100" y="24574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수량 × 단가를 합산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상세 한 줄의 금액을 주문별로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68000" y="4151757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915650" y="3980307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15650" y="3980307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0" y="40830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0" y="40830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58600" y="46958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58600" y="46958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30100" y="41973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묶은 뒤 거른다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합계 10만 원 이상인 그룹만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68000" y="5439918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915650" y="5268468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15650" y="526846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430000" y="58229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430000" y="58229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658600" y="64357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658600" y="64357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230100" y="59372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8–9행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두 종류 이상 담은 주문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묶음·교차 판매 분석에 활용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HAVING에 별칭은 MySQL에서는 되지만 다른 DBMS는 아닐 수 있다 — 집계 함수를 그대로 쓰는 것이 안전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6주차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HAVING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WHERE에는 집계 함수를 쓸 수 없다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343150"/>
            <a:ext cx="7658100" cy="53340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2550" y="2343150"/>
            <a:ext cx="7239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✗  오류 — WHERE 단계에는 아직 SUM이 없다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2876550"/>
            <a:ext cx="7658100" cy="4552950"/>
          </a:xfrm>
          <a:prstGeom prst="roundRect">
            <a:avLst>
              <a:gd name="adj" fmla="val 418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76550"/>
            <a:ext cx="533400" cy="45529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76400" y="3357562"/>
            <a:ext cx="71247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76400" y="3357562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code-lineno"/>
          <p:cNvSpPr txBox="1"/>
          <p:nvPr/>
        </p:nvSpPr>
        <p:spPr>
          <a:xfrm>
            <a:off x="1143000" y="3028950"/>
            <a:ext cx="419100" cy="4248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</p:txBody>
      </p:sp>
      <p:sp>
        <p:nvSpPr>
          <p:cNvPr id="15" name="deckgen:code"/>
          <p:cNvSpPr txBox="1"/>
          <p:nvPr/>
        </p:nvSpPr>
        <p:spPr>
          <a:xfrm>
            <a:off x="1828800" y="3028950"/>
            <a:ext cx="6819900" cy="4248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order_id, SUM(qty * unit_price) FROM order_items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WHERE  SUM(qty * unit_price) &gt;= 100000 GROUP BY order_id;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(X) ERROR 1111: Invalid use of group function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86900" y="2343150"/>
            <a:ext cx="7658100" cy="53340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6450" y="2343150"/>
            <a:ext cx="7239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  바른 예 — 집계 결과의 조건은 HAVING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86900" y="2876550"/>
            <a:ext cx="7658100" cy="4552950"/>
          </a:xfrm>
          <a:prstGeom prst="roundRect">
            <a:avLst>
              <a:gd name="adj" fmla="val 418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86900" y="2876550"/>
            <a:ext cx="533400" cy="45529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020300" y="4014788"/>
            <a:ext cx="7124700" cy="32861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20300" y="4014788"/>
            <a:ext cx="47625" cy="32861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code-lineno"/>
          <p:cNvSpPr txBox="1"/>
          <p:nvPr/>
        </p:nvSpPr>
        <p:spPr>
          <a:xfrm>
            <a:off x="9486900" y="3028950"/>
            <a:ext cx="419100" cy="4248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587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</p:txBody>
      </p:sp>
      <p:sp>
        <p:nvSpPr>
          <p:cNvPr id="23" name="deckgen:code"/>
          <p:cNvSpPr txBox="1"/>
          <p:nvPr/>
        </p:nvSpPr>
        <p:spPr>
          <a:xfrm>
            <a:off x="10172700" y="3028950"/>
            <a:ext cx="6819900" cy="4248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order_id, SUM(qty * unit_price) AS 결제금액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order_items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GROUP BY order_id</a:t>
            </a:r>
          </a:p>
          <a:p>
            <a:pPr algn="l">
              <a:lnSpc>
                <a:spcPts val="2587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HAVING SUM(qty * unit_price) &gt;= 100000;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953500" y="4714875"/>
            <a:ext cx="381000" cy="34290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WHERE는 행을 하나씩 보는 단계라 아직 SUM이 계산되지 않았다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6주차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실행 순서 다시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쓰는 순서와 실행 순서는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절을 쓰는 순서와 실제 실행 순서는 다르다 — 번호(①~⑦)가 실행 순서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  grade, COUNT(*) AS cnt          -- ⑤ 결과 컬럼 생성, 별칭 부여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  customers                       -- ① 테이블에서 행을 읽음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WHERE    city IS NOT NULL                -- ② 조건에 맞는 행만 남김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GROUP BY grade                           -- ③ grade 값이 같은 행끼리 묶음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HAVING   COUNT(*) &gt;= 2                   -- ④ 2명 이상인 그룹만 남김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ORDER BY cnt DESC                        -- ⑥ 정렬 (별칭 사용 가능)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LIMIT    3;                              -- ⑦ 상위 3건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WHERE는 집계 전이라 집계 함수·별칭을 쓸 수 없고, HAVING은 집계 후라 집계 함수를 쓸 수 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6주차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실행 순서 다시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집계 질의의 처리 흐름 ① → ⑦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81250"/>
            <a:ext cx="3657600" cy="2000250"/>
          </a:xfrm>
          <a:prstGeom prst="roundRect">
            <a:avLst>
              <a:gd name="adj" fmla="val 28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81250"/>
            <a:ext cx="3657600" cy="762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438400"/>
            <a:ext cx="3657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6350" y="2686050"/>
            <a:ext cx="33909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5400" y="3276600"/>
            <a:ext cx="3352800" cy="971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테이블에서</a:t>
            </a:r>
          </a:p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행을 읽음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905375" y="2657475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57800" y="2381250"/>
            <a:ext cx="3657600" cy="2000250"/>
          </a:xfrm>
          <a:prstGeom prst="roundRect">
            <a:avLst>
              <a:gd name="adj" fmla="val 28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57800" y="2381250"/>
            <a:ext cx="3657600" cy="7620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57800" y="2438400"/>
            <a:ext cx="3657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1150" y="2686050"/>
            <a:ext cx="33909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WHERE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10200" y="3276600"/>
            <a:ext cx="3352800" cy="971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조건에 맞는</a:t>
            </a:r>
          </a:p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행만 남김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020175" y="2657475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372600" y="2381250"/>
            <a:ext cx="3657600" cy="2000250"/>
          </a:xfrm>
          <a:prstGeom prst="roundRect">
            <a:avLst>
              <a:gd name="adj" fmla="val 28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372600" y="2381250"/>
            <a:ext cx="3657600" cy="762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2438400"/>
            <a:ext cx="3657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5950" y="2686050"/>
            <a:ext cx="33909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GROUP BY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25000" y="3276600"/>
            <a:ext cx="3352800" cy="971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값끼리</a:t>
            </a:r>
          </a:p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묶음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3134975" y="2657475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3487400" y="2381250"/>
            <a:ext cx="3657600" cy="2000250"/>
          </a:xfrm>
          <a:prstGeom prst="roundRect">
            <a:avLst>
              <a:gd name="adj" fmla="val 28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3487400" y="2381250"/>
            <a:ext cx="3657600" cy="7620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487400" y="2438400"/>
            <a:ext cx="3657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620750" y="2686050"/>
            <a:ext cx="33909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HAVING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639800" y="3276600"/>
            <a:ext cx="3352800" cy="971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조건에 맞는</a:t>
            </a:r>
          </a:p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그룹만 남김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5297150" y="4381500"/>
            <a:ext cx="38100" cy="3048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952750" y="4667250"/>
            <a:ext cx="12382500" cy="381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952750" y="4686300"/>
            <a:ext cx="38100" cy="1333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Down Arrow 33"/>
          <p:cNvSpPr/>
          <p:nvPr/>
        </p:nvSpPr>
        <p:spPr>
          <a:xfrm>
            <a:off x="2867025" y="4781550"/>
            <a:ext cx="209550" cy="209550"/>
          </a:xfrm>
          <a:prstGeom prst="down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143000" y="4991100"/>
            <a:ext cx="3657600" cy="2000250"/>
          </a:xfrm>
          <a:prstGeom prst="roundRect">
            <a:avLst>
              <a:gd name="adj" fmla="val 28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3000" y="4991100"/>
            <a:ext cx="3657600" cy="762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5048250"/>
            <a:ext cx="3657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76350" y="5295900"/>
            <a:ext cx="33909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SELECT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5400" y="5886450"/>
            <a:ext cx="3352800" cy="971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 컬럼 생성</a:t>
            </a:r>
          </a:p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별칭 부여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4905375" y="5267325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257800" y="4991100"/>
            <a:ext cx="3657600" cy="2000250"/>
          </a:xfrm>
          <a:prstGeom prst="roundRect">
            <a:avLst>
              <a:gd name="adj" fmla="val 28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257800" y="4991100"/>
            <a:ext cx="3657600" cy="7620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257800" y="5048250"/>
            <a:ext cx="3657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91150" y="5295900"/>
            <a:ext cx="33909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ORDER BY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10200" y="5886450"/>
            <a:ext cx="3352800" cy="971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정렬</a:t>
            </a:r>
          </a:p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별칭 사용 가능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9020175" y="5267325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372600" y="4991100"/>
            <a:ext cx="3657600" cy="2000250"/>
          </a:xfrm>
          <a:prstGeom prst="roundRect">
            <a:avLst>
              <a:gd name="adj" fmla="val 28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372600" y="4991100"/>
            <a:ext cx="3657600" cy="762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72600" y="5048250"/>
            <a:ext cx="3657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505950" y="5295900"/>
            <a:ext cx="33909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LIMIT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525000" y="5886450"/>
            <a:ext cx="3352800" cy="971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상위 N건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43000" y="7143750"/>
            <a:ext cx="16002000" cy="685800"/>
          </a:xfrm>
          <a:prstGeom prst="roundRect">
            <a:avLst>
              <a:gd name="adj" fmla="val 833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428750" y="7143750"/>
            <a:ext cx="154305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별칭은 ⑤ SELECT에서 생긴다 — 그보다 먼저 실행되는 WHERE에서는 쓸 수 없다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6주차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실행 순서 다시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실행 순서로 답하는 네 가지 질문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질문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2781300"/>
            <a:ext cx="92811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781300"/>
            <a:ext cx="92811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WHERE에 별칭을 쓸 수 있는가?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3448050"/>
            <a:ext cx="9281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9090" y="3448050"/>
            <a:ext cx="9090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아니오. WHERE(②)가 SELECT(⑤)보다 먼저 실행되기 때문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ORDER BY에 별칭을 쓸 수 있는가?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0" y="4171950"/>
            <a:ext cx="9281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9090" y="4171950"/>
            <a:ext cx="9090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예. ORDER BY(⑥)가 SELECT(⑤) 이후이기 때문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WHERE에 집계 함수를 쓸 수 있는가?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4895850"/>
            <a:ext cx="9281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9090" y="4895850"/>
            <a:ext cx="9090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아니오. 집계는 GROUP BY(③) 시점에 계산됨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HAVING만 쓰고 GROUP BY를 생략할 수 있는가?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63840" y="5619750"/>
            <a:ext cx="9281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9090" y="5619750"/>
            <a:ext cx="9090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예. 테이블 전체가 하나의 그룹이 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6주차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취소 주문과 매출 집계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취소 주문을 빼지 않으면 매출이 부풀려진다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취소 주문 2건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다온유통의 주문 1005·1013은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「취소」 상태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들어오지 않은 돈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포함해 집계하면 실제 돈이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들어오지 않은 거래까지 실적에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집계 전에 선별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status &lt;&gt; '취소'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조건을 먼저 확인하는 습관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취소 제외는 그룹 조건이 아니라 행 조건 — HAVING이 아니라 WHERE에 둔다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6주차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취소 주문과 매출 집계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월별 주문 건수 (취소 제외)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00965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514600"/>
            <a:ext cx="9525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51460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618738"/>
            <a:ext cx="9525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618738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3986784"/>
            <a:ext cx="9525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3986784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4354830"/>
            <a:ext cx="95250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435483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code-lineno"/>
          <p:cNvSpPr txBox="1"/>
          <p:nvPr/>
        </p:nvSpPr>
        <p:spPr>
          <a:xfrm>
            <a:off x="1143000" y="2514600"/>
            <a:ext cx="457200" cy="5181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</p:txBody>
      </p:sp>
      <p:sp>
        <p:nvSpPr>
          <p:cNvPr id="19" name="deckgen:code"/>
          <p:cNvSpPr txBox="1"/>
          <p:nvPr/>
        </p:nvSpPr>
        <p:spPr>
          <a:xfrm>
            <a:off x="1885950" y="2514600"/>
            <a:ext cx="9182100" cy="5181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DATE_FORMAT(order_date, '%Y-%m') AS 주문월,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COUNT(*)                         AS 주문건수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orders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WHERE  status &lt;&gt; '취소'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GROUP BY DATE_FORMAT(order_date, '%Y-%m')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ORDER BY 주문월;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/* 결과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2026-01  2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2026-02  2   ← 취소된 1005가 빠져 3건이 아니라 2건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2026-03  3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2026-04  2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2026-05  2   ← 취소된 1013 제외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2026-06  2  */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239500" y="2679573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87150" y="2508123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87150" y="2508123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2001500" y="2343150"/>
            <a:ext cx="5143500" cy="1281112"/>
          </a:xfrm>
          <a:prstGeom prst="roundRect">
            <a:avLst>
              <a:gd name="adj" fmla="val 44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2001500" y="2343150"/>
            <a:ext cx="57150" cy="1281112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230100" y="2793206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230100" y="2793206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0" y="2457450"/>
            <a:ext cx="4133850" cy="1052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연-월 문자열로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'2026-01' 형태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239500" y="3783711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487150" y="3612261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87150" y="361226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2001500" y="3757612"/>
            <a:ext cx="5143500" cy="1281112"/>
          </a:xfrm>
          <a:prstGeom prst="roundRect">
            <a:avLst>
              <a:gd name="adj" fmla="val 44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2001500" y="3757612"/>
            <a:ext cx="57150" cy="1281112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2230100" y="4207669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230100" y="420766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0" y="3871912"/>
            <a:ext cx="4133850" cy="1052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집계 전에 행 선별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&lt;&gt; 는 「같지 않다」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239500" y="4151757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487150" y="3980307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87150" y="3980307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2001500" y="5172075"/>
            <a:ext cx="5143500" cy="1281112"/>
          </a:xfrm>
          <a:prstGeom prst="roundRect">
            <a:avLst>
              <a:gd name="adj" fmla="val 44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2001500" y="5172075"/>
            <a:ext cx="57150" cy="1281112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2230100" y="5622131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230100" y="562213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801600" y="5286375"/>
            <a:ext cx="4133850" cy="1052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SELECT와 같은 식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식으로 묶어야 한다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239500" y="4519803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487150" y="4348353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87150" y="4348353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2001500" y="6586538"/>
            <a:ext cx="5143500" cy="1281112"/>
          </a:xfrm>
          <a:prstGeom prst="roundRect">
            <a:avLst>
              <a:gd name="adj" fmla="val 44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001500" y="6586538"/>
            <a:ext cx="57150" cy="1281112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2230100" y="7036594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230100" y="7036594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801600" y="6700838"/>
            <a:ext cx="4133850" cy="1052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별칭으로 정렬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 BY는 SELECT 다음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6주차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취소 주문과 매출 집계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상태별 주문 분포 — 취소가 몇 건인지 먼저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상태(status)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31623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건수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WHERE status &lt;&gt; '취소' 적용 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배송완료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남는다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배송중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남는다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취소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빠진다 (1005·1013)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주문접수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남는다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금액 기준 매출액은 orders와 order_items를 조인해야 구한다(7주차) — 이번 주는 「취소를 먼저 거르고 집계」만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SELECT status, COUNT(*) AS 건수 FROM orders GROUP BY status;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6주차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6. WITH ROLLUP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소계·총계 행을 자동으로 덧붙인다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514600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51460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618738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618738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5458968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5458968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deckgen:code-lineno"/>
          <p:cNvSpPr txBox="1"/>
          <p:nvPr/>
        </p:nvSpPr>
        <p:spPr>
          <a:xfrm>
            <a:off x="1143000" y="2514600"/>
            <a:ext cx="457200" cy="5181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</p:txBody>
      </p:sp>
      <p:sp>
        <p:nvSpPr>
          <p:cNvPr id="17" name="deckgen:code"/>
          <p:cNvSpPr txBox="1"/>
          <p:nvPr/>
        </p:nvSpPr>
        <p:spPr>
          <a:xfrm>
            <a:off x="1885950" y="2514600"/>
            <a:ext cx="8610600" cy="5181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IFNULL(grade, '전체합계') AS 등급,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COUNT(*)                 AS 고객수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customers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GROUP BY grade WITH ROLLUP;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-- 결과: VIP 2 · GOLD 3 · SILVER 5 + 마지막에 전체합계 10 행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SELECT category, name, SUM(stock) AS 재고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  products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GROUP BY category, name WITH ROLLUP;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68000" y="2679573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915650" y="2508123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15650" y="2508123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0" y="2343150"/>
            <a:ext cx="5715000" cy="1752600"/>
          </a:xfrm>
          <a:prstGeom prst="roundRect">
            <a:avLst>
              <a:gd name="adj" fmla="val 32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0" y="2343150"/>
            <a:ext cx="57150" cy="17526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658600" y="3028950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658600" y="30289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30100" y="2457450"/>
            <a:ext cx="4705350" cy="15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총계 행에 이름 붙이기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총계 행의 grade는 NULL로 나온다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68000" y="3783711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915650" y="3612261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15650" y="361226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0" y="4229100"/>
            <a:ext cx="5715000" cy="1752600"/>
          </a:xfrm>
          <a:prstGeom prst="roundRect">
            <a:avLst>
              <a:gd name="adj" fmla="val 32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430000" y="4229100"/>
            <a:ext cx="57150" cy="17526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658600" y="4914900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658600" y="49149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30100" y="4343400"/>
            <a:ext cx="4705350" cy="15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등급별 3행 + 총계 1행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68000" y="5623941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915650" y="5452491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15650" y="545249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30000" y="6115050"/>
            <a:ext cx="5715000" cy="1752600"/>
          </a:xfrm>
          <a:prstGeom prst="roundRect">
            <a:avLst>
              <a:gd name="adj" fmla="val 32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430000" y="6115050"/>
            <a:ext cx="57150" cy="17526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658600" y="6800850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658600" y="680085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30100" y="6229350"/>
            <a:ext cx="4705350" cy="15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9행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다중 그룹의 소계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카테고리 소계(name NULL) + 총계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6주차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한눈에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이번 주 집계 문법 모음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1100" y="2381250"/>
            <a:ext cx="39243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10200" y="2381250"/>
            <a:ext cx="74676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SQL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82600" y="2381250"/>
            <a:ext cx="39243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기억할 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838450"/>
            <a:ext cx="4000500" cy="473869"/>
          </a:xfrm>
          <a:prstGeom prst="roundRect">
            <a:avLst>
              <a:gd name="adj" fmla="val 12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838450"/>
            <a:ext cx="57150" cy="473869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2838450"/>
            <a:ext cx="3467100" cy="473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전체 행 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72100" y="2884884"/>
            <a:ext cx="7543800" cy="381000"/>
          </a:xfrm>
          <a:prstGeom prst="roundRect">
            <a:avLst>
              <a:gd name="adj" fmla="val 20000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deckgen:code"/>
          <p:cNvSpPr txBox="1"/>
          <p:nvPr/>
        </p:nvSpPr>
        <p:spPr>
          <a:xfrm>
            <a:off x="5524500" y="2943939"/>
            <a:ext cx="7239000" cy="3009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7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COUNT(*)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39750" y="2838450"/>
            <a:ext cx="3810000" cy="473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NULL도 센다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3426619"/>
            <a:ext cx="4000500" cy="473869"/>
          </a:xfrm>
          <a:prstGeom prst="roundRect">
            <a:avLst>
              <a:gd name="adj" fmla="val 12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43000" y="3426619"/>
            <a:ext cx="57150" cy="473869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09700" y="3426619"/>
            <a:ext cx="3467100" cy="473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값이 있는 행 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72100" y="3473053"/>
            <a:ext cx="7543800" cy="381000"/>
          </a:xfrm>
          <a:prstGeom prst="roundRect">
            <a:avLst>
              <a:gd name="adj" fmla="val 20000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deckgen:code"/>
          <p:cNvSpPr txBox="1"/>
          <p:nvPr/>
        </p:nvSpPr>
        <p:spPr>
          <a:xfrm>
            <a:off x="5524500" y="3532108"/>
            <a:ext cx="7239000" cy="3009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7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COUNT(salary)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39750" y="3426619"/>
            <a:ext cx="3810000" cy="473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NULL 제외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4014788"/>
            <a:ext cx="4000500" cy="473869"/>
          </a:xfrm>
          <a:prstGeom prst="roundRect">
            <a:avLst>
              <a:gd name="adj" fmla="val 12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4014788"/>
            <a:ext cx="57150" cy="473869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4014788"/>
            <a:ext cx="3467100" cy="473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중복 없는 값의 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72100" y="4061222"/>
            <a:ext cx="7543800" cy="381000"/>
          </a:xfrm>
          <a:prstGeom prst="roundRect">
            <a:avLst>
              <a:gd name="adj" fmla="val 20000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deckgen:code"/>
          <p:cNvSpPr txBox="1"/>
          <p:nvPr/>
        </p:nvSpPr>
        <p:spPr>
          <a:xfrm>
            <a:off x="5524500" y="4120277"/>
            <a:ext cx="7239000" cy="3009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7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COUNT(DISTINCT dept)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39750" y="4014788"/>
            <a:ext cx="3810000" cy="473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NULL 제외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" y="4602956"/>
            <a:ext cx="4000500" cy="473869"/>
          </a:xfrm>
          <a:prstGeom prst="roundRect">
            <a:avLst>
              <a:gd name="adj" fmla="val 12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43000" y="4602956"/>
            <a:ext cx="57150" cy="473869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09700" y="4602956"/>
            <a:ext cx="3467100" cy="473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NULL을 0으로 보고 평균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372100" y="4649391"/>
            <a:ext cx="7543800" cy="381000"/>
          </a:xfrm>
          <a:prstGeom prst="roundRect">
            <a:avLst>
              <a:gd name="adj" fmla="val 20000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deckgen:code"/>
          <p:cNvSpPr txBox="1"/>
          <p:nvPr/>
        </p:nvSpPr>
        <p:spPr>
          <a:xfrm>
            <a:off x="5524500" y="4708446"/>
            <a:ext cx="7239000" cy="3009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7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AVG(IFNULL(salary, 0))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239750" y="4602956"/>
            <a:ext cx="3810000" cy="473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경영적 판단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" y="5191125"/>
            <a:ext cx="4000500" cy="473869"/>
          </a:xfrm>
          <a:prstGeom prst="roundRect">
            <a:avLst>
              <a:gd name="adj" fmla="val 12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3000" y="5191125"/>
            <a:ext cx="57150" cy="473869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09700" y="5191125"/>
            <a:ext cx="3467100" cy="473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그룹에 조건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72100" y="5237559"/>
            <a:ext cx="7543800" cy="381000"/>
          </a:xfrm>
          <a:prstGeom prst="roundRect">
            <a:avLst>
              <a:gd name="adj" fmla="val 20000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deckgen:code"/>
          <p:cNvSpPr txBox="1"/>
          <p:nvPr/>
        </p:nvSpPr>
        <p:spPr>
          <a:xfrm>
            <a:off x="5524500" y="5296614"/>
            <a:ext cx="7239000" cy="3009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7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HAVING COUNT(*) &gt;= 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239750" y="5191125"/>
            <a:ext cx="3810000" cy="473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집계 후 필터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143000" y="5779294"/>
            <a:ext cx="4000500" cy="473869"/>
          </a:xfrm>
          <a:prstGeom prst="roundRect">
            <a:avLst>
              <a:gd name="adj" fmla="val 12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43000" y="5779294"/>
            <a:ext cx="57150" cy="473869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409700" y="5779294"/>
            <a:ext cx="3467100" cy="473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소계·총계 행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372100" y="5825728"/>
            <a:ext cx="7543800" cy="381000"/>
          </a:xfrm>
          <a:prstGeom prst="roundRect">
            <a:avLst>
              <a:gd name="adj" fmla="val 20000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deckgen:code"/>
          <p:cNvSpPr txBox="1"/>
          <p:nvPr/>
        </p:nvSpPr>
        <p:spPr>
          <a:xfrm>
            <a:off x="5524500" y="5884783"/>
            <a:ext cx="7239000" cy="3009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7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GROUP BY grade WITH ROLLUP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239750" y="5779294"/>
            <a:ext cx="3810000" cy="473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총계 행은 NULL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43000" y="6367462"/>
            <a:ext cx="4000500" cy="473869"/>
          </a:xfrm>
          <a:prstGeom prst="roundRect">
            <a:avLst>
              <a:gd name="adj" fmla="val 12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43000" y="6367462"/>
            <a:ext cx="57150" cy="473869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409700" y="6367462"/>
            <a:ext cx="3467100" cy="473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조건부 개수 세기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372100" y="6413897"/>
            <a:ext cx="7543800" cy="381000"/>
          </a:xfrm>
          <a:prstGeom prst="roundRect">
            <a:avLst>
              <a:gd name="adj" fmla="val 20000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deckgen:code"/>
          <p:cNvSpPr txBox="1"/>
          <p:nvPr/>
        </p:nvSpPr>
        <p:spPr>
          <a:xfrm>
            <a:off x="5524500" y="6472952"/>
            <a:ext cx="7239000" cy="3009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7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SUM(CASE WHEN status = '취소' THEN 1 ELSE 0 END)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43000" y="6955631"/>
            <a:ext cx="4000500" cy="473869"/>
          </a:xfrm>
          <a:prstGeom prst="roundRect">
            <a:avLst>
              <a:gd name="adj" fmla="val 12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3000" y="6955631"/>
            <a:ext cx="57150" cy="473869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409700" y="6955631"/>
            <a:ext cx="3467100" cy="473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같은 결과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372100" y="7002066"/>
            <a:ext cx="7543800" cy="381000"/>
          </a:xfrm>
          <a:prstGeom prst="roundRect">
            <a:avLst>
              <a:gd name="adj" fmla="val 20000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6" name="deckgen:code"/>
          <p:cNvSpPr txBox="1"/>
          <p:nvPr/>
        </p:nvSpPr>
        <p:spPr>
          <a:xfrm>
            <a:off x="5524500" y="7061121"/>
            <a:ext cx="7239000" cy="3009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7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COUNT(CASE WHEN 조건 THEN 1 END)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3239750" y="6955631"/>
            <a:ext cx="3810000" cy="473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ELSE 없으면 NULL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SUM(CASE …)은 전체 주문 중 취소 건수를 한 질의 안에서 함께 세는 표준 패턴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6주차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집계 질의에서 자주 만나는 다섯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495550"/>
            <a:ext cx="133350" cy="13335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90650" y="2381250"/>
            <a:ext cx="50863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B4372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96100" y="2495550"/>
            <a:ext cx="133350" cy="133350"/>
          </a:xfrm>
          <a:prstGeom prst="rect">
            <a:avLst/>
          </a:prstGeom>
          <a:solidFill>
            <a:srgbClr val="7D7D7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43750" y="2381250"/>
            <a:ext cx="42481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11000" y="2495550"/>
            <a:ext cx="133350" cy="13335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58650" y="2381250"/>
            <a:ext cx="50863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1E7B4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2895600"/>
            <a:ext cx="5334000" cy="887730"/>
          </a:xfrm>
          <a:prstGeom prst="roundRect">
            <a:avLst>
              <a:gd name="adj" fmla="val 6437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43000" y="2895600"/>
            <a:ext cx="57150" cy="88773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371600" y="3148965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14896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4050" y="2895600"/>
            <a:ext cx="432435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ERROR 1111: Invalid use of group function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572250" y="324421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96100" y="2895600"/>
            <a:ext cx="4495800" cy="887730"/>
          </a:xfrm>
          <a:prstGeom prst="roundRect">
            <a:avLst>
              <a:gd name="adj" fmla="val 643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62800" y="2895600"/>
            <a:ext cx="396240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WHERE에 SUM 같은 집계 함수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1487150" y="324421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811000" y="2895600"/>
            <a:ext cx="5334000" cy="887730"/>
          </a:xfrm>
          <a:prstGeom prst="roundRect">
            <a:avLst>
              <a:gd name="adj" fmla="val 6437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811000" y="2895600"/>
            <a:ext cx="57150" cy="88773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039600" y="3148965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39600" y="314896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92050" y="2895600"/>
            <a:ext cx="432435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집계 결과 조건은 HAVING으로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3916680"/>
            <a:ext cx="5334000" cy="887730"/>
          </a:xfrm>
          <a:prstGeom prst="roundRect">
            <a:avLst>
              <a:gd name="adj" fmla="val 6437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3916680"/>
            <a:ext cx="57150" cy="88773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371600" y="4170045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600" y="417004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4050" y="3916680"/>
            <a:ext cx="432435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ERROR 1055 … not in GROUP BY clause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6572250" y="426529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896100" y="3916680"/>
            <a:ext cx="4495800" cy="887730"/>
          </a:xfrm>
          <a:prstGeom prst="roundRect">
            <a:avLst>
              <a:gd name="adj" fmla="val 643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62800" y="3916680"/>
            <a:ext cx="396240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그룹 기준도 집계도 아닌 열을 SELECT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1487150" y="426529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1811000" y="3916680"/>
            <a:ext cx="5334000" cy="887730"/>
          </a:xfrm>
          <a:prstGeom prst="roundRect">
            <a:avLst>
              <a:gd name="adj" fmla="val 6437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811000" y="3916680"/>
            <a:ext cx="57150" cy="88773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2039600" y="4170045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039600" y="417004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592050" y="3916680"/>
            <a:ext cx="432435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GROUP BY에 추가하거나 집계 함수로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3000" y="4937760"/>
            <a:ext cx="5334000" cy="887730"/>
          </a:xfrm>
          <a:prstGeom prst="roundRect">
            <a:avLst>
              <a:gd name="adj" fmla="val 6437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43000" y="4937760"/>
            <a:ext cx="57150" cy="88773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371600" y="5191125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371600" y="51911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24050" y="4937760"/>
            <a:ext cx="432435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평균이 생각과 다르다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6572250" y="528637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896100" y="4937760"/>
            <a:ext cx="4495800" cy="887730"/>
          </a:xfrm>
          <a:prstGeom prst="roundRect">
            <a:avLst>
              <a:gd name="adj" fmla="val 643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62800" y="4937760"/>
            <a:ext cx="396240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AVG는 NULL을 분모에서도 뺀다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11487150" y="528637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1811000" y="4937760"/>
            <a:ext cx="5334000" cy="887730"/>
          </a:xfrm>
          <a:prstGeom prst="roundRect">
            <a:avLst>
              <a:gd name="adj" fmla="val 6437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1811000" y="4937760"/>
            <a:ext cx="57150" cy="88773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2039600" y="5191125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2039600" y="51911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592050" y="4937760"/>
            <a:ext cx="432435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0으로 볼 거면 AVG(IFNULL(컬럼,0))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5958840"/>
            <a:ext cx="5334000" cy="887730"/>
          </a:xfrm>
          <a:prstGeom prst="roundRect">
            <a:avLst>
              <a:gd name="adj" fmla="val 6437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43000" y="5958840"/>
            <a:ext cx="57150" cy="88773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371600" y="6212205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371600" y="621220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924050" y="5958840"/>
            <a:ext cx="432435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매출 실적이 부풀려졌다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6572250" y="630745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896100" y="5958840"/>
            <a:ext cx="4495800" cy="887730"/>
          </a:xfrm>
          <a:prstGeom prst="roundRect">
            <a:avLst>
              <a:gd name="adj" fmla="val 643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62800" y="5958840"/>
            <a:ext cx="396240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취소 주문까지 집계에 포함</a:t>
            </a:r>
          </a:p>
        </p:txBody>
      </p:sp>
      <p:sp>
        <p:nvSpPr>
          <p:cNvPr id="64" name="Right Arrow 63"/>
          <p:cNvSpPr/>
          <p:nvPr/>
        </p:nvSpPr>
        <p:spPr>
          <a:xfrm>
            <a:off x="11487150" y="630745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11811000" y="5958840"/>
            <a:ext cx="5334000" cy="887730"/>
          </a:xfrm>
          <a:prstGeom prst="roundRect">
            <a:avLst>
              <a:gd name="adj" fmla="val 6437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1811000" y="5958840"/>
            <a:ext cx="57150" cy="88773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2039600" y="6212205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2039600" y="621220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592050" y="5958840"/>
            <a:ext cx="432435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WHERE status &lt;&gt; '취소'를 먼저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143000" y="6979920"/>
            <a:ext cx="5334000" cy="887730"/>
          </a:xfrm>
          <a:prstGeom prst="roundRect">
            <a:avLst>
              <a:gd name="adj" fmla="val 6437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143000" y="6979920"/>
            <a:ext cx="57150" cy="88773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371600" y="7233285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371600" y="723328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24050" y="6979920"/>
            <a:ext cx="432435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WHERE에서 별칭을 못 찾는다</a:t>
            </a:r>
          </a:p>
        </p:txBody>
      </p:sp>
      <p:sp>
        <p:nvSpPr>
          <p:cNvPr id="75" name="Right Arrow 74"/>
          <p:cNvSpPr/>
          <p:nvPr/>
        </p:nvSpPr>
        <p:spPr>
          <a:xfrm>
            <a:off x="6572250" y="732853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6896100" y="6979920"/>
            <a:ext cx="4495800" cy="887730"/>
          </a:xfrm>
          <a:prstGeom prst="roundRect">
            <a:avLst>
              <a:gd name="adj" fmla="val 643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162800" y="6979920"/>
            <a:ext cx="396240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WHERE(②)가 SELECT(⑤)보다 먼저</a:t>
            </a:r>
          </a:p>
        </p:txBody>
      </p:sp>
      <p:sp>
        <p:nvSpPr>
          <p:cNvPr id="78" name="Right Arrow 77"/>
          <p:cNvSpPr/>
          <p:nvPr/>
        </p:nvSpPr>
        <p:spPr>
          <a:xfrm>
            <a:off x="11487150" y="732853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11811000" y="6979920"/>
            <a:ext cx="5334000" cy="887730"/>
          </a:xfrm>
          <a:prstGeom prst="roundRect">
            <a:avLst>
              <a:gd name="adj" fmla="val 6437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1811000" y="6979920"/>
            <a:ext cx="57150" cy="88773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2039600" y="7233285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2039600" y="723328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2592050" y="6979920"/>
            <a:ext cx="4324350" cy="887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식을 그대로 쓰거나 ORDER BY에서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6주차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57500"/>
            <a:ext cx="16002000" cy="1416368"/>
          </a:xfrm>
          <a:prstGeom prst="roundRect">
            <a:avLst>
              <a:gd name="adj" fmla="val 4034"/>
            </a:avLst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295650"/>
            <a:ext cx="15011400" cy="8448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집계 함수와 NULL 처리에 대한 설명으로 옳은 것은?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71201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8750" y="5054918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750" y="516921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14550" y="471201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COUNT(*)는 NULL을 제외하고 센다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34500" y="471201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20250" y="5054918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20250" y="516921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06050" y="471201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COUNT(컬럼)은 NULL을 포함하여 센다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614076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28750" y="6483668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28750" y="659796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14550" y="614076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AVG(컬럼)은 NULL을 제외하고 평균을 계산한다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34500" y="614076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20250" y="6483668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20250" y="659796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06050" y="614076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SUM(컬럼)은 NULL을 0으로 간주한다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6주차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정답 및 해설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048000"/>
            <a:ext cx="16002000" cy="1428750"/>
          </a:xfrm>
          <a:prstGeom prst="roundRect">
            <a:avLst>
              <a:gd name="adj" fmla="val 4000"/>
            </a:avLst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333750"/>
            <a:ext cx="2095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80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정답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38300" y="3676650"/>
            <a:ext cx="150114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 AVG(컬럼)은 NULL을 제외하고 평균을 계산한다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4953000"/>
            <a:ext cx="1600200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4953000"/>
            <a:ext cx="57150" cy="28575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81150" y="5314950"/>
            <a:ext cx="28575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해설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150" y="5772150"/>
            <a:ext cx="151257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COUNT(*)만 NULL을 포함하며, COUNT(컬럼)·SUM·AVG 등 나머지 집계 함수는 NULL을 제외합니다. AVG(salary)는 연봉 협상 중인 E008을 빼고 평균을 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6주차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핵심 요약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17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17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COUNT(*)는 NULL 포함, COUNT(컬럼)·다른 집계는 NULL 제외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6236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6236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66236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66236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 시 SELECT에는 그룹 기준 열과 집계 함수만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45293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45293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45293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45293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WHERE는 집계 전 행 필터, HAVING은 집계 후 그룹 필터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24351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24351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24351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24351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매출·실적 집계는 취소 주문을 WHERE로 먼저 제외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0340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0340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60340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60340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WITH ROLLUP은 소계·총계 행을 자동으로 추가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E008의 salary NULL이 AVG에서 빠진다 — 시험 단골 함정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6주차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다음 주차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7주차 · 조인 (JOIN)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조인의 개념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나뉜 테이블을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공통 컬럼으로 연결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INNER JOIN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양쪽 모두 맞는 행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3개 이상 테이블 조인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OUTER JOIN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없는 고객까지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ON과 WHERE의 차이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SELF·CROSS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직원–상급자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카티전 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6주차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6주차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학습 마무리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이번 주 실습 문제를 다온유통 데이터로 직접 풀어 보세요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집계 함수와 NULL 처리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GROUP BY와 ONLY_FULL_GROUP_BY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WHERE vs HAVING과 실행 순서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취소 제외 집계와 WITH ROLLUP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이어지는 활동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6주차 실습 10문제 · 퀴즈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