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A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4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C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A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1462653" cy="571500"/>
          </a:xfrm>
          <a:prstGeom prst="rect">
            <a:avLst/>
          </a:prstGeom>
        </p:spPr>
      </p:pic>
      <p:pic>
        <p:nvPicPr>
          <p:cNvPr id="12" name="Picture 11" descr="rebui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3540" y="1028700"/>
            <a:ext cx="3941460" cy="4191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생산·공정 과정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905250"/>
            <a:ext cx="16002000" cy="2247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0" b="1" spc="-280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AI 활용</a:t>
            </a:r>
          </a:p>
          <a:p>
            <a:pPr algn="l">
              <a:lnSpc>
                <a:spcPct val="105000"/>
              </a:lnSpc>
            </a:pPr>
            <a:r>
              <a:rPr sz="7500" b="1" spc="-280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작업표준·공정문서 자동화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6362700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2일차 · 10/17(토) · 모듈 3·4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동양에이케이코리아 × 한국표준협회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2026 산업·일자리 전환 교육 · ReBuild 아카데미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시작하기 전에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AI 에 입력하지 않는 다섯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1184148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118414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한 줄로 기억하기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기술·공정 비밀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34480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8770" y="34480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도면·배합비·공정 조건·설비 파라미터·원가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고객·거래 정보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41719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8770" y="41719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고객사 이름·단가·계약 조건·클레임 원문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개인·인사 정보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8958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48958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이름·연락처·사번·평가·급여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공시·재무 정보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0" y="56197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8770" y="56197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공시 전 실적·미확정 재무 수치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IT 보안 정보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0" y="63436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8770" y="63436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비밀번호·서버 주소·계정·내부 URL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오늘 화면의 제품명·수치·이름은 전부 가상의 값이거나 [빈칸]입니다 — 회사가 허용한 AI 서비스만 씁니다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진행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모든 실습은 다섯 단계로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화면을 보며 따라 하고, 잘된 프롬프트는 빈칸째 저장합니다 — 첫 답은 초안, 두 번째 요청에서 쓸 만해집니다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학습사이트의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프롬프트 복사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채우기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[빈칸]에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가상의 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 표로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 점검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고치기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이어서 던질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프롬프트로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저장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빈칸째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팀 폴더에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2일차 · 모듈 3 · 4시간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생산일지·공정 회의록 요약 자동화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하루치 기록을 넣으면 이상 이슈가 강조된 요약, 임원용 3줄, 결정·액션·담당·기한 표, 차주 어젠다가 나옵니다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1. 기록이 보고가 되는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생산일지 → 요약 → 임원 3줄 → 차주 어젠다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생산일지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일일보고·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이상 기록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요약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이상 이슈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자동 강조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임원 3줄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무엇·왜·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조치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회의록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결정·액션·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담당·기한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어젠다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차주 안건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초안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44140" y="5086350"/>
            <a:ext cx="38100" cy="209550"/>
          </a:xfrm>
          <a:prstGeom prst="rect">
            <a:avLst/>
          </a:prstGeom>
          <a:solidFill>
            <a:srgbClr val="BBD5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5605760" y="5086350"/>
            <a:ext cx="38100" cy="209550"/>
          </a:xfrm>
          <a:prstGeom prst="rect">
            <a:avLst/>
          </a:prstGeom>
          <a:solidFill>
            <a:srgbClr val="BBD5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644140" y="5295900"/>
            <a:ext cx="13037820" cy="38100"/>
          </a:xfrm>
          <a:prstGeom prst="rect">
            <a:avLst/>
          </a:prstGeom>
          <a:solidFill>
            <a:srgbClr val="BBD5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2453640" y="5162550"/>
            <a:ext cx="381000" cy="26670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 주가 돌면 지난 어젠다가 다음 회의록의 입력이 됩니다 — 같은 프롬프트를 매주 다시 씁니다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2. 요약 프롬프트의 네 가지 조건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요약은 「무엇을 남길지」를 정하는 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기준을 숫자로 — 「3줄」·「5개 이내」·「10분 안에 읽게」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강조 규칙 — 「계획 대비 미달·설비 정지·불량은 맨 위에」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출구 — 「기록에 없는 담당·기한은 '미정'으로」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읽는 사람 — 임원·팀장·작업자에 따라 다른 요약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이름은 역할로 바꿔 넣습니다 — 「김반장」 대신 「A조 반장」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생산일지 자동 요약 — 이상 이슈 강조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강조 규칙과 출구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생산관리 담당으로서 아래 가상의 생산일지를 요약해줘. 계획 대비 미달·설비 정지·불량 발생은 「이상 이슈」로 맨 위에 모으고, 나머지는 정상 항목으로 세 줄 이내. 원인이 기록에 없으면 「원인 미기재」라고 써줘. 일지: [붙여 넣기]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이상 이슈가 빠짐없이 올라왔는지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7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생산일지 자동 요약 — 이상 이슈 강조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강조 기준을 말로 정의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「미달·정지·불량」처럼 이슈의 조건을 적어 준다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일지는 가상값으로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실적은 넣지 않는다 — 구조만 같으면 된다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긴 일지는 날짜별로 나눠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하루씩 요약 → 마지막에 「주간으로 합쳐줘」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이상 이슈는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맨 위로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모은다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임원 보고용 3줄 요약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무엇 · 왜 · 조치, 한 줄씩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방금 요약을 임원이 1분 안에 판단할 수 있게 세 줄로 줄여줘. 1줄은 오늘 생산 상태, 2줄은 가장 큰 이슈와 원인, 3줄은 조치와 필요한 결정. 각 줄 40자 이내, 숫자는 [빈칸]으로 남겨줘.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같은 내용으로 팀장용 체크리스트 5개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8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임원 보고용 3줄 요약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세 줄의 역할을 정해 주기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상태·이슈·조치 — 줄마다 할 일이 다르다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「필요한 결정」을 요구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임원 보고는 결정을 받기 위한 글이다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글자 수를 숫자로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「짧게」 대신 「40자 이내」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읽는 사람이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바뀌면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요약도 바뀐다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공정 회의록 — 결정·액션·담당·기한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결정과 논의를 구분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가상의 회의 메모를 회의록으로 정리해줘. 개요 두 줄, 안건별 논의, 결정 사항, 할 일 표(할 일·담당·기한). 「하기로 함」만 결정으로 분류하고 「검토」는 논의로. 메모에 없는 담당·기한은 「미정」으로 적어줘. 메모: [붙여 넣기]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지어낸 담당·기한이 없는지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9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공정 회의록 — 결정·액션·담당·기한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이름은 역할로 바꿔 넣기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찾아 바꾸기로 「홍길동 → 공정팀 A」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결정의 기준을 주기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「하기로 함=결정, 검토=논의」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열 이름은 회사 양식대로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그대로 복사해 사내 양식에 붙인다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담당·기한은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없으면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「미정」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차주 어젠다 초안과 공유문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미결 항목에서 안건 뽑기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방금 회의록의 할 일 표에서 기한이 다음 주인 항목과 「미정」인 항목을 골라 차주 회의 어젠다 초안을 만들어줘. 안건 5개 이내, 안건마다 「보고할 사람 · 결정할 것」 한 줄. 끝에 팀 단체방에 올릴 세 문장짜리 공유문도 써줘.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미정 항목이 안건으로 올라왔는지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10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차주 어젠다 초안과 공유문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어젠다는 회의록에서 나온다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새로 쓰지 않고 할 일 표를 재료로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안건마다 결정할 것 명시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「공유」만 하는 안건은 메일로 돌린다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공유문은 길이를 정해서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「세 문장」 — 단체방은 짧아야 읽는다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매주 같은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프롬프트를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다시 쓴다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모듈 3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 모듈에서 손에 남는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생산일지를 이상 이슈 우선으로 자동 요약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임원용 3줄 — 상태·이슈·조치(필요한 결정)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회의 메모 → 결정·액션·담당·기한 표, 없으면 「미정」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할 일 표에서 차주 어젠다와 공유문까지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요약 프롬프트 네 개는 빈칸째 저장해 매주 반복합니다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2일차 · 모듈 4 · 4시간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다국어 안내문·외국인 근로자 교육자료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작업지시서를 영어·베트남어·태국어로 옮기고, 그림·픽토그램을 병기한 안전 안내문과 OJT 가이드를 만듭니다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1. 번역에서 지킬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어휘 통일 · 쉬운 문장 · 역번역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원칙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732282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73228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프롬프트에 쓰는 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어휘 통일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「용어집의 번역어를 그대로 써줘」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04320" y="34480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99570" y="34480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부품이 다른 말로 나오면 사고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쉬운 문장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「초등학생도 읽을 수 있게 짧게」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0" y="41719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99570" y="41719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외국인 근로자의 한국어·영어 수준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역번역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958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958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「번역문을 다시 한국어로 옮겨줘」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704320" y="48958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99570" y="48958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뜻이 바뀐 곳을 내가 찾을 수 있다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표로 대조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6197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56197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「번호·원문·번역·비고 표로」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704320" y="56197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799570" y="56197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줄씩 대조하고 비고에 확인 요청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번역 품질은 원문에서 결정됩니다 — 한 문장에 한 가지 지시, 숫자와 단위를 분명하게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2. 외국인 근로자 자료의 세 가지 모양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안내문 · 안전 교육 · OJT 가이드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다국어 안내문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장짜리 게시물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그림·픽토그램 자리 표시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안전 교육 자료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상황별 위험·행동 요령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퀴즈로 이해 확인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OJT 가이드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단계별 학습 목표·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평가 문항 세트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800725"/>
            <a:ext cx="47625" cy="7239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5857875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그림은 AI 가 그리지 않습니다 — 「[그림: 보호구 착용]」처럼 자리를 표시하고 사진·픽토그램은 나중에 붙입니다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작업지시서 다국어 번역 — 용어집과 함께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용어집 번역어를 그대로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작업지시서를 영어·베트남어·태국어로 번역해 표로 정리해줘(번호·원문·영어·베트남어·태국어·비고). 용어집의 번역어는 반드시 그대로 쓰고, 용어집에 없는 전문 용어는 번역어를 제안한 뒤 비고에 「용어 확인 필요」라고 적어줘. 용어집: [용어=번역]. 원문: [붙여 넣기]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비고의 「용어 확인 필요」 항목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11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작업지시서 다국어 번역 — 용어집과 함께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용어집을 먼저 넣기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부품·공정명은 회사가 정한 번역어 하나로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세 언어를 한 표에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줄 번호가 같아 대조가 쉽다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원문 문장을 먼저 손질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문장 한 지시로 쪼개면 번역이 정확해진다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역번역으로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뜻 바뀐 곳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찾기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그림·픽토그램 병기 안전 안내문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그림 자리 표시, 한 장 분량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[작업 구역]에 붙일 다국어 안전 안내문을 만들어줘. 한국어·영어·베트남어·태국어를 한 항목씩 나란히, 항목은 5개 이내, 문장은 10자 안팎. 항목마다 어떤 픽토그램이 어울리는지 「[그림: 무엇]」으로 표시하고, 맨 위 제목은 한 줄로.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문장이 짧고 뜻이 하나인지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12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그림·픽토그램 병기 안전 안내문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한 장에 다섯 항목까지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게시물은 멀리서 읽힌다 — 적을수록 좋다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픽토그램은 표준 기호로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ISO 7010 안전 표지 이름을 비고에 쓰게 한다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색·배치는 디자인 도구에서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는 글과 자리 표시까지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문장은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10자 안팎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한 가지 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다국어 안전 교육 자료 — 상황별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상황 → 위험 → 행동 → 확인 퀴즈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외국인 근로자 신입 안전 교육 자료를 만들어줘. [작업명]에서 생길 수 있는 위험 상황 4가지를 골라 「상황 · 위험 · 해야 할 행동 · 하면 안 되는 행동」 표로 쓰고, 끝에 O/X 퀴즈 5문항과 정답을 붙여줘. 한국어로 먼저 쓰고 베트남어 번역을 아래에.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행동 요령이 회사 규정과 맞는지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13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다국어 안전 교육 자료 — 상황별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상황을 내가 골라 주기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현장에서 실제로 생기는 네 가지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「하면 안 되는 행동」 요구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금지 항목이 사고를 막는다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퀴즈로 이해 확인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교육 기록에 남길 수 있다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규정과 다르면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규정이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우선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신입 OJT 단계별 가이드와 평가 문항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주차별 목표와 문항 세트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[공정명] 신입 OJT 4주 가이드를 만들어줘. 주차마다 「학습 목표 · 배울 작업 · 할 수 있어야 하는 것 · 지도자 확인 항목」을 표로 쓰고, 주차별 평가 문항 3개(객관식 2 + 실기 체크 1)와 정답을 붙여줘. 수치는 [빈칸].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4주차 문항을 베트남어로 번역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14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신입 OJT 단계별 가이드와 평가 문항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「할 수 있어야 하는 것」이 핵심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행동으로 쓰게 한다 — 「안다」 대신 「한다」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실기 체크는 지도자용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확인란이 있는 체크리스트로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기존 OJT 자료가 있으면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붙여 넣고 「이 구조로 재정리」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평가 문항은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교육 기록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증빙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모듈 4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 모듈에서 손에 남는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용어집과 함께 세 언어 번역, 「용어 확인 필요」로 표시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그림 자리를 표시한 한 장짜리 다국어 안전 안내문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상황·위험·행동·퀴즈 구조의 안전 교육 자료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주차별 목표·평가 문항이 있는 신입 OJT 가이드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번역문은 반드시 역번역이나 원어민 확인을 거쳐 게시합니다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2일차 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오늘 배운 것 한 문제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1339215"/>
          </a:xfrm>
          <a:prstGeom prst="roundRect">
            <a:avLst>
              <a:gd name="adj" fmla="val 4267"/>
            </a:avLst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295650"/>
            <a:ext cx="15011400" cy="7677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회의 메모를 회의록으로 만들 때 「메모에 없는 담당·기한은 '미정'으로」라고 쓰는 이유는?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34865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8750" y="4977765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5092065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4634865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① 표를 비워 두면 보기 좋아서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0" y="4634865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20250" y="4977765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250" y="5092065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6050" y="4634865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② AI 가 담당과 기한을 지어내지 않게 하려고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063615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28750" y="6406515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8750" y="6520815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4550" y="6063615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③ 담당자는 나중에 투표로 정하므로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500" y="6063615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0250" y="6406515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250" y="6520815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6063615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④ 기한은 AI 가 계산하지 못해서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2일차 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정답과 해설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048000"/>
            <a:ext cx="16002000" cy="1428750"/>
          </a:xfrm>
          <a:prstGeom prst="roundRect">
            <a:avLst>
              <a:gd name="adj" fmla="val 4000"/>
            </a:avLst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3337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80">
                <a:solidFill>
                  <a:srgbClr val="BBD5F3"/>
                </a:solidFill>
                <a:latin typeface="Pretendard"/>
                <a:ea typeface="Pretendard"/>
                <a:cs typeface="Pretendard"/>
              </a:rPr>
              <a:t>정답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300" y="3676650"/>
            <a:ext cx="15011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953000"/>
            <a:ext cx="1600200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953000"/>
            <a:ext cx="57150" cy="28575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150" y="53149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해설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5772150"/>
            <a:ext cx="151257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AI 는 빈칸을 그럴듯하게 채우는 성질이 있습니다. 출구를 열어 두면 없는 정보는 「미정」으로 남고, 사람이 회의에서 정합니다.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