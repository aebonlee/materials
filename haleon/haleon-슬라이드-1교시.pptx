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D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DF4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F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0EDD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D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요약·분석 → 슬라이서 → 반복 작업 자동화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haleon.dreamitbiz.com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이 시간에 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Copilot 한눈에 — 회사 계정과 개인 계정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시작하기 전 — 조건 2개만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 — 요약표 + 근거 있는 인사이트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 — 달성률 열 + 조건부 서식, 수식은 읽고 넣기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3 — 슬라이서로 한 장을 여러 장처럼 (1차수 피드백 반영)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 — 설문 원시데이터 정리 (중복·표기·빈 값)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5 — 반복 작업 자동화 (1차수 피드백 반영)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확장 예제 6건 — 먼저 끝난 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Copilot 한눈에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계정과 개인 계정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Copilot 한눈에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295900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295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7000" y="2781300"/>
            <a:ext cx="10668000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0" y="2781300"/>
            <a:ext cx="10668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 하는 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Excel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7000" y="3448050"/>
            <a:ext cx="1066800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2250" y="3448050"/>
            <a:ext cx="1047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요약표 · 근거 있는 인사이트 · 수식 · 피벗과 슬…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Word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7000" y="4171950"/>
            <a:ext cx="1066800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2250" y="4171950"/>
            <a:ext cx="1047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참조 파일로 초안 · 가이드라인 기준 검토표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Outlook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7000" y="4895850"/>
            <a:ext cx="1066800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2250" y="4895850"/>
            <a:ext cx="1047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메일 요약 · 답장 초안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PowerPoint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7000" y="5619750"/>
            <a:ext cx="1066800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2250" y="5619750"/>
            <a:ext cx="1047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문서로 장표 초안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Copilot 앱 → 만들기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7000" y="6343650"/>
            <a:ext cx="1066800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72250" y="6343650"/>
            <a:ext cx="10477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· 영상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개인이 쓴다면 — 실제 구독 사례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95625"/>
            <a:ext cx="7810500" cy="4229100"/>
          </a:xfrm>
          <a:prstGeom prst="roundRect">
            <a:avLst>
              <a:gd name="adj" fmla="val 1351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00-personal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230798"/>
            <a:ext cx="7543871" cy="39587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458075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개인 계정 구독 화면 (2026년 10월, 카드 정보 가림) — Mic…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집이나 개인 업무에서 쓰려면 개인 Microsoft 365…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개인이 쓴다면 — 실제 구독 사례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533900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533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2781300"/>
            <a:ext cx="7581900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781300"/>
            <a:ext cx="7581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개인 (Microsoft 3…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35000" y="2781300"/>
            <a:ext cx="3810000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35000" y="2781300"/>
            <a:ext cx="3810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회사 업무용 (오늘 여러분…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533900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343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비용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3448050"/>
            <a:ext cx="758190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0250" y="3448050"/>
            <a:ext cx="7391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 ₩125,000 (VAT 포함, 위 계정의 202…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35000" y="3448050"/>
            <a:ext cx="381000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30250" y="3448050"/>
            <a:ext cx="3619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부담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4533900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4343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Office 앱 안 Copilot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4143375"/>
            <a:ext cx="758190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0250" y="4143375"/>
            <a:ext cx="7391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 — 사용량 한도가 있고, 더 쓰려면 Premium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335000" y="4143375"/>
            <a:ext cx="381000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430250" y="4143375"/>
            <a:ext cx="3619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4533900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4343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만들기 — 이미지 생성·편집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4838700"/>
            <a:ext cx="758190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0250" y="4838700"/>
            <a:ext cx="7391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35000" y="4838700"/>
            <a:ext cx="381000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430250" y="4838700"/>
            <a:ext cx="3619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4533900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4343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만들기 — 영상 생성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5534025"/>
            <a:ext cx="758190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10250" y="5534025"/>
            <a:ext cx="7391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✗ (2026-10-13 확인)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335000" y="5534025"/>
            <a:ext cx="381000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430250" y="5534025"/>
            <a:ext cx="3619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4533900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4343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프롬프트 저장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0" y="6229350"/>
            <a:ext cx="758190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10250" y="6229350"/>
            <a:ext cx="7391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335000" y="6229350"/>
            <a:ext cx="381000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430250" y="6229350"/>
            <a:ext cx="3619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4533900" cy="619125"/>
          </a:xfrm>
          <a:prstGeom prst="roundRect">
            <a:avLst>
              <a:gd name="adj" fmla="val 6153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4343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회사 문서·고객 정보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15000" y="6924675"/>
            <a:ext cx="758190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10250" y="6924675"/>
            <a:ext cx="7391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올리지 않습니다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335000" y="6924675"/>
            <a:ext cx="3810000" cy="619125"/>
          </a:xfrm>
          <a:prstGeom prst="roundRect">
            <a:avLst>
              <a:gd name="adj" fmla="val 615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430250" y="6924675"/>
            <a:ext cx="3619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시작하기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 2개만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시작하기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588984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58898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70084" y="2781300"/>
            <a:ext cx="5745755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0084" y="2781300"/>
            <a:ext cx="574575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53940" y="2781300"/>
            <a:ext cx="5591060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53940" y="2781300"/>
            <a:ext cx="55910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 맞으면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588984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39848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데이터가 표(테이블) 서식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70084" y="3448050"/>
            <a:ext cx="5745755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5334" y="3448050"/>
            <a:ext cx="55552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클릭 → 리본에 [테이블 디자인] 탭이 뜨면 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53940" y="3448050"/>
            <a:ext cx="559106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49190" y="3448050"/>
            <a:ext cx="5400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안 아무 셀 클릭 → Ctrl + T →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588984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39848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파일이 OneDrive에 있고 자동 저장 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70084" y="4171950"/>
            <a:ext cx="5745755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65334" y="4171950"/>
            <a:ext cx="555525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 왼쪽 위 자동 저장 스위치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53940" y="4171950"/>
            <a:ext cx="5591060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49190" y="4171950"/>
            <a:ext cx="54005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스위치를 켜고 OneDrive를 고른다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요약표 + 근거 있는 인사이트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표를 채널별·월별 매출 합계로 요약한 표를 새 시트에 만들어줘.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행은 채널, 열은 월로 두고, 맨 오른쪽에 채널별 합계 열을 추가해줘.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29050"/>
            <a:ext cx="7810500" cy="2771775"/>
          </a:xfrm>
          <a:prstGeom prst="roundRect">
            <a:avLst>
              <a:gd name="adj" fmla="val 2061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11-summary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963644"/>
            <a:ext cx="7543859" cy="25025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6734175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① 요약표가 새 시트로 만들어졌습니다. 오른쪽 창에 "전체 매출 743…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Copilot이 새 시트를 바로 만들고 창 아래에 [완료]…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데이터에서 눈에 띄는 점 5가지를 알려줘.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각 항목마다 어떤 숫자를 근거로 그렇게 판단했는지 함께 적어줘.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3581400" cy="4476750"/>
          </a:xfrm>
          <a:prstGeom prst="roundRect">
            <a:avLst>
              <a:gd name="adj" fmla="val 159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12-insight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24" y="3105150"/>
            <a:ext cx="3314161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3581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② 눈에 띄는 점 5가지가 표로 나옵니다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1600" y="2857500"/>
            <a:ext cx="119634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816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673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73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2971800"/>
            <a:ext cx="107251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② 눈에 띄는 점 5가지가 표로 나옵니다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3581400" cy="4476750"/>
          </a:xfrm>
          <a:prstGeom prst="roundRect">
            <a:avLst>
              <a:gd name="adj" fmla="val 159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13-insights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24" y="3105150"/>
            <a:ext cx="3314161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3581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③ 오른쪽 열에 근거 숫자가 붙습니다. 원본과 대조하니 모두 맞았습니다…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1600" y="2857500"/>
            <a:ext cx="119634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816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673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73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2971800"/>
            <a:ext cx="107251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③ 오른쪽 열에 근거 숫자가 붙습니다. 원본과 대조하니 모두…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확인할 것 (이게 실습의 본체입니다)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요약표 합계가 원본 매출 합과 같은가 — 원본 매출 열을 드래그해 상태 표시줄…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"눈에 띄는 점"에 적힌 숫자가 표에 실제로 있는가 — 하나라도 없으면 패들렛…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"근거 숫자를 함께"를 빼면 그럴듯한 문장만 나오고 대조할 길이 없습니다. 이…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달성률 열 + 조건부 서식, 수식은 읽고 넣기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표에 '달성률' 열을 추가해줘.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실적을 목표로 나눈 값을 백분율로 보여주고, 소수점 첫째 자리까지 반올림해줘.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=IFERROR([@실적] / [@목표], "")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76650"/>
            <a:ext cx="7810500" cy="3076575"/>
          </a:xfrm>
          <a:prstGeom prst="roundRect">
            <a:avLst>
              <a:gd name="adj" fmla="val 1857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21-rate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810238"/>
            <a:ext cx="7543871" cy="2809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6886575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④ 달성률 열과 수식 — 목표가 빈 2행(6행 등)은 빈칸으로 남았습니다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실측(2026-10-13)에서는 =IFERROR(ROUND(…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목표가 비어 있는 행은 달성률을 계산하지 말고 빈칸으로 둬줘.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달성률 열에서 100% 미만인 셀은 연한 빨강 배경으로,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120% 이상인 셀은 연한 초록 배경으로 표시해줘.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76650"/>
            <a:ext cx="7810500" cy="3076575"/>
          </a:xfrm>
          <a:prstGeom prst="roundRect">
            <a:avLst>
              <a:gd name="adj" fmla="val 1857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22-condfmt-re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810238"/>
            <a:ext cx="7543871" cy="2809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6886575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⑤ Copilot의 답 — 100% 미만 19개, 120% 이상 3개(…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⑤ Copilot의 답 — 100% 미만 19개, 120%…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4105275" cy="4476750"/>
          </a:xfrm>
          <a:prstGeom prst="roundRect">
            <a:avLst>
              <a:gd name="adj" fmla="val 139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23-condfmt-appl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591" y="3105150"/>
            <a:ext cx="3833989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41052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⑥ 칠해진 결과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05475" y="2857500"/>
            <a:ext cx="1143952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0547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9122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122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75" y="2971800"/>
            <a:ext cx="1020127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⑥ 칠해진 결과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색이 바로 안 보이면 다른 시트를 눌렀다 돌아오거나 파일을 다시 엽니다. 실측…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표 구조 참조([@목표])로 들어간 수식과 조건부 서식은 다음 달 행을 붙여…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슬라이서로 한 장을 여러 장처럼 (1차수 피드백 반영)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 피벗 테이블부터 — Copilot에게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채널을 행으로, 월을 열로 하는 피벗 테이블을 새 시트에 만들어줘.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값은 매출 합계로 하고, 카테고리와 분기는 필터로 넣어줘.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 피벗 테이블부터 — Copilot에게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33875"/>
            <a:ext cx="7810500" cy="1743075"/>
          </a:xfrm>
          <a:prstGeom prst="roundRect">
            <a:avLst>
              <a:gd name="adj" fmla="val 327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01-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65" y="4467225"/>
            <a:ext cx="7525912" cy="14763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6210300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Copilot이 만든 피벗 — 총합계 743,074가 원본 매출 합과…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Copilot이 만든 피벗 — 총합계 743,074가 원본…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② 슬라이서 넣기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피벗 테이블에 카테고리와 분기 슬라이서를 추가해줘.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② 슬라이서 넣기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00450"/>
            <a:ext cx="7810500" cy="3219450"/>
          </a:xfrm>
          <a:prstGeom prst="roundRect">
            <a:avLst>
              <a:gd name="adj" fmla="val 177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02-slic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88" y="3733800"/>
            <a:ext cx="7541239" cy="2952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6953250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Copilot이 넣은 카테고리·분기 슬라이서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2026-10-13 실측에서는 Copilot이 카테고리·분기…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② 슬라이서 넣기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안 해 주면 리본으로 3번 클릭입니다 (버전에 따라 Copilot이 슬라이서를…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피벗 안 셀 클릭 → [피벗 테이블 분석] 탭 → [슬라이서 삽입]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카테고리, 분기 체크 →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슬라이서 버튼을 눌러 보며 피벗이 바뀌는지 확인. Ctrl 누르고 클릭하면 여…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24300"/>
            <a:ext cx="7810500" cy="2562225"/>
          </a:xfrm>
          <a:prstGeom prst="roundRect">
            <a:avLst>
              <a:gd name="adj" fmla="val 2230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03-slicer-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90" y="4057650"/>
            <a:ext cx="7535572" cy="2295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6619875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분기 슬라이서에서 Q1 — 약국 62,931이 원본에서 직접 거른 합계…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2447925"/>
          </a:xfrm>
          <a:prstGeom prst="roundRect">
            <a:avLst>
              <a:gd name="adj" fmla="val 194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2447925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3871912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3938588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2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슬라이서에서 약국 + 1분기를 고른 값이, 원본에서 필터로…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0700" y="5457825"/>
            <a:ext cx="7734300" cy="2447925"/>
          </a:xfrm>
          <a:prstGeom prst="roundRect">
            <a:avLst>
              <a:gd name="adj" fmla="val 194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10700" y="5457825"/>
            <a:ext cx="47625" cy="2447925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6450" y="6472238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6450" y="6538912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25100" y="5572125"/>
            <a:ext cx="6496050" cy="2219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슬라이서를 모두 해제(오른쪽 위 필터 지우기)했을 때 전체…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설문 원시데이터 정리 (중복·표기·빈 값)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haleon-설문원시데이터-더미.xlsx 설문응답 시트. 시스템에서 내려받은…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지우기 전에 보여 달라고, 덮어쓰지 말고 새 열에. 이 둘만 지키면 되돌릴 수…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사번이 중복된 행이 있는지 찾아서, 중복된 사번과 그 행 번호를 알려줘.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아직 지우지는 말아줘.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3514725" cy="4476750"/>
          </a:xfrm>
          <a:prstGeom prst="roundRect">
            <a:avLst>
              <a:gd name="adj" fmla="val 162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31-dup-i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178" y="3105150"/>
            <a:ext cx="3246525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3514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① 중복 사번 6개와 행 번호 — 원본과 정확히 같습니다. 아무것도 지…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4925" y="2857500"/>
            <a:ext cx="1203007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1492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0067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67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9325" y="2971800"/>
            <a:ext cx="1079182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 중복 사번 6개와 행 번호 — 원본과 정확히 같습니다.…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부서 열의 표기를 통일해줘.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앞뒤 공백을 없애고, 가운데 공백도 제거해줘.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결과는 새 열 '부서_정리'에 넣고 원본 열은 그대로 둬줘.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3648075" cy="4476750"/>
          </a:xfrm>
          <a:prstGeom prst="roundRect">
            <a:avLst>
              <a:gd name="adj" fmla="val 156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32-dept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7330"/>
            <a:ext cx="3381170" cy="42056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36480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② 새 열 부서_정리와 수식 SUBSTITUTE(TRIM(…))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48275" y="2857500"/>
            <a:ext cx="1189672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4827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3402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402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2675" y="2971800"/>
            <a:ext cx="1065847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② 새 열 부서_정리와 수식 SUBSTITUTE(TRIM(……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4619625" cy="4476750"/>
          </a:xfrm>
          <a:prstGeom prst="roundRect">
            <a:avLst>
              <a:gd name="adj" fmla="val 12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33-dept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5889"/>
            <a:ext cx="4352928" cy="42085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4619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③ 공백은 사라졌지만 "영업 / 영업본부", "HR팀 / 인사팀"은 그…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2857500"/>
            <a:ext cx="1092517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0557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57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4225" y="2971800"/>
            <a:ext cx="968692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③ 공백은 사라졌지만 "영업 / 영업본부", "HR팀 / 인…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만족도 열에서 빈 값이 몇 개인지, 어느 행인지 알려줘.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3514725" cy="4476750"/>
          </a:xfrm>
          <a:prstGeom prst="roundRect">
            <a:avLst>
              <a:gd name="adj" fmla="val 162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34-blank-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178" y="3105150"/>
            <a:ext cx="3246525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3514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④ 빈 값 30개와 행 번호 — 채우지 않고 알려만 줬습니다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4925" y="2857500"/>
            <a:ext cx="1203007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1492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0067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67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9325" y="2971800"/>
            <a:ext cx="1079182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④ 빈 값 30개와 행 번호 — 채우지 않고 알려만 줬습니다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응답일시 열에 텍스트로 들어간 값과 날짜로 들어간 값이 섞여 있어.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모두 날짜 형식(YYYY-MM-DD)으로 바꾼 결과를 새 열 '응답일_정리'에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넣어줘.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3724275" cy="4476750"/>
          </a:xfrm>
          <a:prstGeom prst="roundRect">
            <a:avLst>
              <a:gd name="adj" fmla="val 1534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35-date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3105491"/>
            <a:ext cx="3457695" cy="4209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37242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⑤ 텍스트·날짜를 함께 처리하는 수식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24475" y="2857500"/>
            <a:ext cx="1182052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2447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1022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1022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8875" y="2971800"/>
            <a:ext cx="1058227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⑤ 텍스트·날짜를 함께 처리하는 수식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1866900" cy="4476750"/>
          </a:xfrm>
          <a:prstGeom prst="roundRect">
            <a:avLst>
              <a:gd name="adj" fmla="val 3061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36-date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14" y="3105150"/>
            <a:ext cx="1596916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18669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⑥ 응답일_정리 열 — 모두 YYYY-MM-DD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7100" y="2857500"/>
            <a:ext cx="13677900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7100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528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28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1500" y="2971800"/>
            <a:ext cx="12439650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⑥ 응답일_정리 열 — 모두 YYYY-MM-DD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중복 사번이 6건 나왔는가 (다르면 어떤 기준으로 셌는지 Copilot에게 묻…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빈 값을 0으로 채우지 않았는가 — 채우면 평균이 실제보다 낮아집니다. 채울지…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이 네 단계를 매달 반복한다면 — 다음 실습입니다.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반복 작업 자동화 (1차수 피드백 반영)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겹 1 — 표 구조로 만들어 두면 저절로 따라…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2의 달성률 수식·조건부 서식, 실습 3의 피벗은 전부 표(Ctrl +…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월별판매 표 맨 아래 빈 행에 아무 숫자나 한 줄 입력 → 조건부 서식이 따라…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피벗 시트에서 우클릭 → [새로 고침] → 합계가 바뀌는지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확인했으면 Ctrl + Z로 되돌립니다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겹 2 — 녹음(작업 레코딩)으로 절차를 스크…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00450"/>
            <a:ext cx="7810500" cy="3219450"/>
          </a:xfrm>
          <a:prstGeom prst="roundRect">
            <a:avLst>
              <a:gd name="adj" fmla="val 1775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04-automate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212" y="3733800"/>
            <a:ext cx="7538030" cy="2952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6953250"/>
            <a:ext cx="7810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자동화 탭 → 새 스크립트 → 녹음에서 만들기 (2026-10-13 실…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0700" y="2857500"/>
            <a:ext cx="7734300" cy="1581150"/>
          </a:xfrm>
          <a:prstGeom prst="roundRect">
            <a:avLst>
              <a:gd name="adj" fmla="val 301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0700" y="2857500"/>
            <a:ext cx="47625" cy="15811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6450" y="34385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6450" y="35052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5100" y="2971800"/>
            <a:ext cx="6496050" cy="1352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실습 4의 정리 절차를 녹화해 두고 다음 달 파일에 재생합니…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0700" y="4591050"/>
            <a:ext cx="7734300" cy="1581150"/>
          </a:xfrm>
          <a:prstGeom prst="roundRect">
            <a:avLst>
              <a:gd name="adj" fmla="val 301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10700" y="4591050"/>
            <a:ext cx="47625" cy="15811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6450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64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25100" y="4705350"/>
            <a:ext cx="6496050" cy="1352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리본 [자동화] 탭 → [새 스크립트] → [녹음에서 만들기…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0700" y="6324600"/>
            <a:ext cx="7734300" cy="1581150"/>
          </a:xfrm>
          <a:prstGeom prst="roundRect">
            <a:avLst>
              <a:gd name="adj" fmla="val 301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10700" y="6324600"/>
            <a:ext cx="47625" cy="15811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6450" y="690562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6450" y="69723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25100" y="6438900"/>
            <a:ext cx="6496050" cy="1352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![작업 레코딩 창 — 셀 편집·표 만들기·서식 변경을 하고…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겹 2 — 녹음(작업 레코딩)으로 절차를 스크…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기록이 도는 동안 손으로 합니다: 부서 열 선택 → [데이터] → [중복된 항…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[중지] → 이름을 설문정리-월간으로 저장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설문 파일을 사본 저장한 뒤 그 사본에서 [실행] — 같은 결과가 나오는지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Copilot이 스크립트를 대신 써 주는 기능(자동화 탭 안의 Copilot)…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겹 2 — 녹음(작업 레코딩)으로 절차를 스크…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'설문응답' 표에서 부서 열의 모든 공백을 제거한 값을 새 열 '부서_정리'에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넣고,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사번이 중복된 행의 사번 셀을 노란 배경으로 표시하는 스크립트를 만들어줘.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겹 3 — 절차서는 Copilot에게 쓰게 한…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방금 이 파일에서 한 정리 작업(중복 사번 확인, 부서 표기 통일, 만족도 빈 값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확인, 날짜 형식 통일)을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다음 달에 같은 구조의 파일로 반복할 수 있게 단계별 체크리스트로 정리해줘.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각 단계에 '사람이 판단해야 하는 것'이 있으면 따로 표시해줘.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겹 3 — 절차서는 Copilot에게 쓰게 한…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3514725" cy="4476750"/>
          </a:xfrm>
          <a:prstGeom prst="roundRect">
            <a:avLst>
              <a:gd name="adj" fmla="val 162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xl-41-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178" y="3105150"/>
            <a:ext cx="3246525" cy="4210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7581900"/>
            <a:ext cx="3514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체크리스트 — 단계마다 "사람이 판단해야 하는 것"이 따로 붙습니다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4925" y="2857500"/>
            <a:ext cx="12030075" cy="5048250"/>
          </a:xfrm>
          <a:prstGeom prst="roundRect">
            <a:avLst>
              <a:gd name="adj" fmla="val 943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14925" y="2857500"/>
            <a:ext cx="47625" cy="50482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00675" y="5172075"/>
            <a:ext cx="419100" cy="419100"/>
          </a:xfrm>
          <a:prstGeom prst="ellipse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675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9325" y="2971800"/>
            <a:ext cx="10791825" cy="481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체크리스트 — 단계마다 "사람이 판단해야 하는 것"이 따로…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여기까지가 Copilot의 자동화입니다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24524" cy="59055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2452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하고 싶은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05624" y="2781300"/>
            <a:ext cx="1302201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5624" y="2781300"/>
            <a:ext cx="130220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되는가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45925" y="2781300"/>
            <a:ext cx="8299075" cy="590550"/>
          </a:xfrm>
          <a:prstGeom prst="rect">
            <a:avLst/>
          </a:prstGeom>
          <a:solidFill>
            <a:srgbClr val="1775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45925" y="2781300"/>
            <a:ext cx="829907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24524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3402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데이터가 늘어도 수식·서식·피벗이 따라온다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5624" y="3448050"/>
            <a:ext cx="1302201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874" y="3448050"/>
            <a:ext cx="111170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45925" y="3448050"/>
            <a:ext cx="8299075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1175" y="3448050"/>
            <a:ext cx="81085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 구조 + 새로 고침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24524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3402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같은 정리 절차를 다음 파일에 재실행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05624" y="4171950"/>
            <a:ext cx="1302201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874" y="4171950"/>
            <a:ext cx="111170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45925" y="4171950"/>
            <a:ext cx="8299075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1175" y="4171950"/>
            <a:ext cx="81085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자동화 탭 녹음에서 만들기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24524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3402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절차를 글로 남겨 빠뜨리지 않기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05624" y="4895850"/>
            <a:ext cx="1302201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00874" y="4895850"/>
            <a:ext cx="111170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45925" y="4895850"/>
            <a:ext cx="8299075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41175" y="4895850"/>
            <a:ext cx="81085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Copilot 체크리스트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324524" cy="647700"/>
          </a:xfrm>
          <a:prstGeom prst="roundRect">
            <a:avLst>
              <a:gd name="adj" fmla="val 5882"/>
            </a:avLst>
          </a:prstGeom>
          <a:solidFill>
            <a:srgbClr val="EAF6E6"/>
          </a:solidFill>
          <a:ln w="9525">
            <a:solidFill>
              <a:srgbClr val="BFE3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13402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파일이 도착하면 저절로 돌아간다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5624" y="5619750"/>
            <a:ext cx="1302201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00874" y="5619750"/>
            <a:ext cx="111170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45925" y="5619750"/>
            <a:ext cx="8299075" cy="647700"/>
          </a:xfrm>
          <a:prstGeom prst="roundRect">
            <a:avLst>
              <a:gd name="adj" fmla="val 5882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41175" y="5619750"/>
            <a:ext cx="81085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Power Automate 영역 — 이 과정 밖. I…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확장 예제 6건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먼저 끝난 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① 이상값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표에서 다른 값들과 크게 동떨어진 값이 있는 열을 찾아줘.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해당 값과 행 번호, 그리고 왜 이상하다고 판단했는지 알려줘.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② 비중까지 한 번에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채널을 행으로, 카테고리를 열로 하는 피벗 테이블을 만들어줘.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값은 매출 합계로 하고, 각 행의 비중(%)도 함께 보여줘.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③ 차트는 만들기 전에 묻는다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데이터를 경영진 보고에 쓸 건데, 어떤 차트가 적절할지 2가지를 추천하고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각각 어떤 메시지를 전달하기 좋은지 설명해줘.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④ 텍스트 열 나누기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'담당자' 열이 "홍길동(영업본부)" 형태로 되어 있어.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이름과 부서를 각각 새 열로 분리해줘.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⑤ 데이터 유효성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 표에서 값이 이상해 보이는 곳을 점검해줘.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숫자여야 하는데 텍스트인 셀, 날짜 범위를 벗어난 값, 음수인 매출을 찾아줘.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9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⑥ 시트 간 대조 — 경계를 확인하는 예제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'월별판매' 시트와 '목표대비실적' 시트에 모두 있는 채널 목록을 비교해서,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한쪽에만 있는 채널이 있으면 알려줘.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5D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헤일리온코리아 Copilot 실무과정 2차수 · 1교시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8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8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1교시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1교시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결과를 캡처 한 장으로 패들렛에 올려 주세요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패들렛 1교시 실습결과 칸에 올리기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의도대로 안 된 것은 질문 칸에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CF9"/>
          </a:solidFill>
          <a:ln w="9525">
            <a:solidFill>
              <a:srgbClr val="DCE5D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77500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4532D"/>
                </a:solidFill>
                <a:latin typeface="Pretendard"/>
                <a:ea typeface="Pretendard"/>
                <a:cs typeface="Pretendard"/>
              </a:rPr>
              <a:t>학습사이트에서 같은 내용을 다시 볼 수 있습니다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