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8288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192250" y="-2381250"/>
            <a:ext cx="7429500" cy="7429500"/>
          </a:xfrm>
          <a:prstGeom prst="ellipse">
            <a:avLst/>
          </a:prstGeom>
          <a:solidFill>
            <a:srgbClr val="F1F5F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5430500" y="-1143000"/>
            <a:ext cx="4953000" cy="49530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5906750" y="5905500"/>
            <a:ext cx="4953000" cy="4953000"/>
          </a:xfrm>
          <a:prstGeom prst="ellipse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-1714500" y="2857500"/>
            <a:ext cx="2857500" cy="28575"/>
          </a:xfrm>
          <a:prstGeom prst="rect">
            <a:avLst/>
          </a:prstGeom>
          <a:solidFill>
            <a:srgbClr val="E6E9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-2857500" y="6953250"/>
            <a:ext cx="6953250" cy="6953250"/>
          </a:xfrm>
          <a:prstGeom prst="ellipse">
            <a:avLst/>
          </a:prstGeom>
          <a:solidFill>
            <a:srgbClr val="EEF2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-1581150" y="8229600"/>
            <a:ext cx="4400550" cy="440055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3390900" y="8953500"/>
            <a:ext cx="742950" cy="742950"/>
          </a:xfrm>
          <a:prstGeom prst="ellipse">
            <a:avLst/>
          </a:prstGeom>
          <a:solidFill>
            <a:srgbClr val="EBEEF2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457700" y="9563100"/>
            <a:ext cx="342900" cy="342900"/>
          </a:xfrm>
          <a:prstGeom prst="ellipse">
            <a:avLst/>
          </a:prstGeom>
          <a:solidFill>
            <a:srgbClr val="E1E9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9639300"/>
            <a:ext cx="1619250" cy="28575"/>
          </a:xfrm>
          <a:prstGeom prst="rect">
            <a:avLst/>
          </a:prstGeom>
          <a:solidFill>
            <a:srgbClr val="E6E9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48615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spc="12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4-4 · Trino 기반 S3 SQL 엔진 구축 · 실습 1.5H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905250"/>
            <a:ext cx="16002000" cy="19187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6300" b="1" spc="-235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Trino 컨테이너와</a:t>
            </a:r>
          </a:p>
          <a:p>
            <a:pPr algn="l">
              <a:lnSpc>
                <a:spcPct val="105000"/>
              </a:lnSpc>
            </a:pPr>
            <a:r>
              <a:rPr sz="6300" b="1" spc="-235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Iceberg 카탈로그 연결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6033516"/>
            <a:ext cx="16002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30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Spark 가 쓴 테이블, Trino 로 그대로 읽기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72500" y="7677150"/>
            <a:ext cx="85725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수도권ICT 이노베이션스퀘어</a:t>
            </a:r>
          </a:p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3기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이 시간의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1.5시간 뒤에는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8956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0384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1623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28956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catalog/iceberg.properties 를 쓰고 각 줄의 뜻을 말할 수 있다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8862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0290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1529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38862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trino 서비스를 compose 에 추가해 SERVER STARTED 까지 띄운다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8768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0196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1435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48768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Trino CLI 로 SHOW CATALOGS · SHOW TABLES 를 확인한다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58674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60102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61341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④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58674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두 엔진의 count·sum 을 대조해 같은 실체임을 확인한다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6953250"/>
            <a:ext cx="16002000" cy="876300"/>
          </a:xfrm>
          <a:prstGeom prst="roundRect">
            <a:avLst>
              <a:gd name="adj" fmla="val 5434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값이 다르면 두 엔진이 다른 카탈로그를 보는 것 — rest-catalog.uri 와 warehouse 부터 대조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4-4 · 실습 1.5H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실습 흐름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다섯 단계 — ~/lakehouse 에서 끝까지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306705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5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4-3 까지의 컨테이너 4개가 떠 있는 상태에서 catalog 폴더를 새로 만들고 시작합니다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430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3924300"/>
            <a:ext cx="2895600" cy="9144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1. 설정 파일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525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catalog/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iceberg.properties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196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19600" y="3924300"/>
            <a:ext cx="2895600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196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2. 서비스 추가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291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compose 에 trino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up -d trino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6962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96200" y="3924300"/>
            <a:ext cx="2895600" cy="9144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962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3. 설정 확인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057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ls · cat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logs | grep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9728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0972800" y="3924300"/>
            <a:ext cx="2895600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9728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4. CLI 접속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823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SHOW CATALOGS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SHOW TABLES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42494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4249400" y="3924300"/>
            <a:ext cx="2895600" cy="9144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42494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5. 같은 테이블?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44589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count·sum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두 엔진 대조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4-4 · 실습 1.5H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1단계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iceberg.properties — 여섯 줄의 뜻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7002780" cy="59055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700278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설정</a:t>
            </a:r>
          </a:p>
        </p:txBody>
      </p:sp>
      <p:sp>
        <p:nvSpPr>
          <p:cNvPr id="10" name="Rectangle 9"/>
          <p:cNvSpPr/>
          <p:nvPr/>
        </p:nvSpPr>
        <p:spPr>
          <a:xfrm>
            <a:off x="8183880" y="2781300"/>
            <a:ext cx="896112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83880" y="2781300"/>
            <a:ext cx="896112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뜻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448050"/>
            <a:ext cx="7002780" cy="546100"/>
          </a:xfrm>
          <a:prstGeom prst="roundRect">
            <a:avLst>
              <a:gd name="adj" fmla="val 6976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38250" y="3448050"/>
            <a:ext cx="6812280" cy="546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connector.name=iceberg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83880" y="3448050"/>
            <a:ext cx="8961120" cy="54610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79130" y="3448050"/>
            <a:ext cx="8770620" cy="546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없으면 카탈로그가 로드되지 않는다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070350"/>
            <a:ext cx="7002780" cy="546100"/>
          </a:xfrm>
          <a:prstGeom prst="roundRect">
            <a:avLst>
              <a:gd name="adj" fmla="val 6976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38250" y="4070350"/>
            <a:ext cx="6812280" cy="546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iceberg.catalog.type=rest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83880" y="4070350"/>
            <a:ext cx="8961120" cy="54610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79130" y="4070350"/>
            <a:ext cx="8770620" cy="546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카탈로그 종류 — Spark 와 같아야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692650"/>
            <a:ext cx="7002780" cy="546100"/>
          </a:xfrm>
          <a:prstGeom prst="roundRect">
            <a:avLst>
              <a:gd name="adj" fmla="val 6976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692650"/>
            <a:ext cx="6812280" cy="546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rest-catalog.uri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183880" y="4692650"/>
            <a:ext cx="8961120" cy="54610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79130" y="4692650"/>
            <a:ext cx="8770620" cy="546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카탈로그 주소 — 컨테이너 rest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5314950"/>
            <a:ext cx="7002780" cy="546100"/>
          </a:xfrm>
          <a:prstGeom prst="roundRect">
            <a:avLst>
              <a:gd name="adj" fmla="val 6976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38250" y="5314950"/>
            <a:ext cx="6812280" cy="546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rest-catalog.warehouse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183880" y="5314950"/>
            <a:ext cx="8961120" cy="54610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79130" y="5314950"/>
            <a:ext cx="8770620" cy="546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테이블 파일 자리 — Spark 와 같아야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143000" y="5937250"/>
            <a:ext cx="7002780" cy="546100"/>
          </a:xfrm>
          <a:prstGeom prst="roundRect">
            <a:avLst>
              <a:gd name="adj" fmla="val 6976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238250" y="5937250"/>
            <a:ext cx="6812280" cy="546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s3.endpoint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183880" y="5937250"/>
            <a:ext cx="8961120" cy="54610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279130" y="5937250"/>
            <a:ext cx="8770620" cy="546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S3 주소 — 컨테이너 minio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6559550"/>
            <a:ext cx="7002780" cy="546100"/>
          </a:xfrm>
          <a:prstGeom prst="roundRect">
            <a:avLst>
              <a:gd name="adj" fmla="val 6976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6559550"/>
            <a:ext cx="6812280" cy="546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s3.path-style-access=true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183880" y="6559550"/>
            <a:ext cx="8961120" cy="54610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279130" y="6559550"/>
            <a:ext cx="8770620" cy="546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MinIO 는 true 여야 한다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표의 키는 iceberg. 접두사를 줄였다 — 전문 열 줄(minioadmin 자격증명 2줄·s3.region 포함)은 사이트 본문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rest-catalog.uri 와 warehouse 가 Spark 의 spark-defaults.conf 와 다르면 「각자 다른 테이블」을 보게 된다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4-4 · 실습 1.5H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2단계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trino 서비스 추가와 기동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1783687" cy="5715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1783687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compose 추가</a:t>
            </a:r>
          </a:p>
        </p:txBody>
      </p:sp>
      <p:sp>
        <p:nvSpPr>
          <p:cNvPr id="10" name="Rectangle 9"/>
          <p:cNvSpPr/>
          <p:nvPr/>
        </p:nvSpPr>
        <p:spPr>
          <a:xfrm>
            <a:off x="2926687" y="2781300"/>
            <a:ext cx="14218313" cy="57150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079087" y="2781300"/>
            <a:ext cx="13913513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image: trinodb/trino · ports "8080:8080"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43000" y="3429000"/>
            <a:ext cx="1783687" cy="5715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43000" y="3429000"/>
            <a:ext cx="1783687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볼륨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926687" y="3429000"/>
            <a:ext cx="14218313" cy="57150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079087" y="3429000"/>
            <a:ext cx="13913513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./catalog:/etc/trino/catalog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143000" y="4076700"/>
            <a:ext cx="1783687" cy="5715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43000" y="4076700"/>
            <a:ext cx="1783687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폴더·기동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926687" y="4076700"/>
            <a:ext cx="14218313" cy="57150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079087" y="4076700"/>
            <a:ext cx="13913513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mkdir -p catalog → docker compose up -d trino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4724400"/>
            <a:ext cx="1783687" cy="5715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43000" y="4724400"/>
            <a:ext cx="1783687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로그 대기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926687" y="4724400"/>
            <a:ext cx="14218313" cy="57150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079087" y="4724400"/>
            <a:ext cx="13913513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docker compose logs -f trino → SERVER STARTED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143000" y="5372100"/>
            <a:ext cx="1783687" cy="5715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5372100"/>
            <a:ext cx="1783687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웹 UI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926687" y="5372100"/>
            <a:ext cx="14218313" cy="57150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079087" y="5372100"/>
            <a:ext cx="13913513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http://localhost:8080 (사용자 이름은 아무 값)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뜨는 데 30초~1분 — SERVER STARTED 전에 CLI 로 붙으면 연결 거부. depends_on 은 rest·minio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4-4 · 실습 1.5H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3·4단계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설정이 읽혔는지, 연결이 되는지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3370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447800" y="3181350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47800" y="333375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24100" y="314325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컨테이너 안에 파일이 보인다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24100" y="354330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exec trino ls -la /etc/trino/catalog/ · cat iceberg.properties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200525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447800" y="4448175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47800" y="4600575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24100" y="4410075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로그에 카탈로그 오류가 없다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24100" y="4810125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logs trino | grep -i -E "catalog|error" | tail -n 10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46735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447800" y="5715000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47800" y="586740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24100" y="567690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CLI 에서 카탈로그·테이블이 보인다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24100" y="607695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exec -it trino trino → SHOW CATALOGS · SHOW TABLES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143000" y="6734175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447800" y="6981825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447800" y="7134225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324100" y="6943725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DESCRIBE 에 channel 이 있다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324100" y="7343775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4-2 에서 ADD COLUMN 한 열 — 스키마 변경이 카탈로그로 전달됐다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3144500" y="2933700"/>
            <a:ext cx="4000500" cy="4895850"/>
          </a:xfrm>
          <a:prstGeom prst="roundRect">
            <a:avLst>
              <a:gd name="adj" fmla="val 1190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3487400" y="4562475"/>
            <a:ext cx="33147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9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파일이 안 보이면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3487400" y="4962525"/>
            <a:ext cx="3314700" cy="1238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./catalog</a:t>
            </a:r>
          </a:p>
          <a:p>
            <a:pPr algn="l">
              <a:lnSpc>
                <a:spcPct val="138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경로 확인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4-4 · 실습 1.5H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5단계 — 오늘의 핵심 확인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옮기지 않았는데 같은 값이 나오는가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Trino — iceberg.lakehouse.orders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Trino CLI 에서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4300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447800" y="5016817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633538" y="483870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SELECT * FROM … ORDER BY order_id</a:t>
            </a:r>
          </a:p>
        </p:txBody>
      </p:sp>
      <p:sp>
        <p:nvSpPr>
          <p:cNvPr id="13" name="Oval 12"/>
          <p:cNvSpPr/>
          <p:nvPr/>
        </p:nvSpPr>
        <p:spPr>
          <a:xfrm>
            <a:off x="1447800" y="5527358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633538" y="534924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count(*) AS cnt, sum(amount) AS total</a:t>
            </a:r>
          </a:p>
        </p:txBody>
      </p:sp>
      <p:sp>
        <p:nvSpPr>
          <p:cNvPr id="15" name="Oval 14"/>
          <p:cNvSpPr/>
          <p:nvPr/>
        </p:nvSpPr>
        <p:spPr>
          <a:xfrm>
            <a:off x="1447800" y="6037898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633538" y="585978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기대: cnt 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77265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Spark — demo.lakehouse.orders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77265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새 터미널에서 같은 집계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77265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077450" y="5016817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263188" y="483870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docker compose exec spark-iceberg spark-sql -e</a:t>
            </a:r>
          </a:p>
        </p:txBody>
      </p:sp>
      <p:sp>
        <p:nvSpPr>
          <p:cNvPr id="22" name="Oval 21"/>
          <p:cNvSpPr/>
          <p:nvPr/>
        </p:nvSpPr>
        <p:spPr>
          <a:xfrm>
            <a:off x="10077450" y="5527358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263188" y="534924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count(*) AS cnt, sum(amount) AS total</a:t>
            </a:r>
          </a:p>
        </p:txBody>
      </p:sp>
      <p:sp>
        <p:nvSpPr>
          <p:cNvPr id="24" name="Oval 23"/>
          <p:cNvSpPr/>
          <p:nvPr/>
        </p:nvSpPr>
        <p:spPr>
          <a:xfrm>
            <a:off x="10077450" y="6037898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263188" y="585978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기대: cnt 6 · total 이 Trino 와 정확히 같다</a:t>
            </a:r>
          </a:p>
        </p:txBody>
      </p:sp>
      <p:sp>
        <p:nvSpPr>
          <p:cNvPr id="26" name="Oval 25"/>
          <p:cNvSpPr/>
          <p:nvPr/>
        </p:nvSpPr>
        <p:spPr>
          <a:xfrm>
            <a:off x="8686800" y="3771900"/>
            <a:ext cx="914400" cy="914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686800" y="4057650"/>
            <a:ext cx="9144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VS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4-4 · 실습 1.5H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일부러 실패시키기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s3.endpoint 를 localhost 로 써 보기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306705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5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설정 한 줄이 틀리면 어디서 어떻게 죽는지 본 뒤 고칩니다 — 로그를 읽는 습관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430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3924300"/>
            <a:ext cx="2895600" cy="9144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1. 한 줄 바꾸기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525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s3.endpoint=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localhost:9000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196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19600" y="3924300"/>
            <a:ext cx="2895600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196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2. 재시작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291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docker compose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restart trino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6962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96200" y="3924300"/>
            <a:ext cx="2895600" cy="9144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962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3. 조회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057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SELECT count(*)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FROM …orders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9728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0972800" y="3924300"/>
            <a:ext cx="2895600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9728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4. 오류 읽기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823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Unable to execute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HTTP request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42494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4249400" y="3924300"/>
            <a:ext cx="2895600" cy="9144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42494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5. 되돌리기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44589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minio:9000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restart 후 재조회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4-4 · 실습 1.5H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확인 포인트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이 1.5시간이 끝날 때 확인할 것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908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13372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2575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29908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docker compose logs -f trino 에 SERVER STARTED 가 찍혔다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9814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12432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2481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39814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SHOW CATALOGS 에 iceberg, SHOW TABLES 에 orders 가 보인다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9720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11492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2387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49720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DESCRIBE iceberg.lakehouse.orders 에 channel 열이 있다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59626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610552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62293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59626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Trino 와 Spark 의 cnt(6)·total 이 정확히 같다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69532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390650" y="709612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390650" y="72199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190750" y="69532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localhost 로 틀린 endpoint 를 되돌린 뒤 다시 조회된다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4-4 · 실습 1.5H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4-4 · 실습 1.5H 마무리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800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다음은 Trino SQL 실습 (1H)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47244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집계·CTAS·타임 트래블을 Trino 문법으로 해 보고, Spark 와의 문법 차이를 정리합니다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430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287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050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고객별·채널별 집계와 윈도 함수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3726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583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346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CTAS 로 daily_sales 만들고 Spark 에서 읽기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287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050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"orders$snapshots" 와 FOR VERSION AS OF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726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583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346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INSERT·DELETE 뒤 Spark 에서 확인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7715250"/>
            <a:ext cx="47625" cy="8191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09700" y="7734300"/>
            <a:ext cx="85725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4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가져갈 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9700" y="8077200"/>
            <a:ext cx="85725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Trino CLI 접속 상태 · cnt 6 확인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