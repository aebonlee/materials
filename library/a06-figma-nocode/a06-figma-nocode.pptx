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66" r:id="rId17"/>
    <p:sldId id="267" r:id="rId18"/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44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01531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jpg"/><Relationship Id="rId7" Type="http://schemas.openxmlformats.org/officeDocument/2006/relationships/hyperlink" Target="mailto:aebon@dreamitbiz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Relationship Id="rId4" Type="http://schemas.openxmlformats.org/officeDocument/2006/relationships/image" Target="../media/image9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jpg"/><Relationship Id="rId4" Type="http://schemas.openxmlformats.org/officeDocument/2006/relationships/image" Target="../media/image11.jpg"/><Relationship Id="rId5" Type="http://schemas.openxmlformats.org/officeDocument/2006/relationships/image" Target="../media/image1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1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jpg"/><Relationship Id="rId4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9227542" y="758941"/>
            <a:ext cx="1076249" cy="352044"/>
          </a:xfrm>
          <a:prstGeom prst="roundRect">
            <a:avLst>
              <a:gd name="adj" fmla="val 210600"/>
            </a:avLst>
          </a:prstGeom>
          <a:solidFill>
            <a:srgbClr val="FFFFFF"/>
          </a:solidFill>
          <a:ln w="25400">
            <a:solidFill>
              <a:srgbClr val="FF690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436939" y="834836"/>
            <a:ext cx="79735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대학생 특강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392487" y="758941"/>
            <a:ext cx="1076249" cy="352044"/>
          </a:xfrm>
          <a:prstGeom prst="roundRect">
            <a:avLst>
              <a:gd name="adj" fmla="val 210600"/>
            </a:avLst>
          </a:prstGeom>
          <a:solidFill>
            <a:srgbClr val="FFFFFF"/>
          </a:solidFill>
          <a:ln w="25400">
            <a:solidFill>
              <a:srgbClr val="FF690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10601885" y="834836"/>
            <a:ext cx="79735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노코드 실습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47526" y="1081967"/>
            <a:ext cx="2934310" cy="638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kern="0" spc="-75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피그마로</a:t>
            </a:r>
            <a:endParaRPr lang="en-US" sz="4500" dirty="0"/>
          </a:p>
        </p:txBody>
      </p:sp>
      <p:sp>
        <p:nvSpPr>
          <p:cNvPr id="9" name="Text 7"/>
          <p:cNvSpPr txBox="1"/>
          <p:nvPr/>
        </p:nvSpPr>
        <p:spPr>
          <a:xfrm>
            <a:off x="1047526" y="1786969"/>
            <a:ext cx="5650078" cy="638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kern="0" spc="-75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노코드 앱 만들기</a:t>
            </a:r>
            <a:endParaRPr lang="en-US" sz="4500" dirty="0"/>
          </a:p>
        </p:txBody>
      </p:sp>
      <p:sp>
        <p:nvSpPr>
          <p:cNvPr id="10" name="Text 8"/>
          <p:cNvSpPr txBox="1"/>
          <p:nvPr/>
        </p:nvSpPr>
        <p:spPr>
          <a:xfrm>
            <a:off x="1047526" y="2567867"/>
            <a:ext cx="634776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75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프로토타입부터 AI 생성까지</a:t>
            </a:r>
            <a:endParaRPr lang="en-US" sz="3100" dirty="0"/>
          </a:p>
        </p:txBody>
      </p:sp>
      <p:sp>
        <p:nvSpPr>
          <p:cNvPr id="11" name="Text 9"/>
          <p:cNvSpPr txBox="1"/>
          <p:nvPr/>
        </p:nvSpPr>
        <p:spPr>
          <a:xfrm>
            <a:off x="1131151" y="3554793"/>
            <a:ext cx="54864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목표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420210" y="3872721"/>
            <a:ext cx="3004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코딩 없이 클릭 가능한 앱 프로토타입 제작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Auto Layout을 활용한 반응형 UI 설계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AI(Figma Make)로 실제 웹앱 생성 경험 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131151" y="5008460"/>
            <a:ext cx="3686844" cy="1119683"/>
          </a:xfrm>
          <a:prstGeom prst="roundRect">
            <a:avLst>
              <a:gd name="adj" fmla="val 6612"/>
            </a:avLst>
          </a:prstGeom>
          <a:solidFill>
            <a:srgbClr val="FFF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 l="-14103" r="-14103"/>
          <a:stretch/>
        </p:blipFill>
        <p:spPr>
          <a:xfrm>
            <a:off x="1221065" y="5418742"/>
            <a:ext cx="353264" cy="220436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578749" y="5450658"/>
            <a:ext cx="337779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준비물</a:t>
            </a:r>
            <a:r>
              <a:rPr lang="en-US" sz="11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: 노트북, Chrome 브라우저, Figma 계정</a:t>
            </a:r>
            <a:endParaRPr lang="en-US" sz="1100" b="1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rcRect l="-41575" r="-41575"/>
          <a:stretch/>
        </p:blipFill>
        <p:spPr>
          <a:xfrm>
            <a:off x="1115169" y="5699245"/>
            <a:ext cx="523876" cy="32689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558158" y="5769588"/>
            <a:ext cx="325983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대상</a:t>
            </a:r>
            <a:r>
              <a:rPr lang="en-US" sz="11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: 코딩을 몰라도 앱을 만들고 싶은 대학생</a:t>
            </a:r>
            <a:endParaRPr lang="en-US" sz="1100" b="1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rcRect l="11660" t="14368" r="12614" b="17055"/>
          <a:stretch>
            <a:fillRect/>
          </a:stretch>
        </p:blipFill>
        <p:spPr>
          <a:xfrm>
            <a:off x="6584594" y="1786969"/>
            <a:ext cx="4884142" cy="3148060"/>
          </a:xfrm>
          <a:prstGeom prst="rect">
            <a:avLst/>
          </a:prstGeom>
        </p:spPr>
      </p:pic>
      <p:grpSp>
        <p:nvGrpSpPr>
          <p:cNvPr id="23" name="그룹 22">
            <a:extLst>
              <a:ext uri="{FF2B5EF4-FFF2-40B4-BE49-F238E27FC236}">
                <a16:creationId xmlns:a16="http://schemas.microsoft.com/office/drawing/2014/main" id="{BF0CBEE6-146E-671A-3D95-2577E16110F7}"/>
              </a:ext>
            </a:extLst>
          </p:cNvPr>
          <p:cNvGrpSpPr/>
          <p:nvPr/>
        </p:nvGrpSpPr>
        <p:grpSpPr>
          <a:xfrm>
            <a:off x="8430925" y="5450658"/>
            <a:ext cx="2968317" cy="631851"/>
            <a:chOff x="609905" y="5558463"/>
            <a:chExt cx="2968317" cy="631851"/>
          </a:xfrm>
        </p:grpSpPr>
        <p:sp>
          <p:nvSpPr>
            <p:cNvPr id="24" name="Text 9">
              <a:extLst>
                <a:ext uri="{FF2B5EF4-FFF2-40B4-BE49-F238E27FC236}">
                  <a16:creationId xmlns:a16="http://schemas.microsoft.com/office/drawing/2014/main" id="{096C47F7-4D48-13DF-E704-27B9099205D6}"/>
                </a:ext>
              </a:extLst>
            </p:cNvPr>
            <p:cNvSpPr txBox="1"/>
            <p:nvPr/>
          </p:nvSpPr>
          <p:spPr>
            <a:xfrm>
              <a:off x="609905" y="5650992"/>
              <a:ext cx="400507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강사</a:t>
              </a:r>
              <a:endParaRPr lang="en-US" sz="1300" dirty="0"/>
            </a:p>
          </p:txBody>
        </p:sp>
        <p:sp>
          <p:nvSpPr>
            <p:cNvPr id="25" name="Shape 10">
              <a:extLst>
                <a:ext uri="{FF2B5EF4-FFF2-40B4-BE49-F238E27FC236}">
                  <a16:creationId xmlns:a16="http://schemas.microsoft.com/office/drawing/2014/main" id="{255FC1BC-EA83-9521-9BBC-407DFE1583A9}"/>
                </a:ext>
              </a:extLst>
            </p:cNvPr>
            <p:cNvSpPr/>
            <p:nvPr/>
          </p:nvSpPr>
          <p:spPr>
            <a:xfrm>
              <a:off x="1077163" y="5631790"/>
              <a:ext cx="9144" cy="304495"/>
            </a:xfrm>
            <a:prstGeom prst="rect">
              <a:avLst/>
            </a:prstGeom>
            <a:solidFill>
              <a:srgbClr val="D1D5DB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Text 11">
              <a:extLst>
                <a:ext uri="{FF2B5EF4-FFF2-40B4-BE49-F238E27FC236}">
                  <a16:creationId xmlns:a16="http://schemas.microsoft.com/office/drawing/2014/main" id="{ECBD858F-FF82-613E-BA1B-B846F1C76B9D}"/>
                </a:ext>
              </a:extLst>
            </p:cNvPr>
            <p:cNvSpPr txBox="1"/>
            <p:nvPr/>
          </p:nvSpPr>
          <p:spPr>
            <a:xfrm>
              <a:off x="609905" y="5558463"/>
              <a:ext cx="2968317" cy="6318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lnSpc>
                  <a:spcPct val="150000"/>
                </a:lnSpc>
                <a:buNone/>
              </a:pPr>
              <a:r>
                <a:rPr lang="ko-KR" altLang="en-US" sz="2000" b="1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이애본</a:t>
              </a:r>
              <a:r>
                <a:rPr lang="ko-KR" altLang="en-US" sz="13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/>
              </a:r>
              <a:br>
                <a:rPr lang="en-US" altLang="ko-KR" sz="13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</a:br>
              <a:r>
                <a:rPr lang="en-US" altLang="ko-KR" sz="13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(</a:t>
              </a:r>
              <a:r>
                <a:rPr lang="en-US" altLang="ko-KR" sz="13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  <a:hlinkClick r:id="rId7"/>
                </a:rPr>
                <a:t>aebon@dreamitbiz.com</a:t>
              </a:r>
              <a:r>
                <a:rPr lang="en-US" altLang="ko-KR" sz="13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)</a:t>
              </a:r>
            </a:p>
            <a:p>
              <a:pPr marL="0" indent="0" algn="r">
                <a:buNone/>
              </a:pPr>
              <a:r>
                <a:rPr lang="ko-KR" altLang="en-US" sz="14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드림아이티비즈(DreamIT Biz)</a:t>
              </a:r>
              <a:r>
                <a:rPr lang="en-US" altLang="ko-KR" sz="14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/>
              </a:r>
              <a:r>
                <a:rPr lang="ko-KR" altLang="en-US" sz="14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/>
              </a:r>
              <a:r>
                <a:rPr lang="ko-KR" altLang="en-US" sz="13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endParaRPr lang="en-US" sz="1300" dirty="0"/>
            </a:p>
          </p:txBody>
        </p:sp>
      </p:grpSp>
      <p:sp>
        <p:nvSpPr>
          <p:cNvPr id="2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2657246" y="724205"/>
            <a:ext cx="68772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kern="0" spc="75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TABLE OF CONTENTS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609905" y="1904695"/>
            <a:ext cx="10972800" cy="2095805"/>
          </a:xfrm>
          <a:prstGeom prst="roundRect">
            <a:avLst>
              <a:gd name="adj" fmla="val 59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90000"/>
          </a:blip>
          <a:srcRect t="21892" b="51081"/>
          <a:stretch/>
        </p:blipFill>
        <p:spPr>
          <a:xfrm>
            <a:off x="609905" y="1904695"/>
            <a:ext cx="10972800" cy="209580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96999" y="4334638"/>
            <a:ext cx="1266444" cy="1067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6600" dirty="0"/>
          </a:p>
        </p:txBody>
      </p:sp>
      <p:sp>
        <p:nvSpPr>
          <p:cNvPr id="8" name="Text 5"/>
          <p:cNvSpPr txBox="1"/>
          <p:nvPr/>
        </p:nvSpPr>
        <p:spPr>
          <a:xfrm>
            <a:off x="1589066" y="5382800"/>
            <a:ext cx="181325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FIGMA 기초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프레임 · 도형 · 텍스트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025899" y="4334638"/>
            <a:ext cx="1266444" cy="1067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6600" dirty="0"/>
          </a:p>
        </p:txBody>
      </p:sp>
      <p:sp>
        <p:nvSpPr>
          <p:cNvPr id="10" name="Text 7"/>
          <p:cNvSpPr txBox="1"/>
          <p:nvPr/>
        </p:nvSpPr>
        <p:spPr>
          <a:xfrm>
            <a:off x="4217966" y="5382800"/>
            <a:ext cx="1362456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AUTO LAYOUT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반응형 UI 설계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654799" y="4334638"/>
            <a:ext cx="1266444" cy="1067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6600" dirty="0"/>
          </a:p>
        </p:txBody>
      </p:sp>
      <p:sp>
        <p:nvSpPr>
          <p:cNvPr id="12" name="Text 9"/>
          <p:cNvSpPr txBox="1"/>
          <p:nvPr/>
        </p:nvSpPr>
        <p:spPr>
          <a:xfrm>
            <a:off x="6846866" y="5382800"/>
            <a:ext cx="116220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PROTOTYPE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인터랙션 구현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9283699" y="4334638"/>
            <a:ext cx="1266444" cy="1067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6600" dirty="0"/>
          </a:p>
        </p:txBody>
      </p:sp>
      <p:sp>
        <p:nvSpPr>
          <p:cNvPr id="14" name="Text 11"/>
          <p:cNvSpPr txBox="1"/>
          <p:nvPr/>
        </p:nvSpPr>
        <p:spPr>
          <a:xfrm>
            <a:off x="9475766" y="5382800"/>
            <a:ext cx="145755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FIGMA MAKE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노코드 앱 생성</a:t>
            </a:r>
            <a:endParaRPr lang="en-US" sz="1500" dirty="0"/>
          </a:p>
        </p:txBody>
      </p:sp>
      <p:sp>
        <p:nvSpPr>
          <p:cNvPr id="1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1632074" y="1860433"/>
            <a:ext cx="8844033" cy="1166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500" b="1" kern="0" spc="-150" dirty="0">
                <a:solidFill>
                  <a:srgbClr val="FF6908"/>
                </a:solidFill>
                <a:latin typeface="+mj-ea"/>
                <a:ea typeface="+mj-ea"/>
                <a:cs typeface="ADLaM Display" panose="020F0502020204030204" pitchFamily="2" charset="0"/>
              </a:rPr>
              <a:t>WHY  </a:t>
            </a:r>
            <a:r>
              <a:rPr lang="en-US" altLang="ko-KR" sz="7500" b="1" kern="0" spc="-150" dirty="0">
                <a:solidFill>
                  <a:srgbClr val="FF6908"/>
                </a:solidFill>
                <a:latin typeface="+mj-ea"/>
                <a:ea typeface="+mj-ea"/>
                <a:cs typeface="ADLaM Display" panose="020F0502020204030204" pitchFamily="2" charset="0"/>
              </a:rPr>
              <a:t>FIGMA NOW?</a:t>
            </a:r>
            <a:endParaRPr lang="en-US" altLang="ko-KR" sz="7500" dirty="0">
              <a:latin typeface="+mj-ea"/>
              <a:ea typeface="+mj-ea"/>
              <a:cs typeface="ADLaM Display" panose="020F0502020204030204" pitchFamily="2" charset="0"/>
            </a:endParaRPr>
          </a:p>
          <a:p>
            <a:pPr marL="0" indent="0" algn="l">
              <a:buNone/>
            </a:pPr>
            <a:endParaRPr lang="en-US" sz="7500" dirty="0">
              <a:latin typeface="+mj-ea"/>
              <a:ea typeface="+mj-ea"/>
              <a:cs typeface="ADLaM Display" panose="020F0502020204030204" pitchFamily="2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764351" y="1253337"/>
            <a:ext cx="38405" cy="381305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878651" y="1253337"/>
            <a:ext cx="1712149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웹 기반의 강력한 접근성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설치 없이 바로 시작하세요 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764351" y="812411"/>
            <a:ext cx="21086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75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LECTURE 01 : </a:t>
            </a:r>
            <a:r>
              <a:rPr lang="en-US" sz="2800" b="1" kern="0" spc="75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INTRO</a:t>
            </a:r>
            <a:endParaRPr lang="en-US" sz="13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rcRect t="13838" b="13838"/>
          <a:stretch/>
        </p:blipFill>
        <p:spPr>
          <a:xfrm>
            <a:off x="802756" y="3692674"/>
            <a:ext cx="5143500" cy="26289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136961" y="3655576"/>
            <a:ext cx="313090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0" b="1" kern="0" spc="-150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NO-CODE</a:t>
            </a:r>
            <a:endParaRPr lang="en-US" sz="5200" dirty="0"/>
          </a:p>
        </p:txBody>
      </p:sp>
      <p:sp>
        <p:nvSpPr>
          <p:cNvPr id="14" name="Text 10"/>
          <p:cNvSpPr txBox="1"/>
          <p:nvPr/>
        </p:nvSpPr>
        <p:spPr>
          <a:xfrm>
            <a:off x="8848365" y="4289255"/>
            <a:ext cx="24176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0" b="1" kern="0" spc="-150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POWER</a:t>
            </a:r>
            <a:endParaRPr lang="en-US" sz="5200" dirty="0"/>
          </a:p>
        </p:txBody>
      </p:sp>
      <p:sp>
        <p:nvSpPr>
          <p:cNvPr id="15" name="Text 11"/>
          <p:cNvSpPr txBox="1"/>
          <p:nvPr/>
        </p:nvSpPr>
        <p:spPr>
          <a:xfrm>
            <a:off x="7933508" y="5295422"/>
            <a:ext cx="3607483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빠른 검증:</a:t>
            </a:r>
            <a:r>
              <a:rPr lang="en-US" sz="14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코딩 없이 아이디어를 즉시 시각화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비용 절감:</a:t>
            </a:r>
            <a:r>
              <a:rPr lang="en-US" sz="14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개발 전 단계에서 시행착오 최소화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실시간 협업:</a:t>
            </a:r>
            <a:r>
              <a:rPr lang="en-US" sz="14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팀원과 함께 라이브 디자인 </a:t>
            </a:r>
            <a:endParaRPr lang="en-US" sz="1400" dirty="0"/>
          </a:p>
        </p:txBody>
      </p:sp>
      <p:sp>
        <p:nvSpPr>
          <p:cNvPr id="1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609905" y="428854"/>
            <a:ext cx="1133856" cy="130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0" b="1" dirty="0">
                <a:solidFill>
                  <a:srgbClr val="FF6908">
                    <a:alpha val="80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</a:t>
            </a:r>
            <a:endParaRPr lang="en-US" sz="7500" dirty="0"/>
          </a:p>
        </p:txBody>
      </p:sp>
      <p:sp>
        <p:nvSpPr>
          <p:cNvPr id="5" name="Text 3"/>
          <p:cNvSpPr txBox="1"/>
          <p:nvPr/>
        </p:nvSpPr>
        <p:spPr>
          <a:xfrm>
            <a:off x="1858975" y="856793"/>
            <a:ext cx="4107485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-37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FIGMA BASICS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9706356" y="847649"/>
            <a:ext cx="1876349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피그마 기초 다지기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074506" y="1200607"/>
            <a:ext cx="251094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프레임, 도형, 텍스트 및 필수 조작법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60197" y="1840687"/>
            <a:ext cx="5296205" cy="3629254"/>
          </a:xfrm>
          <a:prstGeom prst="roundRect">
            <a:avLst>
              <a:gd name="adj" fmla="val 1323"/>
            </a:avLst>
          </a:prstGeom>
          <a:solidFill>
            <a:srgbClr val="FFFFFF"/>
          </a:solidFill>
          <a:ln w="25400">
            <a:solidFill>
              <a:srgbClr val="FF6908"/>
            </a:solidFill>
            <a:prstDash val="solid"/>
          </a:ln>
          <a:effectLst>
            <a:outerShdw blurRad="1143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65606" y="2146097"/>
            <a:ext cx="485546" cy="476402"/>
          </a:xfrm>
          <a:prstGeom prst="roundRect">
            <a:avLst>
              <a:gd name="adj" fmla="val 95969"/>
            </a:avLst>
          </a:prstGeom>
          <a:solidFill>
            <a:srgbClr val="FFF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l="-3872" r="-3872"/>
          <a:stretch/>
        </p:blipFill>
        <p:spPr>
          <a:xfrm>
            <a:off x="1099109" y="2293315"/>
            <a:ext cx="219456" cy="181051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340303" y="2146097"/>
            <a:ext cx="800100" cy="276149"/>
          </a:xfrm>
          <a:prstGeom prst="roundRect">
            <a:avLst>
              <a:gd name="adj" fmla="val 91345"/>
            </a:avLst>
          </a:prstGeom>
          <a:solidFill>
            <a:srgbClr val="FFF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 b="1"/>
          </a:p>
        </p:txBody>
      </p:sp>
      <p:sp>
        <p:nvSpPr>
          <p:cNvPr id="12" name="Shape 9"/>
          <p:cNvSpPr/>
          <p:nvPr/>
        </p:nvSpPr>
        <p:spPr>
          <a:xfrm>
            <a:off x="4173322" y="2146097"/>
            <a:ext cx="724205" cy="276149"/>
          </a:xfrm>
          <a:prstGeom prst="roundRect">
            <a:avLst>
              <a:gd name="adj" fmla="val 91345"/>
            </a:avLst>
          </a:prstGeom>
          <a:solidFill>
            <a:srgbClr val="FFF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 b="1"/>
          </a:p>
        </p:txBody>
      </p:sp>
      <p:sp>
        <p:nvSpPr>
          <p:cNvPr id="13" name="Shape 10"/>
          <p:cNvSpPr/>
          <p:nvPr/>
        </p:nvSpPr>
        <p:spPr>
          <a:xfrm>
            <a:off x="4929530" y="2146097"/>
            <a:ext cx="685800" cy="276149"/>
          </a:xfrm>
          <a:prstGeom prst="roundRect">
            <a:avLst>
              <a:gd name="adj" fmla="val 91345"/>
            </a:avLst>
          </a:prstGeom>
          <a:solidFill>
            <a:srgbClr val="FFF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 b="1"/>
          </a:p>
        </p:txBody>
      </p:sp>
      <p:sp>
        <p:nvSpPr>
          <p:cNvPr id="14" name="Text 11"/>
          <p:cNvSpPr txBox="1"/>
          <p:nvPr/>
        </p:nvSpPr>
        <p:spPr>
          <a:xfrm>
            <a:off x="965606" y="3250692"/>
            <a:ext cx="47631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프레임(Frame):</a:t>
            </a: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모든 디자인의 </a:t>
            </a:r>
            <a:r>
              <a:rPr lang="en-US" sz="12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그릇입니다</a:t>
            </a: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b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'Phone' 프리셋을 사용하여 모바일 화면을 생성하세요.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965606" y="3941064"/>
            <a:ext cx="47631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도형 &amp; 텍스트:</a:t>
            </a: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직사각형(Rectangle)으로 버튼과 카드의 뼈대를 </a:t>
            </a:r>
            <a:r>
              <a:rPr lang="en-US" sz="12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잡고</a:t>
            </a: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</a:t>
            </a:r>
            <a:b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2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텍스트</a:t>
            </a: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(Text)로 정보를 입력합니다.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940003" y="4674412"/>
            <a:ext cx="47631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레이어 관리:</a:t>
            </a: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좌측 패널에서 레이어 이름을 정리(예: btn_primary)</a:t>
            </a:r>
            <a:r>
              <a:rPr lang="en-US" sz="12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하는</a:t>
            </a: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b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2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습관이</a:t>
            </a: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중요합니다.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3454603" y="2193646"/>
            <a:ext cx="68031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 : Frame</a:t>
            </a:r>
            <a:endParaRPr lang="en-US" sz="1050" b="1" dirty="0"/>
          </a:p>
        </p:txBody>
      </p:sp>
      <p:sp>
        <p:nvSpPr>
          <p:cNvPr id="19" name="Text 16"/>
          <p:cNvSpPr txBox="1"/>
          <p:nvPr/>
        </p:nvSpPr>
        <p:spPr>
          <a:xfrm>
            <a:off x="4287622" y="2193646"/>
            <a:ext cx="58978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 : Rect</a:t>
            </a:r>
            <a:endParaRPr lang="en-US" sz="1050" b="1" dirty="0"/>
          </a:p>
        </p:txBody>
      </p:sp>
      <p:sp>
        <p:nvSpPr>
          <p:cNvPr id="20" name="Text 17"/>
          <p:cNvSpPr txBox="1"/>
          <p:nvPr/>
        </p:nvSpPr>
        <p:spPr>
          <a:xfrm>
            <a:off x="5043830" y="2193646"/>
            <a:ext cx="54406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 : Text</a:t>
            </a:r>
            <a:endParaRPr lang="en-US" sz="1050" b="1" dirty="0"/>
          </a:p>
        </p:txBody>
      </p:sp>
      <p:sp>
        <p:nvSpPr>
          <p:cNvPr id="21" name="Text 18"/>
          <p:cNvSpPr txBox="1"/>
          <p:nvPr/>
        </p:nvSpPr>
        <p:spPr>
          <a:xfrm>
            <a:off x="965606" y="2793492"/>
            <a:ext cx="230154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Essential Tools</a:t>
            </a:r>
            <a:endParaRPr lang="en-US" sz="2100" dirty="0"/>
          </a:p>
        </p:txBody>
      </p:sp>
      <p:sp>
        <p:nvSpPr>
          <p:cNvPr id="22" name="Text 19"/>
          <p:cNvSpPr txBox="1"/>
          <p:nvPr/>
        </p:nvSpPr>
        <p:spPr>
          <a:xfrm>
            <a:off x="865981" y="5617115"/>
            <a:ext cx="2700000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75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Cmd/Ctrl + D</a:t>
            </a:r>
            <a:endParaRPr lang="en-US" sz="2700" dirty="0"/>
          </a:p>
        </p:txBody>
      </p:sp>
      <p:sp>
        <p:nvSpPr>
          <p:cNvPr id="23" name="Text 20"/>
          <p:cNvSpPr txBox="1"/>
          <p:nvPr/>
        </p:nvSpPr>
        <p:spPr>
          <a:xfrm>
            <a:off x="865981" y="6112719"/>
            <a:ext cx="126004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DUPLICATE (복제)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2844052" y="5630874"/>
            <a:ext cx="2700000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700" b="1" kern="0" spc="-75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Cmd/Ctrl + G</a:t>
            </a:r>
            <a:endParaRPr lang="en-US" sz="2700" dirty="0"/>
          </a:p>
        </p:txBody>
      </p:sp>
      <p:sp>
        <p:nvSpPr>
          <p:cNvPr id="25" name="Text 22"/>
          <p:cNvSpPr txBox="1"/>
          <p:nvPr/>
        </p:nvSpPr>
        <p:spPr>
          <a:xfrm>
            <a:off x="4477861" y="6126478"/>
            <a:ext cx="106344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GROUP (그룹화)</a:t>
            </a:r>
            <a:endParaRPr lang="en-US" sz="1000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rcRect l="7498" r="7498"/>
          <a:stretch/>
        </p:blipFill>
        <p:spPr>
          <a:xfrm>
            <a:off x="6289243" y="2028139"/>
            <a:ext cx="5296205" cy="3629254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8264347" y="5385816"/>
            <a:ext cx="1238098" cy="352044"/>
          </a:xfrm>
          <a:prstGeom prst="roundRect">
            <a:avLst>
              <a:gd name="adj" fmla="val 84240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4"/>
          <p:cNvSpPr txBox="1"/>
          <p:nvPr/>
        </p:nvSpPr>
        <p:spPr>
          <a:xfrm>
            <a:off x="8417052" y="5470855"/>
            <a:ext cx="10104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WIREFRAMING</a:t>
            </a:r>
            <a:endParaRPr lang="en-US" sz="1000" dirty="0"/>
          </a:p>
        </p:txBody>
      </p:sp>
      <p:sp>
        <p:nvSpPr>
          <p:cNvPr id="2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44739" y="748436"/>
            <a:ext cx="8401507" cy="1343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800" b="1" kern="0" spc="-112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AUTO LAYOUT  &amp;</a:t>
            </a:r>
            <a:endParaRPr lang="en-US" sz="4800" dirty="0"/>
          </a:p>
          <a:p>
            <a:pPr marL="0" indent="0" algn="l">
              <a:buNone/>
            </a:pPr>
            <a:r>
              <a:rPr lang="en-US" sz="4800" b="1" kern="0" spc="-112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                  RESPONSIVE UI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2583180"/>
            <a:ext cx="60963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DIRECTION &amp; GAP CONTROL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2933395"/>
            <a:ext cx="60579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가로(Horizontal) 또는 세로(Vertical) 방향을 설정하여 요소를 배치하고, </a:t>
            </a:r>
          </a:p>
          <a:p>
            <a:pPr marL="0" indent="0" algn="l">
              <a:lnSpc>
                <a:spcPts val="1900"/>
              </a:lnSpc>
              <a:buNone/>
            </a:pPr>
            <a:r>
              <a:rPr lang="en-US" sz="1200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아이템</a:t>
            </a: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간의 간격(Gap)을 픽셀 단위로 정밀하게 제어하여 일관된 디자인 리듬을 만듭니다.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9905" y="3708806"/>
            <a:ext cx="5982005" cy="9144"/>
          </a:xfrm>
          <a:prstGeom prst="rect">
            <a:avLst/>
          </a:prstGeom>
          <a:solidFill>
            <a:srgbClr val="FF6908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609905" y="3888029"/>
            <a:ext cx="60963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RESIZING: HUG, FILL, FIXED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09905" y="4238244"/>
            <a:ext cx="60579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콘텐츠 크기에 맞추는 'Hug', 부모 영역을 가득 채우는 'Fill', 크기를 </a:t>
            </a:r>
            <a:r>
              <a:rPr lang="en-US" sz="1200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고정하는</a:t>
            </a: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'</a:t>
            </a:r>
            <a:r>
              <a:rPr lang="en-US" sz="1200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Fixed’를</a:t>
            </a: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ts val="1900"/>
              </a:lnSpc>
              <a:buNone/>
            </a:pPr>
            <a:r>
              <a:rPr lang="en-US" sz="1200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조합하여</a:t>
            </a: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다양한 화면 크기에 유연하게 대응하는 반응형 컴포넌트를 설계합니다.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9905" y="5013655"/>
            <a:ext cx="5982005" cy="9144"/>
          </a:xfrm>
          <a:prstGeom prst="rect">
            <a:avLst/>
          </a:prstGeom>
          <a:solidFill>
            <a:srgbClr val="FF6908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609905" y="5192878"/>
            <a:ext cx="60963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ALIGNMENT &amp; PADDING (Shift + A)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09905" y="5543093"/>
            <a:ext cx="60579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여백(Padding)과 자식 요소의 정렬(Alignment)을 설정하여 버튼, 카드, 리스트 등 </a:t>
            </a:r>
          </a:p>
          <a:p>
            <a:pPr marL="0" indent="0" algn="l">
              <a:lnSpc>
                <a:spcPts val="1900"/>
              </a:lnSpc>
              <a:buNone/>
            </a:pPr>
            <a:r>
              <a:rPr lang="en-US" sz="1200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다양한</a:t>
            </a: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UI 패턴을 효율적으로 구축합니다. 단축키 'Shift + A'로 빠르게 적용하세요.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193585" y="2484425"/>
            <a:ext cx="4390949" cy="3619195"/>
          </a:xfrm>
          <a:prstGeom prst="roundRect">
            <a:avLst>
              <a:gd name="adj" fmla="val 199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143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rcRect l="16130" r="16130"/>
          <a:stretch/>
        </p:blipFill>
        <p:spPr>
          <a:xfrm>
            <a:off x="7193585" y="2484425"/>
            <a:ext cx="4390949" cy="3619195"/>
          </a:xfrm>
          <a:prstGeom prst="rect">
            <a:avLst/>
          </a:prstGeom>
        </p:spPr>
      </p:pic>
      <p:sp>
        <p:nvSpPr>
          <p:cNvPr id="15" name="Text 1">
            <a:extLst>
              <a:ext uri="{FF2B5EF4-FFF2-40B4-BE49-F238E27FC236}">
                <a16:creationId xmlns:a16="http://schemas.microsoft.com/office/drawing/2014/main" id="{3B27F947-DE28-77D9-ADEF-A5169DC6470C}"/>
              </a:ext>
            </a:extLst>
          </p:cNvPr>
          <p:cNvSpPr txBox="1"/>
          <p:nvPr/>
        </p:nvSpPr>
        <p:spPr>
          <a:xfrm>
            <a:off x="9533226" y="1389187"/>
            <a:ext cx="128656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kern="0" spc="-150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SECTION</a:t>
            </a:r>
            <a:endParaRPr lang="en-US" sz="2400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81FF38F8-A034-681D-3F22-0DA9B802660A}"/>
              </a:ext>
            </a:extLst>
          </p:cNvPr>
          <p:cNvSpPr txBox="1"/>
          <p:nvPr/>
        </p:nvSpPr>
        <p:spPr>
          <a:xfrm>
            <a:off x="10819787" y="945317"/>
            <a:ext cx="952805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0" b="1" kern="0" spc="-150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6000" dirty="0"/>
          </a:p>
        </p:txBody>
      </p:sp>
      <p:sp>
        <p:nvSpPr>
          <p:cNvPr id="1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9533226" y="1389187"/>
            <a:ext cx="128656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kern="0" spc="-150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SECTION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0819787" y="945317"/>
            <a:ext cx="952805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0" b="1" kern="0" spc="-150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544467" y="727343"/>
            <a:ext cx="433385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kern="0" spc="-150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INTERACTIVE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4467" y="1389187"/>
            <a:ext cx="41485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kern="0" spc="-150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PROTOTYPE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527522" y="2285277"/>
            <a:ext cx="5524805" cy="2667305"/>
          </a:xfrm>
          <a:prstGeom prst="roundRect">
            <a:avLst>
              <a:gd name="adj" fmla="val 2449"/>
            </a:avLst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90500" dist="1016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l="4986" r="4986"/>
          <a:stretch/>
        </p:blipFill>
        <p:spPr>
          <a:xfrm>
            <a:off x="527522" y="2285277"/>
            <a:ext cx="5524805" cy="266730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80927" y="2285277"/>
            <a:ext cx="5524805" cy="2667305"/>
          </a:xfrm>
          <a:prstGeom prst="roundRect">
            <a:avLst>
              <a:gd name="adj" fmla="val 2449"/>
            </a:avLst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90500" dist="1016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t="5090" b="5090"/>
          <a:stretch/>
        </p:blipFill>
        <p:spPr>
          <a:xfrm>
            <a:off x="6280927" y="2285276"/>
            <a:ext cx="5524805" cy="266730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9367027" y="5313962"/>
            <a:ext cx="2438705" cy="485546"/>
          </a:xfrm>
          <a:prstGeom prst="roundRect">
            <a:avLst>
              <a:gd name="adj" fmla="val 110779"/>
            </a:avLst>
          </a:prstGeom>
          <a:solidFill>
            <a:srgbClr val="FFFFFF"/>
          </a:solidFill>
          <a:ln w="25400">
            <a:solidFill>
              <a:srgbClr val="FF6908"/>
            </a:solidFill>
            <a:prstDash val="solid"/>
          </a:ln>
          <a:effectLst>
            <a:outerShdw blurRad="63500" dist="38100" dir="16200000" algn="bl" rotWithShape="0">
              <a:srgbClr val="FF6908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9"/>
          <p:cNvSpPr txBox="1"/>
          <p:nvPr/>
        </p:nvSpPr>
        <p:spPr>
          <a:xfrm>
            <a:off x="9690725" y="5428262"/>
            <a:ext cx="187909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CONNECT &amp; ANIMATE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560051" y="5285158"/>
            <a:ext cx="11212541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600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정적인</a:t>
            </a:r>
            <a:r>
              <a:rPr lang="en-US" sz="16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디자인에 생명을 불어넣으세요. 프레임 간의 </a:t>
            </a:r>
            <a:r>
              <a:rPr lang="en-US" sz="16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흐름(Flow)</a:t>
            </a:r>
            <a:r>
              <a:rPr lang="en-US" sz="16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연결하고,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600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클릭이나</a:t>
            </a:r>
            <a:r>
              <a:rPr lang="en-US" sz="16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드래그 같은 </a:t>
            </a:r>
            <a:r>
              <a:rPr lang="en-US" sz="16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트리거(Trigger)</a:t>
            </a:r>
            <a:r>
              <a:rPr lang="en-US" sz="16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설정하여 실제 앱처럼 작동하게 </a:t>
            </a:r>
            <a:r>
              <a:rPr lang="en-US" sz="1600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만듭니다</a:t>
            </a:r>
            <a:r>
              <a:rPr lang="en-US" sz="16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Smart Animate</a:t>
            </a:r>
            <a:r>
              <a:rPr lang="en-US" sz="16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기능을 활용하면 코딩 없이도 전문가 수준의 부드러운 전환 효과와 마이크로 인터랙션을 구현할 수 있습니다. </a:t>
            </a:r>
            <a:endParaRPr lang="en-US" sz="1600" dirty="0"/>
          </a:p>
        </p:txBody>
      </p:sp>
      <p:sp>
        <p:nvSpPr>
          <p:cNvPr id="1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9286995" y="654008"/>
            <a:ext cx="2190902" cy="533095"/>
          </a:xfrm>
          <a:prstGeom prst="roundRect">
            <a:avLst>
              <a:gd name="adj" fmla="val 153149"/>
            </a:avLst>
          </a:prstGeom>
          <a:noFill/>
          <a:ln w="38100">
            <a:solidFill>
              <a:srgbClr val="FF690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9620751" y="777452"/>
            <a:ext cx="191749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AI로 웹앱 생성하기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945729" y="2767194"/>
            <a:ext cx="571500" cy="38405"/>
          </a:xfrm>
          <a:prstGeom prst="roundRect">
            <a:avLst>
              <a:gd name="adj" fmla="val 1190470"/>
            </a:avLst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4945728" y="3034199"/>
            <a:ext cx="6592520" cy="130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</a:t>
            </a:r>
            <a:r>
              <a:rPr lang="en-US" sz="16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600" b="1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프로세스</a:t>
            </a:r>
            <a:r>
              <a:rPr lang="en-US" sz="16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:</a:t>
            </a:r>
            <a:r>
              <a:rPr lang="en-US" sz="16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채팅 인터페이스를 통해 원하는 앱의 기능을 </a:t>
            </a:r>
            <a:r>
              <a:rPr lang="en-US" sz="1600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설명하면</a:t>
            </a:r>
            <a:r>
              <a:rPr lang="en-US" sz="16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</a:t>
            </a:r>
            <a:r>
              <a:rPr lang="en-US" sz="16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자동으로 코드를 생성합니다.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 Make 파일을 만들고, 요구사항을 입력한 후 생성된 미리보기를 확인하세요.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945728" y="4612934"/>
            <a:ext cx="1111173" cy="38405"/>
          </a:xfrm>
          <a:prstGeom prst="roundRect">
            <a:avLst>
              <a:gd name="adj" fmla="val 1190470"/>
            </a:avLst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8" name="Text 6"/>
          <p:cNvSpPr txBox="1"/>
          <p:nvPr/>
        </p:nvSpPr>
        <p:spPr>
          <a:xfrm>
            <a:off x="4945728" y="4879939"/>
            <a:ext cx="6623000" cy="130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프롬프트</a:t>
            </a:r>
            <a:r>
              <a:rPr lang="en-US" sz="16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팁 :</a:t>
            </a:r>
            <a:r>
              <a:rPr lang="en-US" sz="16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막연한 요청보다는 구체적인 기능 목록을 제시하는 것이 좋습니다.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스타일</a:t>
            </a:r>
            <a:r>
              <a:rPr lang="en-US" sz="16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참조를 위해 기존 디자인을 첨부하고, '지정 및 편집' 도구로 세부 요소를 조정하여 완성도를 높이세요.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46281" y="690023"/>
            <a:ext cx="2456993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0" b="1" kern="0" spc="-150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FIGMA MAKE</a:t>
            </a:r>
            <a:endParaRPr lang="en-US" sz="6000" dirty="0"/>
          </a:p>
        </p:txBody>
      </p:sp>
      <p:sp>
        <p:nvSpPr>
          <p:cNvPr id="10" name="Text 8"/>
          <p:cNvSpPr txBox="1"/>
          <p:nvPr/>
        </p:nvSpPr>
        <p:spPr>
          <a:xfrm>
            <a:off x="760389" y="2403435"/>
            <a:ext cx="3774643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0" b="1" kern="0" spc="-150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PRACTICE</a:t>
            </a:r>
            <a:endParaRPr lang="en-US" sz="6000" dirty="0"/>
          </a:p>
        </p:txBody>
      </p:sp>
      <p:sp>
        <p:nvSpPr>
          <p:cNvPr id="11" name="S3 각주"/>
          <p:cNvSpPr txBox="1"/>
          <p:nvPr/>
        </p:nvSpPr>
        <p:spPr>
          <a:xfrm>
            <a:off x="500000" y="6560000"/>
            <a:ext cx="1120000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ko-KR" sz="900" dirty="0">
                <a:solidFill>
                  <a:srgbClr val="6B7280"/>
                </a:solidFill>
                <a:latin typeface="Noto Sans KR"/>
                <a:ea typeface="Noto Sans KR"/>
                <a:cs typeface="Noto Sans KR"/>
              </a:rPr>
              <a:t>Figma AI 기능은 플랜별 월 AI 크레딧 안에서 쓴다(무료 Starter 월 500·하루 150). Make 사용 범위·요금은 figma.com/pricing 참조 — Figma 도움말 「How Figma AI credits work」(2026-10 확인)</a:t>
            </a:r>
          </a:p>
        </p:txBody>
      </p:sp>
      <p:sp>
        <p:nvSpPr>
          <p:cNvPr id="12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953632" y="787036"/>
            <a:ext cx="3784702" cy="1038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0" b="1" kern="0" spc="-150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PRACTICE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940526" y="1496610"/>
            <a:ext cx="3438144" cy="1038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0" b="1" kern="0" spc="-150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PROJECT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953632" y="2915759"/>
            <a:ext cx="45912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37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간단 투표 앱 만들기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40526" y="3381536"/>
            <a:ext cx="44769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kern="0" spc="-37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5단계로 완성하는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kern="0" spc="-37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모바일 인터랙션 실습 가이드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0526" y="3926257"/>
            <a:ext cx="571500" cy="57607"/>
          </a:xfrm>
          <a:prstGeom prst="roundRect">
            <a:avLst>
              <a:gd name="adj" fmla="val 793654"/>
            </a:avLst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t="8320" b="8320"/>
          <a:stretch/>
        </p:blipFill>
        <p:spPr>
          <a:xfrm>
            <a:off x="5239490" y="1341816"/>
            <a:ext cx="2286000" cy="1429207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799353" y="1423676"/>
            <a:ext cx="1200607" cy="352044"/>
          </a:xfrm>
          <a:prstGeom prst="roundRect">
            <a:avLst>
              <a:gd name="adj" fmla="val 210600"/>
            </a:avLst>
          </a:prstGeom>
          <a:solidFill>
            <a:srgbClr val="FFFFFF"/>
          </a:solidFill>
          <a:ln w="25400">
            <a:solidFill>
              <a:srgbClr val="FF6908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" name="Text 9"/>
          <p:cNvSpPr txBox="1"/>
          <p:nvPr/>
        </p:nvSpPr>
        <p:spPr>
          <a:xfrm>
            <a:off x="8008750" y="1509630"/>
            <a:ext cx="92994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STEP 01 - 02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799353" y="1896072"/>
            <a:ext cx="31528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프레임 생성 및 레이아웃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799353" y="2191423"/>
            <a:ext cx="386577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1. iPhone 프레임 생성 (이름: Vote_Screen)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2. Auto Layout 적용 (Gap: 20px, Padding: 16px) </a:t>
            </a:r>
            <a:endParaRPr lang="en-US" sz="12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 t="3063" b="3063"/>
          <a:stretch/>
        </p:blipFill>
        <p:spPr>
          <a:xfrm>
            <a:off x="5208857" y="3090170"/>
            <a:ext cx="2286000" cy="1429207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7799353" y="3157378"/>
            <a:ext cx="942746" cy="352044"/>
          </a:xfrm>
          <a:prstGeom prst="roundRect">
            <a:avLst>
              <a:gd name="adj" fmla="val 210600"/>
            </a:avLst>
          </a:prstGeom>
          <a:solidFill>
            <a:srgbClr val="FFFFFF"/>
          </a:solidFill>
          <a:ln w="25400">
            <a:solidFill>
              <a:srgbClr val="FF6908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8" name="Text 14"/>
          <p:cNvSpPr txBox="1"/>
          <p:nvPr/>
        </p:nvSpPr>
        <p:spPr>
          <a:xfrm>
            <a:off x="8008750" y="3243332"/>
            <a:ext cx="6007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STEP 03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7799353" y="3629774"/>
            <a:ext cx="26673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옵션 카드 디자인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7799353" y="3925125"/>
            <a:ext cx="324804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3. '이거 vs 저거' 선택지 카드 2개 배치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(이미지 박스 + 라벨 텍스트 + 버튼 컴포넌트) </a:t>
            </a:r>
            <a:endParaRPr lang="en-US" sz="12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rcRect t="3063" b="3063"/>
          <a:stretch/>
        </p:blipFill>
        <p:spPr>
          <a:xfrm>
            <a:off x="5208857" y="4838524"/>
            <a:ext cx="2286000" cy="1429207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7799353" y="4891081"/>
            <a:ext cx="1228954" cy="352044"/>
          </a:xfrm>
          <a:prstGeom prst="roundRect">
            <a:avLst>
              <a:gd name="adj" fmla="val 210600"/>
            </a:avLst>
          </a:prstGeom>
          <a:solidFill>
            <a:srgbClr val="FFFFFF"/>
          </a:solidFill>
          <a:ln w="25400">
            <a:solidFill>
              <a:srgbClr val="FF6908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4" name="Text 19"/>
          <p:cNvSpPr txBox="1"/>
          <p:nvPr/>
        </p:nvSpPr>
        <p:spPr>
          <a:xfrm>
            <a:off x="8008750" y="4977034"/>
            <a:ext cx="96377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STEP 04 - 05</a:t>
            </a:r>
            <a:endParaRPr lang="en-US" sz="1100" dirty="0"/>
          </a:p>
        </p:txBody>
      </p:sp>
      <p:sp>
        <p:nvSpPr>
          <p:cNvPr id="25" name="Text 20"/>
          <p:cNvSpPr txBox="1"/>
          <p:nvPr/>
        </p:nvSpPr>
        <p:spPr>
          <a:xfrm>
            <a:off x="7799353" y="5363476"/>
            <a:ext cx="31912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프로토타입 연결 &amp; 공유</a:t>
            </a:r>
            <a:endParaRPr lang="en-US" sz="1600" dirty="0"/>
          </a:p>
        </p:txBody>
      </p:sp>
      <p:sp>
        <p:nvSpPr>
          <p:cNvPr id="26" name="Text 21"/>
          <p:cNvSpPr txBox="1"/>
          <p:nvPr/>
        </p:nvSpPr>
        <p:spPr>
          <a:xfrm>
            <a:off x="7799352" y="5658828"/>
            <a:ext cx="3914639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4. 카드 탭(Tap) → 결과 화면 이동 (Smart Animate)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5. 프레젠테이션(Preview) 링크 생성 및 공유 </a:t>
            </a:r>
            <a:endParaRPr lang="en-US" sz="1200" dirty="0"/>
          </a:p>
        </p:txBody>
      </p:sp>
      <p:sp>
        <p:nvSpPr>
          <p:cNvPr id="2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609905" y="428854"/>
            <a:ext cx="1267358" cy="130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0" b="1" dirty="0">
                <a:solidFill>
                  <a:srgbClr val="FF6908">
                    <a:alpha val="80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05</a:t>
            </a:r>
            <a:endParaRPr lang="en-US" sz="7500" dirty="0"/>
          </a:p>
        </p:txBody>
      </p:sp>
      <p:sp>
        <p:nvSpPr>
          <p:cNvPr id="5" name="Text 3"/>
          <p:cNvSpPr txBox="1"/>
          <p:nvPr/>
        </p:nvSpPr>
        <p:spPr>
          <a:xfrm>
            <a:off x="1794053" y="699059"/>
            <a:ext cx="6714439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-37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RESOURCES NEXT STEPS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8586651" y="847649"/>
            <a:ext cx="299696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b="1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지속적인 성장을 위한 학습</a:t>
            </a: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9214355" y="1200607"/>
            <a:ext cx="23765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공식 문서, 커뮤니티 및 로드맵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54380" y="1824228"/>
            <a:ext cx="5296205" cy="3619195"/>
          </a:xfrm>
          <a:prstGeom prst="roundRect">
            <a:avLst>
              <a:gd name="adj" fmla="val 1330"/>
            </a:avLst>
          </a:prstGeom>
          <a:solidFill>
            <a:srgbClr val="FFFFFF"/>
          </a:solidFill>
          <a:ln w="25400">
            <a:solidFill>
              <a:srgbClr val="FF6908"/>
            </a:solidFill>
            <a:prstDash val="solid"/>
          </a:ln>
          <a:effectLst>
            <a:outerShdw blurRad="1143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058875" y="2128723"/>
            <a:ext cx="476402" cy="485546"/>
          </a:xfrm>
          <a:prstGeom prst="roundRect">
            <a:avLst>
              <a:gd name="adj" fmla="val 95969"/>
            </a:avLst>
          </a:prstGeom>
          <a:solidFill>
            <a:srgbClr val="FFF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t="-2000" b="-2000"/>
          <a:stretch/>
        </p:blipFill>
        <p:spPr>
          <a:xfrm>
            <a:off x="1182319" y="2276856"/>
            <a:ext cx="228600" cy="190195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308299" y="2128723"/>
            <a:ext cx="562356" cy="276149"/>
          </a:xfrm>
          <a:prstGeom prst="roundRect">
            <a:avLst>
              <a:gd name="adj" fmla="val 91345"/>
            </a:avLst>
          </a:prstGeom>
          <a:solidFill>
            <a:srgbClr val="FFF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1200"/>
          </a:p>
        </p:txBody>
      </p:sp>
      <p:sp>
        <p:nvSpPr>
          <p:cNvPr id="12" name="Shape 9"/>
          <p:cNvSpPr/>
          <p:nvPr/>
        </p:nvSpPr>
        <p:spPr>
          <a:xfrm>
            <a:off x="3899916" y="2128723"/>
            <a:ext cx="790956" cy="276149"/>
          </a:xfrm>
          <a:prstGeom prst="roundRect">
            <a:avLst>
              <a:gd name="adj" fmla="val 91345"/>
            </a:avLst>
          </a:prstGeom>
          <a:solidFill>
            <a:srgbClr val="FFF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1200"/>
          </a:p>
        </p:txBody>
      </p:sp>
      <p:sp>
        <p:nvSpPr>
          <p:cNvPr id="13" name="Shape 10"/>
          <p:cNvSpPr/>
          <p:nvPr/>
        </p:nvSpPr>
        <p:spPr>
          <a:xfrm>
            <a:off x="4722876" y="2128723"/>
            <a:ext cx="990295" cy="276149"/>
          </a:xfrm>
          <a:prstGeom prst="roundRect">
            <a:avLst>
              <a:gd name="adj" fmla="val 91345"/>
            </a:avLst>
          </a:prstGeom>
          <a:solidFill>
            <a:srgbClr val="FFF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1200"/>
          </a:p>
        </p:txBody>
      </p:sp>
      <p:sp>
        <p:nvSpPr>
          <p:cNvPr id="14" name="Text 11"/>
          <p:cNvSpPr txBox="1"/>
          <p:nvPr/>
        </p:nvSpPr>
        <p:spPr>
          <a:xfrm>
            <a:off x="1058875" y="3233318"/>
            <a:ext cx="47631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200" b="1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공식</a:t>
            </a: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리소스</a:t>
            </a: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:</a:t>
            </a: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Figma Learn과 공식 YouTube 채널은 최신 기능과 베스트 프랙티스를 배우는 가장 정확한 경로입니다.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058875" y="3951122"/>
            <a:ext cx="47631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200" b="1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커뮤니티</a:t>
            </a: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활용</a:t>
            </a: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:</a:t>
            </a: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'Figma Community'에서 전 세계 디자이너들의 UI 키트와 플러그인을 탐색하여 작업 효율을 높이세요.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1058875" y="4709399"/>
            <a:ext cx="47631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200" b="1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</a:t>
            </a: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</a:t>
            </a: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:</a:t>
            </a: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컴포넌트 심화(Variants) → 디자인 시스템 구축 → 개발 핸드오프 과정으로 확장을 추천합니다.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3422599" y="2176272"/>
            <a:ext cx="40965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Docs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4014216" y="2176272"/>
            <a:ext cx="63825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YouTube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4837176" y="2176272"/>
            <a:ext cx="8385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Community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058875" y="2776118"/>
            <a:ext cx="324246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Continuous Learning</a:t>
            </a:r>
            <a:endParaRPr lang="en-US" sz="2100" dirty="0"/>
          </a:p>
        </p:txBody>
      </p:sp>
      <p:sp>
        <p:nvSpPr>
          <p:cNvPr id="22" name="Text 19"/>
          <p:cNvSpPr txBox="1"/>
          <p:nvPr/>
        </p:nvSpPr>
        <p:spPr>
          <a:xfrm>
            <a:off x="982980" y="5641847"/>
            <a:ext cx="1995221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75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Figma Learn</a:t>
            </a:r>
            <a:endParaRPr lang="en-US" sz="2400" dirty="0"/>
          </a:p>
        </p:txBody>
      </p:sp>
      <p:sp>
        <p:nvSpPr>
          <p:cNvPr id="23" name="Text 20"/>
          <p:cNvSpPr txBox="1"/>
          <p:nvPr/>
        </p:nvSpPr>
        <p:spPr>
          <a:xfrm>
            <a:off x="982980" y="6080759"/>
            <a:ext cx="11622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OFFICIAL GUIDE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3952951" y="5641847"/>
            <a:ext cx="1724558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kern="0" spc="-75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Community</a:t>
            </a:r>
            <a:endParaRPr lang="en-US" sz="2400" dirty="0"/>
          </a:p>
        </p:txBody>
      </p:sp>
      <p:sp>
        <p:nvSpPr>
          <p:cNvPr id="25" name="Text 22"/>
          <p:cNvSpPr txBox="1"/>
          <p:nvPr/>
        </p:nvSpPr>
        <p:spPr>
          <a:xfrm>
            <a:off x="3931920" y="6080759"/>
            <a:ext cx="17437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FREE ASSETS &amp; PLUGINS</a:t>
            </a:r>
            <a:endParaRPr lang="en-US" sz="1000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rcRect t="15832" b="15832"/>
          <a:stretch/>
        </p:blipFill>
        <p:spPr>
          <a:xfrm>
            <a:off x="6287414" y="1824227"/>
            <a:ext cx="5296205" cy="3619195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6621170" y="4900270"/>
            <a:ext cx="1657807" cy="352044"/>
          </a:xfrm>
          <a:prstGeom prst="roundRect">
            <a:avLst>
              <a:gd name="adj" fmla="val 84240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4"/>
          <p:cNvSpPr txBox="1"/>
          <p:nvPr/>
        </p:nvSpPr>
        <p:spPr>
          <a:xfrm>
            <a:off x="6773875" y="4986223"/>
            <a:ext cx="14292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WORKSHOP &amp; STUDY</a:t>
            </a:r>
            <a:endParaRPr lang="en-US" sz="1000" dirty="0"/>
          </a:p>
        </p:txBody>
      </p:sp>
      <p:sp>
        <p:nvSpPr>
          <p:cNvPr id="2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24797" t="6682" r="-223" b="760"/>
          <a:stretch>
            <a:fillRect/>
          </a:stretch>
        </p:blipFill>
        <p:spPr>
          <a:xfrm>
            <a:off x="667745" y="738750"/>
            <a:ext cx="6687155" cy="5467198"/>
          </a:xfrm>
          <a:prstGeom prst="rect">
            <a:avLst/>
          </a:prstGeom>
        </p:spPr>
      </p:pic>
      <p:sp>
        <p:nvSpPr>
          <p:cNvPr id="25" name="Shape 40">
            <a:extLst>
              <a:ext uri="{FF2B5EF4-FFF2-40B4-BE49-F238E27FC236}">
                <a16:creationId xmlns:a16="http://schemas.microsoft.com/office/drawing/2014/main" id="{2B982353-B17E-194D-34EE-FA9F603ED7F4}"/>
              </a:ext>
            </a:extLst>
          </p:cNvPr>
          <p:cNvSpPr/>
          <p:nvPr/>
        </p:nvSpPr>
        <p:spPr>
          <a:xfrm>
            <a:off x="7337980" y="738750"/>
            <a:ext cx="4238244" cy="5467198"/>
          </a:xfrm>
          <a:prstGeom prst="roundRect">
            <a:avLst>
              <a:gd name="adj" fmla="val 1164"/>
            </a:avLst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41">
            <a:extLst>
              <a:ext uri="{FF2B5EF4-FFF2-40B4-BE49-F238E27FC236}">
                <a16:creationId xmlns:a16="http://schemas.microsoft.com/office/drawing/2014/main" id="{5DE40F31-D92C-2963-3DAA-F23215B558F1}"/>
              </a:ext>
            </a:extLst>
          </p:cNvPr>
          <p:cNvSpPr/>
          <p:nvPr/>
        </p:nvSpPr>
        <p:spPr>
          <a:xfrm>
            <a:off x="10245311" y="293566"/>
            <a:ext cx="1714500" cy="1714500"/>
          </a:xfrm>
          <a:prstGeom prst="ellipse">
            <a:avLst/>
          </a:prstGeom>
          <a:solidFill>
            <a:srgbClr val="FF6908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42">
            <a:extLst>
              <a:ext uri="{FF2B5EF4-FFF2-40B4-BE49-F238E27FC236}">
                <a16:creationId xmlns:a16="http://schemas.microsoft.com/office/drawing/2014/main" id="{39D3F8B2-FAD5-49F0-F307-B0F99191D138}"/>
              </a:ext>
            </a:extLst>
          </p:cNvPr>
          <p:cNvSpPr/>
          <p:nvPr/>
        </p:nvSpPr>
        <p:spPr>
          <a:xfrm>
            <a:off x="7643390" y="4482303"/>
            <a:ext cx="3629254" cy="990295"/>
          </a:xfrm>
          <a:prstGeom prst="roundRect">
            <a:avLst>
              <a:gd name="adj" fmla="val 1420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45">
            <a:extLst>
              <a:ext uri="{FF2B5EF4-FFF2-40B4-BE49-F238E27FC236}">
                <a16:creationId xmlns:a16="http://schemas.microsoft.com/office/drawing/2014/main" id="{BCC893D9-53CB-7D6A-9A89-DFFD07B2751E}"/>
              </a:ext>
            </a:extLst>
          </p:cNvPr>
          <p:cNvSpPr txBox="1"/>
          <p:nvPr/>
        </p:nvSpPr>
        <p:spPr>
          <a:xfrm>
            <a:off x="9086313" y="5634447"/>
            <a:ext cx="218998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75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THANK YOU FOR LISTENING</a:t>
            </a:r>
            <a:endParaRPr lang="en-US" sz="1000" dirty="0"/>
          </a:p>
        </p:txBody>
      </p:sp>
      <p:sp>
        <p:nvSpPr>
          <p:cNvPr id="29" name="Shape 46">
            <a:extLst>
              <a:ext uri="{FF2B5EF4-FFF2-40B4-BE49-F238E27FC236}">
                <a16:creationId xmlns:a16="http://schemas.microsoft.com/office/drawing/2014/main" id="{39323C5F-E919-A1DF-64A0-92879B030B73}"/>
              </a:ext>
            </a:extLst>
          </p:cNvPr>
          <p:cNvSpPr/>
          <p:nvPr/>
        </p:nvSpPr>
        <p:spPr>
          <a:xfrm>
            <a:off x="7643390" y="1120055"/>
            <a:ext cx="761695" cy="761695"/>
          </a:xfrm>
          <a:prstGeom prst="roundRect">
            <a:avLst>
              <a:gd name="adj" fmla="val 3001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12" descr="preencoded.png">
            <a:extLst>
              <a:ext uri="{FF2B5EF4-FFF2-40B4-BE49-F238E27FC236}">
                <a16:creationId xmlns:a16="http://schemas.microsoft.com/office/drawing/2014/main" id="{6F2B5E03-FC3E-C82A-0E31-0E4D900E765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738487" y="1272759"/>
            <a:ext cx="571500" cy="457200"/>
          </a:xfrm>
          <a:prstGeom prst="rect">
            <a:avLst/>
          </a:prstGeom>
        </p:spPr>
      </p:pic>
      <p:grpSp>
        <p:nvGrpSpPr>
          <p:cNvPr id="36" name="그룹 35">
            <a:extLst>
              <a:ext uri="{FF2B5EF4-FFF2-40B4-BE49-F238E27FC236}">
                <a16:creationId xmlns:a16="http://schemas.microsoft.com/office/drawing/2014/main" id="{089284E9-0C9B-7C86-F72C-80991D327BDE}"/>
              </a:ext>
            </a:extLst>
          </p:cNvPr>
          <p:cNvGrpSpPr/>
          <p:nvPr/>
        </p:nvGrpSpPr>
        <p:grpSpPr>
          <a:xfrm>
            <a:off x="7989511" y="4643704"/>
            <a:ext cx="2968317" cy="631851"/>
            <a:chOff x="609905" y="5558463"/>
            <a:chExt cx="2968317" cy="631851"/>
          </a:xfrm>
        </p:grpSpPr>
        <p:sp>
          <p:nvSpPr>
            <p:cNvPr id="37" name="Text 9">
              <a:extLst>
                <a:ext uri="{FF2B5EF4-FFF2-40B4-BE49-F238E27FC236}">
                  <a16:creationId xmlns:a16="http://schemas.microsoft.com/office/drawing/2014/main" id="{EB5CDB5A-94FE-760B-3E9B-A92A6103677A}"/>
                </a:ext>
              </a:extLst>
            </p:cNvPr>
            <p:cNvSpPr txBox="1"/>
            <p:nvPr/>
          </p:nvSpPr>
          <p:spPr>
            <a:xfrm>
              <a:off x="609905" y="5650992"/>
              <a:ext cx="400507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chemeClr val="bg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강사</a:t>
              </a:r>
              <a:endParaRPr lang="en-US" sz="1300" dirty="0">
                <a:solidFill>
                  <a:schemeClr val="bg1"/>
                </a:solidFill>
              </a:endParaRPr>
            </a:p>
          </p:txBody>
        </p:sp>
        <p:sp>
          <p:nvSpPr>
            <p:cNvPr id="38" name="Shape 10">
              <a:extLst>
                <a:ext uri="{FF2B5EF4-FFF2-40B4-BE49-F238E27FC236}">
                  <a16:creationId xmlns:a16="http://schemas.microsoft.com/office/drawing/2014/main" id="{A3292967-44B6-F3B5-B133-9BD6AD61ECA1}"/>
                </a:ext>
              </a:extLst>
            </p:cNvPr>
            <p:cNvSpPr/>
            <p:nvPr/>
          </p:nvSpPr>
          <p:spPr>
            <a:xfrm>
              <a:off x="1077163" y="5631790"/>
              <a:ext cx="9144" cy="304495"/>
            </a:xfrm>
            <a:prstGeom prst="rect">
              <a:avLst/>
            </a:prstGeom>
            <a:solidFill>
              <a:srgbClr val="D1D5DB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39" name="Text 11">
              <a:extLst>
                <a:ext uri="{FF2B5EF4-FFF2-40B4-BE49-F238E27FC236}">
                  <a16:creationId xmlns:a16="http://schemas.microsoft.com/office/drawing/2014/main" id="{B7B7A22B-EEF7-B1D2-8387-C775700824C7}"/>
                </a:ext>
              </a:extLst>
            </p:cNvPr>
            <p:cNvSpPr txBox="1"/>
            <p:nvPr/>
          </p:nvSpPr>
          <p:spPr>
            <a:xfrm>
              <a:off x="609905" y="5558463"/>
              <a:ext cx="2968317" cy="6318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lnSpc>
                  <a:spcPct val="150000"/>
                </a:lnSpc>
                <a:buNone/>
              </a:pPr>
              <a:r>
                <a:rPr lang="ko-KR" altLang="en-US" sz="2000" b="1" dirty="0">
                  <a:solidFill>
                    <a:schemeClr val="bg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이애본</a:t>
              </a:r>
              <a:r>
                <a:rPr lang="ko-KR" altLang="en-US" sz="1300" dirty="0">
                  <a:solidFill>
                    <a:schemeClr val="bg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/>
              </a:r>
              <a:br>
                <a:rPr lang="en-US" altLang="ko-KR" sz="1300" dirty="0">
                  <a:solidFill>
                    <a:schemeClr val="bg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</a:br>
              <a:r>
                <a:rPr lang="en-US" altLang="ko-KR" sz="1300" dirty="0">
                  <a:solidFill>
                    <a:schemeClr val="bg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(aebon@dreamitbiz.com)</a:t>
              </a:r>
            </a:p>
            <a:p>
              <a:pPr marL="0" indent="0" algn="r">
                <a:buNone/>
              </a:pPr>
              <a:r>
                <a:rPr lang="ko-KR" altLang="en-US" sz="1400" dirty="0">
                  <a:solidFill>
                    <a:schemeClr val="bg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드림아이티비즈(DreamIT Biz)</a:t>
              </a:r>
              <a:r>
                <a:rPr lang="en-US" altLang="ko-KR" sz="1400" dirty="0">
                  <a:solidFill>
                    <a:schemeClr val="bg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/>
              </a:r>
              <a:r>
                <a:rPr lang="ko-KR" altLang="en-US" sz="1400" dirty="0">
                  <a:solidFill>
                    <a:schemeClr val="bg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/>
              </a:r>
              <a:r>
                <a:rPr lang="ko-KR" altLang="en-US" sz="1300" dirty="0">
                  <a:solidFill>
                    <a:schemeClr val="bg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endParaRPr lang="en-US" sz="1300" dirty="0">
                <a:solidFill>
                  <a:schemeClr val="bg1"/>
                </a:solidFill>
              </a:endParaRPr>
            </a:p>
          </p:txBody>
        </p:sp>
      </p:grpSp>
      <p:sp>
        <p:nvSpPr>
          <p:cNvPr id="40" name="S3 이어서 보기"/>
          <p:cNvSpPr txBox="1"/>
          <p:nvPr/>
        </p:nvSpPr>
        <p:spPr>
          <a:xfrm>
            <a:off x="7650000" y="2000000"/>
            <a:ext cx="3900000" cy="7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ko-KR" sz="1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이어서 보기</a:t>
            </a:r>
          </a:p>
          <a:p>
            <a:r>
              <a:rPr lang="ko-KR" sz="140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A07 바이브코딩 포트폴리오 배포</a:t>
            </a:r>
          </a:p>
        </p:txBody>
      </p:sp>
      <p:sp>
        <p:nvSpPr>
          <p:cNvPr id="4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wrap: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kgen:wrap:side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gen:wrap:rule"/>
          <p:cNvSpPr/>
          <p:nvPr/>
        </p:nvSpPr>
        <p:spPr>
          <a:xfrm>
            <a:off x="853440" y="2057400"/>
            <a:ext cx="975360" cy="381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kgen:wrap:eyebrow"/>
          <p:cNvSpPr txBox="1"/>
          <p:nvPr/>
        </p:nvSpPr>
        <p:spPr>
          <a:xfrm>
            <a:off x="853440" y="116586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72CE"/>
                </a:solidFill>
                <a:latin typeface="Pretendard"/>
              </a:rPr>
              <a:t>HOW TO USE</a:t>
            </a:r>
          </a:p>
        </p:txBody>
      </p:sp>
      <p:sp>
        <p:nvSpPr>
          <p:cNvPr id="6" name="deckgen:wrap:title"/>
          <p:cNvSpPr txBox="1"/>
          <p:nvPr/>
        </p:nvSpPr>
        <p:spPr>
          <a:xfrm>
            <a:off x="853440" y="1440180"/>
            <a:ext cx="10485120" cy="617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A5E"/>
                </a:solidFill>
                <a:latin typeface="Pretendard"/>
              </a:rPr>
              <a:t>이 자료 사용 방법</a:t>
            </a:r>
          </a:p>
        </p:txBody>
      </p:sp>
      <p:sp>
        <p:nvSpPr>
          <p:cNvPr id="7" name="deckgen:wrap:body"/>
          <p:cNvSpPr txBox="1"/>
          <p:nvPr/>
        </p:nvSpPr>
        <p:spPr>
          <a:xfrm>
            <a:off x="853440" y="2400300"/>
            <a:ext cx="1048512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retendard"/>
              </a:rPr>
              <a:t>1.  수업·강의·자습에 그대로 쓰셔도 됩니다. 출처만 남겨 주세요.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2.  PDF 는 화면으로 읽는 용도, PPTX 는 발표용입니다. PPTX 는 Pretendard 글꼴이 설치된 컴퓨터에서 가장 똑같이 보입니다.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3.  출처 표기 예: 이애본(드림아이티비즈), 「자료 제목」, 홍문원, useful-ai.dreamitbiz.com, CC BY-NC-ND 4.0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4.  자료 안의 프롬프트는 복사해 바로 쓸 수 있습니다. [대괄호]만 내 상황으로 바꾸세요.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5.  모든 자료와 영상 강의는 useful-ai.dreamitbiz.com 에서 다시 받을 수 있습니다.</a:t>
            </a:r>
          </a:p>
        </p:txBody>
      </p:sp>
      <p:sp>
        <p:nvSpPr>
          <p:cNvPr id="8" name="deckgen:wrap:footer"/>
          <p:cNvSpPr txBox="1"/>
          <p:nvPr/>
        </p:nvSpPr>
        <p:spPr>
          <a:xfrm>
            <a:off x="853440" y="624078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88888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wrap: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kgen:wrap:side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gen:wrap:rule"/>
          <p:cNvSpPr/>
          <p:nvPr/>
        </p:nvSpPr>
        <p:spPr>
          <a:xfrm>
            <a:off x="853440" y="2057400"/>
            <a:ext cx="975360" cy="381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kgen:wrap:eyebrow"/>
          <p:cNvSpPr txBox="1"/>
          <p:nvPr/>
        </p:nvSpPr>
        <p:spPr>
          <a:xfrm>
            <a:off x="853440" y="116586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72CE"/>
                </a:solidFill>
                <a:latin typeface="Pretendard"/>
              </a:rPr>
              <a:t>COPYRIGHT · LICENSE</a:t>
            </a:r>
          </a:p>
        </p:txBody>
      </p:sp>
      <p:sp>
        <p:nvSpPr>
          <p:cNvPr id="6" name="deckgen:wrap:title"/>
          <p:cNvSpPr txBox="1"/>
          <p:nvPr/>
        </p:nvSpPr>
        <p:spPr>
          <a:xfrm>
            <a:off x="853440" y="1440180"/>
            <a:ext cx="10485120" cy="617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A5E"/>
                </a:solidFill>
                <a:latin typeface="Pretendard"/>
              </a:rPr>
              <a:t>저작권 · 이용 조건 (CC BY-NC-ND 4.0)</a:t>
            </a:r>
          </a:p>
        </p:txBody>
      </p:sp>
      <p:sp>
        <p:nvSpPr>
          <p:cNvPr id="7" name="deckgen:wrap:body"/>
          <p:cNvSpPr txBox="1"/>
          <p:nvPr/>
        </p:nvSpPr>
        <p:spPr>
          <a:xfrm>
            <a:off x="853440" y="2400300"/>
            <a:ext cx="1048512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retendard"/>
              </a:rPr>
              <a:t>1.  저작권 © 2026 이애본(드림아이티비즈 DreamIT Biz). 발행 홍문원(洪文院, 출판사 신고번호 제2026-000026호). 2026년 1월 「생성형 AI와 창의력·복합문제능력 향상 과정」 강의안을 전자출판용으로 다시 묶은 것입니다. ISBN: 등록 후 기재.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2.  이 자료는 크리에이티브 커먼즈 저작자표시-비영리-변경금지 4.0 국제(CC BY-NC-ND 4.0) 라이선스를 따릅니다. creativecommons.org/licenses/by-nc-nd/4.0/deed.ko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3.  저작자 표시(BY): 출처를 밝히면 그대로 복사해 수업·강의·자습에 쓸 수 있습니다. 비영리(NC): 유료 강의·판매·광고 수익 목적에는 쓸 수 없습니다. 변경금지(ND): 내용을 고치거나 잘라 재조합해 배포할 수 없습니다.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4.  자료 안의 외부 서비스 화면 캡처와 상표는 교육 목적 인용이며 각 서비스의 소유입니다. AI 생성 이미지는 생성 도구의 이용 약관을 따릅니다.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5.  라이선스 범위 밖의 이용(영리·변형·2차 저작)은 먼저 문의해 주세요. aebon@dreamitbiz.com · 카카오톡 ID aebon</a:t>
            </a:r>
          </a:p>
        </p:txBody>
      </p:sp>
      <p:sp>
        <p:nvSpPr>
          <p:cNvPr id="8" name="deckgen:wrap:footer"/>
          <p:cNvSpPr txBox="1"/>
          <p:nvPr/>
        </p:nvSpPr>
        <p:spPr>
          <a:xfrm>
            <a:off x="853440" y="624078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88888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wrap: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kgen:wrap:side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gen:wrap:rule"/>
          <p:cNvSpPr/>
          <p:nvPr/>
        </p:nvSpPr>
        <p:spPr>
          <a:xfrm>
            <a:off x="853440" y="2057400"/>
            <a:ext cx="975360" cy="381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kgen:wrap:eyebrow"/>
          <p:cNvSpPr txBox="1"/>
          <p:nvPr/>
        </p:nvSpPr>
        <p:spPr>
          <a:xfrm>
            <a:off x="853440" y="116586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72CE"/>
                </a:solidFill>
                <a:latin typeface="Pretendard"/>
              </a:rPr>
              <a:t>CREDITS · CONTACT</a:t>
            </a:r>
          </a:p>
        </p:txBody>
      </p:sp>
      <p:sp>
        <p:nvSpPr>
          <p:cNvPr id="6" name="deckgen:wrap:title"/>
          <p:cNvSpPr txBox="1"/>
          <p:nvPr/>
        </p:nvSpPr>
        <p:spPr>
          <a:xfrm>
            <a:off x="853440" y="1440180"/>
            <a:ext cx="10485120" cy="617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A5E"/>
                </a:solidFill>
                <a:latin typeface="Pretendard"/>
              </a:rPr>
              <a:t>출처 · 문의</a:t>
            </a:r>
          </a:p>
        </p:txBody>
      </p:sp>
      <p:sp>
        <p:nvSpPr>
          <p:cNvPr id="7" name="deckgen:wrap:body"/>
          <p:cNvSpPr txBox="1"/>
          <p:nvPr/>
        </p:nvSpPr>
        <p:spPr>
          <a:xfrm>
            <a:off x="853440" y="2400300"/>
            <a:ext cx="1048512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retendard"/>
              </a:rPr>
              <a:t>이애본 (Aebon Lee, Ph.D) — 드림아이티비즈 대표 · 한신대학교 AI·SW대학 겸임교수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useful-ai.dreamitbiz.com — 강의안·영상 강의 라이브러리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aebon@dreamitbiz.com · 카카오톡 ID aebon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© 2026 이애본 · 발행 홍문원(洪文院) · CC BY-NC-ND 4.0</a:t>
            </a:r>
          </a:p>
        </p:txBody>
      </p:sp>
      <p:sp>
        <p:nvSpPr>
          <p:cNvPr id="8" name="deckgen:wrap:footer"/>
          <p:cNvSpPr txBox="1"/>
          <p:nvPr/>
        </p:nvSpPr>
        <p:spPr>
          <a:xfrm>
            <a:off x="853440" y="624078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88888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1101</TotalTime>
  <Words>762</Words>
  <Application>Microsoft Office PowerPoint</Application>
  <PresentationFormat>와이드스크린</PresentationFormat>
  <Paragraphs>135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6" baseType="lpstr">
      <vt:lpstr>Manrope</vt:lpstr>
      <vt:lpstr>Noto Sans KR</vt:lpstr>
      <vt:lpstr>Pretendard</vt:lpstr>
      <vt:lpstr>Arial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이애본</cp:lastModifiedBy>
  <cp:revision>5</cp:revision>
  <dcterms:created xsi:type="dcterms:W3CDTF">2026-01-27T14:42:49Z</dcterms:created>
  <dcterms:modified xsi:type="dcterms:W3CDTF">2026-01-29T23:00:41Z</dcterms:modified>
</cp:coreProperties>
</file>