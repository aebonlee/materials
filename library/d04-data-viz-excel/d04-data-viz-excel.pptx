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24" r:id="rId34"/>
    <p:sldId id="325" r:id="rId35"/>
    <p:sldId id="284" r:id="rId2"/>
    <p:sldId id="315" r:id="rId3"/>
    <p:sldId id="286" r:id="rId4"/>
    <p:sldId id="287" r:id="rId5"/>
    <p:sldId id="288" r:id="rId6"/>
    <p:sldId id="289" r:id="rId7"/>
    <p:sldId id="290" r:id="rId8"/>
    <p:sldId id="291" r:id="rId9"/>
    <p:sldId id="292" r:id="rId10"/>
    <p:sldId id="32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319" r:id="rId22"/>
    <p:sldId id="305" r:id="rId23"/>
    <p:sldId id="306" r:id="rId24"/>
    <p:sldId id="322" r:id="rId25"/>
    <p:sldId id="308" r:id="rId26"/>
    <p:sldId id="309" r:id="rId27"/>
    <p:sldId id="310" r:id="rId28"/>
    <p:sldId id="311" r:id="rId29"/>
    <p:sldId id="326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44"/>
    <p:restoredTop sz="94658"/>
  </p:normalViewPr>
  <p:slideViewPr>
    <p:cSldViewPr snapToGrid="0" snapToObjects="1">
      <p:cViewPr varScale="1">
        <p:scale>
          <a:sx n="92" d="100"/>
          <a:sy n="92" d="100"/>
        </p:scale>
        <p:origin x="168" y="7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svg"/><Relationship Id="rId3" Type="http://schemas.openxmlformats.org/officeDocument/2006/relationships/image" Target="../media/image5.svg"/><Relationship Id="rId4" Type="http://schemas.openxmlformats.org/officeDocument/2006/relationships/image" Target="../media/image6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svg"/><Relationship Id="rId3" Type="http://schemas.openxmlformats.org/officeDocument/2006/relationships/image" Target="../media/image8.sv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ornerDisc">
            <a:extLst>
              <a:ext uri="{FF2B5EF4-FFF2-40B4-BE49-F238E27FC236}">
                <a16:creationId xmlns:a16="http://schemas.microsoft.com/office/drawing/2014/main" id="{3132E082-767D-4442-A67D-64811B5C1024}"/>
              </a:ext>
            </a:extLst>
          </p:cNvPr>
          <p:cNvSpPr/>
          <p:nvPr/>
        </p:nvSpPr>
        <p:spPr>
          <a:xfrm>
            <a:off x="9842500" y="-2603500"/>
            <a:ext cx="5080000" cy="5080000"/>
          </a:xfrm>
          <a:prstGeom prst="ellipse">
            <a:avLst/>
          </a:prstGeom>
          <a:solidFill>
            <a:srgbClr val="24376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CornerRingA">
            <a:extLst>
              <a:ext uri="{FF2B5EF4-FFF2-40B4-BE49-F238E27FC236}">
                <a16:creationId xmlns:a16="http://schemas.microsoft.com/office/drawing/2014/main" id="{FF701851-76D8-FF42-A19F-455853798669}"/>
              </a:ext>
            </a:extLst>
          </p:cNvPr>
          <p:cNvSpPr/>
          <p:nvPr/>
        </p:nvSpPr>
        <p:spPr>
          <a:xfrm>
            <a:off x="8699500" y="-3048000"/>
            <a:ext cx="6477000" cy="6477000"/>
          </a:xfrm>
          <a:prstGeom prst="ellipse">
            <a:avLst/>
          </a:prstGeom>
          <a:noFill/>
          <a:ln w="28575" cap="flat" cmpd="sng" algn="ctr">
            <a:solidFill>
              <a:srgbClr val="E8A33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CornerRingB">
            <a:extLst>
              <a:ext uri="{FF2B5EF4-FFF2-40B4-BE49-F238E27FC236}">
                <a16:creationId xmlns:a16="http://schemas.microsoft.com/office/drawing/2014/main" id="{87C642A6-C40A-5043-B3AE-2AF72719E71F}"/>
              </a:ext>
            </a:extLst>
          </p:cNvPr>
          <p:cNvSpPr/>
          <p:nvPr/>
        </p:nvSpPr>
        <p:spPr>
          <a:xfrm>
            <a:off x="9906000" y="-1841500"/>
            <a:ext cx="4064000" cy="4064000"/>
          </a:xfrm>
          <a:prstGeom prst="ellipse">
            <a:avLst/>
          </a:prstGeom>
          <a:noFill/>
          <a:ln w="28575" cap="flat" cmpd="sng" algn="ctr">
            <a:solidFill>
              <a:srgbClr val="E8A33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6604000" cy="18852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5600" b="1" i="0" dirty="0" err="1">
                <a:solidFill>
                  <a:srgbClr val="FFFFFF"/>
                </a:solidFill>
                <a:latin typeface="Georgia"/>
                <a:ea typeface="바탕"/>
              </a:rPr>
              <a:t>데이터</a:t>
            </a:r>
            <a:r>
              <a:rPr sz="5600" b="1" i="0" dirty="0">
                <a:solidFill>
                  <a:srgbClr val="FFFFFF"/>
                </a:solidFill>
                <a:latin typeface="Georgia"/>
                <a:ea typeface="바탕"/>
              </a:rPr>
              <a:t> </a:t>
            </a:r>
            <a:r>
              <a:rPr sz="5600" b="1" i="0" dirty="0" err="1">
                <a:solidFill>
                  <a:srgbClr val="FFFFFF"/>
                </a:solidFill>
                <a:latin typeface="Georgia"/>
                <a:ea typeface="바탕"/>
              </a:rPr>
              <a:t>분석</a:t>
            </a:r>
            <a:r>
              <a:rPr sz="5600" b="1" i="0" dirty="0">
                <a:solidFill>
                  <a:srgbClr val="FFFFFF"/>
                </a:solidFill>
                <a:latin typeface="Georgia"/>
                <a:ea typeface="바탕"/>
              </a:rPr>
              <a:t> </a:t>
            </a:r>
            <a:r>
              <a:rPr sz="5600" b="1" i="0" dirty="0" err="1">
                <a:solidFill>
                  <a:srgbClr val="FFFFFF"/>
                </a:solidFill>
                <a:latin typeface="Georgia"/>
                <a:ea typeface="바탕"/>
              </a:rPr>
              <a:t>실습</a:t>
            </a:r>
            <a:endParaRPr sz="5600" b="1" i="0" dirty="0">
              <a:solidFill>
                <a:srgbClr val="FFFFFF"/>
              </a:solidFill>
              <a:latin typeface="Georgia"/>
              <a:ea typeface="바탕"/>
            </a:endParaRP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5600" b="1" i="0" dirty="0">
                <a:solidFill>
                  <a:srgbClr val="FFFFFF"/>
                </a:solidFill>
                <a:latin typeface="Georgia"/>
                <a:ea typeface="바탕"/>
              </a:rPr>
              <a:t>&amp; </a:t>
            </a:r>
            <a:r>
              <a:rPr sz="5600" b="1" i="0" dirty="0" err="1">
                <a:solidFill>
                  <a:srgbClr val="FFFFFF"/>
                </a:solidFill>
                <a:latin typeface="Georgia"/>
                <a:ea typeface="바탕"/>
              </a:rPr>
              <a:t>시각화</a:t>
            </a:r>
            <a:endParaRPr sz="5600" b="1" i="0" dirty="0">
              <a:solidFill>
                <a:srgbClr val="FFFFFF"/>
              </a:solidFill>
              <a:latin typeface="Georgia"/>
              <a:ea typeface="바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50392" y="4114800"/>
            <a:ext cx="9144000" cy="7942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 i="0">
                <a:solidFill>
                  <a:srgbClr val="9FB0CF"/>
                </a:solidFill>
                <a:latin typeface="Pretendard"/>
                <a:ea typeface="Pretendard"/>
              </a:rPr>
              <a:t>엑셀 기반 EDA · 시각화 · 대시보드 구축 실습으로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 i="0">
                <a:solidFill>
                  <a:srgbClr val="9FB0CF"/>
                </a:solidFill>
                <a:latin typeface="Pretendard"/>
                <a:ea typeface="Pretendard"/>
              </a:rPr>
              <a:t>데이터 기반 의사결정 역량을 키우는 1일 6시간 과정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6035040"/>
            <a:ext cx="10972800" cy="8180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FB0CF"/>
                </a:solidFill>
                <a:latin typeface="Pretendard"/>
                <a:ea typeface="Pretendard"/>
              </a:rPr>
              <a:t>강의안 · 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Pretendard"/>
                <a:ea typeface="Pretendard"/>
              </a:rPr>
              <a:t>Data Lab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FB0CF"/>
                </a:solidFill>
                <a:latin typeface="Pretendard"/>
                <a:ea typeface="Pretendard"/>
              </a:rPr>
              <a:t> · 드림아이티비즈(DreamIT Biz)  |  data.dreamitbiz.com</a:t>
            </a:r>
          </a:p>
        </p:txBody>
      </p:sp>
      <p:sp>
        <p:nvSpPr>
          <p:cNvPr id="1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829411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50392" y="566928"/>
            <a:ext cx="2034540" cy="384048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18288" rIns="109728" bIns="18288" rtlCol="0" anchor="ctr"/>
          <a:lstStyle/>
          <a:p>
            <a:pPr algn="ctr"/>
            <a:r>
              <a:rPr sz="1100" b="1" i="0">
                <a:solidFill>
                  <a:srgbClr val="E8A33D"/>
                </a:solidFill>
                <a:latin typeface="JetBrains Mono"/>
                <a:ea typeface="Pretendard"/>
              </a:rPr>
              <a:t>COURSE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Georgia"/>
                <a:ea typeface="바탕"/>
              </a:rPr>
              <a:t>과정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9385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9FB0CF"/>
                </a:solidFill>
                <a:latin typeface="Pretendard"/>
                <a:ea typeface="Pretendard"/>
              </a:rPr>
              <a:t>데이터를 정제하고 → 보여주고 → 결정으로 잇는 3단계 흐름을 하루에 익힙니다.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06040"/>
            <a:ext cx="3429000" cy="1600200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533400" rIns="164592" bIns="128016" rtlCol="0" anchor="t" anchorCtr="0"/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Pretendard"/>
                <a:ea typeface="Pretendard"/>
              </a:rPr>
              <a:t>교육 목표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 b="0" i="0">
                <a:solidFill>
                  <a:srgbClr val="9FB0CF"/>
                </a:solidFill>
                <a:latin typeface="Pretendard"/>
                <a:ea typeface="Pretendard"/>
              </a:rPr>
              <a:t>데이터 분석·시각화 핵심 원리를 이해하고, 엑셀 실습으로 데이터 기반 의사결정 역량을 내재화합니다.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606040"/>
            <a:ext cx="3429000" cy="1600200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533400" rIns="164592" bIns="128016" rtlCol="0" anchor="t" anchorCtr="0"/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Pretendard"/>
                <a:ea typeface="Pretendard"/>
              </a:rPr>
              <a:t>시간 / 레벨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 b="0" i="0">
                <a:solidFill>
                  <a:srgbClr val="9FB0CF"/>
                </a:solidFill>
                <a:latin typeface="Pretendard"/>
                <a:ea typeface="Pretendard"/>
              </a:rPr>
              <a:t>1일 6시간 · 중급
모듈 3개 × 각 2.0H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606040"/>
            <a:ext cx="3429000" cy="1600200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533400" rIns="164592" bIns="128016" rtlCol="0" anchor="t" anchorCtr="0"/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Pretendard"/>
                <a:ea typeface="Pretendard"/>
              </a:rPr>
              <a:t>사용 도구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 b="0" i="0">
                <a:solidFill>
                  <a:srgbClr val="9FB0CF"/>
                </a:solidFill>
                <a:latin typeface="Pretendard"/>
                <a:ea typeface="Pretendard"/>
              </a:rPr>
              <a:t>Microsoft Excel
피벗테이블 · 조건부 서식 · 슬라이서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526280"/>
            <a:ext cx="54864" cy="8686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77824" y="4526280"/>
            <a:ext cx="10506456" cy="868680"/>
          </a:xfrm>
          <a:prstGeom prst="roundRect">
            <a:avLst/>
          </a:prstGeom>
          <a:solidFill>
            <a:srgbClr val="223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201168" rtlCol="0" anchor="ctr"/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EEF2FB"/>
                </a:solidFill>
                <a:latin typeface="Pretendard"/>
                <a:ea typeface="Pretendard"/>
              </a:rPr>
              <a:t>핵심 키워드 — </a:t>
            </a:r>
            <a:r>
              <a:rPr sz="1300" b="1" i="0">
                <a:solidFill>
                  <a:srgbClr val="FFFFFF"/>
                </a:solidFill>
                <a:latin typeface="Pretendard"/>
                <a:ea typeface="Pretendard"/>
              </a:rPr>
              <a:t>데이터 분석 · 엑셀 전처리 · EDA · 시각화 · 대시보드. </a:t>
            </a:r>
            <a:r>
              <a:rPr sz="1300" b="0" i="0">
                <a:solidFill>
                  <a:srgbClr val="EEF2FB"/>
                </a:solidFill>
                <a:latin typeface="Pretendard"/>
                <a:ea typeface="Pretendard"/>
              </a:rPr>
              <a:t>코딩 없이 엑셀만으로 분석 전 과정을 경험합니다.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738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EF2FB"/>
                </a:solidFill>
                <a:latin typeface="JetBrains Mono"/>
                <a:ea typeface="Pretendard"/>
              </a:rPr>
              <a:t>Data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 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FB0CF"/>
                </a:solidFill>
                <a:latin typeface="Pretendard"/>
                <a:ea typeface="Pretendard"/>
              </a:rPr>
              <a:t>2 / 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870835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Graphic 16" descr="Target icon for 교육 목표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49500" y="2705100"/>
            <a:ext cx="355600" cy="355600"/>
          </a:xfrm>
          <a:prstGeom prst="rect">
            <a:avLst/>
          </a:prstGeom>
        </p:spPr>
      </p:pic>
      <p:pic>
        <p:nvPicPr>
          <p:cNvPr id="17" name="Graphic 17" descr="Clock icon for 시간/레벨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69000" y="2705100"/>
            <a:ext cx="355600" cy="355600"/>
          </a:xfrm>
          <a:prstGeom prst="rect">
            <a:avLst/>
          </a:prstGeom>
        </p:spPr>
      </p:pic>
      <p:pic>
        <p:nvPicPr>
          <p:cNvPr id="18" name="Graphic 18" descr="Wrench icon for 사용 도구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88500" y="2705100"/>
            <a:ext cx="355600" cy="355600"/>
          </a:xfrm>
          <a:prstGeom prst="rect">
            <a:avLst/>
          </a:prstGeom>
        </p:spPr>
      </p:pic>
      <p:sp>
        <p:nvSpPr>
          <p:cNvPr id="1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983504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589520" y="-914400"/>
            <a:ext cx="5486400" cy="3657600"/>
          </a:xfrm>
          <a:prstGeom prst="rect">
            <a:avLst/>
          </a:prstGeom>
          <a:solidFill>
            <a:srgbClr val="24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50392" y="566928"/>
            <a:ext cx="1170432" cy="384048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18288" rIns="109728" bIns="18288" rtlCol="0" anchor="ctr"/>
          <a:lstStyle/>
          <a:p>
            <a:pPr algn="ctr"/>
            <a:r>
              <a:rPr sz="1100" b="1" i="0">
                <a:solidFill>
                  <a:srgbClr val="E8A33D"/>
                </a:solidFill>
                <a:latin typeface="JetBrains Mono"/>
                <a:ea typeface="Pretendard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Georgia"/>
                <a:ea typeface="바탕"/>
              </a:rPr>
              <a:t>오늘의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9385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9FB0CF"/>
                </a:solidFill>
                <a:latin typeface="Pretendard"/>
                <a:ea typeface="Pretendard"/>
              </a:rPr>
              <a:t>탐색(EDA) → 표현(시각화) → 종합(대시보드)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2468880"/>
          <a:ext cx="10515598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9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47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074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14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E8A33D"/>
                          </a:solidFill>
                          <a:latin typeface="Pretendard"/>
                          <a:ea typeface="Pretendard"/>
                        </a:rPr>
                        <a:t>모듈</a:t>
                      </a:r>
                    </a:p>
                  </a:txBody>
                  <a:tcPr marT="36576" marB="36576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E8A33D"/>
                          </a:solidFill>
                          <a:latin typeface="Pretendard"/>
                          <a:ea typeface="Pretendard"/>
                        </a:rPr>
                        <a:t>주제</a:t>
                      </a:r>
                    </a:p>
                  </a:txBody>
                  <a:tcPr marT="36576" marB="36576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E8A33D"/>
                          </a:solidFill>
                          <a:latin typeface="Pretendard"/>
                          <a:ea typeface="Pretendard"/>
                        </a:rPr>
                        <a:t>핵심 역량</a:t>
                      </a:r>
                    </a:p>
                  </a:txBody>
                  <a:tcPr marT="36576" marB="36576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E8A33D"/>
                          </a:solidFill>
                          <a:latin typeface="Pretendard"/>
                          <a:ea typeface="Pretendard"/>
                        </a:rPr>
                        <a:t>시간</a:t>
                      </a:r>
                    </a:p>
                  </a:txBody>
                  <a:tcPr marT="36576" marB="36576" anchor="ctr">
                    <a:solidFill>
                      <a:srgbClr val="14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모듈 1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탐색적 데이터분석 (EDA)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데이터 정제·구조 파악·요약통계·패턴 발굴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2.0H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모듈 2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시각화의 원리 및 기획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목적에 맞는 차트 선택과 정직한 표현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2.0H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모듈 3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실무형 대시보드 구축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KPI 종합 · 인터랙션 · 자동화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2.0H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22960" y="4846320"/>
            <a:ext cx="54864" cy="8686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77824" y="4846320"/>
            <a:ext cx="10506456" cy="868680"/>
          </a:xfrm>
          <a:prstGeom prst="roundRect">
            <a:avLst/>
          </a:prstGeom>
          <a:solidFill>
            <a:srgbClr val="223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201168" rtlCol="0" anchor="ctr"/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EEF2FB"/>
                </a:solidFill>
                <a:latin typeface="Pretendard"/>
                <a:ea typeface="Pretendard"/>
              </a:rPr>
              <a:t>분석의 끝은 </a:t>
            </a:r>
            <a:r>
              <a:rPr sz="1300" b="1" i="0">
                <a:solidFill>
                  <a:srgbClr val="FFFFFF"/>
                </a:solidFill>
                <a:latin typeface="Pretendard"/>
                <a:ea typeface="Pretendard"/>
              </a:rPr>
              <a:t>"예쁜 차트"가 아니라 "더 나은 결정"</a:t>
            </a:r>
            <a:r>
              <a:rPr sz="1300" b="0" i="0">
                <a:solidFill>
                  <a:srgbClr val="EEF2FB"/>
                </a:solidFill>
                <a:latin typeface="Pretendard"/>
                <a:ea typeface="Pretendard"/>
              </a:rPr>
              <a:t>입니다. 세 모듈은 그 결정에 이르는 한 줄기 흐름입니다.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2738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EF2FB"/>
                </a:solidFill>
                <a:latin typeface="JetBrains Mono"/>
                <a:ea typeface="Pretendard"/>
              </a:rPr>
              <a:t>Data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FB0CF"/>
                </a:solidFill>
                <a:latin typeface="Pretendard"/>
                <a:ea typeface="Pretendard"/>
              </a:rPr>
              <a:t>3 / 28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306253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537429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589520" y="-914400"/>
            <a:ext cx="5486400" cy="3657600"/>
          </a:xfrm>
          <a:prstGeom prst="rect">
            <a:avLst/>
          </a:prstGeom>
          <a:solidFill>
            <a:srgbClr val="24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73152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0" b="1" i="0">
                <a:solidFill>
                  <a:srgbClr val="2A3C63"/>
                </a:solidFill>
                <a:latin typeface="Georgia"/>
                <a:ea typeface="바탕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38500"/>
            <a:ext cx="10972800" cy="1422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Georgia"/>
                <a:ea typeface="바탕"/>
              </a:rPr>
              <a:t>탐색적 데이터분석 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400" b="1" i="0">
                <a:solidFill>
                  <a:srgbClr val="E8A33D"/>
                </a:solidFill>
                <a:latin typeface="Georgia"/>
                <a:ea typeface="바탕"/>
              </a:rPr>
              <a:t>(EDA)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4800600"/>
            <a:ext cx="105156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9FB0CF"/>
                </a:solidFill>
                <a:latin typeface="Pretendard"/>
                <a:ea typeface="Pretendard"/>
              </a:rPr>
              <a:t>데이터를 쪼개고 그려보며 패턴·이상치·가설을 발굴한다 · 2.0H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212080"/>
            <a:ext cx="1344168" cy="420624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9FB0CF"/>
                </a:solidFill>
                <a:latin typeface="Pretendard"/>
                <a:ea typeface="Pretendard"/>
              </a:rPr>
              <a:t>EDA의 본질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5212080"/>
            <a:ext cx="1490472" cy="420624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9FB0CF"/>
                </a:solidFill>
                <a:latin typeface="Pretendard"/>
                <a:ea typeface="Pretendard"/>
              </a:rPr>
              <a:t>문제·가설 수립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86784" y="5212080"/>
            <a:ext cx="1197864" cy="420624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9FB0CF"/>
                </a:solidFill>
                <a:latin typeface="Pretendard"/>
                <a:ea typeface="Pretendard"/>
              </a:rPr>
              <a:t>지표 쪼개기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5212080"/>
            <a:ext cx="1636776" cy="420624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9FB0CF"/>
                </a:solidFill>
                <a:latin typeface="Pretendard"/>
                <a:ea typeface="Pretendard"/>
              </a:rPr>
              <a:t>시계열·상관·교차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50608" y="5212080"/>
            <a:ext cx="1051560" cy="420624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9FB0CF"/>
                </a:solidFill>
                <a:latin typeface="Pretendard"/>
                <a:ea typeface="Pretendard"/>
              </a:rPr>
              <a:t>분포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2738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EF2FB"/>
                </a:solidFill>
                <a:latin typeface="JetBrains Mono"/>
                <a:ea typeface="Pretendard"/>
              </a:rPr>
              <a:t>Data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 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FB0CF"/>
                </a:solidFill>
                <a:latin typeface="Pretendard"/>
                <a:ea typeface="Pretendard"/>
              </a:rPr>
              <a:t>4 / 28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741670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845268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589520" y="-914400"/>
            <a:ext cx="5486400" cy="3657600"/>
          </a:xfrm>
          <a:prstGeom prst="rect">
            <a:avLst/>
          </a:prstGeom>
          <a:solidFill>
            <a:srgbClr val="24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50392" y="566928"/>
            <a:ext cx="1362456" cy="384048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18288" rIns="109728" bIns="18288" rtlCol="0" anchor="ctr"/>
          <a:lstStyle/>
          <a:p>
            <a:pPr algn="ctr"/>
            <a:r>
              <a:rPr sz="1100" b="1" i="0">
                <a:solidFill>
                  <a:srgbClr val="E8A33D"/>
                </a:solidFill>
                <a:latin typeface="JetBrains Mono"/>
                <a:ea typeface="Pretendard"/>
              </a:rPr>
              <a:t>MODULE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Georgia"/>
                <a:ea typeface="바탕"/>
              </a:rPr>
              <a:t>EDA란 무엇인가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9385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9FB0CF"/>
                </a:solidFill>
                <a:latin typeface="Pretendard"/>
                <a:ea typeface="Pretendard"/>
              </a:rPr>
              <a:t>통계학자 존 튜키(Tukey, 1977, 『Exploratory Data Analysis』) — 모델링 전에 데이터의 구조·패턴·이상치·관계를 탐색하는 과정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◆ </a:t>
            </a:r>
            <a:r>
              <a:rPr sz="1400" b="1" i="0">
                <a:solidFill>
                  <a:srgbClr val="EEF2FB"/>
                </a:solidFill>
                <a:latin typeface="JetBrains Mono"/>
                <a:ea typeface="Pretendard"/>
              </a:rPr>
              <a:t>데이터 품질 점검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9FB0CF"/>
                </a:solidFill>
                <a:latin typeface="JetBrains Mono"/>
                <a:ea typeface="Pretendard"/>
              </a:rPr>
              <a:t>    결측치·중복·잘못된 단위·비정상 값 발견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◆ </a:t>
            </a:r>
            <a:r>
              <a:rPr sz="1400" b="1" i="0">
                <a:solidFill>
                  <a:srgbClr val="EEF2FB"/>
                </a:solidFill>
                <a:latin typeface="JetBrains Mono"/>
                <a:ea typeface="Pretendard"/>
              </a:rPr>
              <a:t>가설 발굴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9FB0CF"/>
                </a:solidFill>
                <a:latin typeface="JetBrains Mono"/>
                <a:ea typeface="Pretendard"/>
              </a:rPr>
              <a:t>    ‘이 두 변수는 관련 있을까?’ 새 질문 생성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◆ </a:t>
            </a:r>
            <a:r>
              <a:rPr sz="1400" b="1" i="0">
                <a:solidFill>
                  <a:srgbClr val="EEF2FB"/>
                </a:solidFill>
                <a:latin typeface="JetBrains Mono"/>
                <a:ea typeface="Pretendard"/>
              </a:rPr>
              <a:t>이상치 탐지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9FB0CF"/>
                </a:solidFill>
                <a:latin typeface="JetBrains Mono"/>
                <a:ea typeface="Pretendard"/>
              </a:rPr>
              <a:t>    평균을 왜곡하는 극단값·입력 오류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◆ </a:t>
            </a:r>
            <a:r>
              <a:rPr sz="1400" b="1" i="0">
                <a:solidFill>
                  <a:srgbClr val="EEF2FB"/>
                </a:solidFill>
                <a:latin typeface="JetBrains Mono"/>
                <a:ea typeface="Pretendard"/>
              </a:rPr>
              <a:t>분석 방향 설정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9FB0CF"/>
                </a:solidFill>
                <a:latin typeface="JetBrains Mono"/>
                <a:ea typeface="Pretendard"/>
              </a:rPr>
              <a:t>    어떤 변수를 깊게, 어떤 모델이 적합할지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0" y="2468880"/>
          <a:ext cx="51206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E8A33D"/>
                          </a:solidFill>
                          <a:latin typeface="Pretendard"/>
                          <a:ea typeface="Pretendard"/>
                        </a:rPr>
                        <a:t>구분</a:t>
                      </a:r>
                    </a:p>
                  </a:txBody>
                  <a:tcPr marT="36576" marB="36576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E8A33D"/>
                          </a:solidFill>
                          <a:latin typeface="Pretendard"/>
                          <a:ea typeface="Pretendard"/>
                        </a:rPr>
                        <a:t>EDA (탐색)</a:t>
                      </a:r>
                    </a:p>
                  </a:txBody>
                  <a:tcPr marT="36576" marB="36576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E8A33D"/>
                          </a:solidFill>
                          <a:latin typeface="Pretendard"/>
                          <a:ea typeface="Pretendard"/>
                        </a:rPr>
                        <a:t>CDA (확증)</a:t>
                      </a:r>
                    </a:p>
                  </a:txBody>
                  <a:tcPr marT="36576" marB="36576" anchor="ctr">
                    <a:solidFill>
                      <a:srgbClr val="14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목적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패턴·가설 발굴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가설 검증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가설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분석 중 생성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분석 전 수립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도구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시각화·요약통계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가설검정·p-value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비유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탐정 현장조사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법정 증거검증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22960" y="5577840"/>
            <a:ext cx="54864" cy="8686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77824" y="5577840"/>
            <a:ext cx="10506456" cy="868680"/>
          </a:xfrm>
          <a:prstGeom prst="roundRect">
            <a:avLst/>
          </a:prstGeom>
          <a:solidFill>
            <a:srgbClr val="223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201168" rtlCol="0" anchor="ctr"/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EEF2FB"/>
                </a:solidFill>
                <a:latin typeface="Pretendard"/>
                <a:ea typeface="Pretendard"/>
              </a:rPr>
              <a:t>EDA는 분석 결과의 품질을 좌우</a:t>
            </a:r>
            <a:r>
              <a:rPr sz="1300" b="1" i="0">
                <a:solidFill>
                  <a:srgbClr val="FFFFFF"/>
                </a:solidFill>
                <a:latin typeface="Pretendard"/>
                <a:ea typeface="Pretendard"/>
              </a:rPr>
              <a:t/>
            </a:r>
            <a:r>
              <a:rPr sz="1300" b="0" i="0">
                <a:solidFill>
                  <a:srgbClr val="EEF2FB"/>
                </a:solidFill>
                <a:latin typeface="Pretendard"/>
                <a:ea typeface="Pretendard"/>
              </a:rPr>
              <a:t>합니다. ‘Garbage In, Garbage Out’을 막는 </a:t>
            </a:r>
            <a:r>
              <a:rPr sz="1300" b="1" i="0">
                <a:solidFill>
                  <a:srgbClr val="FFFFFF"/>
                </a:solidFill>
                <a:latin typeface="Pretendard"/>
                <a:ea typeface="Pretendard"/>
              </a:rPr>
              <a:t>첫 방어선</a:t>
            </a:r>
            <a:r>
              <a:rPr sz="1300" b="0" i="0">
                <a:solidFill>
                  <a:srgbClr val="EEF2FB"/>
                </a:solidFill>
                <a:latin typeface="Pretendard"/>
                <a:ea typeface="Pretendar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2738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EF2FB"/>
                </a:solidFill>
                <a:latin typeface="JetBrains Mono"/>
                <a:ea typeface="Pretendard"/>
              </a:rPr>
              <a:t>Data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 Lab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FB0CF"/>
                </a:solidFill>
                <a:latin typeface="Pretendard"/>
                <a:ea typeface="Pretendard"/>
              </a:rPr>
              <a:t>5 / 28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2177088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672032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589520" y="-914400"/>
            <a:ext cx="5486400" cy="3657600"/>
          </a:xfrm>
          <a:prstGeom prst="rect">
            <a:avLst/>
          </a:prstGeom>
          <a:solidFill>
            <a:srgbClr val="24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50392" y="566928"/>
            <a:ext cx="1362456" cy="384048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18288" rIns="109728" bIns="18288" rtlCol="0" anchor="ctr"/>
          <a:lstStyle/>
          <a:p>
            <a:pPr algn="ctr"/>
            <a:r>
              <a:rPr sz="1100" b="1" i="0">
                <a:solidFill>
                  <a:srgbClr val="E8A33D"/>
                </a:solidFill>
                <a:latin typeface="JetBrains Mono"/>
                <a:ea typeface="Pretendard"/>
              </a:rPr>
              <a:t>MODULE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Georgia"/>
                <a:ea typeface="바탕"/>
              </a:rPr>
              <a:t>문제 정의와 가설 수립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9385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9FB0CF"/>
                </a:solidFill>
                <a:latin typeface="Pretendard"/>
                <a:ea typeface="Pretendard"/>
              </a:rPr>
              <a:t>분석은 ‘데이터’가 아니라 ‘문제’에서 출발한다 — 막연한 고민을 답할 수 있는 질문으로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2468880"/>
          <a:ext cx="10515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E8A33D"/>
                          </a:solidFill>
                          <a:latin typeface="Pretendard"/>
                          <a:ea typeface="Pretendard"/>
                        </a:rPr>
                        <a:t>막연한 고민</a:t>
                      </a:r>
                    </a:p>
                  </a:txBody>
                  <a:tcPr marT="36576" marB="36576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E8A33D"/>
                          </a:solidFill>
                          <a:latin typeface="Pretendard"/>
                          <a:ea typeface="Pretendard"/>
                        </a:rPr>
                        <a:t>분석 가능한 질문</a:t>
                      </a:r>
                    </a:p>
                  </a:txBody>
                  <a:tcPr marT="36576" marB="36576" anchor="ctr">
                    <a:solidFill>
                      <a:srgbClr val="14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"매출이 왜 줄었지?"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최근 3개월간 어느 제품군·지역·채널에서 매출이 가장 감소했는가?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"고객이 이탈하는 것 같아"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가입 후 30일 내 재방문 안 한 고객의 비율과 특성은?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"마케팅이 효과가 있나?"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캠페인 전후 2주간 신규 전환율이 유의하게 달라졌는가?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22960" y="4754880"/>
            <a:ext cx="54864" cy="8686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77824" y="4754880"/>
            <a:ext cx="10506456" cy="868680"/>
          </a:xfrm>
          <a:prstGeom prst="roundRect">
            <a:avLst/>
          </a:prstGeom>
          <a:solidFill>
            <a:srgbClr val="223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201168" rtlCol="0" anchor="ctr"/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EEF2FB"/>
                </a:solidFill>
                <a:latin typeface="Pretendard"/>
                <a:ea typeface="Pretendard"/>
              </a:rPr>
              <a:t>핵심은 </a:t>
            </a:r>
            <a:r>
              <a:rPr sz="1300" b="1" i="0">
                <a:solidFill>
                  <a:srgbClr val="FFFFFF"/>
                </a:solidFill>
                <a:latin typeface="Pretendard"/>
                <a:ea typeface="Pretendard"/>
              </a:rPr>
              <a:t>측정 가능한 지표 · 명확한 기간 · 비교 대상</a:t>
            </a:r>
            <a:r>
              <a:rPr sz="1300" b="0" i="0">
                <a:solidFill>
                  <a:srgbClr val="EEF2FB"/>
                </a:solidFill>
                <a:latin typeface="Pretendard"/>
                <a:ea typeface="Pretendard"/>
              </a:rPr>
              <a:t>. 좋은 가설 = 검증 가능 · 구체적 · 반증 가능 · 실행 연결.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2738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EF2FB"/>
                </a:solidFill>
                <a:latin typeface="JetBrains Mono"/>
                <a:ea typeface="Pretendard"/>
              </a:rPr>
              <a:t>Data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FB0CF"/>
                </a:solidFill>
                <a:latin typeface="Pretendard"/>
                <a:ea typeface="Pretendard"/>
              </a:rPr>
              <a:t>6 / 28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2612506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904207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589520" y="-914400"/>
            <a:ext cx="5486400" cy="3657600"/>
          </a:xfrm>
          <a:prstGeom prst="rect">
            <a:avLst/>
          </a:prstGeom>
          <a:solidFill>
            <a:srgbClr val="24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50392" y="566928"/>
            <a:ext cx="1362456" cy="384048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18288" rIns="109728" bIns="18288" rtlCol="0" anchor="ctr"/>
          <a:lstStyle/>
          <a:p>
            <a:pPr algn="ctr"/>
            <a:r>
              <a:rPr sz="1100" b="1" i="0">
                <a:solidFill>
                  <a:srgbClr val="E8A33D"/>
                </a:solidFill>
                <a:latin typeface="JetBrains Mono"/>
                <a:ea typeface="Pretendard"/>
              </a:rPr>
              <a:t>MODULE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Georgia"/>
                <a:ea typeface="바탕"/>
              </a:rPr>
              <a:t>논리적 검증 프로세스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9385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9FB0CF"/>
                </a:solidFill>
                <a:latin typeface="Pretendard"/>
                <a:ea typeface="Pretendard"/>
              </a:rPr>
              <a:t>문제 정의에서 결론까지 5단계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77440"/>
            <a:ext cx="10515600" cy="566928"/>
          </a:xfrm>
          <a:prstGeom prst="roundRect">
            <a:avLst/>
          </a:prstGeom>
          <a:solidFill>
            <a:srgbClr val="0D1626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E8A33D"/>
                </a:solidFill>
                <a:latin typeface="JetBrains Mono"/>
                <a:ea typeface="JetBrains Mono"/>
              </a:rPr>
              <a:t>문제 정의 → 가설 수립 → 지표 정의 → 데이터 검증 → 결론·액션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3291840"/>
          <a:ext cx="1051560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E8A33D"/>
                          </a:solidFill>
                          <a:latin typeface="Pretendard"/>
                          <a:ea typeface="Pretendard"/>
                        </a:rPr>
                        <a:t>단계</a:t>
                      </a:r>
                    </a:p>
                  </a:txBody>
                  <a:tcPr marT="36576" marB="36576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E8A33D"/>
                          </a:solidFill>
                          <a:latin typeface="Pretendard"/>
                          <a:ea typeface="Pretendard"/>
                        </a:rPr>
                        <a:t>핵심 질문</a:t>
                      </a:r>
                    </a:p>
                  </a:txBody>
                  <a:tcPr marT="36576" marB="36576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E8A33D"/>
                          </a:solidFill>
                          <a:latin typeface="Pretendard"/>
                          <a:ea typeface="Pretendard"/>
                        </a:rPr>
                        <a:t>산출물</a:t>
                      </a:r>
                    </a:p>
                  </a:txBody>
                  <a:tcPr marT="36576" marB="36576" anchor="ctr">
                    <a:solidFill>
                      <a:srgbClr val="14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1 · 문제 정의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무엇이 문제인가?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분석 가능한 질문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2 · 가설 수립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왜 그럴 것 같은가?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검증 가능한 가설 목록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3 · 지표 정의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무엇을 측정할 것인가?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KPI · 측정 기준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4 · 데이터 검증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데이터가 가설을 지지하는가?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EDA 결과 · 차트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5 · 결론·액션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그래서 무엇을 할 것인가?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의사결정 · 권고안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62738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EF2FB"/>
                </a:solidFill>
                <a:latin typeface="JetBrains Mono"/>
                <a:ea typeface="Pretendard"/>
              </a:rPr>
              <a:t>Data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 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FB0CF"/>
                </a:solidFill>
                <a:latin typeface="Pretendard"/>
                <a:ea typeface="Pretendard"/>
              </a:rPr>
              <a:t>7 / 28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3047923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940042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589520" y="-914400"/>
            <a:ext cx="5486400" cy="3657600"/>
          </a:xfrm>
          <a:prstGeom prst="rect">
            <a:avLst/>
          </a:prstGeom>
          <a:solidFill>
            <a:srgbClr val="24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50392" y="566928"/>
            <a:ext cx="1362456" cy="384048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18288" rIns="109728" bIns="18288" rtlCol="0" anchor="ctr"/>
          <a:lstStyle/>
          <a:p>
            <a:pPr algn="ctr"/>
            <a:r>
              <a:rPr sz="1100" b="1" i="0">
                <a:solidFill>
                  <a:srgbClr val="E8A33D"/>
                </a:solidFill>
                <a:latin typeface="JetBrains Mono"/>
                <a:ea typeface="Pretendard"/>
              </a:rPr>
              <a:t>MODULE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Georgia"/>
                <a:ea typeface="바탕"/>
              </a:rPr>
              <a:t>지표 쪼개기 (Drill-down)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9385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9FB0CF"/>
                </a:solidFill>
                <a:latin typeface="Pretendard"/>
                <a:ea typeface="Pretendard"/>
              </a:rPr>
              <a:t>‘무슨 일이 일어났는가’를 넘어 ‘왜 그랬는가’로 — 큰 숫자를 구성 요소로 분해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566928"/>
          </a:xfrm>
          <a:prstGeom prst="roundRect">
            <a:avLst/>
          </a:prstGeom>
          <a:solidFill>
            <a:srgbClr val="0D1626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E8A33D"/>
                </a:solidFill>
                <a:latin typeface="JetBrains Mono"/>
                <a:ea typeface="JetBrains Mono"/>
              </a:rPr>
              <a:t>매출 = 방문수 × 전환율 × 객단가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315468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E8A33D"/>
                          </a:solidFill>
                          <a:latin typeface="Pretendard"/>
                          <a:ea typeface="Pretendard"/>
                        </a:rPr>
                        <a:t>분해 대상</a:t>
                      </a:r>
                    </a:p>
                  </a:txBody>
                  <a:tcPr marT="36576" marB="36576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E8A33D"/>
                          </a:solidFill>
                          <a:latin typeface="Pretendard"/>
                          <a:ea typeface="Pretendard"/>
                        </a:rPr>
                        <a:t>공식</a:t>
                      </a:r>
                    </a:p>
                  </a:txBody>
                  <a:tcPr marT="36576" marB="36576" anchor="ctr">
                    <a:solidFill>
                      <a:srgbClr val="14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매출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방문수 × 전환율 × 객단가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활성 사용자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신규 + 유지 + 복귀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이익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매출 − (고정비 + 변동비)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0" y="237744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◆ </a:t>
            </a:r>
            <a:r>
              <a:rPr sz="1400" b="1" i="0">
                <a:solidFill>
                  <a:srgbClr val="EEF2FB"/>
                </a:solidFill>
                <a:latin typeface="JetBrains Mono"/>
                <a:ea typeface="Pretendard"/>
              </a:rPr>
              <a:t>차원으로 쪼개기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9FB0CF"/>
                </a:solidFill>
                <a:latin typeface="JetBrains Mono"/>
                <a:ea typeface="Pretendard"/>
              </a:rPr>
              <a:t>    시간·고객·상품·채널/지역 관점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◆ </a:t>
            </a:r>
            <a:r>
              <a:rPr sz="1400" b="1" i="0">
                <a:solidFill>
                  <a:srgbClr val="EEF2FB"/>
                </a:solidFill>
                <a:latin typeface="JetBrains Mono"/>
                <a:ea typeface="Pretendard"/>
              </a:rPr>
              <a:t>다차원 교차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9FB0CF"/>
                </a:solidFill>
                <a:latin typeface="JetBrains Mono"/>
                <a:ea typeface="Pretendard"/>
              </a:rPr>
              <a:t>    ‘지역 × 연령대’로 숨은 신호 포착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◆ </a:t>
            </a:r>
            <a:r>
              <a:rPr sz="1400" b="1" i="0">
                <a:solidFill>
                  <a:srgbClr val="EEF2FB"/>
                </a:solidFill>
                <a:latin typeface="JetBrains Mono"/>
                <a:ea typeface="Pretendard"/>
              </a:rPr>
              <a:t>심슨의 역설 주의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9FB0CF"/>
                </a:solidFill>
                <a:latin typeface="JetBrains Mono"/>
                <a:ea typeface="Pretendard"/>
              </a:rPr>
              <a:t>    전체는 평탄해도 부분이 상쇄될 수 있음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5486400"/>
            <a:ext cx="54864" cy="8686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77824" y="5486400"/>
            <a:ext cx="10506456" cy="868680"/>
          </a:xfrm>
          <a:prstGeom prst="roundRect">
            <a:avLst/>
          </a:prstGeom>
          <a:solidFill>
            <a:srgbClr val="223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201168" rtlCol="0" anchor="ctr"/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EEF2FB"/>
                </a:solidFill>
                <a:latin typeface="Pretendard"/>
                <a:ea typeface="Pretendard"/>
              </a:rPr>
              <a:t>엑셀 </a:t>
            </a:r>
            <a:r>
              <a:rPr sz="1300" b="1" i="0">
                <a:solidFill>
                  <a:srgbClr val="FFFFFF"/>
                </a:solidFill>
                <a:latin typeface="Pretendard"/>
                <a:ea typeface="Pretendard"/>
              </a:rPr>
              <a:t>피벗테이블</a:t>
            </a:r>
            <a:r>
              <a:rPr sz="1300" b="0" i="0">
                <a:solidFill>
                  <a:srgbClr val="EEF2FB"/>
                </a:solidFill>
                <a:latin typeface="Pretendard"/>
                <a:ea typeface="Pretendard"/>
              </a:rPr>
              <a:t> — 지표를 값, 1차 차원을 행, 2차 차원을 열에 두면 교차표 완성. 슬라이서로 필터링.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738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EF2FB"/>
                </a:solidFill>
                <a:latin typeface="JetBrains Mono"/>
                <a:ea typeface="Pretendard"/>
              </a:rPr>
              <a:t>Data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 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FB0CF"/>
                </a:solidFill>
                <a:latin typeface="Pretendard"/>
                <a:ea typeface="Pretendard"/>
              </a:rPr>
              <a:t>8 / 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3483341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618799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589520" y="-914400"/>
            <a:ext cx="5486400" cy="3657600"/>
          </a:xfrm>
          <a:prstGeom prst="rect">
            <a:avLst/>
          </a:prstGeom>
          <a:solidFill>
            <a:srgbClr val="24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50392" y="566928"/>
            <a:ext cx="1842516" cy="384048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18288" rIns="109728" bIns="18288" rtlCol="0" anchor="ctr"/>
          <a:lstStyle/>
          <a:p>
            <a:pPr algn="ctr"/>
            <a:r>
              <a:rPr sz="1100" b="1" i="0">
                <a:solidFill>
                  <a:srgbClr val="E8A33D"/>
                </a:solidFill>
                <a:latin typeface="JetBrains Mono"/>
                <a:ea typeface="Pretendard"/>
              </a:rPr>
              <a:t>MODULE 1 · 실습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097280"/>
            <a:ext cx="658368" cy="365760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14213D"/>
                </a:solidFill>
                <a:latin typeface="Pretendard"/>
                <a:ea typeface="Pretendard"/>
              </a:rPr>
              <a:t>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78992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100" b="1" i="0">
                <a:solidFill>
                  <a:srgbClr val="FFFFFF"/>
                </a:solidFill>
                <a:latin typeface="Georgia"/>
                <a:ea typeface="바탕"/>
              </a:rPr>
              <a:t>시계열 추세 · 집단별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9659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9FB0CF"/>
                </a:solidFill>
                <a:latin typeface="Pretendard"/>
                <a:ea typeface="Pretendard"/>
              </a:rPr>
              <a:t>시간에 따른 추세와 집단 간 차이를 엑셀로 직접 분석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97480"/>
            <a:ext cx="3429000" cy="1874519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64592" bIns="128016" rtlCol="0" anchor="ctr"/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E8A33D"/>
                </a:solidFill>
                <a:latin typeface="JetBrains Mono"/>
                <a:ea typeface="Pretendard"/>
              </a:rPr>
              <a:t>1  </a:t>
            </a:r>
            <a:r>
              <a:rPr sz="1400" b="1" i="0">
                <a:solidFill>
                  <a:srgbClr val="FFFFFF"/>
                </a:solidFill>
                <a:latin typeface="JetBrains Mono"/>
                <a:ea typeface="Pretendard"/>
              </a:rPr>
              <a:t>시계열 추세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 b="0" i="0">
                <a:solidFill>
                  <a:srgbClr val="9FB0CF"/>
                </a:solidFill>
                <a:latin typeface="JetBrains Mono"/>
                <a:ea typeface="Pretendard"/>
              </a:rPr>
              <a:t>꺾은선 차트 + 7일 이동평균(=AVERAGE)으로 단기 변동 속 장기 추세·계절성 파악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697480"/>
            <a:ext cx="3429000" cy="1874519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64592" bIns="128016" rtlCol="0" anchor="ctr"/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E8A33D"/>
                </a:solidFill>
                <a:latin typeface="JetBrains Mono"/>
                <a:ea typeface="Pretendard"/>
              </a:rPr>
              <a:t>2  </a:t>
            </a:r>
            <a:r>
              <a:rPr sz="1400" b="1" i="0">
                <a:solidFill>
                  <a:srgbClr val="FFFFFF"/>
                </a:solidFill>
                <a:latin typeface="JetBrains Mono"/>
                <a:ea typeface="Pretendard"/>
              </a:rPr>
              <a:t>요일별 특성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 b="0" i="0">
                <a:solidFill>
                  <a:srgbClr val="9FB0CF"/>
                </a:solidFill>
                <a:latin typeface="JetBrains Mono"/>
                <a:ea typeface="Pretendard"/>
              </a:rPr>
              <a:t>피벗(행=요일, 값=매출 평균) → 막대그래프로 주말 vs 평일 비교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697480"/>
            <a:ext cx="3429000" cy="1874519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64592" bIns="128016" rtlCol="0" anchor="ctr"/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E8A33D"/>
                </a:solidFill>
                <a:latin typeface="JetBrains Mono"/>
                <a:ea typeface="Pretendard"/>
              </a:rPr>
              <a:t>3  </a:t>
            </a:r>
            <a:r>
              <a:rPr sz="1400" b="1" i="0">
                <a:solidFill>
                  <a:srgbClr val="FFFFFF"/>
                </a:solidFill>
                <a:latin typeface="JetBrains Mono"/>
                <a:ea typeface="Pretendard"/>
              </a:rPr>
              <a:t>집단별 비교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 b="0" i="0">
                <a:solidFill>
                  <a:srgbClr val="9FB0CF"/>
                </a:solidFill>
                <a:latin typeface="JetBrains Mono"/>
                <a:ea typeface="Pretendard"/>
              </a:rPr>
              <a:t>행=고객유형/지점, 합계와 평균을 함께 → 규모와 효율 동시에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846320"/>
            <a:ext cx="54864" cy="8686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77824" y="4846320"/>
            <a:ext cx="10506456" cy="868680"/>
          </a:xfrm>
          <a:prstGeom prst="roundRect">
            <a:avLst/>
          </a:prstGeom>
          <a:solidFill>
            <a:srgbClr val="223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201168" rtlCol="0" anchor="ctr"/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EEF2FB"/>
                </a:solidFill>
                <a:latin typeface="Pretendard"/>
                <a:ea typeface="Pretendard"/>
              </a:rPr>
              <a:t>그룹 비교 시 </a:t>
            </a:r>
            <a:r>
              <a:rPr sz="1300" b="1" i="0">
                <a:solidFill>
                  <a:srgbClr val="FFFFFF"/>
                </a:solidFill>
                <a:latin typeface="Pretendard"/>
                <a:ea typeface="Pretendard"/>
              </a:rPr>
              <a:t>합계만 보지 말고 평균·비율도 함께</a:t>
            </a:r>
            <a:r>
              <a:rPr sz="1300" b="0" i="0">
                <a:solidFill>
                  <a:srgbClr val="EEF2FB"/>
                </a:solidFill>
                <a:latin typeface="Pretendard"/>
                <a:ea typeface="Pretendard"/>
              </a:rPr>
              <a:t>. 규모가 커서 합계만 높고 효율(1인당)은 낮을 수 있습니다.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2738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EF2FB"/>
                </a:solidFill>
                <a:latin typeface="JetBrains Mono"/>
                <a:ea typeface="Pretendard"/>
              </a:rPr>
              <a:t>Data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 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FB0CF"/>
                </a:solidFill>
                <a:latin typeface="Pretendard"/>
                <a:ea typeface="Pretendard"/>
              </a:rPr>
              <a:t>9 / 28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3918759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954663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589520" y="-914400"/>
            <a:ext cx="5486400" cy="3657600"/>
          </a:xfrm>
          <a:prstGeom prst="rect">
            <a:avLst/>
          </a:prstGeom>
          <a:solidFill>
            <a:srgbClr val="24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50392" y="566928"/>
            <a:ext cx="1842516" cy="384048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18288" rIns="109728" bIns="18288" rtlCol="0" anchor="ctr"/>
          <a:lstStyle/>
          <a:p>
            <a:pPr algn="ctr"/>
            <a:r>
              <a:rPr sz="1100" b="1" i="0">
                <a:solidFill>
                  <a:srgbClr val="E8A33D"/>
                </a:solidFill>
                <a:latin typeface="JetBrains Mono"/>
                <a:ea typeface="Pretendard"/>
              </a:rPr>
              <a:t>MODULE 1 · 실습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097280"/>
            <a:ext cx="658368" cy="365760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14213D"/>
                </a:solidFill>
                <a:latin typeface="Pretendard"/>
                <a:ea typeface="Pretendard"/>
              </a:rPr>
              <a:t>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78992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100" b="1" i="0">
                <a:solidFill>
                  <a:srgbClr val="FFFFFF"/>
                </a:solidFill>
                <a:latin typeface="Georgia"/>
                <a:ea typeface="바탕"/>
              </a:rPr>
              <a:t>상관분석 · 교차분석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9659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9FB0CF"/>
                </a:solidFill>
                <a:latin typeface="Pretendard"/>
                <a:ea typeface="Pretendard"/>
              </a:rPr>
              <a:t>두 변수가 함께 움직이는가(상관) · 범주 간 관계가 있는가(교차)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2697480"/>
          <a:ext cx="51206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E8A33D"/>
                          </a:solidFill>
                          <a:latin typeface="Pretendard"/>
                          <a:ea typeface="Pretendard"/>
                        </a:rPr>
                        <a:t>상관계수 r</a:t>
                      </a:r>
                    </a:p>
                  </a:txBody>
                  <a:tcPr marT="36576" marB="36576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E8A33D"/>
                          </a:solidFill>
                          <a:latin typeface="Pretendard"/>
                          <a:ea typeface="Pretendard"/>
                        </a:rPr>
                        <a:t>해석</a:t>
                      </a:r>
                    </a:p>
                  </a:txBody>
                  <a:tcPr marT="36576" marB="36576" anchor="ctr">
                    <a:solidFill>
                      <a:srgbClr val="14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0.7 ~ 1.0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강한 양의 상관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0.4 ~ 0.7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뚜렷한 양의 상관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−0.2 ~ 0.2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거의 상관 없음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−1.0 ~ −0.7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강한 음의 상관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22960" y="5207000"/>
            <a:ext cx="5120640" cy="566928"/>
          </a:xfrm>
          <a:prstGeom prst="roundRect">
            <a:avLst/>
          </a:prstGeom>
          <a:solidFill>
            <a:srgbClr val="0D1626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i="0">
                <a:solidFill>
                  <a:srgbClr val="E8A33D"/>
                </a:solidFill>
                <a:latin typeface="JetBrains Mono"/>
                <a:ea typeface="JetBrains Mono"/>
              </a:rPr>
              <a:t>=CORREL(B2:B100, C2:C100)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697480"/>
            <a:ext cx="54864" cy="24688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64224" y="2697480"/>
            <a:ext cx="4974336" cy="2468880"/>
          </a:xfrm>
          <a:prstGeom prst="roundRect">
            <a:avLst/>
          </a:prstGeom>
          <a:solidFill>
            <a:srgbClr val="223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201168" rtlCol="0" anchor="ctr"/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  <a:ea typeface="Pretendard"/>
              </a:rPr>
              <a:t>상관 ≠ 인과. </a:t>
            </a:r>
            <a:r>
              <a:rPr sz="1300" b="0" i="0">
                <a:solidFill>
                  <a:srgbClr val="EEF2FB"/>
                </a:solidFill>
                <a:latin typeface="Pretendard"/>
                <a:ea typeface="Pretendard"/>
              </a:rPr>
              <a:t>‘아이스크림 판매 ↔ 익사’는 강한 상관이지만 숨은 변수 ‘여름철 더위’가 둘을 끌어올린 것. r은 직선 관계만 측정하므로 반드시 산점도를 함께 그리세요.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738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EF2FB"/>
                </a:solidFill>
                <a:latin typeface="JetBrains Mono"/>
                <a:ea typeface="Pretendard"/>
              </a:rPr>
              <a:t>Data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 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FB0CF"/>
                </a:solidFill>
                <a:latin typeface="Pretendard"/>
                <a:ea typeface="Pretendard"/>
              </a:rPr>
              <a:t>10 / 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4354176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813602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589520" y="-914400"/>
            <a:ext cx="5486400" cy="3657600"/>
          </a:xfrm>
          <a:prstGeom prst="rect">
            <a:avLst/>
          </a:prstGeom>
          <a:solidFill>
            <a:srgbClr val="24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50392" y="566928"/>
            <a:ext cx="1842516" cy="384048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18288" rIns="109728" bIns="18288" rtlCol="0" anchor="ctr"/>
          <a:lstStyle/>
          <a:p>
            <a:pPr algn="ctr"/>
            <a:r>
              <a:rPr sz="1100" b="1" i="0">
                <a:solidFill>
                  <a:srgbClr val="E8A33D"/>
                </a:solidFill>
                <a:latin typeface="JetBrains Mono"/>
                <a:ea typeface="Pretendard"/>
              </a:rPr>
              <a:t>MODULE 1 · 실습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097280"/>
            <a:ext cx="658368" cy="365760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14213D"/>
                </a:solidFill>
                <a:latin typeface="Pretendard"/>
                <a:ea typeface="Pretendard"/>
              </a:rPr>
              <a:t>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78992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Pretendard"/>
                <a:ea typeface="Pretendard"/>
              </a:rPr>
              <a:t>분포 확인 — 히스토그램 · 박스플롯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9659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9FB0CF"/>
                </a:solidFill>
                <a:latin typeface="Pretendard"/>
                <a:ea typeface="Pretendard"/>
              </a:rPr>
              <a:t>평균만 보면 데이터의 진짜 모습을 놓친다 — 분포의 형태를 직접 본다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◆ </a:t>
            </a:r>
            <a:r>
              <a:rPr sz="1400" b="1" i="0">
                <a:solidFill>
                  <a:srgbClr val="EEF2FB"/>
                </a:solidFill>
                <a:latin typeface="JetBrains Mono"/>
                <a:ea typeface="Pretendard"/>
              </a:rPr>
              <a:t>평균의 함정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9FB0CF"/>
                </a:solidFill>
                <a:latin typeface="JetBrains Mono"/>
                <a:ea typeface="Pretendard"/>
              </a:rPr>
              <a:t>    9명 3천만+1명 30억 → 평균 약 3.3억, 누구도 안 받음. 중앙값을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◆ </a:t>
            </a:r>
            <a:r>
              <a:rPr sz="1400" b="1" i="0">
                <a:solidFill>
                  <a:srgbClr val="EEF2FB"/>
                </a:solidFill>
                <a:latin typeface="JetBrains Mono"/>
                <a:ea typeface="Pretendard"/>
              </a:rPr>
              <a:t>히스토그램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9FB0CF"/>
                </a:solidFill>
                <a:latin typeface="JetBrains Mono"/>
                <a:ea typeface="Pretendard"/>
              </a:rPr>
              <a:t>    대칭/치우침(왜도)/봉우리 수 → 분포 형태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◆ </a:t>
            </a:r>
            <a:r>
              <a:rPr sz="1400" b="1" i="0">
                <a:solidFill>
                  <a:srgbClr val="EEF2FB"/>
                </a:solidFill>
                <a:latin typeface="JetBrains Mono"/>
                <a:ea typeface="Pretendard"/>
              </a:rPr>
              <a:t>박스플롯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9FB0CF"/>
                </a:solidFill>
                <a:latin typeface="JetBrains Mono"/>
                <a:ea typeface="Pretendard"/>
              </a:rPr>
              <a:t>    사분위수·IQR·수염 밖의 점=이상치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9360" y="2697480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E8A33D"/>
                          </a:solidFill>
                          <a:latin typeface="Pretendard"/>
                          <a:ea typeface="Pretendard"/>
                        </a:rPr>
                        <a:t>분포 형태</a:t>
                      </a:r>
                    </a:p>
                  </a:txBody>
                  <a:tcPr marT="36576" marB="36576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E8A33D"/>
                          </a:solidFill>
                          <a:latin typeface="Pretendard"/>
                          <a:ea typeface="Pretendard"/>
                        </a:rPr>
                        <a:t>대표값</a:t>
                      </a:r>
                    </a:p>
                  </a:txBody>
                  <a:tcPr marT="36576" marB="36576" anchor="ctr">
                    <a:solidFill>
                      <a:srgbClr val="14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종 모양(정규)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평균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오른쪽 꼬리(소득)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중앙값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이봉(두 집단)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집단 분리 후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309360" y="4572000"/>
            <a:ext cx="54864" cy="11887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64224" y="4572000"/>
            <a:ext cx="4974336" cy="1188720"/>
          </a:xfrm>
          <a:prstGeom prst="roundRect">
            <a:avLst/>
          </a:prstGeom>
          <a:solidFill>
            <a:srgbClr val="223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201168" rtlCol="0" anchor="ctr"/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  <a:ea typeface="Pretendard"/>
              </a:rPr>
              <a:t>앤스컴 콰르텟(Anscombe, 1973)</a:t>
            </a:r>
            <a:r>
              <a:rPr sz="1300" b="0" i="0">
                <a:solidFill>
                  <a:srgbClr val="EEF2FB"/>
                </a:solidFill>
                <a:latin typeface="Pretendard"/>
                <a:ea typeface="Pretendard"/>
              </a:rPr>
              <a:t> — 평균·분산·상관이 같아도 모양은 전혀 다름. 요약 전에 반드시 그려보라.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738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EF2FB"/>
                </a:solidFill>
                <a:latin typeface="JetBrains Mono"/>
                <a:ea typeface="Pretendard"/>
              </a:rPr>
              <a:t>Data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 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FB0CF"/>
                </a:solidFill>
                <a:latin typeface="Pretendard"/>
                <a:ea typeface="Pretendard"/>
              </a:rPr>
              <a:t>11 / 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4789594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939335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589520" y="-914400"/>
            <a:ext cx="5486400" cy="3657600"/>
          </a:xfrm>
          <a:prstGeom prst="rect">
            <a:avLst/>
          </a:prstGeom>
          <a:solidFill>
            <a:srgbClr val="24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50392" y="566928"/>
            <a:ext cx="1842516" cy="384048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18288" rIns="109728" bIns="18288" rtlCol="0" anchor="ctr"/>
          <a:lstStyle/>
          <a:p>
            <a:pPr algn="ctr"/>
            <a:r>
              <a:rPr sz="1100" b="1" i="0">
                <a:solidFill>
                  <a:srgbClr val="E8A33D"/>
                </a:solidFill>
                <a:latin typeface="JetBrains Mono"/>
                <a:ea typeface="Pretendard"/>
              </a:rPr>
              <a:t>MODULE 1 ·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Georgia"/>
                <a:ea typeface="바탕"/>
              </a:rPr>
              <a:t>EDA 실무 체크리스트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9385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9FB0CF"/>
                </a:solidFill>
                <a:latin typeface="Pretendard"/>
                <a:ea typeface="Pretendard"/>
              </a:rPr>
              <a:t>좋은 EDA는 차트를 많이 그린 것이 아니라, 올바른 질문을 던진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◆ </a:t>
            </a:r>
            <a:r>
              <a:rPr sz="1400" b="1" i="0">
                <a:solidFill>
                  <a:srgbClr val="EEF2FB"/>
                </a:solidFill>
                <a:latin typeface="JetBrains Mono"/>
                <a:ea typeface="Pretendard"/>
              </a:rPr>
              <a:t>분석 목적과 가설을 한 문장으로 적었는가?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◆ </a:t>
            </a:r>
            <a:r>
              <a:rPr sz="1400" b="1" i="0">
                <a:solidFill>
                  <a:srgbClr val="EEF2FB"/>
                </a:solidFill>
                <a:latin typeface="JetBrains Mono"/>
                <a:ea typeface="Pretendard"/>
              </a:rPr>
              <a:t>행/열 수·결측치·중복·단위를 점검했는가?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◆ </a:t>
            </a:r>
            <a:r>
              <a:rPr sz="1400" b="1" i="0">
                <a:solidFill>
                  <a:srgbClr val="EEF2FB"/>
                </a:solidFill>
                <a:latin typeface="JetBrains Mono"/>
                <a:ea typeface="Pretendard"/>
              </a:rPr>
              <a:t>핵심 지표를 구성 요소·차원으로 쪼갰는가?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◆ </a:t>
            </a:r>
            <a:r>
              <a:rPr sz="1400" b="1" i="0">
                <a:solidFill>
                  <a:srgbClr val="EEF2FB"/>
                </a:solidFill>
                <a:latin typeface="JetBrains Mono"/>
                <a:ea typeface="Pretendard"/>
              </a:rPr>
              <a:t>시간에 따른 추세·계절성을 확인했는가?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51460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◆ </a:t>
            </a:r>
            <a:r>
              <a:rPr sz="1400" b="1" i="0">
                <a:solidFill>
                  <a:srgbClr val="EEF2FB"/>
                </a:solidFill>
                <a:latin typeface="JetBrains Mono"/>
                <a:ea typeface="Pretendard"/>
              </a:rPr>
              <a:t>분포(히스토그램·박스플롯)를 그렸는가?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◆ </a:t>
            </a:r>
            <a:r>
              <a:rPr sz="1400" b="1" i="0">
                <a:solidFill>
                  <a:srgbClr val="EEF2FB"/>
                </a:solidFill>
                <a:latin typeface="JetBrains Mono"/>
                <a:ea typeface="Pretendard"/>
              </a:rPr>
              <a:t>이상치가 오류인지 진짜 특이값인지 판단했는가?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◆ </a:t>
            </a:r>
            <a:r>
              <a:rPr sz="1400" b="1" i="0">
                <a:solidFill>
                  <a:srgbClr val="EEF2FB"/>
                </a:solidFill>
                <a:latin typeface="JetBrains Mono"/>
                <a:ea typeface="Pretendard"/>
              </a:rPr>
              <a:t>상관을 인과로 단정하지 않았는가?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◆ </a:t>
            </a:r>
            <a:r>
              <a:rPr sz="1400" b="1" i="0">
                <a:solidFill>
                  <a:srgbClr val="EEF2FB"/>
                </a:solidFill>
                <a:latin typeface="JetBrains Mono"/>
                <a:ea typeface="Pretendard"/>
              </a:rPr>
              <a:t>발견한 패턴을 새 질문으로 정리했는가?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738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EF2FB"/>
                </a:solidFill>
                <a:latin typeface="JetBrains Mono"/>
                <a:ea typeface="Pretendard"/>
              </a:rPr>
              <a:t>Data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 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FB0CF"/>
                </a:solidFill>
                <a:latin typeface="Pretendard"/>
                <a:ea typeface="Pretendard"/>
              </a:rPr>
              <a:t>12 / 28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5225012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557122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589520" y="-914400"/>
            <a:ext cx="5486400" cy="3657600"/>
          </a:xfrm>
          <a:prstGeom prst="rect">
            <a:avLst/>
          </a:prstGeom>
          <a:solidFill>
            <a:srgbClr val="24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73152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0" b="1" i="0">
                <a:solidFill>
                  <a:srgbClr val="2A3C63"/>
                </a:solidFill>
                <a:latin typeface="Georgia"/>
                <a:ea typeface="바탕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38500"/>
            <a:ext cx="10972800" cy="1422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Georgia"/>
                <a:ea typeface="바탕"/>
              </a:rPr>
              <a:t>시각화의 원리 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400" b="1" i="0">
                <a:solidFill>
                  <a:srgbClr val="E8A33D"/>
                </a:solidFill>
                <a:latin typeface="Georgia"/>
                <a:ea typeface="바탕"/>
              </a:rPr>
              <a:t>및 기획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4800600"/>
            <a:ext cx="105156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9FB0CF"/>
                </a:solidFill>
                <a:latin typeface="Pretendard"/>
                <a:ea typeface="Pretendard"/>
              </a:rPr>
              <a:t>데이터가 담은 메시지를 가장 빠르고 정확하게 전달한다 · 2.0H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212080"/>
            <a:ext cx="1197864" cy="420624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9FB0CF"/>
                </a:solidFill>
                <a:latin typeface="Pretendard"/>
                <a:ea typeface="Pretendard"/>
              </a:rPr>
              <a:t>메시지·타겟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85416" y="5212080"/>
            <a:ext cx="1051560" cy="420624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9FB0CF"/>
                </a:solidFill>
                <a:latin typeface="Pretendard"/>
                <a:ea typeface="Pretendard"/>
              </a:rPr>
              <a:t>차트 선택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5212080"/>
            <a:ext cx="2368296" cy="420624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9FB0CF"/>
                </a:solidFill>
                <a:latin typeface="Pretendard"/>
                <a:ea typeface="Pretendard"/>
              </a:rPr>
              <a:t>Data-Ink Ratio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34456" y="5212080"/>
            <a:ext cx="1051560" cy="420624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9FB0CF"/>
                </a:solidFill>
                <a:latin typeface="Pretendard"/>
                <a:ea typeface="Pretendard"/>
              </a:rPr>
              <a:t>왜곡 회피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50608" y="5212080"/>
            <a:ext cx="1197864" cy="420624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9FB0CF"/>
                </a:solidFill>
                <a:latin typeface="Pretendard"/>
                <a:ea typeface="Pretendard"/>
              </a:rPr>
              <a:t>윤리적 표현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2738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EF2FB"/>
                </a:solidFill>
                <a:latin typeface="JetBrains Mono"/>
                <a:ea typeface="Pretendard"/>
              </a:rPr>
              <a:t>Data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 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FB0CF"/>
                </a:solidFill>
                <a:latin typeface="Pretendard"/>
                <a:ea typeface="Pretendard"/>
              </a:rPr>
              <a:t>13 / 28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5660429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827290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589520" y="-914400"/>
            <a:ext cx="5486400" cy="3657600"/>
          </a:xfrm>
          <a:prstGeom prst="rect">
            <a:avLst/>
          </a:prstGeom>
          <a:solidFill>
            <a:srgbClr val="24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50392" y="566928"/>
            <a:ext cx="1362456" cy="384048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18288" rIns="109728" bIns="18288" rtlCol="0" anchor="ctr"/>
          <a:lstStyle/>
          <a:p>
            <a:pPr algn="ctr"/>
            <a:r>
              <a:rPr sz="1100" b="1" i="0">
                <a:solidFill>
                  <a:srgbClr val="E8A33D"/>
                </a:solidFill>
                <a:latin typeface="JetBrains Mono"/>
                <a:ea typeface="Pretendard"/>
              </a:rPr>
              <a:t>MODULE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Georgia"/>
                <a:ea typeface="바탕"/>
              </a:rPr>
              <a:t>시각화의 목적 — 메시지와 타겟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9385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9FB0CF"/>
                </a:solidFill>
                <a:latin typeface="Pretendard"/>
                <a:ea typeface="Pretendard"/>
              </a:rPr>
              <a:t>예쁜 그림이 아니라 결론을 보여주는 차트. 그리기 전에 ‘무엇을 / 누구에게’부터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377440"/>
            <a:ext cx="54864" cy="8229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77824" y="2377440"/>
            <a:ext cx="10506456" cy="822960"/>
          </a:xfrm>
          <a:prstGeom prst="roundRect">
            <a:avLst/>
          </a:prstGeom>
          <a:solidFill>
            <a:srgbClr val="223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201168" rtlCol="0" anchor="ctr"/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EEF2FB"/>
                </a:solidFill>
                <a:latin typeface="Pretendard"/>
                <a:ea typeface="Pretendard"/>
              </a:rPr>
              <a:t>차트 제목에 ‘월별 매출’이 아니라 </a:t>
            </a:r>
            <a:r>
              <a:rPr sz="1300" b="1" i="0">
                <a:solidFill>
                  <a:srgbClr val="FFFFFF"/>
                </a:solidFill>
                <a:latin typeface="Pretendard"/>
                <a:ea typeface="Pretendard"/>
              </a:rPr>
              <a:t>‘3분기 매출이 전년 대비 18% 감소했다’</a:t>
            </a:r>
            <a:r>
              <a:rPr sz="1300" b="0" i="0">
                <a:solidFill>
                  <a:srgbClr val="EEF2FB"/>
                </a:solidFill>
                <a:latin typeface="Pretendard"/>
                <a:ea typeface="Pretendard"/>
              </a:rPr>
              <a:t>처럼 결론(So-What)을 쓰는 순간 불필요한 요소가 정리됩니다.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3520440"/>
          <a:ext cx="10515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E8A33D"/>
                          </a:solidFill>
                          <a:latin typeface="Pretendard"/>
                          <a:ea typeface="Pretendard"/>
                        </a:rPr>
                        <a:t>타겟</a:t>
                      </a:r>
                    </a:p>
                  </a:txBody>
                  <a:tcPr marT="36576" marB="36576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E8A33D"/>
                          </a:solidFill>
                          <a:latin typeface="Pretendard"/>
                          <a:ea typeface="Pretendard"/>
                        </a:rPr>
                        <a:t>관심사</a:t>
                      </a:r>
                    </a:p>
                  </a:txBody>
                  <a:tcPr marT="36576" marB="36576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E8A33D"/>
                          </a:solidFill>
                          <a:latin typeface="Pretendard"/>
                          <a:ea typeface="Pretendard"/>
                        </a:rPr>
                        <a:t>시각화 전략</a:t>
                      </a:r>
                    </a:p>
                  </a:txBody>
                  <a:tcPr marT="36576" marB="36576" anchor="ctr">
                    <a:solidFill>
                      <a:srgbClr val="14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경영진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결론·의사결정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KPI 1~2개, 큰 숫자, 추세 한눈에. 디테일 제거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실무자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원인·세부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차원별 분해, 비교 가능한 표·차트, 필터 제공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외부/고객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신뢰·맥락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출처 명시, 단순·오해 없는 표현, 스토리 흐름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62738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EF2FB"/>
                </a:solidFill>
                <a:latin typeface="JetBrains Mono"/>
                <a:ea typeface="Pretendard"/>
              </a:rPr>
              <a:t>Data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FB0CF"/>
                </a:solidFill>
                <a:latin typeface="Pretendard"/>
                <a:ea typeface="Pretendard"/>
              </a:rPr>
              <a:t>14 / 28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6095847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6259383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589520" y="-914400"/>
            <a:ext cx="5486400" cy="3657600"/>
          </a:xfrm>
          <a:prstGeom prst="rect">
            <a:avLst/>
          </a:prstGeom>
          <a:solidFill>
            <a:srgbClr val="24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50392" y="566928"/>
            <a:ext cx="1362456" cy="384048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18288" rIns="109728" bIns="18288" rtlCol="0" anchor="ctr"/>
          <a:lstStyle/>
          <a:p>
            <a:pPr algn="ctr"/>
            <a:r>
              <a:rPr sz="1100" b="1" i="0">
                <a:solidFill>
                  <a:srgbClr val="E8A33D"/>
                </a:solidFill>
                <a:latin typeface="JetBrains Mono"/>
                <a:ea typeface="Pretendard"/>
              </a:rPr>
              <a:t>MODULE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Georgia"/>
                <a:ea typeface="바탕"/>
              </a:rPr>
              <a:t>차트 선택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9385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9FB0CF"/>
                </a:solidFill>
                <a:latin typeface="Pretendard"/>
                <a:ea typeface="Pretendard"/>
              </a:rPr>
              <a:t>‘내가 보여주려는 관계가 무엇인가’를 정하면 차트는 거의 자동으로 결정된다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246888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E8A33D"/>
                          </a:solidFill>
                          <a:latin typeface="Pretendard"/>
                          <a:ea typeface="Pretendard"/>
                        </a:rPr>
                        <a:t>분석 목적</a:t>
                      </a:r>
                    </a:p>
                  </a:txBody>
                  <a:tcPr marT="36576" marB="36576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E8A33D"/>
                          </a:solidFill>
                          <a:latin typeface="Pretendard"/>
                          <a:ea typeface="Pretendard"/>
                        </a:rPr>
                        <a:t>권장 차트</a:t>
                      </a:r>
                    </a:p>
                  </a:txBody>
                  <a:tcPr marT="36576" marB="36576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E8A33D"/>
                          </a:solidFill>
                          <a:latin typeface="Pretendard"/>
                          <a:ea typeface="Pretendard"/>
                        </a:rPr>
                        <a:t>예시</a:t>
                      </a:r>
                    </a:p>
                  </a:txBody>
                  <a:tcPr marT="36576" marB="36576" anchor="ctr">
                    <a:solidFill>
                      <a:srgbClr val="14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비교 (크기)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막대그래프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지점별 매출 비교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추이 (시간)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꺾은선그래프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월별 방문자 추세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구성 (비율)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누적막대 · (제한적)파이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채널별 매출 비중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관계 (상관)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산점도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광고비 vs 매출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분포 (퍼짐)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히스토그램 · 박스플롯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고객 연령 분포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22960" y="5212080"/>
            <a:ext cx="54864" cy="8686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77824" y="5212080"/>
            <a:ext cx="10506456" cy="868680"/>
          </a:xfrm>
          <a:prstGeom prst="roundRect">
            <a:avLst/>
          </a:prstGeom>
          <a:solidFill>
            <a:srgbClr val="223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201168" rtlCol="0" anchor="ctr"/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  <a:ea typeface="Pretendard"/>
              </a:rPr>
              <a:t>규칙 — </a:t>
            </a:r>
            <a:r>
              <a:rPr sz="1300" b="0" i="0">
                <a:solidFill>
                  <a:srgbClr val="EEF2FB"/>
                </a:solidFill>
                <a:latin typeface="Pretendard"/>
                <a:ea typeface="Pretendard"/>
              </a:rPr>
              <a:t>비교는 막대, 추이는 선, 관계는 산점도, 분포는 히스토그램/박스플롯. 파이 남용·스파게티 차트를 피하세요.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2738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EF2FB"/>
                </a:solidFill>
                <a:latin typeface="JetBrains Mono"/>
                <a:ea typeface="Pretendard"/>
              </a:rPr>
              <a:t>Data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FB0CF"/>
                </a:solidFill>
                <a:latin typeface="Pretendard"/>
                <a:ea typeface="Pretendard"/>
              </a:rPr>
              <a:t>15 / 28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6531265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7335076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589520" y="-914400"/>
            <a:ext cx="5486400" cy="3657600"/>
          </a:xfrm>
          <a:prstGeom prst="rect">
            <a:avLst/>
          </a:prstGeom>
          <a:solidFill>
            <a:srgbClr val="24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50392" y="566928"/>
            <a:ext cx="1842516" cy="384048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18288" rIns="109728" bIns="18288" rtlCol="0" anchor="ctr"/>
          <a:lstStyle/>
          <a:p>
            <a:pPr algn="ctr"/>
            <a:r>
              <a:rPr sz="1100" b="1" i="0">
                <a:solidFill>
                  <a:srgbClr val="E8A33D"/>
                </a:solidFill>
                <a:latin typeface="JetBrains Mono"/>
                <a:ea typeface="Pretendard"/>
              </a:rPr>
              <a:t>MODULE 2 · 실습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097280"/>
            <a:ext cx="658368" cy="365760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14213D"/>
                </a:solidFill>
                <a:latin typeface="Pretendard"/>
                <a:ea typeface="Pretendard"/>
              </a:rPr>
              <a:t>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78992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  <a:ea typeface="바탕"/>
              </a:rPr>
              <a:t>가독성 — Data-Ink Ratio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9659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9FB0CF"/>
                </a:solidFill>
                <a:latin typeface="Pretendard"/>
                <a:ea typeface="Pretendard"/>
              </a:rPr>
              <a:t>좋은 차트는 더하는 게 아니라 덜어낸 결과. 잉크의 대부분을 데이터에만 (Tufte, 1983)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◆ </a:t>
            </a:r>
            <a:r>
              <a:rPr sz="1400" b="1" i="0">
                <a:solidFill>
                  <a:srgbClr val="EEF2FB"/>
                </a:solidFill>
                <a:latin typeface="JetBrains Mono"/>
                <a:ea typeface="Pretendard"/>
              </a:rPr>
              <a:t>불필요한 요소 제거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9FB0CF"/>
                </a:solidFill>
                <a:latin typeface="JetBrains Mono"/>
                <a:ea typeface="Pretendard"/>
              </a:rPr>
              <a:t>    격자선·테두리·배경·3D·범례·과도한 소수점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◆ </a:t>
            </a:r>
            <a:r>
              <a:rPr sz="1400" b="1" i="0">
                <a:solidFill>
                  <a:srgbClr val="EEF2FB"/>
                </a:solidFill>
                <a:latin typeface="JetBrains Mono"/>
                <a:ea typeface="Pretendard"/>
              </a:rPr>
              <a:t>강조색은 1개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9FB0CF"/>
                </a:solidFill>
                <a:latin typeface="JetBrains Mono"/>
                <a:ea typeface="Pretendard"/>
              </a:rPr>
              <a:t>    나머지 회색. 빨강-초록 조합 회피(색맹)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◆ </a:t>
            </a:r>
            <a:r>
              <a:rPr sz="1400" b="1" i="0">
                <a:solidFill>
                  <a:srgbClr val="EEF2FB"/>
                </a:solidFill>
                <a:latin typeface="JetBrains Mono"/>
                <a:ea typeface="Pretendard"/>
              </a:rPr>
              <a:t>시선 유도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9FB0CF"/>
                </a:solidFill>
                <a:latin typeface="JetBrains Mono"/>
                <a:ea typeface="Pretendard"/>
              </a:rPr>
              <a:t>    값 순 정렬·직접 라벨·제목에 결론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09360" y="2697480"/>
          <a:ext cx="50292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E8A33D"/>
                          </a:solidFill>
                          <a:latin typeface="Pretendard"/>
                          <a:ea typeface="Pretendard"/>
                        </a:rPr>
                        <a:t>항목</a:t>
                      </a:r>
                    </a:p>
                  </a:txBody>
                  <a:tcPr marT="36576" marB="36576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E8A33D"/>
                          </a:solidFill>
                          <a:latin typeface="Pretendard"/>
                          <a:ea typeface="Pretendard"/>
                        </a:rPr>
                        <a:t>Before</a:t>
                      </a:r>
                    </a:p>
                  </a:txBody>
                  <a:tcPr marT="36576" marB="36576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E8A33D"/>
                          </a:solidFill>
                          <a:latin typeface="Pretendard"/>
                          <a:ea typeface="Pretendard"/>
                        </a:rPr>
                        <a:t>After</a:t>
                      </a:r>
                    </a:p>
                  </a:txBody>
                  <a:tcPr marT="36576" marB="36576" anchor="ctr">
                    <a:solidFill>
                      <a:srgbClr val="14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격자선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진한 검정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옅은 회색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색상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무지개 7색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강조 1색+회색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범례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별도 박스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직접 라벨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제목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‘월별 매출’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‘18% 감소’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822960" y="5440680"/>
            <a:ext cx="54864" cy="8686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77824" y="5440680"/>
            <a:ext cx="10506456" cy="868680"/>
          </a:xfrm>
          <a:prstGeom prst="roundRect">
            <a:avLst/>
          </a:prstGeom>
          <a:solidFill>
            <a:srgbClr val="223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201168" rtlCol="0" anchor="ctr"/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EEF2FB"/>
                </a:solidFill>
                <a:latin typeface="Pretendard"/>
                <a:ea typeface="Pretendard"/>
              </a:rPr>
              <a:t>‘더 이상 뺄 것이 없을 때 완성된다.’(생텍쥐페리, 『인간의 대지』, 1939) 차트도 디자인도 마찬가지입니다.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738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EF2FB"/>
                </a:solidFill>
                <a:latin typeface="JetBrains Mono"/>
                <a:ea typeface="Pretendard"/>
              </a:rPr>
              <a:t>Data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 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FB0CF"/>
                </a:solidFill>
                <a:latin typeface="Pretendard"/>
                <a:ea typeface="Pretendard"/>
              </a:rPr>
              <a:t>16 / 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6966682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731523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589520" y="-914400"/>
            <a:ext cx="5486400" cy="3657600"/>
          </a:xfrm>
          <a:prstGeom prst="rect">
            <a:avLst/>
          </a:prstGeom>
          <a:solidFill>
            <a:srgbClr val="24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50392" y="566928"/>
            <a:ext cx="1842516" cy="384048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18288" rIns="109728" bIns="18288" rtlCol="0" anchor="ctr"/>
          <a:lstStyle/>
          <a:p>
            <a:pPr algn="ctr"/>
            <a:r>
              <a:rPr sz="1100" b="1" i="0">
                <a:solidFill>
                  <a:srgbClr val="E8A33D"/>
                </a:solidFill>
                <a:latin typeface="JetBrains Mono"/>
                <a:ea typeface="Pretendard"/>
              </a:rPr>
              <a:t>MODULE 2 · 실습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097280"/>
            <a:ext cx="658368" cy="365760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14213D"/>
                </a:solidFill>
                <a:latin typeface="Pretendard"/>
                <a:ea typeface="Pretendard"/>
              </a:rPr>
              <a:t>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78992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  <a:ea typeface="바탕"/>
              </a:rPr>
              <a:t>정보 왜곡 오류 피하기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9659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9FB0CF"/>
                </a:solidFill>
                <a:latin typeface="Pretendard"/>
                <a:ea typeface="Pretendard"/>
              </a:rPr>
              <a:t>가장 위험한 건 못생긴 차트가 아니라 사실을 왜곡하는 차트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2697480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E8A33D"/>
                          </a:solidFill>
                          <a:latin typeface="Pretendard"/>
                          <a:ea typeface="Pretendard"/>
                        </a:rPr>
                        <a:t>왜곡 유형</a:t>
                      </a:r>
                    </a:p>
                  </a:txBody>
                  <a:tcPr marT="36576" marB="36576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E8A33D"/>
                          </a:solidFill>
                          <a:latin typeface="Pretendard"/>
                          <a:ea typeface="Pretendard"/>
                        </a:rPr>
                        <a:t>무엇이 문제인가</a:t>
                      </a:r>
                    </a:p>
                  </a:txBody>
                  <a:tcPr marT="36576" marB="36576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E8A33D"/>
                          </a:solidFill>
                          <a:latin typeface="Pretendard"/>
                          <a:ea typeface="Pretendard"/>
                        </a:rPr>
                        <a:t>올바른 대안</a:t>
                      </a:r>
                    </a:p>
                  </a:txBody>
                  <a:tcPr marT="36576" marB="36576" anchor="ctr">
                    <a:solidFill>
                      <a:srgbClr val="14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y축 0 미시작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작은 차이를 거대하게 과장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막대는 반드시 0부터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이중 축 오용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스케일 조정해 가짜 상관 연출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차트 분리 / 지수화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3D 차트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원근·기울기로 크기 왜곡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평면 2D 사용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면적/버블 과장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지름→면적이 제곱으로 과장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면적을 값에 비례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22960" y="5029200"/>
            <a:ext cx="54864" cy="8686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77824" y="5029200"/>
            <a:ext cx="10506456" cy="868680"/>
          </a:xfrm>
          <a:prstGeom prst="roundRect">
            <a:avLst/>
          </a:prstGeom>
          <a:solidFill>
            <a:srgbClr val="223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201168" rtlCol="0" anchor="ctr"/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  <a:ea typeface="Pretendard"/>
              </a:rPr>
              <a:t>황금률 — </a:t>
            </a:r>
            <a:r>
              <a:rPr sz="1300" b="0" i="0">
                <a:solidFill>
                  <a:srgbClr val="EEF2FB"/>
                </a:solidFill>
                <a:latin typeface="Pretendard"/>
                <a:ea typeface="Pretendard"/>
              </a:rPr>
              <a:t>막대그래프 y축은 반드시 0에서 시작. 꺾은선은 아니어도 되지만 축 범위를 반드시 명시.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2738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EF2FB"/>
                </a:solidFill>
                <a:latin typeface="JetBrains Mono"/>
                <a:ea typeface="Pretendard"/>
              </a:rPr>
              <a:t>Data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 Lab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FB0CF"/>
                </a:solidFill>
                <a:latin typeface="Pretendard"/>
                <a:ea typeface="Pretendard"/>
              </a:rPr>
              <a:t>17 / 28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7402100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1024538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589520" y="-914400"/>
            <a:ext cx="5486400" cy="3657600"/>
          </a:xfrm>
          <a:prstGeom prst="rect">
            <a:avLst/>
          </a:prstGeom>
          <a:solidFill>
            <a:srgbClr val="24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50392" y="566928"/>
            <a:ext cx="1842516" cy="384048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18288" rIns="109728" bIns="18288" rtlCol="0" anchor="ctr"/>
          <a:lstStyle/>
          <a:p>
            <a:pPr algn="ctr"/>
            <a:r>
              <a:rPr sz="1100" b="1" i="0">
                <a:solidFill>
                  <a:srgbClr val="E8A33D"/>
                </a:solidFill>
                <a:latin typeface="JetBrains Mono"/>
                <a:ea typeface="Pretendard"/>
              </a:rPr>
              <a:t>MODULE 2 · 실습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097280"/>
            <a:ext cx="658368" cy="365760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14213D"/>
                </a:solidFill>
                <a:latin typeface="Pretendard"/>
                <a:ea typeface="Pretendard"/>
              </a:rPr>
              <a:t>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78992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  <a:ea typeface="바탕"/>
              </a:rPr>
              <a:t>윤리적이고 정확한 표현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9659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9FB0CF"/>
                </a:solidFill>
                <a:latin typeface="Pretendard"/>
                <a:ea typeface="Pretendard"/>
              </a:rPr>
              <a:t>시각화의 마지막 책임은 정직함 — 맥락을 숨기면 거짓말과 같다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◆ </a:t>
            </a:r>
            <a:r>
              <a:rPr sz="1400" b="1" i="0">
                <a:solidFill>
                  <a:srgbClr val="EEF2FB"/>
                </a:solidFill>
                <a:latin typeface="JetBrains Mono"/>
                <a:ea typeface="Pretendard"/>
              </a:rPr>
              <a:t>체리피킹 회피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9FB0CF"/>
                </a:solidFill>
                <a:latin typeface="JetBrains Mono"/>
                <a:ea typeface="Pretendard"/>
              </a:rPr>
              <a:t>    유리한 기간·집단만 고르지 않기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◆ </a:t>
            </a:r>
            <a:r>
              <a:rPr sz="1400" b="1" i="0">
                <a:solidFill>
                  <a:srgbClr val="EEF2FB"/>
                </a:solidFill>
                <a:latin typeface="JetBrains Mono"/>
                <a:ea typeface="Pretendard"/>
              </a:rPr>
              <a:t>기준선 조작 회피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9FB0CF"/>
                </a:solidFill>
                <a:latin typeface="JetBrains Mono"/>
                <a:ea typeface="Pretendard"/>
              </a:rPr>
              <a:t>    전년? 목표? 경쟁사? 기준 명시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◆ </a:t>
            </a:r>
            <a:r>
              <a:rPr sz="1400" b="1" i="0">
                <a:solidFill>
                  <a:srgbClr val="EEF2FB"/>
                </a:solidFill>
                <a:latin typeface="JetBrains Mono"/>
                <a:ea typeface="Pretendard"/>
              </a:rPr>
              <a:t>표본 왜곡 회피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9FB0CF"/>
                </a:solidFill>
                <a:latin typeface="JetBrains Mono"/>
                <a:ea typeface="Pretendard"/>
              </a:rPr>
              <a:t>    ‘90% 만족’(n=10) → 표본 n 표기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697480"/>
            <a:ext cx="5029200" cy="2103120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64592" bIns="128016" rtlCol="0" anchor="ctr"/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Pretendard"/>
                <a:ea typeface="Pretendard"/>
              </a:rPr>
              <a:t>객관적 팩트 전달 3원칙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 b="0" i="0">
                <a:solidFill>
                  <a:srgbClr val="9FB0CF"/>
                </a:solidFill>
                <a:latin typeface="Pretendard"/>
                <a:ea typeface="Pretendard"/>
              </a:rPr>
              <a:t>1. 출처 명시 — 데이터 출처·수집 방법
2. 기간·표본 명시 — 언제, 몇 건
3. 단위·정의 명시 — 매출은 부가세 포함?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5486400"/>
            <a:ext cx="54864" cy="8686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77824" y="5486400"/>
            <a:ext cx="10506456" cy="868680"/>
          </a:xfrm>
          <a:prstGeom prst="roundRect">
            <a:avLst/>
          </a:prstGeom>
          <a:solidFill>
            <a:srgbClr val="223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201168" rtlCol="0" anchor="ctr"/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EEF2FB"/>
                </a:solidFill>
                <a:latin typeface="Pretendard"/>
                <a:ea typeface="Pretendard"/>
              </a:rPr>
              <a:t>좋은 분석가는 ‘내 주장을 돕는 차트’가 아니라 </a:t>
            </a:r>
            <a:r>
              <a:rPr sz="1300" b="1" i="0">
                <a:solidFill>
                  <a:srgbClr val="FFFFFF"/>
                </a:solidFill>
                <a:latin typeface="Pretendard"/>
                <a:ea typeface="Pretendard"/>
              </a:rPr>
              <a:t>‘사실을 가장 정확히 보여주는 차트’</a:t>
            </a:r>
            <a:r>
              <a:rPr sz="1300" b="0" i="0">
                <a:solidFill>
                  <a:srgbClr val="EEF2FB"/>
                </a:solidFill>
                <a:latin typeface="Pretendard"/>
                <a:ea typeface="Pretendard"/>
              </a:rPr>
              <a:t>를 만듭니다.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738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EF2FB"/>
                </a:solidFill>
                <a:latin typeface="JetBrains Mono"/>
                <a:ea typeface="Pretendard"/>
              </a:rPr>
              <a:t>Data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 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FB0CF"/>
                </a:solidFill>
                <a:latin typeface="Pretendard"/>
                <a:ea typeface="Pretendard"/>
              </a:rPr>
              <a:t>18 / 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7837518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6344638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589520" y="-914400"/>
            <a:ext cx="5486400" cy="3657600"/>
          </a:xfrm>
          <a:prstGeom prst="rect">
            <a:avLst/>
          </a:prstGeom>
          <a:solidFill>
            <a:srgbClr val="24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50392" y="566928"/>
            <a:ext cx="1842516" cy="384048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18288" rIns="109728" bIns="18288" rtlCol="0" anchor="ctr"/>
          <a:lstStyle/>
          <a:p>
            <a:pPr algn="ctr"/>
            <a:r>
              <a:rPr sz="1100" b="1" i="0">
                <a:solidFill>
                  <a:srgbClr val="E8A33D"/>
                </a:solidFill>
                <a:latin typeface="JetBrains Mono"/>
                <a:ea typeface="Pretendard"/>
              </a:rPr>
              <a:t>MODULE 2 ·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Georgia"/>
                <a:ea typeface="바탕"/>
              </a:rPr>
              <a:t>‘이 데이터엔 이 차트’ 치트시트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9385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9FB0CF"/>
                </a:solidFill>
                <a:latin typeface="Pretendard"/>
                <a:ea typeface="Pretendard"/>
              </a:rPr>
              <a:t>시각화는 메시지 전달 수단 — 목적이 차트를 결정한다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246888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E8A33D"/>
                          </a:solidFill>
                          <a:latin typeface="Pretendard"/>
                          <a:ea typeface="Pretendard"/>
                        </a:rPr>
                        <a:t>보여주려는 것</a:t>
                      </a:r>
                    </a:p>
                  </a:txBody>
                  <a:tcPr marT="36576" marB="36576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E8A33D"/>
                          </a:solidFill>
                          <a:latin typeface="Pretendard"/>
                          <a:ea typeface="Pretendard"/>
                        </a:rPr>
                        <a:t>첫 번째 선택</a:t>
                      </a:r>
                    </a:p>
                  </a:txBody>
                  <a:tcPr marT="36576" marB="36576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E8A33D"/>
                          </a:solidFill>
                          <a:latin typeface="Pretendard"/>
                          <a:ea typeface="Pretendard"/>
                        </a:rPr>
                        <a:t>피할 것</a:t>
                      </a:r>
                    </a:p>
                  </a:txBody>
                  <a:tcPr marT="36576" marB="36576" anchor="ctr">
                    <a:solidFill>
                      <a:srgbClr val="14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항목 간 크기 비교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가로 막대(정렬)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파이(5개 이상)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시간에 따른 변화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꺾은선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막대(너무 많을 때)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부분과 전체 비율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누적막대 100%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3D 파이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두 변수 관계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산점도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이중 축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값의 분포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히스토그램/박스플롯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평균만 표기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단일 핵심 지표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큰 숫자 + 스파크라인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25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게이지/도넛 남용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62738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EF2FB"/>
                </a:solidFill>
                <a:latin typeface="JetBrains Mono"/>
                <a:ea typeface="Pretendard"/>
              </a:rPr>
              <a:t>Data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FB0CF"/>
                </a:solidFill>
                <a:latin typeface="Pretendard"/>
                <a:ea typeface="Pretendard"/>
              </a:rPr>
              <a:t>19 / 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8272935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41587288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589520" y="-914400"/>
            <a:ext cx="5486400" cy="3657600"/>
          </a:xfrm>
          <a:prstGeom prst="rect">
            <a:avLst/>
          </a:prstGeom>
          <a:solidFill>
            <a:srgbClr val="24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73152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0" b="1" i="0">
                <a:solidFill>
                  <a:srgbClr val="2A3C63"/>
                </a:solidFill>
                <a:latin typeface="Georgia"/>
                <a:ea typeface="바탕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38500"/>
            <a:ext cx="10972800" cy="1422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Georgia"/>
                <a:ea typeface="바탕"/>
              </a:rPr>
              <a:t>실무형 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400" b="1" i="0">
                <a:solidFill>
                  <a:srgbClr val="E8A33D"/>
                </a:solidFill>
                <a:latin typeface="Georgia"/>
                <a:ea typeface="바탕"/>
              </a:rPr>
              <a:t>대시보드 구축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4800600"/>
            <a:ext cx="105156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9FB0CF"/>
                </a:solidFill>
                <a:latin typeface="Pretendard"/>
                <a:ea typeface="Pretendard"/>
              </a:rPr>
              <a:t>한 화면에서 KPI를 모니터링하는 인터랙티브 대시보드 · 2.0H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212080"/>
            <a:ext cx="1344168" cy="420624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9FB0CF"/>
                </a:solidFill>
                <a:latin typeface="Pretendard"/>
                <a:ea typeface="Pretendard"/>
              </a:rPr>
              <a:t>인-셀 시각화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5212080"/>
            <a:ext cx="1490472" cy="420624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9FB0CF"/>
                </a:solidFill>
                <a:latin typeface="Pretendard"/>
                <a:ea typeface="Pretendard"/>
              </a:rPr>
              <a:t>KPI·레이아웃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86784" y="5212080"/>
            <a:ext cx="1344168" cy="420624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9FB0CF"/>
                </a:solidFill>
                <a:latin typeface="Pretendard"/>
                <a:ea typeface="Pretendard"/>
              </a:rPr>
              <a:t>피벗·슬라이서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95544" y="5212080"/>
            <a:ext cx="1051560" cy="420624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9FB0CF"/>
                </a:solidFill>
                <a:latin typeface="Pretendard"/>
                <a:ea typeface="Pretendard"/>
              </a:rPr>
              <a:t>자동 갱신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11696" y="5212080"/>
            <a:ext cx="612647" cy="420624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 i="0">
                <a:solidFill>
                  <a:srgbClr val="9FB0CF"/>
                </a:solidFill>
                <a:latin typeface="Pretendard"/>
                <a:ea typeface="Pretendard"/>
              </a:rPr>
              <a:t>종합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2738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EF2FB"/>
                </a:solidFill>
                <a:latin typeface="JetBrains Mono"/>
                <a:ea typeface="Pretendard"/>
              </a:rPr>
              <a:t>Data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 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FB0CF"/>
                </a:solidFill>
                <a:latin typeface="Pretendard"/>
                <a:ea typeface="Pretendard"/>
              </a:rPr>
              <a:t>20 / 28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8708353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8353330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589520" y="-914400"/>
            <a:ext cx="5486400" cy="3657600"/>
          </a:xfrm>
          <a:prstGeom prst="rect">
            <a:avLst/>
          </a:prstGeom>
          <a:solidFill>
            <a:srgbClr val="24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50392" y="566928"/>
            <a:ext cx="1362456" cy="384048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18288" rIns="109728" bIns="18288" rtlCol="0" anchor="ctr"/>
          <a:lstStyle/>
          <a:p>
            <a:pPr algn="ctr"/>
            <a:r>
              <a:rPr sz="1100" b="1" i="0">
                <a:solidFill>
                  <a:srgbClr val="E8A33D"/>
                </a:solidFill>
                <a:latin typeface="JetBrains Mono"/>
                <a:ea typeface="Pretendard"/>
              </a:rPr>
              <a:t>MODULE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Georgia"/>
                <a:ea typeface="바탕"/>
              </a:rPr>
              <a:t>표를 직관적으로 — 인-셀 시각화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9385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9FB0CF"/>
                </a:solidFill>
                <a:latin typeface="Pretendard"/>
                <a:ea typeface="Pretendard"/>
              </a:rPr>
              <a:t>차트 없이 셀 안에서 값의 크기·추세·상태를 표현한다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06040"/>
            <a:ext cx="3429000" cy="1920240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533400" rIns="164592" bIns="128016" rtlCol="0" anchor="t" anchorCtr="0"/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Pretendard"/>
                <a:ea typeface="Pretendard"/>
              </a:rPr>
              <a:t>조건부 서식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 b="0" i="0">
                <a:solidFill>
                  <a:srgbClr val="9FB0CF"/>
                </a:solidFill>
                <a:latin typeface="Pretendard"/>
                <a:ea typeface="Pretendard"/>
              </a:rPr>
              <a:t>색조(값 높낮이) · 아이콘 집합(신호등·화살표) · 규칙(상위 10%·중복 강조)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606040"/>
            <a:ext cx="3429000" cy="1920240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533400" rIns="164592" bIns="128016" rtlCol="0" anchor="t" anchorCtr="0"/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Pretendard"/>
                <a:ea typeface="Pretendard"/>
              </a:rPr>
              <a:t>데이터 막대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 b="0" i="0">
                <a:solidFill>
                  <a:srgbClr val="9FB0CF"/>
                </a:solidFill>
                <a:latin typeface="Pretendard"/>
                <a:ea typeface="Pretendard"/>
              </a:rPr>
              <a:t>셀 안에 막대를 그려 상대 크기 표시. ‘막대만 표시’로 숫자를 숨기면 깔끔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606040"/>
            <a:ext cx="3429000" cy="1920240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533400" rIns="164592" bIns="128016" rtlCol="0" anchor="t" anchorCtr="0"/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Pretendard"/>
                <a:ea typeface="Pretendard"/>
              </a:rPr>
              <a:t>스파크라인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 b="0" i="0">
                <a:solidFill>
                  <a:srgbClr val="9FB0CF"/>
                </a:solidFill>
                <a:latin typeface="Pretendard"/>
                <a:ea typeface="Pretendard"/>
              </a:rPr>
              <a:t>한 셀 미니 차트 — 꺾은선(추세)·열(크기)·승패(달성/미달)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800600"/>
            <a:ext cx="54864" cy="8686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77824" y="4800600"/>
            <a:ext cx="10506456" cy="868680"/>
          </a:xfrm>
          <a:prstGeom prst="roundRect">
            <a:avLst/>
          </a:prstGeom>
          <a:solidFill>
            <a:srgbClr val="223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201168" rtlCol="0" anchor="ctr"/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EEF2FB"/>
                </a:solidFill>
                <a:latin typeface="Pretendard"/>
                <a:ea typeface="Pretendard"/>
              </a:rPr>
              <a:t>목적은 </a:t>
            </a:r>
            <a:r>
              <a:rPr sz="1300" b="1" i="0">
                <a:solidFill>
                  <a:srgbClr val="FFFFFF"/>
                </a:solidFill>
                <a:latin typeface="Pretendard"/>
                <a:ea typeface="Pretendard"/>
              </a:rPr>
              <a:t>‘값을 읽지 않고도 패턴이 보이게’</a:t>
            </a:r>
            <a:r>
              <a:rPr sz="1300" b="0" i="0">
                <a:solidFill>
                  <a:srgbClr val="EEF2FB"/>
                </a:solidFill>
                <a:latin typeface="Pretendard"/>
                <a:ea typeface="Pretendard"/>
              </a:rPr>
              <a:t> 하는 것. 색·아이콘은 2~3종 이내로 절제하세요.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738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EF2FB"/>
                </a:solidFill>
                <a:latin typeface="JetBrains Mono"/>
                <a:ea typeface="Pretendard"/>
              </a:rPr>
              <a:t>Data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 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FB0CF"/>
                </a:solidFill>
                <a:latin typeface="Pretendard"/>
                <a:ea typeface="Pretendard"/>
              </a:rPr>
              <a:t>21 / 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3771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Graphic 16" descr="Palett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62200" y="2705100"/>
            <a:ext cx="355600" cy="355600"/>
          </a:xfrm>
          <a:prstGeom prst="rect">
            <a:avLst/>
          </a:prstGeom>
        </p:spPr>
      </p:pic>
      <p:pic>
        <p:nvPicPr>
          <p:cNvPr id="17" name="Graphic 17" descr="Bar chart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69000" y="2705100"/>
            <a:ext cx="355600" cy="355600"/>
          </a:xfrm>
          <a:prstGeom prst="rect">
            <a:avLst/>
          </a:prstGeom>
        </p:spPr>
      </p:pic>
      <p:pic>
        <p:nvPicPr>
          <p:cNvPr id="18" name="Graphic 18" descr="Trend chart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88500" y="2705100"/>
            <a:ext cx="355600" cy="355600"/>
          </a:xfrm>
          <a:prstGeom prst="rect">
            <a:avLst/>
          </a:prstGeom>
        </p:spPr>
      </p:pic>
      <p:sp>
        <p:nvSpPr>
          <p:cNvPr id="1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883525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589520" y="-914400"/>
            <a:ext cx="5486400" cy="3657600"/>
          </a:xfrm>
          <a:prstGeom prst="rect">
            <a:avLst/>
          </a:prstGeom>
          <a:solidFill>
            <a:srgbClr val="24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50392" y="566928"/>
            <a:ext cx="1362456" cy="384048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18288" rIns="109728" bIns="18288" rtlCol="0" anchor="ctr"/>
          <a:lstStyle/>
          <a:p>
            <a:pPr algn="ctr"/>
            <a:r>
              <a:rPr sz="1100" b="1" i="0">
                <a:solidFill>
                  <a:srgbClr val="E8A33D"/>
                </a:solidFill>
                <a:latin typeface="JetBrains Mono"/>
                <a:ea typeface="Pretendard"/>
              </a:rPr>
              <a:t>MODULE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Georgia"/>
                <a:ea typeface="바탕"/>
              </a:rPr>
              <a:t>대시보드 기획 — KPI와 레이아웃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9385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9FB0CF"/>
                </a:solidFill>
                <a:latin typeface="Pretendard"/>
                <a:ea typeface="Pretendard"/>
              </a:rPr>
              <a:t>잘 그린 차트의 모음이 아니라, 의사결정을 돕는 한 장의 화면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14600"/>
            <a:ext cx="3383280" cy="1143000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64592" bIns="128016" rtlCol="0" anchor="ctr"/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E8A33D"/>
                </a:solidFill>
                <a:latin typeface="JetBrains Mono"/>
                <a:ea typeface="Pretendard"/>
              </a:rPr>
              <a:t>1  </a:t>
            </a:r>
            <a:r>
              <a:rPr sz="1400" b="1" i="0">
                <a:solidFill>
                  <a:srgbClr val="FFFFFF"/>
                </a:solidFill>
                <a:latin typeface="JetBrains Mono"/>
                <a:ea typeface="Pretendard"/>
              </a:rPr>
              <a:t>한 화면 원칙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 b="0" i="0">
                <a:solidFill>
                  <a:srgbClr val="9FB0CF"/>
                </a:solidFill>
                <a:latin typeface="JetBrains Mono"/>
                <a:ea typeface="Pretendard"/>
              </a:rPr>
              <a:t>스크롤 없이 핵심을 한 화면에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759200"/>
            <a:ext cx="3383280" cy="1143000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64592" bIns="128016" rtlCol="0" anchor="ctr"/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E8A33D"/>
                </a:solidFill>
                <a:latin typeface="JetBrains Mono"/>
                <a:ea typeface="Pretendard"/>
              </a:rPr>
              <a:t>2  </a:t>
            </a:r>
            <a:r>
              <a:rPr sz="1400" b="1" i="0">
                <a:solidFill>
                  <a:srgbClr val="FFFFFF"/>
                </a:solidFill>
                <a:latin typeface="JetBrains Mono"/>
                <a:ea typeface="Pretendard"/>
              </a:rPr>
              <a:t>핵심 KPI 우선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 b="0" i="0">
                <a:solidFill>
                  <a:srgbClr val="9FB0CF"/>
                </a:solidFill>
                <a:latin typeface="JetBrains Mono"/>
                <a:ea typeface="Pretendard"/>
              </a:rPr>
              <a:t>중요 지표를 상단·좌측에 크게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003800"/>
            <a:ext cx="3383280" cy="1143000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64592" bIns="128016" rtlCol="0" anchor="ctr"/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E8A33D"/>
                </a:solidFill>
                <a:latin typeface="JetBrains Mono"/>
                <a:ea typeface="Pretendard"/>
              </a:rPr>
              <a:t>3  </a:t>
            </a:r>
            <a:r>
              <a:rPr sz="1400" b="1" i="0">
                <a:solidFill>
                  <a:srgbClr val="FFFFFF"/>
                </a:solidFill>
                <a:latin typeface="JetBrains Mono"/>
                <a:ea typeface="Pretendard"/>
              </a:rPr>
              <a:t>시선 흐름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 b="0" i="0">
                <a:solidFill>
                  <a:srgbClr val="9FB0CF"/>
                </a:solidFill>
                <a:latin typeface="JetBrains Mono"/>
                <a:ea typeface="Pretendard"/>
              </a:rPr>
              <a:t>눈은 F자/Z자 — 좌상→우상→하단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0" y="2560320"/>
          <a:ext cx="67665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E8A33D"/>
                          </a:solidFill>
                          <a:latin typeface="Pretendard"/>
                          <a:ea typeface="Pretendard"/>
                        </a:rPr>
                        <a:t>부서</a:t>
                      </a:r>
                    </a:p>
                  </a:txBody>
                  <a:tcPr marT="36576" marB="36576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E8A33D"/>
                          </a:solidFill>
                          <a:latin typeface="Pretendard"/>
                          <a:ea typeface="Pretendard"/>
                        </a:rPr>
                        <a:t>핵심 KPI</a:t>
                      </a:r>
                    </a:p>
                  </a:txBody>
                  <a:tcPr marT="36576" marB="36576" anchor="ctr">
                    <a:solidFill>
                      <a:srgbClr val="14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영업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월 매출액, 목표 달성률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R&amp;D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프로젝트 진척률, 일정 준수율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인사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채용 충원율, 이직률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572000" y="4480560"/>
            <a:ext cx="54864" cy="100584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626864" y="4480560"/>
            <a:ext cx="6711696" cy="1005840"/>
          </a:xfrm>
          <a:prstGeom prst="roundRect">
            <a:avLst/>
          </a:prstGeom>
          <a:solidFill>
            <a:srgbClr val="223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201168" rtlCol="0" anchor="ctr"/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EEF2FB"/>
                </a:solidFill>
                <a:latin typeface="Pretendard"/>
                <a:ea typeface="Pretendard"/>
              </a:rPr>
              <a:t>KPI는 ‘많이 보여주기’가 아니라 </a:t>
            </a:r>
            <a:r>
              <a:rPr sz="1300" b="1" i="0">
                <a:solidFill>
                  <a:srgbClr val="FFFFFF"/>
                </a:solidFill>
                <a:latin typeface="Pretendard"/>
                <a:ea typeface="Pretendard"/>
              </a:rPr>
              <a:t>‘골라 보여주기’</a:t>
            </a:r>
            <a:r>
              <a:rPr sz="1300" b="0" i="0">
                <a:solidFill>
                  <a:srgbClr val="EEF2FB"/>
                </a:solidFill>
                <a:latin typeface="Pretendard"/>
                <a:ea typeface="Pretendard"/>
              </a:rPr>
              <a:t>. 10개 넘으면 아무것도 강조 안 된 것.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2738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EF2FB"/>
                </a:solidFill>
                <a:latin typeface="JetBrains Mono"/>
                <a:ea typeface="Pretendard"/>
              </a:rPr>
              <a:t>Data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 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FB0CF"/>
                </a:solidFill>
                <a:latin typeface="Pretendard"/>
                <a:ea typeface="Pretendard"/>
              </a:rPr>
              <a:t>22 / 28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9579188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5574651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589520" y="-914400"/>
            <a:ext cx="5486400" cy="3657600"/>
          </a:xfrm>
          <a:prstGeom prst="rect">
            <a:avLst/>
          </a:prstGeom>
          <a:solidFill>
            <a:srgbClr val="24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50392" y="566928"/>
            <a:ext cx="1362456" cy="384048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18288" rIns="109728" bIns="18288" rtlCol="0" anchor="ctr"/>
          <a:lstStyle/>
          <a:p>
            <a:pPr algn="ctr"/>
            <a:r>
              <a:rPr sz="1100" b="1" i="0">
                <a:solidFill>
                  <a:srgbClr val="E8A33D"/>
                </a:solidFill>
                <a:latin typeface="JetBrains Mono"/>
                <a:ea typeface="Pretendard"/>
              </a:rPr>
              <a:t>MODULE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Georgia"/>
                <a:ea typeface="바탕"/>
              </a:rPr>
              <a:t>와이어프레임 설계 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9385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9FB0CF"/>
                </a:solidFill>
                <a:latin typeface="Pretendard"/>
                <a:ea typeface="Pretendard"/>
              </a:rPr>
              <a:t>셀에 그리기 전에 종이/슬라이드에 박스로 먼저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514600"/>
            <a:ext cx="457200" cy="4572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14213D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496312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Pretendard"/>
                <a:ea typeface="Pretendard"/>
              </a:rPr>
              <a:t>목적 정의  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>
                <a:solidFill>
                  <a:srgbClr val="9FB0CF"/>
                </a:solidFill>
                <a:latin typeface="Pretendard"/>
                <a:ea typeface="Pretendard"/>
              </a:rPr>
              <a:t>— ‘누가, 무엇을, 왜 보는가’를 한 문장으로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264408"/>
            <a:ext cx="457200" cy="4572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14213D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4612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Pretendard"/>
                <a:ea typeface="Pretendard"/>
              </a:rPr>
              <a:t>KPI 선정  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>
                <a:solidFill>
                  <a:srgbClr val="9FB0CF"/>
                </a:solidFill>
                <a:latin typeface="Pretendard"/>
                <a:ea typeface="Pretendard"/>
              </a:rPr>
              <a:t>— 핵심 3~5개로 압축 (많을수록 나쁨)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014216"/>
            <a:ext cx="457200" cy="4572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14213D"/>
                </a:solidFill>
                <a:latin typeface="Pretendard"/>
                <a:ea typeface="Pretendard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995928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Pretendard"/>
                <a:ea typeface="Pretendard"/>
              </a:rPr>
              <a:t>영역 분할  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>
                <a:solidFill>
                  <a:srgbClr val="9FB0CF"/>
                </a:solidFill>
                <a:latin typeface="Pretendard"/>
                <a:ea typeface="Pretendard"/>
              </a:rPr>
              <a:t>— 상단 KPI 카드 / 중앙 추세 차트 / 하단 상세 표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764024"/>
            <a:ext cx="457200" cy="4572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14213D"/>
                </a:solidFill>
                <a:latin typeface="Pretendard"/>
                <a:ea typeface="Pretendard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4745736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Pretendard"/>
                <a:ea typeface="Pretendard"/>
              </a:rPr>
              <a:t>종이 스케치  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>
                <a:solidFill>
                  <a:srgbClr val="9FB0CF"/>
                </a:solidFill>
                <a:latin typeface="Pretendard"/>
                <a:ea typeface="Pretendard"/>
              </a:rPr>
              <a:t>— 박스 배치를 먼저 그려본다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5513832"/>
            <a:ext cx="457200" cy="45720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14213D"/>
                </a:solidFill>
                <a:latin typeface="Pretendard"/>
                <a:ea typeface="Pretendard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5495544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Pretendard"/>
                <a:ea typeface="Pretendard"/>
              </a:rPr>
              <a:t>그리드 설정  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 i="0">
                <a:solidFill>
                  <a:srgbClr val="9FB0CF"/>
                </a:solidFill>
                <a:latin typeface="Pretendard"/>
                <a:ea typeface="Pretendard"/>
              </a:rPr>
              <a:t>— 눈금선 끄고 셀 너비 정렬해 격자 레이아웃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2738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EF2FB"/>
                </a:solidFill>
                <a:latin typeface="JetBrains Mono"/>
                <a:ea typeface="Pretendard"/>
              </a:rPr>
              <a:t>Data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 Lab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FB0CF"/>
                </a:solidFill>
                <a:latin typeface="Pretendard"/>
                <a:ea typeface="Pretendard"/>
              </a:rPr>
              <a:t>23 / 28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0014606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11418289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589520" y="-914400"/>
            <a:ext cx="5486400" cy="3657600"/>
          </a:xfrm>
          <a:prstGeom prst="rect">
            <a:avLst/>
          </a:prstGeom>
          <a:solidFill>
            <a:srgbClr val="24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50392" y="566928"/>
            <a:ext cx="1842516" cy="384048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18288" rIns="109728" bIns="18288" rtlCol="0" anchor="ctr"/>
          <a:lstStyle/>
          <a:p>
            <a:pPr algn="ctr"/>
            <a:r>
              <a:rPr sz="1100" b="1" i="0">
                <a:solidFill>
                  <a:srgbClr val="E8A33D"/>
                </a:solidFill>
                <a:latin typeface="JetBrains Mono"/>
                <a:ea typeface="Pretendard"/>
              </a:rPr>
              <a:t>MODULE 3 · 실습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097280"/>
            <a:ext cx="658368" cy="365760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14213D"/>
                </a:solidFill>
                <a:latin typeface="Pretendard"/>
                <a:ea typeface="Pretendard"/>
              </a:rPr>
              <a:t>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78992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Pretendard"/>
                <a:ea typeface="Pretendard"/>
              </a:rPr>
              <a:t>피벗차트 · 슬라이서 · 타임라인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9659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9FB0CF"/>
                </a:solidFill>
                <a:latin typeface="Pretendard"/>
                <a:ea typeface="Pretendard"/>
              </a:rPr>
              <a:t>피벗테이블 + 슬라이서를 연결하면 클릭만으로 여러 차트가 동시에 바뀐다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97480"/>
            <a:ext cx="5212080" cy="1737360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533400" rIns="164592" bIns="128016" rtlCol="0" anchor="t" anchorCtr="0"/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Pretendard"/>
                <a:ea typeface="Pretendard"/>
              </a:rPr>
              <a:t>슬라이서 (Slicer)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 b="0" i="0">
                <a:solidFill>
                  <a:srgbClr val="9FB0CF"/>
                </a:solidFill>
                <a:latin typeface="Pretendard"/>
                <a:ea typeface="Pretendard"/>
              </a:rPr>
              <a:t>범주(지역·채널·부서) 버튼 필터. 여러 피벗에 ‘보고서 연결’하면 한 클릭으로 전체 갱신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697480"/>
            <a:ext cx="5166360" cy="1737360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533400" rIns="164592" bIns="128016" rtlCol="0" anchor="t" anchorCtr="0"/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Pretendard"/>
                <a:ea typeface="Pretendard"/>
              </a:rPr>
              <a:t>시간 표시 막대 (Timeline)</a:t>
            </a: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sz="1150" b="0" i="0">
                <a:solidFill>
                  <a:srgbClr val="9FB0CF"/>
                </a:solidFill>
                <a:latin typeface="Pretendard"/>
                <a:ea typeface="Pretendard"/>
              </a:rPr>
              <a:t>날짜 전용 필터 — 연/분기/월/일 단위로 기간을 슬라이드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754880"/>
            <a:ext cx="54864" cy="8686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77824" y="4754880"/>
            <a:ext cx="10506456" cy="868680"/>
          </a:xfrm>
          <a:prstGeom prst="roundRect">
            <a:avLst/>
          </a:prstGeom>
          <a:solidFill>
            <a:srgbClr val="223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201168" rtlCol="0" anchor="ctr"/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  <a:ea typeface="Pretendard"/>
              </a:rPr>
              <a:t>핵심 — </a:t>
            </a:r>
            <a:r>
              <a:rPr sz="1300" b="0" i="0">
                <a:solidFill>
                  <a:srgbClr val="EEF2FB"/>
                </a:solidFill>
                <a:latin typeface="Pretendard"/>
                <a:ea typeface="Pretendard"/>
              </a:rPr>
              <a:t>슬라이서/타임라인을 모든 피벗 요소에 연결하면 클릭 한 번으로 대시보드 전체를 탐색하는 인터랙티브 화면이 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738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EF2FB"/>
                </a:solidFill>
                <a:latin typeface="JetBrains Mono"/>
                <a:ea typeface="Pretendard"/>
              </a:rPr>
              <a:t>Data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 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FB0CF"/>
                </a:solidFill>
                <a:latin typeface="Pretendard"/>
                <a:ea typeface="Pretendard"/>
              </a:rPr>
              <a:t>24 / 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0450024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Graphic 16" descr="Filter icon for 슬라이서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51200" y="2794000"/>
            <a:ext cx="355600" cy="355600"/>
          </a:xfrm>
          <a:prstGeom prst="rect">
            <a:avLst/>
          </a:prstGeom>
        </p:spPr>
      </p:pic>
      <p:pic>
        <p:nvPicPr>
          <p:cNvPr id="17" name="Graphic 17" descr="Calendar icon for 시간 표시 막대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72500" y="2794000"/>
            <a:ext cx="355600" cy="355600"/>
          </a:xfrm>
          <a:prstGeom prst="rect">
            <a:avLst/>
          </a:prstGeom>
        </p:spPr>
      </p:pic>
      <p:sp>
        <p:nvSpPr>
          <p:cNvPr id="1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41242980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589520" y="-914400"/>
            <a:ext cx="5486400" cy="3657600"/>
          </a:xfrm>
          <a:prstGeom prst="rect">
            <a:avLst/>
          </a:prstGeom>
          <a:solidFill>
            <a:srgbClr val="24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50392" y="566928"/>
            <a:ext cx="1842516" cy="384048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18288" rIns="109728" bIns="18288" rtlCol="0" anchor="ctr"/>
          <a:lstStyle/>
          <a:p>
            <a:pPr algn="ctr"/>
            <a:r>
              <a:rPr sz="1100" b="1" i="0">
                <a:solidFill>
                  <a:srgbClr val="E8A33D"/>
                </a:solidFill>
                <a:latin typeface="JetBrains Mono"/>
                <a:ea typeface="Pretendard"/>
              </a:rPr>
              <a:t>MODULE 3 · 실습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097280"/>
            <a:ext cx="658368" cy="365760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14213D"/>
                </a:solidFill>
                <a:latin typeface="Pretendard"/>
                <a:ea typeface="Pretendard"/>
              </a:rPr>
              <a:t>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78992"/>
            <a:ext cx="10241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  <a:ea typeface="바탕"/>
              </a:rPr>
              <a:t>자동 갱신 리포트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9659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9FB0CF"/>
                </a:solidFill>
                <a:latin typeface="Pretendard"/>
                <a:ea typeface="Pretendard"/>
              </a:rPr>
              <a:t>만들고 계속 쓰는 템플릿 — 수작업 업데이트는 곧 방치로 이어진다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◆ </a:t>
            </a:r>
            <a:r>
              <a:rPr sz="1400" b="1" i="0">
                <a:solidFill>
                  <a:srgbClr val="EEF2FB"/>
                </a:solidFill>
                <a:latin typeface="JetBrains Mono"/>
                <a:ea typeface="Pretendard"/>
              </a:rPr>
              <a:t>표(Table)로 변환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9FB0CF"/>
                </a:solidFill>
                <a:latin typeface="JetBrains Mono"/>
                <a:ea typeface="Pretendard"/>
              </a:rPr>
              <a:t>    Ctrl+T — 데이터가 늘어도 범위 자동 확장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◆ </a:t>
            </a:r>
            <a:r>
              <a:rPr sz="1400" b="1" i="0">
                <a:solidFill>
                  <a:srgbClr val="EEF2FB"/>
                </a:solidFill>
                <a:latin typeface="JetBrains Mono"/>
                <a:ea typeface="Pretendard"/>
              </a:rPr>
              <a:t>모두 새로 고침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9FB0CF"/>
                </a:solidFill>
                <a:latin typeface="JetBrains Mono"/>
                <a:ea typeface="Pretendard"/>
              </a:rPr>
              <a:t>    원본만 갱신하면 피벗·차트 한 번에 업데이트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◆ </a:t>
            </a:r>
            <a:r>
              <a:rPr sz="1400" b="1" i="0">
                <a:solidFill>
                  <a:srgbClr val="EEF2FB"/>
                </a:solidFill>
                <a:latin typeface="JetBrains Mono"/>
                <a:ea typeface="Pretendard"/>
              </a:rPr>
              <a:t>GETPIVOTDATA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0" i="0">
                <a:solidFill>
                  <a:srgbClr val="9FB0CF"/>
                </a:solidFill>
                <a:latin typeface="JetBrains Mono"/>
                <a:ea typeface="Pretendard"/>
              </a:rPr>
              <a:t>    피벗 값을 KPI 카드로 안전하게 끌어오기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697480"/>
            <a:ext cx="54864" cy="20116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55664" y="2697480"/>
            <a:ext cx="4882896" cy="2011680"/>
          </a:xfrm>
          <a:prstGeom prst="roundRect">
            <a:avLst/>
          </a:prstGeom>
          <a:solidFill>
            <a:srgbClr val="223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201168" rtlCol="0" anchor="ctr"/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EEF2FB"/>
                </a:solidFill>
                <a:latin typeface="Pretendard"/>
                <a:ea typeface="Pretendard"/>
              </a:rPr>
              <a:t>원본 갱신이 </a:t>
            </a:r>
            <a:r>
              <a:rPr sz="1300" b="1" i="0">
                <a:solidFill>
                  <a:srgbClr val="FFFFFF"/>
                </a:solidFill>
                <a:latin typeface="Pretendard"/>
                <a:ea typeface="Pretendard"/>
              </a:rPr>
              <a:t>‘모두 새로 고침’ 한 번</a:t>
            </a:r>
            <a:r>
              <a:rPr sz="1300" b="0" i="0">
                <a:solidFill>
                  <a:srgbClr val="EEF2FB"/>
                </a:solidFill>
                <a:latin typeface="Pretendard"/>
                <a:ea typeface="Pretendard"/>
              </a:rPr>
              <a:t>으로 반영되도록 처음부터 설계하면, 매달 손대지 않아도 살아있는 리포트가 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2738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EF2FB"/>
                </a:solidFill>
                <a:latin typeface="JetBrains Mono"/>
                <a:ea typeface="Pretendard"/>
              </a:rPr>
              <a:t>Data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 Lab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FB0CF"/>
                </a:solidFill>
                <a:latin typeface="Pretendard"/>
                <a:ea typeface="Pretendard"/>
              </a:rPr>
              <a:t>25 / 28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0885441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9093361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589520" y="-914400"/>
            <a:ext cx="5486400" cy="3657600"/>
          </a:xfrm>
          <a:prstGeom prst="rect">
            <a:avLst/>
          </a:prstGeom>
          <a:solidFill>
            <a:srgbClr val="24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50392" y="566928"/>
            <a:ext cx="1842516" cy="384048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18288" rIns="109728" bIns="18288" rtlCol="0" anchor="ctr"/>
          <a:lstStyle/>
          <a:p>
            <a:pPr algn="ctr"/>
            <a:r>
              <a:rPr sz="1100" b="1" i="0">
                <a:solidFill>
                  <a:srgbClr val="E8A33D"/>
                </a:solidFill>
                <a:latin typeface="JetBrains Mono"/>
                <a:ea typeface="Pretendard"/>
              </a:rPr>
              <a:t>MODULE 3 · 종합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097280"/>
            <a:ext cx="658368" cy="365760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14213D"/>
                </a:solidFill>
                <a:latin typeface="Pretendard"/>
                <a:ea typeface="Pretendard"/>
              </a:rPr>
              <a:t>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078992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Pretendard"/>
                <a:ea typeface="Pretendard"/>
              </a:rPr>
              <a:t>부서 KPI 대시보드 점검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9659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9FB0CF"/>
                </a:solidFill>
                <a:latin typeface="Pretendard"/>
                <a:ea typeface="Pretendard"/>
              </a:rPr>
              <a:t>인-셀 시각화 · 기획 · 인터랙션 · 자동화를 한 화면에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5212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◆ </a:t>
            </a:r>
            <a:r>
              <a:rPr sz="1400" b="1" i="0">
                <a:solidFill>
                  <a:srgbClr val="EEF2FB"/>
                </a:solidFill>
                <a:latin typeface="JetBrains Mono"/>
                <a:ea typeface="Pretendard"/>
              </a:rPr>
              <a:t>핵심 KPI가 상단·좌측에 우선 배치?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◆ </a:t>
            </a:r>
            <a:r>
              <a:rPr sz="1400" b="1" i="0">
                <a:solidFill>
                  <a:srgbClr val="EEF2FB"/>
                </a:solidFill>
                <a:latin typeface="JetBrains Mono"/>
                <a:ea typeface="Pretendard"/>
              </a:rPr>
              <a:t>스크롤 없이 한 화면에 들어오는가?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◆ </a:t>
            </a:r>
            <a:r>
              <a:rPr sz="1400" b="1" i="0">
                <a:solidFill>
                  <a:srgbClr val="EEF2FB"/>
                </a:solidFill>
                <a:latin typeface="JetBrains Mono"/>
                <a:ea typeface="Pretendard"/>
              </a:rPr>
              <a:t>슬라이서/타임라인이 모든 요소에 연결?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697480"/>
            <a:ext cx="5212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◆ </a:t>
            </a:r>
            <a:r>
              <a:rPr sz="1400" b="1" i="0">
                <a:solidFill>
                  <a:srgbClr val="EEF2FB"/>
                </a:solidFill>
                <a:latin typeface="JetBrains Mono"/>
                <a:ea typeface="Pretendard"/>
              </a:rPr>
              <a:t>원본 갱신이 ‘모두 새로 고침’만으로 반영?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◆ </a:t>
            </a:r>
            <a:r>
              <a:rPr sz="1400" b="1" i="0">
                <a:solidFill>
                  <a:srgbClr val="EEF2FB"/>
                </a:solidFill>
                <a:latin typeface="JetBrains Mono"/>
                <a:ea typeface="Pretendard"/>
              </a:rPr>
              <a:t>색·아이콘이 절제되어 강조가 분명?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◆ </a:t>
            </a:r>
            <a:r>
              <a:rPr sz="1400" b="1" i="0">
                <a:solidFill>
                  <a:srgbClr val="EEF2FB"/>
                </a:solidFill>
                <a:latin typeface="JetBrains Mono"/>
                <a:ea typeface="Pretendard"/>
              </a:rPr>
              <a:t>제목·기준 기간·갱신일자가 표시?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2738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EF2FB"/>
                </a:solidFill>
                <a:latin typeface="JetBrains Mono"/>
                <a:ea typeface="Pretendard"/>
              </a:rPr>
              <a:t>Data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FB0CF"/>
                </a:solidFill>
                <a:latin typeface="Pretendard"/>
                <a:ea typeface="Pretendard"/>
              </a:rPr>
              <a:t>26 / 28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1320859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32694082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589520" y="-914400"/>
            <a:ext cx="5486400" cy="3657600"/>
          </a:xfrm>
          <a:prstGeom prst="rect">
            <a:avLst/>
          </a:prstGeom>
          <a:solidFill>
            <a:srgbClr val="243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50392" y="566928"/>
            <a:ext cx="1746504" cy="384048"/>
          </a:xfrm>
          <a:prstGeom prst="roundRect">
            <a:avLst/>
          </a:prstGeom>
          <a:solidFill>
            <a:srgbClr val="22304E"/>
          </a:solidFill>
          <a:ln w="9525">
            <a:solidFill>
              <a:srgbClr val="3A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18288" rIns="109728" bIns="18288" rtlCol="0" anchor="ctr"/>
          <a:lstStyle/>
          <a:p>
            <a:pPr algn="ctr"/>
            <a:r>
              <a:rPr sz="1100" b="1" i="0">
                <a:solidFill>
                  <a:srgbClr val="E8A33D"/>
                </a:solidFill>
                <a:latin typeface="JetBrains Mono"/>
                <a:ea typeface="Pretendard"/>
              </a:rPr>
              <a:t>COURSE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78992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300" b="1" i="0">
                <a:solidFill>
                  <a:srgbClr val="FFFFFF"/>
                </a:solidFill>
                <a:latin typeface="Georgia"/>
                <a:ea typeface="바탕"/>
              </a:rPr>
              <a:t>전체 과정 회고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9385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9FB0CF"/>
                </a:solidFill>
                <a:latin typeface="Pretendard"/>
                <a:ea typeface="Pretendard"/>
              </a:rPr>
              <a:t>데이터를 다루는 세 단계를 차례로 익혔습니다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2468880"/>
          <a:ext cx="10515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E8A33D"/>
                          </a:solidFill>
                          <a:latin typeface="Pretendard"/>
                          <a:ea typeface="Pretendard"/>
                        </a:rPr>
                        <a:t>모듈</a:t>
                      </a:r>
                    </a:p>
                  </a:txBody>
                  <a:tcPr marT="36576" marB="36576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E8A33D"/>
                          </a:solidFill>
                          <a:latin typeface="Pretendard"/>
                          <a:ea typeface="Pretendard"/>
                        </a:rPr>
                        <a:t>주제</a:t>
                      </a:r>
                    </a:p>
                  </a:txBody>
                  <a:tcPr marT="36576" marB="36576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E8A33D"/>
                          </a:solidFill>
                          <a:latin typeface="Pretendard"/>
                          <a:ea typeface="Pretendard"/>
                        </a:rPr>
                        <a:t>핵심 역량</a:t>
                      </a:r>
                    </a:p>
                  </a:txBody>
                  <a:tcPr marT="36576" marB="36576" anchor="ctr">
                    <a:solidFill>
                      <a:srgbClr val="14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1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탐색적 데이터분석 (EDA)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데이터 정제 · 구조 파악 · 요약통계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2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시각화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목적에 맞는 차트 선택과 정직한 표현</a:t>
                      </a:r>
                    </a:p>
                  </a:txBody>
                  <a:tcPr marT="27432" marB="27432" anchor="ctr">
                    <a:solidFill>
                      <a:srgbClr val="1420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</a:rPr>
                        <a:t>3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대시보드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 i="0">
                          <a:solidFill>
                            <a:srgbClr val="9FB0CF"/>
                          </a:solidFill>
                          <a:latin typeface="Pretendard"/>
                          <a:ea typeface="Pretendard"/>
                        </a:rPr>
                        <a:t>KPI 종합 · 인터랙션 · 자동화</a:t>
                      </a:r>
                    </a:p>
                  </a:txBody>
                  <a:tcPr marT="27432" marB="27432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22960" y="4754880"/>
            <a:ext cx="54864" cy="86868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77824" y="4754880"/>
            <a:ext cx="10506456" cy="868680"/>
          </a:xfrm>
          <a:prstGeom prst="roundRect">
            <a:avLst/>
          </a:prstGeom>
          <a:solidFill>
            <a:srgbClr val="223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201168" rtlCol="0" anchor="ctr"/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FFFFFF"/>
                </a:solidFill>
                <a:latin typeface="Pretendard"/>
                <a:ea typeface="Pretendard"/>
              </a:rPr>
              <a:t>현업 적용 — </a:t>
            </a:r>
            <a:r>
              <a:rPr sz="1300" b="0" i="0">
                <a:solidFill>
                  <a:srgbClr val="EEF2FB"/>
                </a:solidFill>
                <a:latin typeface="Pretendard"/>
                <a:ea typeface="Pretendard"/>
              </a:rPr>
              <a:t>① 작게 시작(KPI 3개) ② 자동 갱신을 기본으로 ③ 보는 사람 기준(1분 안에) ④ 분기마다 KPI 점검.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2738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EF2FB"/>
                </a:solidFill>
                <a:latin typeface="JetBrains Mono"/>
                <a:ea typeface="Pretendard"/>
              </a:rPr>
              <a:t>Data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 i="0">
                <a:solidFill>
                  <a:srgbClr val="E8A33D"/>
                </a:solidFill>
                <a:latin typeface="JetBrains Mono"/>
                <a:ea typeface="Pretendard"/>
              </a:rPr>
              <a:t>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1908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 i="0">
                <a:solidFill>
                  <a:srgbClr val="9FB0CF"/>
                </a:solidFill>
                <a:latin typeface="Pretendard"/>
                <a:ea typeface="Pretendard"/>
              </a:rPr>
              <a:t>27 / 28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14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1756277" cy="381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9306767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ornerDisc">
            <a:extLst>
              <a:ext uri="{FF2B5EF4-FFF2-40B4-BE49-F238E27FC236}">
                <a16:creationId xmlns:a16="http://schemas.microsoft.com/office/drawing/2014/main" id="{01548B42-FAF6-C746-A66A-8D1BAA136B35}"/>
              </a:ext>
            </a:extLst>
          </p:cNvPr>
          <p:cNvSpPr/>
          <p:nvPr/>
        </p:nvSpPr>
        <p:spPr>
          <a:xfrm>
            <a:off x="9842500" y="-2603500"/>
            <a:ext cx="5080000" cy="5080000"/>
          </a:xfrm>
          <a:prstGeom prst="ellipse">
            <a:avLst/>
          </a:prstGeom>
          <a:solidFill>
            <a:srgbClr val="24376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CornerRingA">
            <a:extLst>
              <a:ext uri="{FF2B5EF4-FFF2-40B4-BE49-F238E27FC236}">
                <a16:creationId xmlns:a16="http://schemas.microsoft.com/office/drawing/2014/main" id="{3A39DEAB-2255-0D47-9CCF-0489C6C0E9F2}"/>
              </a:ext>
            </a:extLst>
          </p:cNvPr>
          <p:cNvSpPr/>
          <p:nvPr/>
        </p:nvSpPr>
        <p:spPr>
          <a:xfrm>
            <a:off x="8699500" y="-3048000"/>
            <a:ext cx="6477000" cy="6477000"/>
          </a:xfrm>
          <a:prstGeom prst="ellipse">
            <a:avLst/>
          </a:prstGeom>
          <a:noFill/>
          <a:ln w="28575" cap="flat" cmpd="sng" algn="ctr">
            <a:solidFill>
              <a:srgbClr val="E8A33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CornerRingB">
            <a:extLst>
              <a:ext uri="{FF2B5EF4-FFF2-40B4-BE49-F238E27FC236}">
                <a16:creationId xmlns:a16="http://schemas.microsoft.com/office/drawing/2014/main" id="{FADF206D-296D-C646-A33F-90974C4E1B95}"/>
              </a:ext>
            </a:extLst>
          </p:cNvPr>
          <p:cNvSpPr/>
          <p:nvPr/>
        </p:nvSpPr>
        <p:spPr>
          <a:xfrm>
            <a:off x="9906000" y="-1841500"/>
            <a:ext cx="4064000" cy="4064000"/>
          </a:xfrm>
          <a:prstGeom prst="ellipse">
            <a:avLst/>
          </a:prstGeom>
          <a:noFill/>
          <a:ln w="28575" cap="flat" cmpd="sng" algn="ctr">
            <a:solidFill>
              <a:srgbClr val="E8A33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762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E8A33D"/>
                </a:solidFill>
                <a:latin typeface="JetBrains Mono"/>
                <a:ea typeface="Pretendard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6604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Georgia"/>
                <a:ea typeface="바탕"/>
              </a:rPr>
              <a:t>데이터 분석의 끝은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Georgia"/>
                <a:ea typeface="바탕"/>
              </a:rPr>
              <a:t>더 나은 결정입니다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41148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 b="0" i="0">
                <a:solidFill>
                  <a:srgbClr val="9FB0CF"/>
                </a:solidFill>
                <a:latin typeface="Pretendard"/>
                <a:ea typeface="Pretendard"/>
              </a:rPr>
              <a:t>대시보드는 그 결정을 빠르게 돕는 도구일 뿐.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 b="0" i="0">
                <a:solidFill>
                  <a:srgbClr val="9FB0CF"/>
                </a:solidFill>
                <a:latin typeface="Pretendard"/>
                <a:ea typeface="Pretendard"/>
              </a:rPr>
              <a:t>오늘 익힌 EDA → 시각화 → 대시보드를 현업의 한 장으로 옮겨보세요.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5943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E8A33D"/>
                </a:solidFill>
                <a:latin typeface="JetBrains Mono"/>
                <a:ea typeface="Pretendard"/>
              </a:rPr>
              <a:t>data.dreamitbiz.com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 i="0">
                <a:solidFill>
                  <a:srgbClr val="9FB0CF"/>
                </a:solidFill>
                <a:latin typeface="JetBrains Mono"/>
                <a:ea typeface="Pretendard"/>
              </a:rPr>
              <a:t>   ·   드림아이티비즈(DreamIT Biz)   ·   aebon@dreamitbiz.com</a:t>
            </a:r>
          </a:p>
        </p:txBody>
      </p:sp>
      <p:sp>
        <p:nvSpPr>
          <p:cNvPr id="1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  <p:extLst>
      <p:ext uri="{BB962C8B-B14F-4D97-AF65-F5344CB8AC3E}">
        <p14:creationId xmlns:p14="http://schemas.microsoft.com/office/powerpoint/2010/main" val="2782492424"/>
      </p:ext>
    </p:extLst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HOW TO USE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이 자료 사용 방법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수업·강의·자습에 그대로 쓰셔도 됩니다. 출처만 남겨 주세요.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PDF 는 화면으로 읽는 용도, PPTX 는 발표용입니다. PPTX 는 Pretendard 글꼴이 설치된 컴퓨터에서 가장 똑같이 보입니다.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출처 표기 예: 이애본(드림아이티비즈), 「자료 제목」, 홍문원, useful-ai.dreamitbiz.com, CC BY-NC-ND 4.0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프롬프트는 복사해 바로 쓸 수 있습니다. [대괄호]만 내 상황으로 바꾸세요.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모든 자료와 영상 강의는 useful-ai.dreamitbiz.com 에서 다시 받을 수 있습니다.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COPYRIGHT · LICENSE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저작권 · 이용 조건 (CC BY-NC-ND 4.0)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저작권 © 2026 이애본(드림아이티비즈 DreamIT Biz). 발행 홍문원(洪文院, 출판사 신고번호 제2026-000026호). 이애본이 2026년 대학·기관 강의 현장에서 쓴 강의안을 전자출판용으로 다시 묶은 것입니다. ISBN: 등록 후 기재.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이 자료는 크리에이티브 커먼즈 저작자표시-비영리-변경금지 4.0 국제(CC BY-NC-ND 4.0) 라이선스를 따릅니다. creativecommons.org/licenses/by-nc-nd/4.0/deed.ko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저작자 표시(BY): 출처를 밝히면 그대로 복사해 수업·강의·자습에 쓸 수 있습니다. 비영리(NC): 유료 강의·판매·광고 수익 목적에는 쓸 수 없습니다. 변경금지(ND): 내용을 고치거나 잘라 재조합해 배포할 수 없습니다.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외부 서비스 화면 캡처와 상표는 교육 목적 인용이며 각 서비스의 소유입니다. AI 생성 이미지는 생성 도구의 이용 약관을 따릅니다.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라이선스 범위 밖의 이용(영리·변형·2차 저작)은 먼저 문의해 주세요. aebon@dreamitbiz.com · 카카오톡 ID aebon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CREDITS · CONTACT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출처 · 문의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이애본 (Aebon Lee, Ph.D) — 드림아이티비즈 대표 · 한신대학교 AI·SW대학 겸임교수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useful-ai.dreamitbiz.com — 강의안·영상 강의 라이브러리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aebon@dreamitbiz.com · 카카오톡 ID aebon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© 2026 이애본 · 발행 홍문원(洪文院) · CC BY-NC-ND 4.0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1B76789-DE66-7949-9CB4-35616AAB8A96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c5c75c3f-86e9-4cac-a1f2-edb02322d8a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6622</TotalTime>
  <Words>2524</Words>
  <Application>Microsoft Macintosh PowerPoint</Application>
  <PresentationFormat>와이드스크린</PresentationFormat>
  <Paragraphs>500</Paragraphs>
  <Slides>28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4" baseType="lpstr">
      <vt:lpstr>Pretendard</vt:lpstr>
      <vt:lpstr>Arial</vt:lpstr>
      <vt:lpstr>Calibri</vt:lpstr>
      <vt:lpstr>Consolas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이애본</cp:lastModifiedBy>
  <cp:revision>2</cp:revision>
  <dcterms:created xsi:type="dcterms:W3CDTF">2013-01-27T09:14:16Z</dcterms:created>
  <dcterms:modified xsi:type="dcterms:W3CDTF">2026-06-28T03:25:51Z</dcterms:modified>
  <cp:category/>
</cp:coreProperties>
</file>