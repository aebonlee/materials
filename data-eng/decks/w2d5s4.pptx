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1F5F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deckgen:decor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deckgen:decor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EF2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deckgen:decor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deckgen:decor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BEE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deckgen:decor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E1E9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decor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2-5 · Python 기반의 크롤러 · 정리·회고 0.5H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19187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300" b="1" spc="-235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주차 산출물 정리 — ERD 설계서 + 크롤러 소스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6033516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두 가지를 묶어 제출하고, 한 주를 되짚는다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수도권ICT 이노베이션스퀘어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이 시간의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30분 뒤에는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956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0384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1623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956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제출 파일 네 개를 ls 로 확인하고 .gitignore 를 만든다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8862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0290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1529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8862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README 만 보고 남이 재현할 수 있게 다섯 절을 채운다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8768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0196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1435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8768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2주차 다섯 차시에서 남은 결과물을 한 표로 되짚는다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8674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0102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1341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8674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3주차 폴더를 만들고 de-mongo 를 정지한다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제출은 사이트 「산출물 제출」에서 — 마감 10-08(목) 23:59, 그 뒤 주차별 산출물 갤러리에도 공유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2-5 · 정리·회고 0.5H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제출할 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두 가지 — ~/data-eng/week2 에서 ls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429000"/>
            <a:ext cx="78105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429000"/>
            <a:ext cx="781050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ornament"/>
          <p:cNvSpPr txBox="1"/>
          <p:nvPr/>
        </p:nvSpPr>
        <p:spPr>
          <a:xfrm>
            <a:off x="80962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752850"/>
            <a:ext cx="71628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3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① ERD 설계서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ERD_설계서.md 또는 이미지 + 설명 문서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엔터티 · 관계 · 정규화 근거 · 반정규화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334500" y="3429000"/>
            <a:ext cx="78105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334500" y="3429000"/>
            <a:ext cx="781050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6287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58350" y="3752850"/>
            <a:ext cx="71628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3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② 크롤러 소스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check_robots.py · README.md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crawler_pipeline.py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6496050"/>
            <a:ext cx="47625" cy="7239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90650" y="6553200"/>
            <a:ext cx="157543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가상환경 폴더는 제출에서 뺀다 — echo '.venv/' &gt; .gitignore 그리고 __pycache__/ 도 한 줄 더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2-5 · 정리·회고 0.5H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README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README 다섯 절 — 남이 재현할 수 있게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96240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9624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절</a:t>
            </a:r>
          </a:p>
        </p:txBody>
      </p:sp>
      <p:sp>
        <p:nvSpPr>
          <p:cNvPr id="10" name="Rectangle 9"/>
          <p:cNvSpPr/>
          <p:nvPr/>
        </p:nvSpPr>
        <p:spPr>
          <a:xfrm>
            <a:off x="5143500" y="2781300"/>
            <a:ext cx="1200150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43500" y="2781300"/>
            <a:ext cx="120015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적을 것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448050"/>
            <a:ext cx="39624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8250" y="3448050"/>
            <a:ext cx="37719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1. ERD 설계서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43500" y="3448050"/>
            <a:ext cx="120015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38750" y="3448050"/>
            <a:ext cx="11811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표 4개 · N:M 을 order_items 로 해소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171950"/>
            <a:ext cx="39624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8250" y="4171950"/>
            <a:ext cx="37719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2. 크롤러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43500" y="4171950"/>
            <a:ext cx="120015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38750" y="4171950"/>
            <a:ext cx="11811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fetch→parse→load · 예절 3가지 · UNIQUE + INSERT IGNORE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895850"/>
            <a:ext cx="39624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895850"/>
            <a:ext cx="37719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3. 실행 방법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143500" y="4895850"/>
            <a:ext cx="120015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38750" y="4895850"/>
            <a:ext cx="11811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docker start → venv → pip install → 스크립트 2개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5619750"/>
            <a:ext cx="39624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8250" y="5619750"/>
            <a:ext cx="37719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4. 검증한 것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143500" y="5619750"/>
            <a:ext cx="120015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38750" y="5619750"/>
            <a:ext cx="11811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첫 실행 30건 · 재실행 saved 0 · COUNT(*) 30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6343650"/>
            <a:ext cx="39624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38250" y="6343650"/>
            <a:ext cx="37719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5. 남은 개선점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143500" y="6343650"/>
            <a:ext cx="120015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238750" y="6343650"/>
            <a:ext cx="11811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tags 1NF 위반 → quote_tags 분리 + 본인이 찾은 것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README 만 보고 다른 사람이 처음부터 재현할 수 있으면 완성 — 5번에 스스로 찾은 것을 한 줄이라도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2-5 · 정리·회고 0.5H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2주차에 지나온 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다섯 차시 — 배운 것과 남은 결과물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188214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18821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차시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63240" y="2781300"/>
            <a:ext cx="604266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63240" y="2781300"/>
            <a:ext cx="60426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배운 것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0" y="2781300"/>
            <a:ext cx="800100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0" y="2781300"/>
            <a:ext cx="80010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남은 결과물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188214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16916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2-1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063240" y="3448050"/>
            <a:ext cx="60426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158490" y="3448050"/>
            <a:ext cx="58521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RDBMS 기본과 SQL 네 가지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0" y="3448050"/>
            <a:ext cx="80010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39250" y="3448050"/>
            <a:ext cx="78105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de-mysql 컨테이너 · products 표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188214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16916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2-2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063240" y="4171950"/>
            <a:ext cx="60426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158490" y="4171950"/>
            <a:ext cx="58521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CTE 와 Window Function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0" y="4171950"/>
            <a:ext cx="80010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39250" y="4171950"/>
            <a:ext cx="78105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monthly_sales 표 · 분석 쿼리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188214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16916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2-3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063240" y="4895850"/>
            <a:ext cx="60426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158490" y="4895850"/>
            <a:ext cx="58521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문서 DB 와 aggregate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44000" y="4895850"/>
            <a:ext cx="80010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239250" y="4895850"/>
            <a:ext cx="78105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de-mongo 컨테이너 · 로그 1,000건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188214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16916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2-4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063240" y="5619750"/>
            <a:ext cx="60426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158490" y="5619750"/>
            <a:ext cx="58521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정규화와 ERD 설계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144000" y="5619750"/>
            <a:ext cx="80010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239250" y="5619750"/>
            <a:ext cx="78105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customers · orders · order_items 표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43000" y="6343650"/>
            <a:ext cx="188214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38250" y="6343650"/>
            <a:ext cx="16916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2-5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063240" y="6343650"/>
            <a:ext cx="60426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158490" y="6343650"/>
            <a:ext cx="58521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수집 파이프라인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144000" y="6343650"/>
            <a:ext cx="80010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239250" y="6343650"/>
            <a:ext cx="78105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quotes 표 · 크롤러 소스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 주를 관통한 생각: 데이터를 어디에, 어떤 모양으로 담을 것인가 — 3주차부터는 담은 데이터를 다룬다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2-5 · 정리·회고 0.5H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오늘의 체크리스트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여덟 개를 스스로 확인해 보세요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86075"/>
            <a:ext cx="16002000" cy="523875"/>
          </a:xfrm>
          <a:prstGeom prst="roundRect">
            <a:avLst>
              <a:gd name="adj" fmla="val 909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2881312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005138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86075"/>
            <a:ext cx="14573250" cy="523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상태코드 200·403·429 의 뜻과 대응을 말할 수 있다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524250"/>
            <a:ext cx="16002000" cy="523875"/>
          </a:xfrm>
          <a:prstGeom prst="roundRect">
            <a:avLst>
              <a:gd name="adj" fmla="val 909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3519488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3643312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524250"/>
            <a:ext cx="14573250" cy="523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robots.txt 확인·User-Agent·요청 간격을 코드에 넣었다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162425"/>
            <a:ext cx="16002000" cy="523875"/>
          </a:xfrm>
          <a:prstGeom prst="roundRect">
            <a:avLst>
              <a:gd name="adj" fmla="val 909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4157662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4281488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162425"/>
            <a:ext cx="14573250" cy="523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선택자가 틀렸을 때의 NoneType 오류를 겪고 방어 코드를 썼다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800600"/>
            <a:ext cx="16002000" cy="523875"/>
          </a:xfrm>
          <a:prstGeom prst="roundRect">
            <a:avLst>
              <a:gd name="adj" fmla="val 909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4795838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4919662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4800600"/>
            <a:ext cx="14573250" cy="523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다음 페이지 링크가 None 이면 순회를 끝내게 했다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5438775"/>
            <a:ext cx="16002000" cy="523875"/>
          </a:xfrm>
          <a:prstGeom prst="roundRect">
            <a:avLst>
              <a:gd name="adj" fmla="val 909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90650" y="5434012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90650" y="5557838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0750" y="5438775"/>
            <a:ext cx="14573250" cy="523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수집·정제·적재를 함수 3개로 분리했다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6076950"/>
            <a:ext cx="16002000" cy="523875"/>
          </a:xfrm>
          <a:prstGeom prst="roundRect">
            <a:avLst>
              <a:gd name="adj" fmla="val 909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390650" y="6072188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390650" y="6196012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90750" y="6076950"/>
            <a:ext cx="14573250" cy="523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재실행 시 saved 0 으로 DB 제약의 중복 방지를 확인했다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6715125"/>
            <a:ext cx="16002000" cy="523875"/>
          </a:xfrm>
          <a:prstGeom prst="roundRect">
            <a:avLst>
              <a:gd name="adj" fmla="val 909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390650" y="6710362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390650" y="6834188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90750" y="6715125"/>
            <a:ext cx="14573250" cy="523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재시도·백오프를 붙이고 일부러 실패시켜 확인했다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143000" y="7353300"/>
            <a:ext cx="16002000" cy="523875"/>
          </a:xfrm>
          <a:prstGeom prst="roundRect">
            <a:avLst>
              <a:gd name="adj" fmla="val 909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390650" y="7348538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390650" y="7472362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190750" y="7353300"/>
            <a:ext cx="14573250" cy="523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ERD 설계서 + 크롤러 소스를 산출물 형식으로 정리해 제출했다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2-5 · 정리·회고 0.5H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자주 겪는 오류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증상으로 찾는 원인과 해결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476250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47625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증상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0" y="2781300"/>
            <a:ext cx="524256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0" y="2781300"/>
            <a:ext cx="52425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원인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224260" y="2781300"/>
            <a:ext cx="592074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224260" y="2781300"/>
            <a:ext cx="59207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해결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'NoneType' object has</a:t>
            </a:r>
          </a:p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no attribute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0" y="3448050"/>
            <a:ext cx="52425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38850" y="3448050"/>
            <a:ext cx="50520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선택자에 걸리는 요소 없음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(오타 · 구조 다름)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224260" y="3448050"/>
            <a:ext cx="59207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319510" y="3448050"/>
            <a:ext cx="57302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F12 로 HTML 재확인 ·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None 검사 후 건너뛰기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OperationalError (2003)</a:t>
            </a:r>
          </a:p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Can not connect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0" y="4171950"/>
            <a:ext cx="52425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38850" y="4171950"/>
            <a:ext cx="50520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de-mysql 꺼짐 또는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호스트·포트 다름(3307)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224260" y="4171950"/>
            <a:ext cx="59207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319510" y="4171950"/>
            <a:ext cx="57302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docker ps 로 PORTS 확인 ·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host·port 맞추기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글자 깨짐 ·</a:t>
            </a:r>
          </a:p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Incorrect string value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943600" y="4895850"/>
            <a:ext cx="52425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38850" y="4895850"/>
            <a:ext cx="50520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연결·테이블 문자셋이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utf8mb4 가 아님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1224260" y="4895850"/>
            <a:ext cx="59207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319510" y="4895850"/>
            <a:ext cx="57302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charset=utf8mb4 ·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SHOW CREATE TABLE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실행할 때마다</a:t>
            </a:r>
          </a:p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건수가 늘어난다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943600" y="5619750"/>
            <a:ext cx="52425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038850" y="5619750"/>
            <a:ext cx="50520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UNIQUE 없음 또는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INSERT IGNORE 아님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1224260" y="5619750"/>
            <a:ext cx="59207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319510" y="5619750"/>
            <a:ext cx="57302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SHOW CREATE TABLE quotes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로 UNIQUE 키 확인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중복 방지를 파이썬 쪽 검사로 옮기는 것은 해결책이 아니다 — 이론에서 본 원칙 그대로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2-5 · 정리·회고 0.5H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예상 질문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자주 나오는 질문 네 가지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3528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352800"/>
            <a:ext cx="47625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3600450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36671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34480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자바스크립트로 그려지는 페이지는?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requests 는 HTML 만 받는다 — Selenium·Playwright 가 필요하지만 무거우니 먼저 그 사이트의 API 를 찾는다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4005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4400550"/>
            <a:ext cx="47625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4648200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47148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44958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로그인이 필요한 페이지는?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requests.Session 으로 로그인 후 쿠키 유지 — 다만 그 데이터는 이용약관 제약이 훨씬 강하다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483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5448300"/>
            <a:ext cx="47625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28750" y="5695950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8750" y="57626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55435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차단당하면?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우회하지 말고 멈춘다 — 간격을 늘리고, 그래도 막히면 그 사이트는 수집을 원하지 않는 것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64960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43000" y="6496050"/>
            <a:ext cx="47625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428750" y="6743700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28750" y="68103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65913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매일 자동으로 돌리려면?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1-2 의 cron 이 가장 단순 — 8주차 Airflow 로 제대로 스케줄링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2-5 · 정리·회고 0.5H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다음 회차 예고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3-1 · Pandas 를 활용한 데이터 처리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429000"/>
            <a:ext cx="371475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ornament"/>
          <p:cNvSpPr txBox="1"/>
          <p:nvPr/>
        </p:nvSpPr>
        <p:spPr>
          <a:xfrm>
            <a:off x="400050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이론 1H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Pandas 기초와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데이터 구조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3875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238750" y="3429000"/>
            <a:ext cx="371475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80962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6260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실습 1H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데이터 불러오기와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저장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3450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0D2B5E"/>
          </a:solidFill>
          <a:ln w="9525">
            <a:solidFill>
              <a:srgbClr val="0D2B5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334500" y="3429000"/>
            <a:ext cx="371475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deckgen:ornament"/>
          <p:cNvSpPr txBox="1"/>
          <p:nvPr/>
        </p:nvSpPr>
        <p:spPr>
          <a:xfrm>
            <a:off x="1219200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3B4B7C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5835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실습 1.5H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D9E2F0"/>
                </a:solidFill>
                <a:latin typeface="Pretendard"/>
                <a:ea typeface="Pretendard"/>
                <a:cs typeface="Pretendard"/>
              </a:rPr>
              <a:t>선택 · 필터 · 변환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343025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3430250" y="3429000"/>
            <a:ext cx="371475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deckgen:ornament"/>
          <p:cNvSpPr txBox="1"/>
          <p:nvPr/>
        </p:nvSpPr>
        <p:spPr>
          <a:xfrm>
            <a:off x="16287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5410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정리 0.5H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핵심 요약 ·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체크리스트 점검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6496050"/>
            <a:ext cx="47625" cy="7239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90650" y="6553200"/>
            <a:ext cx="157543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준비: Python 3.11 이상 · venv 를 만들 수 있는 상태 · 2주차 수집 데이터가 없어도 시드 고정 생성 스크립트로 진행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2-5 · 정리·회고 0.5H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2-5 · 정리·회고 0.5H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다음 회차는 3-1 Pandas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담은 데이터를 다루는 쪽으로 — Series·DataFrame, CSV·Parquet, loc·iloc 와 파생 컬럼까지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Series·DataFrame 구조와 dtype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CSV·Parquet 읽고 쓰기 · 두 형식 비교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loc·iloc·불리언 인덱싱으로 행·열 고르기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726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583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346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시드 고정 실습 데이터 orders.csv 생성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준비할 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de-mongo 정지 · week3 폴더 생성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