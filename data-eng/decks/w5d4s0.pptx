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82880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4192250" y="-2381250"/>
            <a:ext cx="7429500" cy="7429500"/>
          </a:xfrm>
          <a:prstGeom prst="ellipse">
            <a:avLst/>
          </a:prstGeom>
          <a:solidFill>
            <a:srgbClr val="F1F5FB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5430500" y="-1143000"/>
            <a:ext cx="4953000" cy="49530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15906750" y="5905500"/>
            <a:ext cx="4953000" cy="4953000"/>
          </a:xfrm>
          <a:prstGeom prst="ellipse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deckgen:decor"/>
          <p:cNvSpPr/>
          <p:nvPr/>
        </p:nvSpPr>
        <p:spPr>
          <a:xfrm>
            <a:off x="-1714500" y="2857500"/>
            <a:ext cx="2857500" cy="28575"/>
          </a:xfrm>
          <a:prstGeom prst="rect">
            <a:avLst/>
          </a:prstGeom>
          <a:solidFill>
            <a:srgbClr val="E6E9E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deckgen:decor"/>
          <p:cNvSpPr/>
          <p:nvPr/>
        </p:nvSpPr>
        <p:spPr>
          <a:xfrm>
            <a:off x="-2857500" y="6953250"/>
            <a:ext cx="6953250" cy="6953250"/>
          </a:xfrm>
          <a:prstGeom prst="ellipse">
            <a:avLst/>
          </a:prstGeom>
          <a:solidFill>
            <a:srgbClr val="EEF2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deckgen:decor"/>
          <p:cNvSpPr/>
          <p:nvPr/>
        </p:nvSpPr>
        <p:spPr>
          <a:xfrm>
            <a:off x="-1581150" y="8229600"/>
            <a:ext cx="4400550" cy="440055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deckgen:decor"/>
          <p:cNvSpPr/>
          <p:nvPr/>
        </p:nvSpPr>
        <p:spPr>
          <a:xfrm>
            <a:off x="3390900" y="8953500"/>
            <a:ext cx="742950" cy="742950"/>
          </a:xfrm>
          <a:prstGeom prst="ellipse">
            <a:avLst/>
          </a:prstGeom>
          <a:solidFill>
            <a:srgbClr val="EBEEF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deckgen:decor"/>
          <p:cNvSpPr/>
          <p:nvPr/>
        </p:nvSpPr>
        <p:spPr>
          <a:xfrm>
            <a:off x="4457700" y="9563100"/>
            <a:ext cx="342900" cy="342900"/>
          </a:xfrm>
          <a:prstGeom prst="ellipse">
            <a:avLst/>
          </a:prstGeom>
          <a:solidFill>
            <a:srgbClr val="E1E9F7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deckgen:decor"/>
          <p:cNvSpPr/>
          <p:nvPr/>
        </p:nvSpPr>
        <p:spPr>
          <a:xfrm>
            <a:off x="1143000" y="9639300"/>
            <a:ext cx="1619250" cy="28575"/>
          </a:xfrm>
          <a:prstGeom prst="rect">
            <a:avLst/>
          </a:prstGeom>
          <a:solidFill>
            <a:srgbClr val="E6E9E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43000" y="348615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spc="12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5-4 · DataFrame과 SparkSQL · 수업 전 10분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3905250"/>
            <a:ext cx="16002000" cy="14660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300" b="1" spc="-347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실습점검 · 환경재설정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5580888"/>
            <a:ext cx="160020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300" b="1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5-3 끝 상태 · 4주차 멈춤 · 켜기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72500" y="7677150"/>
            <a:ext cx="8572500" cy="857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50000"/>
              </a:lnSpc>
            </a:pPr>
            <a:r>
              <a:rPr sz="1950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수도권ICT 이노베이션스퀘어</a:t>
            </a:r>
          </a:p>
          <a:p>
            <a:pPr algn="r">
              <a:lnSpc>
                <a:spcPct val="150000"/>
              </a:lnSpc>
            </a:pPr>
            <a:r>
              <a:rPr sz="1950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3기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왜 점검하나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수업 전에 걸러 둘 것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33909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90650" y="353377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90650" y="36576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0750" y="33909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5-3 파일 셋 · 컨테이너 넷이 그대로인지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43815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390650" y="452437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90650" y="46482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90750" y="43815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4주차 MinIO 가 9000 · 9001 을 잡으면 오늘 MinIO 가 못 뜬다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53721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390650" y="551497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90650" y="56388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90750" y="53721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새 이미지도 jar 도 없다 — 5-3 jar 가 컨테이너 안에 남아 있다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6953250"/>
            <a:ext cx="16002000" cy="876300"/>
          </a:xfrm>
          <a:prstGeom prst="roundRect">
            <a:avLst>
              <a:gd name="adj" fmla="val 5434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143000" y="720090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점검(1~3단계)은 확인 · 멈추기 · 켜기만 · 재설정(5단계)은 처음부터 할 때만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5-4 · 수업 전 10분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흐름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다섯 단계 — 위에서부터 한 번씩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306705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50" b="1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4주차 컨테이너는 멈추기만 — 지우지 않는다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143000" y="3924300"/>
            <a:ext cx="2895600" cy="3143250"/>
          </a:xfrm>
          <a:prstGeom prst="roundRect">
            <a:avLst>
              <a:gd name="adj" fmla="val 164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143000" y="3924300"/>
            <a:ext cx="2895600" cy="91440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" y="4171950"/>
            <a:ext cx="28956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1. 5-3 확인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52550" y="5143500"/>
            <a:ext cx="2476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ls 세 파일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ps -a 넷 Exited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19600" y="3924300"/>
            <a:ext cx="2895600" cy="3143250"/>
          </a:xfrm>
          <a:prstGeom prst="roundRect">
            <a:avLst>
              <a:gd name="adj" fmla="val 164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419600" y="3924300"/>
            <a:ext cx="2895600" cy="91440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19600" y="4171950"/>
            <a:ext cx="28956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2. 4주차 멈춤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29150" y="5143500"/>
            <a:ext cx="2476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stop 만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네 포트 비었나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696200" y="3924300"/>
            <a:ext cx="2895600" cy="3143250"/>
          </a:xfrm>
          <a:prstGeom prst="roundRect">
            <a:avLst>
              <a:gd name="adj" fmla="val 164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96200" y="3924300"/>
            <a:ext cx="2895600" cy="91440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96200" y="4171950"/>
            <a:ext cx="28956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3. 켜기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05750" y="5143500"/>
            <a:ext cx="2476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start → 넷 Up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mc ls 로 orders/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972800" y="3924300"/>
            <a:ext cx="2895600" cy="3143250"/>
          </a:xfrm>
          <a:prstGeom prst="roundRect">
            <a:avLst>
              <a:gd name="adj" fmla="val 164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0972800" y="3924300"/>
            <a:ext cx="2895600" cy="91440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972800" y="4171950"/>
            <a:ext cx="28956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4. 오늘 만들 것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182350" y="5143500"/>
            <a:ext cx="2476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순서만 확인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아직 치지 않음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4249400" y="3924300"/>
            <a:ext cx="2895600" cy="3143250"/>
          </a:xfrm>
          <a:prstGeom prst="roundRect">
            <a:avLst>
              <a:gd name="adj" fmla="val 164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4249400" y="3924300"/>
            <a:ext cx="2895600" cy="91440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4249400" y="4171950"/>
            <a:ext cx="28956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5. 환경 재설정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4458950" y="5143500"/>
            <a:ext cx="2476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처음부터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다시 할 때만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5-4 · 수업 전 10분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1단계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5-3 끝 상태를 확인해 보세요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93370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447800" y="3181350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47800" y="333375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24100" y="314325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cd ~/data-eng/week5 &amp;&amp; ls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24100" y="354330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docker-compose.yml · first_job.py · lake-pyspark.sh 세 파일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43000" y="4200525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447800" y="4448175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47800" y="4600575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24100" y="4410075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docker compose ps -a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24100" y="4810125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spark-master · spark-minio · worker-1 · 2 넷이 Exited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43000" y="546735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447800" y="5715000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447800" y="586740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324100" y="567690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lake-pyspark.sh 가 없으면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24100" y="607695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5-3 「MinIO 연결」 3단계 cat &gt; lake-pyspark.sh 로 다시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143000" y="6734175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447800" y="6981825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447800" y="7134225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324100" y="6943725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spark-minio 가 없으면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324100" y="7343775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5-3 을 1단계부터 한다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3144500" y="2933700"/>
            <a:ext cx="4000500" cy="4895850"/>
          </a:xfrm>
          <a:prstGeom prst="roundRect">
            <a:avLst>
              <a:gd name="adj" fmla="val 1190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3487400" y="4562475"/>
            <a:ext cx="33147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spc="19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5-3 끝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3487400" y="4962525"/>
            <a:ext cx="3314700" cy="1238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</a:pPr>
            <a:r>
              <a:rPr sz="27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stop 으로</a:t>
            </a:r>
          </a:p>
          <a:p>
            <a:pPr algn="l">
              <a:lnSpc>
                <a:spcPct val="138000"/>
              </a:lnSpc>
            </a:pPr>
            <a:r>
              <a:rPr sz="27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멈춘 상태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5-4 · 수업 전 10분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2단계 · 도커 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4주차 컨테이너를 멈춰 보세요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93370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447800" y="3181350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47800" y="333375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24100" y="314325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cd ~/lakehouse 2&gt;/dev/null &amp;&amp; docker compose stop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24100" y="354330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다섯이 Stopped — 이미 멈춰 있어도 똑같이 찍힌다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43000" y="4200525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447800" y="4448175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47800" y="4600575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24100" y="4410075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docker ps … | grep -E 'NAMES|9000|9001|8080|7077'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24100" y="4810125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제목 줄만 나오면 도커 쪽은 비어 있다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43000" y="546735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447800" y="5715000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447800" y="586740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324100" y="567690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~/lakehouse 가 없으면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24100" y="607695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첫 줄은 아무것도 하지 않고 넘어간다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143000" y="6734175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447800" y="6981825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447800" y="7134225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324100" y="6943725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왜 멈추나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324100" y="7343775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4주차 MinIO 와 오늘 MinIO 가 같은 9000 · 9001 을 쓴다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3144500" y="2933700"/>
            <a:ext cx="4000500" cy="4895850"/>
          </a:xfrm>
          <a:prstGeom prst="roundRect">
            <a:avLst>
              <a:gd name="adj" fmla="val 1190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3487400" y="4562475"/>
            <a:ext cx="33147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spc="19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4주차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3487400" y="4962525"/>
            <a:ext cx="3314700" cy="1238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</a:pPr>
            <a:r>
              <a:rPr sz="27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멈춤만</a:t>
            </a:r>
          </a:p>
          <a:p>
            <a:pPr algn="l">
              <a:lnSpc>
                <a:spcPct val="138000"/>
              </a:lnSpc>
            </a:pPr>
            <a:r>
              <a:rPr sz="27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지우지 않음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5-4 · 수업 전 10분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2단계 · 도커 밖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네 포트를 쓰는 다른 프로그램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3429000"/>
            <a:ext cx="5080000" cy="2476500"/>
          </a:xfrm>
          <a:prstGeom prst="roundRect">
            <a:avLst>
              <a:gd name="adj" fmla="val 192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3429000"/>
            <a:ext cx="5080000" cy="47625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deckgen:ornament"/>
          <p:cNvSpPr txBox="1"/>
          <p:nvPr/>
        </p:nvSpPr>
        <p:spPr>
          <a:xfrm>
            <a:off x="5365750" y="3638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6850" y="3752850"/>
            <a:ext cx="4432300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315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Windows (WSL2)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netstat -ano | findstr</a:t>
            </a:r>
          </a:p>
          <a:p>
            <a:pPr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LISTENING 없으면 비어 있음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604000" y="3429000"/>
            <a:ext cx="5080000" cy="2476500"/>
          </a:xfrm>
          <a:prstGeom prst="roundRect">
            <a:avLst>
              <a:gd name="adj" fmla="val 192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604000" y="3429000"/>
            <a:ext cx="5080000" cy="47625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deckgen:ornament"/>
          <p:cNvSpPr txBox="1"/>
          <p:nvPr/>
        </p:nvSpPr>
        <p:spPr>
          <a:xfrm>
            <a:off x="10826750" y="3638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27850" y="3752850"/>
            <a:ext cx="4432300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315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macOS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lsof -nP -iTCP:9000 …</a:t>
            </a:r>
          </a:p>
          <a:p>
            <a:pPr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아무것도 없으면 비어 있음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2065000" y="3429000"/>
            <a:ext cx="5080000" cy="2476500"/>
          </a:xfrm>
          <a:prstGeom prst="roundRect">
            <a:avLst>
              <a:gd name="adj" fmla="val 192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2065000" y="3429000"/>
            <a:ext cx="5080000" cy="47625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deckgen:ornament"/>
          <p:cNvSpPr txBox="1"/>
          <p:nvPr/>
        </p:nvSpPr>
        <p:spPr>
          <a:xfrm>
            <a:off x="16287750" y="3638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388850" y="3752850"/>
            <a:ext cx="4432300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315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리눅스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sudo ss -ltnp | grep</a:t>
            </a:r>
          </a:p>
          <a:p>
            <a:pPr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docker-proxy 면 컨테이너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143000" y="6496050"/>
            <a:ext cx="47625" cy="72390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390650" y="6553200"/>
            <a:ext cx="157543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202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Windows 는 이 한 줄만 PowerShell 에서 · PID 는 작업 관리자 → 세부 정보 · macOS 의 com.docker 는 컨테이너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5-4 · 수업 전 10분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3단계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클러스터를 켜고 orders 를 확인해 보세요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93370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447800" y="3181350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47800" y="333375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24100" y="314325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docker compose start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24100" y="354330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Started 가 넷 — 실측 약 1.5초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43000" y="4200525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447800" y="4448175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47800" y="4600575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24100" y="4410075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docker compose ps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24100" y="4810125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spark-master · spark-minio · worker-1 · 2 넷이 Up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43000" y="546735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447800" y="5715000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447800" y="586740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324100" y="567690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docker run … pgsty/mc … mc ls m/warehouse/lake/db/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24100" y="607695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orders/ 한 줄 — 5-3 의 Iceberg 테이블이 남아 있다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143000" y="6734175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447800" y="6981825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447800" y="7134225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324100" y="6943725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connection refused 가 나오면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324100" y="7343775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MinIO 가 뜨는 몇 초 사이 — 잠시 뒤 다시 친다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3144500" y="2933700"/>
            <a:ext cx="4000500" cy="4895850"/>
          </a:xfrm>
          <a:prstGeom prst="roundRect">
            <a:avLst>
              <a:gd name="adj" fmla="val 1190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3487400" y="4562475"/>
            <a:ext cx="33147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spc="19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더 보이면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3487400" y="4962525"/>
            <a:ext cx="3314700" cy="1238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</a:pPr>
            <a:r>
              <a:rPr sz="27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product_sales</a:t>
            </a:r>
          </a:p>
          <a:p>
            <a:pPr algn="l">
              <a:lnSpc>
                <a:spcPct val="138000"/>
              </a:lnSpc>
            </a:pPr>
            <a:r>
              <a:rPr sz="27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· 5단계로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5-4 · 수업 전 10분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4단계 · 순서만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오늘 만드는 것 — 아직 치지 않는다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6042660" cy="59055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604266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무엇</a:t>
            </a:r>
          </a:p>
        </p:txBody>
      </p:sp>
      <p:sp>
        <p:nvSpPr>
          <p:cNvPr id="10" name="Rectangle 9"/>
          <p:cNvSpPr/>
          <p:nvPr/>
        </p:nvSpPr>
        <p:spPr>
          <a:xfrm>
            <a:off x="7223760" y="2781300"/>
            <a:ext cx="5082540" cy="5905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223760" y="2781300"/>
            <a:ext cx="508254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어디서 처음 만드나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2344400" y="2781300"/>
            <a:ext cx="4800600" cy="5905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344400" y="2781300"/>
            <a:ext cx="480060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남는가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3448050"/>
            <a:ext cx="604266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38250" y="3448050"/>
            <a:ext cx="58521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orders · products · sales</a:t>
            </a:r>
          </a:p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DataFrame 변수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223760" y="3448050"/>
            <a:ext cx="508254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9010" y="3448050"/>
            <a:ext cx="48920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DataFrame 가공</a:t>
            </a:r>
          </a:p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1~6단계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2344400" y="3448050"/>
            <a:ext cx="48006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2439650" y="3448050"/>
            <a:ext cx="46101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아니요 — 셸을</a:t>
            </a:r>
          </a:p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나가면 사라짐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4171950"/>
            <a:ext cx="604266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38250" y="4171950"/>
            <a:ext cx="58521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임시 뷰</a:t>
            </a:r>
          </a:p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orders_v · products_v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223760" y="4171950"/>
            <a:ext cx="508254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19010" y="4171950"/>
            <a:ext cx="48920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SparkSQL 1단계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2344400" y="4171950"/>
            <a:ext cx="48006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2439650" y="4171950"/>
            <a:ext cx="46101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아니요 — 셸을</a:t>
            </a:r>
          </a:p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나가면 사라짐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143000" y="4895850"/>
            <a:ext cx="604266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238250" y="4895850"/>
            <a:ext cx="58521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lake.db.product_sales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223760" y="4895850"/>
            <a:ext cx="508254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319010" y="4895850"/>
            <a:ext cx="48920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SparkSQL 5단계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2344400" y="4895850"/>
            <a:ext cx="48006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2439650" y="4895850"/>
            <a:ext cx="46101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예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143000" y="5619750"/>
            <a:ext cx="604266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238250" y="5619750"/>
            <a:ext cx="58521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lake.db.daily_revenue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223760" y="5619750"/>
            <a:ext cx="508254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319010" y="5619750"/>
            <a:ext cx="48920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SparkSQL 5단계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2344400" y="5619750"/>
            <a:ext cx="48006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2439650" y="5619750"/>
            <a:ext cx="46101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예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43000" y="76200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셸 안 orders(오늘 DataFrame 5행)와 lake.db.orders(Iceberg 4행)는 이름만 같은 다른 것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5-4 · 수업 전 10분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5단계 · 환경 재설정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오늘 실습만 처음부터 다시 할 때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93370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447800" y="3181350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47800" y="333375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24100" y="314325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bash lake-pyspark.sh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24100" y="354330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셸(&gt;&gt;&gt;)이 없으면 ~/data-eng/week5 에서 먼저 띄운다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43000" y="4200525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447800" y="4448175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47800" y="4600575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24100" y="4410075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DROP TABLE IF EXISTS lake.db.product_sales PURGE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24100" y="4810125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spark.sql(…) 로 — DataFrame[] 만 찍힌다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43000" y="546735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447800" y="5715000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447800" y="586740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324100" y="567690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DROP TABLE IF EXISTS lake.db.daily_revenue PURGE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24100" y="607695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PURGE 가 MinIO 의 파일까지 지운다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143000" y="6734175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447800" y="6981825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447800" y="7134225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324100" y="6943725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spark.sql("SHOW TABLES IN lake.db").show()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324100" y="7343775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orders 한 줄만 남으면 5-3 끝 상태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3144500" y="2933700"/>
            <a:ext cx="4000500" cy="4895850"/>
          </a:xfrm>
          <a:prstGeom prst="roundRect">
            <a:avLst>
              <a:gd name="adj" fmla="val 1190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3487400" y="4562475"/>
            <a:ext cx="33147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spc="19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WARN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3487400" y="4962525"/>
            <a:ext cx="3314700" cy="1238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</a:pPr>
            <a:r>
              <a:rPr sz="27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MetricsConfig</a:t>
            </a:r>
          </a:p>
          <a:p>
            <a:pPr algn="l">
              <a:lnSpc>
                <a:spcPct val="138000"/>
              </a:lnSpc>
            </a:pPr>
            <a:r>
              <a:rPr sz="27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한 줄은 무시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5-4 · 수업 전 10분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확인 포인트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수업 준비가 끝났는지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8956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90650" y="303847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90650" y="31623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0750" y="28956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ls 에 세 파일 — lake-pyspark.sh 까지 있다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8862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390650" y="402907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90650" y="41529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90750" y="38862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4주차 다섯은 Stopped, 네 포트는 도커 밖에서도 비어 있다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8768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390650" y="501967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90650" y="51435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90750" y="48768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ps 에 넷 Up, mc ls 에 orders/ 한 줄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58674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390650" y="601027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390650" y="61341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90750" y="58674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lake.db.orders 까지 없으면 5-3 「Iceberg 테이블」 1~2단계로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43000" y="6953250"/>
            <a:ext cx="16002000" cy="876300"/>
          </a:xfrm>
          <a:prstGeom prst="roundRect">
            <a:avLst>
              <a:gd name="adj" fmla="val 5434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43000" y="720090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막히면 그 단계 아래 「막혔어요」 · 「질문」을 눌러 주세요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5-4 · 수업 전 10분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4859000" y="6667500"/>
            <a:ext cx="5905500" cy="59055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-2095500" y="-2095500"/>
            <a:ext cx="4381500" cy="4381500"/>
          </a:xfrm>
          <a:prstGeom prst="ellipse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335280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5-4 · 수업 전 10분 마무리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3771900"/>
            <a:ext cx="16002000" cy="800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다음은 DataFrame과 SparkSQL 동작 원리 (1H)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472440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4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클러스터를 켰으니 API와 SQL이 왜 같은 결과를 내는지부터 봅니다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143000" y="52578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28750" y="54864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05000" y="54864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DataFrame은 분산된 표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372600" y="52578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58350" y="54864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134600" y="54864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API와 SQL은 같은 곳으로 수렴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62865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28750" y="65151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05000" y="65151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Spark 조인의 두 가지 방식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143000" y="7715250"/>
            <a:ext cx="47625" cy="8191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409700" y="7734300"/>
            <a:ext cx="85725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spc="14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막혔다면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09700" y="8077200"/>
            <a:ext cx="85725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그 단계 아래 「막혔어요」 · 「질문」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