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32.svg" ContentType="image/svg+xml"/>
  <Override PartName="/ppt/media/image30.svg" ContentType="image/svg+xml"/>
  <Override PartName="/ppt/media/image4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301" r:id="rId49"/>
    <p:sldId id="302" r:id="rId50"/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300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3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28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88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54836-4F7E-7DDB-0FAB-384FD3FE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313F1-D21F-0962-3A34-60F6DCF8B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F6BE7-8F4A-A82E-55D0-8115F5714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0A4C3-17E4-2E37-6089-545ABC106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136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mailto:aebon@hs.ac.k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41.sv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2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2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2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96.png"/><Relationship Id="rId6" Type="http://schemas.openxmlformats.org/officeDocument/2006/relationships/image" Target="../media/image1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mailto:aebon@hs.ac.kr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2.png"/><Relationship Id="rId4" Type="http://schemas.openxmlformats.org/officeDocument/2006/relationships/image" Target="../media/image1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3.png"/><Relationship Id="rId4" Type="http://schemas.openxmlformats.org/officeDocument/2006/relationships/image" Target="../media/image1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57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Relationship Id="rId10" Type="http://schemas.openxmlformats.org/officeDocument/2006/relationships/image" Target="../media/image1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1.jpg"/><Relationship Id="rId4" Type="http://schemas.openxmlformats.org/officeDocument/2006/relationships/image" Target="../media/image132.sv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42.png"/><Relationship Id="rId9" Type="http://schemas.openxmlformats.org/officeDocument/2006/relationships/image" Target="../media/image6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Relationship Id="rId7" Type="http://schemas.openxmlformats.org/officeDocument/2006/relationships/image" Target="../media/image147.png"/><Relationship Id="rId8" Type="http://schemas.openxmlformats.org/officeDocument/2006/relationships/image" Target="../media/image6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72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3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Relationship Id="rId8" Type="http://schemas.openxmlformats.org/officeDocument/2006/relationships/image" Target="../media/image159.png"/><Relationship Id="rId9" Type="http://schemas.openxmlformats.org/officeDocument/2006/relationships/image" Target="../media/image16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1.png"/><Relationship Id="rId4" Type="http://schemas.openxmlformats.org/officeDocument/2006/relationships/image" Target="../media/image16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6096305" y="0"/>
            <a:ext cx="609630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098194"/>
            <a:ext cx="761695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/>
          <p:cNvSpPr txBox="1"/>
          <p:nvPr/>
        </p:nvSpPr>
        <p:spPr>
          <a:xfrm>
            <a:off x="761695" y="1459382"/>
            <a:ext cx="8458200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대학생을 위한 인용·출처관리</a:t>
            </a:r>
            <a:endParaRPr lang="en-US" sz="54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2602382"/>
            <a:ext cx="807191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예방과 설득력 있는 리포트를 위한 실전 가이드 및 도구 활용법</a:t>
            </a:r>
            <a:endParaRPr lang="en-US" sz="22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595F8B5-2BC1-95F9-DB45-D94ACE79D2BA}"/>
              </a:ext>
            </a:extLst>
          </p:cNvPr>
          <p:cNvGrpSpPr/>
          <p:nvPr/>
        </p:nvGrpSpPr>
        <p:grpSpPr>
          <a:xfrm>
            <a:off x="6763359" y="4601302"/>
            <a:ext cx="4762195" cy="1666951"/>
            <a:chOff x="761695" y="4093769"/>
            <a:chExt cx="4762195" cy="1666951"/>
          </a:xfrm>
        </p:grpSpPr>
        <p:sp>
          <p:nvSpPr>
            <p:cNvPr id="6" name="Shape 3"/>
            <p:cNvSpPr/>
            <p:nvPr/>
          </p:nvSpPr>
          <p:spPr>
            <a:xfrm>
              <a:off x="761695" y="4093769"/>
              <a:ext cx="4762195" cy="1666951"/>
            </a:xfrm>
            <a:prstGeom prst="roundRect">
              <a:avLst>
                <a:gd name="adj" fmla="val 3761"/>
              </a:avLst>
            </a:prstGeom>
            <a:solidFill>
              <a:srgbClr val="FFFFFF">
                <a:alpha val="5000"/>
              </a:srgbClr>
            </a:solidFill>
            <a:ln w="12700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5"/>
            <p:cNvSpPr/>
            <p:nvPr/>
          </p:nvSpPr>
          <p:spPr>
            <a:xfrm>
              <a:off x="1076249" y="4331513"/>
              <a:ext cx="381305" cy="381305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4"/>
            <a:srcRect l="-1064" r="-1064"/>
            <a:stretch/>
          </p:blipFill>
          <p:spPr>
            <a:xfrm>
              <a:off x="1156717" y="4436669"/>
              <a:ext cx="219456" cy="171907"/>
            </a:xfrm>
            <a:prstGeom prst="rect">
              <a:avLst/>
            </a:prstGeom>
          </p:spPr>
        </p:pic>
        <p:sp>
          <p:nvSpPr>
            <p:cNvPr id="11" name="Shape 6"/>
            <p:cNvSpPr/>
            <p:nvPr/>
          </p:nvSpPr>
          <p:spPr>
            <a:xfrm>
              <a:off x="1076249" y="4978908"/>
              <a:ext cx="4134002" cy="9144"/>
            </a:xfrm>
            <a:prstGeom prst="rect">
              <a:avLst/>
            </a:prstGeom>
            <a:solidFill>
              <a:srgbClr val="37415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7"/>
            <p:cNvSpPr/>
            <p:nvPr/>
          </p:nvSpPr>
          <p:spPr>
            <a:xfrm>
              <a:off x="1076249" y="5140757"/>
              <a:ext cx="381305" cy="381305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181405" y="5245913"/>
              <a:ext cx="171907" cy="171907"/>
            </a:xfrm>
            <a:prstGeom prst="rect">
              <a:avLst/>
            </a:prstGeom>
          </p:spPr>
        </p:pic>
        <p:sp>
          <p:nvSpPr>
            <p:cNvPr id="17" name="Text 11"/>
            <p:cNvSpPr txBox="1"/>
            <p:nvPr/>
          </p:nvSpPr>
          <p:spPr>
            <a:xfrm>
              <a:off x="1609802" y="4340657"/>
              <a:ext cx="3638397" cy="3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이 애 본</a:t>
              </a:r>
              <a:b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</a:b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한신대학교 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AI.SW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대학 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hlinkClick r:id="rId6"/>
                </a:rPr>
                <a:t>aebon@hs.ac.kr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 </a:t>
              </a:r>
              <a:endPara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endParaRPr>
            </a:p>
          </p:txBody>
        </p:sp>
        <p:sp>
          <p:nvSpPr>
            <p:cNvPr id="18" name="Text 12"/>
            <p:cNvSpPr txBox="1"/>
            <p:nvPr/>
          </p:nvSpPr>
          <p:spPr>
            <a:xfrm>
              <a:off x="1571854" y="5188306"/>
              <a:ext cx="178125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주제: 인용·출처관리</a:t>
              </a:r>
              <a:endParaRPr lang="en-US" sz="1500" dirty="0"/>
            </a:p>
          </p:txBody>
        </p:sp>
      </p:grpSp>
      <p:sp>
        <p:nvSpPr>
          <p:cNvPr id="20" name="Text 9">
            <a:extLst>
              <a:ext uri="{FF2B5EF4-FFF2-40B4-BE49-F238E27FC236}">
                <a16:creationId xmlns:a16="http://schemas.microsoft.com/office/drawing/2014/main" id="{B33AD245-66E1-FAC7-7E2B-B3228AE988C5}"/>
              </a:ext>
            </a:extLst>
          </p:cNvPr>
          <p:cNvSpPr txBox="1"/>
          <p:nvPr/>
        </p:nvSpPr>
        <p:spPr>
          <a:xfrm>
            <a:off x="628676" y="5667156"/>
            <a:ext cx="4417109" cy="48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</a:t>
            </a:r>
            <a:r>
              <a:rPr lang="en-US" altLang="ko-KR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창의력</a:t>
            </a:r>
            <a:r>
              <a:rPr lang="en-US" altLang="ko-KR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복합문제능력 향상 과정</a:t>
            </a:r>
            <a:endParaRPr lang="en-US" altLang="ko-KR" b="1" dirty="0">
              <a:solidFill>
                <a:srgbClr val="D1D5D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https://padlet.com/aebon/create26</a:t>
            </a:r>
            <a:endParaRPr lang="en-US" b="1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382305" y="3047695"/>
            <a:ext cx="4762195" cy="47621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638751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629607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1500" y="2314346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71500" y="4352544"/>
            <a:ext cx="19202" cy="1901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71500" y="2542946"/>
            <a:ext cx="269565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개요</a:t>
            </a:r>
            <a:endParaRPr lang="en-US" sz="4500" dirty="0"/>
          </a:p>
        </p:txBody>
      </p:sp>
      <p:sp>
        <p:nvSpPr>
          <p:cNvPr id="11" name="Text 9"/>
          <p:cNvSpPr txBox="1"/>
          <p:nvPr/>
        </p:nvSpPr>
        <p:spPr>
          <a:xfrm>
            <a:off x="695401" y="4173524"/>
            <a:ext cx="349575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예방을 위한 인용 </a:t>
            </a: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원칙과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AI·서지 도구 실습 가이드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99862" y="1270102"/>
            <a:ext cx="6229807" cy="514807"/>
          </a:xfrm>
          <a:prstGeom prst="roundRect">
            <a:avLst>
              <a:gd name="adj" fmla="val 26314"/>
            </a:avLst>
          </a:prstGeom>
          <a:solidFill>
            <a:srgbClr val="38BDF8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299862" y="1270102"/>
            <a:ext cx="38405" cy="5148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299862" y="1904695"/>
            <a:ext cx="6229807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299862" y="1904695"/>
            <a:ext cx="38405" cy="5148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299862" y="2539289"/>
            <a:ext cx="6229807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299862" y="2539289"/>
            <a:ext cx="38405" cy="5148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299862" y="3173882"/>
            <a:ext cx="6229807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299862" y="3173882"/>
            <a:ext cx="38405" cy="5148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299862" y="3808476"/>
            <a:ext cx="6229807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299862" y="3808476"/>
            <a:ext cx="38405" cy="5148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299862" y="4442155"/>
            <a:ext cx="6229807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299862" y="4442155"/>
            <a:ext cx="38405" cy="5148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299862" y="5076749"/>
            <a:ext cx="6229807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299862" y="5076749"/>
            <a:ext cx="38405" cy="5148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413451" y="1371600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099962" y="1394460"/>
            <a:ext cx="21991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인용·출처 표기가 중요한가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13451" y="2005279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099962" y="2028139"/>
            <a:ext cx="271302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및 부정행위의 유형과 주요 사례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13451" y="2639873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099962" y="2662733"/>
            <a:ext cx="209397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방식: 간접·직접·재인용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13451" y="3274466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099962" y="3297326"/>
            <a:ext cx="33320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표기 시스템: 내주/번호주/각주/참고문헌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13451" y="3909060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099962" y="3931920"/>
            <a:ext cx="278983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서지관리도구(Zotero) 실습 실습 포함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413451" y="4543654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099962" y="4566514"/>
            <a:ext cx="23984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활용과 검증 실습 포함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13451" y="5178247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099962" y="5201107"/>
            <a:ext cx="23134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퀴즈 및 최종 점검 (체크리스트)</a:t>
            </a:r>
            <a:endParaRPr lang="en-US" sz="13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5" y="59435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624889" y="-1871269"/>
            <a:ext cx="7619695" cy="7619695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429500" y="2095805"/>
            <a:ext cx="5715000" cy="5715000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18591" y="1043026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38810" y="1189126"/>
            <a:ext cx="19485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GOALS &amp; OUTCOMES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8591" y="1982215"/>
            <a:ext cx="27057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</a:t>
            </a:r>
            <a:r>
              <a:rPr lang="en-US" sz="36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027456" y="2762656"/>
            <a:ext cx="21625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성과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70507" y="3949538"/>
            <a:ext cx="2923338" cy="114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강의를 통해 </a:t>
            </a: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여러분은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글쓰기의 기초를 </a:t>
            </a: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다지고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4가지 핵심 </a:t>
            </a: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역량을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확실하게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습득하게 됩니다.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47565" y="952805"/>
            <a:ext cx="3228746" cy="2361895"/>
          </a:xfrm>
          <a:prstGeom prst="roundRect">
            <a:avLst>
              <a:gd name="adj" fmla="val 3122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178954" y="1086307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061204" y="1266444"/>
            <a:ext cx="533095" cy="256946"/>
          </a:xfrm>
          <a:prstGeom prst="roundRect">
            <a:avLst>
              <a:gd name="adj" fmla="val 210887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3909" y="1277417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061204" y="1726387"/>
            <a:ext cx="15627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예방 역량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061204" y="2404364"/>
            <a:ext cx="2691079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표절의 기준을 명확히 이해하고, 자신을 보호하는 안전한 </a:t>
            </a:r>
            <a:r>
              <a:rPr lang="en-US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글쓰기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습관을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기르게 되며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연구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윤리를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준수하여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부정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행위를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사전에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방지합니다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03082" y="952805"/>
            <a:ext cx="3228746" cy="2361895"/>
          </a:xfrm>
          <a:prstGeom prst="roundRect">
            <a:avLst>
              <a:gd name="adj" fmla="val 3122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635386" y="1086307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600" dirty="0"/>
          </a:p>
        </p:txBody>
      </p:sp>
      <p:sp>
        <p:nvSpPr>
          <p:cNvPr id="19" name="Shape 16"/>
          <p:cNvSpPr/>
          <p:nvPr/>
        </p:nvSpPr>
        <p:spPr>
          <a:xfrm>
            <a:off x="8516722" y="1266444"/>
            <a:ext cx="533095" cy="256946"/>
          </a:xfrm>
          <a:prstGeom prst="roundRect">
            <a:avLst>
              <a:gd name="adj" fmla="val 210887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69426" y="1277417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516722" y="1726387"/>
            <a:ext cx="15627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방식 체화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470366" y="2103578"/>
            <a:ext cx="2694178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직접·간접 인용의 차이를 구분하고 상황에 맞는 자연스러운 인용문을 </a:t>
            </a:r>
            <a:r>
              <a:rPr lang="en-US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작성합니다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</p:txBody>
      </p:sp>
      <p:sp>
        <p:nvSpPr>
          <p:cNvPr id="23" name="Shape 19"/>
          <p:cNvSpPr/>
          <p:nvPr/>
        </p:nvSpPr>
        <p:spPr>
          <a:xfrm>
            <a:off x="4747565" y="3543300"/>
            <a:ext cx="3228746" cy="2361895"/>
          </a:xfrm>
          <a:prstGeom prst="roundRect">
            <a:avLst>
              <a:gd name="adj" fmla="val 3122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7178954" y="3676802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Shape 21"/>
          <p:cNvSpPr/>
          <p:nvPr/>
        </p:nvSpPr>
        <p:spPr>
          <a:xfrm>
            <a:off x="5061204" y="3857854"/>
            <a:ext cx="533095" cy="256946"/>
          </a:xfrm>
          <a:prstGeom prst="roundRect">
            <a:avLst>
              <a:gd name="adj" fmla="val 210887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5228539" y="3867912"/>
            <a:ext cx="200254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61204" y="4316882"/>
            <a:ext cx="15627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활용 능력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5056632" y="4938268"/>
            <a:ext cx="2691079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APA, MLA 등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전공별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표기법을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숙지하여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리포트에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올바르게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적용합니다</a:t>
            </a:r>
            <a:r>
              <a:rPr lang="en-US" altLang="ko-KR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. </a:t>
            </a:r>
          </a:p>
          <a:p>
            <a:endParaRPr lang="en-US" sz="1200" dirty="0">
              <a:solidFill>
                <a:srgbClr val="94A3B8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Zotero 등 서지 관리 도구로 참고문헌 작성을 자동화하여 연구 </a:t>
            </a:r>
            <a:r>
              <a:rPr lang="en-US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효율을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극대화합니다</a:t>
            </a: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</a:rPr>
              <a:t>. </a:t>
            </a:r>
            <a:endParaRPr lang="en-US" altLang="ko-KR" sz="1200" dirty="0">
              <a:solidFill>
                <a:srgbClr val="94A3B8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203082" y="3543300"/>
            <a:ext cx="3228746" cy="2361895"/>
          </a:xfrm>
          <a:prstGeom prst="roundRect">
            <a:avLst>
              <a:gd name="adj" fmla="val 3122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10635386" y="3676802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600" dirty="0"/>
          </a:p>
        </p:txBody>
      </p:sp>
      <p:sp>
        <p:nvSpPr>
          <p:cNvPr id="31" name="Shape 26"/>
          <p:cNvSpPr/>
          <p:nvPr/>
        </p:nvSpPr>
        <p:spPr>
          <a:xfrm>
            <a:off x="8516722" y="3857854"/>
            <a:ext cx="533095" cy="256946"/>
          </a:xfrm>
          <a:prstGeom prst="roundRect">
            <a:avLst>
              <a:gd name="adj" fmla="val 210887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8641080" y="3867912"/>
            <a:ext cx="286207" cy="2286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516722" y="4316882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검증 윤리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8516722" y="4764938"/>
            <a:ext cx="2691079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AI의 결과물을 비판적으로 검증하고 윤리적으로 활용하는 안목을 기릅니다.</a:t>
            </a:r>
            <a:endParaRPr lang="en-US" sz="13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2857500"/>
            <a:ext cx="8572500" cy="8572500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05902" y="2572207"/>
            <a:ext cx="5715000" cy="5715000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58361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6996" y="1050645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6996" y="1288389"/>
            <a:ext cx="28291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중요한가?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46938" y="2483967"/>
            <a:ext cx="32196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인용과 출처 </a:t>
            </a: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표기는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형식이 </a:t>
            </a: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아닌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나를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지키고 설득하는 힘입니다.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4102" y="1375258"/>
            <a:ext cx="3181198" cy="1943100"/>
          </a:xfrm>
          <a:prstGeom prst="roundRect">
            <a:avLst>
              <a:gd name="adj" fmla="val 276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295346" r="-295346"/>
          <a:stretch/>
        </p:blipFill>
        <p:spPr>
          <a:xfrm>
            <a:off x="5210251" y="1651406"/>
            <a:ext cx="2628900" cy="30449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343900" y="1375258"/>
            <a:ext cx="3181198" cy="1943100"/>
          </a:xfrm>
          <a:prstGeom prst="roundRect">
            <a:avLst>
              <a:gd name="adj" fmla="val 276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381682" r="-381682"/>
          <a:stretch/>
        </p:blipFill>
        <p:spPr>
          <a:xfrm>
            <a:off x="8620049" y="1651406"/>
            <a:ext cx="2628900" cy="30449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934102" y="3543300"/>
            <a:ext cx="3181198" cy="1943100"/>
          </a:xfrm>
          <a:prstGeom prst="roundRect">
            <a:avLst>
              <a:gd name="adj" fmla="val 276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381682" r="-381682"/>
          <a:stretch/>
        </p:blipFill>
        <p:spPr>
          <a:xfrm>
            <a:off x="5210251" y="3819449"/>
            <a:ext cx="2628900" cy="30449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343900" y="3543300"/>
            <a:ext cx="3181198" cy="1943100"/>
          </a:xfrm>
          <a:prstGeom prst="roundRect">
            <a:avLst>
              <a:gd name="adj" fmla="val 276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381682" r="-381682"/>
          <a:stretch/>
        </p:blipFill>
        <p:spPr>
          <a:xfrm>
            <a:off x="8620049" y="3819449"/>
            <a:ext cx="2628900" cy="3044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10251" y="2147011"/>
            <a:ext cx="192298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학업·연구 윤리 준수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210251" y="2581351"/>
            <a:ext cx="2714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방지와 학문적 정직성을 확보하는 기본 조건입니다.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8620049" y="2147011"/>
            <a:ext cx="21223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성적·평판 리스크 관리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620049" y="2581351"/>
            <a:ext cx="2619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학위 취소 및 사회적 평판 하락을 미연에 방지합니다.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210251" y="4315054"/>
            <a:ext cx="192298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법·제도적 제재 방지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210251" y="4749394"/>
            <a:ext cx="2619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 위반 등 복잡한 법적 분쟁을 차단합니다.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620049" y="4315054"/>
            <a:ext cx="18562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설득력 강화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620049" y="4749394"/>
            <a:ext cx="2714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근거 제시로 글의 신뢰성을 높입니다.</a:t>
            </a:r>
            <a:endParaRPr lang="en-US" sz="12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571500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5640934"/>
            <a:ext cx="10668305" cy="87599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5640934"/>
            <a:ext cx="38405" cy="87599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6307" y="5936285"/>
            <a:ext cx="286207" cy="2862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1695" y="819302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사례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037844"/>
            <a:ext cx="75922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미디어 헤드라인으로 보는 표절의 대가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1800454"/>
            <a:ext cx="7020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인용과 출처 표기 미비는 단순한 실수가 아닌, 치명적인 경력 단절로 이어질 수 있습니다.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61795" y="583112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영향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561795" y="6069787"/>
            <a:ext cx="52916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학문적 신뢰 붕괴는 물론, 쌓아온 사회적 경력 전체가 흔들릴 수 있습니다.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1695" y="2457907"/>
            <a:ext cx="3353105" cy="2809951"/>
          </a:xfrm>
          <a:prstGeom prst="roundRect">
            <a:avLst>
              <a:gd name="adj" fmla="val 176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076249" y="277154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257300" y="2924251"/>
            <a:ext cx="1719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340303" y="2771546"/>
            <a:ext cx="5641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01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76249" y="3514954"/>
            <a:ext cx="2895905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유명 방송인 A씨,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석사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논문 표절 </a:t>
            </a:r>
            <a:r>
              <a:rPr lang="en-US" sz="1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의혹으로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프로그램 하차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076249" y="4577486"/>
            <a:ext cx="27239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76249" y="4775911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85646" y="4739335"/>
            <a:ext cx="12371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OO일보 20xx.xx.xx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419295" y="2457907"/>
            <a:ext cx="3353105" cy="2809951"/>
          </a:xfrm>
          <a:prstGeom prst="roundRect">
            <a:avLst>
              <a:gd name="adj" fmla="val 176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733849" y="277154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4858207" y="2924251"/>
            <a:ext cx="2862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7903" y="2771546"/>
            <a:ext cx="5641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02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733849" y="3514954"/>
            <a:ext cx="2809951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'스타 강사' B씨,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박사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학위 논문 표절 </a:t>
            </a:r>
            <a:r>
              <a:rPr lang="en-US" sz="1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학위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취소 및 해고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4733849" y="4577486"/>
            <a:ext cx="27239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33849" y="4775911"/>
            <a:ext cx="133502" cy="1335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943246" y="4739335"/>
            <a:ext cx="13130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△△신문 20xx.xx.xx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76895" y="2457907"/>
            <a:ext cx="3353105" cy="2809951"/>
          </a:xfrm>
          <a:prstGeom prst="roundRect">
            <a:avLst>
              <a:gd name="adj" fmla="val 176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8391449" y="277154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44154" y="2924251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655503" y="2771546"/>
            <a:ext cx="5641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03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8391449" y="3514954"/>
            <a:ext cx="276240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장관 후보자 C씨,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논문 자기표절 </a:t>
            </a:r>
            <a:r>
              <a:rPr lang="en-US" sz="1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논란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지명</a:t>
            </a: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철회 검토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8391449" y="4577486"/>
            <a:ext cx="27239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91449" y="4775911"/>
            <a:ext cx="133502" cy="13350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600846" y="4739335"/>
            <a:ext cx="13130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□□뉴스 20xx.xx.xx</a:t>
            </a:r>
            <a:endParaRPr lang="en-US" sz="10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3810305" cy="3810305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724205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정의·유형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952805"/>
            <a:ext cx="47439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학문 부정행위 유형 한눈에 보기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543507"/>
            <a:ext cx="59682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윤리를 위반하는 대표적인 행위들을 핵심 정의와 구체적 사례로 구분했습니다.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1695" y="1912401"/>
            <a:ext cx="5143500" cy="4533595"/>
          </a:xfrm>
          <a:prstGeom prst="roundRect">
            <a:avLst>
              <a:gd name="adj" fmla="val 678"/>
            </a:avLst>
          </a:prstGeom>
          <a:solidFill>
            <a:srgbClr val="1E293B">
              <a:alpha val="50000"/>
            </a:srgbClr>
          </a:solidFill>
          <a:ln w="508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2144" y="2284562"/>
            <a:ext cx="4362602" cy="362102"/>
          </a:xfrm>
          <a:prstGeom prst="roundRect">
            <a:avLst>
              <a:gd name="adj" fmla="val 252526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3882" r="-3882"/>
          <a:stretch/>
        </p:blipFill>
        <p:spPr>
          <a:xfrm>
            <a:off x="1304849" y="2397033"/>
            <a:ext cx="161849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43507" y="2360457"/>
            <a:ext cx="11512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유형 &amp; 정의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52144" y="3871046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52144" y="287069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52728" y="2971276"/>
            <a:ext cx="181051" cy="1810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723644" y="2870692"/>
            <a:ext cx="16898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위조 (Fabrication)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723644" y="3202619"/>
            <a:ext cx="389991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존재하지 않는 데이터나 결과를 허위로 만들어 기록·보고하는 행위입니다.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152144" y="5103657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152144" y="410330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1238098" y="4202973"/>
            <a:ext cx="209398" cy="18105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723644" y="4103303"/>
            <a:ext cx="17666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변조 (Falsification)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723644" y="4435231"/>
            <a:ext cx="389991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재료·장비·과정을 인위적으로 조작하거나 데이터를 임의 변형·삭제해 왜곡합니다.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152144" y="533591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1252728" y="5435584"/>
            <a:ext cx="181051" cy="18105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723644" y="5335915"/>
            <a:ext cx="16331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(Plagiarism)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723644" y="5666927"/>
            <a:ext cx="384322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아이디어, 연구 내용 등을 정당한 승인이나 인용 없이 도용하는 것입니다.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286500" y="1912401"/>
            <a:ext cx="5143500" cy="4533595"/>
          </a:xfrm>
          <a:prstGeom prst="roundRect">
            <a:avLst>
              <a:gd name="adj" fmla="val 678"/>
            </a:avLst>
          </a:prstGeom>
          <a:solidFill>
            <a:srgbClr val="1E293B">
              <a:alpha val="30000"/>
            </a:srgbClr>
          </a:solidFill>
          <a:ln w="508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6676949" y="2284562"/>
            <a:ext cx="4362602" cy="362102"/>
          </a:xfrm>
          <a:prstGeom prst="roundRect">
            <a:avLst>
              <a:gd name="adj" fmla="val 252526"/>
            </a:avLst>
          </a:prstGeom>
          <a:solidFill>
            <a:srgbClr val="F43F5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3425" r="-3425"/>
          <a:stretch/>
        </p:blipFill>
        <p:spPr>
          <a:xfrm>
            <a:off x="6829654" y="2397033"/>
            <a:ext cx="142646" cy="1335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48195" y="2360457"/>
            <a:ext cx="99852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위반 사례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676949" y="3871046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6676949" y="287069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43F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76618" y="2971276"/>
            <a:ext cx="181051" cy="18105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48449" y="2870692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부당 중복게재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248449" y="3202619"/>
            <a:ext cx="389991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연구결과와 유사한 저작물을 출처 없이 게재해 부당한 이익을 취하는 경우입니다.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676949" y="5103657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6676949" y="410330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43F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 l="-1403" r="-1403"/>
          <a:stretch/>
        </p:blipFill>
        <p:spPr>
          <a:xfrm>
            <a:off x="6762902" y="4202973"/>
            <a:ext cx="209398" cy="181051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48449" y="4103303"/>
            <a:ext cx="14429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과제물 구매/대리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7248449" y="4435231"/>
            <a:ext cx="386151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과제물을 구매·양도받거나 대필하여 자신의 과제물로 제출하는 행위입니다.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6676949" y="533591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43F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 l="-505" r="-505"/>
          <a:stretch/>
        </p:blipFill>
        <p:spPr>
          <a:xfrm>
            <a:off x="6752844" y="5435584"/>
            <a:ext cx="228600" cy="181051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248449" y="5335915"/>
            <a:ext cx="12618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부적절 활용</a:t>
            </a:r>
            <a:endParaRPr lang="en-US" sz="1400" dirty="0"/>
          </a:p>
        </p:txBody>
      </p:sp>
      <p:sp>
        <p:nvSpPr>
          <p:cNvPr id="44" name="Text 34"/>
          <p:cNvSpPr txBox="1"/>
          <p:nvPr/>
        </p:nvSpPr>
        <p:spPr>
          <a:xfrm>
            <a:off x="7248449" y="5666927"/>
            <a:ext cx="380481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AI의 결과물을 검증이나 출처 표기, 재구성 없이 그대로 복사해 제출합니다.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5810098" y="3039856"/>
            <a:ext cx="571500" cy="5715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6"/>
          <p:cNvSpPr txBox="1"/>
          <p:nvPr/>
        </p:nvSpPr>
        <p:spPr>
          <a:xfrm>
            <a:off x="5980176" y="3188903"/>
            <a:ext cx="3758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4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55A7608-70B4-5D08-BB9A-D63E60A526C0}"/>
              </a:ext>
            </a:extLst>
          </p:cNvPr>
          <p:cNvGrpSpPr/>
          <p:nvPr/>
        </p:nvGrpSpPr>
        <p:grpSpPr>
          <a:xfrm>
            <a:off x="781354" y="242773"/>
            <a:ext cx="10668305" cy="6335878"/>
            <a:chOff x="761695" y="571500"/>
            <a:chExt cx="10668305" cy="6335878"/>
          </a:xfrm>
        </p:grpSpPr>
        <p:sp>
          <p:nvSpPr>
            <p:cNvPr id="5" name="Shape 3"/>
            <p:cNvSpPr/>
            <p:nvPr/>
          </p:nvSpPr>
          <p:spPr>
            <a:xfrm>
              <a:off x="761695" y="571500"/>
              <a:ext cx="571500" cy="57607"/>
            </a:xfrm>
            <a:prstGeom prst="roundRect">
              <a:avLst>
                <a:gd name="adj" fmla="val 793654"/>
              </a:avLst>
            </a:prstGeom>
            <a:solidFill>
              <a:srgbClr val="F43F5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761695" y="6221578"/>
              <a:ext cx="10668305" cy="685800"/>
            </a:xfrm>
            <a:prstGeom prst="roundRect">
              <a:avLst>
                <a:gd name="adj" fmla="val 22222"/>
              </a:avLst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2285086" y="6411773"/>
              <a:ext cx="304495" cy="304495"/>
            </a:xfrm>
            <a:prstGeom prst="ellipse">
              <a:avLst/>
            </a:prstGeom>
            <a:solidFill>
              <a:srgbClr val="0EA5E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2396642" y="6462065"/>
              <a:ext cx="18928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337353" y="6411773"/>
              <a:ext cx="304495" cy="304495"/>
            </a:xfrm>
            <a:prstGeom prst="ellipse">
              <a:avLst/>
            </a:prstGeom>
            <a:solidFill>
              <a:srgbClr val="0EA5E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5449824" y="6462065"/>
              <a:ext cx="18928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530438" y="6411773"/>
              <a:ext cx="304495" cy="304495"/>
            </a:xfrm>
            <a:prstGeom prst="ellipse">
              <a:avLst/>
            </a:prstGeom>
            <a:solidFill>
              <a:srgbClr val="0EA5E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8641994" y="6462065"/>
              <a:ext cx="189281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</a:t>
              </a:r>
              <a:endParaRPr lang="en-US" sz="10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761695" y="819302"/>
              <a:ext cx="49103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사례 1</a:t>
              </a:r>
              <a:endParaRPr lang="en-US" sz="10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761695" y="1047902"/>
              <a:ext cx="5382158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7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타인의 문장을 그대로 가져오는 행위</a:t>
              </a:r>
              <a:endParaRPr lang="en-US" sz="27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761695" y="1619402"/>
              <a:ext cx="535381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출처를 표기하더라도, 인용 부호 없이 원문을 복사하면 표절입니다.</a:t>
              </a:r>
              <a:endParaRPr lang="en-US" sz="150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1047902" y="6450178"/>
              <a:ext cx="5815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예방 팁</a:t>
              </a:r>
              <a:endParaRPr lang="en-US" sz="12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2703881" y="6450178"/>
              <a:ext cx="15051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0F2F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원문 안 보고 요약하기</a:t>
              </a:r>
              <a:endParaRPr lang="en-US" sz="12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5757062" y="6450178"/>
              <a:ext cx="16486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0F2F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나만의 문장 구조로 변경</a:t>
              </a:r>
              <a:endParaRPr lang="en-US" sz="12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8949233" y="6450178"/>
              <a:ext cx="16962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0F2F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필수 단어 외 유의어 교체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61695" y="2180844"/>
              <a:ext cx="5143500" cy="3762756"/>
            </a:xfrm>
            <a:prstGeom prst="roundRect">
              <a:avLst>
                <a:gd name="adj" fmla="val 984"/>
              </a:avLst>
            </a:prstGeom>
            <a:solidFill>
              <a:srgbClr val="1E293B">
                <a:alpha val="60000"/>
              </a:srgbClr>
            </a:solidFill>
            <a:ln w="12700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1104595" y="2495398"/>
              <a:ext cx="714146" cy="267005"/>
            </a:xfrm>
            <a:prstGeom prst="roundRect">
              <a:avLst>
                <a:gd name="adj" fmla="val 244618"/>
              </a:avLst>
            </a:prstGeom>
            <a:solidFill>
              <a:srgbClr val="F43F5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1218895" y="2533802"/>
              <a:ext cx="577901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잘못된 예</a:t>
              </a:r>
              <a:endParaRPr lang="en-US" sz="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134356" y="2495398"/>
              <a:ext cx="457200" cy="457200"/>
            </a:xfrm>
            <a:prstGeom prst="roundRect">
              <a:avLst>
                <a:gd name="adj" fmla="val 50000"/>
              </a:avLst>
            </a:prstGeom>
            <a:solidFill>
              <a:srgbClr val="F43F5E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4" name="Image 0" descr="preencoded.png"/>
            <p:cNvPicPr>
              <a:picLocks noChangeAspect="1"/>
            </p:cNvPicPr>
            <p:nvPr/>
          </p:nvPicPr>
          <p:blipFill>
            <a:blip r:embed="rId3"/>
            <a:srcRect l="-133" r="-133"/>
            <a:stretch/>
          </p:blipFill>
          <p:spPr>
            <a:xfrm>
              <a:off x="5277002" y="2609698"/>
              <a:ext cx="171907" cy="228600"/>
            </a:xfrm>
            <a:prstGeom prst="rect">
              <a:avLst/>
            </a:prstGeom>
          </p:spPr>
        </p:pic>
        <p:sp>
          <p:nvSpPr>
            <p:cNvPr id="25" name="Text 22"/>
            <p:cNvSpPr txBox="1"/>
            <p:nvPr/>
          </p:nvSpPr>
          <p:spPr>
            <a:xfrm>
              <a:off x="1104595" y="3133649"/>
              <a:ext cx="14767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원문 그대로 복사</a:t>
              </a:r>
              <a:endParaRPr lang="en-US" sz="15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1104595" y="3562502"/>
              <a:ext cx="4486046" cy="1143000"/>
            </a:xfrm>
            <a:prstGeom prst="roundRect">
              <a:avLst>
                <a:gd name="adj" fmla="val 5333"/>
              </a:avLst>
            </a:prstGeom>
            <a:solidFill>
              <a:srgbClr val="0F172A">
                <a:alpha val="5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24"/>
            <p:cNvSpPr txBox="1"/>
            <p:nvPr/>
          </p:nvSpPr>
          <p:spPr>
            <a:xfrm>
              <a:off x="1295705" y="3752698"/>
              <a:ext cx="28529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원문: "MZ세대는 가성비보다 가심비를 중시한다."</a:t>
              </a:r>
              <a:endParaRPr lang="en-US" sz="1000" dirty="0"/>
            </a:p>
          </p:txBody>
        </p:sp>
        <p:sp>
          <p:nvSpPr>
            <p:cNvPr id="28" name="Text 25"/>
            <p:cNvSpPr txBox="1"/>
            <p:nvPr/>
          </p:nvSpPr>
          <p:spPr>
            <a:xfrm>
              <a:off x="1295705" y="4019702"/>
              <a:ext cx="4134002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MZ세대는 가성비보다 가심비를 중시한다. 따라서 기업은 브랜드 가치를 높여야 한다 (김철수, 2023).</a:t>
              </a:r>
              <a:endParaRPr lang="en-US" sz="1200" dirty="0"/>
            </a:p>
          </p:txBody>
        </p:sp>
        <p:sp>
          <p:nvSpPr>
            <p:cNvPr id="29" name="Shape 26"/>
            <p:cNvSpPr/>
            <p:nvPr/>
          </p:nvSpPr>
          <p:spPr>
            <a:xfrm>
              <a:off x="1104595" y="4849978"/>
              <a:ext cx="4486046" cy="9144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0" name="Image 1" descr="preencoded.png"/>
            <p:cNvPicPr>
              <a:picLocks noChangeAspect="1"/>
            </p:cNvPicPr>
            <p:nvPr/>
          </p:nvPicPr>
          <p:blipFill>
            <a:blip r:embed="rId4"/>
            <a:srcRect t="-25200" b="-25200"/>
            <a:stretch/>
          </p:blipFill>
          <p:spPr>
            <a:xfrm>
              <a:off x="1104595" y="5087722"/>
              <a:ext cx="114300" cy="171907"/>
            </a:xfrm>
            <a:prstGeom prst="rect">
              <a:avLst/>
            </a:prstGeom>
          </p:spPr>
        </p:pic>
        <p:sp>
          <p:nvSpPr>
            <p:cNvPr id="31" name="Text 27"/>
            <p:cNvSpPr txBox="1"/>
            <p:nvPr/>
          </p:nvSpPr>
          <p:spPr>
            <a:xfrm>
              <a:off x="1314907" y="5050231"/>
              <a:ext cx="132222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원문과 똑같이 작성함</a:t>
              </a:r>
              <a:endParaRPr lang="en-US" sz="1000" dirty="0"/>
            </a:p>
          </p:txBody>
        </p:sp>
        <p:pic>
          <p:nvPicPr>
            <p:cNvPr id="32" name="Image 2" descr="preencoded.png"/>
            <p:cNvPicPr>
              <a:picLocks noChangeAspect="1"/>
            </p:cNvPicPr>
            <p:nvPr/>
          </p:nvPicPr>
          <p:blipFill>
            <a:blip r:embed="rId4"/>
            <a:srcRect t="-25200" b="-25200"/>
            <a:stretch/>
          </p:blipFill>
          <p:spPr>
            <a:xfrm>
              <a:off x="1104595" y="5373929"/>
              <a:ext cx="114300" cy="171907"/>
            </a:xfrm>
            <a:prstGeom prst="rect">
              <a:avLst/>
            </a:prstGeom>
          </p:spPr>
        </p:pic>
        <p:sp>
          <p:nvSpPr>
            <p:cNvPr id="33" name="Text 28"/>
            <p:cNvSpPr txBox="1"/>
            <p:nvPr/>
          </p:nvSpPr>
          <p:spPr>
            <a:xfrm>
              <a:off x="1314907" y="5335524"/>
              <a:ext cx="206563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따옴표가 없어 자신의 문장인 척 함</a:t>
              </a:r>
              <a:endParaRPr lang="en-US" sz="1000" dirty="0"/>
            </a:p>
          </p:txBody>
        </p:sp>
        <p:sp>
          <p:nvSpPr>
            <p:cNvPr id="34" name="Shape 29"/>
            <p:cNvSpPr/>
            <p:nvPr/>
          </p:nvSpPr>
          <p:spPr>
            <a:xfrm>
              <a:off x="6286500" y="2180844"/>
              <a:ext cx="5143500" cy="3762756"/>
            </a:xfrm>
            <a:prstGeom prst="roundRect">
              <a:avLst>
                <a:gd name="adj" fmla="val 984"/>
              </a:avLst>
            </a:prstGeom>
            <a:solidFill>
              <a:srgbClr val="1E293B">
                <a:alpha val="60000"/>
              </a:srgbClr>
            </a:solidFill>
            <a:ln w="12700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0"/>
            <p:cNvSpPr/>
            <p:nvPr/>
          </p:nvSpPr>
          <p:spPr>
            <a:xfrm>
              <a:off x="6629400" y="2495398"/>
              <a:ext cx="714146" cy="267005"/>
            </a:xfrm>
            <a:prstGeom prst="roundRect">
              <a:avLst>
                <a:gd name="adj" fmla="val 244618"/>
              </a:avLst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1"/>
            <p:cNvSpPr txBox="1"/>
            <p:nvPr/>
          </p:nvSpPr>
          <p:spPr>
            <a:xfrm>
              <a:off x="6743700" y="2533802"/>
              <a:ext cx="577901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올바른 예</a:t>
              </a:r>
              <a:endParaRPr lang="en-US" sz="900" dirty="0"/>
            </a:p>
          </p:txBody>
        </p:sp>
        <p:sp>
          <p:nvSpPr>
            <p:cNvPr id="37" name="Shape 32"/>
            <p:cNvSpPr/>
            <p:nvPr/>
          </p:nvSpPr>
          <p:spPr>
            <a:xfrm>
              <a:off x="10658246" y="2495398"/>
              <a:ext cx="457200" cy="457200"/>
            </a:xfrm>
            <a:prstGeom prst="roundRect">
              <a:avLst>
                <a:gd name="adj" fmla="val 50000"/>
              </a:avLst>
            </a:prstGeom>
            <a:solidFill>
              <a:srgbClr val="10B981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8" name="Image 3" descr="preencoded.png"/>
            <p:cNvPicPr>
              <a:picLocks noChangeAspect="1"/>
            </p:cNvPicPr>
            <p:nvPr/>
          </p:nvPicPr>
          <p:blipFill>
            <a:blip r:embed="rId5"/>
            <a:srcRect l="-57" r="-57"/>
            <a:stretch/>
          </p:blipFill>
          <p:spPr>
            <a:xfrm>
              <a:off x="10787177" y="2609698"/>
              <a:ext cx="200254" cy="228600"/>
            </a:xfrm>
            <a:prstGeom prst="rect">
              <a:avLst/>
            </a:prstGeom>
          </p:spPr>
        </p:pic>
        <p:sp>
          <p:nvSpPr>
            <p:cNvPr id="39" name="Text 33"/>
            <p:cNvSpPr txBox="1"/>
            <p:nvPr/>
          </p:nvSpPr>
          <p:spPr>
            <a:xfrm>
              <a:off x="6629400" y="3133649"/>
              <a:ext cx="165780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간접 인용으로 수정</a:t>
              </a:r>
              <a:endParaRPr lang="en-US" sz="1500" dirty="0"/>
            </a:p>
          </p:txBody>
        </p:sp>
        <p:sp>
          <p:nvSpPr>
            <p:cNvPr id="40" name="Shape 34"/>
            <p:cNvSpPr/>
            <p:nvPr/>
          </p:nvSpPr>
          <p:spPr>
            <a:xfrm>
              <a:off x="6629400" y="3562502"/>
              <a:ext cx="4486046" cy="1143000"/>
            </a:xfrm>
            <a:prstGeom prst="roundRect">
              <a:avLst>
                <a:gd name="adj" fmla="val 5333"/>
              </a:avLst>
            </a:prstGeom>
            <a:solidFill>
              <a:srgbClr val="0F172A">
                <a:alpha val="5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5"/>
            <p:cNvSpPr txBox="1"/>
            <p:nvPr/>
          </p:nvSpPr>
          <p:spPr>
            <a:xfrm>
              <a:off x="6819595" y="3752698"/>
              <a:ext cx="115763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자신의 말로 재구성</a:t>
              </a:r>
              <a:endParaRPr lang="en-US" sz="1000" dirty="0"/>
            </a:p>
          </p:txBody>
        </p:sp>
        <p:sp>
          <p:nvSpPr>
            <p:cNvPr id="42" name="Text 36"/>
            <p:cNvSpPr txBox="1"/>
            <p:nvPr/>
          </p:nvSpPr>
          <p:spPr>
            <a:xfrm>
              <a:off x="6819595" y="4019702"/>
              <a:ext cx="4200754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김철수(2023)에 따르면, MZ세대는 가격 대비 심리적 만족감을 더 중요한 소비 기준으로 삼는다. 이에 따라 기업은...</a:t>
              </a:r>
              <a:endParaRPr lang="en-US" sz="1200" dirty="0"/>
            </a:p>
          </p:txBody>
        </p:sp>
        <p:sp>
          <p:nvSpPr>
            <p:cNvPr id="43" name="Shape 37"/>
            <p:cNvSpPr/>
            <p:nvPr/>
          </p:nvSpPr>
          <p:spPr>
            <a:xfrm>
              <a:off x="6629400" y="4849978"/>
              <a:ext cx="4486046" cy="9144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4" name="Image 4" descr="preencoded.png"/>
            <p:cNvPicPr>
              <a:picLocks noChangeAspect="1"/>
            </p:cNvPicPr>
            <p:nvPr/>
          </p:nvPicPr>
          <p:blipFill>
            <a:blip r:embed="rId6"/>
            <a:srcRect t="-25200" b="-25200"/>
            <a:stretch/>
          </p:blipFill>
          <p:spPr>
            <a:xfrm>
              <a:off x="6629400" y="5087722"/>
              <a:ext cx="114300" cy="171907"/>
            </a:xfrm>
            <a:prstGeom prst="rect">
              <a:avLst/>
            </a:prstGeom>
          </p:spPr>
        </p:pic>
        <p:sp>
          <p:nvSpPr>
            <p:cNvPr id="45" name="Text 38"/>
            <p:cNvSpPr txBox="1"/>
            <p:nvPr/>
          </p:nvSpPr>
          <p:spPr>
            <a:xfrm>
              <a:off x="6838798" y="5050231"/>
              <a:ext cx="231343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핵심 의미 유지하되 나만의 언어로 기술</a:t>
              </a:r>
              <a:endParaRPr lang="en-US" sz="1000" dirty="0"/>
            </a:p>
          </p:txBody>
        </p:sp>
        <p:pic>
          <p:nvPicPr>
            <p:cNvPr id="46" name="Image 5" descr="preencoded.png"/>
            <p:cNvPicPr>
              <a:picLocks noChangeAspect="1"/>
            </p:cNvPicPr>
            <p:nvPr/>
          </p:nvPicPr>
          <p:blipFill>
            <a:blip r:embed="rId6"/>
            <a:srcRect t="-25200" b="-25200"/>
            <a:stretch/>
          </p:blipFill>
          <p:spPr>
            <a:xfrm>
              <a:off x="6629400" y="5373929"/>
              <a:ext cx="114300" cy="171907"/>
            </a:xfrm>
            <a:prstGeom prst="rect">
              <a:avLst/>
            </a:prstGeom>
          </p:spPr>
        </p:pic>
        <p:sp>
          <p:nvSpPr>
            <p:cNvPr id="47" name="Text 39"/>
            <p:cNvSpPr txBox="1"/>
            <p:nvPr/>
          </p:nvSpPr>
          <p:spPr>
            <a:xfrm>
              <a:off x="6838798" y="5335524"/>
              <a:ext cx="211317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저자명을 언급하여 자연스럽게 연결</a:t>
              </a:r>
              <a:endParaRPr lang="en-US" sz="1000" dirty="0"/>
            </a:p>
          </p:txBody>
        </p:sp>
      </p:grp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-3893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315631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F43F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5683155"/>
            <a:ext cx="10668305" cy="981151"/>
          </a:xfrm>
          <a:prstGeom prst="roundRect">
            <a:avLst>
              <a:gd name="adj" fmla="val 1085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3505810" y="5944674"/>
            <a:ext cx="9144" cy="457200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90549" y="6058974"/>
            <a:ext cx="228600" cy="2286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13962" y="6087320"/>
            <a:ext cx="171907" cy="17190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2" y="6087320"/>
            <a:ext cx="171907" cy="171907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61695" y="563433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02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761695" y="781975"/>
            <a:ext cx="80778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재기술(바꿔쓰기) 했지만 출처가 없다면?</a:t>
            </a:r>
            <a:endParaRPr lang="en-US" sz="3600" dirty="0"/>
          </a:p>
        </p:txBody>
      </p:sp>
      <p:sp>
        <p:nvSpPr>
          <p:cNvPr id="13" name="Text 7"/>
          <p:cNvSpPr txBox="1"/>
          <p:nvPr/>
        </p:nvSpPr>
        <p:spPr>
          <a:xfrm>
            <a:off x="761695" y="1418755"/>
            <a:ext cx="77916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원문의 단어를 바꾸고 문장 구조를 재구성했더라도, 아이디어의 출처를 밝히지 않으면 표절입니다.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686154" y="5934615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686154" y="6125725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바꿔쓰기 핵심 원칙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4099255" y="6047087"/>
            <a:ext cx="33457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단어 교체가 아닌 나만의 문장으로 재구성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7903159" y="5921814"/>
            <a:ext cx="316473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아이디어를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빌려왔다면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출처(내주/각주) 표기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61695" y="1913084"/>
            <a:ext cx="5143500" cy="3581705"/>
          </a:xfrm>
          <a:prstGeom prst="roundRect">
            <a:avLst>
              <a:gd name="adj" fmla="val 1086"/>
            </a:avLst>
          </a:prstGeom>
          <a:solidFill>
            <a:srgbClr val="1E293B">
              <a:alpha val="60000"/>
            </a:srgbClr>
          </a:solidFill>
          <a:ln w="508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1076249" y="22559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3F5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1218895" y="2370284"/>
            <a:ext cx="171907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013655" y="2255984"/>
            <a:ext cx="6839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상황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1076249" y="2980189"/>
            <a:ext cx="4515307" cy="1371600"/>
          </a:xfrm>
          <a:prstGeom prst="roundRect">
            <a:avLst>
              <a:gd name="adj" fmla="val 370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 txBox="1"/>
          <p:nvPr/>
        </p:nvSpPr>
        <p:spPr>
          <a:xfrm>
            <a:off x="1304849" y="3217933"/>
            <a:ext cx="4144061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 사회는 점점 고령화되고 </a:t>
            </a: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있으며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그에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따라 정부의 돌봄 제도나 </a:t>
            </a: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요양시설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수요가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빠르게 증가하고 있다."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1076249" y="4541984"/>
            <a:ext cx="790956" cy="371246"/>
          </a:xfrm>
          <a:prstGeom prst="roundRect">
            <a:avLst>
              <a:gd name="adj" fmla="val 246306"/>
            </a:avLst>
          </a:prstGeom>
          <a:solidFill>
            <a:srgbClr val="F43F5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28954" y="4655370"/>
            <a:ext cx="142646" cy="14264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447495" y="4618794"/>
            <a:ext cx="3758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1114654" y="4988211"/>
            <a:ext cx="2843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타인의 아이디어를 자신의 생각인 것처럼 기술함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286500" y="1913084"/>
            <a:ext cx="5143500" cy="3581705"/>
          </a:xfrm>
          <a:prstGeom prst="roundRect">
            <a:avLst>
              <a:gd name="adj" fmla="val 1086"/>
            </a:avLst>
          </a:prstGeom>
          <a:solidFill>
            <a:srgbClr val="1E293B">
              <a:alpha val="60000"/>
            </a:srgbClr>
          </a:solidFill>
          <a:ln w="508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6601054" y="22559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729070" y="2370284"/>
            <a:ext cx="200254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171786" y="2255984"/>
            <a:ext cx="10561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해결: 내주 추가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601054" y="2980189"/>
            <a:ext cx="4515307" cy="1371600"/>
          </a:xfrm>
          <a:prstGeom prst="roundRect">
            <a:avLst>
              <a:gd name="adj" fmla="val 370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4"/>
          <p:cNvSpPr txBox="1"/>
          <p:nvPr/>
        </p:nvSpPr>
        <p:spPr>
          <a:xfrm>
            <a:off x="6829654" y="3217933"/>
            <a:ext cx="4144061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 사회는 점점 고령화되고 </a:t>
            </a: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있으며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그에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따라 정부의 돌봄 제도나 요양시설 </a:t>
            </a: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수요가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빠르게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증가하고 있다 (김철수, 2024)."</a:t>
            </a:r>
            <a:endParaRPr lang="en-US" sz="1500" dirty="0"/>
          </a:p>
        </p:txBody>
      </p:sp>
      <p:sp>
        <p:nvSpPr>
          <p:cNvPr id="34" name="Shape 25"/>
          <p:cNvSpPr/>
          <p:nvPr/>
        </p:nvSpPr>
        <p:spPr>
          <a:xfrm>
            <a:off x="6601054" y="4541984"/>
            <a:ext cx="1095451" cy="371246"/>
          </a:xfrm>
          <a:prstGeom prst="roundRect">
            <a:avLst>
              <a:gd name="adj" fmla="val 24630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6"/>
          <p:cNvSpPr txBox="1"/>
          <p:nvPr/>
        </p:nvSpPr>
        <p:spPr>
          <a:xfrm>
            <a:off x="6829654" y="461879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인용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6638544" y="4988211"/>
            <a:ext cx="3538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문장 끝에 출처(저자, 연도)를 명확히 표기하여 인용임을 밝힘</a:t>
            </a:r>
            <a:endParaRPr lang="en-US" sz="10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724205"/>
            <a:ext cx="491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952805"/>
            <a:ext cx="5781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인용의 함정: 따옴표만 붙이면 끝?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524305"/>
            <a:ext cx="7286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형식적 인용 표시는 했지만, 맥락과 해석이 누락되면 '짜집기 표절' 오해를 받을 수 있습니다.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1695" y="2085746"/>
            <a:ext cx="3381451" cy="4295851"/>
          </a:xfrm>
          <a:prstGeom prst="roundRect">
            <a:avLst>
              <a:gd name="adj" fmla="val 121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1346" y="2495398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38605" y="2447849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상황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37844" y="3010205"/>
            <a:ext cx="2181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"출처 달았는데 왜 표절인가요?"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37844" y="3406140"/>
            <a:ext cx="2943454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문헌의 문장을 그대로 가져와 따옴표(" ") 처리를 하고 출처도 명기했습니다. 하지만 리포트 전체가 남의 문장들의 나열로만 채워져 있고, 본인의 생각은 보이지 않는 경우입니다.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37844" y="4767682"/>
            <a:ext cx="2829154" cy="733349"/>
          </a:xfrm>
          <a:prstGeom prst="roundRect">
            <a:avLst>
              <a:gd name="adj" fmla="val 12955"/>
            </a:avLst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1037844" y="4767682"/>
            <a:ext cx="28346" cy="733349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1209751" y="4966106"/>
            <a:ext cx="105156" cy="1335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90802" y="4920386"/>
            <a:ext cx="1360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논지 전개 없이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209751" y="5139842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문장에만 의존하는 글쓰기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406494" y="2085746"/>
            <a:ext cx="3381451" cy="4295851"/>
          </a:xfrm>
          <a:prstGeom prst="roundRect">
            <a:avLst>
              <a:gd name="adj" fmla="val 121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82642" y="2361895"/>
            <a:ext cx="45720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16145" y="2495398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83403" y="2447849"/>
            <a:ext cx="11722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위험한가?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4682642" y="301020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학문적 게으름으로 간주될 수 있습니다.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873752" y="3406140"/>
            <a:ext cx="27148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과도한 직접 인용은 저자의 이해도를 의심하게 만듭니다.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873752" y="3969410"/>
            <a:ext cx="27432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글의 흐름(Flow)이 끊기고, 가독성이 떨어집니다.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873752" y="4533595"/>
            <a:ext cx="27340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'짜집기(Patchwriting)' 수준의 낮은 평가를 받게 됩니다.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052206" y="2085746"/>
            <a:ext cx="3381451" cy="4295851"/>
          </a:xfrm>
          <a:prstGeom prst="roundRect">
            <a:avLst>
              <a:gd name="adj" fmla="val 1219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4718" y="2495398"/>
            <a:ext cx="142646" cy="19019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28202" y="2447849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레시피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328355" y="3010205"/>
            <a:ext cx="1743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 '샌드위치' 기법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328355" y="3406140"/>
            <a:ext cx="2829154" cy="428854"/>
          </a:xfrm>
          <a:prstGeom prst="roundRect">
            <a:avLst>
              <a:gd name="adj" fmla="val 3790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8471002" y="3503066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8547811" y="3519526"/>
            <a:ext cx="1682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813902" y="3511296"/>
            <a:ext cx="11000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(맥락 설명)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/>
          <a:stretch/>
        </p:blipFill>
        <p:spPr>
          <a:xfrm>
            <a:off x="9678924" y="3900830"/>
            <a:ext cx="123444" cy="12344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8328355" y="4099255"/>
            <a:ext cx="2829154" cy="448056"/>
          </a:xfrm>
          <a:prstGeom prst="roundRect">
            <a:avLst>
              <a:gd name="adj" fmla="val 3473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8480146" y="4205326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 txBox="1"/>
          <p:nvPr/>
        </p:nvSpPr>
        <p:spPr>
          <a:xfrm>
            <a:off x="8557870" y="4222699"/>
            <a:ext cx="1682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8823046" y="4213555"/>
            <a:ext cx="11000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(원문 제시)</a:t>
            </a:r>
            <a:endParaRPr lang="en-US" sz="11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/>
          <a:stretch/>
        </p:blipFill>
        <p:spPr>
          <a:xfrm>
            <a:off x="9678924" y="4613148"/>
            <a:ext cx="123444" cy="123444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8328355" y="4811573"/>
            <a:ext cx="2829154" cy="428854"/>
          </a:xfrm>
          <a:prstGeom prst="roundRect">
            <a:avLst>
              <a:gd name="adj" fmla="val 3790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4"/>
          <p:cNvSpPr/>
          <p:nvPr/>
        </p:nvSpPr>
        <p:spPr>
          <a:xfrm>
            <a:off x="8471002" y="4908499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5"/>
          <p:cNvSpPr txBox="1"/>
          <p:nvPr/>
        </p:nvSpPr>
        <p:spPr>
          <a:xfrm>
            <a:off x="8547811" y="4924958"/>
            <a:ext cx="1682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8813902" y="4916729"/>
            <a:ext cx="11000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논평 (나의 해석)</a:t>
            </a:r>
            <a:endParaRPr lang="en-US" sz="1100" dirty="0"/>
          </a:p>
        </p:txBody>
      </p:sp>
      <p:sp>
        <p:nvSpPr>
          <p:cNvPr id="45" name="Text 37"/>
          <p:cNvSpPr txBox="1"/>
          <p:nvPr/>
        </p:nvSpPr>
        <p:spPr>
          <a:xfrm>
            <a:off x="8328355" y="5385816"/>
            <a:ext cx="29004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인용문 전후에 반드시 나의 언어로 설명을 덧붙이세요.</a:t>
            </a:r>
            <a:endParaRPr lang="en-US" sz="10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A19CA985-1689-9542-4CAA-EF82CD92B921}"/>
              </a:ext>
            </a:extLst>
          </p:cNvPr>
          <p:cNvGrpSpPr/>
          <p:nvPr/>
        </p:nvGrpSpPr>
        <p:grpSpPr>
          <a:xfrm>
            <a:off x="800099" y="371246"/>
            <a:ext cx="10668305" cy="6050200"/>
            <a:chOff x="761694" y="571500"/>
            <a:chExt cx="10668305" cy="6050200"/>
          </a:xfrm>
        </p:grpSpPr>
        <p:sp>
          <p:nvSpPr>
            <p:cNvPr id="5" name="Shape 2"/>
            <p:cNvSpPr/>
            <p:nvPr/>
          </p:nvSpPr>
          <p:spPr>
            <a:xfrm>
              <a:off x="761695" y="571500"/>
              <a:ext cx="571500" cy="57607"/>
            </a:xfrm>
            <a:prstGeom prst="roundRect">
              <a:avLst>
                <a:gd name="adj" fmla="val 793654"/>
              </a:avLst>
            </a:prstGeom>
            <a:solidFill>
              <a:srgbClr val="38BDF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Shape 3"/>
            <p:cNvSpPr/>
            <p:nvPr/>
          </p:nvSpPr>
          <p:spPr>
            <a:xfrm>
              <a:off x="761694" y="5745705"/>
              <a:ext cx="10668305" cy="875995"/>
            </a:xfrm>
            <a:prstGeom prst="rect">
              <a:avLst/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4"/>
            <p:cNvSpPr/>
            <p:nvPr/>
          </p:nvSpPr>
          <p:spPr>
            <a:xfrm>
              <a:off x="761694" y="5745705"/>
              <a:ext cx="38405" cy="875995"/>
            </a:xfrm>
            <a:prstGeom prst="rect">
              <a:avLst/>
            </a:prstGeom>
            <a:solidFill>
              <a:srgbClr val="38BDF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086306" y="6040142"/>
              <a:ext cx="286207" cy="286207"/>
            </a:xfrm>
            <a:prstGeom prst="rect">
              <a:avLst/>
            </a:prstGeom>
          </p:spPr>
        </p:pic>
        <p:sp>
          <p:nvSpPr>
            <p:cNvPr id="9" name="Text 5"/>
            <p:cNvSpPr txBox="1"/>
            <p:nvPr/>
          </p:nvSpPr>
          <p:spPr>
            <a:xfrm>
              <a:off x="761695" y="819302"/>
              <a:ext cx="110093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사례 4: 자기표절</a:t>
              </a:r>
              <a:endParaRPr lang="en-US" sz="1000" dirty="0"/>
            </a:p>
          </p:txBody>
        </p:sp>
        <p:sp>
          <p:nvSpPr>
            <p:cNvPr id="10" name="Text 6"/>
            <p:cNvSpPr txBox="1"/>
            <p:nvPr/>
          </p:nvSpPr>
          <p:spPr>
            <a:xfrm>
              <a:off x="761695" y="1037844"/>
              <a:ext cx="6153912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내가 쓴 글도 출처가 필요할까?</a:t>
              </a:r>
              <a:endParaRPr lang="en-US" sz="3600" dirty="0"/>
            </a:p>
          </p:txBody>
        </p:sp>
        <p:sp>
          <p:nvSpPr>
            <p:cNvPr id="11" name="Text 7"/>
            <p:cNvSpPr txBox="1"/>
            <p:nvPr/>
          </p:nvSpPr>
          <p:spPr>
            <a:xfrm>
              <a:off x="761695" y="1800454"/>
              <a:ext cx="6286500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D1D5DB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과거에 작성한 자신의 과제나 논문을 재사용할 때도 엄격한 규칙이 적용됩니다.</a:t>
              </a:r>
              <a:endParaRPr lang="en-US" sz="1500" dirty="0"/>
            </a:p>
          </p:txBody>
        </p:sp>
        <p:sp>
          <p:nvSpPr>
            <p:cNvPr id="12" name="Text 8"/>
            <p:cNvSpPr txBox="1"/>
            <p:nvPr/>
          </p:nvSpPr>
          <p:spPr>
            <a:xfrm>
              <a:off x="1561794" y="5935900"/>
              <a:ext cx="101498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CHECK POINT</a:t>
              </a:r>
              <a:endParaRPr lang="en-US" sz="1000" dirty="0"/>
            </a:p>
          </p:txBody>
        </p:sp>
        <p:sp>
          <p:nvSpPr>
            <p:cNvPr id="13" name="Text 9"/>
            <p:cNvSpPr txBox="1"/>
            <p:nvPr/>
          </p:nvSpPr>
          <p:spPr>
            <a:xfrm>
              <a:off x="1561794" y="6173644"/>
              <a:ext cx="7234733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같은 과제물을 다른 수업에 제출하는 것은 원칙적으로 금지됩니다. 반드시 과목별 규정을 확인하세요.</a:t>
              </a:r>
              <a:endParaRPr lang="en-US" sz="1300" dirty="0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DEB81544-4A3C-EE6E-76E7-60CE846BA40B}"/>
                </a:ext>
              </a:extLst>
            </p:cNvPr>
            <p:cNvGrpSpPr/>
            <p:nvPr/>
          </p:nvGrpSpPr>
          <p:grpSpPr>
            <a:xfrm>
              <a:off x="761694" y="2172615"/>
              <a:ext cx="10668305" cy="3429721"/>
              <a:chOff x="761695" y="2608975"/>
              <a:chExt cx="10668305" cy="3429721"/>
            </a:xfrm>
          </p:grpSpPr>
          <p:sp>
            <p:nvSpPr>
              <p:cNvPr id="14" name="Shape 10"/>
              <p:cNvSpPr/>
              <p:nvPr/>
            </p:nvSpPr>
            <p:spPr>
              <a:xfrm>
                <a:off x="761695" y="2608975"/>
                <a:ext cx="5143500" cy="3429721"/>
              </a:xfrm>
              <a:prstGeom prst="roundRect">
                <a:avLst>
                  <a:gd name="adj" fmla="val 1031"/>
                </a:avLst>
              </a:prstGeom>
              <a:solidFill>
                <a:srgbClr val="1E293B">
                  <a:alpha val="60000"/>
                </a:srgbClr>
              </a:solidFill>
              <a:ln w="12700">
                <a:solidFill>
                  <a:srgbClr val="FFFFFF">
                    <a:alpha val="10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Shape 11"/>
              <p:cNvSpPr/>
              <p:nvPr/>
            </p:nvSpPr>
            <p:spPr>
              <a:xfrm>
                <a:off x="1200607" y="2752344"/>
                <a:ext cx="609905" cy="609905"/>
              </a:xfrm>
              <a:prstGeom prst="roundRect">
                <a:avLst>
                  <a:gd name="adj" fmla="val 37481"/>
                </a:avLst>
              </a:prstGeom>
              <a:solidFill>
                <a:srgbClr val="F43F5E">
                  <a:alpha val="10000"/>
                </a:srgbClr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pic>
            <p:nvPicPr>
              <p:cNvPr id="16" name="Image 2" descr="preencoded.png"/>
              <p:cNvPicPr>
                <a:picLocks noChangeAspect="1"/>
              </p:cNvPicPr>
              <p:nvPr/>
            </p:nvPicPr>
            <p:blipFill>
              <a:blip r:embed="rId6"/>
              <a:srcRect/>
              <a:stretch/>
            </p:blipFill>
            <p:spPr>
              <a:xfrm>
                <a:off x="1371600" y="2924251"/>
                <a:ext cx="267005" cy="267005"/>
              </a:xfrm>
              <a:prstGeom prst="rect">
                <a:avLst/>
              </a:prstGeom>
            </p:spPr>
          </p:pic>
          <p:sp>
            <p:nvSpPr>
              <p:cNvPr id="17" name="Text 12"/>
              <p:cNvSpPr txBox="1"/>
              <p:nvPr/>
            </p:nvSpPr>
            <p:spPr>
              <a:xfrm>
                <a:off x="5248656" y="2752344"/>
                <a:ext cx="370332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F43F5E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금지</a:t>
                </a:r>
                <a:endParaRPr lang="en-US" sz="1000" dirty="0"/>
              </a:p>
            </p:txBody>
          </p:sp>
          <p:sp>
            <p:nvSpPr>
              <p:cNvPr id="18" name="Text 13"/>
              <p:cNvSpPr txBox="1"/>
              <p:nvPr/>
            </p:nvSpPr>
            <p:spPr>
              <a:xfrm>
                <a:off x="1200607" y="3571646"/>
                <a:ext cx="1548994" cy="3913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100" b="1" dirty="0">
                    <a:solidFill>
                      <a:srgbClr val="FFFFF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이전 과제물</a:t>
                </a:r>
                <a:endParaRPr lang="en-US" sz="2100" dirty="0"/>
              </a:p>
            </p:txBody>
          </p:sp>
          <p:sp>
            <p:nvSpPr>
              <p:cNvPr id="19" name="Text 14"/>
              <p:cNvSpPr txBox="1"/>
              <p:nvPr/>
            </p:nvSpPr>
            <p:spPr>
              <a:xfrm>
                <a:off x="1200607" y="3928262"/>
                <a:ext cx="1805940" cy="3913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100" b="1" dirty="0">
                    <a:solidFill>
                      <a:srgbClr val="FFFFF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그대로 재제출</a:t>
                </a:r>
                <a:endParaRPr lang="en-US" sz="2100" dirty="0"/>
              </a:p>
            </p:txBody>
          </p:sp>
          <p:sp>
            <p:nvSpPr>
              <p:cNvPr id="20" name="Text 15"/>
              <p:cNvSpPr txBox="1"/>
              <p:nvPr/>
            </p:nvSpPr>
            <p:spPr>
              <a:xfrm>
                <a:off x="1200607" y="4504334"/>
                <a:ext cx="3136392" cy="2386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dirty="0">
                    <a:solidFill>
                      <a:srgbClr val="CBD5E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"비슷한 주제니 지난 학기 과제를 그대로..."</a:t>
                </a:r>
                <a:endParaRPr lang="en-US" sz="1300" dirty="0"/>
              </a:p>
            </p:txBody>
          </p:sp>
          <p:pic>
            <p:nvPicPr>
              <p:cNvPr id="21" name="Image 3" descr="preencoded.png"/>
              <p:cNvPicPr>
                <a:picLocks noChangeAspect="1"/>
              </p:cNvPicPr>
              <p:nvPr/>
            </p:nvPicPr>
            <p:blipFill>
              <a:blip r:embed="rId7"/>
              <a:srcRect l="-2512" r="-2512"/>
              <a:stretch/>
            </p:blipFill>
            <p:spPr>
              <a:xfrm>
                <a:off x="1200607" y="4953305"/>
                <a:ext cx="105156" cy="133502"/>
              </a:xfrm>
              <a:prstGeom prst="rect">
                <a:avLst/>
              </a:prstGeom>
            </p:spPr>
          </p:pic>
          <p:sp>
            <p:nvSpPr>
              <p:cNvPr id="22" name="Text 16"/>
              <p:cNvSpPr txBox="1"/>
              <p:nvPr/>
            </p:nvSpPr>
            <p:spPr>
              <a:xfrm>
                <a:off x="1380744" y="4914900"/>
                <a:ext cx="1938528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9CA3A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이전 과제물 중복 제출(이중 제출)</a:t>
                </a:r>
                <a:endParaRPr lang="en-US" sz="1000" dirty="0"/>
              </a:p>
            </p:txBody>
          </p:sp>
          <p:pic>
            <p:nvPicPr>
              <p:cNvPr id="23" name="Image 4" descr="preencoded.png"/>
              <p:cNvPicPr>
                <a:picLocks noChangeAspect="1"/>
              </p:cNvPicPr>
              <p:nvPr/>
            </p:nvPicPr>
            <p:blipFill>
              <a:blip r:embed="rId7"/>
              <a:srcRect l="-2512" r="-2512"/>
              <a:stretch/>
            </p:blipFill>
            <p:spPr>
              <a:xfrm>
                <a:off x="1200607" y="5220310"/>
                <a:ext cx="105156" cy="133502"/>
              </a:xfrm>
              <a:prstGeom prst="rect">
                <a:avLst/>
              </a:prstGeom>
            </p:spPr>
          </p:pic>
          <p:sp>
            <p:nvSpPr>
              <p:cNvPr id="24" name="Text 17"/>
              <p:cNvSpPr txBox="1"/>
              <p:nvPr/>
            </p:nvSpPr>
            <p:spPr>
              <a:xfrm>
                <a:off x="1380744" y="5181905"/>
                <a:ext cx="1481328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9CA3A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출처 없이 자기 문장 복사</a:t>
                </a:r>
                <a:endParaRPr lang="en-US" sz="1000" dirty="0"/>
              </a:p>
            </p:txBody>
          </p:sp>
          <p:pic>
            <p:nvPicPr>
              <p:cNvPr id="25" name="Image 5" descr="preencoded.png"/>
              <p:cNvPicPr>
                <a:picLocks noChangeAspect="1"/>
              </p:cNvPicPr>
              <p:nvPr/>
            </p:nvPicPr>
            <p:blipFill>
              <a:blip r:embed="rId7"/>
              <a:srcRect l="-2512" r="-2512"/>
              <a:stretch/>
            </p:blipFill>
            <p:spPr>
              <a:xfrm>
                <a:off x="1200607" y="5486400"/>
                <a:ext cx="105156" cy="133502"/>
              </a:xfrm>
              <a:prstGeom prst="rect">
                <a:avLst/>
              </a:prstGeom>
            </p:spPr>
          </p:pic>
          <p:sp>
            <p:nvSpPr>
              <p:cNvPr id="26" name="Text 18"/>
              <p:cNvSpPr txBox="1"/>
              <p:nvPr/>
            </p:nvSpPr>
            <p:spPr>
              <a:xfrm>
                <a:off x="1380744" y="5448910"/>
                <a:ext cx="1643177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9CA3A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성적 취소 및 학칙 위반 징계</a:t>
                </a:r>
                <a:endParaRPr lang="en-US" sz="1000" dirty="0"/>
              </a:p>
            </p:txBody>
          </p:sp>
          <p:sp>
            <p:nvSpPr>
              <p:cNvPr id="27" name="Shape 19"/>
              <p:cNvSpPr/>
              <p:nvPr/>
            </p:nvSpPr>
            <p:spPr>
              <a:xfrm>
                <a:off x="6286500" y="2608975"/>
                <a:ext cx="5143500" cy="3429721"/>
              </a:xfrm>
              <a:prstGeom prst="roundRect">
                <a:avLst>
                  <a:gd name="adj" fmla="val 1031"/>
                </a:avLst>
              </a:prstGeom>
              <a:solidFill>
                <a:srgbClr val="1E293B">
                  <a:alpha val="60000"/>
                </a:srgbClr>
              </a:solidFill>
              <a:ln w="12700">
                <a:solidFill>
                  <a:srgbClr val="FFFFFF">
                    <a:alpha val="10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Shape 20"/>
              <p:cNvSpPr/>
              <p:nvPr/>
            </p:nvSpPr>
            <p:spPr>
              <a:xfrm>
                <a:off x="6724498" y="2752344"/>
                <a:ext cx="609905" cy="609905"/>
              </a:xfrm>
              <a:prstGeom prst="roundRect">
                <a:avLst>
                  <a:gd name="adj" fmla="val 37481"/>
                </a:avLst>
              </a:prstGeom>
              <a:solidFill>
                <a:srgbClr val="22C55E">
                  <a:alpha val="10000"/>
                </a:srgbClr>
              </a:solidFill>
              <a:ln/>
            </p:spPr>
            <p:txBody>
              <a:bodyPr/>
              <a:lstStyle/>
              <a:p>
                <a:endParaRPr lang="ko-KR" altLang="en-US"/>
              </a:p>
            </p:txBody>
          </p:sp>
          <p:pic>
            <p:nvPicPr>
              <p:cNvPr id="29" name="Image 6" descr="preencoded.png"/>
              <p:cNvPicPr>
                <a:picLocks noChangeAspect="1"/>
              </p:cNvPicPr>
              <p:nvPr/>
            </p:nvPicPr>
            <p:blipFill>
              <a:blip r:embed="rId8"/>
              <a:srcRect l="-881" r="-881"/>
              <a:stretch/>
            </p:blipFill>
            <p:spPr>
              <a:xfrm>
                <a:off x="6910121" y="2924251"/>
                <a:ext cx="237744" cy="267005"/>
              </a:xfrm>
              <a:prstGeom prst="rect">
                <a:avLst/>
              </a:prstGeom>
            </p:spPr>
          </p:pic>
          <p:sp>
            <p:nvSpPr>
              <p:cNvPr id="30" name="Text 21"/>
              <p:cNvSpPr txBox="1"/>
              <p:nvPr/>
            </p:nvSpPr>
            <p:spPr>
              <a:xfrm>
                <a:off x="10773461" y="2752344"/>
                <a:ext cx="370332" cy="2002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22C55E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허용</a:t>
                </a:r>
                <a:endParaRPr lang="en-US" sz="1000" dirty="0"/>
              </a:p>
            </p:txBody>
          </p:sp>
          <p:sp>
            <p:nvSpPr>
              <p:cNvPr id="31" name="Text 22"/>
              <p:cNvSpPr txBox="1"/>
              <p:nvPr/>
            </p:nvSpPr>
            <p:spPr>
              <a:xfrm>
                <a:off x="6724498" y="3571646"/>
                <a:ext cx="1625803" cy="3913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100" b="1" dirty="0">
                    <a:solidFill>
                      <a:srgbClr val="FFFFF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출처 명시 후</a:t>
                </a:r>
                <a:endParaRPr lang="en-US" sz="2100" dirty="0"/>
              </a:p>
            </p:txBody>
          </p:sp>
          <p:sp>
            <p:nvSpPr>
              <p:cNvPr id="32" name="Text 23"/>
              <p:cNvSpPr txBox="1"/>
              <p:nvPr/>
            </p:nvSpPr>
            <p:spPr>
              <a:xfrm>
                <a:off x="6724498" y="3928262"/>
                <a:ext cx="1805940" cy="3913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100" b="1" dirty="0">
                    <a:solidFill>
                      <a:srgbClr val="FFFFF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발전적 재사용</a:t>
                </a:r>
                <a:endParaRPr lang="en-US" sz="2100" dirty="0"/>
              </a:p>
            </p:txBody>
          </p:sp>
          <p:sp>
            <p:nvSpPr>
              <p:cNvPr id="33" name="Text 24"/>
              <p:cNvSpPr txBox="1"/>
              <p:nvPr/>
            </p:nvSpPr>
            <p:spPr>
              <a:xfrm>
                <a:off x="6724498" y="4504334"/>
                <a:ext cx="2974543" cy="2386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300" dirty="0">
                    <a:solidFill>
                      <a:srgbClr val="CBD5E1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"지난 연구를 바탕으로 새 관점을 추가..."</a:t>
                </a:r>
                <a:endParaRPr lang="en-US" sz="1300" dirty="0"/>
              </a:p>
            </p:txBody>
          </p:sp>
          <p:pic>
            <p:nvPicPr>
              <p:cNvPr id="34" name="Image 7" descr="preencoded.png"/>
              <p:cNvPicPr>
                <a:picLocks noChangeAspect="1"/>
              </p:cNvPicPr>
              <p:nvPr/>
            </p:nvPicPr>
            <p:blipFill>
              <a:blip r:embed="rId9"/>
              <a:srcRect t="-1100" b="-1100"/>
              <a:stretch/>
            </p:blipFill>
            <p:spPr>
              <a:xfrm>
                <a:off x="6724498" y="4953305"/>
                <a:ext cx="114300" cy="133502"/>
              </a:xfrm>
              <a:prstGeom prst="rect">
                <a:avLst/>
              </a:prstGeom>
            </p:spPr>
          </p:pic>
          <p:sp>
            <p:nvSpPr>
              <p:cNvPr id="35" name="Text 25"/>
              <p:cNvSpPr txBox="1"/>
              <p:nvPr/>
            </p:nvSpPr>
            <p:spPr>
              <a:xfrm>
                <a:off x="6915607" y="4914900"/>
                <a:ext cx="2015338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9CA3A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"20xx년 과제를 수정·보완함" 명시</a:t>
                </a:r>
                <a:endParaRPr lang="en-US" sz="1000" dirty="0"/>
              </a:p>
            </p:txBody>
          </p:sp>
          <p:pic>
            <p:nvPicPr>
              <p:cNvPr id="36" name="Image 8" descr="preencoded.png"/>
              <p:cNvPicPr>
                <a:picLocks noChangeAspect="1"/>
              </p:cNvPicPr>
              <p:nvPr/>
            </p:nvPicPr>
            <p:blipFill>
              <a:blip r:embed="rId9"/>
              <a:srcRect t="-1100" b="-1100"/>
              <a:stretch/>
            </p:blipFill>
            <p:spPr>
              <a:xfrm>
                <a:off x="6724498" y="5220310"/>
                <a:ext cx="114300" cy="133502"/>
              </a:xfrm>
              <a:prstGeom prst="rect">
                <a:avLst/>
              </a:prstGeom>
            </p:spPr>
          </p:pic>
          <p:sp>
            <p:nvSpPr>
              <p:cNvPr id="37" name="Text 26"/>
              <p:cNvSpPr txBox="1"/>
              <p:nvPr/>
            </p:nvSpPr>
            <p:spPr>
              <a:xfrm>
                <a:off x="6915607" y="5181905"/>
                <a:ext cx="1690726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9CA3A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이전 저작물도 참고문헌 포함</a:t>
                </a:r>
                <a:endParaRPr lang="en-US" sz="1000" dirty="0"/>
              </a:p>
            </p:txBody>
          </p:sp>
          <p:pic>
            <p:nvPicPr>
              <p:cNvPr id="38" name="Image 9" descr="preencoded.png"/>
              <p:cNvPicPr>
                <a:picLocks noChangeAspect="1"/>
              </p:cNvPicPr>
              <p:nvPr/>
            </p:nvPicPr>
            <p:blipFill>
              <a:blip r:embed="rId9"/>
              <a:srcRect t="-1100" b="-1100"/>
              <a:stretch/>
            </p:blipFill>
            <p:spPr>
              <a:xfrm>
                <a:off x="6724498" y="5486400"/>
                <a:ext cx="114300" cy="133502"/>
              </a:xfrm>
              <a:prstGeom prst="rect">
                <a:avLst/>
              </a:prstGeom>
            </p:spPr>
          </p:pic>
          <p:sp>
            <p:nvSpPr>
              <p:cNvPr id="39" name="Text 27"/>
              <p:cNvSpPr txBox="1"/>
              <p:nvPr/>
            </p:nvSpPr>
            <p:spPr>
              <a:xfrm>
                <a:off x="6915607" y="5448910"/>
                <a:ext cx="1443838" cy="1911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9CA3AF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교수님께 사전 허락 필수</a:t>
                </a:r>
                <a:endParaRPr lang="en-US" sz="1000" dirty="0"/>
              </a:p>
            </p:txBody>
          </p:sp>
        </p:grpSp>
      </p:grp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153498" y="2952598"/>
            <a:ext cx="5372100" cy="551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30000" dirty="0"/>
          </a:p>
        </p:txBody>
      </p:sp>
      <p:sp>
        <p:nvSpPr>
          <p:cNvPr id="6" name="Shape 3"/>
          <p:cNvSpPr/>
          <p:nvPr/>
        </p:nvSpPr>
        <p:spPr>
          <a:xfrm>
            <a:off x="8324698" y="1028700"/>
            <a:ext cx="1429207" cy="1429207"/>
          </a:xfrm>
          <a:prstGeom prst="ellipse">
            <a:avLst/>
          </a:prstGeom>
          <a:noFill/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218895" y="4724705"/>
            <a:ext cx="761695" cy="761695"/>
          </a:xfrm>
          <a:prstGeom prst="rect">
            <a:avLst/>
          </a:prstGeom>
          <a:noFill/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1988820"/>
            <a:ext cx="933602" cy="428854"/>
          </a:xfrm>
          <a:prstGeom prst="roundRect">
            <a:avLst>
              <a:gd name="adj" fmla="val 18953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030882" y="2192731"/>
            <a:ext cx="952805" cy="1920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52805" y="3954780"/>
            <a:ext cx="38405" cy="9144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2064715"/>
            <a:ext cx="6903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558491"/>
            <a:ext cx="6106363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방식 이해</a:t>
            </a:r>
            <a:endParaRPr lang="en-US" sz="7200" dirty="0"/>
          </a:p>
        </p:txBody>
      </p:sp>
      <p:sp>
        <p:nvSpPr>
          <p:cNvPr id="13" name="Text 10"/>
          <p:cNvSpPr txBox="1"/>
          <p:nvPr/>
        </p:nvSpPr>
        <p:spPr>
          <a:xfrm>
            <a:off x="1218895" y="3963924"/>
            <a:ext cx="74112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 인용 · 직접 인용 · 재인용의 개념과 올바른 선택 기준을 학습합니다.</a:t>
            </a:r>
            <a:endParaRPr lang="en-US" sz="2400" dirty="0"/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382305" y="3047695"/>
            <a:ext cx="4762195" cy="47621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638751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629607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1500" y="2109521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71500" y="2338121"/>
            <a:ext cx="269565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 인용</a:t>
            </a:r>
            <a:endParaRPr lang="en-US" sz="45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3053182"/>
            <a:ext cx="372435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(요약·재기술)</a:t>
            </a:r>
            <a:endParaRPr lang="en-US" sz="45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4138574"/>
            <a:ext cx="357256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언어로 </a:t>
            </a:r>
            <a:r>
              <a:rPr lang="en-US" sz="15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재해석하여</a:t>
            </a: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논문의</a:t>
            </a: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흐름을</a:t>
            </a: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주도하는</a:t>
            </a: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</a:t>
            </a: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권장되는 인용 방식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04765" y="884225"/>
            <a:ext cx="6420002" cy="1162202"/>
          </a:xfrm>
          <a:prstGeom prst="roundRect">
            <a:avLst>
              <a:gd name="adj" fmla="val 5159"/>
            </a:avLst>
          </a:prstGeom>
          <a:solidFill>
            <a:srgbClr val="38BDF8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204765" y="884225"/>
            <a:ext cx="38405" cy="1162202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470855" y="1074420"/>
            <a:ext cx="267005" cy="267005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5528462" y="1141171"/>
            <a:ext cx="152705" cy="13350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204765" y="2194560"/>
            <a:ext cx="6420002" cy="1162202"/>
          </a:xfrm>
          <a:prstGeom prst="roundRect">
            <a:avLst>
              <a:gd name="adj" fmla="val 5159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204765" y="2194560"/>
            <a:ext cx="38405" cy="116220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470855" y="2384755"/>
            <a:ext cx="267005" cy="267005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7606" y="2451506"/>
            <a:ext cx="133502" cy="13350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204765" y="3504895"/>
            <a:ext cx="6420002" cy="1162202"/>
          </a:xfrm>
          <a:prstGeom prst="roundRect">
            <a:avLst>
              <a:gd name="adj" fmla="val 5159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204765" y="3504895"/>
            <a:ext cx="38405" cy="116220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470855" y="3696005"/>
            <a:ext cx="267005" cy="267005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37606" y="3762756"/>
            <a:ext cx="133502" cy="13350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204765" y="4816145"/>
            <a:ext cx="6420002" cy="1162202"/>
          </a:xfrm>
          <a:prstGeom prst="roundRect">
            <a:avLst>
              <a:gd name="adj" fmla="val 5159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5204765" y="4816145"/>
            <a:ext cx="38405" cy="116220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5470855" y="5006340"/>
            <a:ext cx="267005" cy="267005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37606" y="5073091"/>
            <a:ext cx="133502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871362" y="1076249"/>
            <a:ext cx="15800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9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개념: 재구성과 서술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5871362" y="1417320"/>
            <a:ext cx="551931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원문의 핵심 아이디어를 훼손하지 않으면서,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어휘와 문장 구조를 사용하여 새롭게 서술하는 방식입니다.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871362" y="2386584"/>
            <a:ext cx="141732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9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목적: 논거의 통합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5871362" y="2727655"/>
            <a:ext cx="556686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단순히 타인의 글을 가져오는 것이 아니라,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리포트의 논리적 흐름에 맞춰 자연스러운 근거로 활용합니다.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5871362" y="3697834"/>
            <a:ext cx="16276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9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방법: 보지 않고 쓰기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871362" y="4038905"/>
            <a:ext cx="556686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원문을 충분히 읽고 이해한 뒤,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원문을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덮고 기억을 되살려 나만의 표현으로 핵심을 요약합니다.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5871362" y="5008169"/>
            <a:ext cx="12554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9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이점: 표절 예방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5871362" y="5349240"/>
            <a:ext cx="560527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부호의 남발을 막아 글의 가독성을 높이고,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유사도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검사에서 발생할 수 있는 표절 시비를 줄입니다.</a:t>
            </a:r>
            <a:endParaRPr lang="en-US" sz="12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2095805"/>
            <a:ext cx="4762195" cy="47621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724205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가이드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952805"/>
            <a:ext cx="38295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 인용: 요약과 재기술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543507"/>
            <a:ext cx="5138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원문의 의미를 훼손하지 않으면서 자신의 언어로 표현하는 두 가지 방식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1695" y="2085746"/>
            <a:ext cx="5143500" cy="4295851"/>
          </a:xfrm>
          <a:prstGeom prst="roundRect">
            <a:avLst>
              <a:gd name="adj" fmla="val 755"/>
            </a:avLst>
          </a:prstGeom>
          <a:solidFill>
            <a:srgbClr val="1E293B">
              <a:alpha val="50000"/>
            </a:srgbClr>
          </a:solidFill>
          <a:ln w="508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57046" y="2409444"/>
            <a:ext cx="752551" cy="323698"/>
          </a:xfrm>
          <a:prstGeom prst="roundRect">
            <a:avLst>
              <a:gd name="adj" fmla="val 282486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1190549" y="2502713"/>
            <a:ext cx="142646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10005" y="2467051"/>
            <a:ext cx="3703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2222" b="-2222"/>
          <a:stretch/>
        </p:blipFill>
        <p:spPr>
          <a:xfrm>
            <a:off x="1057046" y="2959913"/>
            <a:ext cx="123444" cy="17190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57300" y="2920594"/>
            <a:ext cx="4407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57046" y="328635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내용보다는 전체적인 요지가 중요할 때, 핵심 아이디어만 간결하게 압축하여 기술하는 방식입니다.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7046" y="4012387"/>
            <a:ext cx="171907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04849" y="3972154"/>
            <a:ext cx="7927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예시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57046" y="4337914"/>
            <a:ext cx="4552798" cy="1752905"/>
          </a:xfrm>
          <a:prstGeom prst="roundRect">
            <a:avLst>
              <a:gd name="adj" fmla="val 340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1295705" y="4575658"/>
            <a:ext cx="41532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"이동훈(2016)은 팀 기반 학습의 부정적 측면을 상쇄하고자 사전 예방 중심의 적극적 교수 전략이 중요하다고 강조하였다."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169310" y="5653735"/>
            <a:ext cx="2307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이동훈 (2016). 팀 기반 학습 연구...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86500" y="2085746"/>
            <a:ext cx="5143500" cy="4295851"/>
          </a:xfrm>
          <a:prstGeom prst="roundRect">
            <a:avLst>
              <a:gd name="adj" fmla="val 755"/>
            </a:avLst>
          </a:prstGeom>
          <a:solidFill>
            <a:srgbClr val="1E293B">
              <a:alpha val="30000"/>
            </a:srgbClr>
          </a:solidFill>
          <a:ln w="508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6581851" y="2409444"/>
            <a:ext cx="886054" cy="323698"/>
          </a:xfrm>
          <a:prstGeom prst="roundRect">
            <a:avLst>
              <a:gd name="adj" fmla="val 282486"/>
            </a:avLst>
          </a:prstGeom>
          <a:solidFill>
            <a:srgbClr val="F43F5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3425" r="-3425"/>
          <a:stretch/>
        </p:blipFill>
        <p:spPr>
          <a:xfrm>
            <a:off x="6715354" y="2502713"/>
            <a:ext cx="142646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33895" y="2467051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재기술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6581851" y="2959913"/>
            <a:ext cx="190195" cy="17190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48856" y="2920594"/>
            <a:ext cx="4407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581851" y="3286354"/>
            <a:ext cx="4610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원문의 의미는 그대로 유지하되, 문장 구조와 단어를 나의 언어로 완전히 바꾸어 서술하는 방식입니다.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1851" y="4012387"/>
            <a:ext cx="171907" cy="17190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829654" y="3972154"/>
            <a:ext cx="7927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예시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581851" y="4337914"/>
            <a:ext cx="4552798" cy="1752905"/>
          </a:xfrm>
          <a:prstGeom prst="roundRect">
            <a:avLst>
              <a:gd name="adj" fmla="val 340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3"/>
          <p:cNvSpPr txBox="1"/>
          <p:nvPr/>
        </p:nvSpPr>
        <p:spPr>
          <a:xfrm>
            <a:off x="6819595" y="4575658"/>
            <a:ext cx="41148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"이동훈(2016)은 결과 문책보다 교수자의 체계적 개입으로 문제 발생 자체를 차단하는 접근이 더 효과적이라 보았다."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8694115" y="5653735"/>
            <a:ext cx="2307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이동훈 (2016). 팀 기반 학습 연구...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5857646" y="3191256"/>
            <a:ext cx="476402" cy="476402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5999378" y="3314700"/>
            <a:ext cx="314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2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61842" y="6219749"/>
            <a:ext cx="133502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724205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연습 방법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942746"/>
            <a:ext cx="47914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 인용 4단계 연습법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666951"/>
            <a:ext cx="5477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표절을 확실하게 피하는 가장 효과적인 글쓰기 훈련 프로세스입니다.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71239" y="6191402"/>
            <a:ext cx="45674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방법은 서울대학교 글쓰기 교실 등 주요 대학에서 권장하는 표준 훈련법입니다.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238098" y="4134002"/>
            <a:ext cx="9715500" cy="384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238098" y="4134002"/>
            <a:ext cx="8001000" cy="3840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61695" y="2838298"/>
            <a:ext cx="2438705" cy="2628900"/>
          </a:xfrm>
          <a:prstGeom prst="roundRect">
            <a:avLst>
              <a:gd name="adj" fmla="val 23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600200" y="3247949"/>
            <a:ext cx="761695" cy="761695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1809598" y="3476549"/>
            <a:ext cx="342900" cy="3044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775765" y="4238244"/>
            <a:ext cx="5907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307592" y="4695444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원문을 꼼꼼히 읽으며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145743" y="4924044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메시지를 파악합니다.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504895" y="2838298"/>
            <a:ext cx="2438705" cy="2628900"/>
          </a:xfrm>
          <a:prstGeom prst="roundRect">
            <a:avLst>
              <a:gd name="adj" fmla="val 23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343400" y="3247949"/>
            <a:ext cx="761695" cy="761695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4533595" y="3476549"/>
            <a:ext cx="381305" cy="3044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18965" y="4238244"/>
            <a:ext cx="5907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덮기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4190695" y="469544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원문을 보지 않고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3749040" y="4924044"/>
            <a:ext cx="2067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내용을 머릿속으로 떠올립니다.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48095" y="2838298"/>
            <a:ext cx="2438705" cy="2628900"/>
          </a:xfrm>
          <a:prstGeom prst="roundRect">
            <a:avLst>
              <a:gd name="adj" fmla="val 23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7086600" y="3247949"/>
            <a:ext cx="761695" cy="761695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15200" y="3476549"/>
            <a:ext cx="304495" cy="3044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62165" y="4238244"/>
            <a:ext cx="5907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쓰기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6723583" y="4695444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기억한 내용을 바탕으로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632143" y="4924044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언어로 재작성합니다.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91295" y="2838298"/>
            <a:ext cx="2438705" cy="2628900"/>
          </a:xfrm>
          <a:prstGeom prst="roundRect">
            <a:avLst>
              <a:gd name="adj" fmla="val 23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9829800" y="3247949"/>
            <a:ext cx="761695" cy="761695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58400" y="3476549"/>
            <a:ext cx="304495" cy="30449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005365" y="4238244"/>
            <a:ext cx="5907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대조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9235440" y="4695444"/>
            <a:ext cx="2067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원문과 비교하여 의미 왜곡이나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375343" y="4924044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유사성을 점검합니다.</a:t>
            </a:r>
            <a:endParaRPr lang="en-US" sz="12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l="-505" r="-505"/>
          <a:stretch/>
        </p:blipFill>
        <p:spPr>
          <a:xfrm>
            <a:off x="3305556" y="4062679"/>
            <a:ext cx="114300" cy="181051"/>
          </a:xfrm>
          <a:prstGeom prst="rect">
            <a:avLst/>
          </a:prstGeom>
        </p:spPr>
      </p:pic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rcRect l="-505" r="-505"/>
          <a:stretch/>
        </p:blipFill>
        <p:spPr>
          <a:xfrm>
            <a:off x="6048756" y="4062679"/>
            <a:ext cx="114300" cy="181051"/>
          </a:xfrm>
          <a:prstGeom prst="rect">
            <a:avLst/>
          </a:prstGeom>
        </p:spPr>
      </p:pic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rcRect l="-505" r="-505"/>
          <a:stretch/>
        </p:blipFill>
        <p:spPr>
          <a:xfrm>
            <a:off x="8791956" y="4062679"/>
            <a:ext cx="114300" cy="181051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790395" y="2657246"/>
            <a:ext cx="381305" cy="3813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1"/>
          <p:cNvSpPr txBox="1"/>
          <p:nvPr/>
        </p:nvSpPr>
        <p:spPr>
          <a:xfrm>
            <a:off x="1925726" y="2711196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32"/>
          <p:cNvSpPr/>
          <p:nvPr/>
        </p:nvSpPr>
        <p:spPr>
          <a:xfrm>
            <a:off x="4533595" y="2657246"/>
            <a:ext cx="381305" cy="3813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3"/>
          <p:cNvSpPr txBox="1"/>
          <p:nvPr/>
        </p:nvSpPr>
        <p:spPr>
          <a:xfrm>
            <a:off x="4668926" y="2711196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7276795" y="2657246"/>
            <a:ext cx="381305" cy="3813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5"/>
          <p:cNvSpPr txBox="1"/>
          <p:nvPr/>
        </p:nvSpPr>
        <p:spPr>
          <a:xfrm>
            <a:off x="7412126" y="2711196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10019995" y="2657246"/>
            <a:ext cx="381305" cy="3813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7"/>
          <p:cNvSpPr txBox="1"/>
          <p:nvPr/>
        </p:nvSpPr>
        <p:spPr>
          <a:xfrm>
            <a:off x="10155326" y="2711196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71500" y="1077163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484510" y="510235"/>
            <a:ext cx="1143000" cy="428854"/>
          </a:xfrm>
          <a:prstGeom prst="roundRect">
            <a:avLst>
              <a:gd name="adj" fmla="val 213219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blurRad="139700" dist="12700" dir="16200000" algn="bl" rotWithShape="0">
              <a:srgbClr val="38BDF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84764" y="636422"/>
            <a:ext cx="171907" cy="1719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33004" y="1276502"/>
            <a:ext cx="3590849" cy="5296205"/>
          </a:xfrm>
          <a:prstGeom prst="roundRect">
            <a:avLst>
              <a:gd name="adj" fmla="val 811"/>
            </a:avLst>
          </a:prstGeom>
          <a:solidFill>
            <a:srgbClr val="38BDF8">
              <a:alpha val="5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270748" y="2169871"/>
            <a:ext cx="31144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270748" y="3199486"/>
            <a:ext cx="31144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270748" y="2398471"/>
            <a:ext cx="190195" cy="190195"/>
          </a:xfrm>
          <a:prstGeom prst="roundRect">
            <a:avLst>
              <a:gd name="adj" fmla="val 120192"/>
            </a:avLst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270748" y="4219042"/>
            <a:ext cx="31144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270748" y="3418942"/>
            <a:ext cx="190195" cy="190195"/>
          </a:xfrm>
          <a:prstGeom prst="roundRect">
            <a:avLst>
              <a:gd name="adj" fmla="val 120192"/>
            </a:avLst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270748" y="5239512"/>
            <a:ext cx="31144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270748" y="4438498"/>
            <a:ext cx="190195" cy="190195"/>
          </a:xfrm>
          <a:prstGeom prst="roundRect">
            <a:avLst>
              <a:gd name="adj" fmla="val 120192"/>
            </a:avLst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270748" y="5458968"/>
            <a:ext cx="190195" cy="190195"/>
          </a:xfrm>
          <a:prstGeom prst="roundRect">
            <a:avLst>
              <a:gd name="adj" fmla="val 120192"/>
            </a:avLst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47395" y="314554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1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8486" y="304495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워크시트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" y="552298"/>
            <a:ext cx="18717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요약과 재기술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0970057" y="596189"/>
            <a:ext cx="5833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05:00</a:t>
            </a:r>
            <a:endParaRPr lang="en-US" sz="13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70748" y="1848002"/>
            <a:ext cx="171907" cy="17190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518550" y="1798625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전 체크리스트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594446" y="2370125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왜곡 없음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594446" y="2627071"/>
            <a:ext cx="273588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원문이 주장하는 '적극적 태도의 필요성'이 그대로 유지되었나요?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8594446" y="3389681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차별화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8594446" y="3647542"/>
            <a:ext cx="28218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원문의 단어(소극적 처방 등)를 그대로 쓰지 않고 다른 말로 바꿨나요?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8594446" y="4410151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표기 필수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8594446" y="4667098"/>
            <a:ext cx="250728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 끝에 (저자, 연도) 형식으로 내주(In-text citation)를 달았나요?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8594446" y="5429707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관점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594446" y="5687568"/>
            <a:ext cx="28218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나열이 아니라 리포트 문맥에 맞게 자연스럽게 연결되나요?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71500" y="1462126"/>
            <a:ext cx="7181698" cy="1933956"/>
          </a:xfrm>
          <a:prstGeom prst="roundRect">
            <a:avLst>
              <a:gd name="adj" fmla="val 279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771754" y="1377086"/>
            <a:ext cx="933602" cy="209398"/>
          </a:xfrm>
          <a:prstGeom prst="roundRect">
            <a:avLst>
              <a:gd name="adj" fmla="val 79396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 txBox="1"/>
          <p:nvPr/>
        </p:nvSpPr>
        <p:spPr>
          <a:xfrm>
            <a:off x="866851" y="1395374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1. 원문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771754" y="1738274"/>
            <a:ext cx="6782105" cy="1457554"/>
          </a:xfrm>
          <a:prstGeom prst="roundRect">
            <a:avLst>
              <a:gd name="adj" fmla="val 3280"/>
            </a:avLst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771754" y="1738274"/>
            <a:ext cx="38405" cy="145755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 txBox="1"/>
          <p:nvPr/>
        </p:nvSpPr>
        <p:spPr>
          <a:xfrm>
            <a:off x="961949" y="1881835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[원문 예시]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61949" y="2128723"/>
            <a:ext cx="647212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"팀 기반 학습에서 태만이 야기하는 부정적인 현상들을 방지하기 위하여, 단순히 태만에 상응하는 평가를 내리는 소극적 처방이 아니라... (중략) ...태만의 발생을 조기에 차단하는 적극적 태도가 필요하다." (원문 일부 생략)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644030" y="2881274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이동훈 (2016)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71500" y="3652114"/>
            <a:ext cx="7181698" cy="1238098"/>
          </a:xfrm>
          <a:prstGeom prst="roundRect">
            <a:avLst>
              <a:gd name="adj" fmla="val 68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771754" y="3567074"/>
            <a:ext cx="933602" cy="209398"/>
          </a:xfrm>
          <a:prstGeom prst="roundRect">
            <a:avLst>
              <a:gd name="adj" fmla="val 79396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6"/>
          <p:cNvSpPr txBox="1"/>
          <p:nvPr/>
        </p:nvSpPr>
        <p:spPr>
          <a:xfrm>
            <a:off x="866851" y="3586277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2. 요약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771754" y="3929177"/>
            <a:ext cx="6782105" cy="761695"/>
          </a:xfrm>
          <a:prstGeom prst="roundRect">
            <a:avLst>
              <a:gd name="adj" fmla="val 12005"/>
            </a:avLst>
          </a:prstGeom>
          <a:solidFill>
            <a:srgbClr val="FFFFFF">
              <a:alpha val="5000"/>
            </a:srgbClr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2746" y="4135831"/>
            <a:ext cx="133502" cy="133502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1152144" y="410017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가이드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942746" y="4328770"/>
            <a:ext cx="4405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원문의 핵심 키워드(태만 방지, 적극적 태도)만 남기고 한 문장으로 줄여보세요.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571500" y="5148072"/>
            <a:ext cx="7181698" cy="1238098"/>
          </a:xfrm>
          <a:prstGeom prst="roundRect">
            <a:avLst>
              <a:gd name="adj" fmla="val 68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1"/>
          <p:cNvSpPr/>
          <p:nvPr/>
        </p:nvSpPr>
        <p:spPr>
          <a:xfrm>
            <a:off x="771754" y="5062118"/>
            <a:ext cx="1037844" cy="209398"/>
          </a:xfrm>
          <a:prstGeom prst="roundRect">
            <a:avLst>
              <a:gd name="adj" fmla="val 79396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 txBox="1"/>
          <p:nvPr/>
        </p:nvSpPr>
        <p:spPr>
          <a:xfrm>
            <a:off x="866851" y="5081321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3. 재기술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771754" y="5424221"/>
            <a:ext cx="6782105" cy="761695"/>
          </a:xfrm>
          <a:prstGeom prst="roundRect">
            <a:avLst>
              <a:gd name="adj" fmla="val 12005"/>
            </a:avLst>
          </a:prstGeom>
          <a:solidFill>
            <a:srgbClr val="FFFFFF">
              <a:alpha val="5000"/>
            </a:srgbClr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2746" y="5631790"/>
            <a:ext cx="133502" cy="133502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1152144" y="559521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가이드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942746" y="5823814"/>
            <a:ext cx="3844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어휘로 바꿔 서술하고, 문장 끝에 (이동훈, 2016)을 붙이세요.</a:t>
            </a:r>
            <a:endParaRPr lang="en-US" sz="1000" dirty="0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rcRect t="-856" b="-856"/>
          <a:stretch/>
        </p:blipFill>
        <p:spPr>
          <a:xfrm>
            <a:off x="4092854" y="3433572"/>
            <a:ext cx="133502" cy="181051"/>
          </a:xfrm>
          <a:prstGeom prst="rect">
            <a:avLst/>
          </a:prstGeom>
        </p:spPr>
      </p:pic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7"/>
          <a:srcRect t="-856" b="-856"/>
          <a:stretch/>
        </p:blipFill>
        <p:spPr>
          <a:xfrm>
            <a:off x="4092854" y="4928616"/>
            <a:ext cx="133502" cy="181051"/>
          </a:xfrm>
          <a:prstGeom prst="rect">
            <a:avLst/>
          </a:prstGeom>
        </p:spPr>
      </p:pic>
      <p:sp>
        <p:nvSpPr>
          <p:cNvPr id="5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382305" y="3047695"/>
            <a:ext cx="4762195" cy="47621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638751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629607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1500" y="1945843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71500" y="2231136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가이드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2488082"/>
            <a:ext cx="21625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3059582"/>
            <a:ext cx="21625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원칙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78357" y="4272991"/>
            <a:ext cx="36201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원문을 그대로 가져올 </a:t>
            </a:r>
            <a:r>
              <a:rPr lang="en-US" sz="15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때는</a:t>
            </a: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엄격한 기준이 필요합니다. 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500" dirty="0">
              <a:solidFill>
                <a:srgbClr val="9CA3A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</a:t>
            </a: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자체가 증거가 될 </a:t>
            </a:r>
            <a:r>
              <a:rPr lang="en-US" sz="15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때만</a:t>
            </a:r>
            <a:endParaRPr lang="en-US" sz="1500" dirty="0">
              <a:solidFill>
                <a:srgbClr val="9CA3A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제한적으로 사용하세요.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99862" y="895198"/>
            <a:ext cx="6229807" cy="1123798"/>
          </a:xfrm>
          <a:prstGeom prst="roundRect">
            <a:avLst>
              <a:gd name="adj" fmla="val 5516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299862" y="895198"/>
            <a:ext cx="38405" cy="11237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565953" y="1086307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80253" y="1200607"/>
            <a:ext cx="228600" cy="2286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299862" y="2210105"/>
            <a:ext cx="6229807" cy="1123798"/>
          </a:xfrm>
          <a:prstGeom prst="roundRect">
            <a:avLst>
              <a:gd name="adj" fmla="val 5516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299862" y="2210105"/>
            <a:ext cx="38405" cy="11237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565953" y="240030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5694883" y="2514600"/>
            <a:ext cx="200254" cy="228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299862" y="3524098"/>
            <a:ext cx="6229807" cy="1123798"/>
          </a:xfrm>
          <a:prstGeom prst="roundRect">
            <a:avLst>
              <a:gd name="adj" fmla="val 5516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299862" y="3524098"/>
            <a:ext cx="38405" cy="11237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5565953" y="3715207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80253" y="3829507"/>
            <a:ext cx="228600" cy="2286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299862" y="4839005"/>
            <a:ext cx="6229807" cy="1123798"/>
          </a:xfrm>
          <a:prstGeom prst="roundRect">
            <a:avLst>
              <a:gd name="adj" fmla="val 5516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5299862" y="4839005"/>
            <a:ext cx="38405" cy="11237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5565953" y="502920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5651906" y="5143500"/>
            <a:ext cx="286207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214262" y="1057046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제한적 사용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214262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자체가 핵심 증거이거나 대체 불가능한 경우에만 사용합니다. 편의를 위한 단순 복사는 지양하세요.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6214262" y="2371954"/>
            <a:ext cx="20574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따옴표와 블록 인용 구분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6214262" y="2686507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문장은 큰따옴표("")로, 3줄 이상의 긴 문장은 별도의 단락으로 들여쓰기하여 명확히 구분합니다.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214262" y="3685946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설명과 논평 병행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6214262" y="4000500"/>
            <a:ext cx="465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전에는 도입 맥락을 설명하고, 인용 후에는 해당 내용에 대한 자신의 해석이나 논평을 반드시 덧붙입니다.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214262" y="5000854"/>
            <a:ext cx="1305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 혼용 금지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6214262" y="5315407"/>
            <a:ext cx="465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문장인 것처럼 맥락 없이 원문을 이어 붙이면 안 됩니다. 인용임을 시각적으로 명확히 표시하세요.</a:t>
            </a:r>
            <a:endParaRPr lang="en-US" sz="12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382305" y="3047695"/>
            <a:ext cx="4762195" cy="47621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638751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629607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1500" y="2100377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71500" y="2385670"/>
            <a:ext cx="700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2643530"/>
            <a:ext cx="258135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인용이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3215030"/>
            <a:ext cx="300106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허용되는 경우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" y="4147718"/>
            <a:ext cx="357256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 그대로를 가져오는 것이 학술적으로 유의미할 때에만 제한적으로 활용합니다.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99862" y="1837944"/>
            <a:ext cx="6229807" cy="533095"/>
          </a:xfrm>
          <a:prstGeom prst="roundRect">
            <a:avLst>
              <a:gd name="adj" fmla="val 24504"/>
            </a:avLst>
          </a:prstGeom>
          <a:solidFill>
            <a:srgbClr val="38BDF8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299862" y="1837944"/>
            <a:ext cx="38405" cy="53309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299862" y="2500884"/>
            <a:ext cx="6229807" cy="533095"/>
          </a:xfrm>
          <a:prstGeom prst="roundRect">
            <a:avLst>
              <a:gd name="adj" fmla="val 2450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299862" y="2500884"/>
            <a:ext cx="38405" cy="5330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299862" y="3163824"/>
            <a:ext cx="6229807" cy="533095"/>
          </a:xfrm>
          <a:prstGeom prst="roundRect">
            <a:avLst>
              <a:gd name="adj" fmla="val 2450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299862" y="3163824"/>
            <a:ext cx="38405" cy="5330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299862" y="3826764"/>
            <a:ext cx="6229807" cy="533095"/>
          </a:xfrm>
          <a:prstGeom prst="roundRect">
            <a:avLst>
              <a:gd name="adj" fmla="val 2450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299862" y="3826764"/>
            <a:ext cx="38405" cy="5330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299862" y="4489704"/>
            <a:ext cx="6229807" cy="533095"/>
          </a:xfrm>
          <a:prstGeom prst="roundRect">
            <a:avLst>
              <a:gd name="adj" fmla="val 24504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299862" y="4489704"/>
            <a:ext cx="38405" cy="5330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649163" y="1948586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099962" y="1971446"/>
            <a:ext cx="32753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정의: 학술 용어나 현상을 정확하게 규정할 때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49163" y="2611526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099962" y="2634386"/>
            <a:ext cx="34271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권위: 저명한 학자의 진술로 주장을 뒷받침할 때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49163" y="3274466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099962" y="3297326"/>
            <a:ext cx="39419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상이한 견해: 원문의 표현을 공정하게 대조하고 싶을 때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649163" y="3937406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099962" y="3960266"/>
            <a:ext cx="374172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독창성: 표현 자체가 독창적이거나 대체 불가능할 때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49163" y="4600346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099962" y="4623206"/>
            <a:ext cx="347563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개념적 틀: 논의의 핵심 프레임이 되는 문장일 때</a:t>
            </a:r>
            <a:endParaRPr lang="en-US" sz="13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905902" y="2572207"/>
            <a:ext cx="4762195" cy="4762195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638251"/>
            <a:ext cx="30769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 형식 예시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1190549"/>
            <a:ext cx="4977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인용문의 길이에 따라 짧은 인용과 블록 인용으로 형식이 달라집니다.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1695" y="1733703"/>
            <a:ext cx="5143500" cy="4549652"/>
          </a:xfrm>
          <a:prstGeom prst="roundRect">
            <a:avLst>
              <a:gd name="adj" fmla="val 645"/>
            </a:avLst>
          </a:prstGeom>
          <a:solidFill>
            <a:srgbClr val="1E293B">
              <a:alpha val="50000"/>
            </a:srgbClr>
          </a:solidFill>
          <a:ln w="508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57046" y="2057400"/>
            <a:ext cx="4552798" cy="314554"/>
          </a:xfrm>
          <a:prstGeom prst="roundRect">
            <a:avLst>
              <a:gd name="adj" fmla="val 290697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1190549" y="2145182"/>
            <a:ext cx="123444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90802" y="2115007"/>
            <a:ext cx="15069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인용 (40단어 미만)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31409" r="-31409"/>
          <a:stretch/>
        </p:blipFill>
        <p:spPr>
          <a:xfrm>
            <a:off x="1057046" y="2592324"/>
            <a:ext cx="190195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48156" y="2556662"/>
            <a:ext cx="1617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 내 큰따옴표(“ ”) 사용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31409" r="-31409"/>
          <a:stretch/>
        </p:blipFill>
        <p:spPr>
          <a:xfrm>
            <a:off x="1057046" y="2894076"/>
            <a:ext cx="190195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8156" y="2857500"/>
            <a:ext cx="2104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괄호 안에 저자, 연도, 쪽수(p.) 표기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1057046" y="3158338"/>
            <a:ext cx="4552798" cy="1695298"/>
          </a:xfrm>
          <a:prstGeom prst="roundRect">
            <a:avLst>
              <a:gd name="adj" fmla="val 2424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1057046" y="3158338"/>
            <a:ext cx="28346" cy="169529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1276502" y="3358591"/>
            <a:ext cx="38715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김철수는 "연구 윤리는 학문의 기본이다"라고 강조했다(김철수, 2026, p. 15).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276502" y="3898087"/>
            <a:ext cx="4233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또는,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276502" y="4206240"/>
            <a:ext cx="397581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김철수(2026)는 "연구 윤리는 학문의 기본이다"라고 주장했다(p. 15).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057046" y="5106924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마침표는 인용 괄호 뒤에 찍습니다.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286500" y="1733703"/>
            <a:ext cx="5143500" cy="4549652"/>
          </a:xfrm>
          <a:prstGeom prst="roundRect">
            <a:avLst>
              <a:gd name="adj" fmla="val 645"/>
            </a:avLst>
          </a:prstGeom>
          <a:solidFill>
            <a:srgbClr val="1E293B">
              <a:alpha val="30000"/>
            </a:srgbClr>
          </a:solidFill>
          <a:ln w="508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581851" y="2057400"/>
            <a:ext cx="4552798" cy="314554"/>
          </a:xfrm>
          <a:prstGeom prst="roundRect">
            <a:avLst>
              <a:gd name="adj" fmla="val 290697"/>
            </a:avLst>
          </a:prstGeom>
          <a:solidFill>
            <a:srgbClr val="F43F5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l="-2838" r="-2838"/>
          <a:stretch/>
        </p:blipFill>
        <p:spPr>
          <a:xfrm>
            <a:off x="6715354" y="2145182"/>
            <a:ext cx="123444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15607" y="2115007"/>
            <a:ext cx="15069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인용 (40단어 이상)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 l="-31409" r="-31409"/>
          <a:stretch/>
        </p:blipFill>
        <p:spPr>
          <a:xfrm>
            <a:off x="6581851" y="2592324"/>
            <a:ext cx="190195" cy="1335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772046" y="2556662"/>
            <a:ext cx="19037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따옴표 없이 새로운 줄에서 시작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rcRect l="-31409" r="-31409"/>
          <a:stretch/>
        </p:blipFill>
        <p:spPr>
          <a:xfrm>
            <a:off x="6581851" y="2894076"/>
            <a:ext cx="190195" cy="1335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772046" y="2857500"/>
            <a:ext cx="21607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문단을 들여쓰기(Indentation)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581851" y="3158338"/>
            <a:ext cx="4552798" cy="1390802"/>
          </a:xfrm>
          <a:prstGeom prst="roundRect">
            <a:avLst>
              <a:gd name="adj" fmla="val 3603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3"/>
          <p:cNvSpPr/>
          <p:nvPr/>
        </p:nvSpPr>
        <p:spPr>
          <a:xfrm>
            <a:off x="6581851" y="3158338"/>
            <a:ext cx="28346" cy="1390802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4"/>
          <p:cNvSpPr txBox="1"/>
          <p:nvPr/>
        </p:nvSpPr>
        <p:spPr>
          <a:xfrm>
            <a:off x="6801307" y="3358591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김철수(2026)는 다음과 같이 설명했다: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801307" y="3656686"/>
            <a:ext cx="19202" cy="694944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6972300" y="3666744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윤리는 단순히 규정을 지키는 것을 넘어, 학문 공동체 내의 신뢰를 형성하는 핵심 기제이다. 따라서 모든 연구자는 인용과 출처 표기를 철저히 해야 한다 (pp. 15-16).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610197" y="4812371"/>
            <a:ext cx="4552798" cy="905256"/>
          </a:xfrm>
          <a:prstGeom prst="roundRect">
            <a:avLst>
              <a:gd name="adj" fmla="val 12759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6752844" y="5090349"/>
            <a:ext cx="342900" cy="34290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6"/>
          <a:srcRect t="-856" b="-856"/>
          <a:stretch/>
        </p:blipFill>
        <p:spPr>
          <a:xfrm>
            <a:off x="6858000" y="5170816"/>
            <a:ext cx="133502" cy="181051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238390" y="4955018"/>
            <a:ext cx="1408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 TIP: 맥락과 논평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7238390" y="5179960"/>
            <a:ext cx="380299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전후에 '누가/어떤 맥락에서' 말했는지 밝히고, 인용 후에는 내 주장을 덧붙이세요.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5857646" y="3354934"/>
            <a:ext cx="476402" cy="476402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 txBox="1"/>
          <p:nvPr/>
        </p:nvSpPr>
        <p:spPr>
          <a:xfrm>
            <a:off x="5999378" y="3478378"/>
            <a:ext cx="314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2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382305" y="3047695"/>
            <a:ext cx="4762195" cy="47621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638751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629607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1500" y="2100377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71500" y="238567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재인용 원칙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2643530"/>
            <a:ext cx="17721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재인용: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3215030"/>
            <a:ext cx="258135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개념과 원칙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" y="4147718"/>
            <a:ext cx="35625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A가 인용한 B를 다시 인용할 때 원문 확인이 원칙이며, 불가피한 경우에만 허용됩니다.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99862" y="1445666"/>
            <a:ext cx="6229807" cy="828446"/>
          </a:xfrm>
          <a:prstGeom prst="roundRect">
            <a:avLst>
              <a:gd name="adj" fmla="val 10149"/>
            </a:avLst>
          </a:prstGeom>
          <a:solidFill>
            <a:srgbClr val="38BDF8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299862" y="1445666"/>
            <a:ext cx="38405" cy="82844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71109" y="1771193"/>
            <a:ext cx="171907" cy="17190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299862" y="2421331"/>
            <a:ext cx="6229807" cy="828446"/>
          </a:xfrm>
          <a:prstGeom prst="roundRect">
            <a:avLst>
              <a:gd name="adj" fmla="val 10149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299862" y="2421331"/>
            <a:ext cx="38405" cy="82844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5685739" y="2746858"/>
            <a:ext cx="142646" cy="171907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299862" y="3396996"/>
            <a:ext cx="6229807" cy="828446"/>
          </a:xfrm>
          <a:prstGeom prst="roundRect">
            <a:avLst>
              <a:gd name="adj" fmla="val 10149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5299862" y="3396996"/>
            <a:ext cx="38405" cy="82844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5685739" y="3722522"/>
            <a:ext cx="142646" cy="17190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299862" y="4371746"/>
            <a:ext cx="6229807" cy="1047902"/>
          </a:xfrm>
          <a:prstGeom prst="roundRect">
            <a:avLst>
              <a:gd name="adj" fmla="val 6346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299862" y="4371746"/>
            <a:ext cx="38405" cy="10479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71109" y="4806086"/>
            <a:ext cx="171907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137453" y="1598371"/>
            <a:ext cx="18370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제1원칙: 원문 직접 확인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137453" y="1899209"/>
            <a:ext cx="50337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오류나 왜곡 방지를 위해 1차 자료(원문)를 직접 찾아 읽는 것이 가장 바람직합니다.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137453" y="2573122"/>
            <a:ext cx="20747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 조건 1: 원문 확보 불가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137453" y="2874874"/>
            <a:ext cx="50429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원문이 절판되었거나 비공개 자료여서 물리적으로 접근할 수 없는 경우에 한합니다.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137453" y="3548786"/>
            <a:ext cx="1722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 조건 2: 언어 장벽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6137453" y="3849624"/>
            <a:ext cx="51288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원문이 해석 불가능한 언어로 되어 있고 신뢰할 만한 번역본도 없는 경우 허용됩니다.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6137453" y="4524451"/>
            <a:ext cx="17318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규칙: 재인용 명시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137453" y="4825289"/>
            <a:ext cx="521482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본문에는 원저자와 재인용 출처를 모두 밝히되(예: as cited in), 참고문헌엔 내가 읽은 자료만 적습니다.</a:t>
            </a:r>
            <a:endParaRPr lang="en-US" sz="11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3810305" cy="3810305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724205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재인용 예시/주의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952805"/>
            <a:ext cx="39246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재인용 표기법과 주의사항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543507"/>
            <a:ext cx="6844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원문을 직접 확인할 수 없을 때 사용하는 재인용 방식과 이로 인한 위험성 및 대안을 확인합니다.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1695" y="2180844"/>
            <a:ext cx="5143500" cy="4943246"/>
          </a:xfrm>
          <a:prstGeom prst="roundRect">
            <a:avLst>
              <a:gd name="adj" fmla="val 570"/>
            </a:avLst>
          </a:prstGeom>
          <a:solidFill>
            <a:srgbClr val="1E293B">
              <a:alpha val="50000"/>
            </a:srgbClr>
          </a:solidFill>
          <a:ln w="508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2144" y="2600554"/>
            <a:ext cx="4362602" cy="362102"/>
          </a:xfrm>
          <a:prstGeom prst="roundRect">
            <a:avLst>
              <a:gd name="adj" fmla="val 252526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1304849" y="2713025"/>
            <a:ext cx="142646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24305" y="2676449"/>
            <a:ext cx="11320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표기 예시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52144" y="4796942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52144" y="318668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082" r="-1082"/>
          <a:stretch/>
        </p:blipFill>
        <p:spPr>
          <a:xfrm>
            <a:off x="1261872" y="3287268"/>
            <a:ext cx="161849" cy="1810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723644" y="3186684"/>
            <a:ext cx="1981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 Style (영어 논문)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723644" y="3548786"/>
            <a:ext cx="3791102" cy="448056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1723644" y="3548786"/>
            <a:ext cx="28346" cy="44805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1904695" y="3682289"/>
            <a:ext cx="32424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(John, 1975, as cited in Lily, 2005)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723644" y="4070909"/>
            <a:ext cx="3810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원저자(John)와 재인용자(Lily)를 모두 명시하며, 참고문헌에는 실제로 본 Lily의 문헌만 기재합니다.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152144" y="507126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1261872" y="5170932"/>
            <a:ext cx="161849" cy="181051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723644" y="5071262"/>
            <a:ext cx="18004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학술지 (한국어)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1723644" y="5433365"/>
            <a:ext cx="3791102" cy="448056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1723644" y="5433365"/>
            <a:ext cx="28346" cy="44805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1904695" y="5565953"/>
            <a:ext cx="297637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(홍길동, 1990, 재인용: 김철수, 2020)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1723644" y="5954573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'재인용'임을 분명히 밝히고, 내가 직접 읽은 2차 자료(김철수)의 출처 정보를 정확히 제공해야 합니다.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286500" y="2180844"/>
            <a:ext cx="5143500" cy="4943246"/>
          </a:xfrm>
          <a:prstGeom prst="roundRect">
            <a:avLst>
              <a:gd name="adj" fmla="val 570"/>
            </a:avLst>
          </a:prstGeom>
          <a:solidFill>
            <a:srgbClr val="1E293B">
              <a:alpha val="30000"/>
            </a:srgbClr>
          </a:solidFill>
          <a:ln w="508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6676949" y="2600554"/>
            <a:ext cx="4362602" cy="362102"/>
          </a:xfrm>
          <a:prstGeom prst="roundRect">
            <a:avLst>
              <a:gd name="adj" fmla="val 252526"/>
            </a:avLst>
          </a:prstGeom>
          <a:solidFill>
            <a:srgbClr val="F43F5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l="-3425" r="-3425"/>
          <a:stretch/>
        </p:blipFill>
        <p:spPr>
          <a:xfrm>
            <a:off x="6829654" y="2713025"/>
            <a:ext cx="142646" cy="13350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048195" y="2676449"/>
            <a:ext cx="99852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위험성 및 대안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676949" y="4272991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6676949" y="318668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43F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505" r="-505"/>
          <a:stretch/>
        </p:blipFill>
        <p:spPr>
          <a:xfrm>
            <a:off x="6752844" y="3287268"/>
            <a:ext cx="228600" cy="181051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248449" y="3186684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왜곡의 위험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7248449" y="3548786"/>
            <a:ext cx="3838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전달자(재인용자)가 원문을 오역하거나 맥락을 잘못 해석했을 경우, 그 오류를 그대로 답습하게 됩니다.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6676949" y="5635447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6676949" y="454914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43F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76618" y="4648810"/>
            <a:ext cx="181051" cy="181051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248449" y="4549140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불가능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7248449" y="4911242"/>
            <a:ext cx="3829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원저자의 실제 의도나 데이터의 정확성을 직접 확인할 수 없어 학술적 신뢰도가 하락할 수 있습니다.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6676949" y="591159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43F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rcRect l="-1082" r="-1082"/>
          <a:stretch/>
        </p:blipFill>
        <p:spPr>
          <a:xfrm>
            <a:off x="6786677" y="6011266"/>
            <a:ext cx="161849" cy="181051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248449" y="5911596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최선의 대안: 1차 자료 확보</a:t>
            </a:r>
            <a:endParaRPr lang="en-US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7248449" y="6272784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가능하다면 도서관 상호대차 등으로 1차 문헌을 직접 확인하세요.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5810098" y="3513125"/>
            <a:ext cx="571500" cy="5715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8"/>
          <p:cNvSpPr txBox="1"/>
          <p:nvPr/>
        </p:nvSpPr>
        <p:spPr>
          <a:xfrm>
            <a:off x="5980176" y="3661258"/>
            <a:ext cx="37581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4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19995" y="2952598"/>
            <a:ext cx="5505602" cy="551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30000" dirty="0"/>
          </a:p>
        </p:txBody>
      </p:sp>
      <p:sp>
        <p:nvSpPr>
          <p:cNvPr id="6" name="Shape 3"/>
          <p:cNvSpPr/>
          <p:nvPr/>
        </p:nvSpPr>
        <p:spPr>
          <a:xfrm>
            <a:off x="8324698" y="1028700"/>
            <a:ext cx="1429207" cy="1429207"/>
          </a:xfrm>
          <a:prstGeom prst="ellipse">
            <a:avLst/>
          </a:prstGeom>
          <a:noFill/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218895" y="4724705"/>
            <a:ext cx="761695" cy="761695"/>
          </a:xfrm>
          <a:prstGeom prst="rect">
            <a:avLst/>
          </a:prstGeom>
          <a:noFill/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1988820"/>
            <a:ext cx="933602" cy="428854"/>
          </a:xfrm>
          <a:prstGeom prst="roundRect">
            <a:avLst>
              <a:gd name="adj" fmla="val 18953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037283" y="2192731"/>
            <a:ext cx="952805" cy="1920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52805" y="3954780"/>
            <a:ext cx="38405" cy="9144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2064715"/>
            <a:ext cx="6903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B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558491"/>
            <a:ext cx="692475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표기 시스템</a:t>
            </a:r>
            <a:endParaRPr lang="en-US" sz="7200" dirty="0"/>
          </a:p>
        </p:txBody>
      </p:sp>
      <p:sp>
        <p:nvSpPr>
          <p:cNvPr id="13" name="Text 10"/>
          <p:cNvSpPr txBox="1"/>
          <p:nvPr/>
        </p:nvSpPr>
        <p:spPr>
          <a:xfrm>
            <a:off x="1218895" y="3963924"/>
            <a:ext cx="8449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내주 · 번호주 · 각주/미주 · 참고문헌의 </a:t>
            </a:r>
            <a:r>
              <a:rPr lang="en-US" sz="2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구조와</a:t>
            </a:r>
            <a:r>
              <a:rPr lang="en-US" sz="2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</a:t>
            </a:r>
            <a:r>
              <a:rPr lang="en-US" sz="2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가이드를 학습합니다.</a:t>
            </a:r>
            <a:endParaRPr lang="en-US" sz="2400" dirty="0"/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05902" y="2572207"/>
            <a:ext cx="5715000" cy="5715000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58361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1500" y="2144268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71500" y="2382012"/>
            <a:ext cx="21625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표기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2953512"/>
            <a:ext cx="258135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개요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3887114"/>
            <a:ext cx="3195828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전공과 학술 분야에 </a:t>
            </a:r>
            <a:r>
              <a:rPr lang="en-US" sz="13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</a:t>
            </a: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선호하는</a:t>
            </a: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</a:t>
            </a: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방식이 다릅니다. 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300" dirty="0">
              <a:solidFill>
                <a:srgbClr val="9CA3A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 핵심 요소로 정리했습니다.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4102" y="843991"/>
            <a:ext cx="6590995" cy="1218895"/>
          </a:xfrm>
          <a:prstGeom prst="roundRect">
            <a:avLst>
              <a:gd name="adj" fmla="val 7033"/>
            </a:avLst>
          </a:prstGeom>
          <a:solidFill>
            <a:srgbClr val="38BDF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934102" y="843991"/>
            <a:ext cx="38405" cy="121889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693054" y="1058875"/>
            <a:ext cx="790956" cy="267005"/>
          </a:xfrm>
          <a:prstGeom prst="roundRect">
            <a:avLst>
              <a:gd name="adj" fmla="val 48924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7192" r="-7192"/>
          <a:stretch/>
        </p:blipFill>
        <p:spPr>
          <a:xfrm>
            <a:off x="5201107" y="1495044"/>
            <a:ext cx="152705" cy="133502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t="-4641" b="-4641"/>
          <a:stretch/>
        </p:blipFill>
        <p:spPr>
          <a:xfrm>
            <a:off x="8324698" y="1495044"/>
            <a:ext cx="152705" cy="13350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934102" y="2284171"/>
            <a:ext cx="6590995" cy="1218895"/>
          </a:xfrm>
          <a:prstGeom prst="roundRect">
            <a:avLst>
              <a:gd name="adj" fmla="val 7033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934102" y="2284171"/>
            <a:ext cx="38405" cy="12188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5882335" y="2499055"/>
            <a:ext cx="533095" cy="267005"/>
          </a:xfrm>
          <a:prstGeom prst="roundRect">
            <a:avLst>
              <a:gd name="adj" fmla="val 48924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 l="-7192" r="-7192"/>
          <a:stretch/>
        </p:blipFill>
        <p:spPr>
          <a:xfrm>
            <a:off x="5201107" y="2935224"/>
            <a:ext cx="152705" cy="133502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t="-4641" b="-4641"/>
          <a:stretch/>
        </p:blipFill>
        <p:spPr>
          <a:xfrm>
            <a:off x="8324698" y="2935224"/>
            <a:ext cx="152705" cy="13350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934102" y="3724351"/>
            <a:ext cx="6590995" cy="1218895"/>
          </a:xfrm>
          <a:prstGeom prst="roundRect">
            <a:avLst>
              <a:gd name="adj" fmla="val 7033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4934102" y="3724351"/>
            <a:ext cx="38405" cy="12188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6152083" y="3939235"/>
            <a:ext cx="533095" cy="267005"/>
          </a:xfrm>
          <a:prstGeom prst="roundRect">
            <a:avLst>
              <a:gd name="adj" fmla="val 48924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rcRect l="-7192" r="-7192"/>
          <a:stretch/>
        </p:blipFill>
        <p:spPr>
          <a:xfrm>
            <a:off x="5201107" y="4375404"/>
            <a:ext cx="152705" cy="133502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rcRect t="-4641" b="-4641"/>
          <a:stretch/>
        </p:blipFill>
        <p:spPr>
          <a:xfrm>
            <a:off x="8324698" y="4375404"/>
            <a:ext cx="152705" cy="1335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01107" y="1034186"/>
            <a:ext cx="53583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내주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5789066" y="1097280"/>
            <a:ext cx="6922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대중적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5447995" y="145755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5447995" y="1647749"/>
            <a:ext cx="20519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괄호 안에 (저자, 연도) 표기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8572500" y="1457554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8572500" y="1647749"/>
            <a:ext cx="20619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APA, MLA (사회과학, 인문 일부)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5201107" y="2474366"/>
            <a:ext cx="72603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번호주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5978347" y="2537460"/>
            <a:ext cx="435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간결함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5447995" y="289773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5447995" y="3087929"/>
            <a:ext cx="19092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 [1], [2] 등 숫자로 표기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8572500" y="2897734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8572500" y="3087929"/>
            <a:ext cx="20802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IEEE, Vancouver (이공계, 의학)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5201107" y="3914546"/>
            <a:ext cx="99303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각주/미주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6247181" y="3977640"/>
            <a:ext cx="435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상세함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5447995" y="4337914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5447995" y="4528109"/>
            <a:ext cx="22430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어깨번호¹ 후 하단에 상세 정보 기재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8572500" y="4337914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8572500" y="4528109"/>
            <a:ext cx="20144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Chicago (역사, 신학 등 인문학)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4934102" y="5164531"/>
            <a:ext cx="6590995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8"/>
          <p:cNvSpPr/>
          <p:nvPr/>
        </p:nvSpPr>
        <p:spPr>
          <a:xfrm>
            <a:off x="4934102" y="5164531"/>
            <a:ext cx="38405" cy="8577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5">
            <a:alphaModFix amt="90000"/>
          </a:blip>
          <a:srcRect l="-7192" r="-7192"/>
          <a:stretch/>
        </p:blipFill>
        <p:spPr>
          <a:xfrm>
            <a:off x="5201107" y="5682996"/>
            <a:ext cx="152705" cy="133502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5201107" y="5317236"/>
            <a:ext cx="7452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</a:t>
            </a:r>
            <a:endParaRPr lang="en-US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5447995" y="5644591"/>
            <a:ext cx="38999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본문에서 인용한 모든 자료를 문서 끝에 정리한 최종 목록 (필수)</a:t>
            </a:r>
            <a:endParaRPr lang="en-US" sz="11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05902" y="2572207"/>
            <a:ext cx="5715000" cy="5715000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58361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6402" y="1449324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76402" y="4475988"/>
            <a:ext cx="3305556" cy="933602"/>
          </a:xfrm>
          <a:prstGeom prst="roundRect">
            <a:avLst>
              <a:gd name="adj" fmla="val 799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76402" y="1734617"/>
            <a:ext cx="1815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B. 출처 표기 시스템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6402" y="1991563"/>
            <a:ext cx="31053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내주(In-text)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76402" y="2563063"/>
            <a:ext cx="21625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원칙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" y="3420770"/>
            <a:ext cx="3435102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안에서 출처를 </a:t>
            </a:r>
            <a:r>
              <a:rPr lang="en-US" sz="13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밝히는</a:t>
            </a: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</a:t>
            </a: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기초적인 규칙입니다.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괄호형과</a:t>
            </a: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서술형의 차이를 명확히 이해해야 합니다.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-2512" r="-2512"/>
          <a:stretch/>
        </p:blipFill>
        <p:spPr>
          <a:xfrm>
            <a:off x="638251" y="4673498"/>
            <a:ext cx="105156" cy="13350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19302" y="4637837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Tip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38251" y="4866437"/>
            <a:ext cx="30623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APA, MLA 등 스타일에 따라 저자, 연도, 페이지의 표기 순서가 다르므로 반드시 해당 가이드를 확인하세요.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39005" y="1051560"/>
            <a:ext cx="6782105" cy="1076249"/>
          </a:xfrm>
          <a:prstGeom prst="roundRect">
            <a:avLst>
              <a:gd name="adj" fmla="val 6015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839005" y="1051560"/>
            <a:ext cx="38405" cy="10762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105095" y="122346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5238598" y="1337767"/>
            <a:ext cx="114300" cy="15270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839005" y="2278685"/>
            <a:ext cx="6782105" cy="1076249"/>
          </a:xfrm>
          <a:prstGeom prst="roundRect">
            <a:avLst>
              <a:gd name="adj" fmla="val 6015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4839005" y="2278685"/>
            <a:ext cx="38405" cy="10762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5105095" y="244967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5201107" y="2563978"/>
            <a:ext cx="190195" cy="15270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839005" y="3504895"/>
            <a:ext cx="6782105" cy="1076249"/>
          </a:xfrm>
          <a:prstGeom prst="roundRect">
            <a:avLst>
              <a:gd name="adj" fmla="val 6015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4839005" y="3504895"/>
            <a:ext cx="38405" cy="10762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5105095" y="367680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5238598" y="3791102"/>
            <a:ext cx="114300" cy="15270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839005" y="4732020"/>
            <a:ext cx="6782105" cy="1076249"/>
          </a:xfrm>
          <a:prstGeom prst="roundRect">
            <a:avLst>
              <a:gd name="adj" fmla="val 6015"/>
            </a:avLst>
          </a:prstGeom>
          <a:solidFill>
            <a:srgbClr val="FBBF24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4839005" y="4732020"/>
            <a:ext cx="38405" cy="1076249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5105095" y="490301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BBF2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19395" y="5017313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676595" y="1204265"/>
            <a:ext cx="24332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괄호형 인용 (Parenthetical)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5676595" y="1516075"/>
            <a:ext cx="5763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문장의 끝이나 중간에 괄호를 사용하여 출처 정보를 표기합니다. 연구 결과는 ...하다 (Kim, 2026). ...라는 견해다 (Smith 15).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5676595" y="2430475"/>
            <a:ext cx="20711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서술형 인용 (Narrative)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5676595" y="2743200"/>
            <a:ext cx="582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저자의 이름을 문장의 주어 등 문장 성분으로 자연스럽게 포함합니다. Kim (2026)은 ...라고 주장했다.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5676595" y="365760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번호 표기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5676595" y="3970325"/>
            <a:ext cx="5734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 시에는 페이지 번호를 반드시 표기해야 합니다. * 간접 인용의 경우 APA는 선택, MLA는 필수인 경우가 많음 (Hong, 2026, p. 25)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5676595" y="4884725"/>
            <a:ext cx="22329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문장부호(마침표) 위치 주의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5676595" y="5196535"/>
            <a:ext cx="5811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마침표는 괄호 뒤에 찍습니다. (단, 긴 블록 인용은 예외) ...이다. (Kim, 2023) ...이다 (Kim, 2023).</a:t>
            </a:r>
            <a:endParaRPr lang="en-US" sz="12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3810305" cy="3810305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685800"/>
            <a:ext cx="3429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 스타일 인용 예시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1276502"/>
            <a:ext cx="60533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널리 쓰이는 APA(7판) 방식의 본문 내주와 참고문헌 표기법 비교 (2026년 기준)</a:t>
            </a:r>
            <a:endParaRPr lang="en-US" sz="1300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4AAED2D-A5B8-50B4-291F-78BA4CDFD6BF}"/>
              </a:ext>
            </a:extLst>
          </p:cNvPr>
          <p:cNvGrpSpPr/>
          <p:nvPr/>
        </p:nvGrpSpPr>
        <p:grpSpPr>
          <a:xfrm>
            <a:off x="767660" y="1681212"/>
            <a:ext cx="10668305" cy="4625774"/>
            <a:chOff x="761695" y="2009163"/>
            <a:chExt cx="10668305" cy="4625774"/>
          </a:xfrm>
        </p:grpSpPr>
        <p:sp>
          <p:nvSpPr>
            <p:cNvPr id="8" name="Shape 6"/>
            <p:cNvSpPr/>
            <p:nvPr/>
          </p:nvSpPr>
          <p:spPr>
            <a:xfrm>
              <a:off x="761695" y="2009163"/>
              <a:ext cx="5143500" cy="4625774"/>
            </a:xfrm>
            <a:prstGeom prst="roundRect">
              <a:avLst>
                <a:gd name="adj" fmla="val 545"/>
              </a:avLst>
            </a:prstGeom>
            <a:solidFill>
              <a:srgbClr val="1E293B">
                <a:alpha val="50000"/>
              </a:srgbClr>
            </a:solidFill>
            <a:ln w="50800">
              <a:solidFill>
                <a:srgbClr val="38BDF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1152144" y="2238451"/>
              <a:ext cx="4362602" cy="362102"/>
            </a:xfrm>
            <a:prstGeom prst="roundRect">
              <a:avLst>
                <a:gd name="adj" fmla="val 252526"/>
              </a:avLst>
            </a:prstGeom>
            <a:solidFill>
              <a:srgbClr val="38BDF8">
                <a:alpha val="1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rcRect l="-2838" r="-2838"/>
            <a:stretch/>
          </p:blipFill>
          <p:spPr>
            <a:xfrm>
              <a:off x="1304849" y="2350922"/>
              <a:ext cx="123444" cy="133502"/>
            </a:xfrm>
            <a:prstGeom prst="rect">
              <a:avLst/>
            </a:prstGeom>
          </p:spPr>
        </p:pic>
        <p:sp>
          <p:nvSpPr>
            <p:cNvPr id="11" name="Text 8"/>
            <p:cNvSpPr txBox="1"/>
            <p:nvPr/>
          </p:nvSpPr>
          <p:spPr>
            <a:xfrm>
              <a:off x="1505102" y="2314346"/>
              <a:ext cx="143652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38BDF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본문 내주 (IN-TEXT)</a:t>
              </a:r>
              <a:endParaRPr lang="en-US" sz="10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1152144" y="4187952"/>
              <a:ext cx="4362602" cy="9144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1152144" y="2825496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252728" y="2925166"/>
              <a:ext cx="181051" cy="181051"/>
            </a:xfrm>
            <a:prstGeom prst="rect">
              <a:avLst/>
            </a:prstGeom>
          </p:spPr>
        </p:pic>
        <p:sp>
          <p:nvSpPr>
            <p:cNvPr id="15" name="Text 11"/>
            <p:cNvSpPr txBox="1"/>
            <p:nvPr/>
          </p:nvSpPr>
          <p:spPr>
            <a:xfrm>
              <a:off x="1723644" y="2825496"/>
              <a:ext cx="20482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간접 인용 (요약/재기술)</a:t>
              </a:r>
              <a:endParaRPr lang="en-US" sz="1500" dirty="0"/>
            </a:p>
          </p:txBody>
        </p:sp>
        <p:sp>
          <p:nvSpPr>
            <p:cNvPr id="16" name="Text 12"/>
            <p:cNvSpPr txBox="1"/>
            <p:nvPr/>
          </p:nvSpPr>
          <p:spPr>
            <a:xfrm>
              <a:off x="1723644" y="3186684"/>
              <a:ext cx="32196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아이디어만 가져올 때, 저자와 연도만 표기합니다.</a:t>
              </a:r>
              <a:endParaRPr lang="en-US" sz="1200" dirty="0"/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1723644" y="3430829"/>
              <a:ext cx="3676802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...연구 결과에 따르면 팀 기반 학습은 긍정적 효과가 있다 (Hong &amp; Kim, 2026).</a:t>
              </a:r>
              <a:endParaRPr lang="en-US" sz="1200" dirty="0"/>
            </a:p>
          </p:txBody>
        </p:sp>
        <p:sp>
          <p:nvSpPr>
            <p:cNvPr id="18" name="Shape 14"/>
            <p:cNvSpPr/>
            <p:nvPr/>
          </p:nvSpPr>
          <p:spPr>
            <a:xfrm>
              <a:off x="1152144" y="4461358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Image 2" descr="preencoded.png"/>
            <p:cNvPicPr>
              <a:picLocks noChangeAspect="1"/>
            </p:cNvPicPr>
            <p:nvPr/>
          </p:nvPicPr>
          <p:blipFill>
            <a:blip r:embed="rId5"/>
            <a:srcRect l="-1082" r="-1082"/>
            <a:stretch/>
          </p:blipFill>
          <p:spPr>
            <a:xfrm>
              <a:off x="1261872" y="4561027"/>
              <a:ext cx="161849" cy="181051"/>
            </a:xfrm>
            <a:prstGeom prst="rect">
              <a:avLst/>
            </a:prstGeom>
          </p:spPr>
        </p:pic>
        <p:sp>
          <p:nvSpPr>
            <p:cNvPr id="20" name="Text 15"/>
            <p:cNvSpPr txBox="1"/>
            <p:nvPr/>
          </p:nvSpPr>
          <p:spPr>
            <a:xfrm>
              <a:off x="1723644" y="4461358"/>
              <a:ext cx="90525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직접 인용</a:t>
              </a:r>
              <a:endParaRPr lang="en-US" sz="1500" dirty="0"/>
            </a:p>
          </p:txBody>
        </p:sp>
        <p:sp>
          <p:nvSpPr>
            <p:cNvPr id="21" name="Text 16"/>
            <p:cNvSpPr txBox="1"/>
            <p:nvPr/>
          </p:nvSpPr>
          <p:spPr>
            <a:xfrm>
              <a:off x="1723644" y="4823460"/>
              <a:ext cx="3324758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원문을 그대로 가져올 때, 반드시 페이지 번호(p.)를 포함합니다.</a:t>
              </a:r>
              <a:endParaRPr lang="en-US" sz="1200" dirty="0"/>
            </a:p>
          </p:txBody>
        </p:sp>
        <p:sp>
          <p:nvSpPr>
            <p:cNvPr id="22" name="Text 17"/>
            <p:cNvSpPr txBox="1"/>
            <p:nvPr/>
          </p:nvSpPr>
          <p:spPr>
            <a:xfrm>
              <a:off x="1723644" y="5310835"/>
              <a:ext cx="3829507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...라고 주장하며 "적극적 개입이 필수적이다"라고 강조했다 (Hong &amp; Kim, 2026, p. 15).</a:t>
              </a:r>
              <a:endParaRPr lang="en-US" sz="1200" dirty="0"/>
            </a:p>
          </p:txBody>
        </p:sp>
        <p:sp>
          <p:nvSpPr>
            <p:cNvPr id="23" name="Shape 18"/>
            <p:cNvSpPr/>
            <p:nvPr/>
          </p:nvSpPr>
          <p:spPr>
            <a:xfrm>
              <a:off x="6286500" y="2009163"/>
              <a:ext cx="5143500" cy="4625774"/>
            </a:xfrm>
            <a:prstGeom prst="roundRect">
              <a:avLst>
                <a:gd name="adj" fmla="val 545"/>
              </a:avLst>
            </a:prstGeom>
            <a:solidFill>
              <a:srgbClr val="1E293B">
                <a:alpha val="30000"/>
              </a:srgbClr>
            </a:solidFill>
            <a:ln w="50800">
              <a:solidFill>
                <a:srgbClr val="F43F5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19"/>
            <p:cNvSpPr/>
            <p:nvPr/>
          </p:nvSpPr>
          <p:spPr>
            <a:xfrm>
              <a:off x="6676949" y="2238451"/>
              <a:ext cx="4362602" cy="362102"/>
            </a:xfrm>
            <a:prstGeom prst="roundRect">
              <a:avLst>
                <a:gd name="adj" fmla="val 252526"/>
              </a:avLst>
            </a:prstGeom>
            <a:solidFill>
              <a:srgbClr val="F43F5E">
                <a:alpha val="1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5" name="Image 3" descr="preencoded.png"/>
            <p:cNvPicPr>
              <a:picLocks noChangeAspect="1"/>
            </p:cNvPicPr>
            <p:nvPr/>
          </p:nvPicPr>
          <p:blipFill>
            <a:blip r:embed="rId6"/>
            <a:srcRect l="-3425" r="-3425"/>
            <a:stretch/>
          </p:blipFill>
          <p:spPr>
            <a:xfrm>
              <a:off x="6829654" y="2350922"/>
              <a:ext cx="142646" cy="133502"/>
            </a:xfrm>
            <a:prstGeom prst="rect">
              <a:avLst/>
            </a:prstGeom>
          </p:spPr>
        </p:pic>
        <p:sp>
          <p:nvSpPr>
            <p:cNvPr id="26" name="Text 20"/>
            <p:cNvSpPr txBox="1"/>
            <p:nvPr/>
          </p:nvSpPr>
          <p:spPr>
            <a:xfrm>
              <a:off x="7048195" y="2314346"/>
              <a:ext cx="1751076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43F5E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참고문헌 (REFERENCES)</a:t>
              </a:r>
              <a:endParaRPr lang="en-US" sz="1000" dirty="0"/>
            </a:p>
          </p:txBody>
        </p:sp>
        <p:sp>
          <p:nvSpPr>
            <p:cNvPr id="27" name="Shape 21"/>
            <p:cNvSpPr/>
            <p:nvPr/>
          </p:nvSpPr>
          <p:spPr>
            <a:xfrm>
              <a:off x="6676949" y="5083150"/>
              <a:ext cx="4362602" cy="9144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Shape 22"/>
            <p:cNvSpPr/>
            <p:nvPr/>
          </p:nvSpPr>
          <p:spPr>
            <a:xfrm>
              <a:off x="6676949" y="2825496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F43F5E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9" name="Image 4" descr="preencoded.png"/>
            <p:cNvPicPr>
              <a:picLocks noChangeAspect="1"/>
            </p:cNvPicPr>
            <p:nvPr/>
          </p:nvPicPr>
          <p:blipFill>
            <a:blip r:embed="rId7"/>
            <a:srcRect l="-1082" r="-1082"/>
            <a:stretch/>
          </p:blipFill>
          <p:spPr>
            <a:xfrm>
              <a:off x="6786677" y="2925166"/>
              <a:ext cx="161849" cy="181051"/>
            </a:xfrm>
            <a:prstGeom prst="rect">
              <a:avLst/>
            </a:prstGeom>
          </p:spPr>
        </p:pic>
        <p:sp>
          <p:nvSpPr>
            <p:cNvPr id="30" name="Text 23"/>
            <p:cNvSpPr txBox="1"/>
            <p:nvPr/>
          </p:nvSpPr>
          <p:spPr>
            <a:xfrm>
              <a:off x="7248449" y="2825496"/>
              <a:ext cx="2667305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학술지 논문 (Journal Article)</a:t>
              </a:r>
              <a:endParaRPr lang="en-US" sz="1500" dirty="0"/>
            </a:p>
          </p:txBody>
        </p:sp>
        <p:sp>
          <p:nvSpPr>
            <p:cNvPr id="31" name="Text 24"/>
            <p:cNvSpPr txBox="1"/>
            <p:nvPr/>
          </p:nvSpPr>
          <p:spPr>
            <a:xfrm>
              <a:off x="7248449" y="3186684"/>
              <a:ext cx="3810305" cy="7242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본문의 (Hong &amp; Kim, 2026)과 정확히 매칭되어야 합니다. 저자명, 연도, 제목, 학술지명(이탤릭), 권(호), 페이지, DOI 순으로 기재합니다.</a:t>
              </a:r>
              <a:endParaRPr lang="en-US" sz="1200" dirty="0"/>
            </a:p>
          </p:txBody>
        </p:sp>
        <p:sp>
          <p:nvSpPr>
            <p:cNvPr id="32" name="Shape 25"/>
            <p:cNvSpPr/>
            <p:nvPr/>
          </p:nvSpPr>
          <p:spPr>
            <a:xfrm>
              <a:off x="7248449" y="3994099"/>
              <a:ext cx="3791102" cy="819302"/>
            </a:xfrm>
            <a:prstGeom prst="roundRect">
              <a:avLst>
                <a:gd name="adj" fmla="val 5191"/>
              </a:avLst>
            </a:prstGeom>
            <a:solidFill>
              <a:srgbClr val="F43F5E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26"/>
            <p:cNvSpPr txBox="1"/>
            <p:nvPr/>
          </p:nvSpPr>
          <p:spPr>
            <a:xfrm>
              <a:off x="7324344" y="4051706"/>
              <a:ext cx="359816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DA4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Hong, J., &amp; Kim, S. (2026). The impact of team-based learning on student engagement.</a:t>
              </a:r>
              <a:endParaRPr lang="en-US" sz="900" dirty="0"/>
            </a:p>
          </p:txBody>
        </p:sp>
        <p:sp>
          <p:nvSpPr>
            <p:cNvPr id="34" name="Text 27"/>
            <p:cNvSpPr txBox="1"/>
            <p:nvPr/>
          </p:nvSpPr>
          <p:spPr>
            <a:xfrm>
              <a:off x="7324344" y="4237330"/>
              <a:ext cx="3598164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FDA4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Journal of Educational Research</a:t>
              </a:r>
              <a:endParaRPr lang="en-US" sz="900" dirty="0"/>
            </a:p>
          </p:txBody>
        </p:sp>
        <p:sp>
          <p:nvSpPr>
            <p:cNvPr id="35" name="Text 28"/>
            <p:cNvSpPr txBox="1"/>
            <p:nvPr/>
          </p:nvSpPr>
          <p:spPr>
            <a:xfrm>
              <a:off x="7324344" y="4422953"/>
              <a:ext cx="2636215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DA4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, 12(3), 1–20. https://doi.org/10.xxxx/xxxxx</a:t>
              </a:r>
              <a:endParaRPr lang="en-US" sz="900" dirty="0"/>
            </a:p>
          </p:txBody>
        </p:sp>
        <p:sp>
          <p:nvSpPr>
            <p:cNvPr id="36" name="Shape 29"/>
            <p:cNvSpPr/>
            <p:nvPr/>
          </p:nvSpPr>
          <p:spPr>
            <a:xfrm>
              <a:off x="6676949" y="5356555"/>
              <a:ext cx="381305" cy="381305"/>
            </a:xfrm>
            <a:prstGeom prst="roundRect">
              <a:avLst>
                <a:gd name="adj" fmla="val 47962"/>
              </a:avLst>
            </a:prstGeom>
            <a:solidFill>
              <a:srgbClr val="F43F5E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7" name="Image 5" descr="preencoded.png"/>
            <p:cNvPicPr>
              <a:picLocks noChangeAspect="1"/>
            </p:cNvPicPr>
            <p:nvPr/>
          </p:nvPicPr>
          <p:blipFill>
            <a:blip r:embed="rId8"/>
            <a:srcRect l="-1082" r="-1082"/>
            <a:stretch/>
          </p:blipFill>
          <p:spPr>
            <a:xfrm>
              <a:off x="6786677" y="5456225"/>
              <a:ext cx="161849" cy="181051"/>
            </a:xfrm>
            <a:prstGeom prst="rect">
              <a:avLst/>
            </a:prstGeom>
          </p:spPr>
        </p:pic>
        <p:sp>
          <p:nvSpPr>
            <p:cNvPr id="38" name="Text 30"/>
            <p:cNvSpPr txBox="1"/>
            <p:nvPr/>
          </p:nvSpPr>
          <p:spPr>
            <a:xfrm>
              <a:off x="7248449" y="5356555"/>
              <a:ext cx="1353312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단행본 (Book)</a:t>
              </a:r>
              <a:endParaRPr lang="en-US" sz="1500" dirty="0"/>
            </a:p>
          </p:txBody>
        </p:sp>
        <p:sp>
          <p:nvSpPr>
            <p:cNvPr id="39" name="Text 31"/>
            <p:cNvSpPr txBox="1"/>
            <p:nvPr/>
          </p:nvSpPr>
          <p:spPr>
            <a:xfrm>
              <a:off x="7248449" y="5718658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저자. (연도).</a:t>
              </a:r>
              <a:endParaRPr lang="en-US" sz="1200" dirty="0"/>
            </a:p>
          </p:txBody>
        </p:sp>
        <p:sp>
          <p:nvSpPr>
            <p:cNvPr id="40" name="Text 32"/>
            <p:cNvSpPr txBox="1"/>
            <p:nvPr/>
          </p:nvSpPr>
          <p:spPr>
            <a:xfrm>
              <a:off x="8040319" y="5718658"/>
              <a:ext cx="92445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i="1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서명(이탤릭)</a:t>
              </a:r>
              <a:endParaRPr lang="en-US" sz="1200" dirty="0"/>
            </a:p>
          </p:txBody>
        </p:sp>
        <p:sp>
          <p:nvSpPr>
            <p:cNvPr id="41" name="Text 33"/>
            <p:cNvSpPr txBox="1"/>
            <p:nvPr/>
          </p:nvSpPr>
          <p:spPr>
            <a:xfrm>
              <a:off x="8844077" y="5718658"/>
              <a:ext cx="66751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 출판사.</a:t>
              </a:r>
              <a:endParaRPr lang="en-US" sz="1200" dirty="0"/>
            </a:p>
          </p:txBody>
        </p:sp>
        <p:sp>
          <p:nvSpPr>
            <p:cNvPr id="42" name="Shape 34"/>
            <p:cNvSpPr/>
            <p:nvPr/>
          </p:nvSpPr>
          <p:spPr>
            <a:xfrm>
              <a:off x="7248449" y="6038698"/>
              <a:ext cx="3791102" cy="448056"/>
            </a:xfrm>
            <a:prstGeom prst="roundRect">
              <a:avLst>
                <a:gd name="adj" fmla="val 17369"/>
              </a:avLst>
            </a:prstGeom>
            <a:solidFill>
              <a:srgbClr val="F43F5E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35"/>
            <p:cNvSpPr txBox="1"/>
            <p:nvPr/>
          </p:nvSpPr>
          <p:spPr>
            <a:xfrm>
              <a:off x="7324344" y="6095390"/>
              <a:ext cx="1217066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DA4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Lee, M. (2026).</a:t>
              </a:r>
              <a:endParaRPr lang="en-US" sz="900" dirty="0"/>
            </a:p>
          </p:txBody>
        </p:sp>
        <p:sp>
          <p:nvSpPr>
            <p:cNvPr id="44" name="Text 36"/>
            <p:cNvSpPr txBox="1"/>
            <p:nvPr/>
          </p:nvSpPr>
          <p:spPr>
            <a:xfrm>
              <a:off x="8442655" y="6095390"/>
              <a:ext cx="1741018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FDA4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Academic Writing Guide</a:t>
              </a:r>
              <a:endParaRPr lang="en-US" sz="900" dirty="0"/>
            </a:p>
          </p:txBody>
        </p:sp>
        <p:sp>
          <p:nvSpPr>
            <p:cNvPr id="45" name="Text 37"/>
            <p:cNvSpPr txBox="1"/>
            <p:nvPr/>
          </p:nvSpPr>
          <p:spPr>
            <a:xfrm>
              <a:off x="7324344" y="6095390"/>
              <a:ext cx="3379622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DA4A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. Seoul Press.</a:t>
              </a:r>
              <a:endParaRPr lang="en-US" sz="900" dirty="0"/>
            </a:p>
          </p:txBody>
        </p:sp>
        <p:sp>
          <p:nvSpPr>
            <p:cNvPr id="46" name="Shape 38"/>
            <p:cNvSpPr/>
            <p:nvPr/>
          </p:nvSpPr>
          <p:spPr>
            <a:xfrm>
              <a:off x="5810098" y="3390595"/>
              <a:ext cx="571500" cy="571500"/>
            </a:xfrm>
            <a:prstGeom prst="ellipse">
              <a:avLst/>
            </a:prstGeom>
            <a:solidFill>
              <a:srgbClr val="0F172A"/>
            </a:solidFill>
            <a:ln w="25400">
              <a:solidFill>
                <a:srgbClr val="FFFFFF">
                  <a:alpha val="10000"/>
                </a:srgbClr>
              </a:solidFill>
              <a:prstDash val="solid"/>
            </a:ln>
            <a:effectLst>
              <a:outerShdw blurRad="12700" dist="12700" dir="16200000" algn="bl" rotWithShape="0">
                <a:srgbClr val="0F172A">
                  <a:alpha val="10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39"/>
            <p:cNvSpPr txBox="1"/>
            <p:nvPr/>
          </p:nvSpPr>
          <p:spPr>
            <a:xfrm>
              <a:off x="5980176" y="3539642"/>
              <a:ext cx="375818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VS</a:t>
              </a:r>
              <a:endParaRPr lang="en-US" sz="1400" dirty="0"/>
            </a:p>
          </p:txBody>
        </p:sp>
      </p:grp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3810305" cy="3810305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7242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MLA 스타일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952805"/>
            <a:ext cx="5143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MLA 예시 (본문 / Works Cited)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543507"/>
            <a:ext cx="41010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 분야의 표준인 MLA 스타일의 핵심 표기법입니다.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1695" y="2085746"/>
            <a:ext cx="5143500" cy="3965401"/>
          </a:xfrm>
          <a:prstGeom prst="roundRect">
            <a:avLst>
              <a:gd name="adj" fmla="val 755"/>
            </a:avLst>
          </a:prstGeom>
          <a:solidFill>
            <a:srgbClr val="1E293B">
              <a:alpha val="50000"/>
            </a:srgbClr>
          </a:solidFill>
          <a:ln w="508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2144" y="2409444"/>
            <a:ext cx="4362602" cy="314554"/>
          </a:xfrm>
          <a:prstGeom prst="roundRect">
            <a:avLst>
              <a:gd name="adj" fmla="val 290697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1285646" y="2497226"/>
            <a:ext cx="123444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85900" y="2467051"/>
            <a:ext cx="650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내주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52144" y="4137660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52144" y="290870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38098" y="2994660"/>
            <a:ext cx="171907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47749" y="2908706"/>
            <a:ext cx="136062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저자명 포함 문장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647749" y="3219602"/>
            <a:ext cx="31473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문장에 저자가 언급되면 괄호에 페이지만 적습니다.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647749" y="3507638"/>
            <a:ext cx="3038551" cy="437998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647749" y="3507638"/>
            <a:ext cx="28346" cy="43799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790395" y="3612794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Hong and Kim argue... (15).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152144" y="432968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1647749" y="4329684"/>
            <a:ext cx="10369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괄호 안 표기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647749" y="4640580"/>
            <a:ext cx="32333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 미언급 시 (성 페이지)로 표기합니다. 쉼표 없음.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647749" y="4928616"/>
            <a:ext cx="3124505" cy="437998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1647749" y="4928616"/>
            <a:ext cx="28346" cy="43799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1790395" y="5033772"/>
            <a:ext cx="29379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Citations are crucial... (Hong and Kim 15).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86500" y="2085746"/>
            <a:ext cx="5143500" cy="3965401"/>
          </a:xfrm>
          <a:prstGeom prst="roundRect">
            <a:avLst>
              <a:gd name="adj" fmla="val 755"/>
            </a:avLst>
          </a:prstGeom>
          <a:solidFill>
            <a:srgbClr val="1E293B">
              <a:alpha val="30000"/>
            </a:srgbClr>
          </a:solidFill>
          <a:ln w="508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6676949" y="2409444"/>
            <a:ext cx="4362602" cy="314554"/>
          </a:xfrm>
          <a:prstGeom prst="roundRect">
            <a:avLst>
              <a:gd name="adj" fmla="val 290697"/>
            </a:avLst>
          </a:prstGeom>
          <a:solidFill>
            <a:srgbClr val="F43F5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10451" y="2497226"/>
            <a:ext cx="133502" cy="13350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019849" y="2467051"/>
            <a:ext cx="6025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676949" y="3623767"/>
            <a:ext cx="43626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6676949" y="290870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43F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t="-2725" b="-2725"/>
          <a:stretch/>
        </p:blipFill>
        <p:spPr>
          <a:xfrm>
            <a:off x="6776618" y="2994660"/>
            <a:ext cx="142646" cy="171907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172554" y="2908706"/>
            <a:ext cx="8275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구조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7172554" y="3219602"/>
            <a:ext cx="35954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저자. 제목. 컨테이너, 출판사, 연도, 위치(p/pp/DOI) 순서.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676949" y="382219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43F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6786677" y="3908146"/>
            <a:ext cx="123444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172554" y="3822192"/>
            <a:ext cx="19604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예시 (2026년 기준)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7172554" y="4133088"/>
            <a:ext cx="17382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저널 논문 표기 예시입니다.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7172554" y="4421124"/>
            <a:ext cx="3866998" cy="638251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7172554" y="4421124"/>
            <a:ext cx="28346" cy="638251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 txBox="1"/>
          <p:nvPr/>
        </p:nvSpPr>
        <p:spPr>
          <a:xfrm>
            <a:off x="7315200" y="4526280"/>
            <a:ext cx="359542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Hong, Jin, and Soo Kim. "Title." Journal Name, vol. 12, no. 3, 2026, pp. 1–20. doi...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5857646" y="3191256"/>
            <a:ext cx="476402" cy="476402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7"/>
          <p:cNvSpPr txBox="1"/>
          <p:nvPr/>
        </p:nvSpPr>
        <p:spPr>
          <a:xfrm>
            <a:off x="5999378" y="3314700"/>
            <a:ext cx="314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2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38BDF8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724205"/>
            <a:ext cx="1662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이공계열 분야의 표기 방식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952805"/>
            <a:ext cx="3743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번호주(IEEE) 기본/예시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543507"/>
            <a:ext cx="6120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본문에서는 대괄호 숫자로 간결하게 표시하고, 참고문헌에서 상세 정보를 제공합니다.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1695" y="2180844"/>
            <a:ext cx="5143500" cy="3628532"/>
          </a:xfrm>
          <a:prstGeom prst="roundRect">
            <a:avLst>
              <a:gd name="adj" fmla="val 790"/>
            </a:avLst>
          </a:prstGeom>
          <a:solidFill>
            <a:srgbClr val="1E293B">
              <a:alpha val="50000"/>
            </a:srgbClr>
          </a:solidFill>
          <a:ln w="508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52144" y="2553005"/>
            <a:ext cx="4362602" cy="362102"/>
          </a:xfrm>
          <a:prstGeom prst="roundRect">
            <a:avLst>
              <a:gd name="adj" fmla="val 252526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1304849" y="2665476"/>
            <a:ext cx="142646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24305" y="2628900"/>
            <a:ext cx="99852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표기 규칙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52144" y="3139135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762049" y="3139135"/>
            <a:ext cx="1629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대괄호 [번호] 사용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762049" y="3501238"/>
            <a:ext cx="38295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저자명이나 인용된 문장 끝에 대괄호로 번호를 매깁니다. 번호는 본문에 등장하는 순서대로 부여합니다.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152144" y="4274820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1276502" y="4389120"/>
            <a:ext cx="171907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762049" y="4274820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예시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762049" y="4636922"/>
            <a:ext cx="380116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알고리즘은 기존 방식보다 처리 속도를 2배 향상시켰다 [1]."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86500" y="2180844"/>
            <a:ext cx="5143500" cy="3628532"/>
          </a:xfrm>
          <a:prstGeom prst="roundRect">
            <a:avLst>
              <a:gd name="adj" fmla="val 790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676949" y="2553005"/>
            <a:ext cx="4362602" cy="362102"/>
          </a:xfrm>
          <a:prstGeom prst="roundRect">
            <a:avLst>
              <a:gd name="adj" fmla="val 252526"/>
            </a:avLst>
          </a:prstGeom>
          <a:solidFill>
            <a:srgbClr val="0EA5E9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3425" r="-3425"/>
          <a:stretch/>
        </p:blipFill>
        <p:spPr>
          <a:xfrm>
            <a:off x="6829654" y="2665476"/>
            <a:ext cx="142646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48195" y="2628900"/>
            <a:ext cx="17510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 (REFERENCES)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676949" y="3139135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0EA5E9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6776618" y="3253435"/>
            <a:ext cx="219456" cy="19019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86854" y="3139135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순서대로 정렬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286854" y="3501238"/>
            <a:ext cx="368686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저자명의 알파벳 순서가 아닌, 본문에서 인용된 번호 순서([1], [2]...)대로 목록을 작성합니다.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676949" y="4274820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0EA5E9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801307" y="4389120"/>
            <a:ext cx="171907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286854" y="4274820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예시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286854" y="4665269"/>
            <a:ext cx="25914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[1] J. K. Author, "Title of paper,"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926934" y="4908499"/>
            <a:ext cx="23152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Abbrev. Title of Journal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286854" y="4908499"/>
            <a:ext cx="37819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vol. x, no. x, pp. xxx-xxx, year.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857646" y="3191256"/>
            <a:ext cx="476402" cy="476402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>
                <a:alpha val="30000"/>
              </a:srgbClr>
            </a:solidFill>
            <a:prstDash val="solid"/>
          </a:ln>
          <a:effectLst>
            <a:outerShdw blurRad="12700" dist="12700" dir="162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l="-1082" r="-1082"/>
          <a:stretch/>
        </p:blipFill>
        <p:spPr>
          <a:xfrm>
            <a:off x="6014923" y="3338474"/>
            <a:ext cx="161849" cy="181051"/>
          </a:xfrm>
          <a:prstGeom prst="rect">
            <a:avLst/>
          </a:prstGeom>
        </p:spPr>
      </p:pic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915" y="-38318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3810305" cy="3810305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61695" y="685800"/>
            <a:ext cx="43434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각주/미주(Chicago) 표기법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47065" y="1175242"/>
            <a:ext cx="6587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 분야에서 주로 사용하며, 본문 흐름을 방해하지 않기 위해 윗첨자 번호를 사용합니다.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1695" y="1630534"/>
            <a:ext cx="5143500" cy="4967408"/>
          </a:xfrm>
          <a:prstGeom prst="roundRect">
            <a:avLst>
              <a:gd name="adj" fmla="val 527"/>
            </a:avLst>
          </a:prstGeom>
          <a:solidFill>
            <a:srgbClr val="1E293B">
              <a:alpha val="50000"/>
            </a:srgbClr>
          </a:solidFill>
          <a:ln w="508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04595" y="1863861"/>
            <a:ext cx="4457700" cy="362102"/>
          </a:xfrm>
          <a:prstGeom prst="roundRect">
            <a:avLst>
              <a:gd name="adj" fmla="val 252526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1257300" y="1976333"/>
            <a:ext cx="142646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76756" y="1939757"/>
            <a:ext cx="18269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및 각주 (FOOTNOTE)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1104595" y="2449992"/>
            <a:ext cx="105156" cy="1234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09751" y="2449992"/>
            <a:ext cx="20427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문장 끝에 윗첨자 번호 표기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1104595" y="2781919"/>
            <a:ext cx="105156" cy="1234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09751" y="2781919"/>
            <a:ext cx="30806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하단(각주) 또는 챕터 뒤(미주)에 상세 정보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1104595" y="3112932"/>
            <a:ext cx="105156" cy="1234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09751" y="3112932"/>
            <a:ext cx="2985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저자명: 이름(First Name) 성(Last Name) 순서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1104595" y="3444859"/>
            <a:ext cx="105156" cy="1234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09751" y="3444859"/>
            <a:ext cx="27093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출판 정보: 괄호 안에 (출판지: 출판사, 연도)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86500" y="1630534"/>
            <a:ext cx="5143500" cy="4967408"/>
          </a:xfrm>
          <a:prstGeom prst="roundRect">
            <a:avLst>
              <a:gd name="adj" fmla="val 527"/>
            </a:avLst>
          </a:prstGeom>
          <a:solidFill>
            <a:srgbClr val="1E293B">
              <a:alpha val="30000"/>
            </a:srgbClr>
          </a:solidFill>
          <a:ln w="508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2"/>
          <p:cNvSpPr/>
          <p:nvPr/>
        </p:nvSpPr>
        <p:spPr>
          <a:xfrm>
            <a:off x="6629400" y="1863861"/>
            <a:ext cx="4457700" cy="362102"/>
          </a:xfrm>
          <a:prstGeom prst="roundRect">
            <a:avLst>
              <a:gd name="adj" fmla="val 252526"/>
            </a:avLst>
          </a:prstGeom>
          <a:solidFill>
            <a:srgbClr val="F43F5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rcRect l="-3425" r="-3425"/>
          <a:stretch/>
        </p:blipFill>
        <p:spPr>
          <a:xfrm>
            <a:off x="6782105" y="1976333"/>
            <a:ext cx="142646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00646" y="1939757"/>
            <a:ext cx="19037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 (BIBLIOGRAPHY)</a:t>
            </a:r>
            <a:endParaRPr lang="en-US" sz="1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rcRect t="-2012" b="-2012"/>
          <a:stretch/>
        </p:blipFill>
        <p:spPr>
          <a:xfrm>
            <a:off x="6629400" y="2449992"/>
            <a:ext cx="133502" cy="12344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762902" y="2449992"/>
            <a:ext cx="20427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맨 뒤에 별도 페이지로 작성</a:t>
            </a:r>
            <a:endParaRPr lang="en-US" sz="11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rcRect t="-2012" b="-2012"/>
          <a:stretch/>
        </p:blipFill>
        <p:spPr>
          <a:xfrm>
            <a:off x="6629400" y="2781919"/>
            <a:ext cx="133502" cy="12344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762902" y="2781919"/>
            <a:ext cx="30330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저자명: 성(Last Name), 이름(First Name) 순서</a:t>
            </a:r>
            <a:endParaRPr lang="en-US" sz="11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6"/>
          <a:srcRect t="-2012" b="-2012"/>
          <a:stretch/>
        </p:blipFill>
        <p:spPr>
          <a:xfrm>
            <a:off x="6629400" y="3112932"/>
            <a:ext cx="133502" cy="123444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762902" y="3112932"/>
            <a:ext cx="23573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출판 정보: 괄호 없이 마침표(.)로 구분</a:t>
            </a:r>
            <a:endParaRPr lang="en-US" sz="11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6"/>
          <a:srcRect t="-2012" b="-2012"/>
          <a:stretch/>
        </p:blipFill>
        <p:spPr>
          <a:xfrm>
            <a:off x="6629400" y="3444859"/>
            <a:ext cx="133502" cy="123444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6762902" y="3444859"/>
            <a:ext cx="27569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번째 줄부터 들여쓰기 (Hanging Indent)</a:t>
            </a:r>
            <a:endParaRPr lang="en-US" sz="11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56468F6-AB38-CF05-34D0-8CB68F4D4360}"/>
              </a:ext>
            </a:extLst>
          </p:cNvPr>
          <p:cNvGrpSpPr/>
          <p:nvPr/>
        </p:nvGrpSpPr>
        <p:grpSpPr>
          <a:xfrm>
            <a:off x="1104594" y="3679860"/>
            <a:ext cx="9982505" cy="2668220"/>
            <a:chOff x="1104595" y="4026417"/>
            <a:chExt cx="9982505" cy="2668220"/>
          </a:xfrm>
        </p:grpSpPr>
        <p:sp>
          <p:nvSpPr>
            <p:cNvPr id="20" name="Shape 13"/>
            <p:cNvSpPr/>
            <p:nvPr/>
          </p:nvSpPr>
          <p:spPr>
            <a:xfrm>
              <a:off x="1104595" y="4109628"/>
              <a:ext cx="4457700" cy="1248156"/>
            </a:xfrm>
            <a:prstGeom prst="roundRect">
              <a:avLst>
                <a:gd name="adj" fmla="val 4474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4"/>
            <p:cNvSpPr/>
            <p:nvPr/>
          </p:nvSpPr>
          <p:spPr>
            <a:xfrm>
              <a:off x="1304849" y="4576886"/>
              <a:ext cx="4058107" cy="9144"/>
            </a:xfrm>
            <a:prstGeom prst="rect">
              <a:avLst/>
            </a:prstGeom>
            <a:solidFill>
              <a:srgbClr val="37415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15"/>
            <p:cNvSpPr txBox="1"/>
            <p:nvPr/>
          </p:nvSpPr>
          <p:spPr>
            <a:xfrm>
              <a:off x="1304849" y="4309881"/>
              <a:ext cx="63367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본문 예시</a:t>
              </a:r>
              <a:endParaRPr lang="en-US" sz="1000" dirty="0"/>
            </a:p>
          </p:txBody>
        </p:sp>
        <p:sp>
          <p:nvSpPr>
            <p:cNvPr id="23" name="Text 16"/>
            <p:cNvSpPr txBox="1"/>
            <p:nvPr/>
          </p:nvSpPr>
          <p:spPr>
            <a:xfrm>
              <a:off x="1304849" y="4661925"/>
              <a:ext cx="4048963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역사는 과거와 현재의 끊임없는 대화이다1. 이러한 관점은 현대 역사학의 기초가 되었다.</a:t>
              </a:r>
              <a:endParaRPr lang="en-US" sz="1200" dirty="0"/>
            </a:p>
          </p:txBody>
        </p:sp>
        <p:sp>
          <p:nvSpPr>
            <p:cNvPr id="24" name="Shape 17"/>
            <p:cNvSpPr/>
            <p:nvPr/>
          </p:nvSpPr>
          <p:spPr>
            <a:xfrm>
              <a:off x="1104595" y="5492201"/>
              <a:ext cx="4457700" cy="1133856"/>
            </a:xfrm>
            <a:prstGeom prst="roundRect">
              <a:avLst>
                <a:gd name="adj" fmla="val 5422"/>
              </a:avLst>
            </a:prstGeom>
            <a:solidFill>
              <a:srgbClr val="38BDF8">
                <a:alpha val="5000"/>
              </a:srgbClr>
            </a:solidFill>
            <a:ln w="12700">
              <a:solidFill>
                <a:srgbClr val="38BDF8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Shape 18"/>
            <p:cNvSpPr/>
            <p:nvPr/>
          </p:nvSpPr>
          <p:spPr>
            <a:xfrm>
              <a:off x="1304849" y="5959459"/>
              <a:ext cx="4058107" cy="9144"/>
            </a:xfrm>
            <a:prstGeom prst="rect">
              <a:avLst/>
            </a:prstGeom>
            <a:solidFill>
              <a:srgbClr val="37415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19"/>
            <p:cNvSpPr txBox="1"/>
            <p:nvPr/>
          </p:nvSpPr>
          <p:spPr>
            <a:xfrm>
              <a:off x="1304849" y="5692454"/>
              <a:ext cx="91988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하단 각주 예시</a:t>
              </a:r>
              <a:endParaRPr lang="en-US" sz="1000" dirty="0"/>
            </a:p>
          </p:txBody>
        </p:sp>
        <p:sp>
          <p:nvSpPr>
            <p:cNvPr id="27" name="Text 20"/>
            <p:cNvSpPr txBox="1"/>
            <p:nvPr/>
          </p:nvSpPr>
          <p:spPr>
            <a:xfrm>
              <a:off x="1304849" y="6044498"/>
              <a:ext cx="3910889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1. Jin Hong and Soo Kim, Title of the Book (Seoul: Publisher, 2026), 15.</a:t>
              </a:r>
              <a:endParaRPr lang="en-US" sz="1000" dirty="0"/>
            </a:p>
          </p:txBody>
        </p:sp>
        <p:sp>
          <p:nvSpPr>
            <p:cNvPr id="40" name="Shape 28"/>
            <p:cNvSpPr/>
            <p:nvPr/>
          </p:nvSpPr>
          <p:spPr>
            <a:xfrm>
              <a:off x="6629400" y="4109628"/>
              <a:ext cx="4457700" cy="1886407"/>
            </a:xfrm>
            <a:prstGeom prst="roundRect">
              <a:avLst>
                <a:gd name="adj" fmla="val 1959"/>
              </a:avLst>
            </a:prstGeom>
            <a:solidFill>
              <a:srgbClr val="0F172A">
                <a:alpha val="60000"/>
              </a:srgbClr>
            </a:soli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29"/>
            <p:cNvSpPr/>
            <p:nvPr/>
          </p:nvSpPr>
          <p:spPr>
            <a:xfrm>
              <a:off x="6829654" y="4576886"/>
              <a:ext cx="4058107" cy="9144"/>
            </a:xfrm>
            <a:prstGeom prst="rect">
              <a:avLst/>
            </a:prstGeom>
            <a:solidFill>
              <a:srgbClr val="37415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30"/>
            <p:cNvSpPr txBox="1"/>
            <p:nvPr/>
          </p:nvSpPr>
          <p:spPr>
            <a:xfrm>
              <a:off x="6829654" y="4309881"/>
              <a:ext cx="170992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참고문헌 리스트 예시 (2026)</a:t>
              </a:r>
              <a:endParaRPr lang="en-US" sz="1000" dirty="0"/>
            </a:p>
          </p:txBody>
        </p:sp>
        <p:sp>
          <p:nvSpPr>
            <p:cNvPr id="43" name="Text 31"/>
            <p:cNvSpPr txBox="1"/>
            <p:nvPr/>
          </p:nvSpPr>
          <p:spPr>
            <a:xfrm>
              <a:off x="7134149" y="4661925"/>
              <a:ext cx="3610051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Hong, Jin, and Soo Kim. Title of the Book. Seoul: Publisher, 2026.</a:t>
              </a:r>
              <a:endParaRPr lang="en-US" sz="1200" dirty="0"/>
            </a:p>
          </p:txBody>
        </p:sp>
        <p:sp>
          <p:nvSpPr>
            <p:cNvPr id="44" name="Text 32"/>
            <p:cNvSpPr txBox="1"/>
            <p:nvPr/>
          </p:nvSpPr>
          <p:spPr>
            <a:xfrm>
              <a:off x="7134149" y="5302005"/>
              <a:ext cx="3743554" cy="47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2E8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Lee, Min-Su. "Article Title." Journal Name 15, no. 2 (2026): 45–67.</a:t>
              </a:r>
              <a:endParaRPr lang="en-US" sz="1200" dirty="0"/>
            </a:p>
          </p:txBody>
        </p:sp>
        <p:sp>
          <p:nvSpPr>
            <p:cNvPr id="45" name="Shape 33"/>
            <p:cNvSpPr/>
            <p:nvPr/>
          </p:nvSpPr>
          <p:spPr>
            <a:xfrm>
              <a:off x="6629400" y="6142339"/>
              <a:ext cx="4457700" cy="552298"/>
            </a:xfrm>
            <a:prstGeom prst="roundRect">
              <a:avLst>
                <a:gd name="adj" fmla="val 11418"/>
              </a:avLst>
            </a:prstGeom>
            <a:solidFill>
              <a:srgbClr val="7F1D1D">
                <a:alpha val="20000"/>
              </a:srgbClr>
            </a:solidFill>
            <a:ln w="12700">
              <a:solidFill>
                <a:srgbClr val="EF4444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34"/>
            <p:cNvSpPr txBox="1"/>
            <p:nvPr/>
          </p:nvSpPr>
          <p:spPr>
            <a:xfrm>
              <a:off x="6752844" y="6256639"/>
              <a:ext cx="4210812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주의: 각주와 참고문헌은 저자명 순서와 구두점(콤마 vs 마침표) 형식이 다르므로 혼동하지 않도록 주의하세요.</a:t>
              </a:r>
              <a:endParaRPr lang="en-US" sz="900" dirty="0"/>
            </a:p>
          </p:txBody>
        </p:sp>
        <p:sp>
          <p:nvSpPr>
            <p:cNvPr id="47" name="Shape 35"/>
            <p:cNvSpPr/>
            <p:nvPr/>
          </p:nvSpPr>
          <p:spPr>
            <a:xfrm>
              <a:off x="5857646" y="4026417"/>
              <a:ext cx="476402" cy="476402"/>
            </a:xfrm>
            <a:prstGeom prst="ellipse">
              <a:avLst/>
            </a:prstGeom>
            <a:solidFill>
              <a:srgbClr val="0F172A"/>
            </a:solidFill>
            <a:ln w="25400">
              <a:solidFill>
                <a:srgbClr val="FFFFFF">
                  <a:alpha val="10000"/>
                </a:srgbClr>
              </a:solidFill>
              <a:prstDash val="solid"/>
            </a:ln>
            <a:effectLst>
              <a:outerShdw blurRad="12700" dist="12700" dir="16200000" algn="bl" rotWithShape="0">
                <a:srgbClr val="0F172A">
                  <a:alpha val="10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36"/>
            <p:cNvSpPr txBox="1"/>
            <p:nvPr/>
          </p:nvSpPr>
          <p:spPr>
            <a:xfrm>
              <a:off x="6011266" y="4150776"/>
              <a:ext cx="2862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vs</a:t>
              </a:r>
              <a:endParaRPr lang="en-US" sz="1200" dirty="0"/>
            </a:p>
          </p:txBody>
        </p:sp>
      </p:grpSp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5518" y="0"/>
            <a:ext cx="12435088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719881"/>
            <a:ext cx="5323594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00354" y="195762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86307" y="2034435"/>
            <a:ext cx="133502" cy="1527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36123" y="1719881"/>
            <a:ext cx="5323594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48349" y="195762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534302" y="2034435"/>
            <a:ext cx="133502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2994705"/>
            <a:ext cx="5323594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000354" y="3233363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86307" y="3309258"/>
            <a:ext cx="133502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36123" y="2994705"/>
            <a:ext cx="5323594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6448349" y="3233363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534302" y="3309258"/>
            <a:ext cx="133502" cy="1527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4291707"/>
            <a:ext cx="5323594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1000354" y="452945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86307" y="4605346"/>
            <a:ext cx="133502" cy="1527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236123" y="4291707"/>
            <a:ext cx="5323594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6448349" y="452945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534302" y="4605346"/>
            <a:ext cx="133502" cy="15270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61695" y="5590114"/>
            <a:ext cx="10798022" cy="838505"/>
          </a:xfrm>
          <a:prstGeom prst="roundRect">
            <a:avLst>
              <a:gd name="adj" fmla="val 14871"/>
            </a:avLst>
          </a:prstGeom>
          <a:solidFill>
            <a:srgbClr val="0EA5E9"/>
          </a:solidFill>
          <a:ln/>
          <a:effectLst>
            <a:outerShdw blurRad="241300" dist="101600" dir="5400000" algn="bl" rotWithShape="0">
              <a:srgbClr val="0EA5E9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1047902" y="5780309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8428" y="5870834"/>
            <a:ext cx="276149" cy="276149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9511589" y="5829686"/>
            <a:ext cx="1638605" cy="362102"/>
          </a:xfrm>
          <a:prstGeom prst="roundRect">
            <a:avLst>
              <a:gd name="adj" fmla="val 252526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9"/>
          <p:cNvSpPr txBox="1"/>
          <p:nvPr/>
        </p:nvSpPr>
        <p:spPr>
          <a:xfrm>
            <a:off x="761695" y="676656"/>
            <a:ext cx="620146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 공통 규칙 체크리스트</a:t>
            </a:r>
            <a:endParaRPr lang="en-US" sz="3600" dirty="0"/>
          </a:p>
        </p:txBody>
      </p:sp>
      <p:sp>
        <p:nvSpPr>
          <p:cNvPr id="29" name="Text 20"/>
          <p:cNvSpPr txBox="1"/>
          <p:nvPr/>
        </p:nvSpPr>
        <p:spPr>
          <a:xfrm>
            <a:off x="761695" y="1399946"/>
            <a:ext cx="61347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전, 아래 6가지 필수 항목을 확인하여 표절 리스크를 사전에 차단하세요.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1457554" y="1957625"/>
            <a:ext cx="21223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인용 ↔ 참고문헌 일치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457554" y="2249319"/>
            <a:ext cx="427116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내 인용된 자료와 참고문헌 목록이 1:1로 정확히 매칭되는지 확인했나요?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6905549" y="1957625"/>
            <a:ext cx="157002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서지 정보 포함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905549" y="2249319"/>
            <a:ext cx="427116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저자, 연도, 제목, 출판사 등 학과 지정 스타일의 필수 정보가 모두 기재되었나요?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1457554" y="3233363"/>
            <a:ext cx="15032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DOI / URL 유효성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1457554" y="3525057"/>
            <a:ext cx="43571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 자료의 DOI 또는 URL이 정확하며 유효한 링크인지 점검했나요?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6905549" y="3233363"/>
            <a:ext cx="152247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스타일 일관성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6905549" y="3525057"/>
            <a:ext cx="428122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구두점, 이탤릭체, 괄호 등 지정 양식의 규칙이 문서 전체에 일관적으로 적용되었나요?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1457554" y="4529451"/>
            <a:ext cx="11987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 표기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1457553" y="4821145"/>
            <a:ext cx="445840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인용은 따옴표("")로, 긴 인용은 블록(들여쓰기)으로 명확히 구분했나요?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6905549" y="4529451"/>
            <a:ext cx="136062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재인용 표기 준수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6905549" y="4821145"/>
            <a:ext cx="445852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불가피한 재인용 시, 원전과 재인용 출처를 양식 규칙에 맞게 모두 표기했나요?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1657807" y="5757449"/>
            <a:ext cx="2895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예방의 핵심은 '성실함'입니다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9664294" y="5905582"/>
            <a:ext cx="1436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 COMPLETE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1657807" y="6014395"/>
            <a:ext cx="54809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사소한 실수라도 반복되면 표절로 오해받을 수 있습니다. 마지막까지 꼼꼼하게 점검하세요.</a:t>
            </a:r>
            <a:endParaRPr lang="en-US" sz="11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ACF01-8D6C-C8E7-B020-880277162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F04CBE-8EA4-C026-782B-D53B3EA992D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EEEDAFA-0049-FEF1-A7BF-2972242A5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6096305" y="0"/>
            <a:ext cx="6096305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941B6172-3774-76F8-3856-14A05871DF0C}"/>
              </a:ext>
            </a:extLst>
          </p:cNvPr>
          <p:cNvSpPr/>
          <p:nvPr/>
        </p:nvSpPr>
        <p:spPr>
          <a:xfrm>
            <a:off x="761695" y="1098194"/>
            <a:ext cx="761695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24B5387-1103-6130-F201-BA93CFF80307}"/>
              </a:ext>
            </a:extLst>
          </p:cNvPr>
          <p:cNvSpPr txBox="1"/>
          <p:nvPr/>
        </p:nvSpPr>
        <p:spPr>
          <a:xfrm>
            <a:off x="761695" y="1459382"/>
            <a:ext cx="8458200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대학생을 위한 인용·출처관리</a:t>
            </a:r>
            <a:endParaRPr lang="en-US" sz="54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434E6D2-9920-EBC9-20F3-8F6254A0CBD4}"/>
              </a:ext>
            </a:extLst>
          </p:cNvPr>
          <p:cNvSpPr txBox="1"/>
          <p:nvPr/>
        </p:nvSpPr>
        <p:spPr>
          <a:xfrm>
            <a:off x="761695" y="2602382"/>
            <a:ext cx="807191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예방과 설득력 있는 리포트를 위한 실전 가이드 및 도구 활용법</a:t>
            </a:r>
            <a:endParaRPr lang="en-US" sz="22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E03FF7F-6487-B5F5-B905-86F13F760696}"/>
              </a:ext>
            </a:extLst>
          </p:cNvPr>
          <p:cNvGrpSpPr/>
          <p:nvPr/>
        </p:nvGrpSpPr>
        <p:grpSpPr>
          <a:xfrm>
            <a:off x="6763359" y="4601302"/>
            <a:ext cx="4762195" cy="1666951"/>
            <a:chOff x="761695" y="4093769"/>
            <a:chExt cx="4762195" cy="1666951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110118E3-B5CA-2FDF-32DC-8043DBDFBA52}"/>
                </a:ext>
              </a:extLst>
            </p:cNvPr>
            <p:cNvSpPr/>
            <p:nvPr/>
          </p:nvSpPr>
          <p:spPr>
            <a:xfrm>
              <a:off x="761695" y="4093769"/>
              <a:ext cx="4762195" cy="1666951"/>
            </a:xfrm>
            <a:prstGeom prst="roundRect">
              <a:avLst>
                <a:gd name="adj" fmla="val 3761"/>
              </a:avLst>
            </a:prstGeom>
            <a:solidFill>
              <a:srgbClr val="FFFFFF">
                <a:alpha val="5000"/>
              </a:srgbClr>
            </a:solidFill>
            <a:ln w="12700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937E00E1-FE8B-160A-7830-83C9911A4003}"/>
                </a:ext>
              </a:extLst>
            </p:cNvPr>
            <p:cNvSpPr/>
            <p:nvPr/>
          </p:nvSpPr>
          <p:spPr>
            <a:xfrm>
              <a:off x="1076249" y="4331513"/>
              <a:ext cx="381305" cy="381305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" name="Image 2" descr="preencoded.png">
              <a:extLst>
                <a:ext uri="{FF2B5EF4-FFF2-40B4-BE49-F238E27FC236}">
                  <a16:creationId xmlns:a16="http://schemas.microsoft.com/office/drawing/2014/main" id="{9947BFAF-165C-E61A-4766-55B657CDE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1064" r="-1064"/>
            <a:stretch/>
          </p:blipFill>
          <p:spPr>
            <a:xfrm>
              <a:off x="1156717" y="4436669"/>
              <a:ext cx="219456" cy="171907"/>
            </a:xfrm>
            <a:prstGeom prst="rect">
              <a:avLst/>
            </a:prstGeom>
          </p:spPr>
        </p:pic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E94E3CF8-30C2-2A26-5635-C912853EBF2E}"/>
                </a:ext>
              </a:extLst>
            </p:cNvPr>
            <p:cNvSpPr/>
            <p:nvPr/>
          </p:nvSpPr>
          <p:spPr>
            <a:xfrm>
              <a:off x="1076249" y="4978908"/>
              <a:ext cx="4134002" cy="9144"/>
            </a:xfrm>
            <a:prstGeom prst="rect">
              <a:avLst/>
            </a:prstGeom>
            <a:solidFill>
              <a:srgbClr val="37415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02BEA2E4-3857-E5E2-6D42-7D31BA71B4C4}"/>
                </a:ext>
              </a:extLst>
            </p:cNvPr>
            <p:cNvSpPr/>
            <p:nvPr/>
          </p:nvSpPr>
          <p:spPr>
            <a:xfrm>
              <a:off x="1076249" y="5140757"/>
              <a:ext cx="381305" cy="381305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3" descr="preencoded.png">
              <a:extLst>
                <a:ext uri="{FF2B5EF4-FFF2-40B4-BE49-F238E27FC236}">
                  <a16:creationId xmlns:a16="http://schemas.microsoft.com/office/drawing/2014/main" id="{48577B06-D0BC-E206-6F9D-0C5447395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181405" y="5245913"/>
              <a:ext cx="171907" cy="171907"/>
            </a:xfrm>
            <a:prstGeom prst="rect">
              <a:avLst/>
            </a:prstGeom>
          </p:spPr>
        </p:pic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0E76CC04-6B7A-11F0-5FA3-C47420C882DF}"/>
                </a:ext>
              </a:extLst>
            </p:cNvPr>
            <p:cNvSpPr txBox="1"/>
            <p:nvPr/>
          </p:nvSpPr>
          <p:spPr>
            <a:xfrm>
              <a:off x="1609802" y="4340657"/>
              <a:ext cx="3638397" cy="3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이 애 본</a:t>
              </a:r>
              <a:b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</a:b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한신대학교 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AI.SW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대학 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hlinkClick r:id="rId6"/>
                </a:rPr>
                <a:t>aebon@hs.ac.kr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 </a:t>
              </a:r>
              <a:endPara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endParaRPr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8103BA08-9CF3-13CE-C63D-B5CBA1BCC7F8}"/>
                </a:ext>
              </a:extLst>
            </p:cNvPr>
            <p:cNvSpPr txBox="1"/>
            <p:nvPr/>
          </p:nvSpPr>
          <p:spPr>
            <a:xfrm>
              <a:off x="1571854" y="5188306"/>
              <a:ext cx="1781251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주제: 인용·출처관리</a:t>
              </a:r>
              <a:endParaRPr lang="en-US" sz="1500" dirty="0"/>
            </a:p>
          </p:txBody>
        </p:sp>
      </p:grpSp>
      <p:sp>
        <p:nvSpPr>
          <p:cNvPr id="20" name="Text 9">
            <a:extLst>
              <a:ext uri="{FF2B5EF4-FFF2-40B4-BE49-F238E27FC236}">
                <a16:creationId xmlns:a16="http://schemas.microsoft.com/office/drawing/2014/main" id="{2A30252B-8CCB-94ED-D8C0-87019171C334}"/>
              </a:ext>
            </a:extLst>
          </p:cNvPr>
          <p:cNvSpPr txBox="1"/>
          <p:nvPr/>
        </p:nvSpPr>
        <p:spPr>
          <a:xfrm>
            <a:off x="628676" y="5667156"/>
            <a:ext cx="4417109" cy="48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</a:t>
            </a:r>
            <a:r>
              <a:rPr lang="en-US" altLang="ko-KR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창의력</a:t>
            </a:r>
            <a:r>
              <a:rPr lang="en-US" altLang="ko-KR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복합문제능력 향상 과정</a:t>
            </a:r>
            <a:endParaRPr lang="en-US" altLang="ko-KR" b="1" dirty="0">
              <a:solidFill>
                <a:srgbClr val="D1D5D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https://padlet.com/aebon/create26</a:t>
            </a:r>
            <a:endParaRPr lang="en-US" b="1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  <p:extLst>
      <p:ext uri="{BB962C8B-B14F-4D97-AF65-F5344CB8AC3E}">
        <p14:creationId xmlns:p14="http://schemas.microsoft.com/office/powerpoint/2010/main" val="185617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791417"/>
            <a:ext cx="5229454" cy="1114654"/>
          </a:xfrm>
          <a:prstGeom prst="roundRect">
            <a:avLst>
              <a:gd name="adj" fmla="val 841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81151" y="2009958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0879" y="2086768"/>
            <a:ext cx="66751" cy="1335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00546" y="1791417"/>
            <a:ext cx="5229454" cy="1114654"/>
          </a:xfrm>
          <a:prstGeom prst="roundRect">
            <a:avLst>
              <a:gd name="adj" fmla="val 841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20002" y="2009958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519672" y="2086768"/>
            <a:ext cx="85954" cy="1335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3112725"/>
            <a:ext cx="5229454" cy="1114654"/>
          </a:xfrm>
          <a:prstGeom prst="roundRect">
            <a:avLst>
              <a:gd name="adj" fmla="val 841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81151" y="3331266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1080821" y="3408076"/>
            <a:ext cx="85954" cy="13350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00546" y="3112725"/>
            <a:ext cx="5229454" cy="1114654"/>
          </a:xfrm>
          <a:prstGeom prst="roundRect">
            <a:avLst>
              <a:gd name="adj" fmla="val 841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6420002" y="3331266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6510528" y="3408076"/>
            <a:ext cx="105156" cy="13350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4434033"/>
            <a:ext cx="5229454" cy="1114654"/>
          </a:xfrm>
          <a:prstGeom prst="roundRect">
            <a:avLst>
              <a:gd name="adj" fmla="val 841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81151" y="4652574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1080821" y="4729384"/>
            <a:ext cx="85954" cy="13350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200546" y="4434033"/>
            <a:ext cx="5229454" cy="1114654"/>
          </a:xfrm>
          <a:prstGeom prst="roundRect">
            <a:avLst>
              <a:gd name="adj" fmla="val 841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6420002" y="4652574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6519672" y="4729384"/>
            <a:ext cx="85954" cy="13350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61695" y="5783687"/>
            <a:ext cx="10668305" cy="761695"/>
          </a:xfrm>
          <a:prstGeom prst="roundRect">
            <a:avLst>
              <a:gd name="adj" fmla="val 18007"/>
            </a:avLst>
          </a:prstGeom>
          <a:solidFill>
            <a:srgbClr val="0EA5E9"/>
          </a:solidFill>
          <a:ln/>
          <a:effectLst>
            <a:outerShdw blurRad="241300" dist="101600" dir="5400000" algn="bl" rotWithShape="0">
              <a:srgbClr val="0EA5E9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1000354" y="5954680"/>
            <a:ext cx="418795" cy="41879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86307" y="6040633"/>
            <a:ext cx="247802" cy="247802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10372954" y="5991256"/>
            <a:ext cx="819302" cy="352044"/>
          </a:xfrm>
          <a:prstGeom prst="roundRect">
            <a:avLst>
              <a:gd name="adj" fmla="val 259740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9"/>
          <p:cNvSpPr txBox="1"/>
          <p:nvPr/>
        </p:nvSpPr>
        <p:spPr>
          <a:xfrm>
            <a:off x="761695" y="676656"/>
            <a:ext cx="53346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인용의 10가지 원칙 (1/2)</a:t>
            </a:r>
            <a:endParaRPr lang="en-US" sz="3600" dirty="0"/>
          </a:p>
        </p:txBody>
      </p:sp>
      <p:sp>
        <p:nvSpPr>
          <p:cNvPr id="29" name="Text 20"/>
          <p:cNvSpPr txBox="1"/>
          <p:nvPr/>
        </p:nvSpPr>
        <p:spPr>
          <a:xfrm>
            <a:off x="761695" y="1399946"/>
            <a:ext cx="5048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글쓰기의 품격을 높이는 6가지 기본 원칙을 확인하세요.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1419149" y="2009958"/>
            <a:ext cx="18598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자료 인용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419149" y="2290679"/>
            <a:ext cx="439917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가치가 충분한 자료만 인용하며, 신빙성이 낮거나 출처가 불분명한 부정확한 자료는 배제합니다.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6858000" y="2009958"/>
            <a:ext cx="15069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인용 출처 명시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858000" y="2290679"/>
            <a:ext cx="431322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상식에 해당하는 일반 지식이 아닌 한, 인용한 모든 아이디어와 문장에 대해 출처를 분명히 밝혀야 합니다.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1419149" y="3331266"/>
            <a:ext cx="16596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자료 형태 표기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1419149" y="3611987"/>
            <a:ext cx="442752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글뿐만 아니라 통계, 도표, 그림, 데이터 등 타인의 저작물을 활용한 모든 경우에 출처를 표기합니다.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6858000" y="3331266"/>
            <a:ext cx="13075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 최소화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6858000" y="3611987"/>
            <a:ext cx="443758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인용은 원문의 표현 가치가 높을 때만 제한적으로 사용하며, 단순히 요약의 수고를 덜기 위해 사용하지 않습니다.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1419149" y="4652574"/>
            <a:ext cx="15069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인용에 대한 해설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1419149" y="4933295"/>
            <a:ext cx="442752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비교적 긴 블록 인용을 할 경우, 인용문 제시 전후에 인용의 맥락 설명과 해석, 논평을 충분히 덧붙입니다.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6858000" y="4652574"/>
            <a:ext cx="16596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완전한 이해 후 재기술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6858000" y="4933295"/>
            <a:ext cx="440832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바꿔쓰기(Paraphrasing)를 할 때는 원문의 내용을 충분히 이해한 후, 원문을 보지 않고 자신의 문장으로 새롭게 씁니다.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1571854" y="5937306"/>
            <a:ext cx="18461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기본이 가장 중요합니다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10525658" y="6067151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1-6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1571854" y="6166821"/>
            <a:ext cx="4561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표기는 단순한 규칙 준수를 넘어, 학문적 정직성을 증명하는 첫걸음입니다.</a:t>
            </a:r>
            <a:endParaRPr lang="en-US" sz="10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539667" y="-1601571"/>
            <a:ext cx="5715000" cy="5715000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719881"/>
            <a:ext cx="5219395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00354" y="195762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86307" y="2034435"/>
            <a:ext cx="133502" cy="1527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0605" y="1719881"/>
            <a:ext cx="5219395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48349" y="195762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534302" y="2034435"/>
            <a:ext cx="133502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3015970"/>
            <a:ext cx="5219395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000354" y="3254628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86307" y="3330523"/>
            <a:ext cx="133502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10605" y="3015970"/>
            <a:ext cx="5219395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6448349" y="3254628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534302" y="3330523"/>
            <a:ext cx="133502" cy="1527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4325731"/>
            <a:ext cx="5219395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1000354" y="456347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86307" y="4639370"/>
            <a:ext cx="133502" cy="1527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210605" y="4325731"/>
            <a:ext cx="5219395" cy="1190549"/>
          </a:xfrm>
          <a:prstGeom prst="roundRect">
            <a:avLst>
              <a:gd name="adj" fmla="val 73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6448349" y="456347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534302" y="4639370"/>
            <a:ext cx="133502" cy="15270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61695" y="5615632"/>
            <a:ext cx="10668305" cy="838505"/>
          </a:xfrm>
          <a:prstGeom prst="roundRect">
            <a:avLst>
              <a:gd name="adj" fmla="val 14871"/>
            </a:avLst>
          </a:prstGeom>
          <a:solidFill>
            <a:srgbClr val="0EA5E9"/>
          </a:solidFill>
          <a:ln/>
          <a:effectLst>
            <a:outerShdw blurRad="241300" dist="101600" dir="5400000" algn="bl" rotWithShape="0">
              <a:srgbClr val="0EA5E9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1047902" y="5805827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rcRect t="-333" b="-333"/>
          <a:stretch/>
        </p:blipFill>
        <p:spPr>
          <a:xfrm>
            <a:off x="1104595" y="5896352"/>
            <a:ext cx="342900" cy="276149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9513418" y="5855204"/>
            <a:ext cx="1638605" cy="362102"/>
          </a:xfrm>
          <a:prstGeom prst="roundRect">
            <a:avLst>
              <a:gd name="adj" fmla="val 252526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9"/>
          <p:cNvSpPr txBox="1"/>
          <p:nvPr/>
        </p:nvSpPr>
        <p:spPr>
          <a:xfrm>
            <a:off x="761695" y="676656"/>
            <a:ext cx="53346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인용의 10가지 원칙 (2/2)</a:t>
            </a:r>
            <a:endParaRPr lang="en-US" sz="3600" dirty="0"/>
          </a:p>
        </p:txBody>
      </p:sp>
      <p:sp>
        <p:nvSpPr>
          <p:cNvPr id="29" name="Text 20"/>
          <p:cNvSpPr txBox="1"/>
          <p:nvPr/>
        </p:nvSpPr>
        <p:spPr>
          <a:xfrm>
            <a:off x="761695" y="1340404"/>
            <a:ext cx="7420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왜곡 방지부터 재인용 최소화까지, 인용의 품격을 높이는 6가지 핵심 원칙을 확인하세요.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1457554" y="1957625"/>
            <a:ext cx="23984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왜곡 금지 (견강부회 주의)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457554" y="2249319"/>
            <a:ext cx="424281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논리에 맞추기 위해 원문의 본래 의도를 비틀지 않아야 합니다. 원작자의 맥락을 존중하세요.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6905549" y="1957625"/>
            <a:ext cx="131307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재인용의 최소화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905549" y="2249319"/>
            <a:ext cx="437631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가능한 한 원문을 직접 찾아 확인하고 인용해야 합니다. 재인용은 원문을 구할 수 없을 때만 제한적으로 허용됩니다.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1457554" y="3254628"/>
            <a:ext cx="157002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인용문 해설 첨부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1457554" y="3546322"/>
            <a:ext cx="428122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블록 인용을 사용할 경우, 인용문 전후에 인용자의 해석과 논평을 충분히 덧붙여 주장을 뒷받침해야 합니다.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6905549" y="3254628"/>
            <a:ext cx="18937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표기의 일관성 유지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6905549" y="3546322"/>
            <a:ext cx="439552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전체에 걸쳐 동일한 인용 스타일(APA, MLA 등)과 표기 방식을 처음부터 끝까지 일관되게 적용하세요.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1457554" y="4563475"/>
            <a:ext cx="18937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무분별한 직접 인용 지양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1457554" y="4855169"/>
            <a:ext cx="437631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요약이나 바꿔쓰기의 노고를 덜기 위한 단순 복사는 피하고, 표현적 가치가 높을 때만 직접 인용을 활용하세요.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6905549" y="4563475"/>
            <a:ext cx="18461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참고문헌의 정확성 확보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6905549" y="4855169"/>
            <a:ext cx="437631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 인용된 모든 자료는 참고문헌에 빠짐없이, 정확한 서지 정보와 함께 기재되어야 합니다.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1657807" y="5782967"/>
            <a:ext cx="2628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인용은 '소통'이자 '존중'입니다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9665208" y="5931100"/>
            <a:ext cx="1436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PRINCIPLE CHECK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1657807" y="6039913"/>
            <a:ext cx="5700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인용은 선행 연구자에 대한 존중이자, 독자와의 신뢰를 쌓는 학술적 소통의 시작입니다.</a:t>
            </a:r>
            <a:endParaRPr lang="en-US" sz="11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429500" y="-1904695"/>
            <a:ext cx="5715000" cy="5715000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6366F1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90195" y="400507"/>
            <a:ext cx="9436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61695" y="571500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61695" y="819302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퀴즈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1086307"/>
            <a:ext cx="6667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Q1. 다음 중 올바른 인용 방식은 무엇일까요?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1619402"/>
            <a:ext cx="53062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표절을 피하고 학문적 정직성을 지키는 최선의 방법을 골라보세요.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1695" y="2371954"/>
            <a:ext cx="3353105" cy="3914546"/>
          </a:xfrm>
          <a:prstGeom prst="roundRect">
            <a:avLst>
              <a:gd name="adj" fmla="val 154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86307" y="26956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240841" y="2752344"/>
            <a:ext cx="3246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86307" y="3372307"/>
            <a:ext cx="283098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원문의 단어를 2~3개만 바꾸고,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86306" y="3659429"/>
            <a:ext cx="278819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표기 없이 그대로 사용한다.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19295" y="2371954"/>
            <a:ext cx="3353105" cy="3914546"/>
          </a:xfrm>
          <a:prstGeom prst="roundRect">
            <a:avLst>
              <a:gd name="adj" fmla="val 154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743907" y="26956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893869" y="2752344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743907" y="3372307"/>
            <a:ext cx="241218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문단을 직접 인용하면서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743907" y="3659429"/>
            <a:ext cx="284348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 설명 없이 따옴표만 붙인다.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76895" y="2371954"/>
            <a:ext cx="3353105" cy="3914546"/>
          </a:xfrm>
          <a:prstGeom prst="roundRect">
            <a:avLst>
              <a:gd name="adj" fmla="val 154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401507" y="26956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554212" y="2752344"/>
            <a:ext cx="3246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401507" y="3372307"/>
            <a:ext cx="285018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원문의 의미를 완전히 이해한 후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01507" y="3693453"/>
            <a:ext cx="285018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언어로 </a:t>
            </a:r>
            <a:r>
              <a:rPr lang="en-US" sz="16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요약하고</a:t>
            </a:r>
            <a:r>
              <a:rPr lang="en-US" sz="16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출처를</a:t>
            </a:r>
            <a:r>
              <a:rPr lang="en-US" sz="16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밝힌다.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411358" y="571500"/>
            <a:ext cx="1019556" cy="466344"/>
          </a:xfrm>
          <a:prstGeom prst="roundRect">
            <a:avLst>
              <a:gd name="adj" fmla="val 19607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11612" y="715975"/>
            <a:ext cx="171907" cy="171907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0877702" y="676656"/>
            <a:ext cx="4782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30초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214409" y="1181405"/>
            <a:ext cx="2219249" cy="4572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  <a:effectLst>
            <a:outerShdw blurRad="139700" dist="101600" dir="5400000" algn="bl" rotWithShape="0">
              <a:srgbClr val="F43F5E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9443009" y="1334110"/>
            <a:ext cx="133502" cy="15270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671609" y="1295705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정답은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? …………… C</a:t>
            </a:r>
            <a:endParaRPr lang="en-US" sz="12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126980" y="2952598"/>
            <a:ext cx="5401361" cy="551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30000" dirty="0"/>
          </a:p>
        </p:txBody>
      </p:sp>
      <p:sp>
        <p:nvSpPr>
          <p:cNvPr id="6" name="Shape 3"/>
          <p:cNvSpPr/>
          <p:nvPr/>
        </p:nvSpPr>
        <p:spPr>
          <a:xfrm>
            <a:off x="8324698" y="1028700"/>
            <a:ext cx="1429207" cy="1429207"/>
          </a:xfrm>
          <a:prstGeom prst="ellipse">
            <a:avLst/>
          </a:prstGeom>
          <a:noFill/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218895" y="4724705"/>
            <a:ext cx="761695" cy="761695"/>
          </a:xfrm>
          <a:prstGeom prst="rect">
            <a:avLst/>
          </a:prstGeom>
          <a:noFill/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1988820"/>
            <a:ext cx="933602" cy="428854"/>
          </a:xfrm>
          <a:prstGeom prst="roundRect">
            <a:avLst>
              <a:gd name="adj" fmla="val 18953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031797" y="2192731"/>
            <a:ext cx="952805" cy="1920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52805" y="3954780"/>
            <a:ext cx="38405" cy="9144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2064715"/>
            <a:ext cx="6903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C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558491"/>
            <a:ext cx="7515454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서지관리도구 실습</a:t>
            </a:r>
            <a:endParaRPr lang="en-US" sz="7200" dirty="0"/>
          </a:p>
        </p:txBody>
      </p:sp>
      <p:sp>
        <p:nvSpPr>
          <p:cNvPr id="13" name="Text 10"/>
          <p:cNvSpPr txBox="1"/>
          <p:nvPr/>
        </p:nvSpPr>
        <p:spPr>
          <a:xfrm>
            <a:off x="1218895" y="3963924"/>
            <a:ext cx="847740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Zotero로 수집 · 정리 · 인용 · 서지 작성까지 완벽한 참고문헌 관리 프로세스를 실습합니다.</a:t>
            </a:r>
            <a:endParaRPr lang="en-US" sz="2400" dirty="0"/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992417" y="1299362"/>
            <a:ext cx="1181405" cy="381305"/>
          </a:xfrm>
          <a:prstGeom prst="roundRect">
            <a:avLst>
              <a:gd name="adj" fmla="val 239808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7154266" y="1420978"/>
            <a:ext cx="171907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02068" y="1385316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PC/노트북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88122" y="1299362"/>
            <a:ext cx="1638605" cy="381305"/>
          </a:xfrm>
          <a:prstGeom prst="roundRect">
            <a:avLst>
              <a:gd name="adj" fmla="val 239808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49970" y="1420978"/>
            <a:ext cx="133502" cy="1335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59368" y="1385316"/>
            <a:ext cx="12079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크롬/엣지 브라우저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0036454" y="1299362"/>
            <a:ext cx="1399946" cy="381305"/>
          </a:xfrm>
          <a:prstGeom prst="roundRect">
            <a:avLst>
              <a:gd name="adj" fmla="val 239808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10198303" y="1420978"/>
            <a:ext cx="105156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379354" y="1385316"/>
            <a:ext cx="99852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 Word/한글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7171" y="6219749"/>
            <a:ext cx="133502" cy="1335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1695" y="676656"/>
            <a:ext cx="53062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설치 및 기본 세팅</a:t>
            </a:r>
            <a:endParaRPr lang="en-US" sz="36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1399946"/>
            <a:ext cx="43726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자료를 체계적으로 관리하기 위한 첫 걸음입니다.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1061497" y="994867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준비물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3637483" y="6191402"/>
            <a:ext cx="5234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계정이 아닌 개인 계정으로 가입해도 무료 용량(300MB) 내에서 충분히 실습 가능합니다.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1524305" y="4048049"/>
            <a:ext cx="9144000" cy="384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761695" y="2542946"/>
            <a:ext cx="3258007" cy="3047695"/>
          </a:xfrm>
          <a:prstGeom prst="roundRect">
            <a:avLst>
              <a:gd name="adj" fmla="val 1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1958645" y="2933395"/>
            <a:ext cx="857707" cy="6858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97303" y="3081528"/>
            <a:ext cx="381305" cy="3813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97126" y="3877970"/>
            <a:ext cx="15645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 설치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1521562" y="4405579"/>
            <a:ext cx="18598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홈페이지 접속 후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439266" y="4673498"/>
            <a:ext cx="20308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데스크탑 앱(Zotero 6/7)을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546250" y="4942332"/>
            <a:ext cx="18123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 및 설치합니다.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470502" y="2542946"/>
            <a:ext cx="3258007" cy="3047695"/>
          </a:xfrm>
          <a:prstGeom prst="roundRect">
            <a:avLst>
              <a:gd name="adj" fmla="val 1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5667451" y="2933395"/>
            <a:ext cx="857707" cy="6858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05195" y="3081528"/>
            <a:ext cx="381305" cy="38130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15661" y="3877970"/>
            <a:ext cx="13450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커넥터 추가</a:t>
            </a:r>
            <a:endParaRPr lang="en-US" sz="1900" dirty="0"/>
          </a:p>
        </p:txBody>
      </p:sp>
      <p:sp>
        <p:nvSpPr>
          <p:cNvPr id="31" name="Text 23"/>
          <p:cNvSpPr txBox="1"/>
          <p:nvPr/>
        </p:nvSpPr>
        <p:spPr>
          <a:xfrm>
            <a:off x="5177333" y="4405579"/>
            <a:ext cx="19641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브라우저 확장 프로그램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020056" y="4673498"/>
            <a:ext cx="22786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(Zotero Connector)를 설치해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076749" y="4942332"/>
            <a:ext cx="21643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원클릭 수집 환경을 만듭니다.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8178394" y="2542946"/>
            <a:ext cx="3258007" cy="3047695"/>
          </a:xfrm>
          <a:prstGeom prst="roundRect">
            <a:avLst>
              <a:gd name="adj" fmla="val 1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7"/>
          <p:cNvSpPr/>
          <p:nvPr/>
        </p:nvSpPr>
        <p:spPr>
          <a:xfrm>
            <a:off x="9375343" y="2933395"/>
            <a:ext cx="857707" cy="6858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14002" y="3081528"/>
            <a:ext cx="381305" cy="3813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224467" y="3877970"/>
            <a:ext cx="13450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 설정</a:t>
            </a:r>
            <a:endParaRPr lang="en-US" sz="1900" dirty="0"/>
          </a:p>
        </p:txBody>
      </p:sp>
      <p:sp>
        <p:nvSpPr>
          <p:cNvPr id="38" name="Text 29"/>
          <p:cNvSpPr txBox="1"/>
          <p:nvPr/>
        </p:nvSpPr>
        <p:spPr>
          <a:xfrm>
            <a:off x="8916314" y="4405579"/>
            <a:ext cx="19074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환경설정 &gt; 인용 메뉴에서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8699602" y="4673498"/>
            <a:ext cx="23454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인용 양식(APA, MLA 등)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9039758" y="4942332"/>
            <a:ext cx="16596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미리 추가해둡니다.</a:t>
            </a:r>
            <a:endParaRPr lang="en-US" sz="13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4166006" y="3952951"/>
            <a:ext cx="142646" cy="228600"/>
          </a:xfrm>
          <a:prstGeom prst="rect">
            <a:avLst/>
          </a:prstGeom>
        </p:spPr>
      </p:pic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7873898" y="3952951"/>
            <a:ext cx="142646" cy="228600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2158898" y="2361895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3"/>
          <p:cNvSpPr txBox="1"/>
          <p:nvPr/>
        </p:nvSpPr>
        <p:spPr>
          <a:xfrm>
            <a:off x="2322576" y="243047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Shape 34"/>
          <p:cNvSpPr/>
          <p:nvPr/>
        </p:nvSpPr>
        <p:spPr>
          <a:xfrm>
            <a:off x="5867705" y="2361895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5"/>
          <p:cNvSpPr txBox="1"/>
          <p:nvPr/>
        </p:nvSpPr>
        <p:spPr>
          <a:xfrm>
            <a:off x="6030468" y="243047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9575597" y="2361895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7"/>
          <p:cNvSpPr txBox="1"/>
          <p:nvPr/>
        </p:nvSpPr>
        <p:spPr>
          <a:xfrm>
            <a:off x="9739274" y="243047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3441802" y="6219749"/>
            <a:ext cx="105156" cy="1335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676656"/>
            <a:ext cx="61539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수집 및 정리 프로세스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1399946"/>
            <a:ext cx="5582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 한 번의 클릭으로 자료를 저장하고, 태그로 스마트하게 관리하세요.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622853" y="6191402"/>
            <a:ext cx="5234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 학술논문(DOI 포함)과 뉴스 기사 1건씩 수집해보세요. 아이콘 모양이 다르게 표시됩니다.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238098" y="4000500"/>
            <a:ext cx="9715500" cy="384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1238098" y="4000500"/>
            <a:ext cx="10668305" cy="3840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761695" y="2480767"/>
            <a:ext cx="3258007" cy="3086100"/>
          </a:xfrm>
          <a:prstGeom prst="roundRect">
            <a:avLst>
              <a:gd name="adj" fmla="val 14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1958645" y="2966314"/>
            <a:ext cx="857707" cy="857707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21078" y="3228746"/>
            <a:ext cx="333756" cy="3337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004365" y="4090111"/>
            <a:ext cx="96652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캡처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1391717" y="4640580"/>
            <a:ext cx="21259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커넥터 아이콘 클릭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265530" y="4909414"/>
            <a:ext cx="23737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(논문, 기사, 웹페이지 자동 인식)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470502" y="2480767"/>
            <a:ext cx="3258007" cy="3086100"/>
          </a:xfrm>
          <a:prstGeom prst="roundRect">
            <a:avLst>
              <a:gd name="adj" fmla="val 14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5667451" y="2966314"/>
            <a:ext cx="857707" cy="857707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28970" y="3228746"/>
            <a:ext cx="333756" cy="3337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46827" y="4090111"/>
            <a:ext cx="190012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정리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5174590" y="4640580"/>
            <a:ext cx="19741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PDF를 드래그 앤 드롭하면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100523" y="4909414"/>
            <a:ext cx="21259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 정보가 자동으로 추출됨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178394" y="2480767"/>
            <a:ext cx="3258007" cy="3086100"/>
          </a:xfrm>
          <a:prstGeom prst="roundRect">
            <a:avLst>
              <a:gd name="adj" fmla="val 14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9375343" y="2966314"/>
            <a:ext cx="857707" cy="857707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37776" y="3228746"/>
            <a:ext cx="333756" cy="3337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298534" y="4090111"/>
            <a:ext cx="121432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태그·노트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8691372" y="4640580"/>
            <a:ext cx="23545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주제별 태그(#AI, #윤리) 추가 및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8785555" y="4909414"/>
            <a:ext cx="21643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 내용 메모로 체계적 관리</a:t>
            </a:r>
            <a:endParaRPr lang="en-US" sz="13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4166006" y="3905402"/>
            <a:ext cx="142646" cy="228600"/>
          </a:xfrm>
          <a:prstGeom prst="rect">
            <a:avLst/>
          </a:prstGeom>
        </p:spPr>
      </p:pic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7873898" y="3905402"/>
            <a:ext cx="142646" cy="22860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158898" y="2299716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4"/>
          <p:cNvSpPr txBox="1"/>
          <p:nvPr/>
        </p:nvSpPr>
        <p:spPr>
          <a:xfrm>
            <a:off x="2322576" y="2368296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5867705" y="2299716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6"/>
          <p:cNvSpPr txBox="1"/>
          <p:nvPr/>
        </p:nvSpPr>
        <p:spPr>
          <a:xfrm>
            <a:off x="6030468" y="2368296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9575597" y="2299716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8"/>
          <p:cNvSpPr txBox="1"/>
          <p:nvPr/>
        </p:nvSpPr>
        <p:spPr>
          <a:xfrm>
            <a:off x="9739274" y="2368296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429207" y="5699455"/>
            <a:ext cx="4572000" cy="685800"/>
          </a:xfrm>
          <a:prstGeom prst="roundRect">
            <a:avLst>
              <a:gd name="adj" fmla="val 1851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2222" b="-2222"/>
          <a:stretch/>
        </p:blipFill>
        <p:spPr>
          <a:xfrm>
            <a:off x="1666951" y="5955487"/>
            <a:ext cx="123444" cy="1719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1402" y="5699455"/>
            <a:ext cx="4572000" cy="685800"/>
          </a:xfrm>
          <a:prstGeom prst="roundRect">
            <a:avLst>
              <a:gd name="adj" fmla="val 1851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146" y="5955487"/>
            <a:ext cx="171907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695" y="724205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워드/한글 연동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61695" y="942746"/>
            <a:ext cx="711586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인용 및 워드 연동 프로세스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1666951"/>
            <a:ext cx="61822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워드 프로세서와 연동하여 자동으로 인용을 삽입하고 참고문헌을 생성합니다.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904695" y="5823814"/>
            <a:ext cx="387157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 방지 팁 1 : Zotero 프로그램이 실행 중이어야 워드 연동 기능이 정상 작동합니다.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715354" y="5823814"/>
            <a:ext cx="391911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 방지 팁 2 : 인용 수정 시 워드에서 직접 지우지 말고 Zotero 툴바를 이용하세요.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238098" y="3802075"/>
            <a:ext cx="9715500" cy="384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1238098" y="3802075"/>
            <a:ext cx="9601200" cy="38405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61695" y="2488082"/>
            <a:ext cx="2467051" cy="2667305"/>
          </a:xfrm>
          <a:prstGeom prst="roundRect">
            <a:avLst>
              <a:gd name="adj" fmla="val 22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1662379" y="2840126"/>
            <a:ext cx="666598" cy="59070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552" r="-552"/>
          <a:stretch/>
        </p:blipFill>
        <p:spPr>
          <a:xfrm>
            <a:off x="1890979" y="2995574"/>
            <a:ext cx="209398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38605" y="3598164"/>
            <a:ext cx="86319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플러그인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613002" y="3855110"/>
            <a:ext cx="92080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확인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460297" y="4227271"/>
            <a:ext cx="11850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워드/한글 실행 시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094537" y="4444898"/>
            <a:ext cx="19184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탭 생성을 확인합니다.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1353312" y="4661611"/>
            <a:ext cx="13953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(설치 시 자동 추가됨)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495751" y="2488082"/>
            <a:ext cx="2467051" cy="2667305"/>
          </a:xfrm>
          <a:prstGeom prst="roundRect">
            <a:avLst>
              <a:gd name="adj" fmla="val 22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4395521" y="2840126"/>
            <a:ext cx="666598" cy="59070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817" b="-817"/>
          <a:stretch/>
        </p:blipFill>
        <p:spPr>
          <a:xfrm>
            <a:off x="4610405" y="2995574"/>
            <a:ext cx="237744" cy="27614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347058" y="3598164"/>
            <a:ext cx="92080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인용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4550969" y="3855110"/>
            <a:ext cx="51115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3817620" y="4227271"/>
            <a:ext cx="19376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'인용 추가(Add/Edit)' 클릭 후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4015130" y="4444898"/>
            <a:ext cx="15380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저자명/제목을 검색하여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4155948" y="4661611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인용을 삽입합니다.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229807" y="2488082"/>
            <a:ext cx="2467051" cy="2667305"/>
          </a:xfrm>
          <a:prstGeom prst="roundRect">
            <a:avLst>
              <a:gd name="adj" fmla="val 22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7129577" y="2840126"/>
            <a:ext cx="666598" cy="59070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t="-1013" b="-1013"/>
          <a:stretch/>
        </p:blipFill>
        <p:spPr>
          <a:xfrm>
            <a:off x="7310628" y="2995574"/>
            <a:ext cx="304495" cy="276149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195414" y="3598164"/>
            <a:ext cx="69220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스타일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7284110" y="3855110"/>
            <a:ext cx="51115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6558991" y="4227271"/>
            <a:ext cx="19184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'문서 설정(Preferences)'에서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6508699" y="4444898"/>
            <a:ext cx="20235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인용 양식(APA, MLA 등)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6803136" y="4661611"/>
            <a:ext cx="14328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일괄 변경합니다.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8962949" y="2488082"/>
            <a:ext cx="2467051" cy="2667305"/>
          </a:xfrm>
          <a:prstGeom prst="roundRect">
            <a:avLst>
              <a:gd name="adj" fmla="val 22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921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5"/>
          <p:cNvSpPr/>
          <p:nvPr/>
        </p:nvSpPr>
        <p:spPr>
          <a:xfrm>
            <a:off x="9862718" y="2840126"/>
            <a:ext cx="666598" cy="59070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58400" y="2995574"/>
            <a:ext cx="276149" cy="276149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839858" y="3598164"/>
            <a:ext cx="86319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9814255" y="3855110"/>
            <a:ext cx="92080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</a:t>
            </a:r>
            <a:endParaRPr lang="en-US" sz="1500" dirty="0"/>
          </a:p>
        </p:txBody>
      </p:sp>
      <p:sp>
        <p:nvSpPr>
          <p:cNvPr id="46" name="Text 38"/>
          <p:cNvSpPr txBox="1"/>
          <p:nvPr/>
        </p:nvSpPr>
        <p:spPr>
          <a:xfrm>
            <a:off x="9710014" y="4227271"/>
            <a:ext cx="1089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마지막에서</a:t>
            </a:r>
            <a:endParaRPr lang="en-US" sz="1100" dirty="0"/>
          </a:p>
        </p:txBody>
      </p:sp>
      <p:sp>
        <p:nvSpPr>
          <p:cNvPr id="47" name="Text 39"/>
          <p:cNvSpPr txBox="1"/>
          <p:nvPr/>
        </p:nvSpPr>
        <p:spPr>
          <a:xfrm>
            <a:off x="9508846" y="4444898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'참고문헌 추가/편집'을</a:t>
            </a:r>
            <a:endParaRPr lang="en-US" sz="1100" dirty="0"/>
          </a:p>
        </p:txBody>
      </p:sp>
      <p:sp>
        <p:nvSpPr>
          <p:cNvPr id="48" name="Text 40"/>
          <p:cNvSpPr txBox="1"/>
          <p:nvPr/>
        </p:nvSpPr>
        <p:spPr>
          <a:xfrm>
            <a:off x="9470441" y="4661611"/>
            <a:ext cx="15663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눌러 목록을 생성합니다.</a:t>
            </a:r>
            <a:endParaRPr lang="en-US" sz="11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rcRect l="-505" r="-505"/>
          <a:stretch/>
        </p:blipFill>
        <p:spPr>
          <a:xfrm>
            <a:off x="3295498" y="3730752"/>
            <a:ext cx="114300" cy="181051"/>
          </a:xfrm>
          <a:prstGeom prst="rect">
            <a:avLst/>
          </a:prstGeom>
        </p:spPr>
      </p:pic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9"/>
          <a:srcRect l="-505" r="-505"/>
          <a:stretch/>
        </p:blipFill>
        <p:spPr>
          <a:xfrm>
            <a:off x="6029554" y="3730752"/>
            <a:ext cx="114300" cy="181051"/>
          </a:xfrm>
          <a:prstGeom prst="rect">
            <a:avLst/>
          </a:prstGeom>
        </p:spPr>
      </p:pic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9"/>
          <a:srcRect l="-505" r="-505"/>
          <a:stretch/>
        </p:blipFill>
        <p:spPr>
          <a:xfrm>
            <a:off x="8762695" y="3730752"/>
            <a:ext cx="114300" cy="181051"/>
          </a:xfrm>
          <a:prstGeom prst="rect">
            <a:avLst/>
          </a:prstGeom>
        </p:spPr>
      </p:pic>
      <p:sp>
        <p:nvSpPr>
          <p:cNvPr id="52" name="Shape 41"/>
          <p:cNvSpPr/>
          <p:nvPr/>
        </p:nvSpPr>
        <p:spPr>
          <a:xfrm>
            <a:off x="1824228" y="2307031"/>
            <a:ext cx="342900" cy="3429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2"/>
          <p:cNvSpPr txBox="1"/>
          <p:nvPr/>
        </p:nvSpPr>
        <p:spPr>
          <a:xfrm>
            <a:off x="1944014" y="2352751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54" name="Shape 43"/>
          <p:cNvSpPr/>
          <p:nvPr/>
        </p:nvSpPr>
        <p:spPr>
          <a:xfrm>
            <a:off x="4557370" y="2307031"/>
            <a:ext cx="342900" cy="3429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4"/>
          <p:cNvSpPr txBox="1"/>
          <p:nvPr/>
        </p:nvSpPr>
        <p:spPr>
          <a:xfrm>
            <a:off x="4678070" y="2352751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56" name="Shape 45"/>
          <p:cNvSpPr/>
          <p:nvPr/>
        </p:nvSpPr>
        <p:spPr>
          <a:xfrm>
            <a:off x="7291426" y="2307031"/>
            <a:ext cx="342900" cy="3429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6"/>
          <p:cNvSpPr txBox="1"/>
          <p:nvPr/>
        </p:nvSpPr>
        <p:spPr>
          <a:xfrm>
            <a:off x="7412126" y="2352751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58" name="Shape 47"/>
          <p:cNvSpPr/>
          <p:nvPr/>
        </p:nvSpPr>
        <p:spPr>
          <a:xfrm>
            <a:off x="10025482" y="2307031"/>
            <a:ext cx="342900" cy="3429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10145268" y="2352751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6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1210666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484510" y="643738"/>
            <a:ext cx="1143000" cy="428854"/>
          </a:xfrm>
          <a:prstGeom prst="roundRect">
            <a:avLst>
              <a:gd name="adj" fmla="val 213219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43F5E"/>
            </a:solidFill>
            <a:prstDash val="solid"/>
          </a:ln>
          <a:effectLst>
            <a:outerShdw blurRad="139700" dist="12700" dir="16200000" algn="bl" rotWithShape="0">
              <a:srgbClr val="F43F5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84764" y="769925"/>
            <a:ext cx="171907" cy="1719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33004" y="1457554"/>
            <a:ext cx="3590849" cy="5020056"/>
          </a:xfrm>
          <a:prstGeom prst="roundRect">
            <a:avLst>
              <a:gd name="adj" fmla="val 811"/>
            </a:avLst>
          </a:prstGeom>
          <a:solidFill>
            <a:srgbClr val="38BDF8">
              <a:alpha val="5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280806" y="2872130"/>
            <a:ext cx="309524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280806" y="3548786"/>
            <a:ext cx="30952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280806" y="3134563"/>
            <a:ext cx="190195" cy="190195"/>
          </a:xfrm>
          <a:prstGeom prst="roundRect">
            <a:avLst>
              <a:gd name="adj" fmla="val 120192"/>
            </a:avLst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280806" y="4178808"/>
            <a:ext cx="30952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280806" y="3765499"/>
            <a:ext cx="190195" cy="190195"/>
          </a:xfrm>
          <a:prstGeom prst="roundRect">
            <a:avLst>
              <a:gd name="adj" fmla="val 120192"/>
            </a:avLst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280806" y="5047488"/>
            <a:ext cx="30952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280806" y="4515307"/>
            <a:ext cx="190195" cy="190195"/>
          </a:xfrm>
          <a:prstGeom prst="roundRect">
            <a:avLst>
              <a:gd name="adj" fmla="val 120192"/>
            </a:avLst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280806" y="5266030"/>
            <a:ext cx="190195" cy="190195"/>
          </a:xfrm>
          <a:prstGeom prst="roundRect">
            <a:avLst>
              <a:gd name="adj" fmla="val 120192"/>
            </a:avLst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47395" y="409651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48486" y="400507"/>
            <a:ext cx="1624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실습 워크시트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71500" y="629107"/>
            <a:ext cx="36009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2: DOI 및 웹 캡처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10970057" y="729691"/>
            <a:ext cx="5833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07:00</a:t>
            </a:r>
            <a:endParaRPr lang="en-US" sz="13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80806" y="2495398"/>
            <a:ext cx="190195" cy="19019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546897" y="2443277"/>
            <a:ext cx="1133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전 확인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585302" y="3109874"/>
            <a:ext cx="26444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메타데이터(저자/연도) 자동 입력 확인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585302" y="3739896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본문 스냅샷 저장 여부 확인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8585302" y="4370832"/>
            <a:ext cx="288310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워드 내 인용 스타일(APA/Chicago) 변경 확인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8585302" y="5241341"/>
            <a:ext cx="2892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 목록 자동 생성 및 업데이트 확인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71500" y="1457554"/>
            <a:ext cx="7181698" cy="705002"/>
          </a:xfrm>
          <a:prstGeom prst="roundRect">
            <a:avLst>
              <a:gd name="adj" fmla="val 210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771754" y="1371600"/>
            <a:ext cx="666598" cy="228600"/>
          </a:xfrm>
          <a:prstGeom prst="roundRect">
            <a:avLst>
              <a:gd name="adj" fmla="val 66667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866851" y="1390802"/>
            <a:ext cx="5678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 A</a:t>
            </a:r>
            <a:endParaRPr lang="en-US" sz="9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866851" y="1723644"/>
            <a:ext cx="190195" cy="171907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209751" y="1682496"/>
            <a:ext cx="47173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마술봉 아이콘 클릭 후 DOI 입력: 10.1038/nature12345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571500" y="2476195"/>
            <a:ext cx="7181698" cy="705002"/>
          </a:xfrm>
          <a:prstGeom prst="roundRect">
            <a:avLst>
              <a:gd name="adj" fmla="val 210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771754" y="2391156"/>
            <a:ext cx="666598" cy="228600"/>
          </a:xfrm>
          <a:prstGeom prst="roundRect">
            <a:avLst>
              <a:gd name="adj" fmla="val 66667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866851" y="2409444"/>
            <a:ext cx="5678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 B</a:t>
            </a:r>
            <a:endParaRPr lang="en-US" sz="9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5995" y="2743200"/>
            <a:ext cx="171907" cy="171907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209751" y="2702052"/>
            <a:ext cx="44604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페이지에서 브라우저 커넥터 클릭 후 #표절예방 태그 추가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571500" y="3495751"/>
            <a:ext cx="7181698" cy="705002"/>
          </a:xfrm>
          <a:prstGeom prst="roundRect">
            <a:avLst>
              <a:gd name="adj" fmla="val 210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771754" y="3409798"/>
            <a:ext cx="666598" cy="228600"/>
          </a:xfrm>
          <a:prstGeom prst="roundRect">
            <a:avLst>
              <a:gd name="adj" fmla="val 66667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 txBox="1"/>
          <p:nvPr/>
        </p:nvSpPr>
        <p:spPr>
          <a:xfrm>
            <a:off x="866851" y="3429000"/>
            <a:ext cx="5678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 C</a:t>
            </a:r>
            <a:endParaRPr lang="en-US" sz="9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899770" y="3762756"/>
            <a:ext cx="123444" cy="171907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209751" y="3720694"/>
            <a:ext cx="44119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워드에서 수집한 자료 2건을 인용하고 참고문헌 목록 생성하기</a:t>
            </a:r>
            <a:endParaRPr lang="en-US" sz="13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t="-856" b="-856"/>
          <a:stretch/>
        </p:blipFill>
        <p:spPr>
          <a:xfrm>
            <a:off x="4092854" y="2229307"/>
            <a:ext cx="133502" cy="181051"/>
          </a:xfrm>
          <a:prstGeom prst="rect">
            <a:avLst/>
          </a:prstGeom>
        </p:spPr>
      </p:pic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rcRect t="-856" b="-856"/>
          <a:stretch/>
        </p:blipFill>
        <p:spPr>
          <a:xfrm>
            <a:off x="4092854" y="3247949"/>
            <a:ext cx="133502" cy="181051"/>
          </a:xfrm>
          <a:prstGeom prst="rect">
            <a:avLst/>
          </a:prstGeom>
        </p:spPr>
      </p:pic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891065" y="2952598"/>
            <a:ext cx="5639105" cy="551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30000" dirty="0"/>
          </a:p>
        </p:txBody>
      </p:sp>
      <p:sp>
        <p:nvSpPr>
          <p:cNvPr id="6" name="Shape 3"/>
          <p:cNvSpPr/>
          <p:nvPr/>
        </p:nvSpPr>
        <p:spPr>
          <a:xfrm>
            <a:off x="8324698" y="1028700"/>
            <a:ext cx="1429207" cy="1429207"/>
          </a:xfrm>
          <a:prstGeom prst="ellipse">
            <a:avLst/>
          </a:prstGeom>
          <a:noFill/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218895" y="4724705"/>
            <a:ext cx="761695" cy="761695"/>
          </a:xfrm>
          <a:prstGeom prst="rect">
            <a:avLst/>
          </a:prstGeom>
          <a:noFill/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1988820"/>
            <a:ext cx="942746" cy="428854"/>
          </a:xfrm>
          <a:prstGeom prst="roundRect">
            <a:avLst>
              <a:gd name="adj" fmla="val 18953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043684" y="2192731"/>
            <a:ext cx="952805" cy="19202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52805" y="3954780"/>
            <a:ext cx="38405" cy="9144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2064715"/>
            <a:ext cx="6995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558491"/>
            <a:ext cx="6172200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활용</a:t>
            </a:r>
            <a:endParaRPr lang="en-US" sz="7200" dirty="0"/>
          </a:p>
        </p:txBody>
      </p:sp>
      <p:sp>
        <p:nvSpPr>
          <p:cNvPr id="13" name="Text 10"/>
          <p:cNvSpPr txBox="1"/>
          <p:nvPr/>
        </p:nvSpPr>
        <p:spPr>
          <a:xfrm>
            <a:off x="1218895" y="3963924"/>
            <a:ext cx="846825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보조도구: 초안 · 검증 · 재작성 · 인용의 </a:t>
            </a:r>
            <a:r>
              <a:rPr lang="en-US" sz="2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안전하고</a:t>
            </a:r>
            <a:r>
              <a:rPr lang="en-US" sz="2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윤리적인</a:t>
            </a:r>
            <a:r>
              <a:rPr lang="en-US" sz="2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 프로세스를 학습합니다.</a:t>
            </a:r>
            <a:endParaRPr lang="en-US" sz="2400" dirty="0"/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381305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417321"/>
            <a:ext cx="5238598" cy="1057046"/>
          </a:xfrm>
          <a:prstGeom prst="roundRect">
            <a:avLst>
              <a:gd name="adj" fmla="val 779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1949" y="1617575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1009498" y="1684326"/>
            <a:ext cx="171907" cy="1335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91402" y="1417321"/>
            <a:ext cx="5238598" cy="1057046"/>
          </a:xfrm>
          <a:prstGeom prst="roundRect">
            <a:avLst>
              <a:gd name="adj" fmla="val 779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391656" y="1617575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439205" y="1684326"/>
            <a:ext cx="171907" cy="1335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2579779"/>
            <a:ext cx="5238598" cy="1057046"/>
          </a:xfrm>
          <a:prstGeom prst="roundRect">
            <a:avLst>
              <a:gd name="adj" fmla="val 779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61949" y="2780033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8700" y="2846784"/>
            <a:ext cx="133502" cy="13350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91402" y="2579779"/>
            <a:ext cx="5238598" cy="1057046"/>
          </a:xfrm>
          <a:prstGeom prst="roundRect">
            <a:avLst>
              <a:gd name="adj" fmla="val 779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6391656" y="2780033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2838" r="-2838"/>
          <a:stretch/>
        </p:blipFill>
        <p:spPr>
          <a:xfrm>
            <a:off x="6462979" y="2846784"/>
            <a:ext cx="123444" cy="13350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1695" y="3746490"/>
            <a:ext cx="5238598" cy="1057046"/>
          </a:xfrm>
          <a:prstGeom prst="roundRect">
            <a:avLst>
              <a:gd name="adj" fmla="val 779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61949" y="3946744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8700" y="4013495"/>
            <a:ext cx="133502" cy="13350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191402" y="3746490"/>
            <a:ext cx="5238598" cy="1057046"/>
          </a:xfrm>
          <a:prstGeom prst="roundRect">
            <a:avLst>
              <a:gd name="adj" fmla="val 779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6391656" y="3946744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6448349" y="4013495"/>
            <a:ext cx="152705" cy="13350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61695" y="4892702"/>
            <a:ext cx="10668305" cy="1561795"/>
          </a:xfrm>
          <a:prstGeom prst="roundRect">
            <a:avLst>
              <a:gd name="adj" fmla="val 428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1000354" y="5092955"/>
            <a:ext cx="171907" cy="15270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1000354" y="5416653"/>
            <a:ext cx="5020056" cy="875995"/>
          </a:xfrm>
          <a:prstGeom prst="roundRect">
            <a:avLst>
              <a:gd name="adj" fmla="val 6808"/>
            </a:avLst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8"/>
          <p:cNvSpPr/>
          <p:nvPr/>
        </p:nvSpPr>
        <p:spPr>
          <a:xfrm>
            <a:off x="1000354" y="5416653"/>
            <a:ext cx="28346" cy="87599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9"/>
          <p:cNvSpPr/>
          <p:nvPr/>
        </p:nvSpPr>
        <p:spPr>
          <a:xfrm>
            <a:off x="6172200" y="5416653"/>
            <a:ext cx="5020056" cy="875995"/>
          </a:xfrm>
          <a:prstGeom prst="roundRect">
            <a:avLst>
              <a:gd name="adj" fmla="val 6808"/>
            </a:avLst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172200" y="5416653"/>
            <a:ext cx="28346" cy="87599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1"/>
          <p:cNvSpPr txBox="1"/>
          <p:nvPr/>
        </p:nvSpPr>
        <p:spPr>
          <a:xfrm>
            <a:off x="761695" y="552298"/>
            <a:ext cx="37627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인용·검증 체크리스트</a:t>
            </a:r>
            <a:endParaRPr lang="en-US" sz="2700" dirty="0"/>
          </a:p>
        </p:txBody>
      </p:sp>
      <p:sp>
        <p:nvSpPr>
          <p:cNvPr id="31" name="Text 22"/>
          <p:cNvSpPr txBox="1"/>
          <p:nvPr/>
        </p:nvSpPr>
        <p:spPr>
          <a:xfrm>
            <a:off x="761695" y="1104595"/>
            <a:ext cx="70253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AI는 훌륭한 도구지만 출처가 아닙니다. 안전한 활용을 위한 6가지 핵심 수칙을 확인하세요.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1362456" y="1617575"/>
            <a:ext cx="12536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출처가 아님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1362456" y="1886408"/>
            <a:ext cx="431322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답변을 참고문헌으로 쓰지 마세요. 원문 출처를 직접 찾아 읽고 인용해야 합니다.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6791249" y="1617575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 링크/DOI 확인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791249" y="1886408"/>
            <a:ext cx="435163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제공된 URL이나 DOI가 실존하는지, 해당 자료로 연결되는지 반드시 클릭해 확인하세요.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1362456" y="2780033"/>
            <a:ext cx="1777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 검증 (Fact Check)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1362456" y="3048866"/>
            <a:ext cx="397032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통계나 사실은 '환각' 가능성이 있으므로, 신뢰할 수 있는 소스로 교차 검증하세요.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6791249" y="2780033"/>
            <a:ext cx="14346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 금지 권장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791249" y="3048866"/>
            <a:ext cx="393192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텍스트 저작권은 불명확합니다. 내용을 이해한 후 내 언어로 요약·재구성하세요.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1362456" y="3946744"/>
            <a:ext cx="16440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프롬프트에 '출처 제한'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1362456" y="4214663"/>
            <a:ext cx="45034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시 "학술 DB 내에서만 답변해줘"와 같이 출처 범위를 한정해 요청하세요.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6791249" y="3946744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검사 필수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6791249" y="4214663"/>
            <a:ext cx="418978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데이터가 그대로 출력될 위험이 있습니다. 제출 전 표절 검사 도구를 활용하세요.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1266444" y="505455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검증을 돕는 추천 프롬프트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1181405" y="5578502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한정 요약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1181405" y="5778755"/>
            <a:ext cx="468447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"아래 제공된 링크(URL)의 내용만을 근거로 요약하고,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 양식으로 인용 출처를 함께 표기해줘."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6353251" y="5578502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검증 요청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6353251" y="5778755"/>
            <a:ext cx="470367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텍스트의 사실 여부를 검증하고 싶은데,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내용을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교차 확인할 수 있는 신뢰할 만한 웹 출처(뉴스, 논문)를 알려줘."</a:t>
            </a:r>
            <a:endParaRPr lang="en-US" sz="10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71500" y="1077163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" y="286207"/>
            <a:ext cx="466344" cy="228600"/>
          </a:xfrm>
          <a:prstGeom prst="roundRect">
            <a:avLst>
              <a:gd name="adj" fmla="val 66667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84510" y="510235"/>
            <a:ext cx="1143000" cy="428854"/>
          </a:xfrm>
          <a:prstGeom prst="roundRect">
            <a:avLst>
              <a:gd name="adj" fmla="val 213219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43F5E"/>
            </a:solidFill>
            <a:prstDash val="solid"/>
          </a:ln>
          <a:effectLst>
            <a:outerShdw blurRad="139700" dist="12700" dir="16200000" algn="bl" rotWithShape="0">
              <a:srgbClr val="F43F5E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84764" y="636422"/>
            <a:ext cx="171907" cy="17190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16545" y="1276502"/>
            <a:ext cx="3610051" cy="5296205"/>
          </a:xfrm>
          <a:prstGeom prst="roundRect">
            <a:avLst>
              <a:gd name="adj" fmla="val 802"/>
            </a:avLst>
          </a:prstGeom>
          <a:solidFill>
            <a:srgbClr val="818CF8">
              <a:alpha val="5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216798" y="1858061"/>
            <a:ext cx="320954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773" r="-1773"/>
          <a:stretch/>
        </p:blipFill>
        <p:spPr>
          <a:xfrm>
            <a:off x="8216798" y="1524305"/>
            <a:ext cx="133502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26196" y="1476756"/>
            <a:ext cx="9674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포인트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16798" y="2610612"/>
            <a:ext cx="32095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8216798" y="2085746"/>
            <a:ext cx="171907" cy="171907"/>
          </a:xfrm>
          <a:prstGeom prst="roundRect">
            <a:avLst>
              <a:gd name="adj" fmla="val 118203"/>
            </a:avLst>
          </a:prstGeom>
          <a:noFill/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8216798" y="3306470"/>
            <a:ext cx="32095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216798" y="2781605"/>
            <a:ext cx="171907" cy="171907"/>
          </a:xfrm>
          <a:prstGeom prst="roundRect">
            <a:avLst>
              <a:gd name="adj" fmla="val 118203"/>
            </a:avLst>
          </a:prstGeom>
          <a:noFill/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216798" y="4002329"/>
            <a:ext cx="32095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8216798" y="3478378"/>
            <a:ext cx="171907" cy="171907"/>
          </a:xfrm>
          <a:prstGeom prst="roundRect">
            <a:avLst>
              <a:gd name="adj" fmla="val 118203"/>
            </a:avLst>
          </a:prstGeom>
          <a:noFill/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8216798" y="4174236"/>
            <a:ext cx="171907" cy="171907"/>
          </a:xfrm>
          <a:prstGeom prst="roundRect">
            <a:avLst>
              <a:gd name="adj" fmla="val 118203"/>
            </a:avLst>
          </a:prstGeom>
          <a:noFill/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647395" y="314554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3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8486" y="304495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워크시트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71500" y="552298"/>
            <a:ext cx="33009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초안 → 내 글로 재작성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10970057" y="596189"/>
            <a:ext cx="5833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06:00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503006" y="2057400"/>
            <a:ext cx="9089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할루시네이션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8503006" y="2284171"/>
            <a:ext cx="23399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원문에 없는 내용을 AI가 생성하지 않았는가?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8503006" y="2753258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문체 변경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8503006" y="2980030"/>
            <a:ext cx="27971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번역투 문장을 자연스러운 학술적 문체로 수정했는가?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8503006" y="3449117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정확성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503006" y="3675888"/>
            <a:ext cx="26828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제시된 출처의 링크/DOI가 실재하는지 확인했는가?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8503006" y="414589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윤리적 책임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8503006" y="4372661"/>
            <a:ext cx="288310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결과물의 책임이 작성자 본인에게 있음을 인지했는가?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571500" y="1276502"/>
            <a:ext cx="7210044" cy="1162202"/>
          </a:xfrm>
          <a:prstGeom prst="roundRect">
            <a:avLst>
              <a:gd name="adj" fmla="val 7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771754" y="1539850"/>
            <a:ext cx="152705" cy="133502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000354" y="1505102"/>
            <a:ext cx="10213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2줄 템플릿 입력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771754" y="1752905"/>
            <a:ext cx="6810451" cy="52395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>
            <a:off x="771754" y="1752905"/>
            <a:ext cx="28346" cy="523951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914400" y="1848002"/>
            <a:ext cx="310164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[자료]의 내용만 사용하여 요약해줘 (출처 제한)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914400" y="2030882"/>
            <a:ext cx="321594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- 3문장 내외의 학술적 문체로 작성해줘 (형식 지정)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71500" y="2661818"/>
            <a:ext cx="7210044" cy="1152144"/>
          </a:xfrm>
          <a:prstGeom prst="roundRect">
            <a:avLst>
              <a:gd name="adj" fmla="val 78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5"/>
          <p:cNvSpPr/>
          <p:nvPr/>
        </p:nvSpPr>
        <p:spPr>
          <a:xfrm>
            <a:off x="771754" y="2862072"/>
            <a:ext cx="6810451" cy="790956"/>
          </a:xfrm>
          <a:prstGeom prst="roundRect">
            <a:avLst>
              <a:gd name="adj" fmla="val 1114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4400" y="3081528"/>
            <a:ext cx="114300" cy="1143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104595" y="3048610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팩트 체크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914400" y="3248863"/>
            <a:ext cx="43040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요약문과 원문을 대조하여 환각(Hallucination) 및 수치 왜곡 여부 확인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71500" y="4041648"/>
            <a:ext cx="7210044" cy="1152144"/>
          </a:xfrm>
          <a:prstGeom prst="roundRect">
            <a:avLst>
              <a:gd name="adj" fmla="val 78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9"/>
          <p:cNvSpPr/>
          <p:nvPr/>
        </p:nvSpPr>
        <p:spPr>
          <a:xfrm>
            <a:off x="771754" y="4241902"/>
            <a:ext cx="6810451" cy="790956"/>
          </a:xfrm>
          <a:prstGeom prst="roundRect">
            <a:avLst>
              <a:gd name="adj" fmla="val 1114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4400" y="4461358"/>
            <a:ext cx="114300" cy="114300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104595" y="4428439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재작성 및 출처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914400" y="4628693"/>
            <a:ext cx="3646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내용을 내 문장으로 다듬고, 문장 끝에 (저자, 연도) 표기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571500" y="5421478"/>
            <a:ext cx="7210044" cy="1152144"/>
          </a:xfrm>
          <a:prstGeom prst="roundRect">
            <a:avLst>
              <a:gd name="adj" fmla="val 78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3"/>
          <p:cNvSpPr/>
          <p:nvPr/>
        </p:nvSpPr>
        <p:spPr>
          <a:xfrm>
            <a:off x="771754" y="5620817"/>
            <a:ext cx="6810451" cy="790956"/>
          </a:xfrm>
          <a:prstGeom prst="roundRect">
            <a:avLst>
              <a:gd name="adj" fmla="val 1114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4400" y="5841187"/>
            <a:ext cx="114300" cy="11430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104595" y="5808269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 정보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914400" y="6007608"/>
            <a:ext cx="34655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플랫폼이 아닌, 실제 참고한 '원문 자료'의 서지 정보 작성</a:t>
            </a:r>
            <a:endParaRPr lang="en-US" sz="1000" dirty="0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4117543" y="2471623"/>
            <a:ext cx="114300" cy="152705"/>
          </a:xfrm>
          <a:prstGeom prst="rect">
            <a:avLst/>
          </a:prstGeom>
        </p:spPr>
      </p:pic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4117543" y="3850538"/>
            <a:ext cx="114300" cy="152705"/>
          </a:xfrm>
          <a:prstGeom prst="rect">
            <a:avLst/>
          </a:prstGeom>
        </p:spPr>
      </p:pic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4117543" y="5230368"/>
            <a:ext cx="114300" cy="152705"/>
          </a:xfrm>
          <a:prstGeom prst="rect">
            <a:avLst/>
          </a:prstGeom>
        </p:spPr>
      </p:pic>
      <p:sp>
        <p:nvSpPr>
          <p:cNvPr id="57" name="Shape 46"/>
          <p:cNvSpPr/>
          <p:nvPr/>
        </p:nvSpPr>
        <p:spPr>
          <a:xfrm>
            <a:off x="771754" y="1190549"/>
            <a:ext cx="1276502" cy="228600"/>
          </a:xfrm>
          <a:prstGeom prst="roundRect">
            <a:avLst>
              <a:gd name="adj" fmla="val 66667"/>
            </a:avLst>
          </a:prstGeom>
          <a:solidFill>
            <a:srgbClr val="38BDF8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7"/>
          <p:cNvSpPr txBox="1"/>
          <p:nvPr/>
        </p:nvSpPr>
        <p:spPr>
          <a:xfrm>
            <a:off x="866851" y="1218895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1단계. 프롬프트 작성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771754" y="2575865"/>
            <a:ext cx="1057046" cy="2286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0" name="Text 49"/>
          <p:cNvSpPr txBox="1"/>
          <p:nvPr/>
        </p:nvSpPr>
        <p:spPr>
          <a:xfrm>
            <a:off x="866851" y="2604211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2단계. 결과 검증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771754" y="3955694"/>
            <a:ext cx="1057046" cy="228600"/>
          </a:xfrm>
          <a:prstGeom prst="roundRect">
            <a:avLst>
              <a:gd name="adj" fmla="val 66667"/>
            </a:avLst>
          </a:prstGeom>
          <a:solidFill>
            <a:srgbClr val="F43F5E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1"/>
          <p:cNvSpPr txBox="1"/>
          <p:nvPr/>
        </p:nvSpPr>
        <p:spPr>
          <a:xfrm>
            <a:off x="866851" y="3984041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3단계. 인용 삽입</a:t>
            </a:r>
            <a:endParaRPr lang="en-US" sz="900" dirty="0"/>
          </a:p>
        </p:txBody>
      </p:sp>
      <p:sp>
        <p:nvSpPr>
          <p:cNvPr id="63" name="Shape 52"/>
          <p:cNvSpPr/>
          <p:nvPr/>
        </p:nvSpPr>
        <p:spPr>
          <a:xfrm>
            <a:off x="771754" y="5335524"/>
            <a:ext cx="1019556" cy="22860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3"/>
          <p:cNvSpPr txBox="1"/>
          <p:nvPr/>
        </p:nvSpPr>
        <p:spPr>
          <a:xfrm>
            <a:off x="866851" y="5363870"/>
            <a:ext cx="914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4단계. 참고문헌</a:t>
            </a:r>
            <a:endParaRPr lang="en-US" sz="900" dirty="0"/>
          </a:p>
        </p:txBody>
      </p:sp>
      <p:sp>
        <p:nvSpPr>
          <p:cNvPr id="6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571500" cy="57607"/>
          </a:xfrm>
          <a:prstGeom prst="roundRect">
            <a:avLst>
              <a:gd name="adj" fmla="val 7936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733702"/>
            <a:ext cx="5238598" cy="1143000"/>
          </a:xfrm>
          <a:prstGeom prst="roundRect">
            <a:avLst>
              <a:gd name="adj" fmla="val 800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1949" y="1933956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18642" y="1969618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362456" y="1933956"/>
            <a:ext cx="11457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수집 단계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1402" y="1733702"/>
            <a:ext cx="5238598" cy="1143000"/>
          </a:xfrm>
          <a:prstGeom prst="roundRect">
            <a:avLst>
              <a:gd name="adj" fmla="val 800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391656" y="1933956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448349" y="1969618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791249" y="1933956"/>
            <a:ext cx="13167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&amp; 정리 단계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1695" y="3058668"/>
            <a:ext cx="5238598" cy="1143000"/>
          </a:xfrm>
          <a:prstGeom prst="roundRect">
            <a:avLst>
              <a:gd name="adj" fmla="val 800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61949" y="325892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018642" y="3294583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362456" y="3258922"/>
            <a:ext cx="11457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작성 단계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1402" y="3058668"/>
            <a:ext cx="5238598" cy="1143000"/>
          </a:xfrm>
          <a:prstGeom prst="roundRect">
            <a:avLst>
              <a:gd name="adj" fmla="val 800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391656" y="325892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448349" y="3294583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91249" y="3258922"/>
            <a:ext cx="11457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삽입 단계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1695" y="4383634"/>
            <a:ext cx="5238598" cy="1143000"/>
          </a:xfrm>
          <a:prstGeom prst="roundRect">
            <a:avLst>
              <a:gd name="adj" fmla="val 800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61949" y="4583887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018642" y="4620463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362456" y="4583887"/>
            <a:ext cx="11457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 생성 단계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1402" y="4383634"/>
            <a:ext cx="5238598" cy="1143000"/>
          </a:xfrm>
          <a:prstGeom prst="roundRect">
            <a:avLst>
              <a:gd name="adj" fmla="val 800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391656" y="4583887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448349" y="4620463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791249" y="4583887"/>
            <a:ext cx="11457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검수 단계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61695" y="5757062"/>
            <a:ext cx="10668305" cy="629107"/>
          </a:xfrm>
          <a:prstGeom prst="roundRect">
            <a:avLst>
              <a:gd name="adj" fmla="val 26427"/>
            </a:avLst>
          </a:prstGeom>
          <a:solidFill>
            <a:srgbClr val="0EA5E9"/>
          </a:solidFill>
          <a:ln/>
          <a:effectLst>
            <a:outerShdw blurRad="241300" dist="101600" dir="5400000" algn="bl" rotWithShape="0">
              <a:srgbClr val="0EA5E9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295" y="5983834"/>
            <a:ext cx="171907" cy="171907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238098" y="5943600"/>
            <a:ext cx="12975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전 3분 점검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2730398" y="5908853"/>
            <a:ext cx="2115007" cy="323698"/>
          </a:xfrm>
          <a:prstGeom prst="roundRect">
            <a:avLst>
              <a:gd name="adj" fmla="val 4985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2844698" y="6007608"/>
            <a:ext cx="105156" cy="123444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072177" y="5908853"/>
            <a:ext cx="1591056" cy="323698"/>
          </a:xfrm>
          <a:prstGeom prst="roundRect">
            <a:avLst>
              <a:gd name="adj" fmla="val 4985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5186477" y="6007608"/>
            <a:ext cx="105156" cy="123444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6884518" y="5908853"/>
            <a:ext cx="1609344" cy="323698"/>
          </a:xfrm>
          <a:prstGeom prst="roundRect">
            <a:avLst>
              <a:gd name="adj" fmla="val 4985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998818" y="6007608"/>
            <a:ext cx="105156" cy="12344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61695" y="685800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예방 워크플로우</a:t>
            </a:r>
            <a:endParaRPr lang="en-US" sz="2700" dirty="0"/>
          </a:p>
        </p:txBody>
      </p:sp>
      <p:sp>
        <p:nvSpPr>
          <p:cNvPr id="40" name="Text 34"/>
          <p:cNvSpPr txBox="1"/>
          <p:nvPr/>
        </p:nvSpPr>
        <p:spPr>
          <a:xfrm>
            <a:off x="761695" y="1238098"/>
            <a:ext cx="51197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작성의 시작부터 끝까지, 단계별로 확인해야 할 필수 항목 6가지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1362456" y="2213762"/>
            <a:ext cx="430042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 DB 원문 확보 시, 서지 정보(저자, 연도, 출처)를 파일과 함께 즉시 저장했나요?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6791249" y="2213762"/>
            <a:ext cx="443301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수집한 자료를 주제별로 분류하고, 핵심 내용을 나만의 언어로 요약(메모)해 두었나요?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362456" y="3538728"/>
            <a:ext cx="394746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아이디어를 차용할 때, 문장 끝에 즉시 출처(저자, 연도)를 표기했나요?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6791249" y="3538728"/>
            <a:ext cx="369051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인용은 따옴표("")로, 간접 인용은 자연스러운 문장으로 재구성했나요?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362456" y="4863694"/>
            <a:ext cx="43287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 인용된 모든 문헌이 참고문헌 리스트에 빠짐없이 포함되었나요?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6791249" y="4863694"/>
            <a:ext cx="399501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검사(카피킬러 등)를 수행하고, 인용이 누락된 부분이 없는지 점검했나요?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2948940" y="5966460"/>
            <a:ext cx="18845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인용 ↔ 참고문헌 1:1 매칭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5291633" y="5966460"/>
            <a:ext cx="1360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 따옴표 확인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7103974" y="5966460"/>
            <a:ext cx="1379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표절률 15% 미만 권장</a:t>
            </a:r>
            <a:endParaRPr lang="en-US" sz="10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904695" y="-1904695"/>
            <a:ext cx="7619695" cy="76196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382305" y="3047695"/>
            <a:ext cx="4762195" cy="4762195"/>
          </a:xfrm>
          <a:prstGeom prst="ellipse">
            <a:avLst/>
          </a:prstGeom>
          <a:solidFill>
            <a:srgbClr val="38BDF8">
              <a:alpha val="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26750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58361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6402" y="2464308"/>
            <a:ext cx="571500" cy="57607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476402" y="2712110"/>
            <a:ext cx="19723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마무리/요약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76402" y="3140964"/>
            <a:ext cx="19815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추가 자료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476402" y="3845966"/>
            <a:ext cx="340522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배운 핵심 내용 3가지를 다시 한번 확인하고, 실전 과제로 내 것으로 만드세요.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39005" y="1533449"/>
            <a:ext cx="67821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39005" y="1533449"/>
            <a:ext cx="38405" cy="49560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7605" y="1693469"/>
            <a:ext cx="171907" cy="171907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839005" y="2177186"/>
            <a:ext cx="67821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839005" y="2177186"/>
            <a:ext cx="38405" cy="49560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7605" y="2336292"/>
            <a:ext cx="171907" cy="171907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39005" y="2820010"/>
            <a:ext cx="6782105" cy="495605"/>
          </a:xfrm>
          <a:prstGeom prst="roundRect">
            <a:avLst>
              <a:gd name="adj" fmla="val 28385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839005" y="2820010"/>
            <a:ext cx="38405" cy="495605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7605" y="2979115"/>
            <a:ext cx="171907" cy="17190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839005" y="3876142"/>
            <a:ext cx="2190902" cy="418795"/>
          </a:xfrm>
          <a:prstGeom prst="roundRect">
            <a:avLst>
              <a:gd name="adj" fmla="val 29774"/>
            </a:avLst>
          </a:prstGeom>
          <a:solidFill>
            <a:srgbClr val="38BDF8">
              <a:alpha val="5000"/>
            </a:srgbClr>
          </a:solidFill>
          <a:ln w="12700">
            <a:solidFill>
              <a:srgbClr val="38BDF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0038" y="4016959"/>
            <a:ext cx="133502" cy="13350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137806" y="3876142"/>
            <a:ext cx="2190902" cy="418795"/>
          </a:xfrm>
          <a:prstGeom prst="roundRect">
            <a:avLst>
              <a:gd name="adj" fmla="val 29774"/>
            </a:avLst>
          </a:prstGeom>
          <a:solidFill>
            <a:srgbClr val="38BDF8">
              <a:alpha val="5000"/>
            </a:srgbClr>
          </a:solidFill>
          <a:ln w="12700">
            <a:solidFill>
              <a:srgbClr val="38BDF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 l="-2838" r="-2838"/>
          <a:stretch/>
        </p:blipFill>
        <p:spPr>
          <a:xfrm>
            <a:off x="7613294" y="4016959"/>
            <a:ext cx="123444" cy="13350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435694" y="3876142"/>
            <a:ext cx="2190902" cy="418795"/>
          </a:xfrm>
          <a:prstGeom prst="roundRect">
            <a:avLst>
              <a:gd name="adj" fmla="val 29774"/>
            </a:avLst>
          </a:prstGeom>
          <a:solidFill>
            <a:srgbClr val="38BDF8">
              <a:alpha val="5000"/>
            </a:srgbClr>
          </a:solidFill>
          <a:ln w="12700">
            <a:solidFill>
              <a:srgbClr val="38BDF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9991649" y="4016959"/>
            <a:ext cx="152705" cy="13350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839005" y="4772254"/>
            <a:ext cx="6782105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0"/>
          <p:cNvSpPr/>
          <p:nvPr/>
        </p:nvSpPr>
        <p:spPr>
          <a:xfrm>
            <a:off x="5020056" y="4927702"/>
            <a:ext cx="381305" cy="247802"/>
          </a:xfrm>
          <a:prstGeom prst="roundRect">
            <a:avLst>
              <a:gd name="adj" fmla="val 5677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 txBox="1"/>
          <p:nvPr/>
        </p:nvSpPr>
        <p:spPr>
          <a:xfrm>
            <a:off x="5372100" y="1657807"/>
            <a:ext cx="46826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인용은 내 주장의 신뢰성을 높이고 연구 윤리를 지키는 필수 과정입니다.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5372100" y="2300630"/>
            <a:ext cx="4768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 인용, 직접 인용, 재인용의 차이를 이해하고 상황에 맞게 적용하세요.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5372100" y="2943454"/>
            <a:ext cx="496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등 서지관리도구와 AI 검증 프로세스를 활용하여 표절을 차단하세요.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4839005" y="3587191"/>
            <a:ext cx="945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참고 자료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539435" y="3981298"/>
            <a:ext cx="11036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SNU 글쓰기 교실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7813548" y="3981298"/>
            <a:ext cx="11411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 Style 가이드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0220249" y="3981298"/>
            <a:ext cx="9509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Zotero 매뉴얼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4839005" y="4482389"/>
            <a:ext cx="650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과제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5095951" y="4956962"/>
            <a:ext cx="3209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5529377" y="4924044"/>
            <a:ext cx="39483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리포트 1페이지 작성 후 인용/서지 리스트 첨부하기</a:t>
            </a:r>
            <a:endParaRPr lang="en-US" sz="13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useful-ai.dreamitbiz.com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2026년 1월 「생성형 AI와 창의력·복합문제능력 향상 과정」 강의안을 공개용으로 다시 묶은 것입니다.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교육 목적의 비영리 이용을 허용합니다 — 출처를 표기해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재배포·판매·변형(내용 수정 후 배포)은 허용하지 않습니다. 필요하면 먼저 문의해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문의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이애본(드림아이티비즈). 교육 목적 비영리 이용 · 출처 표기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이애본(드림아이티비즈) · useful-ai.dreamitbiz.com · 교육 목적 비영리 이용 · 출처 표기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4679</Words>
  <Application>Microsoft Office PowerPoint</Application>
  <PresentationFormat>와이드스크린</PresentationFormat>
  <Paragraphs>744</Paragraphs>
  <Slides>42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7" baseType="lpstr">
      <vt:lpstr>Noto Sans KR</vt:lpstr>
      <vt:lpstr>ui-monospace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5</cp:revision>
  <dcterms:created xsi:type="dcterms:W3CDTF">2026-01-19T07:31:57Z</dcterms:created>
  <dcterms:modified xsi:type="dcterms:W3CDTF">2026-01-25T13:15:22Z</dcterms:modified>
</cp:coreProperties>
</file>