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87.xml" ContentType="application/vnd.openxmlformats-officedocument.presentationml.slide+xml"/>
  <Override PartName="/ppt/slides/slide88.xml" ContentType="application/vnd.openxmlformats-officedocument.presentationml.slide+xml"/>
  <Override PartName="/ppt/slides/slide89.xml" ContentType="application/vnd.openxmlformats-officedocument.presentationml.slide+xml"/>
  <Override PartName="/ppt/slides/slide9.xml" ContentType="application/vnd.openxmlformats-officedocument.presentationml.slide+xml"/>
  <Override PartName="/ppt/slides/slide90.xml" ContentType="application/vnd.openxmlformats-officedocument.presentationml.slide+xml"/>
  <Override PartName="/ppt/slides/slide91.xml" ContentType="application/vnd.openxmlformats-officedocument.presentationml.slide+xml"/>
  <Override PartName="/ppt/slides/slide92.xml" ContentType="application/vnd.openxmlformats-officedocument.presentationml.slide+xml"/>
  <Override PartName="/ppt/slides/slide93.xml" ContentType="application/vnd.openxmlformats-officedocument.presentationml.slide+xml"/>
  <Override PartName="/ppt/slides/slide94.xml" ContentType="application/vnd.openxmlformats-officedocument.presentationml.slide+xml"/>
  <Override PartName="/ppt/slides/slide9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  <p:sldId id="298" r:id="rId49"/>
    <p:sldId id="299" r:id="rId50"/>
    <p:sldId id="300" r:id="rId51"/>
    <p:sldId id="301" r:id="rId52"/>
    <p:sldId id="302" r:id="rId53"/>
    <p:sldId id="303" r:id="rId54"/>
    <p:sldId id="304" r:id="rId55"/>
    <p:sldId id="305" r:id="rId56"/>
    <p:sldId id="306" r:id="rId57"/>
    <p:sldId id="307" r:id="rId58"/>
    <p:sldId id="308" r:id="rId59"/>
    <p:sldId id="309" r:id="rId60"/>
    <p:sldId id="310" r:id="rId61"/>
    <p:sldId id="311" r:id="rId62"/>
    <p:sldId id="312" r:id="rId63"/>
    <p:sldId id="313" r:id="rId64"/>
    <p:sldId id="314" r:id="rId65"/>
    <p:sldId id="315" r:id="rId66"/>
    <p:sldId id="316" r:id="rId67"/>
    <p:sldId id="317" r:id="rId68"/>
    <p:sldId id="318" r:id="rId69"/>
    <p:sldId id="319" r:id="rId70"/>
    <p:sldId id="320" r:id="rId71"/>
    <p:sldId id="321" r:id="rId72"/>
    <p:sldId id="322" r:id="rId73"/>
    <p:sldId id="323" r:id="rId74"/>
    <p:sldId id="324" r:id="rId75"/>
    <p:sldId id="325" r:id="rId76"/>
    <p:sldId id="326" r:id="rId77"/>
    <p:sldId id="327" r:id="rId78"/>
    <p:sldId id="328" r:id="rId79"/>
    <p:sldId id="329" r:id="rId80"/>
    <p:sldId id="330" r:id="rId81"/>
    <p:sldId id="331" r:id="rId82"/>
    <p:sldId id="332" r:id="rId83"/>
    <p:sldId id="333" r:id="rId84"/>
    <p:sldId id="334" r:id="rId85"/>
    <p:sldId id="335" r:id="rId86"/>
    <p:sldId id="336" r:id="rId87"/>
    <p:sldId id="337" r:id="rId88"/>
    <p:sldId id="338" r:id="rId89"/>
    <p:sldId id="339" r:id="rId90"/>
    <p:sldId id="340" r:id="rId91"/>
    <p:sldId id="341" r:id="rId92"/>
    <p:sldId id="342" r:id="rId93"/>
    <p:sldId id="343" r:id="rId94"/>
    <p:sldId id="344" r:id="rId95"/>
    <p:sldId id="345" r:id="rId96"/>
    <p:sldId id="346" r:id="rId97"/>
    <p:sldId id="347" r:id="rId98"/>
    <p:sldId id="348" r:id="rId99"/>
    <p:sldId id="349" r:id="rId100"/>
    <p:sldId id="350" r:id="rId101"/>
  </p:sldIdLst>
  <p:sldSz cx="18288000" cy="10287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Relationship Id="rId49" Type="http://schemas.openxmlformats.org/officeDocument/2006/relationships/slide" Target="slides/slide43.xml"/><Relationship Id="rId50" Type="http://schemas.openxmlformats.org/officeDocument/2006/relationships/slide" Target="slides/slide44.xml"/><Relationship Id="rId51" Type="http://schemas.openxmlformats.org/officeDocument/2006/relationships/slide" Target="slides/slide45.xml"/><Relationship Id="rId52" Type="http://schemas.openxmlformats.org/officeDocument/2006/relationships/slide" Target="slides/slide46.xml"/><Relationship Id="rId53" Type="http://schemas.openxmlformats.org/officeDocument/2006/relationships/slide" Target="slides/slide47.xml"/><Relationship Id="rId54" Type="http://schemas.openxmlformats.org/officeDocument/2006/relationships/slide" Target="slides/slide48.xml"/><Relationship Id="rId55" Type="http://schemas.openxmlformats.org/officeDocument/2006/relationships/slide" Target="slides/slide49.xml"/><Relationship Id="rId56" Type="http://schemas.openxmlformats.org/officeDocument/2006/relationships/slide" Target="slides/slide50.xml"/><Relationship Id="rId57" Type="http://schemas.openxmlformats.org/officeDocument/2006/relationships/slide" Target="slides/slide51.xml"/><Relationship Id="rId58" Type="http://schemas.openxmlformats.org/officeDocument/2006/relationships/slide" Target="slides/slide52.xml"/><Relationship Id="rId59" Type="http://schemas.openxmlformats.org/officeDocument/2006/relationships/slide" Target="slides/slide53.xml"/><Relationship Id="rId60" Type="http://schemas.openxmlformats.org/officeDocument/2006/relationships/slide" Target="slides/slide54.xml"/><Relationship Id="rId61" Type="http://schemas.openxmlformats.org/officeDocument/2006/relationships/slide" Target="slides/slide55.xml"/><Relationship Id="rId62" Type="http://schemas.openxmlformats.org/officeDocument/2006/relationships/slide" Target="slides/slide56.xml"/><Relationship Id="rId63" Type="http://schemas.openxmlformats.org/officeDocument/2006/relationships/slide" Target="slides/slide57.xml"/><Relationship Id="rId64" Type="http://schemas.openxmlformats.org/officeDocument/2006/relationships/slide" Target="slides/slide58.xml"/><Relationship Id="rId65" Type="http://schemas.openxmlformats.org/officeDocument/2006/relationships/slide" Target="slides/slide59.xml"/><Relationship Id="rId66" Type="http://schemas.openxmlformats.org/officeDocument/2006/relationships/slide" Target="slides/slide60.xml"/><Relationship Id="rId67" Type="http://schemas.openxmlformats.org/officeDocument/2006/relationships/slide" Target="slides/slide61.xml"/><Relationship Id="rId68" Type="http://schemas.openxmlformats.org/officeDocument/2006/relationships/slide" Target="slides/slide62.xml"/><Relationship Id="rId69" Type="http://schemas.openxmlformats.org/officeDocument/2006/relationships/slide" Target="slides/slide63.xml"/><Relationship Id="rId70" Type="http://schemas.openxmlformats.org/officeDocument/2006/relationships/slide" Target="slides/slide64.xml"/><Relationship Id="rId71" Type="http://schemas.openxmlformats.org/officeDocument/2006/relationships/slide" Target="slides/slide65.xml"/><Relationship Id="rId72" Type="http://schemas.openxmlformats.org/officeDocument/2006/relationships/slide" Target="slides/slide66.xml"/><Relationship Id="rId73" Type="http://schemas.openxmlformats.org/officeDocument/2006/relationships/slide" Target="slides/slide67.xml"/><Relationship Id="rId74" Type="http://schemas.openxmlformats.org/officeDocument/2006/relationships/slide" Target="slides/slide68.xml"/><Relationship Id="rId75" Type="http://schemas.openxmlformats.org/officeDocument/2006/relationships/slide" Target="slides/slide69.xml"/><Relationship Id="rId76" Type="http://schemas.openxmlformats.org/officeDocument/2006/relationships/slide" Target="slides/slide70.xml"/><Relationship Id="rId77" Type="http://schemas.openxmlformats.org/officeDocument/2006/relationships/slide" Target="slides/slide71.xml"/><Relationship Id="rId78" Type="http://schemas.openxmlformats.org/officeDocument/2006/relationships/slide" Target="slides/slide72.xml"/><Relationship Id="rId79" Type="http://schemas.openxmlformats.org/officeDocument/2006/relationships/slide" Target="slides/slide73.xml"/><Relationship Id="rId80" Type="http://schemas.openxmlformats.org/officeDocument/2006/relationships/slide" Target="slides/slide74.xml"/><Relationship Id="rId81" Type="http://schemas.openxmlformats.org/officeDocument/2006/relationships/slide" Target="slides/slide75.xml"/><Relationship Id="rId82" Type="http://schemas.openxmlformats.org/officeDocument/2006/relationships/slide" Target="slides/slide76.xml"/><Relationship Id="rId83" Type="http://schemas.openxmlformats.org/officeDocument/2006/relationships/slide" Target="slides/slide77.xml"/><Relationship Id="rId84" Type="http://schemas.openxmlformats.org/officeDocument/2006/relationships/slide" Target="slides/slide78.xml"/><Relationship Id="rId85" Type="http://schemas.openxmlformats.org/officeDocument/2006/relationships/slide" Target="slides/slide79.xml"/><Relationship Id="rId86" Type="http://schemas.openxmlformats.org/officeDocument/2006/relationships/slide" Target="slides/slide80.xml"/><Relationship Id="rId87" Type="http://schemas.openxmlformats.org/officeDocument/2006/relationships/slide" Target="slides/slide81.xml"/><Relationship Id="rId88" Type="http://schemas.openxmlformats.org/officeDocument/2006/relationships/slide" Target="slides/slide82.xml"/><Relationship Id="rId89" Type="http://schemas.openxmlformats.org/officeDocument/2006/relationships/slide" Target="slides/slide83.xml"/><Relationship Id="rId90" Type="http://schemas.openxmlformats.org/officeDocument/2006/relationships/slide" Target="slides/slide84.xml"/><Relationship Id="rId91" Type="http://schemas.openxmlformats.org/officeDocument/2006/relationships/slide" Target="slides/slide85.xml"/><Relationship Id="rId92" Type="http://schemas.openxmlformats.org/officeDocument/2006/relationships/slide" Target="slides/slide86.xml"/><Relationship Id="rId93" Type="http://schemas.openxmlformats.org/officeDocument/2006/relationships/slide" Target="slides/slide87.xml"/><Relationship Id="rId94" Type="http://schemas.openxmlformats.org/officeDocument/2006/relationships/slide" Target="slides/slide88.xml"/><Relationship Id="rId95" Type="http://schemas.openxmlformats.org/officeDocument/2006/relationships/slide" Target="slides/slide89.xml"/><Relationship Id="rId96" Type="http://schemas.openxmlformats.org/officeDocument/2006/relationships/slide" Target="slides/slide90.xml"/><Relationship Id="rId97" Type="http://schemas.openxmlformats.org/officeDocument/2006/relationships/slide" Target="slides/slide91.xml"/><Relationship Id="rId98" Type="http://schemas.openxmlformats.org/officeDocument/2006/relationships/slide" Target="slides/slide92.xml"/><Relationship Id="rId99" Type="http://schemas.openxmlformats.org/officeDocument/2006/relationships/slide" Target="slides/slide93.xml"/><Relationship Id="rId100" Type="http://schemas.openxmlformats.org/officeDocument/2006/relationships/slide" Target="slides/slide94.xml"/><Relationship Id="rId101" Type="http://schemas.openxmlformats.org/officeDocument/2006/relationships/slide" Target="slides/slide9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4192250" y="-2381250"/>
            <a:ext cx="7429500" cy="7429500"/>
          </a:xfrm>
          <a:prstGeom prst="ellipse">
            <a:avLst/>
          </a:prstGeom>
          <a:solidFill>
            <a:srgbClr val="F0F7F7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5430500" y="-1143000"/>
            <a:ext cx="4953000" cy="49530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15906750" y="5905500"/>
            <a:ext cx="4953000" cy="4953000"/>
          </a:xfrm>
          <a:prstGeom prst="ellipse">
            <a:avLst/>
          </a:prstGeom>
          <a:solidFill>
            <a:srgbClr val="F5F6F7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-1714500" y="2857500"/>
            <a:ext cx="2857500" cy="28575"/>
          </a:xfrm>
          <a:prstGeom prst="rect">
            <a:avLst/>
          </a:prstGeom>
          <a:solidFill>
            <a:srgbClr val="E6EAED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-2857500" y="6953250"/>
            <a:ext cx="6953250" cy="6953250"/>
          </a:xfrm>
          <a:prstGeom prst="ellipse">
            <a:avLst/>
          </a:prstGeom>
          <a:solidFill>
            <a:srgbClr val="ECF5F5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-1581150" y="8229600"/>
            <a:ext cx="4400550" cy="440055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3390900" y="8953500"/>
            <a:ext cx="742950" cy="742950"/>
          </a:xfrm>
          <a:prstGeom prst="ellipse">
            <a:avLst/>
          </a:prstGeom>
          <a:solidFill>
            <a:srgbClr val="EBEEF0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4457700" y="9563100"/>
            <a:ext cx="342900" cy="342900"/>
          </a:xfrm>
          <a:prstGeom prst="ellipse">
            <a:avLst/>
          </a:prstGeom>
          <a:solidFill>
            <a:srgbClr val="DFEDE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1143000" y="9639300"/>
            <a:ext cx="1619250" cy="28575"/>
          </a:xfrm>
          <a:prstGeom prst="rect">
            <a:avLst/>
          </a:prstGeom>
          <a:solidFill>
            <a:srgbClr val="E6EAED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1143000" y="2857500"/>
            <a:ext cx="16002000" cy="285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43000" y="3486150"/>
            <a:ext cx="85725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 spc="12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2일차 · 2026. 10. 13. (화) · 09:00~18:00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43000" y="3905250"/>
            <a:ext cx="16002000" cy="212064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6600" b="1" spc="-347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2일차 교시별 강의 슬라이드</a:t>
            </a:r>
          </a:p>
          <a:p>
            <a:pPr algn="l">
              <a:lnSpc>
                <a:spcPct val="110000"/>
              </a:lnSpc>
            </a:pPr>
            <a:r>
              <a:rPr sz="6600" b="1" spc="-347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KPI 로 문제 공정 찾기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43000" y="6205896"/>
            <a:ext cx="16002000" cy="571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300" b="1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과목 개요 · 1~8교시 차시 슬라이드 · 50분 수업 + 10분 휴식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572500" y="7677150"/>
            <a:ext cx="8572500" cy="857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50000"/>
              </a:lnSpc>
            </a:pPr>
            <a:r>
              <a:rPr sz="1950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생산안전본부 및 품질환경단 직무훈련</a:t>
            </a:r>
          </a:p>
          <a:p>
            <a:pPr algn="r">
              <a:lnSpc>
                <a:spcPct val="150000"/>
              </a:lnSpc>
            </a:pPr>
            <a:r>
              <a:rPr sz="1950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생성형 AI 활용 실무 · 2026. 10. 12.~15.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8F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950" b="1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과정 개요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51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교육 목적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생성형 AI 활용 실무 · 4일 32H · 2일차 개요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500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02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143000" y="2780000"/>
            <a:ext cx="16002000" cy="1000000"/>
          </a:xfrm>
          <a:prstGeom prst="roundRect">
            <a:avLst>
              <a:gd name="adj" fmla="val 6000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443000" y="3010000"/>
            <a:ext cx="540000" cy="54000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443000" y="3010000"/>
            <a:ext cx="540000" cy="54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293000" y="2780000"/>
            <a:ext cx="14602000" cy="100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24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생성형 AI 를 활용한 데이터 분석 및 문제 해결 방법론을 이해합니다.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1143000" y="3960000"/>
            <a:ext cx="16002000" cy="1000000"/>
          </a:xfrm>
          <a:prstGeom prst="roundRect">
            <a:avLst>
              <a:gd name="adj" fmla="val 6000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1443000" y="4190000"/>
            <a:ext cx="540000" cy="54000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443000" y="4190000"/>
            <a:ext cx="540000" cy="54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293000" y="3960000"/>
            <a:ext cx="14602000" cy="100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24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데이터·AI 기반 분석 실무를 이해하고 현업 적용 역량을 강화합니다.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1143000" y="5140000"/>
            <a:ext cx="16002000" cy="1000000"/>
          </a:xfrm>
          <a:prstGeom prst="roundRect">
            <a:avLst>
              <a:gd name="adj" fmla="val 6000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1443000" y="5370000"/>
            <a:ext cx="540000" cy="54000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443000" y="5370000"/>
            <a:ext cx="540000" cy="54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293000" y="5140000"/>
            <a:ext cx="14602000" cy="100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24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제조 업무 전반에서 데이터 기반 의사결정 및 문제 해결 능력을 확보합니다.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1143000" y="6500000"/>
            <a:ext cx="16002000" cy="900000"/>
          </a:xfrm>
          <a:prstGeom prst="roundRect">
            <a:avLst>
              <a:gd name="adj" fmla="val 6666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443000" y="6500000"/>
            <a:ext cx="15402000" cy="90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95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대상 · 생산·품질 기술직 재직자 9명 · 2026. 10. 12.(월)~15.(목) · 4일 32시간 · 하루 8교시(50분 수업 + 10분 휴식)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8F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950" b="1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과정 개요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51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과정의 특장점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생성형 AI 활용 실무 · 4일 32H · 2일차 개요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500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03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143000" y="2420000"/>
            <a:ext cx="16002000" cy="660000"/>
          </a:xfrm>
          <a:prstGeom prst="roundRect">
            <a:avLst>
              <a:gd name="adj" fmla="val 9090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1143000" y="2420000"/>
            <a:ext cx="47625" cy="66000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443000" y="2420000"/>
            <a:ext cx="5300000" cy="66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01  하나의 문제를 4일 동안 끝까지 (PBL)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43000" y="2420000"/>
            <a:ext cx="9952000" cy="66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7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가상 기업 「새벽정밀」의 문제 하나를 문제 정의부터 보고까지 4일 동안 이어서 풉니다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1143000" y="3155000"/>
            <a:ext cx="16002000" cy="660000"/>
          </a:xfrm>
          <a:prstGeom prst="roundRect">
            <a:avLst>
              <a:gd name="adj" fmla="val 9090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1143000" y="3155000"/>
            <a:ext cx="47625" cy="66000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443000" y="3155000"/>
            <a:ext cx="5300000" cy="66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02  제조 현장 지표 중심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943000" y="3155000"/>
            <a:ext cx="9952000" cy="66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7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6공정 12설비 62일 데이터로 OEE · Cpk · 불량률 · 상관 · 파레토를 다룹니다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1143000" y="3890000"/>
            <a:ext cx="16002000" cy="660000"/>
          </a:xfrm>
          <a:prstGeom prst="roundRect">
            <a:avLst>
              <a:gd name="adj" fmla="val 9090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1143000" y="3890000"/>
            <a:ext cx="47625" cy="66000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443000" y="3890000"/>
            <a:ext cx="5300000" cy="66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03  실습 중심 32시간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943000" y="3890000"/>
            <a:ext cx="9952000" cy="66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7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32차시 가운데 24차시가 실습 — 차시마다 단계별 실습과 결과물이 있습니다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1143000" y="4625000"/>
            <a:ext cx="16002000" cy="660000"/>
          </a:xfrm>
          <a:prstGeom prst="roundRect">
            <a:avLst>
              <a:gd name="adj" fmla="val 9090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1143000" y="4625000"/>
            <a:ext cx="47625" cy="66000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443000" y="4625000"/>
            <a:ext cx="5300000" cy="66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04  AI 는 초안, 검증은 사람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943000" y="4625000"/>
            <a:ext cx="9952000" cy="66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7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AI 가 낸 숫자는 Excel 로 다시 계산하고, 결론은 사실과 추정으로 나눕니다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1143000" y="5360000"/>
            <a:ext cx="16002000" cy="660000"/>
          </a:xfrm>
          <a:prstGeom prst="roundRect">
            <a:avLst>
              <a:gd name="adj" fmla="val 9090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1143000" y="5360000"/>
            <a:ext cx="47625" cy="66000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443000" y="5360000"/>
            <a:ext cx="5300000" cy="66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05  무료 계정·보안 전제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943000" y="5360000"/>
            <a:ext cx="9952000" cy="66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7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유료 계정 없이도 진행 · 실습은 가상 데이터 · 회사 실제 데이터는 올리지 않습니다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1143000" y="6095000"/>
            <a:ext cx="16002000" cy="660000"/>
          </a:xfrm>
          <a:prstGeom prst="roundRect">
            <a:avLst>
              <a:gd name="adj" fmla="val 9090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1143000" y="6095000"/>
            <a:ext cx="47625" cy="66000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443000" y="6095000"/>
            <a:ext cx="5300000" cy="66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06  성과를 숫자로 확인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943000" y="6095000"/>
            <a:ext cx="9952000" cy="66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7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같은 문항의 사전 · 사후 평가와 팀 개선 보고서 · 발표로 성과를 확인합니다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1143000" y="6830000"/>
            <a:ext cx="16002000" cy="660000"/>
          </a:xfrm>
          <a:prstGeom prst="roundRect">
            <a:avLst>
              <a:gd name="adj" fmla="val 9090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1143000" y="6830000"/>
            <a:ext cx="47625" cy="66000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1443000" y="6830000"/>
            <a:ext cx="5300000" cy="66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07  교육 뒤에도 쓰는 자료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943000" y="6830000"/>
            <a:ext cx="9952000" cy="66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7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학습 사이트 · 슬라이드 · 실습 파일 8종을 교육 뒤에도 복습에 씁니다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8F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950" b="1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과정 개요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51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1일차 ~ 4일차 과목 구성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생성형 AI 활용 실무 · 4일 32H · 2일차 개요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500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04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143000" y="2550000"/>
            <a:ext cx="2650000" cy="590000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43000" y="2550000"/>
            <a:ext cx="2650000" cy="59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일차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843000" y="2550000"/>
            <a:ext cx="4300000" cy="59000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843000" y="2550000"/>
            <a:ext cx="4300000" cy="59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주제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193000" y="2550000"/>
            <a:ext cx="4450000" cy="59000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193000" y="2550000"/>
            <a:ext cx="4450000" cy="59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오전 과목 (1~4교시)</a:t>
            </a:r>
          </a:p>
        </p:txBody>
      </p:sp>
      <p:sp>
        <p:nvSpPr>
          <p:cNvPr id="17" name="Rectangle 16"/>
          <p:cNvSpPr/>
          <p:nvPr/>
        </p:nvSpPr>
        <p:spPr>
          <a:xfrm>
            <a:off x="12693000" y="2550000"/>
            <a:ext cx="4452000" cy="59000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2693000" y="2550000"/>
            <a:ext cx="4452000" cy="59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오후 과목 (5~8교시)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1143000" y="3230000"/>
            <a:ext cx="2650000" cy="950000"/>
          </a:xfrm>
          <a:prstGeom prst="roundRect">
            <a:avLst>
              <a:gd name="adj" fmla="val 6315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283000" y="3230000"/>
            <a:ext cx="2370000" cy="95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72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1일차  10. 12. (월)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3843000" y="3230000"/>
            <a:ext cx="4300000" cy="950000"/>
          </a:xfrm>
          <a:prstGeom prst="roundRect">
            <a:avLst>
              <a:gd name="adj" fmla="val 6315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983000" y="3230000"/>
            <a:ext cx="4020000" cy="95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7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문제 이해 · AI 와 데이터 준비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8193000" y="3230000"/>
            <a:ext cx="4450000" cy="950000"/>
          </a:xfrm>
          <a:prstGeom prst="roundRect">
            <a:avLst>
              <a:gd name="adj" fmla="val 6315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333000" y="3230000"/>
            <a:ext cx="4170000" cy="95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7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학습개요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12693000" y="3230000"/>
            <a:ext cx="4452000" cy="950000"/>
          </a:xfrm>
          <a:prstGeom prst="roundRect">
            <a:avLst>
              <a:gd name="adj" fmla="val 6315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2833000" y="3230000"/>
            <a:ext cx="4172000" cy="95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7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프롬프트 엔지니어링 및 제조 데이터 이해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1143000" y="4260000"/>
            <a:ext cx="2650000" cy="950000"/>
          </a:xfrm>
          <a:prstGeom prst="roundRect">
            <a:avLst>
              <a:gd name="adj" fmla="val 6315"/>
            </a:avLst>
          </a:prstGeom>
          <a:solidFill>
            <a:srgbClr val="E7F4F4"/>
          </a:solidFill>
          <a:ln w="9525">
            <a:solidFill>
              <a:srgbClr val="0E7C86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1283000" y="4260000"/>
            <a:ext cx="2370000" cy="95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72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2일차  10. 13. (화)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3843000" y="4260000"/>
            <a:ext cx="4300000" cy="950000"/>
          </a:xfrm>
          <a:prstGeom prst="roundRect">
            <a:avLst>
              <a:gd name="adj" fmla="val 6315"/>
            </a:avLst>
          </a:prstGeom>
          <a:solidFill>
            <a:srgbClr val="E7F4F4"/>
          </a:solidFill>
          <a:ln w="9525">
            <a:solidFill>
              <a:srgbClr val="0E7C86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3983000" y="4260000"/>
            <a:ext cx="4020000" cy="95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72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KPI 로 문제 공정 찾기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8193000" y="4260000"/>
            <a:ext cx="4450000" cy="950000"/>
          </a:xfrm>
          <a:prstGeom prst="roundRect">
            <a:avLst>
              <a:gd name="adj" fmla="val 6315"/>
            </a:avLst>
          </a:prstGeom>
          <a:solidFill>
            <a:srgbClr val="E7F4F4"/>
          </a:solidFill>
          <a:ln w="9525">
            <a:solidFill>
              <a:srgbClr val="0E7C86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333000" y="4260000"/>
            <a:ext cx="4170000" cy="95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72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KPI 분석 기초와 공정별 분석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12693000" y="4260000"/>
            <a:ext cx="4452000" cy="950000"/>
          </a:xfrm>
          <a:prstGeom prst="roundRect">
            <a:avLst>
              <a:gd name="adj" fmla="val 6315"/>
            </a:avLst>
          </a:prstGeom>
          <a:solidFill>
            <a:srgbClr val="E7F4F4"/>
          </a:solidFill>
          <a:ln w="9525">
            <a:solidFill>
              <a:srgbClr val="0E7C86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12833000" y="4260000"/>
            <a:ext cx="4172000" cy="95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72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통합 KPI 분석과 문제 공정 선정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1143000" y="5290000"/>
            <a:ext cx="2650000" cy="950000"/>
          </a:xfrm>
          <a:prstGeom prst="roundRect">
            <a:avLst>
              <a:gd name="adj" fmla="val 6315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1283000" y="5290000"/>
            <a:ext cx="2370000" cy="95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72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3일차  10. 14. (수)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3843000" y="5290000"/>
            <a:ext cx="4300000" cy="950000"/>
          </a:xfrm>
          <a:prstGeom prst="roundRect">
            <a:avLst>
              <a:gd name="adj" fmla="val 6315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3983000" y="5290000"/>
            <a:ext cx="4020000" cy="95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7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원인 분석과 가설 검증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8193000" y="5290000"/>
            <a:ext cx="4450000" cy="950000"/>
          </a:xfrm>
          <a:prstGeom prst="roundRect">
            <a:avLst>
              <a:gd name="adj" fmla="val 6315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8333000" y="5290000"/>
            <a:ext cx="4170000" cy="95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7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AI 기반 원인분석 프레임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12693000" y="5290000"/>
            <a:ext cx="4452000" cy="950000"/>
          </a:xfrm>
          <a:prstGeom prst="roundRect">
            <a:avLst>
              <a:gd name="adj" fmla="val 6315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12833000" y="5290000"/>
            <a:ext cx="4172000" cy="95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7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원인 후보 분류와 검증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1143000" y="6320000"/>
            <a:ext cx="2650000" cy="950000"/>
          </a:xfrm>
          <a:prstGeom prst="roundRect">
            <a:avLst>
              <a:gd name="adj" fmla="val 6315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1283000" y="6320000"/>
            <a:ext cx="2370000" cy="95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72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4일차  10. 15. (목)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3843000" y="6320000"/>
            <a:ext cx="4300000" cy="950000"/>
          </a:xfrm>
          <a:prstGeom prst="roundRect">
            <a:avLst>
              <a:gd name="adj" fmla="val 6315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3983000" y="6320000"/>
            <a:ext cx="4020000" cy="95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7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개선안 · 실행계획 · 보고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8193000" y="6320000"/>
            <a:ext cx="4450000" cy="950000"/>
          </a:xfrm>
          <a:prstGeom prst="roundRect">
            <a:avLst>
              <a:gd name="adj" fmla="val 6315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8333000" y="6320000"/>
            <a:ext cx="4170000" cy="95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7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개선안 도출과 우선순위 평가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12693000" y="6320000"/>
            <a:ext cx="4452000" cy="950000"/>
          </a:xfrm>
          <a:prstGeom prst="roundRect">
            <a:avLst>
              <a:gd name="adj" fmla="val 6315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12833000" y="6320000"/>
            <a:ext cx="4172000" cy="95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7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실행계획과 최종 보고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1143000" y="74800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50" b="1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▶ 이 묶음 = 2일차 · 과목명과 세부내용은 위탁기관 커리큘럼 그대로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8F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950" b="1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2일차 개요 · 2026. 10. 13. (화)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51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KPI 로 문제 공정 찾기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생성형 AI 활용 실무 · 4일 32H · 2일차 개요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500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05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43000" y="2250000"/>
            <a:ext cx="16002000" cy="70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6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정제된 데이터로 공정의 성과를 숫자로 봅니다. 오전에는 OEE·Cpk 의 계산식을 이해하고 공정별로 산출·시각화하며, 오후에는 지표 간 상관·추세·파레토를 읽어 데이터 근거로 중점관리공정을 선정합니다.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143000" y="3100000"/>
            <a:ext cx="1500000" cy="455000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143000" y="3100000"/>
            <a:ext cx="1500000" cy="455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5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교시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693000" y="3100000"/>
            <a:ext cx="2000000" cy="45500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693000" y="3100000"/>
            <a:ext cx="2000000" cy="455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5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시간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743000" y="3100000"/>
            <a:ext cx="4200000" cy="45500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743000" y="3100000"/>
            <a:ext cx="4200000" cy="455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5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과목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993000" y="3100000"/>
            <a:ext cx="6600000" cy="45500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993000" y="3100000"/>
            <a:ext cx="6600000" cy="455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5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차시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5643000" y="3100000"/>
            <a:ext cx="1502000" cy="45500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5643000" y="3100000"/>
            <a:ext cx="1502000" cy="455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5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유형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1143000" y="3600000"/>
            <a:ext cx="1500000" cy="425000"/>
          </a:xfrm>
          <a:prstGeom prst="roundRect">
            <a:avLst>
              <a:gd name="adj" fmla="val 12000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233000" y="3600000"/>
            <a:ext cx="1320000" cy="425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1교시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2693000" y="3600000"/>
            <a:ext cx="2000000" cy="425000"/>
          </a:xfrm>
          <a:prstGeom prst="roundRect">
            <a:avLst>
              <a:gd name="adj" fmla="val 12000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2783000" y="3600000"/>
            <a:ext cx="1820000" cy="425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09:00~09:50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4743000" y="3600000"/>
            <a:ext cx="4200000" cy="425000"/>
          </a:xfrm>
          <a:prstGeom prst="roundRect">
            <a:avLst>
              <a:gd name="adj" fmla="val 12000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833000" y="3600000"/>
            <a:ext cx="4020000" cy="425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KPI 분석 기초와 공정별 분석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8993000" y="3600000"/>
            <a:ext cx="6600000" cy="425000"/>
          </a:xfrm>
          <a:prstGeom prst="roundRect">
            <a:avLst>
              <a:gd name="adj" fmla="val 12000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083000" y="3600000"/>
            <a:ext cx="6420000" cy="425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설비종합효율(OEE) — 가동률·성능·양품률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15643000" y="3600000"/>
            <a:ext cx="1502000" cy="425000"/>
          </a:xfrm>
          <a:prstGeom prst="roundRect">
            <a:avLst>
              <a:gd name="adj" fmla="val 12000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5733000" y="3600000"/>
            <a:ext cx="1322000" cy="425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이론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1143000" y="4070000"/>
            <a:ext cx="1500000" cy="425000"/>
          </a:xfrm>
          <a:prstGeom prst="roundRect">
            <a:avLst>
              <a:gd name="adj" fmla="val 12000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233000" y="4070000"/>
            <a:ext cx="1320000" cy="425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2교시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2693000" y="4070000"/>
            <a:ext cx="2000000" cy="425000"/>
          </a:xfrm>
          <a:prstGeom prst="roundRect">
            <a:avLst>
              <a:gd name="adj" fmla="val 12000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2783000" y="4070000"/>
            <a:ext cx="1820000" cy="425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10:00~10:50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4743000" y="4070000"/>
            <a:ext cx="4200000" cy="425000"/>
          </a:xfrm>
          <a:prstGeom prst="roundRect">
            <a:avLst>
              <a:gd name="adj" fmla="val 12000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4833000" y="4070000"/>
            <a:ext cx="4020000" cy="425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KPI 분석 기초와 공정별 분석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8993000" y="4070000"/>
            <a:ext cx="6600000" cy="425000"/>
          </a:xfrm>
          <a:prstGeom prst="roundRect">
            <a:avLst>
              <a:gd name="adj" fmla="val 12000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9083000" y="4070000"/>
            <a:ext cx="6420000" cy="425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공정능력지수(Cp·Cpk) — 규격과 산포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15643000" y="4070000"/>
            <a:ext cx="1502000" cy="425000"/>
          </a:xfrm>
          <a:prstGeom prst="roundRect">
            <a:avLst>
              <a:gd name="adj" fmla="val 12000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15733000" y="4070000"/>
            <a:ext cx="1322000" cy="425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이론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1143000" y="4540000"/>
            <a:ext cx="1500000" cy="425000"/>
          </a:xfrm>
          <a:prstGeom prst="roundRect">
            <a:avLst>
              <a:gd name="adj" fmla="val 12000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1233000" y="4540000"/>
            <a:ext cx="1320000" cy="425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3교시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2693000" y="4540000"/>
            <a:ext cx="2000000" cy="425000"/>
          </a:xfrm>
          <a:prstGeom prst="roundRect">
            <a:avLst>
              <a:gd name="adj" fmla="val 12000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2783000" y="4540000"/>
            <a:ext cx="1820000" cy="425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11:00~11:50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4743000" y="4540000"/>
            <a:ext cx="4200000" cy="425000"/>
          </a:xfrm>
          <a:prstGeom prst="roundRect">
            <a:avLst>
              <a:gd name="adj" fmla="val 12000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4833000" y="4540000"/>
            <a:ext cx="4020000" cy="425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KPI 분석 기초와 공정별 분석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8993000" y="4540000"/>
            <a:ext cx="6600000" cy="425000"/>
          </a:xfrm>
          <a:prstGeom prst="roundRect">
            <a:avLst>
              <a:gd name="adj" fmla="val 12000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9083000" y="4540000"/>
            <a:ext cx="6420000" cy="425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4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공정별 OEE 산출 — AI 와 Excel 로 계산하고 검증하기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15643000" y="4540000"/>
            <a:ext cx="1502000" cy="425000"/>
          </a:xfrm>
          <a:prstGeom prst="roundRect">
            <a:avLst>
              <a:gd name="adj" fmla="val 12000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15733000" y="4540000"/>
            <a:ext cx="1322000" cy="425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실습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1143000" y="5010000"/>
            <a:ext cx="16002000" cy="300000"/>
          </a:xfrm>
          <a:prstGeom prst="roundRect">
            <a:avLst>
              <a:gd name="adj" fmla="val 12000"/>
            </a:avLst>
          </a:prstGeom>
          <a:solidFill>
            <a:srgbClr val="FFF6EC"/>
          </a:solidFill>
          <a:ln w="9525">
            <a:solidFill>
              <a:srgbClr val="F2D3AE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1143000" y="5010000"/>
            <a:ext cx="16002000" cy="30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350" b="1">
                <a:solidFill>
                  <a:srgbClr val="D9822B"/>
                </a:solidFill>
                <a:latin typeface="Pretendard"/>
                <a:ea typeface="Pretendard"/>
                <a:cs typeface="Pretendard"/>
              </a:rPr>
              <a:t>12:00~13:00  점심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1143000" y="5325000"/>
            <a:ext cx="1500000" cy="425000"/>
          </a:xfrm>
          <a:prstGeom prst="roundRect">
            <a:avLst>
              <a:gd name="adj" fmla="val 12000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1233000" y="5325000"/>
            <a:ext cx="1320000" cy="425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4교시</a:t>
            </a:r>
          </a:p>
        </p:txBody>
      </p:sp>
      <p:sp>
        <p:nvSpPr>
          <p:cNvPr id="56" name="Rounded Rectangle 55"/>
          <p:cNvSpPr/>
          <p:nvPr/>
        </p:nvSpPr>
        <p:spPr>
          <a:xfrm>
            <a:off x="2693000" y="5325000"/>
            <a:ext cx="2000000" cy="425000"/>
          </a:xfrm>
          <a:prstGeom prst="roundRect">
            <a:avLst>
              <a:gd name="adj" fmla="val 12000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2783000" y="5325000"/>
            <a:ext cx="1820000" cy="425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13:00~13:50</a:t>
            </a:r>
          </a:p>
        </p:txBody>
      </p:sp>
      <p:sp>
        <p:nvSpPr>
          <p:cNvPr id="58" name="Rounded Rectangle 57"/>
          <p:cNvSpPr/>
          <p:nvPr/>
        </p:nvSpPr>
        <p:spPr>
          <a:xfrm>
            <a:off x="4743000" y="5325000"/>
            <a:ext cx="4200000" cy="425000"/>
          </a:xfrm>
          <a:prstGeom prst="roundRect">
            <a:avLst>
              <a:gd name="adj" fmla="val 12000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4833000" y="5325000"/>
            <a:ext cx="4020000" cy="425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KPI 분석 기초와 공정별 분석</a:t>
            </a:r>
          </a:p>
        </p:txBody>
      </p:sp>
      <p:sp>
        <p:nvSpPr>
          <p:cNvPr id="60" name="Rounded Rectangle 59"/>
          <p:cNvSpPr/>
          <p:nvPr/>
        </p:nvSpPr>
        <p:spPr>
          <a:xfrm>
            <a:off x="8993000" y="5325000"/>
            <a:ext cx="6600000" cy="425000"/>
          </a:xfrm>
          <a:prstGeom prst="roundRect">
            <a:avLst>
              <a:gd name="adj" fmla="val 12000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9083000" y="5325000"/>
            <a:ext cx="6420000" cy="425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4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Cpk 산출과 시각화 — 히스토그램·막대·추세 차트</a:t>
            </a:r>
          </a:p>
        </p:txBody>
      </p:sp>
      <p:sp>
        <p:nvSpPr>
          <p:cNvPr id="62" name="Rounded Rectangle 61"/>
          <p:cNvSpPr/>
          <p:nvPr/>
        </p:nvSpPr>
        <p:spPr>
          <a:xfrm>
            <a:off x="15643000" y="5325000"/>
            <a:ext cx="1502000" cy="425000"/>
          </a:xfrm>
          <a:prstGeom prst="roundRect">
            <a:avLst>
              <a:gd name="adj" fmla="val 12000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15733000" y="5325000"/>
            <a:ext cx="1322000" cy="425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실습</a:t>
            </a:r>
          </a:p>
        </p:txBody>
      </p:sp>
      <p:sp>
        <p:nvSpPr>
          <p:cNvPr id="64" name="Rounded Rectangle 63"/>
          <p:cNvSpPr/>
          <p:nvPr/>
        </p:nvSpPr>
        <p:spPr>
          <a:xfrm>
            <a:off x="1143000" y="5795000"/>
            <a:ext cx="1500000" cy="425000"/>
          </a:xfrm>
          <a:prstGeom prst="roundRect">
            <a:avLst>
              <a:gd name="adj" fmla="val 12000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1233000" y="5795000"/>
            <a:ext cx="1320000" cy="425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5교시</a:t>
            </a:r>
          </a:p>
        </p:txBody>
      </p:sp>
      <p:sp>
        <p:nvSpPr>
          <p:cNvPr id="66" name="Rounded Rectangle 65"/>
          <p:cNvSpPr/>
          <p:nvPr/>
        </p:nvSpPr>
        <p:spPr>
          <a:xfrm>
            <a:off x="2693000" y="5795000"/>
            <a:ext cx="2000000" cy="425000"/>
          </a:xfrm>
          <a:prstGeom prst="roundRect">
            <a:avLst>
              <a:gd name="adj" fmla="val 12000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2783000" y="5795000"/>
            <a:ext cx="1820000" cy="425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14:00~14:50</a:t>
            </a:r>
          </a:p>
        </p:txBody>
      </p:sp>
      <p:sp>
        <p:nvSpPr>
          <p:cNvPr id="68" name="Rounded Rectangle 67"/>
          <p:cNvSpPr/>
          <p:nvPr/>
        </p:nvSpPr>
        <p:spPr>
          <a:xfrm>
            <a:off x="4743000" y="5795000"/>
            <a:ext cx="4200000" cy="425000"/>
          </a:xfrm>
          <a:prstGeom prst="roundRect">
            <a:avLst>
              <a:gd name="adj" fmla="val 12000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4833000" y="5795000"/>
            <a:ext cx="4020000" cy="425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통합 KPI 분석과 문제 공정 선정</a:t>
            </a:r>
          </a:p>
        </p:txBody>
      </p:sp>
      <p:sp>
        <p:nvSpPr>
          <p:cNvPr id="70" name="Rounded Rectangle 69"/>
          <p:cNvSpPr/>
          <p:nvPr/>
        </p:nvSpPr>
        <p:spPr>
          <a:xfrm>
            <a:off x="8993000" y="5795000"/>
            <a:ext cx="6600000" cy="425000"/>
          </a:xfrm>
          <a:prstGeom prst="roundRect">
            <a:avLst>
              <a:gd name="adj" fmla="val 12000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9083000" y="5795000"/>
            <a:ext cx="6420000" cy="425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지표 간 상관관계 — 산점도와 상관계수 읽기</a:t>
            </a:r>
          </a:p>
        </p:txBody>
      </p:sp>
      <p:sp>
        <p:nvSpPr>
          <p:cNvPr id="72" name="Rounded Rectangle 71"/>
          <p:cNvSpPr/>
          <p:nvPr/>
        </p:nvSpPr>
        <p:spPr>
          <a:xfrm>
            <a:off x="15643000" y="5795000"/>
            <a:ext cx="1502000" cy="425000"/>
          </a:xfrm>
          <a:prstGeom prst="roundRect">
            <a:avLst>
              <a:gd name="adj" fmla="val 12000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15733000" y="5795000"/>
            <a:ext cx="1322000" cy="425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이론+실습</a:t>
            </a:r>
          </a:p>
        </p:txBody>
      </p:sp>
      <p:sp>
        <p:nvSpPr>
          <p:cNvPr id="74" name="Rounded Rectangle 73"/>
          <p:cNvSpPr/>
          <p:nvPr/>
        </p:nvSpPr>
        <p:spPr>
          <a:xfrm>
            <a:off x="1143000" y="6265000"/>
            <a:ext cx="1500000" cy="425000"/>
          </a:xfrm>
          <a:prstGeom prst="roundRect">
            <a:avLst>
              <a:gd name="adj" fmla="val 12000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1233000" y="6265000"/>
            <a:ext cx="1320000" cy="425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6교시</a:t>
            </a:r>
          </a:p>
        </p:txBody>
      </p:sp>
      <p:sp>
        <p:nvSpPr>
          <p:cNvPr id="76" name="Rounded Rectangle 75"/>
          <p:cNvSpPr/>
          <p:nvPr/>
        </p:nvSpPr>
        <p:spPr>
          <a:xfrm>
            <a:off x="2693000" y="6265000"/>
            <a:ext cx="2000000" cy="425000"/>
          </a:xfrm>
          <a:prstGeom prst="roundRect">
            <a:avLst>
              <a:gd name="adj" fmla="val 12000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2783000" y="6265000"/>
            <a:ext cx="1820000" cy="425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15:00~15:50</a:t>
            </a:r>
          </a:p>
        </p:txBody>
      </p:sp>
      <p:sp>
        <p:nvSpPr>
          <p:cNvPr id="78" name="Rounded Rectangle 77"/>
          <p:cNvSpPr/>
          <p:nvPr/>
        </p:nvSpPr>
        <p:spPr>
          <a:xfrm>
            <a:off x="4743000" y="6265000"/>
            <a:ext cx="4200000" cy="425000"/>
          </a:xfrm>
          <a:prstGeom prst="roundRect">
            <a:avLst>
              <a:gd name="adj" fmla="val 12000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4833000" y="6265000"/>
            <a:ext cx="4020000" cy="425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통합 KPI 분석과 문제 공정 선정</a:t>
            </a:r>
          </a:p>
        </p:txBody>
      </p:sp>
      <p:sp>
        <p:nvSpPr>
          <p:cNvPr id="80" name="Rounded Rectangle 79"/>
          <p:cNvSpPr/>
          <p:nvPr/>
        </p:nvSpPr>
        <p:spPr>
          <a:xfrm>
            <a:off x="8993000" y="6265000"/>
            <a:ext cx="6600000" cy="425000"/>
          </a:xfrm>
          <a:prstGeom prst="roundRect">
            <a:avLst>
              <a:gd name="adj" fmla="val 12000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9083000" y="6265000"/>
            <a:ext cx="6420000" cy="425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상관 해석의 함정 — 층별 분석과 가짜 상관</a:t>
            </a:r>
          </a:p>
        </p:txBody>
      </p:sp>
      <p:sp>
        <p:nvSpPr>
          <p:cNvPr id="82" name="Rounded Rectangle 81"/>
          <p:cNvSpPr/>
          <p:nvPr/>
        </p:nvSpPr>
        <p:spPr>
          <a:xfrm>
            <a:off x="15643000" y="6265000"/>
            <a:ext cx="1502000" cy="425000"/>
          </a:xfrm>
          <a:prstGeom prst="roundRect">
            <a:avLst>
              <a:gd name="adj" fmla="val 12000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3" name="TextBox 82"/>
          <p:cNvSpPr txBox="1"/>
          <p:nvPr/>
        </p:nvSpPr>
        <p:spPr>
          <a:xfrm>
            <a:off x="15733000" y="6265000"/>
            <a:ext cx="1322000" cy="425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실습</a:t>
            </a:r>
          </a:p>
        </p:txBody>
      </p:sp>
      <p:sp>
        <p:nvSpPr>
          <p:cNvPr id="84" name="Rounded Rectangle 83"/>
          <p:cNvSpPr/>
          <p:nvPr/>
        </p:nvSpPr>
        <p:spPr>
          <a:xfrm>
            <a:off x="1143000" y="6735000"/>
            <a:ext cx="1500000" cy="425000"/>
          </a:xfrm>
          <a:prstGeom prst="roundRect">
            <a:avLst>
              <a:gd name="adj" fmla="val 12000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1233000" y="6735000"/>
            <a:ext cx="1320000" cy="425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7교시</a:t>
            </a:r>
          </a:p>
        </p:txBody>
      </p:sp>
      <p:sp>
        <p:nvSpPr>
          <p:cNvPr id="86" name="Rounded Rectangle 85"/>
          <p:cNvSpPr/>
          <p:nvPr/>
        </p:nvSpPr>
        <p:spPr>
          <a:xfrm>
            <a:off x="2693000" y="6735000"/>
            <a:ext cx="2000000" cy="425000"/>
          </a:xfrm>
          <a:prstGeom prst="roundRect">
            <a:avLst>
              <a:gd name="adj" fmla="val 12000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2783000" y="6735000"/>
            <a:ext cx="1820000" cy="425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16:00~16:50</a:t>
            </a:r>
          </a:p>
        </p:txBody>
      </p:sp>
      <p:sp>
        <p:nvSpPr>
          <p:cNvPr id="88" name="Rounded Rectangle 87"/>
          <p:cNvSpPr/>
          <p:nvPr/>
        </p:nvSpPr>
        <p:spPr>
          <a:xfrm>
            <a:off x="4743000" y="6735000"/>
            <a:ext cx="4200000" cy="425000"/>
          </a:xfrm>
          <a:prstGeom prst="roundRect">
            <a:avLst>
              <a:gd name="adj" fmla="val 12000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9" name="TextBox 88"/>
          <p:cNvSpPr txBox="1"/>
          <p:nvPr/>
        </p:nvSpPr>
        <p:spPr>
          <a:xfrm>
            <a:off x="4833000" y="6735000"/>
            <a:ext cx="4020000" cy="425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통합 KPI 분석과 문제 공정 선정</a:t>
            </a:r>
          </a:p>
        </p:txBody>
      </p:sp>
      <p:sp>
        <p:nvSpPr>
          <p:cNvPr id="90" name="Rounded Rectangle 89"/>
          <p:cNvSpPr/>
          <p:nvPr/>
        </p:nvSpPr>
        <p:spPr>
          <a:xfrm>
            <a:off x="8993000" y="6735000"/>
            <a:ext cx="6600000" cy="425000"/>
          </a:xfrm>
          <a:prstGeom prst="roundRect">
            <a:avLst>
              <a:gd name="adj" fmla="val 12000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9083000" y="6735000"/>
            <a:ext cx="6420000" cy="425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추세·파레토 분석 — 언제부터, 무엇이 늘었나</a:t>
            </a:r>
          </a:p>
        </p:txBody>
      </p:sp>
      <p:sp>
        <p:nvSpPr>
          <p:cNvPr id="92" name="Rounded Rectangle 91"/>
          <p:cNvSpPr/>
          <p:nvPr/>
        </p:nvSpPr>
        <p:spPr>
          <a:xfrm>
            <a:off x="15643000" y="6735000"/>
            <a:ext cx="1502000" cy="425000"/>
          </a:xfrm>
          <a:prstGeom prst="roundRect">
            <a:avLst>
              <a:gd name="adj" fmla="val 12000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3" name="TextBox 92"/>
          <p:cNvSpPr txBox="1"/>
          <p:nvPr/>
        </p:nvSpPr>
        <p:spPr>
          <a:xfrm>
            <a:off x="15733000" y="6735000"/>
            <a:ext cx="1322000" cy="425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실습</a:t>
            </a:r>
          </a:p>
        </p:txBody>
      </p:sp>
      <p:sp>
        <p:nvSpPr>
          <p:cNvPr id="94" name="Rounded Rectangle 93"/>
          <p:cNvSpPr/>
          <p:nvPr/>
        </p:nvSpPr>
        <p:spPr>
          <a:xfrm>
            <a:off x="1143000" y="7205000"/>
            <a:ext cx="1500000" cy="425000"/>
          </a:xfrm>
          <a:prstGeom prst="roundRect">
            <a:avLst>
              <a:gd name="adj" fmla="val 12000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5" name="TextBox 94"/>
          <p:cNvSpPr txBox="1"/>
          <p:nvPr/>
        </p:nvSpPr>
        <p:spPr>
          <a:xfrm>
            <a:off x="1233000" y="7205000"/>
            <a:ext cx="1320000" cy="425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8교시</a:t>
            </a:r>
          </a:p>
        </p:txBody>
      </p:sp>
      <p:sp>
        <p:nvSpPr>
          <p:cNvPr id="96" name="Rounded Rectangle 95"/>
          <p:cNvSpPr/>
          <p:nvPr/>
        </p:nvSpPr>
        <p:spPr>
          <a:xfrm>
            <a:off x="2693000" y="7205000"/>
            <a:ext cx="2000000" cy="425000"/>
          </a:xfrm>
          <a:prstGeom prst="roundRect">
            <a:avLst>
              <a:gd name="adj" fmla="val 12000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7" name="TextBox 96"/>
          <p:cNvSpPr txBox="1"/>
          <p:nvPr/>
        </p:nvSpPr>
        <p:spPr>
          <a:xfrm>
            <a:off x="2783000" y="7205000"/>
            <a:ext cx="1820000" cy="425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17:00~17:50</a:t>
            </a:r>
          </a:p>
        </p:txBody>
      </p:sp>
      <p:sp>
        <p:nvSpPr>
          <p:cNvPr id="98" name="Rounded Rectangle 97"/>
          <p:cNvSpPr/>
          <p:nvPr/>
        </p:nvSpPr>
        <p:spPr>
          <a:xfrm>
            <a:off x="4743000" y="7205000"/>
            <a:ext cx="4200000" cy="425000"/>
          </a:xfrm>
          <a:prstGeom prst="roundRect">
            <a:avLst>
              <a:gd name="adj" fmla="val 12000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9" name="TextBox 98"/>
          <p:cNvSpPr txBox="1"/>
          <p:nvPr/>
        </p:nvSpPr>
        <p:spPr>
          <a:xfrm>
            <a:off x="4833000" y="7205000"/>
            <a:ext cx="4020000" cy="425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통합 KPI 분석과 문제 공정 선정</a:t>
            </a:r>
          </a:p>
        </p:txBody>
      </p:sp>
      <p:sp>
        <p:nvSpPr>
          <p:cNvPr id="100" name="Rounded Rectangle 99"/>
          <p:cNvSpPr/>
          <p:nvPr/>
        </p:nvSpPr>
        <p:spPr>
          <a:xfrm>
            <a:off x="8993000" y="7205000"/>
            <a:ext cx="6600000" cy="425000"/>
          </a:xfrm>
          <a:prstGeom prst="roundRect">
            <a:avLst>
              <a:gd name="adj" fmla="val 12000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1" name="TextBox 100"/>
          <p:cNvSpPr txBox="1"/>
          <p:nvPr/>
        </p:nvSpPr>
        <p:spPr>
          <a:xfrm>
            <a:off x="9083000" y="7205000"/>
            <a:ext cx="6420000" cy="425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중점관리공정 최종 선정 — 다기준 판단표</a:t>
            </a:r>
          </a:p>
        </p:txBody>
      </p:sp>
      <p:sp>
        <p:nvSpPr>
          <p:cNvPr id="102" name="Rounded Rectangle 101"/>
          <p:cNvSpPr/>
          <p:nvPr/>
        </p:nvSpPr>
        <p:spPr>
          <a:xfrm>
            <a:off x="15643000" y="7205000"/>
            <a:ext cx="1502000" cy="425000"/>
          </a:xfrm>
          <a:prstGeom prst="roundRect">
            <a:avLst>
              <a:gd name="adj" fmla="val 12000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3" name="TextBox 102"/>
          <p:cNvSpPr txBox="1"/>
          <p:nvPr/>
        </p:nvSpPr>
        <p:spPr>
          <a:xfrm>
            <a:off x="15733000" y="7205000"/>
            <a:ext cx="1322000" cy="425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실습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8F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950" b="1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2일차 개요 · 2026. 10. 13. (화)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51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2일차 학습목표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생성형 AI 활용 실무 · 4일 32H · 2일차 개요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500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06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43000" y="2450000"/>
            <a:ext cx="16002000" cy="42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100" b="1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오전 · 1~4교시  </a:t>
            </a:r>
            <a:r>
              <a:rPr sz="21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KPI 분석 기초와 공정별 분석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143000" y="2970000"/>
            <a:ext cx="16002000" cy="560000"/>
          </a:xfrm>
          <a:prstGeom prst="roundRect">
            <a:avLst>
              <a:gd name="adj" fmla="val 10714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1363000" y="3080000"/>
            <a:ext cx="340000" cy="34000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363000" y="3080000"/>
            <a:ext cx="340000" cy="34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903000" y="2970000"/>
            <a:ext cx="15002000" cy="56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6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OEE(가동률·성능·양품률)와 6대 손실, Cp·Cpk 와 규격·산포의 관계를 계산식으로 설명한다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143000" y="3580000"/>
            <a:ext cx="16002000" cy="560000"/>
          </a:xfrm>
          <a:prstGeom prst="roundRect">
            <a:avLst>
              <a:gd name="adj" fmla="val 10714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1363000" y="3690000"/>
            <a:ext cx="340000" cy="34000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363000" y="3690000"/>
            <a:ext cx="340000" cy="34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903000" y="3580000"/>
            <a:ext cx="15002000" cy="56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6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AI 파일 분석과 Excel 피벗·수식으로 공정별 OEE·Cpk 를 산출하고 행 수·합계·손계산으로 검증한다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143000" y="4190000"/>
            <a:ext cx="16002000" cy="560000"/>
          </a:xfrm>
          <a:prstGeom prst="roundRect">
            <a:avLst>
              <a:gd name="adj" fmla="val 10714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1363000" y="4300000"/>
            <a:ext cx="340000" cy="34000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363000" y="4300000"/>
            <a:ext cx="340000" cy="34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903000" y="4190000"/>
            <a:ext cx="15002000" cy="56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6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히스토그램·막대·추세 차트로 공정 간 차이를 시각화하고 AI 해석에서 사실과 추측을 가린다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43000" y="4950000"/>
            <a:ext cx="16002000" cy="42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100" b="1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오후 · 5~8교시  </a:t>
            </a:r>
            <a:r>
              <a:rPr sz="21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통합 KPI 분석과 문제 공정 선정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1143000" y="5470000"/>
            <a:ext cx="16002000" cy="560000"/>
          </a:xfrm>
          <a:prstGeom prst="roundRect">
            <a:avLst>
              <a:gd name="adj" fmla="val 10714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1363000" y="5580000"/>
            <a:ext cx="340000" cy="34000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363000" y="5580000"/>
            <a:ext cx="340000" cy="34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1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903000" y="5470000"/>
            <a:ext cx="15002000" cy="56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6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산점도와 상관계수로 생산·품질 지표 사이의 방향과 강도를 해석하고 Excel 로 검증한다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1143000" y="6080000"/>
            <a:ext cx="16002000" cy="560000"/>
          </a:xfrm>
          <a:prstGeom prst="roundRect">
            <a:avLst>
              <a:gd name="adj" fmla="val 10714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1363000" y="6190000"/>
            <a:ext cx="340000" cy="34000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363000" y="6190000"/>
            <a:ext cx="340000" cy="34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2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903000" y="6080000"/>
            <a:ext cx="15002000" cy="56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6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층별 분석으로 가짜 상관을 가려내고 AI 의 원인 단정에 반박 질문을 던진다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1143000" y="6690000"/>
            <a:ext cx="16002000" cy="560000"/>
          </a:xfrm>
          <a:prstGeom prst="roundRect">
            <a:avLst>
              <a:gd name="adj" fmla="val 10714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1363000" y="6800000"/>
            <a:ext cx="340000" cy="34000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1363000" y="6800000"/>
            <a:ext cx="340000" cy="34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3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903000" y="6690000"/>
            <a:ext cx="15002000" cy="56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6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추세·파레토와 가중치 판단표로 중점관리공정을 선정하고 사실과 판단을 나눈 선정서를 쓴다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8F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950" b="1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2일차 오전 과목 · 1~4교시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51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KPI 분석 기초와 공정별 분석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생성형 AI 활용 실무 · 4일 32H · 2일차 개요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500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07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43000" y="2300000"/>
            <a:ext cx="16002000" cy="100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제조업 핵심 성과 지표인 설비종합효율(OEE)과 공정능력지수(Cp·Cpk)의 정의·계산식·해석 기준을 익히고, 생성형 AI 와 Excel 로 6개 공정의 지표를 직접 계산해 표와 차트로 만듭니다.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143000" y="3500000"/>
            <a:ext cx="16002000" cy="1700000"/>
          </a:xfrm>
          <a:prstGeom prst="roundRect">
            <a:avLst>
              <a:gd name="adj" fmla="val 3529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1143000" y="3500000"/>
            <a:ext cx="16002000" cy="47625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443000" y="3680000"/>
            <a:ext cx="15402000" cy="42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95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세부내용 1  ·  설비종합효율, 공정능력지수 등 제조업 핵심 성과 지표 계산식 이해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43000" y="4220000"/>
            <a:ext cx="15402000" cy="90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6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OEE = 가동률 × 성능 × 양품률의 세 요소와 6대 손실, Cp·Cpk 와 규격·산포의 관계를 이해하고, 한 행을 손으로 계산해 계산식을 확인합니다.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143000" y="5350000"/>
            <a:ext cx="16002000" cy="1700000"/>
          </a:xfrm>
          <a:prstGeom prst="roundRect">
            <a:avLst>
              <a:gd name="adj" fmla="val 3529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1143000" y="5350000"/>
            <a:ext cx="16002000" cy="47625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443000" y="5530000"/>
            <a:ext cx="15402000" cy="42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95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세부내용 2  ·  생성형 AI와 데이터 시각화 툴을 활용한 공정별 성과 지표 산출 실습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443000" y="6070000"/>
            <a:ext cx="15402000" cy="90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6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공정별 OEE·Cpk 를 AI 에게 계산하게 한 뒤 Excel 피벗·수식으로 다시 계산해 대조하고, 히스토그램·막대·추세 차트로 공정 사이의 차이를 시각화합니다.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43000" y="7330000"/>
            <a:ext cx="16002000" cy="60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차시  </a:t>
            </a:r>
            <a:r>
              <a:rPr sz="1350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1교시 설비종합효율(OEE)  ·  2교시 공정능력지수(Cp·Cpk)  ·  3교시 공정별 OEE 산출  ·  4교시 Cpk 산출과 시각화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8F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950" b="1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2일차 오후 과목 · 5~8교시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51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통합 KPI 분석과 문제 공정 선정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생성형 AI 활용 실무 · 4일 32H · 2일차 개요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500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08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43000" y="2300000"/>
            <a:ext cx="16002000" cy="100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생산 지표와 품질 지표가 서로 어떻게 움직이는지 산점도와 상관계수로 읽고, 층별 분석으로 「가짜 상관」을 가려냅니다. 추세·파레토 분석과 다기준 판단표로 중점 관리할 공정을 최종 선정합니다.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143000" y="3500000"/>
            <a:ext cx="16002000" cy="1700000"/>
          </a:xfrm>
          <a:prstGeom prst="roundRect">
            <a:avLst>
              <a:gd name="adj" fmla="val 3529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1143000" y="3500000"/>
            <a:ext cx="16002000" cy="47625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443000" y="3680000"/>
            <a:ext cx="15402000" cy="42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95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세부내용 1  ·  AI 분석을 활용한 생산·품질 지표 간의 상호 상관관계 해석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43000" y="4220000"/>
            <a:ext cx="15402000" cy="90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6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공정 조건·생산·품질 지표 사이의 상관계수를 AI 와 함께 해석하되, 시기·설비로 나눠 보는 층별 분석으로 상관이 곧 원인이 아님을 확인합니다.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143000" y="5350000"/>
            <a:ext cx="16002000" cy="1700000"/>
          </a:xfrm>
          <a:prstGeom prst="roundRect">
            <a:avLst>
              <a:gd name="adj" fmla="val 3529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1143000" y="5350000"/>
            <a:ext cx="16002000" cy="47625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443000" y="5530000"/>
            <a:ext cx="15402000" cy="42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95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세부내용 2  ·  중점 관리 공정의 데이터 기반 최종 선정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443000" y="6070000"/>
            <a:ext cx="15402000" cy="90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6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언제부터, 어느 공정에서, 무엇이 늘었는지 추세·파레토로 좁히고, 손실 규모·악화 정도·개선 가능성 등 여러 기준을 담은 판단표로 중점관리공정을 데이터 근거와 함께 선정합니다.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43000" y="7330000"/>
            <a:ext cx="16002000" cy="60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차시  </a:t>
            </a:r>
            <a:r>
              <a:rPr sz="1350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5교시 지표 간 상관관계  ·  6교시 상관 해석의 함정  ·  7교시 추세·파레토 분석  ·  8교시 중점관리공정 최종 선정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4192250" y="-2381250"/>
            <a:ext cx="7429500" cy="7429500"/>
          </a:xfrm>
          <a:prstGeom prst="ellipse">
            <a:avLst/>
          </a:prstGeom>
          <a:solidFill>
            <a:srgbClr val="F0F7F7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5430500" y="-1143000"/>
            <a:ext cx="4953000" cy="49530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15906750" y="5905500"/>
            <a:ext cx="4953000" cy="4953000"/>
          </a:xfrm>
          <a:prstGeom prst="ellipse">
            <a:avLst/>
          </a:prstGeom>
          <a:solidFill>
            <a:srgbClr val="F5F6F7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-1714500" y="2857500"/>
            <a:ext cx="2857500" cy="28575"/>
          </a:xfrm>
          <a:prstGeom prst="rect">
            <a:avLst/>
          </a:prstGeom>
          <a:solidFill>
            <a:srgbClr val="E6EAED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-2857500" y="6953250"/>
            <a:ext cx="6953250" cy="6953250"/>
          </a:xfrm>
          <a:prstGeom prst="ellipse">
            <a:avLst/>
          </a:prstGeom>
          <a:solidFill>
            <a:srgbClr val="ECF5F5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-1581150" y="8229600"/>
            <a:ext cx="4400550" cy="440055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3390900" y="8953500"/>
            <a:ext cx="742950" cy="742950"/>
          </a:xfrm>
          <a:prstGeom prst="ellipse">
            <a:avLst/>
          </a:prstGeom>
          <a:solidFill>
            <a:srgbClr val="EBEEF0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4457700" y="9563100"/>
            <a:ext cx="342900" cy="342900"/>
          </a:xfrm>
          <a:prstGeom prst="ellipse">
            <a:avLst/>
          </a:prstGeom>
          <a:solidFill>
            <a:srgbClr val="DFEDE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1143000" y="9639300"/>
            <a:ext cx="1619250" cy="28575"/>
          </a:xfrm>
          <a:prstGeom prst="rect">
            <a:avLst/>
          </a:prstGeom>
          <a:solidFill>
            <a:srgbClr val="E6EAED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1143000" y="2857500"/>
            <a:ext cx="16002000" cy="285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43000" y="3486150"/>
            <a:ext cx="85725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 spc="12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2일차 1교시 · KPI 분석 기초와 공정별 분석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43000" y="3905250"/>
            <a:ext cx="16002000" cy="14660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9300" b="1" spc="-347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설비종합효율(OEE)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43000" y="5580888"/>
            <a:ext cx="16002000" cy="571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300" b="1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가동률 × 성능 × 양품률 — 세 개의 체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572500" y="7677150"/>
            <a:ext cx="8572500" cy="857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50000"/>
              </a:lnSpc>
            </a:pPr>
            <a:r>
              <a:rPr sz="1950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생산안전본부 및 품질환경단 직무훈련</a:t>
            </a:r>
          </a:p>
          <a:p>
            <a:pPr algn="r">
              <a:lnSpc>
                <a:spcPct val="150000"/>
              </a:lnSpc>
            </a:pPr>
            <a:r>
              <a:rPr sz="1950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생성형 AI 활용 실무 · 2026. 10. 12.~15.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8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이 시간의 목표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50분 뒤에는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339090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390650" y="3533775"/>
            <a:ext cx="533400" cy="53340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390650" y="365760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①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190750" y="339090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OEE 세 요소가 각각 무엇을 재는지 설명한다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143000" y="438150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1390650" y="4524375"/>
            <a:ext cx="533400" cy="53340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390650" y="464820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②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190750" y="438150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6대 손실이 세 요소 중 어디를 깎는지 연결한다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143000" y="537210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1390650" y="5514975"/>
            <a:ext cx="533400" cy="53340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390650" y="563880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③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190750" y="537210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생산일지 한 행으로 OEE 를 손계산하고 검산한다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143000" y="6953250"/>
            <a:ext cx="16002000" cy="876300"/>
          </a:xfrm>
          <a:prstGeom prst="roundRect">
            <a:avLst>
              <a:gd name="adj" fmla="val 5434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143000" y="7200900"/>
            <a:ext cx="16002000" cy="4381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공정 전체의 OEE 는 3교시에 AI 와 Excel 로 직접 산출합니다</a:t>
            </a:r>
          </a:p>
        </p:txBody>
      </p:sp>
      <p:sp>
        <p:nvSpPr>
          <p:cNvPr id="22" name="Rectangle 21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생성형 AI 활용 실무 · 4일 32H · 2일차 1교시 · 이론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02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8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1. 세 개의 체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계획 시간이 세 번 걸러진다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143000" y="2781300"/>
            <a:ext cx="3814762" cy="704850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43000" y="2781300"/>
            <a:ext cx="3814762" cy="7048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4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계획가동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143000" y="3657600"/>
            <a:ext cx="3814762" cy="1428750"/>
          </a:xfrm>
          <a:prstGeom prst="roundRect">
            <a:avLst>
              <a:gd name="adj" fmla="val 333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276350" y="3657600"/>
            <a:ext cx="3548062" cy="1428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35000"/>
              </a:lnSpc>
            </a:pPr>
            <a:r>
              <a:rPr sz="18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교대당</a:t>
            </a:r>
          </a:p>
          <a:p>
            <a:pPr algn="ctr">
              <a:lnSpc>
                <a:spcPct val="135000"/>
              </a:lnSpc>
            </a:pPr>
            <a:r>
              <a:rPr sz="18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480분</a:t>
            </a:r>
          </a:p>
        </p:txBody>
      </p:sp>
      <p:sp>
        <p:nvSpPr>
          <p:cNvPr id="12" name="Right Arrow 11"/>
          <p:cNvSpPr/>
          <p:nvPr/>
        </p:nvSpPr>
        <p:spPr>
          <a:xfrm>
            <a:off x="4976812" y="3028950"/>
            <a:ext cx="209550" cy="209550"/>
          </a:xfrm>
          <a:prstGeom prst="rightArrow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5205412" y="2781300"/>
            <a:ext cx="3814762" cy="70485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205412" y="2781300"/>
            <a:ext cx="3814762" cy="7048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4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운전시간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205412" y="3657600"/>
            <a:ext cx="3814762" cy="1428750"/>
          </a:xfrm>
          <a:prstGeom prst="roundRect">
            <a:avLst>
              <a:gd name="adj" fmla="val 333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338762" y="3657600"/>
            <a:ext cx="3548062" cy="1428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35000"/>
              </a:lnSpc>
            </a:pPr>
            <a:r>
              <a:rPr sz="18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− 비가동</a:t>
            </a:r>
          </a:p>
          <a:p>
            <a:pPr algn="ctr">
              <a:lnSpc>
                <a:spcPct val="135000"/>
              </a:lnSpc>
            </a:pPr>
            <a:r>
              <a:rPr sz="18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(가동률)</a:t>
            </a:r>
          </a:p>
        </p:txBody>
      </p:sp>
      <p:sp>
        <p:nvSpPr>
          <p:cNvPr id="17" name="Right Arrow 16"/>
          <p:cNvSpPr/>
          <p:nvPr/>
        </p:nvSpPr>
        <p:spPr>
          <a:xfrm>
            <a:off x="9039225" y="3028950"/>
            <a:ext cx="209550" cy="209550"/>
          </a:xfrm>
          <a:prstGeom prst="rightArrow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9267825" y="2781300"/>
            <a:ext cx="3814762" cy="704850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267825" y="2781300"/>
            <a:ext cx="3814762" cy="7048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4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이론시간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9267825" y="3657600"/>
            <a:ext cx="3814762" cy="1428750"/>
          </a:xfrm>
          <a:prstGeom prst="roundRect">
            <a:avLst>
              <a:gd name="adj" fmla="val 333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401175" y="3657600"/>
            <a:ext cx="3548062" cy="1428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35000"/>
              </a:lnSpc>
            </a:pPr>
            <a:r>
              <a:rPr sz="18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− 느린 속도</a:t>
            </a:r>
          </a:p>
          <a:p>
            <a:pPr algn="ctr">
              <a:lnSpc>
                <a:spcPct val="135000"/>
              </a:lnSpc>
            </a:pPr>
            <a:r>
              <a:rPr sz="18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(성능)</a:t>
            </a:r>
          </a:p>
        </p:txBody>
      </p:sp>
      <p:sp>
        <p:nvSpPr>
          <p:cNvPr id="22" name="Right Arrow 21"/>
          <p:cNvSpPr/>
          <p:nvPr/>
        </p:nvSpPr>
        <p:spPr>
          <a:xfrm>
            <a:off x="13101638" y="3028950"/>
            <a:ext cx="209550" cy="209550"/>
          </a:xfrm>
          <a:prstGeom prst="rightArrow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13330238" y="2781300"/>
            <a:ext cx="3814762" cy="70485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3330238" y="2781300"/>
            <a:ext cx="3814762" cy="7048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4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가치시간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13330238" y="3657600"/>
            <a:ext cx="3814762" cy="1428750"/>
          </a:xfrm>
          <a:prstGeom prst="roundRect">
            <a:avLst>
              <a:gd name="adj" fmla="val 333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3463588" y="3657600"/>
            <a:ext cx="3548062" cy="1428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35000"/>
              </a:lnSpc>
            </a:pPr>
            <a:r>
              <a:rPr sz="18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− 불량</a:t>
            </a:r>
          </a:p>
          <a:p>
            <a:pPr algn="ctr">
              <a:lnSpc>
                <a:spcPct val="135000"/>
              </a:lnSpc>
            </a:pPr>
            <a:r>
              <a:rPr sz="18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(양품률)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1143000" y="5467350"/>
            <a:ext cx="16002000" cy="742950"/>
          </a:xfrm>
          <a:prstGeom prst="roundRect">
            <a:avLst>
              <a:gd name="adj" fmla="val 6410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1143000" y="5467350"/>
            <a:ext cx="16002000" cy="7429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25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OEE = 가치시간 ÷ 계획가동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43000" y="76200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75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세 체를 모두 통과하고 남은 비율이 OEE — 그래서 더하지 않고 곱한다</a:t>
            </a:r>
          </a:p>
        </p:txBody>
      </p:sp>
      <p:sp>
        <p:nvSpPr>
          <p:cNvPr id="30" name="Rectangle 29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생성형 AI 활용 실무 · 4일 32H · 2일차 1교시 · 이론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03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8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1. 세 개의 체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세 요소의 계산식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143000" y="2781300"/>
            <a:ext cx="3162300" cy="590550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43000" y="2781300"/>
            <a:ext cx="316230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요소</a:t>
            </a:r>
          </a:p>
        </p:txBody>
      </p:sp>
      <p:sp>
        <p:nvSpPr>
          <p:cNvPr id="10" name="Rectangle 9"/>
          <p:cNvSpPr/>
          <p:nvPr/>
        </p:nvSpPr>
        <p:spPr>
          <a:xfrm>
            <a:off x="4343400" y="2781300"/>
            <a:ext cx="7162800" cy="59055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343400" y="2781300"/>
            <a:ext cx="716280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계산식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1544300" y="2781300"/>
            <a:ext cx="5600700" cy="59055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1544300" y="2781300"/>
            <a:ext cx="560070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재는 것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143000" y="3448050"/>
            <a:ext cx="3162300" cy="647700"/>
          </a:xfrm>
          <a:prstGeom prst="roundRect">
            <a:avLst>
              <a:gd name="adj" fmla="val 5882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238250" y="3448050"/>
            <a:ext cx="29718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가동률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343400" y="3448050"/>
            <a:ext cx="71628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438650" y="3448050"/>
            <a:ext cx="69723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(계획 − 비가동) ÷ 계획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1544300" y="3448050"/>
            <a:ext cx="56007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1639550" y="3448050"/>
            <a:ext cx="54102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멈추지 않고 돌았나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143000" y="4171950"/>
            <a:ext cx="3162300" cy="647700"/>
          </a:xfrm>
          <a:prstGeom prst="roundRect">
            <a:avLst>
              <a:gd name="adj" fmla="val 5882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238250" y="4171950"/>
            <a:ext cx="29718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성능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343400" y="4171950"/>
            <a:ext cx="71628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438650" y="4171950"/>
            <a:ext cx="69723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이론CT × 생산 ÷ 운전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1544300" y="4171950"/>
            <a:ext cx="56007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1639550" y="4171950"/>
            <a:ext cx="54102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제 속도를 냈나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1143000" y="4895850"/>
            <a:ext cx="3162300" cy="647700"/>
          </a:xfrm>
          <a:prstGeom prst="roundRect">
            <a:avLst>
              <a:gd name="adj" fmla="val 5882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238250" y="4895850"/>
            <a:ext cx="29718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양품률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4343400" y="4895850"/>
            <a:ext cx="71628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438650" y="4895850"/>
            <a:ext cx="69723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양품 ÷ 생산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11544300" y="4895850"/>
            <a:ext cx="56007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1639550" y="4895850"/>
            <a:ext cx="54102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좋은 것의 비율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1143000" y="5619750"/>
            <a:ext cx="3162300" cy="647700"/>
          </a:xfrm>
          <a:prstGeom prst="roundRect">
            <a:avLst>
              <a:gd name="adj" fmla="val 5882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238250" y="5619750"/>
            <a:ext cx="29718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OEE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4343400" y="5619750"/>
            <a:ext cx="71628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438650" y="5619750"/>
            <a:ext cx="69723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가동률 × 성능 × 양품률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11544300" y="5619750"/>
            <a:ext cx="56007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11639550" y="5619750"/>
            <a:ext cx="54102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가치 있는 시간 비율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143000" y="76200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75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이론CT 는 초 단위 — 성능 계산에서 60 으로 나눠 분으로 맞춘다</a:t>
            </a:r>
          </a:p>
        </p:txBody>
      </p:sp>
      <p:sp>
        <p:nvSpPr>
          <p:cNvPr id="39" name="Rectangle 38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생성형 AI 활용 실무 · 4일 32H · 2일차 1교시 · 이론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04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8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1. 세 개의 체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검산 한 줄 — 곱하면 약분된다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2933700"/>
            <a:ext cx="11430000" cy="1095375"/>
          </a:xfrm>
          <a:prstGeom prst="roundRect">
            <a:avLst>
              <a:gd name="adj" fmla="val 4347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447800" y="3181350"/>
            <a:ext cx="590550" cy="59055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447800" y="3333750"/>
            <a:ext cx="59055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324100" y="3143250"/>
            <a:ext cx="990600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4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세 요소를 곱하면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324100" y="3543300"/>
            <a:ext cx="9906000" cy="3619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운전시간과 생산수량이 위아래로 약분된다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143000" y="4200525"/>
            <a:ext cx="11430000" cy="1095375"/>
          </a:xfrm>
          <a:prstGeom prst="roundRect">
            <a:avLst>
              <a:gd name="adj" fmla="val 4347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1447800" y="4448175"/>
            <a:ext cx="590550" cy="59055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447800" y="4600575"/>
            <a:ext cx="59055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324100" y="4410075"/>
            <a:ext cx="990600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4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남는 것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324100" y="4810125"/>
            <a:ext cx="9906000" cy="3619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양품을 이론 속도로 만들었다면 걸렸을 시간 ÷ 계획 시간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143000" y="5467350"/>
            <a:ext cx="11430000" cy="1095375"/>
          </a:xfrm>
          <a:prstGeom prst="roundRect">
            <a:avLst>
              <a:gd name="adj" fmla="val 4347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447800" y="5715000"/>
            <a:ext cx="590550" cy="59055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447800" y="5867400"/>
            <a:ext cx="59055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324100" y="5676900"/>
            <a:ext cx="990600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4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쓰는 법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24100" y="6076950"/>
            <a:ext cx="9906000" cy="3619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세 요소의 곱과 검산 값이 다르면 어딘가 계산이 틀린 것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13144500" y="2933700"/>
            <a:ext cx="4000500" cy="3629025"/>
          </a:xfrm>
          <a:prstGeom prst="roundRect">
            <a:avLst>
              <a:gd name="adj" fmla="val 1312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3487400" y="3929062"/>
            <a:ext cx="33147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 spc="19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검산식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3487400" y="4329112"/>
            <a:ext cx="3314700" cy="1238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8000"/>
              </a:lnSpc>
            </a:pPr>
            <a:r>
              <a:rPr sz="27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이론CT×양품</a:t>
            </a:r>
          </a:p>
          <a:p>
            <a:pPr algn="l">
              <a:lnSpc>
                <a:spcPct val="138000"/>
              </a:lnSpc>
            </a:pPr>
            <a:r>
              <a:rPr sz="27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÷60÷계획</a:t>
            </a:r>
          </a:p>
        </p:txBody>
      </p:sp>
      <p:sp>
        <p:nvSpPr>
          <p:cNvPr id="26" name="Rectangle 25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생성형 AI 활용 실무 · 4일 32H · 2일차 1교시 · 이론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05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8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2. 6대 손실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손실마다 깎는 요소가 정해져 있다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143000" y="2781300"/>
            <a:ext cx="6362700" cy="590550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43000" y="2781300"/>
            <a:ext cx="636270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6대 손실</a:t>
            </a:r>
          </a:p>
        </p:txBody>
      </p:sp>
      <p:sp>
        <p:nvSpPr>
          <p:cNvPr id="10" name="Rectangle 9"/>
          <p:cNvSpPr/>
          <p:nvPr/>
        </p:nvSpPr>
        <p:spPr>
          <a:xfrm>
            <a:off x="7543800" y="2781300"/>
            <a:ext cx="3962400" cy="59055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543800" y="2781300"/>
            <a:ext cx="396240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깎는 요소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1544300" y="2781300"/>
            <a:ext cx="5600700" cy="59055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1544300" y="2781300"/>
            <a:ext cx="560070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이 라인의 예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143000" y="3448050"/>
            <a:ext cx="6362700" cy="619125"/>
          </a:xfrm>
          <a:prstGeom prst="roundRect">
            <a:avLst>
              <a:gd name="adj" fmla="val 6153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238250" y="3448050"/>
            <a:ext cx="617220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① 고장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543800" y="3448050"/>
            <a:ext cx="3962400" cy="619125"/>
          </a:xfrm>
          <a:prstGeom prst="roundRect">
            <a:avLst>
              <a:gd name="adj" fmla="val 615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639050" y="3448050"/>
            <a:ext cx="377190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가동률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1544300" y="3448050"/>
            <a:ext cx="5600700" cy="619125"/>
          </a:xfrm>
          <a:prstGeom prst="roundRect">
            <a:avLst>
              <a:gd name="adj" fmla="val 615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1639550" y="3448050"/>
            <a:ext cx="541020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온도 이상 정지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143000" y="4143375"/>
            <a:ext cx="6362700" cy="619125"/>
          </a:xfrm>
          <a:prstGeom prst="roundRect">
            <a:avLst>
              <a:gd name="adj" fmla="val 6153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238250" y="4143375"/>
            <a:ext cx="617220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② 준비·교체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543800" y="4143375"/>
            <a:ext cx="3962400" cy="619125"/>
          </a:xfrm>
          <a:prstGeom prst="roundRect">
            <a:avLst>
              <a:gd name="adj" fmla="val 615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639050" y="4143375"/>
            <a:ext cx="377190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가동률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1544300" y="4143375"/>
            <a:ext cx="5600700" cy="619125"/>
          </a:xfrm>
          <a:prstGeom prst="roundRect">
            <a:avLst>
              <a:gd name="adj" fmla="val 615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1639550" y="4143375"/>
            <a:ext cx="541020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금형·공구 교체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1143000" y="4838700"/>
            <a:ext cx="6362700" cy="619125"/>
          </a:xfrm>
          <a:prstGeom prst="roundRect">
            <a:avLst>
              <a:gd name="adj" fmla="val 6153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238250" y="4838700"/>
            <a:ext cx="617220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③ 공회전·순간정지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7543800" y="4838700"/>
            <a:ext cx="3962400" cy="619125"/>
          </a:xfrm>
          <a:prstGeom prst="roundRect">
            <a:avLst>
              <a:gd name="adj" fmla="val 615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639050" y="4838700"/>
            <a:ext cx="377190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성능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11544300" y="4838700"/>
            <a:ext cx="5600700" cy="619125"/>
          </a:xfrm>
          <a:prstGeom prst="roundRect">
            <a:avLst>
              <a:gd name="adj" fmla="val 615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1639550" y="4838700"/>
            <a:ext cx="541020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기록 없음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1143000" y="5534025"/>
            <a:ext cx="6362700" cy="619125"/>
          </a:xfrm>
          <a:prstGeom prst="roundRect">
            <a:avLst>
              <a:gd name="adj" fmla="val 6153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238250" y="5534025"/>
            <a:ext cx="617220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④ 속도저하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7543800" y="5534025"/>
            <a:ext cx="3962400" cy="619125"/>
          </a:xfrm>
          <a:prstGeom prst="roundRect">
            <a:avLst>
              <a:gd name="adj" fmla="val 615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7639050" y="5534025"/>
            <a:ext cx="377190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성능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11544300" y="5534025"/>
            <a:ext cx="5600700" cy="619125"/>
          </a:xfrm>
          <a:prstGeom prst="roundRect">
            <a:avLst>
              <a:gd name="adj" fmla="val 615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11639550" y="5534025"/>
            <a:ext cx="541020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기록 없음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1143000" y="6229350"/>
            <a:ext cx="6362700" cy="619125"/>
          </a:xfrm>
          <a:prstGeom prst="roundRect">
            <a:avLst>
              <a:gd name="adj" fmla="val 6153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1238250" y="6229350"/>
            <a:ext cx="617220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⑤ 불량·재작업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7543800" y="6229350"/>
            <a:ext cx="3962400" cy="619125"/>
          </a:xfrm>
          <a:prstGeom prst="roundRect">
            <a:avLst>
              <a:gd name="adj" fmla="val 615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7639050" y="6229350"/>
            <a:ext cx="377190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양품률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11544300" y="6229350"/>
            <a:ext cx="5600700" cy="619125"/>
          </a:xfrm>
          <a:prstGeom prst="roundRect">
            <a:avLst>
              <a:gd name="adj" fmla="val 615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11639550" y="6229350"/>
            <a:ext cx="541020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생산 − 양품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1143000" y="6924675"/>
            <a:ext cx="6362700" cy="619125"/>
          </a:xfrm>
          <a:prstGeom prst="roundRect">
            <a:avLst>
              <a:gd name="adj" fmla="val 6153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1238250" y="6924675"/>
            <a:ext cx="617220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⑥ 초기수율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7543800" y="6924675"/>
            <a:ext cx="3962400" cy="619125"/>
          </a:xfrm>
          <a:prstGeom prst="roundRect">
            <a:avLst>
              <a:gd name="adj" fmla="val 615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7639050" y="6924675"/>
            <a:ext cx="377190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양품률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11544300" y="6924675"/>
            <a:ext cx="5600700" cy="619125"/>
          </a:xfrm>
          <a:prstGeom prst="roundRect">
            <a:avLst>
              <a:gd name="adj" fmla="val 615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11639550" y="6924675"/>
            <a:ext cx="541020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구분 기록 없음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1143000" y="76200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75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공회전·속도저하는 사유로 기록되지 않고 성능 수치로만 드러난다</a:t>
            </a:r>
          </a:p>
        </p:txBody>
      </p:sp>
      <p:sp>
        <p:nvSpPr>
          <p:cNvPr id="51" name="Rectangle 50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생성형 AI 활용 실무 · 4일 32H · 2일차 1교시 · 이론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06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8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3. 한 행 손계산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6행 · 7/1 주간 · SF-01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143000" y="2781300"/>
            <a:ext cx="3962400" cy="590550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43000" y="2781300"/>
            <a:ext cx="396240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순서</a:t>
            </a:r>
          </a:p>
        </p:txBody>
      </p:sp>
      <p:sp>
        <p:nvSpPr>
          <p:cNvPr id="10" name="Rectangle 9"/>
          <p:cNvSpPr/>
          <p:nvPr/>
        </p:nvSpPr>
        <p:spPr>
          <a:xfrm>
            <a:off x="5143500" y="2781300"/>
            <a:ext cx="7962900" cy="59055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143500" y="2781300"/>
            <a:ext cx="796290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계산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3144500" y="2781300"/>
            <a:ext cx="4000500" cy="59055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3144500" y="2781300"/>
            <a:ext cx="400050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결과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143000" y="3448050"/>
            <a:ext cx="3962400" cy="519793"/>
          </a:xfrm>
          <a:prstGeom prst="roundRect">
            <a:avLst>
              <a:gd name="adj" fmla="val 7329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238250" y="3448050"/>
            <a:ext cx="3771900" cy="5197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운전시간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143500" y="3448050"/>
            <a:ext cx="7962900" cy="519793"/>
          </a:xfrm>
          <a:prstGeom prst="roundRect">
            <a:avLst>
              <a:gd name="adj" fmla="val 7329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238750" y="3448050"/>
            <a:ext cx="7772400" cy="5197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480 − 12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3144500" y="3448050"/>
            <a:ext cx="4000500" cy="519793"/>
          </a:xfrm>
          <a:prstGeom prst="roundRect">
            <a:avLst>
              <a:gd name="adj" fmla="val 7329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3239750" y="3448050"/>
            <a:ext cx="3810000" cy="5197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468분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143000" y="4044043"/>
            <a:ext cx="3962400" cy="519793"/>
          </a:xfrm>
          <a:prstGeom prst="roundRect">
            <a:avLst>
              <a:gd name="adj" fmla="val 7329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238250" y="4044043"/>
            <a:ext cx="3771900" cy="5197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가동률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143500" y="4044043"/>
            <a:ext cx="7962900" cy="519793"/>
          </a:xfrm>
          <a:prstGeom prst="roundRect">
            <a:avLst>
              <a:gd name="adj" fmla="val 7329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238750" y="4044043"/>
            <a:ext cx="7772400" cy="5197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468 ÷ 480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3144500" y="4044043"/>
            <a:ext cx="4000500" cy="519793"/>
          </a:xfrm>
          <a:prstGeom prst="roundRect">
            <a:avLst>
              <a:gd name="adj" fmla="val 7329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3239750" y="4044043"/>
            <a:ext cx="3810000" cy="5197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97.5%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1143000" y="4640036"/>
            <a:ext cx="3962400" cy="519793"/>
          </a:xfrm>
          <a:prstGeom prst="roundRect">
            <a:avLst>
              <a:gd name="adj" fmla="val 7329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238250" y="4640036"/>
            <a:ext cx="3771900" cy="5197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이론시간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143500" y="4640036"/>
            <a:ext cx="7962900" cy="519793"/>
          </a:xfrm>
          <a:prstGeom prst="roundRect">
            <a:avLst>
              <a:gd name="adj" fmla="val 7329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238750" y="4640036"/>
            <a:ext cx="7772400" cy="5197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6.5 × 4,065 ÷ 60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13144500" y="4640036"/>
            <a:ext cx="4000500" cy="519793"/>
          </a:xfrm>
          <a:prstGeom prst="roundRect">
            <a:avLst>
              <a:gd name="adj" fmla="val 7329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3239750" y="4640036"/>
            <a:ext cx="3810000" cy="5197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440.4분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1143000" y="5236029"/>
            <a:ext cx="3962400" cy="519793"/>
          </a:xfrm>
          <a:prstGeom prst="roundRect">
            <a:avLst>
              <a:gd name="adj" fmla="val 7329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238250" y="5236029"/>
            <a:ext cx="3771900" cy="5197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성능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5143500" y="5236029"/>
            <a:ext cx="7962900" cy="519793"/>
          </a:xfrm>
          <a:prstGeom prst="roundRect">
            <a:avLst>
              <a:gd name="adj" fmla="val 7329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5238750" y="5236029"/>
            <a:ext cx="7772400" cy="5197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440.4 ÷ 468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13144500" y="5236029"/>
            <a:ext cx="4000500" cy="519793"/>
          </a:xfrm>
          <a:prstGeom prst="roundRect">
            <a:avLst>
              <a:gd name="adj" fmla="val 7329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13239750" y="5236029"/>
            <a:ext cx="3810000" cy="5197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94.1%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1143000" y="5832021"/>
            <a:ext cx="3962400" cy="519793"/>
          </a:xfrm>
          <a:prstGeom prst="roundRect">
            <a:avLst>
              <a:gd name="adj" fmla="val 7329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1238250" y="5832021"/>
            <a:ext cx="3771900" cy="5197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양품률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5143500" y="5832021"/>
            <a:ext cx="7962900" cy="519793"/>
          </a:xfrm>
          <a:prstGeom prst="roundRect">
            <a:avLst>
              <a:gd name="adj" fmla="val 7329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5238750" y="5832021"/>
            <a:ext cx="7772400" cy="5197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3,952 ÷ 4,065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13144500" y="5832021"/>
            <a:ext cx="4000500" cy="519793"/>
          </a:xfrm>
          <a:prstGeom prst="roundRect">
            <a:avLst>
              <a:gd name="adj" fmla="val 7329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13239750" y="5832021"/>
            <a:ext cx="3810000" cy="5197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97.2%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1143000" y="6428014"/>
            <a:ext cx="3962400" cy="519793"/>
          </a:xfrm>
          <a:prstGeom prst="roundRect">
            <a:avLst>
              <a:gd name="adj" fmla="val 7329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1238250" y="6428014"/>
            <a:ext cx="3771900" cy="5197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OEE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5143500" y="6428014"/>
            <a:ext cx="7962900" cy="519793"/>
          </a:xfrm>
          <a:prstGeom prst="roundRect">
            <a:avLst>
              <a:gd name="adj" fmla="val 7329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5238750" y="6428014"/>
            <a:ext cx="7772400" cy="5197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세 요소의 곱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13144500" y="6428014"/>
            <a:ext cx="4000500" cy="519793"/>
          </a:xfrm>
          <a:prstGeom prst="roundRect">
            <a:avLst>
              <a:gd name="adj" fmla="val 7329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13239750" y="6428014"/>
            <a:ext cx="3810000" cy="5197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89.2%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1143000" y="7024007"/>
            <a:ext cx="3962400" cy="519793"/>
          </a:xfrm>
          <a:prstGeom prst="roundRect">
            <a:avLst>
              <a:gd name="adj" fmla="val 7329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1238250" y="7024007"/>
            <a:ext cx="3771900" cy="5197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검산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5143500" y="7024007"/>
            <a:ext cx="7962900" cy="519793"/>
          </a:xfrm>
          <a:prstGeom prst="roundRect">
            <a:avLst>
              <a:gd name="adj" fmla="val 7329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5238750" y="7024007"/>
            <a:ext cx="7772400" cy="5197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6.5 × 3,952 ÷ 60 ÷ 480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13144500" y="7024007"/>
            <a:ext cx="4000500" cy="519793"/>
          </a:xfrm>
          <a:prstGeom prst="roundRect">
            <a:avLst>
              <a:gd name="adj" fmla="val 7329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13239750" y="7024007"/>
            <a:ext cx="3810000" cy="5197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89.2%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143000" y="76200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75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계획 480 · 비가동 12 · 이론CT 6.5초 · 생산 4,065 · 양품 3,952</a:t>
            </a:r>
          </a:p>
        </p:txBody>
      </p:sp>
      <p:sp>
        <p:nvSpPr>
          <p:cNvPr id="57" name="Rectangle 56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생성형 AI 활용 실무 · 4일 32H · 2일차 1교시 · 이론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07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8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3. 한 행 손계산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직접 해 보기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3429000"/>
            <a:ext cx="5080000" cy="2476500"/>
          </a:xfrm>
          <a:prstGeom prst="roundRect">
            <a:avLst>
              <a:gd name="adj" fmla="val 1923"/>
            </a:avLst>
          </a:prstGeom>
          <a:solidFill>
            <a:srgbClr val="0E2F4F"/>
          </a:solidFill>
          <a:ln w="9525">
            <a:solidFill>
              <a:srgbClr val="0E2F4F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143000" y="3429000"/>
            <a:ext cx="5080000" cy="47625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365750" y="3638550"/>
            <a:ext cx="59055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2550" b="1">
                <a:solidFill>
                  <a:srgbClr val="3B4B7C"/>
                </a:solidFill>
                <a:latin typeface="Pretendard"/>
                <a:ea typeface="Pretendard"/>
                <a:cs typeface="Pretendard"/>
              </a:rPr>
              <a:t>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466850" y="3752850"/>
            <a:ext cx="4432300" cy="1828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15000"/>
              </a:lnSpc>
            </a:pPr>
            <a:r>
              <a:rPr sz="31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18행 손계산</a:t>
            </a:r>
          </a:p>
          <a:p>
            <a:pPr>
              <a:lnSpc>
                <a:spcPct val="146000"/>
              </a:lnSpc>
              <a:spcBef>
                <a:spcPts val="1050"/>
              </a:spcBef>
            </a:pPr>
            <a:r>
              <a:rPr sz="2250" b="0">
                <a:solidFill>
                  <a:srgbClr val="D9E2F0"/>
                </a:solidFill>
                <a:latin typeface="Pretendard"/>
                <a:ea typeface="Pretendard"/>
                <a:cs typeface="Pretendard"/>
              </a:rPr>
              <a:t>7/1 야간 SF-01</a:t>
            </a:r>
          </a:p>
          <a:p>
            <a:pPr>
              <a:lnSpc>
                <a:spcPct val="146000"/>
              </a:lnSpc>
            </a:pPr>
            <a:r>
              <a:rPr sz="2250" b="0">
                <a:solidFill>
                  <a:srgbClr val="D9E2F0"/>
                </a:solidFill>
                <a:latin typeface="Pretendard"/>
                <a:ea typeface="Pretendard"/>
                <a:cs typeface="Pretendard"/>
              </a:rPr>
              <a:t>검산과 0.1%p 안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604000" y="3429000"/>
            <a:ext cx="5080000" cy="2476500"/>
          </a:xfrm>
          <a:prstGeom prst="roundRect">
            <a:avLst>
              <a:gd name="adj" fmla="val 192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604000" y="3429000"/>
            <a:ext cx="5080000" cy="47625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826750" y="3638550"/>
            <a:ext cx="59055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2550" b="1">
                <a:solidFill>
                  <a:srgbClr val="E4EBF4"/>
                </a:solidFill>
                <a:latin typeface="Pretendard"/>
                <a:ea typeface="Pretendard"/>
                <a:cs typeface="Pretendard"/>
              </a:rPr>
              <a:t>02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927850" y="3752850"/>
            <a:ext cx="4432300" cy="1828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15000"/>
              </a:lnSpc>
            </a:pPr>
            <a:r>
              <a:rPr sz="315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AI 풀이 대조</a:t>
            </a:r>
          </a:p>
          <a:p>
            <a:pPr>
              <a:lnSpc>
                <a:spcPct val="146000"/>
              </a:lnSpc>
              <a:spcBef>
                <a:spcPts val="1050"/>
              </a:spcBef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숫자 다섯 개만</a:t>
            </a:r>
          </a:p>
          <a:p>
            <a:pPr>
              <a:lnSpc>
                <a:spcPct val="146000"/>
              </a:lnSpc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붙여 넣고 비교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2065000" y="3429000"/>
            <a:ext cx="5080000" cy="2476500"/>
          </a:xfrm>
          <a:prstGeom prst="roundRect">
            <a:avLst>
              <a:gd name="adj" fmla="val 192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12065000" y="3429000"/>
            <a:ext cx="5080000" cy="47625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6287750" y="3638550"/>
            <a:ext cx="59055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2550" b="1">
                <a:solidFill>
                  <a:srgbClr val="E4EBF4"/>
                </a:solidFill>
                <a:latin typeface="Pretendard"/>
                <a:ea typeface="Pretendard"/>
                <a:cs typeface="Pretendard"/>
              </a:rPr>
              <a:t>03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2388850" y="3752850"/>
            <a:ext cx="4432300" cy="1828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15000"/>
              </a:lnSpc>
            </a:pPr>
            <a:r>
              <a:rPr sz="315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흔한 오답</a:t>
            </a:r>
          </a:p>
          <a:p>
            <a:pPr>
              <a:lnSpc>
                <a:spcPct val="146000"/>
              </a:lnSpc>
              <a:spcBef>
                <a:spcPts val="1050"/>
              </a:spcBef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초·분 단위 혼동</a:t>
            </a:r>
          </a:p>
          <a:p>
            <a:pPr>
              <a:lnSpc>
                <a:spcPct val="146000"/>
              </a:lnSpc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성능 분모 착각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143000" y="6496050"/>
            <a:ext cx="47625" cy="72390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390650" y="6553200"/>
            <a:ext cx="1575435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2025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회사 실제 데이터라면 숫자 몇 개라도 보안정책부터 확인</a:t>
            </a:r>
          </a:p>
        </p:txBody>
      </p:sp>
      <p:sp>
        <p:nvSpPr>
          <p:cNvPr id="22" name="Rectangle 21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생성형 AI 활용 실무 · 4일 32H · 2일차 1교시 · 이론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08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8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정리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이 시간에서 꼭 가져갈 것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299085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390650" y="3133725"/>
            <a:ext cx="533400" cy="53340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390650" y="325755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190750" y="299085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OEE = 가동률 × 성능 × 양품률 — 더하지 않고 곱한다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143000" y="398145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1390650" y="4124325"/>
            <a:ext cx="533400" cy="53340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390650" y="424815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190750" y="398145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분모는 각각 계획가동 · 운전시간 · 생산수량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143000" y="497205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1390650" y="5114925"/>
            <a:ext cx="533400" cy="53340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390650" y="523875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190750" y="497205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이론CT(초) × 생산수량 ÷ 60 = 이론시간(분)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143000" y="596265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1390650" y="6105525"/>
            <a:ext cx="533400" cy="53340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390650" y="622935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190750" y="596265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검산: 이론CT × 양품 ÷ 60 ÷ 계획가동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143000" y="695325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1390650" y="7096125"/>
            <a:ext cx="533400" cy="53340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390650" y="721995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190750" y="695325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OEE 하나보다 세 요소를 함께 봐야 고칠 곳이 보인다</a:t>
            </a:r>
          </a:p>
        </p:txBody>
      </p:sp>
      <p:sp>
        <p:nvSpPr>
          <p:cNvPr id="28" name="Rectangle 27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생성형 AI 활용 실무 · 4일 32H · 2일차 1교시 · 이론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09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4859000" y="6667500"/>
            <a:ext cx="5905500" cy="5905500"/>
          </a:xfrm>
          <a:prstGeom prst="ellipse">
            <a:avLst/>
          </a:prstGeom>
          <a:solidFill>
            <a:srgbClr val="F2F8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2095500" y="-2095500"/>
            <a:ext cx="4381500" cy="4381500"/>
          </a:xfrm>
          <a:prstGeom prst="ellipse">
            <a:avLst/>
          </a:prstGeom>
          <a:solidFill>
            <a:srgbClr val="F5F6F7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43000" y="2857500"/>
            <a:ext cx="16002000" cy="285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3352800"/>
            <a:ext cx="85725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2일차 1교시 · 이론 마무리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3771900"/>
            <a:ext cx="16002000" cy="800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다음은 공정능력지수(Cp·Cpk)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43000" y="4724400"/>
            <a:ext cx="16002000" cy="4381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4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시간 손실을 보는 OEE 에 이어, 품질 측정값의 퍼짐과 쏠림을 보는 지표를 익힙니다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143000" y="5257800"/>
            <a:ext cx="7772400" cy="819150"/>
          </a:xfrm>
          <a:prstGeom prst="roundRect">
            <a:avLst>
              <a:gd name="adj" fmla="val 697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428750" y="5486400"/>
            <a:ext cx="4191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✓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905000" y="5486400"/>
            <a:ext cx="672465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규격 한계 LSL · USL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9372600" y="5257800"/>
            <a:ext cx="7772400" cy="819150"/>
          </a:xfrm>
          <a:prstGeom prst="roundRect">
            <a:avLst>
              <a:gd name="adj" fmla="val 697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658350" y="5486400"/>
            <a:ext cx="4191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✓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134600" y="5486400"/>
            <a:ext cx="672465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평균과 표준편차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143000" y="6286500"/>
            <a:ext cx="7772400" cy="819150"/>
          </a:xfrm>
          <a:prstGeom prst="roundRect">
            <a:avLst>
              <a:gd name="adj" fmla="val 697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428750" y="6515100"/>
            <a:ext cx="4191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✓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905000" y="6515100"/>
            <a:ext cx="672465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Cp 와 Cpk 의 차이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9372600" y="6286500"/>
            <a:ext cx="7772400" cy="819150"/>
          </a:xfrm>
          <a:prstGeom prst="roundRect">
            <a:avLst>
              <a:gd name="adj" fmla="val 697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658350" y="6515100"/>
            <a:ext cx="4191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✓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134600" y="6515100"/>
            <a:ext cx="672465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한쪽 규격 계산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143000" y="7715250"/>
            <a:ext cx="47625" cy="81915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409700" y="7734300"/>
            <a:ext cx="85725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 spc="14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준비할 것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09700" y="8077200"/>
            <a:ext cx="857250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03_quality_measure.xlsx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4192250" y="-2381250"/>
            <a:ext cx="7429500" cy="7429500"/>
          </a:xfrm>
          <a:prstGeom prst="ellipse">
            <a:avLst/>
          </a:prstGeom>
          <a:solidFill>
            <a:srgbClr val="F0F7F7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5430500" y="-1143000"/>
            <a:ext cx="4953000" cy="49530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15906750" y="5905500"/>
            <a:ext cx="4953000" cy="4953000"/>
          </a:xfrm>
          <a:prstGeom prst="ellipse">
            <a:avLst/>
          </a:prstGeom>
          <a:solidFill>
            <a:srgbClr val="F5F6F7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-1714500" y="2857500"/>
            <a:ext cx="2857500" cy="28575"/>
          </a:xfrm>
          <a:prstGeom prst="rect">
            <a:avLst/>
          </a:prstGeom>
          <a:solidFill>
            <a:srgbClr val="E6EAED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-2857500" y="6953250"/>
            <a:ext cx="6953250" cy="6953250"/>
          </a:xfrm>
          <a:prstGeom prst="ellipse">
            <a:avLst/>
          </a:prstGeom>
          <a:solidFill>
            <a:srgbClr val="ECF5F5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-1581150" y="8229600"/>
            <a:ext cx="4400550" cy="440055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3390900" y="8953500"/>
            <a:ext cx="742950" cy="742950"/>
          </a:xfrm>
          <a:prstGeom prst="ellipse">
            <a:avLst/>
          </a:prstGeom>
          <a:solidFill>
            <a:srgbClr val="EBEEF0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4457700" y="9563100"/>
            <a:ext cx="342900" cy="342900"/>
          </a:xfrm>
          <a:prstGeom prst="ellipse">
            <a:avLst/>
          </a:prstGeom>
          <a:solidFill>
            <a:srgbClr val="DFEDE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1143000" y="9639300"/>
            <a:ext cx="1619250" cy="28575"/>
          </a:xfrm>
          <a:prstGeom prst="rect">
            <a:avLst/>
          </a:prstGeom>
          <a:solidFill>
            <a:srgbClr val="E6EAED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1143000" y="2857500"/>
            <a:ext cx="16002000" cy="285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43000" y="3486150"/>
            <a:ext cx="85725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 spc="12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2일차 2교시 · KPI 분석 기초와 공정별 분석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43000" y="3905250"/>
            <a:ext cx="16002000" cy="14660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9300" b="1" spc="-347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공정능력지수(Cp·Cpk)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43000" y="5580888"/>
            <a:ext cx="16002000" cy="571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300" b="1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규격 안에 얼마나 여유 있게 들어오는가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572500" y="7677150"/>
            <a:ext cx="8572500" cy="857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50000"/>
              </a:lnSpc>
            </a:pPr>
            <a:r>
              <a:rPr sz="1950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생산안전본부 및 품질환경단 직무훈련</a:t>
            </a:r>
          </a:p>
          <a:p>
            <a:pPr algn="r">
              <a:lnSpc>
                <a:spcPct val="150000"/>
              </a:lnSpc>
            </a:pPr>
            <a:r>
              <a:rPr sz="1950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생성형 AI 활용 실무 · 2026. 10. 12.~15.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8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이 시간의 목표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50분 뒤에는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339090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390650" y="3533775"/>
            <a:ext cx="533400" cy="53340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390650" y="365760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①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190750" y="339090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LSL·USL·평균·표준편차의 역할을 설명한다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143000" y="438150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1390650" y="4524375"/>
            <a:ext cx="533400" cy="53340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390650" y="464820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②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190750" y="438150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양쪽·한쪽 규격의 Cp·Cpk 를 계산한다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143000" y="537210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1390650" y="5514975"/>
            <a:ext cx="533400" cy="53340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390650" y="563880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③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190750" y="537210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Cpk 를 일반적인 판정 기준으로 해석한다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143000" y="6953250"/>
            <a:ext cx="16002000" cy="876300"/>
          </a:xfrm>
          <a:prstGeom prst="roundRect">
            <a:avLst>
              <a:gd name="adj" fmla="val 5434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143000" y="7200900"/>
            <a:ext cx="16002000" cy="4381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설비별 Cpk 는 4교시에 Excel 로 직접 산출합니다</a:t>
            </a:r>
          </a:p>
        </p:txBody>
      </p:sp>
      <p:sp>
        <p:nvSpPr>
          <p:cNvPr id="22" name="Rectangle 21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생성형 AI 활용 실무 · 4일 32H · 2일차 2교시 · 이론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02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8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1. 과녁과 탄착군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여유를 정하는 두 가지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43000" y="2857500"/>
            <a:ext cx="7372350" cy="533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15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퍼짐 — 표준편차 σ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" y="3467100"/>
            <a:ext cx="7372350" cy="876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6000"/>
              </a:lnSpc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자국 무리가 얼마나 넓게 퍼졌나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143000" y="4610100"/>
            <a:ext cx="7372350" cy="2857500"/>
          </a:xfrm>
          <a:prstGeom prst="roundRect">
            <a:avLst>
              <a:gd name="adj" fmla="val 166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447800" y="5016817"/>
            <a:ext cx="97155" cy="97155"/>
          </a:xfrm>
          <a:prstGeom prst="ellipse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633538" y="4838700"/>
            <a:ext cx="6634162" cy="45339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STDEV.S 로 구한다</a:t>
            </a:r>
          </a:p>
        </p:txBody>
      </p:sp>
      <p:sp>
        <p:nvSpPr>
          <p:cNvPr id="13" name="Oval 12"/>
          <p:cNvSpPr/>
          <p:nvPr/>
        </p:nvSpPr>
        <p:spPr>
          <a:xfrm>
            <a:off x="1447800" y="5527358"/>
            <a:ext cx="97155" cy="97155"/>
          </a:xfrm>
          <a:prstGeom prst="ellipse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633538" y="5349240"/>
            <a:ext cx="6634162" cy="45339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대부분 평균 ± 3σ 안</a:t>
            </a:r>
          </a:p>
        </p:txBody>
      </p:sp>
      <p:sp>
        <p:nvSpPr>
          <p:cNvPr id="15" name="Oval 14"/>
          <p:cNvSpPr/>
          <p:nvPr/>
        </p:nvSpPr>
        <p:spPr>
          <a:xfrm>
            <a:off x="1447800" y="6037898"/>
            <a:ext cx="97155" cy="97155"/>
          </a:xfrm>
          <a:prstGeom prst="ellipse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633538" y="5859780"/>
            <a:ext cx="6634162" cy="45339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줄이려면 산포 원인 제거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772650" y="2857500"/>
            <a:ext cx="7372350" cy="533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15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치우침 — 평균 μ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772650" y="3467100"/>
            <a:ext cx="7372350" cy="876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6000"/>
              </a:lnSpc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무리의 중심이 과녁 중앙에서 비켜났나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9772650" y="4610100"/>
            <a:ext cx="7372350" cy="2857500"/>
          </a:xfrm>
          <a:prstGeom prst="roundRect">
            <a:avLst>
              <a:gd name="adj" fmla="val 166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10077450" y="5016817"/>
            <a:ext cx="97155" cy="97155"/>
          </a:xfrm>
          <a:prstGeom prst="ellipse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0263188" y="4838700"/>
            <a:ext cx="6634162" cy="45339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AVERAGE 로 구한다</a:t>
            </a:r>
          </a:p>
        </p:txBody>
      </p:sp>
      <p:sp>
        <p:nvSpPr>
          <p:cNvPr id="22" name="Oval 21"/>
          <p:cNvSpPr/>
          <p:nvPr/>
        </p:nvSpPr>
        <p:spPr>
          <a:xfrm>
            <a:off x="10077450" y="5527358"/>
            <a:ext cx="97155" cy="97155"/>
          </a:xfrm>
          <a:prstGeom prst="ellipse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0263188" y="5349240"/>
            <a:ext cx="6634162" cy="45339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규격 중앙과 비교</a:t>
            </a:r>
          </a:p>
        </p:txBody>
      </p:sp>
      <p:sp>
        <p:nvSpPr>
          <p:cNvPr id="24" name="Oval 23"/>
          <p:cNvSpPr/>
          <p:nvPr/>
        </p:nvSpPr>
        <p:spPr>
          <a:xfrm>
            <a:off x="10077450" y="6037898"/>
            <a:ext cx="97155" cy="97155"/>
          </a:xfrm>
          <a:prstGeom prst="ellipse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263188" y="5859780"/>
            <a:ext cx="6634162" cy="45339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고치려면 세팅값 조정</a:t>
            </a:r>
          </a:p>
        </p:txBody>
      </p:sp>
      <p:sp>
        <p:nvSpPr>
          <p:cNvPr id="26" name="Oval 25"/>
          <p:cNvSpPr/>
          <p:nvPr/>
        </p:nvSpPr>
        <p:spPr>
          <a:xfrm>
            <a:off x="8686800" y="3771900"/>
            <a:ext cx="914400" cy="91440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686800" y="4057650"/>
            <a:ext cx="9144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VS</a:t>
            </a:r>
          </a:p>
        </p:txBody>
      </p:sp>
      <p:sp>
        <p:nvSpPr>
          <p:cNvPr id="28" name="Rectangle 27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생성형 AI 활용 실무 · 4일 32H · 2일차 2교시 · 이론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03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8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2. 계산식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Cp 는 잠재 능력, Cpk 는 지금 실력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143000" y="2781300"/>
            <a:ext cx="3482340" cy="590550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43000" y="2781300"/>
            <a:ext cx="348234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지표</a:t>
            </a:r>
          </a:p>
        </p:txBody>
      </p:sp>
      <p:sp>
        <p:nvSpPr>
          <p:cNvPr id="10" name="Rectangle 9"/>
          <p:cNvSpPr/>
          <p:nvPr/>
        </p:nvSpPr>
        <p:spPr>
          <a:xfrm>
            <a:off x="4663440" y="2781300"/>
            <a:ext cx="7642860" cy="59055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663440" y="2781300"/>
            <a:ext cx="764286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계산식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2344400" y="2781300"/>
            <a:ext cx="4800600" cy="59055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2344400" y="2781300"/>
            <a:ext cx="480060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보는 것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143000" y="3448050"/>
            <a:ext cx="3482340" cy="647700"/>
          </a:xfrm>
          <a:prstGeom prst="roundRect">
            <a:avLst>
              <a:gd name="adj" fmla="val 5882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238250" y="3448050"/>
            <a:ext cx="329184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Cp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663440" y="3448050"/>
            <a:ext cx="764286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758690" y="3448050"/>
            <a:ext cx="745236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(USL − LSL) ÷ 6σ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2344400" y="3448050"/>
            <a:ext cx="48006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2439650" y="3448050"/>
            <a:ext cx="46101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퍼짐만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143000" y="4171950"/>
            <a:ext cx="3482340" cy="647700"/>
          </a:xfrm>
          <a:prstGeom prst="roundRect">
            <a:avLst>
              <a:gd name="adj" fmla="val 5882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238250" y="4171950"/>
            <a:ext cx="329184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Cpk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663440" y="4171950"/>
            <a:ext cx="764286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758690" y="4171950"/>
            <a:ext cx="745236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min(위 여유, 아래 여유)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2344400" y="4171950"/>
            <a:ext cx="48006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2439650" y="4171950"/>
            <a:ext cx="46101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퍼짐 + 쏠림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1143000" y="4895850"/>
            <a:ext cx="3482340" cy="647700"/>
          </a:xfrm>
          <a:prstGeom prst="roundRect">
            <a:avLst>
              <a:gd name="adj" fmla="val 5882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238250" y="4895850"/>
            <a:ext cx="329184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위 여유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4663440" y="4895850"/>
            <a:ext cx="764286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758690" y="4895850"/>
            <a:ext cx="745236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(USL − μ) ÷ 3σ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12344400" y="4895850"/>
            <a:ext cx="48006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2439650" y="4895850"/>
            <a:ext cx="46101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상한까지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1143000" y="5619750"/>
            <a:ext cx="3482340" cy="647700"/>
          </a:xfrm>
          <a:prstGeom prst="roundRect">
            <a:avLst>
              <a:gd name="adj" fmla="val 5882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238250" y="5619750"/>
            <a:ext cx="329184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아래 여유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4663440" y="5619750"/>
            <a:ext cx="764286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758690" y="5619750"/>
            <a:ext cx="745236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(μ − LSL) ÷ 3σ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12344400" y="5619750"/>
            <a:ext cx="48006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12439650" y="5619750"/>
            <a:ext cx="46101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하한까지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1143000" y="6343650"/>
            <a:ext cx="3482340" cy="647700"/>
          </a:xfrm>
          <a:prstGeom prst="roundRect">
            <a:avLst>
              <a:gd name="adj" fmla="val 5882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1238250" y="6343650"/>
            <a:ext cx="329184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하한만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4663440" y="6343650"/>
            <a:ext cx="764286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4758690" y="6343650"/>
            <a:ext cx="745236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Cpk = (μ − LSL) ÷ 3σ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12344400" y="6343650"/>
            <a:ext cx="48006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12439650" y="6343650"/>
            <a:ext cx="46101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소결밀도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143000" y="76200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75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한쪽 규격에서는 규격 폭이 없으므로 Cp 를 계산하지 않는다</a:t>
            </a:r>
          </a:p>
        </p:txBody>
      </p:sp>
      <p:sp>
        <p:nvSpPr>
          <p:cNvPr id="45" name="Rectangle 44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생성형 AI 활용 실무 · 4일 32H · 2일차 2교시 · 이론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04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8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2. 계산식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판정 기준 (일반적으로)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143000" y="2781300"/>
            <a:ext cx="3962400" cy="590550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43000" y="2781300"/>
            <a:ext cx="396240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Cpk</a:t>
            </a:r>
          </a:p>
        </p:txBody>
      </p:sp>
      <p:sp>
        <p:nvSpPr>
          <p:cNvPr id="10" name="Rectangle 9"/>
          <p:cNvSpPr/>
          <p:nvPr/>
        </p:nvSpPr>
        <p:spPr>
          <a:xfrm>
            <a:off x="5143500" y="2781300"/>
            <a:ext cx="3962400" cy="59055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143500" y="2781300"/>
            <a:ext cx="396240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해석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144000" y="2781300"/>
            <a:ext cx="8001000" cy="59055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144000" y="2781300"/>
            <a:ext cx="800100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현장에서 하는 일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143000" y="3448050"/>
            <a:ext cx="3962400" cy="647700"/>
          </a:xfrm>
          <a:prstGeom prst="roundRect">
            <a:avLst>
              <a:gd name="adj" fmla="val 5882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238250" y="3448050"/>
            <a:ext cx="37719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1.33 이상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143500" y="3448050"/>
            <a:ext cx="39624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238750" y="3448050"/>
            <a:ext cx="37719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양호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9144000" y="3448050"/>
            <a:ext cx="80010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239250" y="3448050"/>
            <a:ext cx="78105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유지 · 정기 모니터링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143000" y="4171950"/>
            <a:ext cx="3962400" cy="647700"/>
          </a:xfrm>
          <a:prstGeom prst="roundRect">
            <a:avLst>
              <a:gd name="adj" fmla="val 5882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238250" y="4171950"/>
            <a:ext cx="37719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1.0 ~ 1.33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143500" y="4171950"/>
            <a:ext cx="39624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238750" y="4171950"/>
            <a:ext cx="37719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관리 필요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9144000" y="4171950"/>
            <a:ext cx="80010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239250" y="4171950"/>
            <a:ext cx="78105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산포·치우침 점검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1143000" y="4895850"/>
            <a:ext cx="3962400" cy="647700"/>
          </a:xfrm>
          <a:prstGeom prst="roundRect">
            <a:avLst>
              <a:gd name="adj" fmla="val 5882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238250" y="4895850"/>
            <a:ext cx="37719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1.0 미만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143500" y="4895850"/>
            <a:ext cx="39624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238750" y="4895850"/>
            <a:ext cx="37719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부적합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9144000" y="4895850"/>
            <a:ext cx="80010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9239250" y="4895850"/>
            <a:ext cx="78105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원인 조사 · 임시 조치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143000" y="76200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75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고객사·업종마다 요구 수준이 다르다 — 실제 판정은 회사 품질 기준서</a:t>
            </a:r>
          </a:p>
        </p:txBody>
      </p:sp>
      <p:sp>
        <p:nvSpPr>
          <p:cNvPr id="33" name="Rectangle 32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생성형 AI 활용 실무 · 4일 32H · 2일차 2교시 · 이론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05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8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3. 이 라인의 규격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SPEC 시트 — 한쪽 규격 하나, 양쪽 규격 둘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143000" y="2781300"/>
            <a:ext cx="5402580" cy="590550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43000" y="2781300"/>
            <a:ext cx="540258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특성</a:t>
            </a:r>
          </a:p>
        </p:txBody>
      </p:sp>
      <p:sp>
        <p:nvSpPr>
          <p:cNvPr id="10" name="Rectangle 9"/>
          <p:cNvSpPr/>
          <p:nvPr/>
        </p:nvSpPr>
        <p:spPr>
          <a:xfrm>
            <a:off x="6583680" y="2781300"/>
            <a:ext cx="2842260" cy="59055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583680" y="2781300"/>
            <a:ext cx="284226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LSL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464040" y="2781300"/>
            <a:ext cx="2842260" cy="59055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464040" y="2781300"/>
            <a:ext cx="284226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USL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2344400" y="2781300"/>
            <a:ext cx="4800600" cy="59055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2344400" y="2781300"/>
            <a:ext cx="480060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종류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143000" y="3448050"/>
            <a:ext cx="5402580" cy="647700"/>
          </a:xfrm>
          <a:prstGeom prst="roundRect">
            <a:avLst>
              <a:gd name="adj" fmla="val 5882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238250" y="3448050"/>
            <a:ext cx="521208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소결밀도_pct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583680" y="3448050"/>
            <a:ext cx="284226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678930" y="3448050"/>
            <a:ext cx="265176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95.0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9464040" y="3448050"/>
            <a:ext cx="284226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559290" y="3448050"/>
            <a:ext cx="265176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—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12344400" y="3448050"/>
            <a:ext cx="48006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2439650" y="3448050"/>
            <a:ext cx="46101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한쪽(하한)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143000" y="4171950"/>
            <a:ext cx="5402580" cy="647700"/>
          </a:xfrm>
          <a:prstGeom prst="roundRect">
            <a:avLst>
              <a:gd name="adj" fmla="val 5882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238250" y="4171950"/>
            <a:ext cx="521208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소결외경_mm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583680" y="4171950"/>
            <a:ext cx="284226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678930" y="4171950"/>
            <a:ext cx="265176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10.12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9464040" y="4171950"/>
            <a:ext cx="284226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559290" y="4171950"/>
            <a:ext cx="265176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10.28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12344400" y="4171950"/>
            <a:ext cx="48006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2439650" y="4171950"/>
            <a:ext cx="46101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양쪽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1143000" y="4895850"/>
            <a:ext cx="5402580" cy="647700"/>
          </a:xfrm>
          <a:prstGeom prst="roundRect">
            <a:avLst>
              <a:gd name="adj" fmla="val 5882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238250" y="4895850"/>
            <a:ext cx="521208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연삭외경_mm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6583680" y="4895850"/>
            <a:ext cx="284226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678930" y="4895850"/>
            <a:ext cx="265176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9.94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9464040" y="4895850"/>
            <a:ext cx="284226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9559290" y="4895850"/>
            <a:ext cx="265176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10.06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12344400" y="4895850"/>
            <a:ext cx="48006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12439650" y="4895850"/>
            <a:ext cx="46101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양쪽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143000" y="76200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75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03_quality_measure.xlsx · MEASURE 2,480행</a:t>
            </a:r>
          </a:p>
        </p:txBody>
      </p:sp>
      <p:sp>
        <p:nvSpPr>
          <p:cNvPr id="41" name="Rectangle 40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생성형 AI 활용 실무 · 4일 32H · 2일차 2교시 · 이론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06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8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4. 손계산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SF-01 소결외경 — 평균 10.2000 · σ 0.0203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143000" y="2781300"/>
            <a:ext cx="3962400" cy="590550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43000" y="2781300"/>
            <a:ext cx="396240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순서</a:t>
            </a:r>
          </a:p>
        </p:txBody>
      </p:sp>
      <p:sp>
        <p:nvSpPr>
          <p:cNvPr id="10" name="Rectangle 9"/>
          <p:cNvSpPr/>
          <p:nvPr/>
        </p:nvSpPr>
        <p:spPr>
          <a:xfrm>
            <a:off x="5143500" y="2781300"/>
            <a:ext cx="7962900" cy="59055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143500" y="2781300"/>
            <a:ext cx="796290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계산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3144500" y="2781300"/>
            <a:ext cx="4000500" cy="59055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3144500" y="2781300"/>
            <a:ext cx="400050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결과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143000" y="3448050"/>
            <a:ext cx="3962400" cy="647700"/>
          </a:xfrm>
          <a:prstGeom prst="roundRect">
            <a:avLst>
              <a:gd name="adj" fmla="val 5882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238250" y="3448050"/>
            <a:ext cx="37719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Cp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143500" y="3448050"/>
            <a:ext cx="79629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238750" y="3448050"/>
            <a:ext cx="77724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0.16 ÷ (6 × 0.0203)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3144500" y="3448050"/>
            <a:ext cx="40005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3239750" y="3448050"/>
            <a:ext cx="38100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1.31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143000" y="4171950"/>
            <a:ext cx="3962400" cy="647700"/>
          </a:xfrm>
          <a:prstGeom prst="roundRect">
            <a:avLst>
              <a:gd name="adj" fmla="val 5882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238250" y="4171950"/>
            <a:ext cx="37719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위 여유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143500" y="4171950"/>
            <a:ext cx="79629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238750" y="4171950"/>
            <a:ext cx="77724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0.08 ÷ (3 × 0.0203)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3144500" y="4171950"/>
            <a:ext cx="40005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3239750" y="4171950"/>
            <a:ext cx="38100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1.31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1143000" y="4895850"/>
            <a:ext cx="3962400" cy="647700"/>
          </a:xfrm>
          <a:prstGeom prst="roundRect">
            <a:avLst>
              <a:gd name="adj" fmla="val 5882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238250" y="4895850"/>
            <a:ext cx="37719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아래 여유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143500" y="4895850"/>
            <a:ext cx="79629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238750" y="4895850"/>
            <a:ext cx="77724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0.08 ÷ (3 × 0.0203)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13144500" y="4895850"/>
            <a:ext cx="40005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3239750" y="4895850"/>
            <a:ext cx="38100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1.31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1143000" y="5619750"/>
            <a:ext cx="3962400" cy="647700"/>
          </a:xfrm>
          <a:prstGeom prst="roundRect">
            <a:avLst>
              <a:gd name="adj" fmla="val 5882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238250" y="5619750"/>
            <a:ext cx="37719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Cpk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5143500" y="5619750"/>
            <a:ext cx="79629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5238750" y="5619750"/>
            <a:ext cx="77724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둘 중 작은 값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13144500" y="5619750"/>
            <a:ext cx="40005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13239750" y="5619750"/>
            <a:ext cx="38100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1.31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143000" y="76200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75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평균이 규격 정중앙이라 Cp 와 Cpk 가 같다 — 판정은 관리 필요</a:t>
            </a:r>
          </a:p>
        </p:txBody>
      </p:sp>
      <p:sp>
        <p:nvSpPr>
          <p:cNvPr id="39" name="Rectangle 38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생성형 AI 활용 실무 · 4일 32H · 2일차 2교시 · 이론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07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8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4. 손계산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같은 퍼짐, 다른 판정 (예시 숫자)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43000" y="2857500"/>
            <a:ext cx="7372350" cy="533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15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A · 평균 10.00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" y="3467100"/>
            <a:ext cx="7372350" cy="876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6000"/>
              </a:lnSpc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규격 9.94~10.06 · σ 0.012 · 중심이 맞음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143000" y="4610100"/>
            <a:ext cx="7372350" cy="2857500"/>
          </a:xfrm>
          <a:prstGeom prst="roundRect">
            <a:avLst>
              <a:gd name="adj" fmla="val 166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1390650" y="4838700"/>
            <a:ext cx="702885" cy="4857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390650" y="4838700"/>
            <a:ext cx="702885" cy="48577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5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Cp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093535" y="4838700"/>
            <a:ext cx="6174165" cy="485775"/>
          </a:xfrm>
          <a:prstGeom prst="rect">
            <a:avLst/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245935" y="4838700"/>
            <a:ext cx="5869365" cy="48577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1.67</a:t>
            </a:r>
          </a:p>
        </p:txBody>
      </p:sp>
      <p:sp>
        <p:nvSpPr>
          <p:cNvPr id="15" name="Rectangle 14"/>
          <p:cNvSpPr/>
          <p:nvPr/>
        </p:nvSpPr>
        <p:spPr>
          <a:xfrm>
            <a:off x="1390650" y="5400675"/>
            <a:ext cx="702885" cy="4857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390650" y="5400675"/>
            <a:ext cx="702885" cy="48577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5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Cpk</a:t>
            </a:r>
          </a:p>
        </p:txBody>
      </p:sp>
      <p:sp>
        <p:nvSpPr>
          <p:cNvPr id="17" name="Rectangle 16"/>
          <p:cNvSpPr/>
          <p:nvPr/>
        </p:nvSpPr>
        <p:spPr>
          <a:xfrm>
            <a:off x="2093535" y="5400675"/>
            <a:ext cx="6174165" cy="485775"/>
          </a:xfrm>
          <a:prstGeom prst="rect">
            <a:avLst/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2245935" y="5400675"/>
            <a:ext cx="5869365" cy="48577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1.67</a:t>
            </a:r>
          </a:p>
        </p:txBody>
      </p:sp>
      <p:sp>
        <p:nvSpPr>
          <p:cNvPr id="19" name="Rectangle 18"/>
          <p:cNvSpPr/>
          <p:nvPr/>
        </p:nvSpPr>
        <p:spPr>
          <a:xfrm>
            <a:off x="1390650" y="5962650"/>
            <a:ext cx="702885" cy="4857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390650" y="5962650"/>
            <a:ext cx="702885" cy="48577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5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판정</a:t>
            </a:r>
          </a:p>
        </p:txBody>
      </p:sp>
      <p:sp>
        <p:nvSpPr>
          <p:cNvPr id="21" name="Rectangle 20"/>
          <p:cNvSpPr/>
          <p:nvPr/>
        </p:nvSpPr>
        <p:spPr>
          <a:xfrm>
            <a:off x="2093535" y="5962650"/>
            <a:ext cx="6174165" cy="485775"/>
          </a:xfrm>
          <a:prstGeom prst="rect">
            <a:avLst/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2245935" y="5962650"/>
            <a:ext cx="5869365" cy="48577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양호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772650" y="2857500"/>
            <a:ext cx="7372350" cy="533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15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B · 평균 10.03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772650" y="3467100"/>
            <a:ext cx="7372350" cy="876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6000"/>
              </a:lnSpc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같은 σ 0.012 · 위로 0.03 쏠림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9772650" y="4610100"/>
            <a:ext cx="7372350" cy="2857500"/>
          </a:xfrm>
          <a:prstGeom prst="roundRect">
            <a:avLst>
              <a:gd name="adj" fmla="val 166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10020300" y="4838700"/>
            <a:ext cx="702885" cy="4857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0020300" y="4838700"/>
            <a:ext cx="702885" cy="48577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5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Cp</a:t>
            </a:r>
          </a:p>
        </p:txBody>
      </p:sp>
      <p:sp>
        <p:nvSpPr>
          <p:cNvPr id="28" name="Rectangle 27"/>
          <p:cNvSpPr/>
          <p:nvPr/>
        </p:nvSpPr>
        <p:spPr>
          <a:xfrm>
            <a:off x="10723185" y="4838700"/>
            <a:ext cx="6174165" cy="485775"/>
          </a:xfrm>
          <a:prstGeom prst="rect">
            <a:avLst/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0875585" y="4838700"/>
            <a:ext cx="5869365" cy="48577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1.67</a:t>
            </a:r>
          </a:p>
        </p:txBody>
      </p:sp>
      <p:sp>
        <p:nvSpPr>
          <p:cNvPr id="30" name="Rectangle 29"/>
          <p:cNvSpPr/>
          <p:nvPr/>
        </p:nvSpPr>
        <p:spPr>
          <a:xfrm>
            <a:off x="10020300" y="5400675"/>
            <a:ext cx="702885" cy="4857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0020300" y="5400675"/>
            <a:ext cx="702885" cy="48577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5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Cpk</a:t>
            </a:r>
          </a:p>
        </p:txBody>
      </p:sp>
      <p:sp>
        <p:nvSpPr>
          <p:cNvPr id="32" name="Rectangle 31"/>
          <p:cNvSpPr/>
          <p:nvPr/>
        </p:nvSpPr>
        <p:spPr>
          <a:xfrm>
            <a:off x="10723185" y="5400675"/>
            <a:ext cx="6174165" cy="485775"/>
          </a:xfrm>
          <a:prstGeom prst="rect">
            <a:avLst/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0875585" y="5400675"/>
            <a:ext cx="5869365" cy="48577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0.83</a:t>
            </a:r>
          </a:p>
        </p:txBody>
      </p:sp>
      <p:sp>
        <p:nvSpPr>
          <p:cNvPr id="34" name="Rectangle 33"/>
          <p:cNvSpPr/>
          <p:nvPr/>
        </p:nvSpPr>
        <p:spPr>
          <a:xfrm>
            <a:off x="10020300" y="5962650"/>
            <a:ext cx="702885" cy="4857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10020300" y="5962650"/>
            <a:ext cx="702885" cy="48577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5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판정</a:t>
            </a:r>
          </a:p>
        </p:txBody>
      </p:sp>
      <p:sp>
        <p:nvSpPr>
          <p:cNvPr id="36" name="Rectangle 35"/>
          <p:cNvSpPr/>
          <p:nvPr/>
        </p:nvSpPr>
        <p:spPr>
          <a:xfrm>
            <a:off x="10723185" y="5962650"/>
            <a:ext cx="6174165" cy="485775"/>
          </a:xfrm>
          <a:prstGeom prst="rect">
            <a:avLst/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10875585" y="5962650"/>
            <a:ext cx="5869365" cy="48577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부적합</a:t>
            </a:r>
          </a:p>
        </p:txBody>
      </p:sp>
      <p:sp>
        <p:nvSpPr>
          <p:cNvPr id="38" name="Oval 37"/>
          <p:cNvSpPr/>
          <p:nvPr/>
        </p:nvSpPr>
        <p:spPr>
          <a:xfrm>
            <a:off x="8686800" y="3771900"/>
            <a:ext cx="914400" cy="91440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8686800" y="4057650"/>
            <a:ext cx="9144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VS</a:t>
            </a:r>
          </a:p>
        </p:txBody>
      </p:sp>
      <p:sp>
        <p:nvSpPr>
          <p:cNvPr id="40" name="Rectangle 39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생성형 AI 활용 실무 · 4일 32H · 2일차 2교시 · 이론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08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8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4. 손계산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한쪽 규격 — SF-01 소결밀도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2933700"/>
            <a:ext cx="11430000" cy="1095375"/>
          </a:xfrm>
          <a:prstGeom prst="roundRect">
            <a:avLst>
              <a:gd name="adj" fmla="val 4347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447800" y="3181350"/>
            <a:ext cx="590550" cy="59055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447800" y="3333750"/>
            <a:ext cx="59055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324100" y="3143250"/>
            <a:ext cx="990600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4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값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324100" y="3543300"/>
            <a:ext cx="9906000" cy="3619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평균 96.2546 · 표준편차 0.3262 · 하한 95.0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143000" y="4200525"/>
            <a:ext cx="11430000" cy="1095375"/>
          </a:xfrm>
          <a:prstGeom prst="roundRect">
            <a:avLst>
              <a:gd name="adj" fmla="val 4347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1447800" y="4448175"/>
            <a:ext cx="590550" cy="59055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447800" y="4600575"/>
            <a:ext cx="59055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324100" y="4410075"/>
            <a:ext cx="990600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4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계산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324100" y="4810125"/>
            <a:ext cx="9906000" cy="3619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(96.2546 − 95.0) ÷ (3 × 0.3262) = 1.2546 ÷ 0.9786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143000" y="5467350"/>
            <a:ext cx="11430000" cy="1095375"/>
          </a:xfrm>
          <a:prstGeom prst="roundRect">
            <a:avLst>
              <a:gd name="adj" fmla="val 4347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447800" y="5715000"/>
            <a:ext cx="590550" cy="59055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447800" y="5867400"/>
            <a:ext cx="59055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324100" y="5676900"/>
            <a:ext cx="990600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4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결과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24100" y="6076950"/>
            <a:ext cx="9906000" cy="3619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Cpk 1.28 → 1.0 ~ 1.33 구간, 관리 필요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13144500" y="2933700"/>
            <a:ext cx="4000500" cy="3629025"/>
          </a:xfrm>
          <a:prstGeom prst="roundRect">
            <a:avLst>
              <a:gd name="adj" fmla="val 1312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3487400" y="3929062"/>
            <a:ext cx="33147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 spc="19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Cp 는?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3487400" y="4329112"/>
            <a:ext cx="3314700" cy="1238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8000"/>
              </a:lnSpc>
            </a:pPr>
            <a:r>
              <a:rPr sz="27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상한이 없어</a:t>
            </a:r>
          </a:p>
          <a:p>
            <a:pPr algn="l">
              <a:lnSpc>
                <a:spcPct val="138000"/>
              </a:lnSpc>
            </a:pPr>
            <a:r>
              <a:rPr sz="27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계산 안 함</a:t>
            </a:r>
          </a:p>
        </p:txBody>
      </p:sp>
      <p:sp>
        <p:nvSpPr>
          <p:cNvPr id="26" name="Rectangle 25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생성형 AI 활용 실무 · 4일 32H · 2일차 2교시 · 이론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09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8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정리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이 시간에서 꼭 가져갈 것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299085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390650" y="3133725"/>
            <a:ext cx="533400" cy="53340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390650" y="325755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190750" y="299085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Cp 는 퍼짐만, Cpk 는 퍼짐과 쏠림을 함께 본다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143000" y="398145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1390650" y="4124325"/>
            <a:ext cx="533400" cy="53340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390650" y="424815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190750" y="398145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Cpk 는 가까운 쪽 규격까지의 여유 (작은 값)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143000" y="497205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1390650" y="5114925"/>
            <a:ext cx="533400" cy="53340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390650" y="523875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190750" y="497205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한쪽 규격은 Cpk 만 — 소결밀도 (μ − 95.0) ÷ 3σ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143000" y="596265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1390650" y="6105525"/>
            <a:ext cx="533400" cy="53340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390650" y="622935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190750" y="596265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Cp 높고 Cpk 낮으면 세팅 조정이 먼저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143000" y="695325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1390650" y="7096125"/>
            <a:ext cx="533400" cy="53340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390650" y="721995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190750" y="695325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1.33 · 1.0 은 일반 기준 — 실제는 회사 기준서</a:t>
            </a:r>
          </a:p>
        </p:txBody>
      </p:sp>
      <p:sp>
        <p:nvSpPr>
          <p:cNvPr id="28" name="Rectangle 27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생성형 AI 활용 실무 · 4일 32H · 2일차 2교시 · 이론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10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4859000" y="6667500"/>
            <a:ext cx="5905500" cy="5905500"/>
          </a:xfrm>
          <a:prstGeom prst="ellipse">
            <a:avLst/>
          </a:prstGeom>
          <a:solidFill>
            <a:srgbClr val="F2F8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2095500" y="-2095500"/>
            <a:ext cx="4381500" cy="4381500"/>
          </a:xfrm>
          <a:prstGeom prst="ellipse">
            <a:avLst/>
          </a:prstGeom>
          <a:solidFill>
            <a:srgbClr val="F5F6F7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43000" y="2857500"/>
            <a:ext cx="16002000" cy="285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3352800"/>
            <a:ext cx="85725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2일차 2교시 · 이론 마무리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3771900"/>
            <a:ext cx="16002000" cy="800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다음은 공정별 OEE 산출 실습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43000" y="4724400"/>
            <a:ext cx="16002000" cy="4381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4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AI 에 생산일지를 올려 공정별 OEE 를 계산시키고, Excel 로 같은 값을 다시 계산해 검증합니다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143000" y="5257800"/>
            <a:ext cx="7772400" cy="819150"/>
          </a:xfrm>
          <a:prstGeom prst="roundRect">
            <a:avLst>
              <a:gd name="adj" fmla="val 697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428750" y="5486400"/>
            <a:ext cx="4191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✓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905000" y="5486400"/>
            <a:ext cx="672465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AI 가 파일을 제대로 읽었나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9372600" y="5257800"/>
            <a:ext cx="7772400" cy="819150"/>
          </a:xfrm>
          <a:prstGeom prst="roundRect">
            <a:avLst>
              <a:gd name="adj" fmla="val 697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658350" y="5486400"/>
            <a:ext cx="4191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✓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134600" y="5486400"/>
            <a:ext cx="672465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합계 방식으로 계산 지정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143000" y="6286500"/>
            <a:ext cx="7772400" cy="819150"/>
          </a:xfrm>
          <a:prstGeom prst="roundRect">
            <a:avLst>
              <a:gd name="adj" fmla="val 697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428750" y="6515100"/>
            <a:ext cx="4191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✓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905000" y="6515100"/>
            <a:ext cx="672465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피벗 테이블 · SUMIFS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9372600" y="6286500"/>
            <a:ext cx="7772400" cy="819150"/>
          </a:xfrm>
          <a:prstGeom prst="roundRect">
            <a:avLst>
              <a:gd name="adj" fmla="val 697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658350" y="6515100"/>
            <a:ext cx="4191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✓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134600" y="6515100"/>
            <a:ext cx="672465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AI 결과와 대조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143000" y="7715250"/>
            <a:ext cx="47625" cy="81915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409700" y="7734300"/>
            <a:ext cx="85725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 spc="14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준비할 것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09700" y="8077200"/>
            <a:ext cx="857250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02_production_log_clean.xlsx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4192250" y="-2381250"/>
            <a:ext cx="7429500" cy="7429500"/>
          </a:xfrm>
          <a:prstGeom prst="ellipse">
            <a:avLst/>
          </a:prstGeom>
          <a:solidFill>
            <a:srgbClr val="F0F7F7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5430500" y="-1143000"/>
            <a:ext cx="4953000" cy="49530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15906750" y="5905500"/>
            <a:ext cx="4953000" cy="4953000"/>
          </a:xfrm>
          <a:prstGeom prst="ellipse">
            <a:avLst/>
          </a:prstGeom>
          <a:solidFill>
            <a:srgbClr val="F5F6F7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-1714500" y="2857500"/>
            <a:ext cx="2857500" cy="28575"/>
          </a:xfrm>
          <a:prstGeom prst="rect">
            <a:avLst/>
          </a:prstGeom>
          <a:solidFill>
            <a:srgbClr val="E6EAED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-2857500" y="6953250"/>
            <a:ext cx="6953250" cy="6953250"/>
          </a:xfrm>
          <a:prstGeom prst="ellipse">
            <a:avLst/>
          </a:prstGeom>
          <a:solidFill>
            <a:srgbClr val="ECF5F5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-1581150" y="8229600"/>
            <a:ext cx="4400550" cy="440055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3390900" y="8953500"/>
            <a:ext cx="742950" cy="742950"/>
          </a:xfrm>
          <a:prstGeom prst="ellipse">
            <a:avLst/>
          </a:prstGeom>
          <a:solidFill>
            <a:srgbClr val="EBEEF0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4457700" y="9563100"/>
            <a:ext cx="342900" cy="342900"/>
          </a:xfrm>
          <a:prstGeom prst="ellipse">
            <a:avLst/>
          </a:prstGeom>
          <a:solidFill>
            <a:srgbClr val="DFEDE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1143000" y="9639300"/>
            <a:ext cx="1619250" cy="28575"/>
          </a:xfrm>
          <a:prstGeom prst="rect">
            <a:avLst/>
          </a:prstGeom>
          <a:solidFill>
            <a:srgbClr val="E6EAED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1143000" y="2857500"/>
            <a:ext cx="16002000" cy="285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43000" y="3486150"/>
            <a:ext cx="85725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 spc="12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2일차 3교시 · KPI 분석 기초와 공정별 분석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43000" y="3905250"/>
            <a:ext cx="16002000" cy="14660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9300" b="1" spc="-347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공정별 OEE 산출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43000" y="5580888"/>
            <a:ext cx="16002000" cy="571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300" b="1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AI 로 빠르게 계산하고, Excel 로 검증한다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572500" y="7677150"/>
            <a:ext cx="8572500" cy="857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50000"/>
              </a:lnSpc>
            </a:pPr>
            <a:r>
              <a:rPr sz="1950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생산안전본부 및 품질환경단 직무훈련</a:t>
            </a:r>
          </a:p>
          <a:p>
            <a:pPr algn="r">
              <a:lnSpc>
                <a:spcPct val="150000"/>
              </a:lnSpc>
            </a:pPr>
            <a:r>
              <a:rPr sz="1950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생성형 AI 활용 실무 · 2026. 10. 12.~15.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8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이 시간의 목표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50분 뒤에는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339090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390650" y="3533775"/>
            <a:ext cx="533400" cy="53340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390650" y="365760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①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190750" y="339090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AI 파일 분석으로 공정별 OEE 를 계산시킨다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143000" y="438150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1390650" y="4524375"/>
            <a:ext cx="533400" cy="53340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390650" y="464820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②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190750" y="438150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피벗 테이블 · SUMIFS 로 같은 값을 다시 계산한다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143000" y="537210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1390650" y="5514975"/>
            <a:ext cx="533400" cy="53340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390650" y="563880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③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190750" y="537210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행 수 · 합계 · 한 행 손계산으로 틀린 숫자를 찾는다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143000" y="6953250"/>
            <a:ext cx="16002000" cy="876300"/>
          </a:xfrm>
          <a:prstGeom prst="roundRect">
            <a:avLst>
              <a:gd name="adj" fmla="val 5434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143000" y="7200900"/>
            <a:ext cx="16002000" cy="4381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결과물: 6개 공정 + 라인 전체의 가동률·성능·양품률·OEE 표</a:t>
            </a:r>
          </a:p>
        </p:txBody>
      </p:sp>
      <p:sp>
        <p:nvSpPr>
          <p:cNvPr id="22" name="Rectangle 21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생성형 AI 활용 실무 · 4일 32H · 2일차 3교시 · 실습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02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8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1. 핵심 개념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공정 OEE 는 합계로 계산한다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43000" y="2857500"/>
            <a:ext cx="7372350" cy="533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15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합계 방식 (정답)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" y="3467100"/>
            <a:ext cx="7372350" cy="876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6000"/>
              </a:lnSpc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분·개수를 먼저 더한 뒤 비율을 구한다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143000" y="4610100"/>
            <a:ext cx="7372350" cy="2857500"/>
          </a:xfrm>
          <a:prstGeom prst="roundRect">
            <a:avLst>
              <a:gd name="adj" fmla="val 166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447800" y="5016817"/>
            <a:ext cx="97155" cy="97155"/>
          </a:xfrm>
          <a:prstGeom prst="ellipse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633538" y="4838700"/>
            <a:ext cx="6634162" cy="45339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Σ운전 ÷ Σ계획</a:t>
            </a:r>
          </a:p>
        </p:txBody>
      </p:sp>
      <p:sp>
        <p:nvSpPr>
          <p:cNvPr id="13" name="Oval 12"/>
          <p:cNvSpPr/>
          <p:nvPr/>
        </p:nvSpPr>
        <p:spPr>
          <a:xfrm>
            <a:off x="1447800" y="5527358"/>
            <a:ext cx="97155" cy="97155"/>
          </a:xfrm>
          <a:prstGeom prst="ellipse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633538" y="5349240"/>
            <a:ext cx="6634162" cy="45339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Σ이론 ÷ Σ운전</a:t>
            </a:r>
          </a:p>
        </p:txBody>
      </p:sp>
      <p:sp>
        <p:nvSpPr>
          <p:cNvPr id="15" name="Oval 14"/>
          <p:cNvSpPr/>
          <p:nvPr/>
        </p:nvSpPr>
        <p:spPr>
          <a:xfrm>
            <a:off x="1447800" y="6037898"/>
            <a:ext cx="97155" cy="97155"/>
          </a:xfrm>
          <a:prstGeom prst="ellipse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633538" y="5859780"/>
            <a:ext cx="6634162" cy="45339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Σ양품 ÷ Σ생산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772650" y="2857500"/>
            <a:ext cx="7372350" cy="533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15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평균 방식 (오답)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772650" y="3467100"/>
            <a:ext cx="7372350" cy="876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6000"/>
              </a:lnSpc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행별 비율을 평균 내면 행의 크기를 무시한다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9772650" y="4610100"/>
            <a:ext cx="7372350" cy="2857500"/>
          </a:xfrm>
          <a:prstGeom prst="roundRect">
            <a:avLst>
              <a:gd name="adj" fmla="val 166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10077450" y="5016817"/>
            <a:ext cx="97155" cy="97155"/>
          </a:xfrm>
          <a:prstGeom prst="ellipse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0263188" y="4838700"/>
            <a:ext cx="6634162" cy="45339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소결 세 평균의 곱 79.5%</a:t>
            </a:r>
          </a:p>
        </p:txBody>
      </p:sp>
      <p:sp>
        <p:nvSpPr>
          <p:cNvPr id="22" name="Oval 21"/>
          <p:cNvSpPr/>
          <p:nvPr/>
        </p:nvSpPr>
        <p:spPr>
          <a:xfrm>
            <a:off x="10077450" y="5527358"/>
            <a:ext cx="97155" cy="97155"/>
          </a:xfrm>
          <a:prstGeom prst="ellipse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0263188" y="5349240"/>
            <a:ext cx="6634162" cy="45339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합계 방식은 79.7%</a:t>
            </a:r>
          </a:p>
        </p:txBody>
      </p:sp>
      <p:sp>
        <p:nvSpPr>
          <p:cNvPr id="24" name="Oval 23"/>
          <p:cNvSpPr/>
          <p:nvPr/>
        </p:nvSpPr>
        <p:spPr>
          <a:xfrm>
            <a:off x="10077450" y="6037898"/>
            <a:ext cx="97155" cy="97155"/>
          </a:xfrm>
          <a:prstGeom prst="ellipse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263188" y="5859780"/>
            <a:ext cx="6634162" cy="45339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전체 행 평균 85.2% vs 85.3%</a:t>
            </a:r>
          </a:p>
        </p:txBody>
      </p:sp>
      <p:sp>
        <p:nvSpPr>
          <p:cNvPr id="26" name="Oval 25"/>
          <p:cNvSpPr/>
          <p:nvPr/>
        </p:nvSpPr>
        <p:spPr>
          <a:xfrm>
            <a:off x="8686800" y="3771900"/>
            <a:ext cx="914400" cy="91440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686800" y="4057650"/>
            <a:ext cx="9144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VS</a:t>
            </a:r>
          </a:p>
        </p:txBody>
      </p:sp>
      <p:sp>
        <p:nvSpPr>
          <p:cNvPr id="28" name="Rectangle 27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생성형 AI 활용 실무 · 4일 32H · 2일차 3교시 · 실습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03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8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2. 실습 흐름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다섯 단계로 계산하고 검증한다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43000" y="3067050"/>
            <a:ext cx="16002000" cy="4381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50" b="1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AI 결과는 Excel 로 다시 계산한 다음에만 쓴다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143000" y="3924300"/>
            <a:ext cx="2895600" cy="3143250"/>
          </a:xfrm>
          <a:prstGeom prst="roundRect">
            <a:avLst>
              <a:gd name="adj" fmla="val 1644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1143000" y="3924300"/>
            <a:ext cx="2895600" cy="914400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143000" y="4171950"/>
            <a:ext cx="28956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구조 확인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52550" y="5143500"/>
            <a:ext cx="24765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행 수·공정·합계부터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419600" y="3924300"/>
            <a:ext cx="2895600" cy="3143250"/>
          </a:xfrm>
          <a:prstGeom prst="roundRect">
            <a:avLst>
              <a:gd name="adj" fmla="val 1644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419600" y="3924300"/>
            <a:ext cx="2895600" cy="91440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419600" y="4171950"/>
            <a:ext cx="28956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AI 계산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629150" y="5143500"/>
            <a:ext cx="24765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합계 방식을 지정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696200" y="3924300"/>
            <a:ext cx="2895600" cy="3143250"/>
          </a:xfrm>
          <a:prstGeom prst="roundRect">
            <a:avLst>
              <a:gd name="adj" fmla="val 1644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696200" y="3924300"/>
            <a:ext cx="2895600" cy="914400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96200" y="4171950"/>
            <a:ext cx="28956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계산 열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905750" y="5143500"/>
            <a:ext cx="24765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운전시간·이론시간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10972800" y="3924300"/>
            <a:ext cx="2895600" cy="3143250"/>
          </a:xfrm>
          <a:prstGeom prst="roundRect">
            <a:avLst>
              <a:gd name="adj" fmla="val 1644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10972800" y="3924300"/>
            <a:ext cx="2895600" cy="91440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0972800" y="4171950"/>
            <a:ext cx="28956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피벗·SUMIFS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182350" y="5143500"/>
            <a:ext cx="24765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같은 값을 Excel 로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14249400" y="3924300"/>
            <a:ext cx="2895600" cy="3143250"/>
          </a:xfrm>
          <a:prstGeom prst="roundRect">
            <a:avLst>
              <a:gd name="adj" fmla="val 1644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14249400" y="3924300"/>
            <a:ext cx="2895600" cy="914400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4249400" y="4171950"/>
            <a:ext cx="28956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대조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4458950" y="5143500"/>
            <a:ext cx="24765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다른 칸의 원인 찾기</a:t>
            </a:r>
          </a:p>
        </p:txBody>
      </p:sp>
      <p:sp>
        <p:nvSpPr>
          <p:cNvPr id="29" name="Rectangle 28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생성형 AI 활용 실무 · 4일 32H · 2일차 3교시 · 실습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04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8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3. 1단계 기준값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AI 가 파일을 제대로 읽었나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143000" y="2781300"/>
            <a:ext cx="6362700" cy="590550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43000" y="2781300"/>
            <a:ext cx="636270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확인 항목</a:t>
            </a:r>
          </a:p>
        </p:txBody>
      </p:sp>
      <p:sp>
        <p:nvSpPr>
          <p:cNvPr id="10" name="Rectangle 9"/>
          <p:cNvSpPr/>
          <p:nvPr/>
        </p:nvSpPr>
        <p:spPr>
          <a:xfrm>
            <a:off x="7543800" y="2781300"/>
            <a:ext cx="9601200" cy="59055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543800" y="2781300"/>
            <a:ext cx="960120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기준값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143000" y="3448050"/>
            <a:ext cx="6362700" cy="647700"/>
          </a:xfrm>
          <a:prstGeom prst="roundRect">
            <a:avLst>
              <a:gd name="adj" fmla="val 5882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238250" y="3448050"/>
            <a:ext cx="61722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분석 시트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543800" y="3448050"/>
            <a:ext cx="96012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39050" y="3448050"/>
            <a:ext cx="94107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CLEAN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143000" y="4171950"/>
            <a:ext cx="6362700" cy="647700"/>
          </a:xfrm>
          <a:prstGeom prst="roundRect">
            <a:avLst>
              <a:gd name="adj" fmla="val 5882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238250" y="4171950"/>
            <a:ext cx="61722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행 수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543800" y="4171950"/>
            <a:ext cx="96012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39050" y="4171950"/>
            <a:ext cx="94107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1,488행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143000" y="4895850"/>
            <a:ext cx="6362700" cy="647700"/>
          </a:xfrm>
          <a:prstGeom prst="roundRect">
            <a:avLst>
              <a:gd name="adj" fmla="val 5882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238250" y="4895850"/>
            <a:ext cx="61722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공정별 행 수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543800" y="4895850"/>
            <a:ext cx="96012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639050" y="4895850"/>
            <a:ext cx="94107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6개 공정 × 248행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143000" y="5619750"/>
            <a:ext cx="6362700" cy="647700"/>
          </a:xfrm>
          <a:prstGeom prst="roundRect">
            <a:avLst>
              <a:gd name="adj" fmla="val 5882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238250" y="5619750"/>
            <a:ext cx="61722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Σ생산수량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7543800" y="5619750"/>
            <a:ext cx="96012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639050" y="5619750"/>
            <a:ext cx="94107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6,613,595개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1143000" y="6343650"/>
            <a:ext cx="6362700" cy="647700"/>
          </a:xfrm>
          <a:prstGeom prst="roundRect">
            <a:avLst>
              <a:gd name="adj" fmla="val 5882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238250" y="6343650"/>
            <a:ext cx="61722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Σ양품수량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7543800" y="6343650"/>
            <a:ext cx="96012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639050" y="6343650"/>
            <a:ext cx="94107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6,549,532개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143000" y="76200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75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하나라도 다르면 「CLEAN 시트만, 1행은 머리글」이라고 짚어 다시 요청</a:t>
            </a:r>
          </a:p>
        </p:txBody>
      </p:sp>
      <p:sp>
        <p:nvSpPr>
          <p:cNvPr id="33" name="Rectangle 32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생성형 AI 활용 실무 · 4일 32H · 2일차 3교시 · 실습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05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8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4. Excel 로 다시 계산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계산 열 두 개 + SUMIFS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143000" y="2781300"/>
            <a:ext cx="4442460" cy="590550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43000" y="2781300"/>
            <a:ext cx="444246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셀</a:t>
            </a:r>
          </a:p>
        </p:txBody>
      </p:sp>
      <p:sp>
        <p:nvSpPr>
          <p:cNvPr id="10" name="Rectangle 9"/>
          <p:cNvSpPr/>
          <p:nvPr/>
        </p:nvSpPr>
        <p:spPr>
          <a:xfrm>
            <a:off x="5623560" y="2781300"/>
            <a:ext cx="6362700" cy="59055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623560" y="2781300"/>
            <a:ext cx="636270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수식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2024360" y="2781300"/>
            <a:ext cx="5120640" cy="59055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2024360" y="2781300"/>
            <a:ext cx="512064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뜻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143000" y="3448050"/>
            <a:ext cx="4442460" cy="647700"/>
          </a:xfrm>
          <a:prstGeom prst="roundRect">
            <a:avLst>
              <a:gd name="adj" fmla="val 5882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238250" y="3448050"/>
            <a:ext cx="425196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M2 운전시간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23560" y="3448050"/>
            <a:ext cx="63627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718810" y="3448050"/>
            <a:ext cx="61722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=F2-G2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2024360" y="3448050"/>
            <a:ext cx="512064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2119610" y="3448050"/>
            <a:ext cx="493014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계획 − 비가동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143000" y="4171950"/>
            <a:ext cx="4442460" cy="647700"/>
          </a:xfrm>
          <a:prstGeom prst="roundRect">
            <a:avLst>
              <a:gd name="adj" fmla="val 5882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238250" y="4171950"/>
            <a:ext cx="425196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N2 이론시간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623560" y="4171950"/>
            <a:ext cx="63627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718810" y="4171950"/>
            <a:ext cx="61722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=I2*J2/60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2024360" y="4171950"/>
            <a:ext cx="512064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2119610" y="4171950"/>
            <a:ext cx="493014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이론CT × 생산 ÷ 60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1143000" y="4895850"/>
            <a:ext cx="4442460" cy="647700"/>
          </a:xfrm>
          <a:prstGeom prst="roundRect">
            <a:avLst>
              <a:gd name="adj" fmla="val 5882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238250" y="4895850"/>
            <a:ext cx="425196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Σ계획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623560" y="4895850"/>
            <a:ext cx="63627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718810" y="4895850"/>
            <a:ext cx="61722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=SUMIFS(F, D, 공정)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12024360" y="4895850"/>
            <a:ext cx="512064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2119610" y="4895850"/>
            <a:ext cx="493014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공정별 합계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1143000" y="5619750"/>
            <a:ext cx="4442460" cy="647700"/>
          </a:xfrm>
          <a:prstGeom prst="roundRect">
            <a:avLst>
              <a:gd name="adj" fmla="val 5882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238250" y="5619750"/>
            <a:ext cx="425196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가동률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5623560" y="5619750"/>
            <a:ext cx="63627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5718810" y="5619750"/>
            <a:ext cx="61722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=Σ운전/Σ계획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12024360" y="5619750"/>
            <a:ext cx="512064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12119610" y="5619750"/>
            <a:ext cx="493014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합계끼리 나누기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1143000" y="6343650"/>
            <a:ext cx="4442460" cy="647700"/>
          </a:xfrm>
          <a:prstGeom prst="roundRect">
            <a:avLst>
              <a:gd name="adj" fmla="val 5882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1238250" y="6343650"/>
            <a:ext cx="425196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OEE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5623560" y="6343650"/>
            <a:ext cx="63627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5718810" y="6343650"/>
            <a:ext cx="61722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=가동률*성능*양품률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12024360" y="6343650"/>
            <a:ext cx="512064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12119610" y="6343650"/>
            <a:ext cx="493014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세 요소의 곱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143000" y="76200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75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피벗 계산 필드는 합계끼리 나누므로 합계 방식이 저절로 지켜진다</a:t>
            </a:r>
          </a:p>
        </p:txBody>
      </p:sp>
      <p:sp>
        <p:nvSpPr>
          <p:cNvPr id="45" name="Rectangle 44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생성형 AI 활용 실무 · 4일 32H · 2일차 3교시 · 실습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06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8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5. 대조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공정별 OEE 기준값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43000" y="2819400"/>
            <a:ext cx="970395" cy="3238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포장</a:t>
            </a:r>
          </a:p>
        </p:txBody>
      </p:sp>
      <p:sp>
        <p:nvSpPr>
          <p:cNvPr id="9" name="Rectangle 8"/>
          <p:cNvSpPr/>
          <p:nvPr/>
        </p:nvSpPr>
        <p:spPr>
          <a:xfrm>
            <a:off x="2189595" y="2886075"/>
            <a:ext cx="13907655" cy="19050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6230600" y="2819400"/>
            <a:ext cx="952500" cy="3238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88.2%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43000" y="3143250"/>
            <a:ext cx="970395" cy="3238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원료혼합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189595" y="3209925"/>
            <a:ext cx="13891887" cy="19050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6214832" y="3143250"/>
            <a:ext cx="952500" cy="3238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88.1%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43000" y="3467100"/>
            <a:ext cx="970395" cy="3238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검사</a:t>
            </a:r>
          </a:p>
        </p:txBody>
      </p:sp>
      <p:sp>
        <p:nvSpPr>
          <p:cNvPr id="15" name="Rectangle 14"/>
          <p:cNvSpPr/>
          <p:nvPr/>
        </p:nvSpPr>
        <p:spPr>
          <a:xfrm>
            <a:off x="2189595" y="3533775"/>
            <a:ext cx="13860350" cy="19050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6183295" y="3467100"/>
            <a:ext cx="952500" cy="3238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87.9%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43000" y="3790950"/>
            <a:ext cx="970395" cy="3238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성형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189595" y="3857625"/>
            <a:ext cx="13765740" cy="19050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6088685" y="3790950"/>
            <a:ext cx="952500" cy="3238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87.3%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43000" y="4114800"/>
            <a:ext cx="970395" cy="3238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연삭</a:t>
            </a:r>
          </a:p>
        </p:txBody>
      </p:sp>
      <p:sp>
        <p:nvSpPr>
          <p:cNvPr id="21" name="Rectangle 20"/>
          <p:cNvSpPr/>
          <p:nvPr/>
        </p:nvSpPr>
        <p:spPr>
          <a:xfrm>
            <a:off x="2189595" y="4181475"/>
            <a:ext cx="12614653" cy="19050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4937598" y="4114800"/>
            <a:ext cx="952500" cy="3238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80.0%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143000" y="4438650"/>
            <a:ext cx="970395" cy="3238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소결</a:t>
            </a:r>
          </a:p>
        </p:txBody>
      </p:sp>
      <p:sp>
        <p:nvSpPr>
          <p:cNvPr id="24" name="Rectangle 23"/>
          <p:cNvSpPr/>
          <p:nvPr/>
        </p:nvSpPr>
        <p:spPr>
          <a:xfrm>
            <a:off x="2189595" y="4505325"/>
            <a:ext cx="12567348" cy="19050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4890293" y="4438650"/>
            <a:ext cx="952500" cy="3238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79.7%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43000" y="76200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75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라인 전체 OEE 85.3% · 정답 파일 06_kpi_workbook.xlsx OEE_BY_PROCESS</a:t>
            </a:r>
          </a:p>
        </p:txBody>
      </p:sp>
      <p:sp>
        <p:nvSpPr>
          <p:cNvPr id="27" name="Rectangle 26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생성형 AI 활용 실무 · 4일 32H · 2일차 3교시 · 실습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07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8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5. 대조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OEE 는 같아도 손실의 모양은 다르다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143000" y="2781300"/>
            <a:ext cx="3162300" cy="590550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43000" y="2781300"/>
            <a:ext cx="316230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공정</a:t>
            </a:r>
          </a:p>
        </p:txBody>
      </p:sp>
      <p:sp>
        <p:nvSpPr>
          <p:cNvPr id="10" name="Rectangle 9"/>
          <p:cNvSpPr/>
          <p:nvPr/>
        </p:nvSpPr>
        <p:spPr>
          <a:xfrm>
            <a:off x="4343400" y="2781300"/>
            <a:ext cx="3162300" cy="59055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343400" y="2781300"/>
            <a:ext cx="316230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가동률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543800" y="2781300"/>
            <a:ext cx="3162300" cy="59055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543800" y="2781300"/>
            <a:ext cx="316230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성능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0744200" y="2781300"/>
            <a:ext cx="3162300" cy="59055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744200" y="2781300"/>
            <a:ext cx="316230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양품률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3944600" y="2781300"/>
            <a:ext cx="3200400" cy="59055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3944600" y="2781300"/>
            <a:ext cx="320040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OEE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143000" y="3448050"/>
            <a:ext cx="3162300" cy="647700"/>
          </a:xfrm>
          <a:prstGeom prst="roundRect">
            <a:avLst>
              <a:gd name="adj" fmla="val 5882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238250" y="3448050"/>
            <a:ext cx="29718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소결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343400" y="3448050"/>
            <a:ext cx="31623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438650" y="3448050"/>
            <a:ext cx="29718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89.2%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543800" y="3448050"/>
            <a:ext cx="31623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639050" y="3448050"/>
            <a:ext cx="29718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92.0%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0744200" y="3448050"/>
            <a:ext cx="31623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839450" y="3448050"/>
            <a:ext cx="29718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97.10%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13944600" y="3448050"/>
            <a:ext cx="32004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4039850" y="3448050"/>
            <a:ext cx="30099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79.7%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1143000" y="4171950"/>
            <a:ext cx="3162300" cy="647700"/>
          </a:xfrm>
          <a:prstGeom prst="roundRect">
            <a:avLst>
              <a:gd name="adj" fmla="val 5882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238250" y="4171950"/>
            <a:ext cx="29718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연삭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343400" y="4171950"/>
            <a:ext cx="31623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438650" y="4171950"/>
            <a:ext cx="29718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87.3%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7543800" y="4171950"/>
            <a:ext cx="31623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7639050" y="4171950"/>
            <a:ext cx="29718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92.7%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10744200" y="4171950"/>
            <a:ext cx="31623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10839450" y="4171950"/>
            <a:ext cx="29718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98.94%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13944600" y="4171950"/>
            <a:ext cx="32004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14039850" y="4171950"/>
            <a:ext cx="30099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80.0%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1143000" y="4895850"/>
            <a:ext cx="3162300" cy="647700"/>
          </a:xfrm>
          <a:prstGeom prst="roundRect">
            <a:avLst>
              <a:gd name="adj" fmla="val 5882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1238250" y="4895850"/>
            <a:ext cx="29718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SF-01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4343400" y="4895850"/>
            <a:ext cx="31623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4438650" y="4895850"/>
            <a:ext cx="29718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91.4%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7543800" y="4895850"/>
            <a:ext cx="31623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7639050" y="4895850"/>
            <a:ext cx="29718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93.0%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10744200" y="4895850"/>
            <a:ext cx="31623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10839450" y="4895850"/>
            <a:ext cx="29718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97.63%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13944600" y="4895850"/>
            <a:ext cx="32004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14039850" y="4895850"/>
            <a:ext cx="30099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82.9%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1143000" y="5619750"/>
            <a:ext cx="3162300" cy="647700"/>
          </a:xfrm>
          <a:prstGeom prst="roundRect">
            <a:avLst>
              <a:gd name="adj" fmla="val 5882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1238250" y="5619750"/>
            <a:ext cx="29718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SF-02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4343400" y="5619750"/>
            <a:ext cx="31623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4438650" y="5619750"/>
            <a:ext cx="29718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86.9%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7543800" y="5619750"/>
            <a:ext cx="31623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7639050" y="5619750"/>
            <a:ext cx="29718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91.0%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10744200" y="5619750"/>
            <a:ext cx="31623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10839450" y="5619750"/>
            <a:ext cx="29718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96.53%</a:t>
            </a:r>
          </a:p>
        </p:txBody>
      </p:sp>
      <p:sp>
        <p:nvSpPr>
          <p:cNvPr id="56" name="Rounded Rectangle 55"/>
          <p:cNvSpPr/>
          <p:nvPr/>
        </p:nvSpPr>
        <p:spPr>
          <a:xfrm>
            <a:off x="13944600" y="5619750"/>
            <a:ext cx="32004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14039850" y="5619750"/>
            <a:ext cx="30099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76.4%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1143000" y="76200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75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연삭은 시간 손실 중심, 소결은 시간 손실과 품질 손실이 함께</a:t>
            </a:r>
          </a:p>
        </p:txBody>
      </p:sp>
      <p:sp>
        <p:nvSpPr>
          <p:cNvPr id="59" name="Rectangle 58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생성형 AI 활용 실무 · 4일 32H · 2일차 3교시 · 실습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08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8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자주 틀리는 지점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AI 가 숫자를 틀릴 때 확인하는 순서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143000" y="2781300"/>
            <a:ext cx="6042660" cy="590550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43000" y="2781300"/>
            <a:ext cx="604266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증상</a:t>
            </a:r>
          </a:p>
        </p:txBody>
      </p:sp>
      <p:sp>
        <p:nvSpPr>
          <p:cNvPr id="10" name="Rectangle 9"/>
          <p:cNvSpPr/>
          <p:nvPr/>
        </p:nvSpPr>
        <p:spPr>
          <a:xfrm>
            <a:off x="7223760" y="2781300"/>
            <a:ext cx="5082540" cy="59055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223760" y="2781300"/>
            <a:ext cx="508254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의심할 것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2344400" y="2781300"/>
            <a:ext cx="4800600" cy="59055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2344400" y="2781300"/>
            <a:ext cx="480060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확인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143000" y="3448050"/>
            <a:ext cx="6042660" cy="647700"/>
          </a:xfrm>
          <a:prstGeom prst="roundRect">
            <a:avLst>
              <a:gd name="adj" fmla="val 5882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238250" y="3448050"/>
            <a:ext cx="585216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Σ생산이 적다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223760" y="3448050"/>
            <a:ext cx="508254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319010" y="3448050"/>
            <a:ext cx="489204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시트·행 누락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2344400" y="3448050"/>
            <a:ext cx="48006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2439650" y="3448050"/>
            <a:ext cx="46101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공정별 행 수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143000" y="4171950"/>
            <a:ext cx="6042660" cy="647700"/>
          </a:xfrm>
          <a:prstGeom prst="roundRect">
            <a:avLst>
              <a:gd name="adj" fmla="val 5882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238250" y="4171950"/>
            <a:ext cx="585216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합계는 같은데 OEE 다름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223760" y="4171950"/>
            <a:ext cx="508254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319010" y="4171950"/>
            <a:ext cx="489204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평균 방식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2344400" y="4171950"/>
            <a:ext cx="48006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2439650" y="4171950"/>
            <a:ext cx="46101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합계로 다시 요청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1143000" y="4895850"/>
            <a:ext cx="6042660" cy="647700"/>
          </a:xfrm>
          <a:prstGeom prst="roundRect">
            <a:avLst>
              <a:gd name="adj" fmla="val 5882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238250" y="4895850"/>
            <a:ext cx="585216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성능이 이상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7223760" y="4895850"/>
            <a:ext cx="508254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319010" y="4895850"/>
            <a:ext cx="489204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초·분 단위 혼동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12344400" y="4895850"/>
            <a:ext cx="48006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2439650" y="4895850"/>
            <a:ext cx="46101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6행 손계산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1143000" y="5619750"/>
            <a:ext cx="6042660" cy="647700"/>
          </a:xfrm>
          <a:prstGeom prst="roundRect">
            <a:avLst>
              <a:gd name="adj" fmla="val 5882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238250" y="5619750"/>
            <a:ext cx="585216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가동률이 이상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7223760" y="5619750"/>
            <a:ext cx="508254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7319010" y="5619750"/>
            <a:ext cx="489204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분모 착각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12344400" y="5619750"/>
            <a:ext cx="48006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12439650" y="5619750"/>
            <a:ext cx="46101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Σ계획 대조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143000" y="76200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75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6행 기준: 가동률 97.5% · 성능 94.1% · 양품률 97.2%</a:t>
            </a:r>
          </a:p>
        </p:txBody>
      </p:sp>
      <p:sp>
        <p:nvSpPr>
          <p:cNvPr id="39" name="Rectangle 38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생성형 AI 활용 실무 · 4일 32H · 2일차 3교시 · 실습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09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8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확인 포인트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끝내기 전에 확인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299085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390650" y="3133725"/>
            <a:ext cx="533400" cy="53340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390650" y="325755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190750" y="299085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AI 가 1,488행 · 공정별 248행을 읽었다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143000" y="398145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1390650" y="4124325"/>
            <a:ext cx="533400" cy="53340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390650" y="424815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190750" y="398145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6행 계산 열이 손계산(468분 · 440.4분)과 같다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143000" y="497205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1390650" y="5114925"/>
            <a:ext cx="533400" cy="53340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390650" y="523875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190750" y="497205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공정별 OEE 가 기준값과 0.1%p 안에서 맞다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143000" y="596265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1390650" y="6105525"/>
            <a:ext cx="533400" cy="53340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390650" y="622935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190750" y="596265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다른 칸은 행 수 · 합계 · 한 행 순서로 추적했다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143000" y="695325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1390650" y="7096125"/>
            <a:ext cx="533400" cy="53340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390650" y="721995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190750" y="695325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회사 실제 데이터는 외부 AI 에 올리지 않는다</a:t>
            </a:r>
          </a:p>
        </p:txBody>
      </p:sp>
      <p:sp>
        <p:nvSpPr>
          <p:cNvPr id="28" name="Rectangle 27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생성형 AI 활용 실무 · 4일 32H · 2일차 3교시 · 실습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10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8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무료 계정이면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파일 대신 합계표 6행으로도 같은 결과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43000" y="2857500"/>
            <a:ext cx="7372350" cy="533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15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파일 분석 가능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" y="3467100"/>
            <a:ext cx="7372350" cy="876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6000"/>
              </a:lnSpc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파일을 올려 계산 → Excel 로 대조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143000" y="4610100"/>
            <a:ext cx="7372350" cy="2857500"/>
          </a:xfrm>
          <a:prstGeom prst="roundRect">
            <a:avLst>
              <a:gd name="adj" fmla="val 166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447800" y="5016817"/>
            <a:ext cx="97155" cy="97155"/>
          </a:xfrm>
          <a:prstGeom prst="ellipse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633538" y="4838700"/>
            <a:ext cx="6634162" cy="45339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1·2단계: 업로드 후 OEE 요청</a:t>
            </a:r>
          </a:p>
        </p:txBody>
      </p:sp>
      <p:sp>
        <p:nvSpPr>
          <p:cNvPr id="13" name="Oval 12"/>
          <p:cNvSpPr/>
          <p:nvPr/>
        </p:nvSpPr>
        <p:spPr>
          <a:xfrm>
            <a:off x="1447800" y="5527358"/>
            <a:ext cx="97155" cy="97155"/>
          </a:xfrm>
          <a:prstGeom prst="ellipse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633538" y="5349240"/>
            <a:ext cx="6634162" cy="45339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3·4단계: 피벗으로 다시 계산</a:t>
            </a:r>
          </a:p>
        </p:txBody>
      </p:sp>
      <p:sp>
        <p:nvSpPr>
          <p:cNvPr id="15" name="Oval 14"/>
          <p:cNvSpPr/>
          <p:nvPr/>
        </p:nvSpPr>
        <p:spPr>
          <a:xfrm>
            <a:off x="1447800" y="6037898"/>
            <a:ext cx="97155" cy="97155"/>
          </a:xfrm>
          <a:prstGeom prst="ellipse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633538" y="5859780"/>
            <a:ext cx="6634162" cy="45339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5단계: 한 칸씩 대조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772650" y="2857500"/>
            <a:ext cx="7372350" cy="533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15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무료 계정 · 한도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772650" y="3467100"/>
            <a:ext cx="7372350" cy="876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6000"/>
              </a:lnSpc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Excel 먼저 → 합계표만 붙여 넣기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9772650" y="4610100"/>
            <a:ext cx="7372350" cy="2857500"/>
          </a:xfrm>
          <a:prstGeom prst="roundRect">
            <a:avLst>
              <a:gd name="adj" fmla="val 166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10077450" y="5016817"/>
            <a:ext cx="97155" cy="97155"/>
          </a:xfrm>
          <a:prstGeom prst="ellipse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0263188" y="4838700"/>
            <a:ext cx="6634162" cy="45339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3·4단계 피벗을 먼저</a:t>
            </a:r>
          </a:p>
        </p:txBody>
      </p:sp>
      <p:sp>
        <p:nvSpPr>
          <p:cNvPr id="22" name="Oval 21"/>
          <p:cNvSpPr/>
          <p:nvPr/>
        </p:nvSpPr>
        <p:spPr>
          <a:xfrm>
            <a:off x="10077450" y="5527358"/>
            <a:ext cx="97155" cy="97155"/>
          </a:xfrm>
          <a:prstGeom prst="ellipse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0263188" y="5349240"/>
            <a:ext cx="6634162" cy="45339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공정별 합계 6행 복사·붙여넣기</a:t>
            </a:r>
          </a:p>
        </p:txBody>
      </p:sp>
      <p:sp>
        <p:nvSpPr>
          <p:cNvPr id="24" name="Oval 23"/>
          <p:cNvSpPr/>
          <p:nvPr/>
        </p:nvSpPr>
        <p:spPr>
          <a:xfrm>
            <a:off x="10077450" y="6037898"/>
            <a:ext cx="97155" cy="97155"/>
          </a:xfrm>
          <a:prstGeom prst="ellipse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263188" y="5859780"/>
            <a:ext cx="6634162" cy="45339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「무료 계정이면」 프롬프트로 해석</a:t>
            </a:r>
          </a:p>
        </p:txBody>
      </p:sp>
      <p:sp>
        <p:nvSpPr>
          <p:cNvPr id="26" name="Oval 25"/>
          <p:cNvSpPr/>
          <p:nvPr/>
        </p:nvSpPr>
        <p:spPr>
          <a:xfrm>
            <a:off x="8686800" y="3771900"/>
            <a:ext cx="914400" cy="91440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686800" y="4057650"/>
            <a:ext cx="9144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VS</a:t>
            </a:r>
          </a:p>
        </p:txBody>
      </p:sp>
      <p:sp>
        <p:nvSpPr>
          <p:cNvPr id="28" name="Rectangle 27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생성형 AI 활용 실무 · 4일 32H · 2일차 3교시 · 실습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11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4859000" y="6667500"/>
            <a:ext cx="5905500" cy="5905500"/>
          </a:xfrm>
          <a:prstGeom prst="ellipse">
            <a:avLst/>
          </a:prstGeom>
          <a:solidFill>
            <a:srgbClr val="F2F8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2095500" y="-2095500"/>
            <a:ext cx="4381500" cy="4381500"/>
          </a:xfrm>
          <a:prstGeom prst="ellipse">
            <a:avLst/>
          </a:prstGeom>
          <a:solidFill>
            <a:srgbClr val="F5F6F7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43000" y="2857500"/>
            <a:ext cx="16002000" cy="285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3352800"/>
            <a:ext cx="85725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2일차 3교시 · 실습 마무리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3771900"/>
            <a:ext cx="16002000" cy="800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다음은 Cpk 산출과 시각화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43000" y="4724400"/>
            <a:ext cx="16002000" cy="4381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4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설비별 Cpk 를 Excel 수식으로 구하고 히스토그램·막대·추세 차트로 그립니다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143000" y="5257800"/>
            <a:ext cx="7772400" cy="819150"/>
          </a:xfrm>
          <a:prstGeom prst="roundRect">
            <a:avLst>
              <a:gd name="adj" fmla="val 697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428750" y="5486400"/>
            <a:ext cx="4191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✓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905000" y="5486400"/>
            <a:ext cx="672465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AVERAGEIFS · STDEV.S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9372600" y="5257800"/>
            <a:ext cx="7772400" cy="819150"/>
          </a:xfrm>
          <a:prstGeom prst="roundRect">
            <a:avLst>
              <a:gd name="adj" fmla="val 697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658350" y="5486400"/>
            <a:ext cx="4191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✓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134600" y="5486400"/>
            <a:ext cx="672465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히스토그램과 규격선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143000" y="6286500"/>
            <a:ext cx="7772400" cy="819150"/>
          </a:xfrm>
          <a:prstGeom prst="roundRect">
            <a:avLst>
              <a:gd name="adj" fmla="val 697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428750" y="6515100"/>
            <a:ext cx="4191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✓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905000" y="6515100"/>
            <a:ext cx="672465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공정별 OEE 막대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9372600" y="6286500"/>
            <a:ext cx="7772400" cy="819150"/>
          </a:xfrm>
          <a:prstGeom prst="roundRect">
            <a:avLst>
              <a:gd name="adj" fmla="val 697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658350" y="6515100"/>
            <a:ext cx="4191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✓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134600" y="6515100"/>
            <a:ext cx="672465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AI 해석 문장 팩트체크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143000" y="7715250"/>
            <a:ext cx="47625" cy="81915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409700" y="7734300"/>
            <a:ext cx="85725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 spc="14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준비할 것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09700" y="8077200"/>
            <a:ext cx="857250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계산 열을 넣은 생산일지 파일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4192250" y="-2381250"/>
            <a:ext cx="7429500" cy="7429500"/>
          </a:xfrm>
          <a:prstGeom prst="ellipse">
            <a:avLst/>
          </a:prstGeom>
          <a:solidFill>
            <a:srgbClr val="F0F7F7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5430500" y="-1143000"/>
            <a:ext cx="4953000" cy="49530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15906750" y="5905500"/>
            <a:ext cx="4953000" cy="4953000"/>
          </a:xfrm>
          <a:prstGeom prst="ellipse">
            <a:avLst/>
          </a:prstGeom>
          <a:solidFill>
            <a:srgbClr val="F5F6F7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-1714500" y="2857500"/>
            <a:ext cx="2857500" cy="28575"/>
          </a:xfrm>
          <a:prstGeom prst="rect">
            <a:avLst/>
          </a:prstGeom>
          <a:solidFill>
            <a:srgbClr val="E6EAED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-2857500" y="6953250"/>
            <a:ext cx="6953250" cy="6953250"/>
          </a:xfrm>
          <a:prstGeom prst="ellipse">
            <a:avLst/>
          </a:prstGeom>
          <a:solidFill>
            <a:srgbClr val="ECF5F5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-1581150" y="8229600"/>
            <a:ext cx="4400550" cy="440055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3390900" y="8953500"/>
            <a:ext cx="742950" cy="742950"/>
          </a:xfrm>
          <a:prstGeom prst="ellipse">
            <a:avLst/>
          </a:prstGeom>
          <a:solidFill>
            <a:srgbClr val="EBEEF0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4457700" y="9563100"/>
            <a:ext cx="342900" cy="342900"/>
          </a:xfrm>
          <a:prstGeom prst="ellipse">
            <a:avLst/>
          </a:prstGeom>
          <a:solidFill>
            <a:srgbClr val="DFEDE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1143000" y="9639300"/>
            <a:ext cx="1619250" cy="28575"/>
          </a:xfrm>
          <a:prstGeom prst="rect">
            <a:avLst/>
          </a:prstGeom>
          <a:solidFill>
            <a:srgbClr val="E6EAED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1143000" y="2857500"/>
            <a:ext cx="16002000" cy="285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43000" y="3486150"/>
            <a:ext cx="85725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 spc="12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2일차 4교시 · KPI 분석 기초와 공정별 분석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43000" y="3905250"/>
            <a:ext cx="16002000" cy="14660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9300" b="1" spc="-347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Cpk 산출과 시각화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43000" y="5580888"/>
            <a:ext cx="16002000" cy="571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300" b="1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히스토그램 · 막대 · 추세 차트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572500" y="7677150"/>
            <a:ext cx="8572500" cy="857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50000"/>
              </a:lnSpc>
            </a:pPr>
            <a:r>
              <a:rPr sz="1950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생산안전본부 및 품질환경단 직무훈련</a:t>
            </a:r>
          </a:p>
          <a:p>
            <a:pPr algn="r">
              <a:lnSpc>
                <a:spcPct val="150000"/>
              </a:lnSpc>
            </a:pPr>
            <a:r>
              <a:rPr sz="1950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생성형 AI 활용 실무 · 2026. 10. 12.~15.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8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이 시간의 목표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50분 뒤에는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339090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390650" y="3533775"/>
            <a:ext cx="533400" cy="53340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390650" y="365760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①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190750" y="339090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설비별 평균 · 표준편차 · Cpk 를 수식으로 구한다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143000" y="438150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1390650" y="4524375"/>
            <a:ext cx="533400" cy="53340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390650" y="464820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②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190750" y="438150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히스토그램에 규격선을, OEE 를 막대 · 꺾은선으로 그린다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143000" y="537210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1390650" y="5514975"/>
            <a:ext cx="533400" cy="53340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390650" y="563880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③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190750" y="537210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AI 의 차트 해석 문장에서 사실과 추측을 가린다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143000" y="6953250"/>
            <a:ext cx="16002000" cy="876300"/>
          </a:xfrm>
          <a:prstGeom prst="roundRect">
            <a:avLst>
              <a:gd name="adj" fmla="val 5434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143000" y="7200900"/>
            <a:ext cx="16002000" cy="4381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숫자는 Excel 로, 문장 초안은 AI 로, 확인은 사람이</a:t>
            </a:r>
          </a:p>
        </p:txBody>
      </p:sp>
      <p:sp>
        <p:nvSpPr>
          <p:cNvPr id="22" name="Rectangle 21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생성형 AI 활용 실무 · 4일 32H · 2일차 4교시 · 실습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02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8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1. 지표마다 어울리는 차트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무엇을 보고 싶은가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143000" y="2781300"/>
            <a:ext cx="5402580" cy="590550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43000" y="2781300"/>
            <a:ext cx="540258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보고 싶은 것</a:t>
            </a:r>
          </a:p>
        </p:txBody>
      </p:sp>
      <p:sp>
        <p:nvSpPr>
          <p:cNvPr id="10" name="Rectangle 9"/>
          <p:cNvSpPr/>
          <p:nvPr/>
        </p:nvSpPr>
        <p:spPr>
          <a:xfrm>
            <a:off x="6583680" y="2781300"/>
            <a:ext cx="4122420" cy="59055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583680" y="2781300"/>
            <a:ext cx="412242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차트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0744200" y="2781300"/>
            <a:ext cx="6400800" cy="59055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744200" y="2781300"/>
            <a:ext cx="640080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이 시간의 예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143000" y="3448050"/>
            <a:ext cx="5402580" cy="647700"/>
          </a:xfrm>
          <a:prstGeom prst="roundRect">
            <a:avLst>
              <a:gd name="adj" fmla="val 5882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238250" y="3448050"/>
            <a:ext cx="521208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측정값의 퍼짐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583680" y="3448050"/>
            <a:ext cx="412242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678930" y="3448050"/>
            <a:ext cx="393192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히스토그램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0744200" y="3448050"/>
            <a:ext cx="64008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839450" y="3448050"/>
            <a:ext cx="62103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소결밀도 + LSL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143000" y="4171950"/>
            <a:ext cx="5402580" cy="647700"/>
          </a:xfrm>
          <a:prstGeom prst="roundRect">
            <a:avLst>
              <a:gd name="adj" fmla="val 5882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238250" y="4171950"/>
            <a:ext cx="521208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항목끼리 크기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583680" y="4171950"/>
            <a:ext cx="412242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678930" y="4171950"/>
            <a:ext cx="393192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막대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0744200" y="4171950"/>
            <a:ext cx="64008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839450" y="4171950"/>
            <a:ext cx="62103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공정별 OEE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1143000" y="4895850"/>
            <a:ext cx="5402580" cy="647700"/>
          </a:xfrm>
          <a:prstGeom prst="roundRect">
            <a:avLst>
              <a:gd name="adj" fmla="val 5882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238250" y="4895850"/>
            <a:ext cx="521208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시간에 따른 변화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583680" y="4895850"/>
            <a:ext cx="412242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678930" y="4895850"/>
            <a:ext cx="393192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꺾은선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10744200" y="4895850"/>
            <a:ext cx="64008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0839450" y="4895850"/>
            <a:ext cx="62103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소결로 일자별 OEE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143000" y="76200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75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히스토그램은 Excel 2016 부터 — 이전 버전은 COUNTIFS 구간표 + 세로 막대</a:t>
            </a:r>
          </a:p>
        </p:txBody>
      </p:sp>
      <p:sp>
        <p:nvSpPr>
          <p:cNvPr id="33" name="Rectangle 32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생성형 AI 활용 실무 · 4일 32H · 2일차 4교시 · 실습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03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8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2. 수식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설비별 평균 · 표준편차 · Cpk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143000" y="2781300"/>
            <a:ext cx="3482340" cy="590550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43000" y="2781300"/>
            <a:ext cx="348234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칸</a:t>
            </a:r>
          </a:p>
        </p:txBody>
      </p:sp>
      <p:sp>
        <p:nvSpPr>
          <p:cNvPr id="10" name="Rectangle 9"/>
          <p:cNvSpPr/>
          <p:nvPr/>
        </p:nvSpPr>
        <p:spPr>
          <a:xfrm>
            <a:off x="4663440" y="2781300"/>
            <a:ext cx="12481560" cy="59055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663440" y="2781300"/>
            <a:ext cx="1248156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수식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143000" y="3448050"/>
            <a:ext cx="3482340" cy="647700"/>
          </a:xfrm>
          <a:prstGeom prst="roundRect">
            <a:avLst>
              <a:gd name="adj" fmla="val 5882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238250" y="3448050"/>
            <a:ext cx="329184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개수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663440" y="3448050"/>
            <a:ext cx="1248156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758690" y="3448050"/>
            <a:ext cx="1229106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COUNTIFS(설비, A3, 값, "&lt;&gt;")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143000" y="4171950"/>
            <a:ext cx="3482340" cy="647700"/>
          </a:xfrm>
          <a:prstGeom prst="roundRect">
            <a:avLst>
              <a:gd name="adj" fmla="val 5882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238250" y="4171950"/>
            <a:ext cx="329184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평균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663440" y="4171950"/>
            <a:ext cx="1248156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758690" y="4171950"/>
            <a:ext cx="1229106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AVERAGEIFS(값, 설비, A3)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143000" y="4895850"/>
            <a:ext cx="3482340" cy="647700"/>
          </a:xfrm>
          <a:prstGeom prst="roundRect">
            <a:avLst>
              <a:gd name="adj" fmla="val 5882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238250" y="4895850"/>
            <a:ext cx="329184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표준편차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663440" y="4895850"/>
            <a:ext cx="1248156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758690" y="4895850"/>
            <a:ext cx="1229106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STDEV.S(IF(설비=A3, 값))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143000" y="5619750"/>
            <a:ext cx="3482340" cy="647700"/>
          </a:xfrm>
          <a:prstGeom prst="roundRect">
            <a:avLst>
              <a:gd name="adj" fmla="val 5882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238250" y="5619750"/>
            <a:ext cx="329184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Cp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4663440" y="5619750"/>
            <a:ext cx="1248156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758690" y="5619750"/>
            <a:ext cx="1229106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(USL−LSL)/(6*σ) · 한쪽이면 빈칸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1143000" y="6343650"/>
            <a:ext cx="3482340" cy="647700"/>
          </a:xfrm>
          <a:prstGeom prst="roundRect">
            <a:avLst>
              <a:gd name="adj" fmla="val 5882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238250" y="6343650"/>
            <a:ext cx="329184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Cpk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663440" y="6343650"/>
            <a:ext cx="1248156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758690" y="6343650"/>
            <a:ext cx="1229106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MIN(위 여유, 아래 여유)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143000" y="76200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75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Excel 2016·2019 의 STDEV.S(IF(…)) 는 Ctrl + Shift + Enter</a:t>
            </a:r>
          </a:p>
        </p:txBody>
      </p:sp>
      <p:sp>
        <p:nvSpPr>
          <p:cNvPr id="33" name="Rectangle 32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생성형 AI 활용 실무 · 4일 32H · 2일차 4교시 · 실습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04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8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3. 결과 대조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CPK_ANSWER 「전체」와 맞춰 보기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143000" y="2781300"/>
            <a:ext cx="4762500" cy="590550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43000" y="2781300"/>
            <a:ext cx="476250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설비 · 특성</a:t>
            </a:r>
          </a:p>
        </p:txBody>
      </p:sp>
      <p:sp>
        <p:nvSpPr>
          <p:cNvPr id="10" name="Rectangle 9"/>
          <p:cNvSpPr/>
          <p:nvPr/>
        </p:nvSpPr>
        <p:spPr>
          <a:xfrm>
            <a:off x="5943600" y="2781300"/>
            <a:ext cx="2682240" cy="59055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943600" y="2781300"/>
            <a:ext cx="268224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σ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663940" y="2781300"/>
            <a:ext cx="2042160" cy="59055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663940" y="2781300"/>
            <a:ext cx="204216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Cp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0744200" y="2781300"/>
            <a:ext cx="2042160" cy="59055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744200" y="2781300"/>
            <a:ext cx="204216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Cpk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2824460" y="2781300"/>
            <a:ext cx="4320540" cy="59055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2824460" y="2781300"/>
            <a:ext cx="432054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판정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143000" y="3448050"/>
            <a:ext cx="4762500" cy="619125"/>
          </a:xfrm>
          <a:prstGeom prst="roundRect">
            <a:avLst>
              <a:gd name="adj" fmla="val 6153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238250" y="3448050"/>
            <a:ext cx="457200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SF-01 소결밀도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943600" y="3448050"/>
            <a:ext cx="2682240" cy="619125"/>
          </a:xfrm>
          <a:prstGeom prst="roundRect">
            <a:avLst>
              <a:gd name="adj" fmla="val 615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038850" y="3448050"/>
            <a:ext cx="249174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0.3262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663940" y="3448050"/>
            <a:ext cx="2042160" cy="619125"/>
          </a:xfrm>
          <a:prstGeom prst="roundRect">
            <a:avLst>
              <a:gd name="adj" fmla="val 615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759190" y="3448050"/>
            <a:ext cx="185166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—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0744200" y="3448050"/>
            <a:ext cx="2042160" cy="619125"/>
          </a:xfrm>
          <a:prstGeom prst="roundRect">
            <a:avLst>
              <a:gd name="adj" fmla="val 615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839450" y="3448050"/>
            <a:ext cx="185166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1.28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12824460" y="3448050"/>
            <a:ext cx="4320540" cy="619125"/>
          </a:xfrm>
          <a:prstGeom prst="roundRect">
            <a:avLst>
              <a:gd name="adj" fmla="val 615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2919710" y="3448050"/>
            <a:ext cx="413004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관리 필요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1143000" y="4143375"/>
            <a:ext cx="4762500" cy="619125"/>
          </a:xfrm>
          <a:prstGeom prst="roundRect">
            <a:avLst>
              <a:gd name="adj" fmla="val 6153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238250" y="4143375"/>
            <a:ext cx="457200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SF-02 소결밀도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5943600" y="4143375"/>
            <a:ext cx="2682240" cy="619125"/>
          </a:xfrm>
          <a:prstGeom prst="roundRect">
            <a:avLst>
              <a:gd name="adj" fmla="val 615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038850" y="4143375"/>
            <a:ext cx="249174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0.5373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8663940" y="4143375"/>
            <a:ext cx="2042160" cy="619125"/>
          </a:xfrm>
          <a:prstGeom prst="roundRect">
            <a:avLst>
              <a:gd name="adj" fmla="val 615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8759190" y="4143375"/>
            <a:ext cx="185166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—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10744200" y="4143375"/>
            <a:ext cx="2042160" cy="619125"/>
          </a:xfrm>
          <a:prstGeom prst="roundRect">
            <a:avLst>
              <a:gd name="adj" fmla="val 615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10839450" y="4143375"/>
            <a:ext cx="185166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0.65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12824460" y="4143375"/>
            <a:ext cx="4320540" cy="619125"/>
          </a:xfrm>
          <a:prstGeom prst="roundRect">
            <a:avLst>
              <a:gd name="adj" fmla="val 615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12919710" y="4143375"/>
            <a:ext cx="413004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부적합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1143000" y="4838700"/>
            <a:ext cx="4762500" cy="619125"/>
          </a:xfrm>
          <a:prstGeom prst="roundRect">
            <a:avLst>
              <a:gd name="adj" fmla="val 6153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1238250" y="4838700"/>
            <a:ext cx="457200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SF-01 소결외경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5943600" y="4838700"/>
            <a:ext cx="2682240" cy="619125"/>
          </a:xfrm>
          <a:prstGeom prst="roundRect">
            <a:avLst>
              <a:gd name="adj" fmla="val 615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6038850" y="4838700"/>
            <a:ext cx="249174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0.0203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8663940" y="4838700"/>
            <a:ext cx="2042160" cy="619125"/>
          </a:xfrm>
          <a:prstGeom prst="roundRect">
            <a:avLst>
              <a:gd name="adj" fmla="val 615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8759190" y="4838700"/>
            <a:ext cx="185166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1.31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10744200" y="4838700"/>
            <a:ext cx="2042160" cy="619125"/>
          </a:xfrm>
          <a:prstGeom prst="roundRect">
            <a:avLst>
              <a:gd name="adj" fmla="val 615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10839450" y="4838700"/>
            <a:ext cx="185166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1.31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12824460" y="4838700"/>
            <a:ext cx="4320540" cy="619125"/>
          </a:xfrm>
          <a:prstGeom prst="roundRect">
            <a:avLst>
              <a:gd name="adj" fmla="val 615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12919710" y="4838700"/>
            <a:ext cx="413004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관리 필요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1143000" y="5534025"/>
            <a:ext cx="4762500" cy="619125"/>
          </a:xfrm>
          <a:prstGeom prst="roundRect">
            <a:avLst>
              <a:gd name="adj" fmla="val 6153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1238250" y="5534025"/>
            <a:ext cx="457200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SF-02 소결외경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5943600" y="5534025"/>
            <a:ext cx="2682240" cy="619125"/>
          </a:xfrm>
          <a:prstGeom prst="roundRect">
            <a:avLst>
              <a:gd name="adj" fmla="val 615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6038850" y="5534025"/>
            <a:ext cx="249174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0.0261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8663940" y="5534025"/>
            <a:ext cx="2042160" cy="619125"/>
          </a:xfrm>
          <a:prstGeom prst="roundRect">
            <a:avLst>
              <a:gd name="adj" fmla="val 615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8759190" y="5534025"/>
            <a:ext cx="185166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1.02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10744200" y="5534025"/>
            <a:ext cx="2042160" cy="619125"/>
          </a:xfrm>
          <a:prstGeom prst="roundRect">
            <a:avLst>
              <a:gd name="adj" fmla="val 615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10839450" y="5534025"/>
            <a:ext cx="185166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1.02</a:t>
            </a:r>
          </a:p>
        </p:txBody>
      </p:sp>
      <p:sp>
        <p:nvSpPr>
          <p:cNvPr id="56" name="Rounded Rectangle 55"/>
          <p:cNvSpPr/>
          <p:nvPr/>
        </p:nvSpPr>
        <p:spPr>
          <a:xfrm>
            <a:off x="12824460" y="5534025"/>
            <a:ext cx="4320540" cy="619125"/>
          </a:xfrm>
          <a:prstGeom prst="roundRect">
            <a:avLst>
              <a:gd name="adj" fmla="val 615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12919710" y="5534025"/>
            <a:ext cx="413004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관리 필요</a:t>
            </a:r>
          </a:p>
        </p:txBody>
      </p:sp>
      <p:sp>
        <p:nvSpPr>
          <p:cNvPr id="58" name="Rounded Rectangle 57"/>
          <p:cNvSpPr/>
          <p:nvPr/>
        </p:nvSpPr>
        <p:spPr>
          <a:xfrm>
            <a:off x="1143000" y="6229350"/>
            <a:ext cx="4762500" cy="619125"/>
          </a:xfrm>
          <a:prstGeom prst="roundRect">
            <a:avLst>
              <a:gd name="adj" fmla="val 6153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1238250" y="6229350"/>
            <a:ext cx="457200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GR-01 연삭외경</a:t>
            </a:r>
          </a:p>
        </p:txBody>
      </p:sp>
      <p:sp>
        <p:nvSpPr>
          <p:cNvPr id="60" name="Rounded Rectangle 59"/>
          <p:cNvSpPr/>
          <p:nvPr/>
        </p:nvSpPr>
        <p:spPr>
          <a:xfrm>
            <a:off x="5943600" y="6229350"/>
            <a:ext cx="2682240" cy="619125"/>
          </a:xfrm>
          <a:prstGeom prst="roundRect">
            <a:avLst>
              <a:gd name="adj" fmla="val 615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6038850" y="6229350"/>
            <a:ext cx="249174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0.0119</a:t>
            </a:r>
          </a:p>
        </p:txBody>
      </p:sp>
      <p:sp>
        <p:nvSpPr>
          <p:cNvPr id="62" name="Rounded Rectangle 61"/>
          <p:cNvSpPr/>
          <p:nvPr/>
        </p:nvSpPr>
        <p:spPr>
          <a:xfrm>
            <a:off x="8663940" y="6229350"/>
            <a:ext cx="2042160" cy="619125"/>
          </a:xfrm>
          <a:prstGeom prst="roundRect">
            <a:avLst>
              <a:gd name="adj" fmla="val 615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8759190" y="6229350"/>
            <a:ext cx="185166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1.69</a:t>
            </a:r>
          </a:p>
        </p:txBody>
      </p:sp>
      <p:sp>
        <p:nvSpPr>
          <p:cNvPr id="64" name="Rounded Rectangle 63"/>
          <p:cNvSpPr/>
          <p:nvPr/>
        </p:nvSpPr>
        <p:spPr>
          <a:xfrm>
            <a:off x="10744200" y="6229350"/>
            <a:ext cx="2042160" cy="619125"/>
          </a:xfrm>
          <a:prstGeom prst="roundRect">
            <a:avLst>
              <a:gd name="adj" fmla="val 615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10839450" y="6229350"/>
            <a:ext cx="185166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1.66</a:t>
            </a:r>
          </a:p>
        </p:txBody>
      </p:sp>
      <p:sp>
        <p:nvSpPr>
          <p:cNvPr id="66" name="Rounded Rectangle 65"/>
          <p:cNvSpPr/>
          <p:nvPr/>
        </p:nvSpPr>
        <p:spPr>
          <a:xfrm>
            <a:off x="12824460" y="6229350"/>
            <a:ext cx="4320540" cy="619125"/>
          </a:xfrm>
          <a:prstGeom prst="roundRect">
            <a:avLst>
              <a:gd name="adj" fmla="val 615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12919710" y="6229350"/>
            <a:ext cx="413004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양호</a:t>
            </a:r>
          </a:p>
        </p:txBody>
      </p:sp>
      <p:sp>
        <p:nvSpPr>
          <p:cNvPr id="68" name="Rounded Rectangle 67"/>
          <p:cNvSpPr/>
          <p:nvPr/>
        </p:nvSpPr>
        <p:spPr>
          <a:xfrm>
            <a:off x="1143000" y="6924675"/>
            <a:ext cx="4762500" cy="619125"/>
          </a:xfrm>
          <a:prstGeom prst="roundRect">
            <a:avLst>
              <a:gd name="adj" fmla="val 6153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1238250" y="6924675"/>
            <a:ext cx="457200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GR-02 연삭외경</a:t>
            </a:r>
          </a:p>
        </p:txBody>
      </p:sp>
      <p:sp>
        <p:nvSpPr>
          <p:cNvPr id="70" name="Rounded Rectangle 69"/>
          <p:cNvSpPr/>
          <p:nvPr/>
        </p:nvSpPr>
        <p:spPr>
          <a:xfrm>
            <a:off x="5943600" y="6924675"/>
            <a:ext cx="2682240" cy="619125"/>
          </a:xfrm>
          <a:prstGeom prst="roundRect">
            <a:avLst>
              <a:gd name="adj" fmla="val 615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6038850" y="6924675"/>
            <a:ext cx="249174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0.0113</a:t>
            </a:r>
          </a:p>
        </p:txBody>
      </p:sp>
      <p:sp>
        <p:nvSpPr>
          <p:cNvPr id="72" name="Rounded Rectangle 71"/>
          <p:cNvSpPr/>
          <p:nvPr/>
        </p:nvSpPr>
        <p:spPr>
          <a:xfrm>
            <a:off x="8663940" y="6924675"/>
            <a:ext cx="2042160" cy="619125"/>
          </a:xfrm>
          <a:prstGeom prst="roundRect">
            <a:avLst>
              <a:gd name="adj" fmla="val 615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8759190" y="6924675"/>
            <a:ext cx="185166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1.78</a:t>
            </a:r>
          </a:p>
        </p:txBody>
      </p:sp>
      <p:sp>
        <p:nvSpPr>
          <p:cNvPr id="74" name="Rounded Rectangle 73"/>
          <p:cNvSpPr/>
          <p:nvPr/>
        </p:nvSpPr>
        <p:spPr>
          <a:xfrm>
            <a:off x="10744200" y="6924675"/>
            <a:ext cx="2042160" cy="619125"/>
          </a:xfrm>
          <a:prstGeom prst="roundRect">
            <a:avLst>
              <a:gd name="adj" fmla="val 615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10839450" y="6924675"/>
            <a:ext cx="185166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1.75</a:t>
            </a:r>
          </a:p>
        </p:txBody>
      </p:sp>
      <p:sp>
        <p:nvSpPr>
          <p:cNvPr id="76" name="Rounded Rectangle 75"/>
          <p:cNvSpPr/>
          <p:nvPr/>
        </p:nvSpPr>
        <p:spPr>
          <a:xfrm>
            <a:off x="12824460" y="6924675"/>
            <a:ext cx="4320540" cy="619125"/>
          </a:xfrm>
          <a:prstGeom prst="roundRect">
            <a:avLst>
              <a:gd name="adj" fmla="val 615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12919710" y="6924675"/>
            <a:ext cx="413004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양호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1143000" y="76200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75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모두 n = 620 · 소결밀도는 한쪽 규격이라 Cp 없음</a:t>
            </a:r>
          </a:p>
        </p:txBody>
      </p:sp>
      <p:sp>
        <p:nvSpPr>
          <p:cNvPr id="79" name="Rectangle 78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0" name="TextBox 79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생성형 AI 활용 실무 · 4일 32H · 2일차 4교시 · 실습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05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8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4. 히스토그램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SF-01 · SF-02 소결밀도 분포 비교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2933700"/>
            <a:ext cx="16002000" cy="1095375"/>
          </a:xfrm>
          <a:prstGeom prst="roundRect">
            <a:avLst>
              <a:gd name="adj" fmla="val 4347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447800" y="3181350"/>
            <a:ext cx="590550" cy="59055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447800" y="3333750"/>
            <a:ext cx="59055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324100" y="3143250"/>
            <a:ext cx="1447800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4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값 떼어 내기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324100" y="3543300"/>
            <a:ext cx="14478000" cy="3619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필터로 설비를 거르고 소결밀도 열만 새 시트에 붙인다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143000" y="4200525"/>
            <a:ext cx="16002000" cy="1095375"/>
          </a:xfrm>
          <a:prstGeom prst="roundRect">
            <a:avLst>
              <a:gd name="adj" fmla="val 4347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1447800" y="4448175"/>
            <a:ext cx="590550" cy="59055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447800" y="4600575"/>
            <a:ext cx="59055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324100" y="4410075"/>
            <a:ext cx="1447800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4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히스토그램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324100" y="4810125"/>
            <a:ext cx="14478000" cy="3619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삽입 → 통계 차트 삽입 → 히스토그램 · 구간 너비 0.2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143000" y="5467350"/>
            <a:ext cx="16002000" cy="1095375"/>
          </a:xfrm>
          <a:prstGeom prst="roundRect">
            <a:avLst>
              <a:gd name="adj" fmla="val 4347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447800" y="5715000"/>
            <a:ext cx="590550" cy="59055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447800" y="5867400"/>
            <a:ext cx="59055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324100" y="5676900"/>
            <a:ext cx="1447800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4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규격선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24100" y="6076950"/>
            <a:ext cx="14478000" cy="3619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도형 선으로 95.0 에 빨간 세로선 + 「LSL 95.0」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1143000" y="6734175"/>
            <a:ext cx="16002000" cy="1095375"/>
          </a:xfrm>
          <a:prstGeom prst="roundRect">
            <a:avLst>
              <a:gd name="adj" fmla="val 4347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1447800" y="6981825"/>
            <a:ext cx="590550" cy="59055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447800" y="7134225"/>
            <a:ext cx="59055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324100" y="6943725"/>
            <a:ext cx="1447800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4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숫자로 확인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324100" y="7343775"/>
            <a:ext cx="14478000" cy="3619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COUNTIF(A:A,"&lt;95") — SF-02 26개 · SF-01 0개</a:t>
            </a:r>
          </a:p>
        </p:txBody>
      </p:sp>
      <p:sp>
        <p:nvSpPr>
          <p:cNvPr id="28" name="Rectangle 27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생성형 AI 활용 실무 · 4일 32H · 2일차 4교시 · 실습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06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8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5. 막대와 꺾은선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공정별 OEE 막대 · 소결로 일자별 추세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2933700"/>
            <a:ext cx="11430000" cy="1095375"/>
          </a:xfrm>
          <a:prstGeom prst="roundRect">
            <a:avLst>
              <a:gd name="adj" fmla="val 4347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447800" y="3181350"/>
            <a:ext cx="590550" cy="59055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447800" y="3333750"/>
            <a:ext cx="59055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324100" y="3143250"/>
            <a:ext cx="990600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4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막대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324100" y="3543300"/>
            <a:ext cx="9906000" cy="3619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공정별 OEE 표 → 묶은 가로 막대형, OEE 낮은 순 정렬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143000" y="4200525"/>
            <a:ext cx="11430000" cy="1095375"/>
          </a:xfrm>
          <a:prstGeom prst="roundRect">
            <a:avLst>
              <a:gd name="adj" fmla="val 4347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1447800" y="4448175"/>
            <a:ext cx="590550" cy="59055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447800" y="4600575"/>
            <a:ext cx="59055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324100" y="4410075"/>
            <a:ext cx="990600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4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추세 피벗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324100" y="4810125"/>
            <a:ext cx="9906000" cy="3619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필터 공정=소결 · 행 일자 · 열 설비 · 값 계산 필드 OEE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143000" y="5467350"/>
            <a:ext cx="11430000" cy="1095375"/>
          </a:xfrm>
          <a:prstGeom prst="roundRect">
            <a:avLst>
              <a:gd name="adj" fmla="val 4347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447800" y="5715000"/>
            <a:ext cx="590550" cy="59055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447800" y="5867400"/>
            <a:ext cx="59055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324100" y="5676900"/>
            <a:ext cx="990600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4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꺾은선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24100" y="6076950"/>
            <a:ext cx="9906000" cy="3619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피벗 테이블 분석 → 피벗 차트 → 꺾은선형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13144500" y="2933700"/>
            <a:ext cx="4000500" cy="3629025"/>
          </a:xfrm>
          <a:prstGeom prst="roundRect">
            <a:avLst>
              <a:gd name="adj" fmla="val 1312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3487400" y="3929062"/>
            <a:ext cx="33147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 spc="19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계산 필드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3487400" y="4329112"/>
            <a:ext cx="3314700" cy="1238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8000"/>
              </a:lnSpc>
            </a:pPr>
            <a:r>
              <a:rPr sz="27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이론시간/계획</a:t>
            </a:r>
          </a:p>
          <a:p>
            <a:pPr algn="l">
              <a:lnSpc>
                <a:spcPct val="138000"/>
              </a:lnSpc>
            </a:pPr>
            <a:r>
              <a:rPr sz="27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*양품/생산</a:t>
            </a:r>
          </a:p>
        </p:txBody>
      </p:sp>
      <p:sp>
        <p:nvSpPr>
          <p:cNvPr id="26" name="Rectangle 25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생성형 AI 활용 실무 · 4일 32H · 2일차 4교시 · 실습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07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8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자주 틀리는 지점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차트와 수식에서 막히는 곳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143000" y="2781300"/>
            <a:ext cx="5722620" cy="590550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43000" y="2781300"/>
            <a:ext cx="572262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증상</a:t>
            </a:r>
          </a:p>
        </p:txBody>
      </p:sp>
      <p:sp>
        <p:nvSpPr>
          <p:cNvPr id="10" name="Rectangle 9"/>
          <p:cNvSpPr/>
          <p:nvPr/>
        </p:nvSpPr>
        <p:spPr>
          <a:xfrm>
            <a:off x="6903720" y="2781300"/>
            <a:ext cx="5082540" cy="59055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903720" y="2781300"/>
            <a:ext cx="508254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원인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2024360" y="2781300"/>
            <a:ext cx="5120640" cy="59055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2024360" y="2781300"/>
            <a:ext cx="512064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해결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143000" y="3448050"/>
            <a:ext cx="5722620" cy="647700"/>
          </a:xfrm>
          <a:prstGeom prst="roundRect">
            <a:avLst>
              <a:gd name="adj" fmla="val 5882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238250" y="3448050"/>
            <a:ext cx="553212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표준편차가 이상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903720" y="3448050"/>
            <a:ext cx="508254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998970" y="3448050"/>
            <a:ext cx="489204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배열 입력 안 함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2024360" y="3448050"/>
            <a:ext cx="512064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2119610" y="3448050"/>
            <a:ext cx="493014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Ctrl+Shift+Enter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143000" y="4171950"/>
            <a:ext cx="5722620" cy="647700"/>
          </a:xfrm>
          <a:prstGeom prst="roundRect">
            <a:avLst>
              <a:gd name="adj" fmla="val 5882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238250" y="4171950"/>
            <a:ext cx="553212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개수가 620 아님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903720" y="4171950"/>
            <a:ext cx="508254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998970" y="4171950"/>
            <a:ext cx="489204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범위·설비명 오류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2024360" y="4171950"/>
            <a:ext cx="512064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2119610" y="4171950"/>
            <a:ext cx="493014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범위 2~2481행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1143000" y="4895850"/>
            <a:ext cx="5722620" cy="647700"/>
          </a:xfrm>
          <a:prstGeom prst="roundRect">
            <a:avLst>
              <a:gd name="adj" fmla="val 5882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238250" y="4895850"/>
            <a:ext cx="553212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분포 모양 비교 불가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903720" y="4895850"/>
            <a:ext cx="508254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998970" y="4895850"/>
            <a:ext cx="489204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구간 너비 다름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12024360" y="4895850"/>
            <a:ext cx="512064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2119610" y="4895850"/>
            <a:ext cx="493014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둘 다 0.2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1143000" y="5619750"/>
            <a:ext cx="5722620" cy="647700"/>
          </a:xfrm>
          <a:prstGeom prst="roundRect">
            <a:avLst>
              <a:gd name="adj" fmla="val 5882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238250" y="5619750"/>
            <a:ext cx="553212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피벗 표준편차 다름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6903720" y="5619750"/>
            <a:ext cx="508254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998970" y="5619750"/>
            <a:ext cx="489204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전체(p) 선택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12024360" y="5619750"/>
            <a:ext cx="512064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12119610" y="5619750"/>
            <a:ext cx="493014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「표준 편차」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143000" y="76200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75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두 소결로의 선이 어디서 벌어지는지는 메모만 — 시점 확인은 오후에</a:t>
            </a:r>
          </a:p>
        </p:txBody>
      </p:sp>
      <p:sp>
        <p:nvSpPr>
          <p:cNvPr id="39" name="Rectangle 38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생성형 AI 활용 실무 · 4일 32H · 2일차 4교시 · 실습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08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8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6. AI 해석 문장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사실과 해석을 나눠 표시시킨다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43000" y="2857500"/>
            <a:ext cx="7372350" cy="533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15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남기는 문장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" y="3467100"/>
            <a:ext cx="7372350" cy="876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6000"/>
              </a:lnSpc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표의 숫자를 그대로 근거로 든 문장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143000" y="4610100"/>
            <a:ext cx="7372350" cy="2857500"/>
          </a:xfrm>
          <a:prstGeom prst="roundRect">
            <a:avLst>
              <a:gd name="adj" fmla="val 166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447800" y="5016817"/>
            <a:ext cx="97155" cy="97155"/>
          </a:xfrm>
          <a:prstGeom prst="ellipse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633538" y="4838700"/>
            <a:ext cx="6634162" cy="45339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SF-02 소결밀도 Cpk 0.65</a:t>
            </a:r>
          </a:p>
        </p:txBody>
      </p:sp>
      <p:sp>
        <p:nvSpPr>
          <p:cNvPr id="13" name="Oval 12"/>
          <p:cNvSpPr/>
          <p:nvPr/>
        </p:nvSpPr>
        <p:spPr>
          <a:xfrm>
            <a:off x="1447800" y="5527358"/>
            <a:ext cx="97155" cy="97155"/>
          </a:xfrm>
          <a:prstGeom prst="ellipse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633538" y="5349240"/>
            <a:ext cx="6634162" cy="45339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σ 0.5373 &gt; SF-01 0.3262</a:t>
            </a:r>
          </a:p>
        </p:txBody>
      </p:sp>
      <p:sp>
        <p:nvSpPr>
          <p:cNvPr id="15" name="Oval 14"/>
          <p:cNvSpPr/>
          <p:nvPr/>
        </p:nvSpPr>
        <p:spPr>
          <a:xfrm>
            <a:off x="1447800" y="6037898"/>
            <a:ext cx="97155" cy="97155"/>
          </a:xfrm>
          <a:prstGeom prst="ellipse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633538" y="5859780"/>
            <a:ext cx="6634162" cy="45339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연삭기 Cpk 1.66 · 1.75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772650" y="2857500"/>
            <a:ext cx="7372350" cy="533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15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고치는 문장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772650" y="3467100"/>
            <a:ext cx="7372350" cy="876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6000"/>
              </a:lnSpc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표에 없는 원인 · 시점을 단정한 문장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9772650" y="4610100"/>
            <a:ext cx="7372350" cy="2857500"/>
          </a:xfrm>
          <a:prstGeom prst="roundRect">
            <a:avLst>
              <a:gd name="adj" fmla="val 166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10077450" y="5016817"/>
            <a:ext cx="97155" cy="97155"/>
          </a:xfrm>
          <a:prstGeom prst="ellipse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0263188" y="4838700"/>
            <a:ext cx="6634162" cy="45339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작업자 숙련도 부족 탓</a:t>
            </a:r>
          </a:p>
        </p:txBody>
      </p:sp>
      <p:sp>
        <p:nvSpPr>
          <p:cNvPr id="22" name="Oval 21"/>
          <p:cNvSpPr/>
          <p:nvPr/>
        </p:nvSpPr>
        <p:spPr>
          <a:xfrm>
            <a:off x="10077450" y="5527358"/>
            <a:ext cx="97155" cy="97155"/>
          </a:xfrm>
          <a:prstGeom prst="ellipse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0263188" y="5349240"/>
            <a:ext cx="6634162" cy="45339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장마철 습도 탓이다</a:t>
            </a:r>
          </a:p>
        </p:txBody>
      </p:sp>
      <p:sp>
        <p:nvSpPr>
          <p:cNvPr id="24" name="Oval 23"/>
          <p:cNvSpPr/>
          <p:nvPr/>
        </p:nvSpPr>
        <p:spPr>
          <a:xfrm>
            <a:off x="10077450" y="6037898"/>
            <a:ext cx="97155" cy="97155"/>
          </a:xfrm>
          <a:prstGeom prst="ellipse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263188" y="5859780"/>
            <a:ext cx="6634162" cy="45339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→ 「확인 필요」 질문으로</a:t>
            </a:r>
          </a:p>
        </p:txBody>
      </p:sp>
      <p:sp>
        <p:nvSpPr>
          <p:cNvPr id="26" name="Oval 25"/>
          <p:cNvSpPr/>
          <p:nvPr/>
        </p:nvSpPr>
        <p:spPr>
          <a:xfrm>
            <a:off x="8686800" y="3771900"/>
            <a:ext cx="914400" cy="91440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686800" y="4057650"/>
            <a:ext cx="9144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VS</a:t>
            </a:r>
          </a:p>
        </p:txBody>
      </p:sp>
      <p:sp>
        <p:nvSpPr>
          <p:cNvPr id="28" name="Rectangle 27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생성형 AI 활용 실무 · 4일 32H · 2일차 4교시 · 실습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09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8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확인 포인트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끝내기 전에 확인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299085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390650" y="3133725"/>
            <a:ext cx="533400" cy="53340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390650" y="325755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190750" y="299085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설비별 n 620 · 평균 · σ 가 정답과 맞다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143000" y="398145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1390650" y="4124325"/>
            <a:ext cx="533400" cy="53340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390650" y="424815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190750" y="398145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한쪽 규격은 Cp 를 비우고 Cpk 만 구했다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143000" y="497205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1390650" y="5114925"/>
            <a:ext cx="533400" cy="53340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390650" y="523875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190750" y="497205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두 히스토그램을 같은 구간 너비로 그리고 LSL 을 표시했다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143000" y="596265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1390650" y="6105525"/>
            <a:ext cx="533400" cy="53340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390650" y="622935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190750" y="596265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막대 · 꺾은선 차트를 만들었다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143000" y="695325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1390650" y="7096125"/>
            <a:ext cx="533400" cy="53340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390650" y="721995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190750" y="695325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AI 해석 문장의 숫자를 표와 한 줄씩 대조했다</a:t>
            </a:r>
          </a:p>
        </p:txBody>
      </p:sp>
      <p:sp>
        <p:nvSpPr>
          <p:cNvPr id="28" name="Rectangle 27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생성형 AI 활용 실무 · 4일 32H · 2일차 4교시 · 실습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10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4859000" y="6667500"/>
            <a:ext cx="5905500" cy="5905500"/>
          </a:xfrm>
          <a:prstGeom prst="ellipse">
            <a:avLst/>
          </a:prstGeom>
          <a:solidFill>
            <a:srgbClr val="F2F8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2095500" y="-2095500"/>
            <a:ext cx="4381500" cy="4381500"/>
          </a:xfrm>
          <a:prstGeom prst="ellipse">
            <a:avLst/>
          </a:prstGeom>
          <a:solidFill>
            <a:srgbClr val="F5F6F7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43000" y="2857500"/>
            <a:ext cx="16002000" cy="285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3352800"/>
            <a:ext cx="85725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2일차 4교시 · 실습 마무리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3771900"/>
            <a:ext cx="16002000" cy="800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다음은 통합 KPI 분석과 문제 공정 선정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43000" y="4724400"/>
            <a:ext cx="16002000" cy="4381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4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다음 5교시에는 생산·품질 지표가 서로 어떻게 함께 움직이는지 산점도와 상관계수로 읽습니다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143000" y="5257800"/>
            <a:ext cx="7772400" cy="819150"/>
          </a:xfrm>
          <a:prstGeom prst="roundRect">
            <a:avLst>
              <a:gd name="adj" fmla="val 697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428750" y="5486400"/>
            <a:ext cx="4191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✓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905000" y="5486400"/>
            <a:ext cx="672465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지표 간 상관관계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9372600" y="5257800"/>
            <a:ext cx="7772400" cy="819150"/>
          </a:xfrm>
          <a:prstGeom prst="roundRect">
            <a:avLst>
              <a:gd name="adj" fmla="val 697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658350" y="5486400"/>
            <a:ext cx="4191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✓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134600" y="5486400"/>
            <a:ext cx="672465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상관 해석의 함정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143000" y="6286500"/>
            <a:ext cx="7772400" cy="819150"/>
          </a:xfrm>
          <a:prstGeom prst="roundRect">
            <a:avLst>
              <a:gd name="adj" fmla="val 697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428750" y="6515100"/>
            <a:ext cx="4191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✓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905000" y="6515100"/>
            <a:ext cx="672465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추세 · 파레토 분석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9372600" y="6286500"/>
            <a:ext cx="7772400" cy="819150"/>
          </a:xfrm>
          <a:prstGeom prst="roundRect">
            <a:avLst>
              <a:gd name="adj" fmla="val 697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658350" y="6515100"/>
            <a:ext cx="4191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✓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134600" y="6515100"/>
            <a:ext cx="672465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중점관리공정 선정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143000" y="7715250"/>
            <a:ext cx="47625" cy="81915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409700" y="7734300"/>
            <a:ext cx="85725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 spc="14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가져갈 것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09700" y="8077200"/>
            <a:ext cx="857250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OEE 표 · Cpk 표 · 차트 · 해석 문장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4192250" y="-2381250"/>
            <a:ext cx="7429500" cy="7429500"/>
          </a:xfrm>
          <a:prstGeom prst="ellipse">
            <a:avLst/>
          </a:prstGeom>
          <a:solidFill>
            <a:srgbClr val="F0F7F7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5430500" y="-1143000"/>
            <a:ext cx="4953000" cy="49530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15906750" y="5905500"/>
            <a:ext cx="4953000" cy="4953000"/>
          </a:xfrm>
          <a:prstGeom prst="ellipse">
            <a:avLst/>
          </a:prstGeom>
          <a:solidFill>
            <a:srgbClr val="F5F6F7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-1714500" y="2857500"/>
            <a:ext cx="2857500" cy="28575"/>
          </a:xfrm>
          <a:prstGeom prst="rect">
            <a:avLst/>
          </a:prstGeom>
          <a:solidFill>
            <a:srgbClr val="E6EAED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-2857500" y="6953250"/>
            <a:ext cx="6953250" cy="6953250"/>
          </a:xfrm>
          <a:prstGeom prst="ellipse">
            <a:avLst/>
          </a:prstGeom>
          <a:solidFill>
            <a:srgbClr val="ECF5F5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-1581150" y="8229600"/>
            <a:ext cx="4400550" cy="440055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3390900" y="8953500"/>
            <a:ext cx="742950" cy="742950"/>
          </a:xfrm>
          <a:prstGeom prst="ellipse">
            <a:avLst/>
          </a:prstGeom>
          <a:solidFill>
            <a:srgbClr val="EBEEF0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4457700" y="9563100"/>
            <a:ext cx="342900" cy="342900"/>
          </a:xfrm>
          <a:prstGeom prst="ellipse">
            <a:avLst/>
          </a:prstGeom>
          <a:solidFill>
            <a:srgbClr val="DFEDE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1143000" y="9639300"/>
            <a:ext cx="1619250" cy="28575"/>
          </a:xfrm>
          <a:prstGeom prst="rect">
            <a:avLst/>
          </a:prstGeom>
          <a:solidFill>
            <a:srgbClr val="E6EAED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1143000" y="2857500"/>
            <a:ext cx="16002000" cy="285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43000" y="3486150"/>
            <a:ext cx="85725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 spc="12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2일차 5교시 · 통합 KPI 분석과 문제 공정 선정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43000" y="3905250"/>
            <a:ext cx="16002000" cy="19187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6300" b="1" spc="-235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지표 간 상관관계</a:t>
            </a:r>
          </a:p>
          <a:p>
            <a:pPr algn="l">
              <a:lnSpc>
                <a:spcPct val="105000"/>
              </a:lnSpc>
            </a:pPr>
            <a:r>
              <a:rPr sz="6300" b="1" spc="-235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산점도와 상관계수 읽기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43000" y="6033516"/>
            <a:ext cx="16002000" cy="571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300" b="1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지표 하나가 아니라 지표 사이의 관계를 본다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572500" y="7677150"/>
            <a:ext cx="8572500" cy="857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50000"/>
              </a:lnSpc>
            </a:pPr>
            <a:r>
              <a:rPr sz="1950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생산안전본부 및 품질환경단 직무훈련</a:t>
            </a:r>
          </a:p>
          <a:p>
            <a:pPr algn="r">
              <a:lnSpc>
                <a:spcPct val="150000"/>
              </a:lnSpc>
            </a:pPr>
            <a:r>
              <a:rPr sz="1950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생성형 AI 활용 실무 · 2026. 10. 12.~15.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8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이 시간의 목표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50분 뒤에는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339090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390650" y="3533775"/>
            <a:ext cx="533400" cy="53340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390650" y="365760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①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190750" y="339090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산점도로 두 지표가 같은 방향인지 반대 방향인지 말한다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143000" y="438150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1390650" y="4524375"/>
            <a:ext cx="533400" cy="53340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390650" y="464820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②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190750" y="438150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상관계수 r 의 부호와 크기로 방향과 강도를 해석한다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143000" y="537210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1390650" y="5514975"/>
            <a:ext cx="533400" cy="53340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390650" y="563880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③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190750" y="537210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두 파일을 키로 잇고, AI 의 r 을 Excel CORREL 로 검증한다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143000" y="6953250"/>
            <a:ext cx="16002000" cy="876300"/>
          </a:xfrm>
          <a:prstGeom prst="roundRect">
            <a:avLst>
              <a:gd name="adj" fmla="val 5434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143000" y="7200900"/>
            <a:ext cx="16002000" cy="4381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생산 지표(비가동)와 품질 지표(불량률)가 함께 움직이는지 확인합니다</a:t>
            </a:r>
          </a:p>
        </p:txBody>
      </p:sp>
      <p:sp>
        <p:nvSpPr>
          <p:cNvPr id="22" name="Rectangle 21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생성형 AI 활용 실무 · 4일 32H · 2일차 5교시 · 이론+실습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02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8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1. 개념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산점도와 상관계수 r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43000" y="2857500"/>
            <a:ext cx="7372350" cy="533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15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산점도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" y="3467100"/>
            <a:ext cx="7372350" cy="876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6000"/>
              </a:lnSpc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행 하나 = 점 하나, 가로·세로에 두 지표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143000" y="4610100"/>
            <a:ext cx="7372350" cy="2857500"/>
          </a:xfrm>
          <a:prstGeom prst="roundRect">
            <a:avLst>
              <a:gd name="adj" fmla="val 166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447800" y="5016817"/>
            <a:ext cx="97155" cy="97155"/>
          </a:xfrm>
          <a:prstGeom prst="ellipse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633538" y="4838700"/>
            <a:ext cx="6634162" cy="45339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오른쪽 위로 몰림 = 함께 오른다</a:t>
            </a:r>
          </a:p>
        </p:txBody>
      </p:sp>
      <p:sp>
        <p:nvSpPr>
          <p:cNvPr id="13" name="Oval 12"/>
          <p:cNvSpPr/>
          <p:nvPr/>
        </p:nvSpPr>
        <p:spPr>
          <a:xfrm>
            <a:off x="1447800" y="5527358"/>
            <a:ext cx="97155" cy="97155"/>
          </a:xfrm>
          <a:prstGeom prst="ellipse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633538" y="5349240"/>
            <a:ext cx="6634162" cy="45339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오른쪽 아래 = 하나가 오르면 하나는 내린다</a:t>
            </a:r>
          </a:p>
        </p:txBody>
      </p:sp>
      <p:sp>
        <p:nvSpPr>
          <p:cNvPr id="15" name="Oval 14"/>
          <p:cNvSpPr/>
          <p:nvPr/>
        </p:nvSpPr>
        <p:spPr>
          <a:xfrm>
            <a:off x="1447800" y="6037898"/>
            <a:ext cx="97155" cy="97155"/>
          </a:xfrm>
          <a:prstGeom prst="ellipse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633538" y="5859780"/>
            <a:ext cx="6634162" cy="45339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구름처럼 흩어짐 = 따로 움직인다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772650" y="2857500"/>
            <a:ext cx="7372350" cy="533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15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상관계수 r (−1 ~ +1)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772650" y="3467100"/>
            <a:ext cx="7372350" cy="876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6000"/>
              </a:lnSpc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점들이 한 직선에 얼마나 가까운지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9772650" y="4610100"/>
            <a:ext cx="7372350" cy="2857500"/>
          </a:xfrm>
          <a:prstGeom prst="roundRect">
            <a:avLst>
              <a:gd name="adj" fmla="val 166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10077450" y="5016817"/>
            <a:ext cx="97155" cy="97155"/>
          </a:xfrm>
          <a:prstGeom prst="ellipse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0263188" y="4838700"/>
            <a:ext cx="6634162" cy="45339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부호 = 방향, 0 에서 먼 정도 = 강도</a:t>
            </a:r>
          </a:p>
        </p:txBody>
      </p:sp>
      <p:sp>
        <p:nvSpPr>
          <p:cNvPr id="22" name="Oval 21"/>
          <p:cNvSpPr/>
          <p:nvPr/>
        </p:nvSpPr>
        <p:spPr>
          <a:xfrm>
            <a:off x="10077450" y="5527358"/>
            <a:ext cx="97155" cy="97155"/>
          </a:xfrm>
          <a:prstGeom prst="ellipse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0263188" y="5349240"/>
            <a:ext cx="6634162" cy="45339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Excel =CORREL(범위1, 범위2)</a:t>
            </a:r>
          </a:p>
        </p:txBody>
      </p:sp>
      <p:sp>
        <p:nvSpPr>
          <p:cNvPr id="24" name="Oval 23"/>
          <p:cNvSpPr/>
          <p:nvPr/>
        </p:nvSpPr>
        <p:spPr>
          <a:xfrm>
            <a:off x="10077450" y="6037898"/>
            <a:ext cx="97155" cy="97155"/>
          </a:xfrm>
          <a:prstGeom prst="ellipse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263188" y="5859780"/>
            <a:ext cx="6634162" cy="45339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R² = r × r (0.95 → 약 0.90)</a:t>
            </a:r>
          </a:p>
        </p:txBody>
      </p:sp>
      <p:sp>
        <p:nvSpPr>
          <p:cNvPr id="26" name="Oval 25"/>
          <p:cNvSpPr/>
          <p:nvPr/>
        </p:nvSpPr>
        <p:spPr>
          <a:xfrm>
            <a:off x="8686800" y="3771900"/>
            <a:ext cx="914400" cy="91440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686800" y="4057650"/>
            <a:ext cx="9144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VS</a:t>
            </a:r>
          </a:p>
        </p:txBody>
      </p:sp>
      <p:sp>
        <p:nvSpPr>
          <p:cNvPr id="28" name="Rectangle 27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생성형 AI 활용 실무 · 4일 32H · 2일차 5교시 · 이론+실습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03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8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1. 개념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r 을 읽는 어림 기준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143000" y="2781300"/>
            <a:ext cx="4122420" cy="590550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43000" y="2781300"/>
            <a:ext cx="412242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r 의 범위</a:t>
            </a:r>
          </a:p>
        </p:txBody>
      </p:sp>
      <p:sp>
        <p:nvSpPr>
          <p:cNvPr id="10" name="Rectangle 9"/>
          <p:cNvSpPr/>
          <p:nvPr/>
        </p:nvSpPr>
        <p:spPr>
          <a:xfrm>
            <a:off x="5303520" y="2781300"/>
            <a:ext cx="5882640" cy="59055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303520" y="2781300"/>
            <a:ext cx="588264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읽는 법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1224260" y="2781300"/>
            <a:ext cx="5920740" cy="59055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1224260" y="2781300"/>
            <a:ext cx="592074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산점도 모양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143000" y="3448050"/>
            <a:ext cx="4122420" cy="647700"/>
          </a:xfrm>
          <a:prstGeom prst="roundRect">
            <a:avLst>
              <a:gd name="adj" fmla="val 5882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238250" y="3448050"/>
            <a:ext cx="393192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+0.7 ~ +1.0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303520" y="3448050"/>
            <a:ext cx="588264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398770" y="3448050"/>
            <a:ext cx="569214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강한 양의 상관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1224260" y="3448050"/>
            <a:ext cx="592074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1319510" y="3448050"/>
            <a:ext cx="573024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오른쪽 위 좁은 띠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143000" y="4171950"/>
            <a:ext cx="4122420" cy="647700"/>
          </a:xfrm>
          <a:prstGeom prst="roundRect">
            <a:avLst>
              <a:gd name="adj" fmla="val 5882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238250" y="4171950"/>
            <a:ext cx="393192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+0.4 ~ +0.7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303520" y="4171950"/>
            <a:ext cx="588264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398770" y="4171950"/>
            <a:ext cx="569214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중간 양의 상관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1224260" y="4171950"/>
            <a:ext cx="592074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1319510" y="4171950"/>
            <a:ext cx="573024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오른쪽 위 넓은 띠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1143000" y="4895850"/>
            <a:ext cx="4122420" cy="647700"/>
          </a:xfrm>
          <a:prstGeom prst="roundRect">
            <a:avLst>
              <a:gd name="adj" fmla="val 5882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238250" y="4895850"/>
            <a:ext cx="393192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−0.4 ~ +0.4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303520" y="4895850"/>
            <a:ext cx="588264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398770" y="4895850"/>
            <a:ext cx="569214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약하거나 거의 없음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11224260" y="4895850"/>
            <a:ext cx="592074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1319510" y="4895850"/>
            <a:ext cx="573024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구름처럼 흩어짐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1143000" y="5619750"/>
            <a:ext cx="4122420" cy="647700"/>
          </a:xfrm>
          <a:prstGeom prst="roundRect">
            <a:avLst>
              <a:gd name="adj" fmla="val 5882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238250" y="5619750"/>
            <a:ext cx="393192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−0.7 ~ −0.4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5303520" y="5619750"/>
            <a:ext cx="588264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5398770" y="5619750"/>
            <a:ext cx="569214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중간 음의 상관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11224260" y="5619750"/>
            <a:ext cx="592074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11319510" y="5619750"/>
            <a:ext cx="573024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오른쪽 아래 넓은 띠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1143000" y="6343650"/>
            <a:ext cx="4122420" cy="647700"/>
          </a:xfrm>
          <a:prstGeom prst="roundRect">
            <a:avLst>
              <a:gd name="adj" fmla="val 5882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1238250" y="6343650"/>
            <a:ext cx="393192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−1.0 ~ −0.7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5303520" y="6343650"/>
            <a:ext cx="588264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5398770" y="6343650"/>
            <a:ext cx="569214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강한 음의 상관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11224260" y="6343650"/>
            <a:ext cx="592074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11319510" y="6343650"/>
            <a:ext cx="573024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오른쪽 아래 좁은 띠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143000" y="76200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75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경계는 교과서마다 조금씩 다르다 — 숫자 하나로 판정하지 말고 산점도를 함께 본다</a:t>
            </a:r>
          </a:p>
        </p:txBody>
      </p:sp>
      <p:sp>
        <p:nvSpPr>
          <p:cNvPr id="45" name="Rectangle 44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생성형 AI 활용 실무 · 4일 32H · 2일차 5교시 · 이론+실습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04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8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2. 분석 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분석 단위 — 소결 「일자×교대×설비」 248행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143000" y="2781300"/>
            <a:ext cx="4762500" cy="590550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43000" y="2781300"/>
            <a:ext cx="476250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지표</a:t>
            </a:r>
          </a:p>
        </p:txBody>
      </p:sp>
      <p:sp>
        <p:nvSpPr>
          <p:cNvPr id="10" name="Rectangle 9"/>
          <p:cNvSpPr/>
          <p:nvPr/>
        </p:nvSpPr>
        <p:spPr>
          <a:xfrm>
            <a:off x="5943600" y="2781300"/>
            <a:ext cx="6362700" cy="59055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943600" y="2781300"/>
            <a:ext cx="636270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가져올 곳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2344400" y="2781300"/>
            <a:ext cx="4800600" cy="59055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2344400" y="2781300"/>
            <a:ext cx="480060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잇는 키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143000" y="3448050"/>
            <a:ext cx="4762500" cy="647700"/>
          </a:xfrm>
          <a:prstGeom prst="roundRect">
            <a:avLst>
              <a:gd name="adj" fmla="val 5882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238250" y="3448050"/>
            <a:ext cx="45720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소결 불량률(%)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943600" y="3448050"/>
            <a:ext cx="63627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038850" y="3448050"/>
            <a:ext cx="61722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02 생산일지 생산·양품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2344400" y="3448050"/>
            <a:ext cx="48006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2439650" y="3448050"/>
            <a:ext cx="46101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기준 행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143000" y="4171950"/>
            <a:ext cx="4762500" cy="647700"/>
          </a:xfrm>
          <a:prstGeom prst="roundRect">
            <a:avLst>
              <a:gd name="adj" fmla="val 5882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238250" y="4171950"/>
            <a:ext cx="45720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소결 비가동(분)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943600" y="4171950"/>
            <a:ext cx="63627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038850" y="4171950"/>
            <a:ext cx="61722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02 생산일지 비가동_분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2344400" y="4171950"/>
            <a:ext cx="48006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2439650" y="4171950"/>
            <a:ext cx="46101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같은 행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1143000" y="4895850"/>
            <a:ext cx="4762500" cy="647700"/>
          </a:xfrm>
          <a:prstGeom prst="roundRect">
            <a:avLst>
              <a:gd name="adj" fmla="val 5882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238250" y="4895850"/>
            <a:ext cx="45720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소결 온도편차(°C)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943600" y="4895850"/>
            <a:ext cx="63627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038850" y="4895850"/>
            <a:ext cx="61722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04 불량 기록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12344400" y="4895850"/>
            <a:ext cx="48006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2439650" y="4895850"/>
            <a:ext cx="46101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일자+교대+설비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1143000" y="5619750"/>
            <a:ext cx="4762500" cy="647700"/>
          </a:xfrm>
          <a:prstGeom prst="roundRect">
            <a:avLst>
              <a:gd name="adj" fmla="val 5882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238250" y="5619750"/>
            <a:ext cx="45720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성형실 습도(%)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5943600" y="5619750"/>
            <a:ext cx="63627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038850" y="5619750"/>
            <a:ext cx="61722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04 불량 기록(성형 행)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12344400" y="5619750"/>
            <a:ext cx="48006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12439650" y="5619750"/>
            <a:ext cx="46101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일자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143000" y="76200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75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불량 기록은 유형마다 행이 나뉜다 — 같은 키의 온도편차는 같은 값이라 AVERAGEIFS 로 가져온다</a:t>
            </a:r>
          </a:p>
        </p:txBody>
      </p:sp>
      <p:sp>
        <p:nvSpPr>
          <p:cNvPr id="39" name="Rectangle 38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생성형 AI 활용 실무 · 4일 32H · 2일차 5교시 · 이론+실습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05</a:t>
            </a: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8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실습 흐름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다섯 단계 — 표 만들기부터 해석까지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43000" y="3067050"/>
            <a:ext cx="16002000" cy="4381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50" b="1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02 생산일지에서 소결 행만 걸러 SF 시트를 만들고 시작합니다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143000" y="3924300"/>
            <a:ext cx="2895600" cy="3143250"/>
          </a:xfrm>
          <a:prstGeom prst="roundRect">
            <a:avLst>
              <a:gd name="adj" fmla="val 1644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1143000" y="3924300"/>
            <a:ext cx="2895600" cy="914400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143000" y="4171950"/>
            <a:ext cx="28956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1. 분석 표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52550" y="5143500"/>
            <a:ext cx="24765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SF 시트</a:t>
            </a:r>
          </a:p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키로 잇기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419600" y="3924300"/>
            <a:ext cx="2895600" cy="3143250"/>
          </a:xfrm>
          <a:prstGeom prst="roundRect">
            <a:avLst>
              <a:gd name="adj" fmla="val 1644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419600" y="3924300"/>
            <a:ext cx="2895600" cy="91440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419600" y="4171950"/>
            <a:ext cx="28956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2. 산점도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629150" y="5143500"/>
            <a:ext cx="24765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분산형 차트</a:t>
            </a:r>
          </a:p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추세선·R²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696200" y="3924300"/>
            <a:ext cx="2895600" cy="3143250"/>
          </a:xfrm>
          <a:prstGeom prst="roundRect">
            <a:avLst>
              <a:gd name="adj" fmla="val 1644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696200" y="3924300"/>
            <a:ext cx="2895600" cy="914400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96200" y="4171950"/>
            <a:ext cx="28956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3. AI 상관 행렬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905750" y="5143500"/>
            <a:ext cx="24765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파일 올려</a:t>
            </a:r>
          </a:p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n 과 함께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10972800" y="3924300"/>
            <a:ext cx="2895600" cy="3143250"/>
          </a:xfrm>
          <a:prstGeom prst="roundRect">
            <a:avLst>
              <a:gd name="adj" fmla="val 1644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10972800" y="3924300"/>
            <a:ext cx="2895600" cy="91440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0972800" y="4171950"/>
            <a:ext cx="28956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4. Excel 검증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182350" y="5143500"/>
            <a:ext cx="24765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CORREL</a:t>
            </a:r>
          </a:p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두 쌍 이상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14249400" y="3924300"/>
            <a:ext cx="2895600" cy="3143250"/>
          </a:xfrm>
          <a:prstGeom prst="roundRect">
            <a:avLst>
              <a:gd name="adj" fmla="val 1644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14249400" y="3924300"/>
            <a:ext cx="2895600" cy="914400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4249400" y="4171950"/>
            <a:ext cx="28956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5. 해석 문장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4458950" y="5143500"/>
            <a:ext cx="24765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~할수록</a:t>
            </a:r>
          </a:p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~한 경향</a:t>
            </a:r>
          </a:p>
        </p:txBody>
      </p:sp>
      <p:sp>
        <p:nvSpPr>
          <p:cNvPr id="29" name="Rectangle 28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생성형 AI 활용 실무 · 4일 32H · 2일차 5교시 · 이론+실습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06</a:t>
            </a:r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8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4단계 · 검증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Excel CORREL 로 맞춰 볼 값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143000" y="2781300"/>
            <a:ext cx="6682740" cy="590550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43000" y="2781300"/>
            <a:ext cx="668274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지표 쌍</a:t>
            </a:r>
          </a:p>
        </p:txBody>
      </p:sp>
      <p:sp>
        <p:nvSpPr>
          <p:cNvPr id="10" name="Rectangle 9"/>
          <p:cNvSpPr/>
          <p:nvPr/>
        </p:nvSpPr>
        <p:spPr>
          <a:xfrm>
            <a:off x="7863840" y="2781300"/>
            <a:ext cx="2202180" cy="59055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863840" y="2781300"/>
            <a:ext cx="220218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r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0104120" y="2781300"/>
            <a:ext cx="7040880" cy="59055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104120" y="2781300"/>
            <a:ext cx="704088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읽는 법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143000" y="3448050"/>
            <a:ext cx="6682740" cy="647700"/>
          </a:xfrm>
          <a:prstGeom prst="roundRect">
            <a:avLst>
              <a:gd name="adj" fmla="val 5882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238250" y="3448050"/>
            <a:ext cx="649224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온도편차 ↔ 소결 불량률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863840" y="3448050"/>
            <a:ext cx="220218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959090" y="3448050"/>
            <a:ext cx="201168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0.95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0104120" y="3448050"/>
            <a:ext cx="704088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199370" y="3448050"/>
            <a:ext cx="685038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매우 강한 양의 상관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143000" y="4171950"/>
            <a:ext cx="6682740" cy="647700"/>
          </a:xfrm>
          <a:prstGeom prst="roundRect">
            <a:avLst>
              <a:gd name="adj" fmla="val 5882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238250" y="4171950"/>
            <a:ext cx="649224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비가동 ↔ 소결 불량률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863840" y="4171950"/>
            <a:ext cx="220218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959090" y="4171950"/>
            <a:ext cx="201168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0.71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0104120" y="4171950"/>
            <a:ext cx="704088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199370" y="4171950"/>
            <a:ext cx="685038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강한 양의 상관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1143000" y="4895850"/>
            <a:ext cx="6682740" cy="647700"/>
          </a:xfrm>
          <a:prstGeom prst="roundRect">
            <a:avLst>
              <a:gd name="adj" fmla="val 5882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238250" y="4895850"/>
            <a:ext cx="649224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온도편차 ↔ 비가동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7863840" y="4895850"/>
            <a:ext cx="220218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959090" y="4895850"/>
            <a:ext cx="201168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0.67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10104120" y="4895850"/>
            <a:ext cx="704088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0199370" y="4895850"/>
            <a:ext cx="685038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중간~강한 양의 상관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1143000" y="5619750"/>
            <a:ext cx="6682740" cy="647700"/>
          </a:xfrm>
          <a:prstGeom prst="roundRect">
            <a:avLst>
              <a:gd name="adj" fmla="val 5882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238250" y="5619750"/>
            <a:ext cx="649224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성형실 습도 ↔ 성형 불량률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7863840" y="5619750"/>
            <a:ext cx="220218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7959090" y="5619750"/>
            <a:ext cx="201168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0.80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10104120" y="5619750"/>
            <a:ext cx="704088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10199370" y="5619750"/>
            <a:ext cx="685038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강한 양의 상관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143000" y="76200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75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AI 값과 다르면 먼저 행 수(n)와 열 이름을 대조한다</a:t>
            </a:r>
          </a:p>
        </p:txBody>
      </p:sp>
      <p:sp>
        <p:nvSpPr>
          <p:cNvPr id="39" name="Rectangle 38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생성형 AI 활용 실무 · 4일 32H · 2일차 5교시 · 이론+실습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07</a:t>
            </a:r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8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5단계 · 해석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생산 지표와 품질 지표가 같은 교대에서 함께 나빠진다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2933700"/>
            <a:ext cx="11430000" cy="1095375"/>
          </a:xfrm>
          <a:prstGeom prst="roundRect">
            <a:avLst>
              <a:gd name="adj" fmla="val 4347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447800" y="3181350"/>
            <a:ext cx="590550" cy="59055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447800" y="3333750"/>
            <a:ext cx="59055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324100" y="3143250"/>
            <a:ext cx="990600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4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온도편차가 큰 교대에서 불량률이 높다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324100" y="3543300"/>
            <a:ext cx="9906000" cy="3619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r = 0.95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143000" y="4200525"/>
            <a:ext cx="11430000" cy="1095375"/>
          </a:xfrm>
          <a:prstGeom prst="roundRect">
            <a:avLst>
              <a:gd name="adj" fmla="val 4347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1447800" y="4448175"/>
            <a:ext cx="590550" cy="59055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447800" y="4600575"/>
            <a:ext cx="59055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324100" y="4410075"/>
            <a:ext cx="990600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4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같은 교대에서 비가동도 길다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324100" y="4810125"/>
            <a:ext cx="9906000" cy="3619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r = 0.67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143000" y="5467350"/>
            <a:ext cx="11430000" cy="1095375"/>
          </a:xfrm>
          <a:prstGeom prst="roundRect">
            <a:avLst>
              <a:gd name="adj" fmla="val 4347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447800" y="5715000"/>
            <a:ext cx="590550" cy="59055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447800" y="5867400"/>
            <a:ext cx="59055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324100" y="5676900"/>
            <a:ext cx="990600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4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오래 멈춘 교대일수록 불량률도 높다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24100" y="6076950"/>
            <a:ext cx="9906000" cy="3619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r = 0.71 — OEE 의 가동률·양품률이 함께 떨어지는 이유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13144500" y="2933700"/>
            <a:ext cx="4000500" cy="3629025"/>
          </a:xfrm>
          <a:prstGeom prst="roundRect">
            <a:avLst>
              <a:gd name="adj" fmla="val 1312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3487400" y="3929062"/>
            <a:ext cx="33147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 spc="19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아직 말하지 않는 것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3487400" y="4329112"/>
            <a:ext cx="3314700" cy="1238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8000"/>
              </a:lnSpc>
            </a:pPr>
            <a:r>
              <a:rPr sz="27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「때문이다」</a:t>
            </a:r>
          </a:p>
          <a:p>
            <a:pPr algn="l">
              <a:lnSpc>
                <a:spcPct val="138000"/>
              </a:lnSpc>
            </a:pPr>
            <a:r>
              <a:rPr sz="27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원인은 다음 단계</a:t>
            </a:r>
          </a:p>
        </p:txBody>
      </p:sp>
      <p:sp>
        <p:nvSpPr>
          <p:cNvPr id="26" name="Rectangle 25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생성형 AI 활용 실무 · 4일 32H · 2일차 5교시 · 이론+실습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08</a:t>
            </a:r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8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자주 틀리는 지점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여기서 자주 막힙니다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3352800"/>
            <a:ext cx="16002000" cy="914400"/>
          </a:xfrm>
          <a:prstGeom prst="roundRect">
            <a:avLst>
              <a:gd name="adj" fmla="val 5208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143000" y="3352800"/>
            <a:ext cx="47625" cy="91440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428750" y="3600450"/>
            <a:ext cx="419100" cy="41910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428750" y="3667125"/>
            <a:ext cx="4191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8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057400" y="3448050"/>
            <a:ext cx="14763750" cy="7239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20000"/>
              </a:lnSpc>
            </a:pPr>
            <a:r>
              <a:rPr sz="21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#DIV/0!</a:t>
            </a:r>
          </a:p>
          <a:p>
            <a:pPr>
              <a:lnSpc>
                <a:spcPct val="130000"/>
              </a:lnSpc>
              <a:spcBef>
                <a:spcPts val="300"/>
              </a:spcBef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두 파일의 일자 형식이 다르다 — 글자와 날짜 값을 맞춘다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143000" y="4400550"/>
            <a:ext cx="16002000" cy="914400"/>
          </a:xfrm>
          <a:prstGeom prst="roundRect">
            <a:avLst>
              <a:gd name="adj" fmla="val 5208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1143000" y="4400550"/>
            <a:ext cx="47625" cy="91440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1428750" y="4648200"/>
            <a:ext cx="419100" cy="41910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428750" y="4714875"/>
            <a:ext cx="4191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8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057400" y="4495800"/>
            <a:ext cx="14763750" cy="7239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20000"/>
              </a:lnSpc>
            </a:pPr>
            <a:r>
              <a:rPr sz="21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AI 와 r 이 다르다</a:t>
            </a:r>
          </a:p>
          <a:p>
            <a:pPr>
              <a:lnSpc>
                <a:spcPct val="130000"/>
              </a:lnSpc>
              <a:spcBef>
                <a:spcPts val="300"/>
              </a:spcBef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n 부터 비교 — 머리글·빈 행·다른 열이 섞였는지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143000" y="5448300"/>
            <a:ext cx="16002000" cy="914400"/>
          </a:xfrm>
          <a:prstGeom prst="roundRect">
            <a:avLst>
              <a:gd name="adj" fmla="val 5208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1143000" y="5448300"/>
            <a:ext cx="47625" cy="91440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1428750" y="5695950"/>
            <a:ext cx="419100" cy="41910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428750" y="5762625"/>
            <a:ext cx="4191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8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057400" y="5543550"/>
            <a:ext cx="14763750" cy="7239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20000"/>
              </a:lnSpc>
            </a:pPr>
            <a:r>
              <a:rPr sz="21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축이 바뀌었다</a:t>
            </a:r>
          </a:p>
          <a:p>
            <a:pPr>
              <a:lnSpc>
                <a:spcPct val="130000"/>
              </a:lnSpc>
              <a:spcBef>
                <a:spcPts val="300"/>
              </a:spcBef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먼저 선택한 열이 가로축 — 온도편차를 먼저 고른다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1143000" y="6496050"/>
            <a:ext cx="16002000" cy="914400"/>
          </a:xfrm>
          <a:prstGeom prst="roundRect">
            <a:avLst>
              <a:gd name="adj" fmla="val 5208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1143000" y="6496050"/>
            <a:ext cx="47625" cy="91440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1428750" y="6743700"/>
            <a:ext cx="419100" cy="41910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428750" y="6810375"/>
            <a:ext cx="4191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8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057400" y="6591300"/>
            <a:ext cx="14763750" cy="7239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20000"/>
              </a:lnSpc>
            </a:pPr>
            <a:r>
              <a:rPr sz="21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회사 데이터 업로드</a:t>
            </a:r>
          </a:p>
          <a:p>
            <a:pPr>
              <a:lnSpc>
                <a:spcPct val="130000"/>
              </a:lnSpc>
              <a:spcBef>
                <a:spcPts val="300"/>
              </a:spcBef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실제 데이터는 올리지 않는다 — 보안정책 확인, 비식별화</a:t>
            </a:r>
          </a:p>
        </p:txBody>
      </p:sp>
      <p:sp>
        <p:nvSpPr>
          <p:cNvPr id="28" name="Rectangle 27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생성형 AI 활용 실무 · 4일 32H · 2일차 5교시 · 이론+실습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09</a:t>
            </a:r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8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확인 포인트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이것이 되면 끝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348615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390650" y="3629025"/>
            <a:ext cx="533400" cy="53340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390650" y="375285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190750" y="348615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SF 시트 248행, 온도편차·습도 열에 #DIV/0! 없음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143000" y="447675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1390650" y="4619625"/>
            <a:ext cx="533400" cy="53340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390650" y="474345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190750" y="447675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산점도에 축 제목·추세선·R² 가 보인다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143000" y="546735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1390650" y="5610225"/>
            <a:ext cx="533400" cy="53340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390650" y="573405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190750" y="546735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AI 의 n = 248, 온도편차 ↔ 불량률 r = 0.95 일치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143000" y="645795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1390650" y="6600825"/>
            <a:ext cx="533400" cy="53340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390650" y="672465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190750" y="645795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해석은 「~할수록 ~한 경향」에서 멈췄다</a:t>
            </a:r>
          </a:p>
        </p:txBody>
      </p:sp>
      <p:sp>
        <p:nvSpPr>
          <p:cNvPr id="24" name="Rectangle 23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생성형 AI 활용 실무 · 4일 32H · 2일차 5교시 · 이론+실습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10</a:t>
            </a:r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8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무료 계정이면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상관 행렬은 Excel, 해석은 AI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43000" y="2857500"/>
            <a:ext cx="7372350" cy="533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15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파일 분석 가능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" y="3467100"/>
            <a:ext cx="7372350" cy="876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6000"/>
              </a:lnSpc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SF 시트를 올려 상관 행렬 요청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143000" y="4610100"/>
            <a:ext cx="7372350" cy="2857500"/>
          </a:xfrm>
          <a:prstGeom prst="roundRect">
            <a:avLst>
              <a:gd name="adj" fmla="val 166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447800" y="5016817"/>
            <a:ext cx="97155" cy="97155"/>
          </a:xfrm>
          <a:prstGeom prst="ellipse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633538" y="4838700"/>
            <a:ext cx="6634162" cy="45339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AI 가 r 계산·산점도</a:t>
            </a:r>
          </a:p>
        </p:txBody>
      </p:sp>
      <p:sp>
        <p:nvSpPr>
          <p:cNvPr id="13" name="Oval 12"/>
          <p:cNvSpPr/>
          <p:nvPr/>
        </p:nvSpPr>
        <p:spPr>
          <a:xfrm>
            <a:off x="1447800" y="5527358"/>
            <a:ext cx="97155" cy="97155"/>
          </a:xfrm>
          <a:prstGeom prst="ellipse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633538" y="5349240"/>
            <a:ext cx="6634162" cy="45339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CORREL 두 쌍으로 검증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772650" y="2857500"/>
            <a:ext cx="7372350" cy="533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15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무료 계정 · 한도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772650" y="3467100"/>
            <a:ext cx="7372350" cy="876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6000"/>
              </a:lnSpc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CORREL 행렬 4×4 를 붙여 해석만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9772650" y="4610100"/>
            <a:ext cx="7372350" cy="2857500"/>
          </a:xfrm>
          <a:prstGeom prst="roundRect">
            <a:avLst>
              <a:gd name="adj" fmla="val 166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10077450" y="5016817"/>
            <a:ext cx="97155" cy="97155"/>
          </a:xfrm>
          <a:prstGeom prst="ellipse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263188" y="4838700"/>
            <a:ext cx="6634162" cy="45339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4단계 CORREL 을 먼저</a:t>
            </a:r>
          </a:p>
        </p:txBody>
      </p:sp>
      <p:sp>
        <p:nvSpPr>
          <p:cNvPr id="20" name="Oval 19"/>
          <p:cNvSpPr/>
          <p:nvPr/>
        </p:nvSpPr>
        <p:spPr>
          <a:xfrm>
            <a:off x="10077450" y="5527358"/>
            <a:ext cx="97155" cy="97155"/>
          </a:xfrm>
          <a:prstGeom prst="ellipse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0263188" y="5349240"/>
            <a:ext cx="6634162" cy="45339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막히면 paste_pack 의 SF_248</a:t>
            </a:r>
          </a:p>
        </p:txBody>
      </p:sp>
      <p:sp>
        <p:nvSpPr>
          <p:cNvPr id="22" name="Oval 21"/>
          <p:cNvSpPr/>
          <p:nvPr/>
        </p:nvSpPr>
        <p:spPr>
          <a:xfrm>
            <a:off x="10077450" y="6037898"/>
            <a:ext cx="97155" cy="97155"/>
          </a:xfrm>
          <a:prstGeom prst="ellipse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0263188" y="5859780"/>
            <a:ext cx="6634162" cy="45339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「무료 계정이면」 프롬프트로 해석</a:t>
            </a:r>
          </a:p>
        </p:txBody>
      </p:sp>
      <p:sp>
        <p:nvSpPr>
          <p:cNvPr id="24" name="Oval 23"/>
          <p:cNvSpPr/>
          <p:nvPr/>
        </p:nvSpPr>
        <p:spPr>
          <a:xfrm>
            <a:off x="8686800" y="3771900"/>
            <a:ext cx="914400" cy="91440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686800" y="4057650"/>
            <a:ext cx="9144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VS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생성형 AI 활용 실무 · 4일 32H · 2일차 5교시 · 이론+실습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11</a:t>
            </a:r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4859000" y="6667500"/>
            <a:ext cx="5905500" cy="5905500"/>
          </a:xfrm>
          <a:prstGeom prst="ellipse">
            <a:avLst/>
          </a:prstGeom>
          <a:solidFill>
            <a:srgbClr val="F2F8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2095500" y="-2095500"/>
            <a:ext cx="4381500" cy="4381500"/>
          </a:xfrm>
          <a:prstGeom prst="ellipse">
            <a:avLst/>
          </a:prstGeom>
          <a:solidFill>
            <a:srgbClr val="F5F6F7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43000" y="2857500"/>
            <a:ext cx="16002000" cy="285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3352800"/>
            <a:ext cx="85725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2일차 5교시 · 이론+실습 마무리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3771900"/>
            <a:ext cx="16002000" cy="800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다음은 상관 해석의 함정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43000" y="4724400"/>
            <a:ext cx="16002000" cy="4381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4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약한 상관 하나를 설비별로 쪼개 보며, 섞여서 생긴 가짜 상관을 직접 확인합니다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143000" y="5257800"/>
            <a:ext cx="7772400" cy="819150"/>
          </a:xfrm>
          <a:prstGeom prst="roundRect">
            <a:avLst>
              <a:gd name="adj" fmla="val 697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428750" y="5486400"/>
            <a:ext cx="4191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✓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905000" y="5486400"/>
            <a:ext cx="672465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상관 ≠ 인과 — 세 가지 함정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9372600" y="5257800"/>
            <a:ext cx="7772400" cy="819150"/>
          </a:xfrm>
          <a:prstGeom prst="roundRect">
            <a:avLst>
              <a:gd name="adj" fmla="val 697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658350" y="5486400"/>
            <a:ext cx="4191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✓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134600" y="5486400"/>
            <a:ext cx="672465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층별 분석으로 r 다시 구하기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143000" y="6286500"/>
            <a:ext cx="7772400" cy="819150"/>
          </a:xfrm>
          <a:prstGeom prst="roundRect">
            <a:avLst>
              <a:gd name="adj" fmla="val 697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428750" y="6515100"/>
            <a:ext cx="4191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✓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905000" y="6515100"/>
            <a:ext cx="672465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시기가 겹친 가짜 상관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9372600" y="6286500"/>
            <a:ext cx="7772400" cy="819150"/>
          </a:xfrm>
          <a:prstGeom prst="roundRect">
            <a:avLst>
              <a:gd name="adj" fmla="val 697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658350" y="6515100"/>
            <a:ext cx="4191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✓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134600" y="6515100"/>
            <a:ext cx="672465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AI 의 원인 단정 반박하기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143000" y="7715250"/>
            <a:ext cx="47625" cy="81915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409700" y="7734300"/>
            <a:ext cx="85725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 spc="14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가져올 것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09700" y="8077200"/>
            <a:ext cx="857250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SF 시트와 해석 문장 세 개</a:t>
            </a:r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4192250" y="-2381250"/>
            <a:ext cx="7429500" cy="7429500"/>
          </a:xfrm>
          <a:prstGeom prst="ellipse">
            <a:avLst/>
          </a:prstGeom>
          <a:solidFill>
            <a:srgbClr val="F0F7F7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5430500" y="-1143000"/>
            <a:ext cx="4953000" cy="49530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15906750" y="5905500"/>
            <a:ext cx="4953000" cy="4953000"/>
          </a:xfrm>
          <a:prstGeom prst="ellipse">
            <a:avLst/>
          </a:prstGeom>
          <a:solidFill>
            <a:srgbClr val="F5F6F7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-1714500" y="2857500"/>
            <a:ext cx="2857500" cy="28575"/>
          </a:xfrm>
          <a:prstGeom prst="rect">
            <a:avLst/>
          </a:prstGeom>
          <a:solidFill>
            <a:srgbClr val="E6EAED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-2857500" y="6953250"/>
            <a:ext cx="6953250" cy="6953250"/>
          </a:xfrm>
          <a:prstGeom prst="ellipse">
            <a:avLst/>
          </a:prstGeom>
          <a:solidFill>
            <a:srgbClr val="ECF5F5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-1581150" y="8229600"/>
            <a:ext cx="4400550" cy="440055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3390900" y="8953500"/>
            <a:ext cx="742950" cy="742950"/>
          </a:xfrm>
          <a:prstGeom prst="ellipse">
            <a:avLst/>
          </a:prstGeom>
          <a:solidFill>
            <a:srgbClr val="EBEEF0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4457700" y="9563100"/>
            <a:ext cx="342900" cy="342900"/>
          </a:xfrm>
          <a:prstGeom prst="ellipse">
            <a:avLst/>
          </a:prstGeom>
          <a:solidFill>
            <a:srgbClr val="DFEDE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1143000" y="9639300"/>
            <a:ext cx="1619250" cy="28575"/>
          </a:xfrm>
          <a:prstGeom prst="rect">
            <a:avLst/>
          </a:prstGeom>
          <a:solidFill>
            <a:srgbClr val="E6EAED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1143000" y="2857500"/>
            <a:ext cx="16002000" cy="285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43000" y="3486150"/>
            <a:ext cx="85725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 spc="12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2일차 6교시 · 통합 KPI 분석과 문제 공정 선정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43000" y="3905250"/>
            <a:ext cx="16002000" cy="19187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6300" b="1" spc="-235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상관 해석의 함정</a:t>
            </a:r>
          </a:p>
          <a:p>
            <a:pPr algn="l">
              <a:lnSpc>
                <a:spcPct val="105000"/>
              </a:lnSpc>
            </a:pPr>
            <a:r>
              <a:rPr sz="6300" b="1" spc="-235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층별 분석과 가짜 상관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43000" y="6033516"/>
            <a:ext cx="16002000" cy="571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300" b="1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상관이 있다고 원인은 아니다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572500" y="7677150"/>
            <a:ext cx="8572500" cy="857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50000"/>
              </a:lnSpc>
            </a:pPr>
            <a:r>
              <a:rPr sz="1950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생산안전본부 및 품질환경단 직무훈련</a:t>
            </a:r>
          </a:p>
          <a:p>
            <a:pPr algn="r">
              <a:lnSpc>
                <a:spcPct val="150000"/>
              </a:lnSpc>
            </a:pPr>
            <a:r>
              <a:rPr sz="1950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생성형 AI 활용 실무 · 2026. 10. 12.~15.</a:t>
            </a:r>
          </a:p>
        </p:txBody>
      </p:sp>
    </p:spTree>
  </p:cSld>
  <p:clrMapOvr>
    <a:masterClrMapping/>
  </p:clrMapOvr>
</p:sld>
</file>

<file path=ppt/slides/slide6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8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이 시간의 목표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50분 뒤에는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339090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390650" y="3533775"/>
            <a:ext cx="533400" cy="53340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390650" y="365760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①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190750" y="339090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상관이 원인이 아닌 세 경우를 예로 설명한다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143000" y="438150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1390650" y="4524375"/>
            <a:ext cx="533400" cy="53340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390650" y="464820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②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190750" y="438150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설비·시기로 쪼개는 층별 분석으로 r 을 다시 구한다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143000" y="537210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1390650" y="5514975"/>
            <a:ext cx="533400" cy="53340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390650" y="563880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③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190750" y="537210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AI 의 원인 단정에 대안 설명과 확인 방법을 요구한다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143000" y="6953250"/>
            <a:ext cx="16002000" cy="876300"/>
          </a:xfrm>
          <a:prstGeom prst="roundRect">
            <a:avLst>
              <a:gd name="adj" fmla="val 5434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143000" y="7200900"/>
            <a:ext cx="16002000" cy="4381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성형실 습도 ↔ 소결 불량률 r = 0.21 이 진짜인지 데이터로 판정합니다</a:t>
            </a:r>
          </a:p>
        </p:txBody>
      </p:sp>
      <p:sp>
        <p:nvSpPr>
          <p:cNvPr id="22" name="Rectangle 21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생성형 AI 활용 실무 · 4일 32H · 2일차 6교시 · 실습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02</a:t>
            </a:r>
          </a:p>
        </p:txBody>
      </p:sp>
    </p:spTree>
  </p:cSld>
  <p:clrMapOvr>
    <a:masterClrMapping/>
  </p:clrMapOvr>
</p:sld>
</file>

<file path=ppt/slides/slide6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8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1. 세 가지 함정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상관이 있는데 원인이 아닌 경우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3429000"/>
            <a:ext cx="5080000" cy="2476500"/>
          </a:xfrm>
          <a:prstGeom prst="roundRect">
            <a:avLst>
              <a:gd name="adj" fmla="val 192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143000" y="3429000"/>
            <a:ext cx="5080000" cy="47625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365750" y="3638550"/>
            <a:ext cx="59055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2550" b="1">
                <a:solidFill>
                  <a:srgbClr val="E4EBF4"/>
                </a:solidFill>
                <a:latin typeface="Pretendard"/>
                <a:ea typeface="Pretendard"/>
                <a:cs typeface="Pretendard"/>
              </a:rPr>
              <a:t>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466850" y="3752850"/>
            <a:ext cx="4432300" cy="1828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15000"/>
              </a:lnSpc>
            </a:pPr>
            <a:r>
              <a:rPr sz="315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우연</a:t>
            </a:r>
          </a:p>
          <a:p>
            <a:pPr>
              <a:lnSpc>
                <a:spcPct val="146000"/>
              </a:lnSpc>
              <a:spcBef>
                <a:spcPts val="1050"/>
              </a:spcBef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행이 적거나 기간이 짧아</a:t>
            </a:r>
          </a:p>
          <a:p>
            <a:pPr>
              <a:lnSpc>
                <a:spcPct val="146000"/>
              </a:lnSpc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우연히 함께 움직임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604000" y="3429000"/>
            <a:ext cx="5080000" cy="2476500"/>
          </a:xfrm>
          <a:prstGeom prst="roundRect">
            <a:avLst>
              <a:gd name="adj" fmla="val 192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604000" y="3429000"/>
            <a:ext cx="5080000" cy="47625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826750" y="3638550"/>
            <a:ext cx="59055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2550" b="1">
                <a:solidFill>
                  <a:srgbClr val="E4EBF4"/>
                </a:solidFill>
                <a:latin typeface="Pretendard"/>
                <a:ea typeface="Pretendard"/>
                <a:cs typeface="Pretendard"/>
              </a:rPr>
              <a:t>02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927850" y="3752850"/>
            <a:ext cx="4432300" cy="1828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15000"/>
              </a:lnSpc>
            </a:pPr>
            <a:r>
              <a:rPr sz="315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거꾸로 된 방향</a:t>
            </a:r>
          </a:p>
          <a:p>
            <a:pPr>
              <a:lnSpc>
                <a:spcPct val="146000"/>
              </a:lnSpc>
              <a:spcBef>
                <a:spcPts val="1050"/>
              </a:spcBef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불량이 많아 재작업하느라</a:t>
            </a:r>
          </a:p>
          <a:p>
            <a:pPr>
              <a:lnSpc>
                <a:spcPct val="146000"/>
              </a:lnSpc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비가동이 늘어남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2065000" y="3429000"/>
            <a:ext cx="5080000" cy="2476500"/>
          </a:xfrm>
          <a:prstGeom prst="roundRect">
            <a:avLst>
              <a:gd name="adj" fmla="val 1923"/>
            </a:avLst>
          </a:prstGeom>
          <a:solidFill>
            <a:srgbClr val="0E2F4F"/>
          </a:solidFill>
          <a:ln w="9525">
            <a:solidFill>
              <a:srgbClr val="0E2F4F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12065000" y="3429000"/>
            <a:ext cx="5080000" cy="47625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6287750" y="3638550"/>
            <a:ext cx="59055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2550" b="1">
                <a:solidFill>
                  <a:srgbClr val="3B4B7C"/>
                </a:solidFill>
                <a:latin typeface="Pretendard"/>
                <a:ea typeface="Pretendard"/>
                <a:cs typeface="Pretendard"/>
              </a:rPr>
              <a:t>03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2388850" y="3752850"/>
            <a:ext cx="4432300" cy="1828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15000"/>
              </a:lnSpc>
            </a:pPr>
            <a:r>
              <a:rPr sz="31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교란변수</a:t>
            </a:r>
          </a:p>
          <a:p>
            <a:pPr>
              <a:lnSpc>
                <a:spcPct val="146000"/>
              </a:lnSpc>
              <a:spcBef>
                <a:spcPts val="1050"/>
              </a:spcBef>
            </a:pPr>
            <a:r>
              <a:rPr sz="2250" b="0">
                <a:solidFill>
                  <a:srgbClr val="D9E2F0"/>
                </a:solidFill>
                <a:latin typeface="Pretendard"/>
                <a:ea typeface="Pretendard"/>
                <a:cs typeface="Pretendard"/>
              </a:rPr>
              <a:t>제3의 요인이 둘을 함께 움직임</a:t>
            </a:r>
          </a:p>
          <a:p>
            <a:pPr>
              <a:lnSpc>
                <a:spcPct val="146000"/>
              </a:lnSpc>
            </a:pPr>
            <a:r>
              <a:rPr sz="2250" b="0">
                <a:solidFill>
                  <a:srgbClr val="D9E2F0"/>
                </a:solidFill>
                <a:latin typeface="Pretendard"/>
                <a:ea typeface="Pretendard"/>
                <a:cs typeface="Pretendard"/>
              </a:rPr>
              <a:t>더위 → 아이스크림·물놀이 사고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143000" y="6496050"/>
            <a:ext cx="47625" cy="72390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390650" y="6553200"/>
            <a:ext cx="1575435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2025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층별 분석 — 나눠도 남으면 진짜일 가능성, 나누자 사라지면 가짜일 가능성</a:t>
            </a:r>
          </a:p>
        </p:txBody>
      </p:sp>
      <p:sp>
        <p:nvSpPr>
          <p:cNvPr id="22" name="Rectangle 21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생성형 AI 활용 실무 · 4일 32H · 2일차 6교시 · 실습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03</a:t>
            </a:r>
          </a:p>
        </p:txBody>
      </p:sp>
    </p:spTree>
  </p:cSld>
  <p:clrMapOvr>
    <a:masterClrMapping/>
  </p:clrMapOvr>
</p:sld>
</file>

<file path=ppt/slides/slide6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8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실습 흐름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다섯 단계 — 의심하고, 쪼개고, 반박한다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43000" y="3067050"/>
            <a:ext cx="16002000" cy="4381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50" b="1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지난 시간에 만든 SF 시트를 그대로 씁니다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143000" y="3924300"/>
            <a:ext cx="2895600" cy="3143250"/>
          </a:xfrm>
          <a:prstGeom prst="roundRect">
            <a:avLst>
              <a:gd name="adj" fmla="val 1644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1143000" y="3924300"/>
            <a:ext cx="2895600" cy="914400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143000" y="4171950"/>
            <a:ext cx="28956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1. 일부러 질문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52550" y="5143500"/>
            <a:ext cx="24765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AI 에게</a:t>
            </a:r>
          </a:p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원인 묻기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419600" y="3924300"/>
            <a:ext cx="2895600" cy="3143250"/>
          </a:xfrm>
          <a:prstGeom prst="roundRect">
            <a:avLst>
              <a:gd name="adj" fmla="val 1644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419600" y="3924300"/>
            <a:ext cx="2895600" cy="91440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419600" y="4171950"/>
            <a:ext cx="28956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2. 설비별 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629150" y="5143500"/>
            <a:ext cx="24765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정렬 후</a:t>
            </a:r>
          </a:p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CORREL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696200" y="3924300"/>
            <a:ext cx="2895600" cy="3143250"/>
          </a:xfrm>
          <a:prstGeom prst="roundRect">
            <a:avLst>
              <a:gd name="adj" fmla="val 1644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696200" y="3924300"/>
            <a:ext cx="2895600" cy="914400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96200" y="4171950"/>
            <a:ext cx="28956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3. 시기 겹침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905750" y="5143500"/>
            <a:ext cx="24765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7월·8월</a:t>
            </a:r>
          </a:p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나란히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10972800" y="3924300"/>
            <a:ext cx="2895600" cy="3143250"/>
          </a:xfrm>
          <a:prstGeom prst="roundRect">
            <a:avLst>
              <a:gd name="adj" fmla="val 1644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10972800" y="3924300"/>
            <a:ext cx="2895600" cy="91440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0972800" y="4171950"/>
            <a:ext cx="28956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4. 평균의 함정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182350" y="5143500"/>
            <a:ext cx="24765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공정 →</a:t>
            </a:r>
          </a:p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설비로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14249400" y="3924300"/>
            <a:ext cx="2895600" cy="3143250"/>
          </a:xfrm>
          <a:prstGeom prst="roundRect">
            <a:avLst>
              <a:gd name="adj" fmla="val 1644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14249400" y="3924300"/>
            <a:ext cx="2895600" cy="914400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4249400" y="4171950"/>
            <a:ext cx="28956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5. 반박 질문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4458950" y="5143500"/>
            <a:ext cx="24765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새 증거로</a:t>
            </a:r>
          </a:p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대안 요구</a:t>
            </a:r>
          </a:p>
        </p:txBody>
      </p:sp>
      <p:sp>
        <p:nvSpPr>
          <p:cNvPr id="29" name="Rectangle 28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생성형 AI 활용 실무 · 4일 32H · 2일차 6교시 · 실습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04</a:t>
            </a:r>
          </a:p>
        </p:txBody>
      </p:sp>
    </p:spTree>
  </p:cSld>
  <p:clrMapOvr>
    <a:masterClrMapping/>
  </p:clrMapOvr>
</p:sld>
</file>

<file path=ppt/slides/slide6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8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2단계 · 설비별로 쪼개기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성형실 습도 ↔ 소결 불량률 r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143000" y="2781300"/>
            <a:ext cx="6362700" cy="590550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43000" y="2781300"/>
            <a:ext cx="636270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층(묶음)</a:t>
            </a:r>
          </a:p>
        </p:txBody>
      </p:sp>
      <p:sp>
        <p:nvSpPr>
          <p:cNvPr id="10" name="Rectangle 9"/>
          <p:cNvSpPr/>
          <p:nvPr/>
        </p:nvSpPr>
        <p:spPr>
          <a:xfrm>
            <a:off x="7543800" y="2781300"/>
            <a:ext cx="2362200" cy="59055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543800" y="2781300"/>
            <a:ext cx="236220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r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944100" y="2781300"/>
            <a:ext cx="7200900" cy="59055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944100" y="2781300"/>
            <a:ext cx="720090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읽는 법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143000" y="3448050"/>
            <a:ext cx="6362700" cy="647700"/>
          </a:xfrm>
          <a:prstGeom prst="roundRect">
            <a:avLst>
              <a:gd name="adj" fmla="val 5882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238250" y="3448050"/>
            <a:ext cx="61722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두 소결로 함께 (248행)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543800" y="3448050"/>
            <a:ext cx="23622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639050" y="3448050"/>
            <a:ext cx="21717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0.21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9944100" y="3448050"/>
            <a:ext cx="72009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039350" y="3448050"/>
            <a:ext cx="70104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약한 상관처럼 보인다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143000" y="4171950"/>
            <a:ext cx="6362700" cy="647700"/>
          </a:xfrm>
          <a:prstGeom prst="roundRect">
            <a:avLst>
              <a:gd name="adj" fmla="val 5882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238250" y="4171950"/>
            <a:ext cx="61722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SF-01 만 (124행)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543800" y="4171950"/>
            <a:ext cx="23622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639050" y="4171950"/>
            <a:ext cx="21717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0.11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9944100" y="4171950"/>
            <a:ext cx="72009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039350" y="4171950"/>
            <a:ext cx="70104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거의 없다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1143000" y="4895850"/>
            <a:ext cx="6362700" cy="647700"/>
          </a:xfrm>
          <a:prstGeom prst="roundRect">
            <a:avLst>
              <a:gd name="adj" fmla="val 5882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238250" y="4895850"/>
            <a:ext cx="61722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SF-02 만 (124행)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7543800" y="4895850"/>
            <a:ext cx="23622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639050" y="4895850"/>
            <a:ext cx="21717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0.31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9944100" y="4895850"/>
            <a:ext cx="72009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0039350" y="4895850"/>
            <a:ext cx="70104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약하게 남음 → 3단계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143000" y="76200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75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설비·일자로 정렬하면 2~125행 SF-01, 126~249행 SF-02 — 경계를 눈으로 확인</a:t>
            </a:r>
          </a:p>
        </p:txBody>
      </p:sp>
      <p:sp>
        <p:nvSpPr>
          <p:cNvPr id="33" name="Rectangle 32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생성형 AI 활용 실무 · 4일 32H · 2일차 6교시 · 실습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05</a:t>
            </a:r>
          </a:p>
        </p:txBody>
      </p:sp>
    </p:spTree>
  </p:cSld>
  <p:clrMapOvr>
    <a:masterClrMapping/>
  </p:clrMapOvr>
</p:sld>
</file>

<file path=ppt/slides/slide7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8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3단계 · 시기 겹침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둘 다 8월에 올랐다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143000" y="2781300"/>
            <a:ext cx="6362700" cy="590550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43000" y="2781300"/>
            <a:ext cx="636270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구분</a:t>
            </a:r>
          </a:p>
        </p:txBody>
      </p:sp>
      <p:sp>
        <p:nvSpPr>
          <p:cNvPr id="10" name="Rectangle 9"/>
          <p:cNvSpPr/>
          <p:nvPr/>
        </p:nvSpPr>
        <p:spPr>
          <a:xfrm>
            <a:off x="7543800" y="2781300"/>
            <a:ext cx="2682240" cy="59055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543800" y="2781300"/>
            <a:ext cx="268224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7월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0264140" y="2781300"/>
            <a:ext cx="2682240" cy="59055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264140" y="2781300"/>
            <a:ext cx="268224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8월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2984480" y="2781300"/>
            <a:ext cx="4160520" cy="59055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2984480" y="2781300"/>
            <a:ext cx="416052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변화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143000" y="3448050"/>
            <a:ext cx="6362700" cy="647700"/>
          </a:xfrm>
          <a:prstGeom prst="roundRect">
            <a:avLst>
              <a:gd name="adj" fmla="val 5882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238250" y="3448050"/>
            <a:ext cx="61722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성형실 평균 습도(%)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543800" y="3448050"/>
            <a:ext cx="268224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39050" y="3448050"/>
            <a:ext cx="249174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54.9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0264140" y="3448050"/>
            <a:ext cx="268224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0359390" y="3448050"/>
            <a:ext cx="249174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62.0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12984480" y="3448050"/>
            <a:ext cx="416052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3079730" y="3448050"/>
            <a:ext cx="397002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+7.1 장마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143000" y="4171950"/>
            <a:ext cx="6362700" cy="647700"/>
          </a:xfrm>
          <a:prstGeom prst="roundRect">
            <a:avLst>
              <a:gd name="adj" fmla="val 5882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238250" y="4171950"/>
            <a:ext cx="61722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소결 불량률(%)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7543800" y="4171950"/>
            <a:ext cx="268224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639050" y="4171950"/>
            <a:ext cx="249174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2.17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10264140" y="4171950"/>
            <a:ext cx="268224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0359390" y="4171950"/>
            <a:ext cx="249174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3.69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12984480" y="4171950"/>
            <a:ext cx="416052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3079730" y="4171950"/>
            <a:ext cx="397002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+1.52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1143000" y="4895850"/>
            <a:ext cx="6362700" cy="647700"/>
          </a:xfrm>
          <a:prstGeom prst="roundRect">
            <a:avLst>
              <a:gd name="adj" fmla="val 5882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238250" y="4895850"/>
            <a:ext cx="61722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소결 OEE(%)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7543800" y="4895850"/>
            <a:ext cx="268224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7639050" y="4895850"/>
            <a:ext cx="249174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83.3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10264140" y="4895850"/>
            <a:ext cx="268224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10359390" y="4895850"/>
            <a:ext cx="249174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76.1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12984480" y="4895850"/>
            <a:ext cx="416052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13079730" y="4895850"/>
            <a:ext cx="397002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−7.2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143000" y="76200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75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같은 달에 함께 오르면 관계가 없어도 r 이 생긴다 — 「8월」이 교란변수 노릇</a:t>
            </a:r>
          </a:p>
        </p:txBody>
      </p:sp>
      <p:sp>
        <p:nvSpPr>
          <p:cNvPr id="41" name="Rectangle 40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생성형 AI 활용 실무 · 4일 32H · 2일차 6교시 · 실습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06</a:t>
            </a:r>
          </a:p>
        </p:txBody>
      </p:sp>
    </p:spTree>
  </p:cSld>
  <p:clrMapOvr>
    <a:masterClrMapping/>
  </p:clrMapOvr>
</p:sld>
</file>

<file path=ppt/slides/slide7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8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4단계 · 평균의 함정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공정 평균은 섞인 값이다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143000" y="2781300"/>
            <a:ext cx="5402580" cy="590550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43000" y="2781300"/>
            <a:ext cx="540258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구분</a:t>
            </a:r>
          </a:p>
        </p:txBody>
      </p:sp>
      <p:sp>
        <p:nvSpPr>
          <p:cNvPr id="10" name="Rectangle 9"/>
          <p:cNvSpPr/>
          <p:nvPr/>
        </p:nvSpPr>
        <p:spPr>
          <a:xfrm>
            <a:off x="6583680" y="2781300"/>
            <a:ext cx="3162300" cy="59055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583680" y="2781300"/>
            <a:ext cx="316230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OEE(%)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784080" y="2781300"/>
            <a:ext cx="3482340" cy="59055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784080" y="2781300"/>
            <a:ext cx="348234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불량률(%)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3304520" y="2781300"/>
            <a:ext cx="3840480" cy="59055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3304520" y="2781300"/>
            <a:ext cx="384048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소결밀도 Cpk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143000" y="3448050"/>
            <a:ext cx="5402580" cy="647700"/>
          </a:xfrm>
          <a:prstGeom prst="roundRect">
            <a:avLst>
              <a:gd name="adj" fmla="val 5882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238250" y="3448050"/>
            <a:ext cx="521208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소결 공정 전체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583680" y="3448050"/>
            <a:ext cx="31623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678930" y="3448050"/>
            <a:ext cx="29718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79.7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9784080" y="3448050"/>
            <a:ext cx="348234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879330" y="3448050"/>
            <a:ext cx="329184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2.90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13304520" y="3448050"/>
            <a:ext cx="384048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3399770" y="3448050"/>
            <a:ext cx="364998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—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143000" y="4171950"/>
            <a:ext cx="5402580" cy="647700"/>
          </a:xfrm>
          <a:prstGeom prst="roundRect">
            <a:avLst>
              <a:gd name="adj" fmla="val 5882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238250" y="4171950"/>
            <a:ext cx="521208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SF-01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583680" y="4171950"/>
            <a:ext cx="31623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678930" y="4171950"/>
            <a:ext cx="29718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82.9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9784080" y="4171950"/>
            <a:ext cx="348234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879330" y="4171950"/>
            <a:ext cx="329184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2.37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13304520" y="4171950"/>
            <a:ext cx="384048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3399770" y="4171950"/>
            <a:ext cx="364998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1.28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1143000" y="4895850"/>
            <a:ext cx="5402580" cy="647700"/>
          </a:xfrm>
          <a:prstGeom prst="roundRect">
            <a:avLst>
              <a:gd name="adj" fmla="val 5882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238250" y="4895850"/>
            <a:ext cx="521208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SF-02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6583680" y="4895850"/>
            <a:ext cx="31623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678930" y="4895850"/>
            <a:ext cx="29718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76.4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9784080" y="4895850"/>
            <a:ext cx="348234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9879330" y="4895850"/>
            <a:ext cx="329184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3.47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13304520" y="4895850"/>
            <a:ext cx="384048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13399770" y="4895850"/>
            <a:ext cx="364998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0.65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143000" y="76200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75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공정 합계로는 「소결이 나쁘다」까지 — 설비로 쪼개야 「한 대가 더 나쁘다」가 보인다</a:t>
            </a:r>
          </a:p>
        </p:txBody>
      </p:sp>
      <p:sp>
        <p:nvSpPr>
          <p:cNvPr id="41" name="Rectangle 40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생성형 AI 활용 실무 · 4일 32H · 2일차 6교시 · 실습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07</a:t>
            </a:r>
          </a:p>
        </p:txBody>
      </p:sp>
    </p:spTree>
  </p:cSld>
  <p:clrMapOvr>
    <a:masterClrMapping/>
  </p:clrMapOvr>
</p:sld>
</file>

<file path=ppt/slides/slide7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8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5단계 · 반박 질문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AI 가 「습도가 원인」이라고 하면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2933700"/>
            <a:ext cx="11430000" cy="1095375"/>
          </a:xfrm>
          <a:prstGeom prst="roundRect">
            <a:avLst>
              <a:gd name="adj" fmla="val 4347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447800" y="3181350"/>
            <a:ext cx="590550" cy="59055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447800" y="3333750"/>
            <a:ext cx="59055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324100" y="3143250"/>
            <a:ext cx="990600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4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새 증거를 준다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324100" y="3543300"/>
            <a:ext cx="9906000" cy="3619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층별 r(0.21 · 0.11 · 0.31)과 7·8월 습도·불량률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143000" y="4200525"/>
            <a:ext cx="11430000" cy="1095375"/>
          </a:xfrm>
          <a:prstGeom prst="roundRect">
            <a:avLst>
              <a:gd name="adj" fmla="val 4347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1447800" y="4448175"/>
            <a:ext cx="590550" cy="59055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447800" y="4600575"/>
            <a:ext cx="59055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324100" y="4410075"/>
            <a:ext cx="990600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4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대안 설명을 요구한다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324100" y="4810125"/>
            <a:ext cx="9906000" cy="3619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교란변수·시기 겹침 등 다른 설명을 가능성 순으로 세 가지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143000" y="5467350"/>
            <a:ext cx="11430000" cy="1095375"/>
          </a:xfrm>
          <a:prstGeom prst="roundRect">
            <a:avLst>
              <a:gd name="adj" fmla="val 4347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447800" y="5715000"/>
            <a:ext cx="590550" cy="59055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447800" y="5867400"/>
            <a:ext cx="59055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324100" y="5676900"/>
            <a:ext cx="990600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4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확인 방법을 요구한다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24100" y="6076950"/>
            <a:ext cx="9906000" cy="3619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각 설명을 확인하려면 무엇으로 쪼갤지 — 사실과 추정을 나눈 표로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13144500" y="2933700"/>
            <a:ext cx="4000500" cy="3629025"/>
          </a:xfrm>
          <a:prstGeom prst="roundRect">
            <a:avLst>
              <a:gd name="adj" fmla="val 1312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3487400" y="3929062"/>
            <a:ext cx="33147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 spc="19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반박의 핵심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3487400" y="4329112"/>
            <a:ext cx="3314700" cy="1238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8000"/>
              </a:lnSpc>
            </a:pPr>
            <a:r>
              <a:rPr sz="27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감정이 아니라</a:t>
            </a:r>
          </a:p>
          <a:p>
            <a:pPr algn="l">
              <a:lnSpc>
                <a:spcPct val="138000"/>
              </a:lnSpc>
            </a:pPr>
            <a:r>
              <a:rPr sz="27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새 증거</a:t>
            </a:r>
          </a:p>
        </p:txBody>
      </p:sp>
      <p:sp>
        <p:nvSpPr>
          <p:cNvPr id="26" name="Rectangle 25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생성형 AI 활용 실무 · 4일 32H · 2일차 6교시 · 실습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08</a:t>
            </a:r>
          </a:p>
        </p:txBody>
      </p:sp>
    </p:spTree>
  </p:cSld>
  <p:clrMapOvr>
    <a:masterClrMapping/>
  </p:clrMapOvr>
</p:sld>
</file>

<file path=ppt/slides/slide7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8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자주 틀리는 지점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여기서 자주 막힙니다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3352800"/>
            <a:ext cx="16002000" cy="914400"/>
          </a:xfrm>
          <a:prstGeom prst="roundRect">
            <a:avLst>
              <a:gd name="adj" fmla="val 5208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143000" y="3352800"/>
            <a:ext cx="47625" cy="91440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428750" y="3600450"/>
            <a:ext cx="419100" cy="41910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428750" y="3667125"/>
            <a:ext cx="4191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8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057400" y="3448050"/>
            <a:ext cx="14763750" cy="7239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20000"/>
              </a:lnSpc>
            </a:pPr>
            <a:r>
              <a:rPr sz="21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정렬 경계 착오</a:t>
            </a:r>
          </a:p>
          <a:p>
            <a:pPr>
              <a:lnSpc>
                <a:spcPct val="130000"/>
              </a:lnSpc>
              <a:spcBef>
                <a:spcPts val="300"/>
              </a:spcBef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125·126행이 정말 SF-01·SF-02 경계인지 E 열로 확인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143000" y="4400550"/>
            <a:ext cx="16002000" cy="914400"/>
          </a:xfrm>
          <a:prstGeom prst="roundRect">
            <a:avLst>
              <a:gd name="adj" fmla="val 5208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1143000" y="4400550"/>
            <a:ext cx="47625" cy="91440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1428750" y="4648200"/>
            <a:ext cx="419100" cy="41910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428750" y="4714875"/>
            <a:ext cx="4191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8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057400" y="4495800"/>
            <a:ext cx="14763750" cy="7239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20000"/>
              </a:lnSpc>
            </a:pPr>
            <a:r>
              <a:rPr sz="21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FILTER 함수 #NAME?</a:t>
            </a:r>
          </a:p>
          <a:p>
            <a:pPr>
              <a:lnSpc>
                <a:spcPct val="130000"/>
              </a:lnSpc>
              <a:spcBef>
                <a:spcPts val="300"/>
              </a:spcBef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Excel 2016·2019 에는 없다 — 정렬 후 범위 나누기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143000" y="5448300"/>
            <a:ext cx="16002000" cy="914400"/>
          </a:xfrm>
          <a:prstGeom prst="roundRect">
            <a:avLst>
              <a:gd name="adj" fmla="val 5208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1143000" y="5448300"/>
            <a:ext cx="47625" cy="91440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1428750" y="5695950"/>
            <a:ext cx="419100" cy="41910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428750" y="5762625"/>
            <a:ext cx="4191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8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057400" y="5543550"/>
            <a:ext cx="14763750" cy="7239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20000"/>
              </a:lnSpc>
            </a:pPr>
            <a:r>
              <a:rPr sz="21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AI 답을 그대로 받음</a:t>
            </a:r>
          </a:p>
          <a:p>
            <a:pPr>
              <a:lnSpc>
                <a:spcPct val="130000"/>
              </a:lnSpc>
              <a:spcBef>
                <a:spcPts val="300"/>
              </a:spcBef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제습기 대책이 먼저 나오면 층별 결과로 되묻는다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1143000" y="6496050"/>
            <a:ext cx="16002000" cy="914400"/>
          </a:xfrm>
          <a:prstGeom prst="roundRect">
            <a:avLst>
              <a:gd name="adj" fmla="val 5208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1143000" y="6496050"/>
            <a:ext cx="47625" cy="91440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1428750" y="6743700"/>
            <a:ext cx="419100" cy="41910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428750" y="6810375"/>
            <a:ext cx="4191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8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057400" y="6591300"/>
            <a:ext cx="14763750" cy="7239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20000"/>
              </a:lnSpc>
            </a:pPr>
            <a:r>
              <a:rPr sz="21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공정 평균으로 대책</a:t>
            </a:r>
          </a:p>
          <a:p>
            <a:pPr>
              <a:lnSpc>
                <a:spcPct val="130000"/>
              </a:lnSpc>
              <a:spcBef>
                <a:spcPts val="300"/>
              </a:spcBef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두 설비에 같은 대책 — 쪼갠 단위에서 세운다</a:t>
            </a:r>
          </a:p>
        </p:txBody>
      </p:sp>
      <p:sp>
        <p:nvSpPr>
          <p:cNvPr id="28" name="Rectangle 27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생성형 AI 활용 실무 · 4일 32H · 2일차 6교시 · 실습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09</a:t>
            </a:r>
          </a:p>
        </p:txBody>
      </p:sp>
    </p:spTree>
  </p:cSld>
  <p:clrMapOvr>
    <a:masterClrMapping/>
  </p:clrMapOvr>
</p:sld>
</file>

<file path=ppt/slides/slide7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8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확인 포인트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이것이 되면 끝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348615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390650" y="3629025"/>
            <a:ext cx="533400" cy="53340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390650" y="375285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190750" y="348615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층별 r 이 0.21 · 0.11 · 0.31 로 나왔다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143000" y="447675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1390650" y="4619625"/>
            <a:ext cx="533400" cy="53340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390650" y="474345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190750" y="447675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「습도 → 소결 불량」 반박 근거 두 가지를 말할 수 있다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143000" y="546735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1390650" y="5610225"/>
            <a:ext cx="533400" cy="53340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390650" y="573405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190750" y="546735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소결 공정 평균과 설비별 OEE·불량률·Cpk 비교표가 있다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143000" y="645795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1390650" y="6600825"/>
            <a:ext cx="533400" cy="53340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390650" y="672465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190750" y="645795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다음 질문을 적었다 — SF-02 는 언제부터 나빠졌나</a:t>
            </a:r>
          </a:p>
        </p:txBody>
      </p:sp>
      <p:sp>
        <p:nvSpPr>
          <p:cNvPr id="24" name="Rectangle 23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생성형 AI 활용 실무 · 4일 32H · 2일차 6교시 · 실습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10</a:t>
            </a:r>
          </a:p>
        </p:txBody>
      </p:sp>
    </p:spTree>
  </p:cSld>
  <p:clrMapOvr>
    <a:masterClrMapping/>
  </p:clrMapOvr>
</p:sld>
</file>

<file path=ppt/slides/slide7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4859000" y="6667500"/>
            <a:ext cx="5905500" cy="5905500"/>
          </a:xfrm>
          <a:prstGeom prst="ellipse">
            <a:avLst/>
          </a:prstGeom>
          <a:solidFill>
            <a:srgbClr val="F2F8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2095500" y="-2095500"/>
            <a:ext cx="4381500" cy="4381500"/>
          </a:xfrm>
          <a:prstGeom prst="ellipse">
            <a:avLst/>
          </a:prstGeom>
          <a:solidFill>
            <a:srgbClr val="F5F6F7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43000" y="2857500"/>
            <a:ext cx="16002000" cy="285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3352800"/>
            <a:ext cx="85725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2일차 6교시 · 실습 마무리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3771900"/>
            <a:ext cx="16002000" cy="800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다음은 추세·파레토 분석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43000" y="4724400"/>
            <a:ext cx="16002000" cy="4381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4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시간 축과 불량 유형으로 쪼개 「언제부터, 무엇이」 늘었는지 찾습니다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143000" y="5257800"/>
            <a:ext cx="7772400" cy="819150"/>
          </a:xfrm>
          <a:prstGeom prst="roundRect">
            <a:avLst>
              <a:gd name="adj" fmla="val 697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428750" y="5486400"/>
            <a:ext cx="4191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✓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905000" y="5486400"/>
            <a:ext cx="672465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월별 공정 비교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9372600" y="5257800"/>
            <a:ext cx="7772400" cy="819150"/>
          </a:xfrm>
          <a:prstGeom prst="roundRect">
            <a:avLst>
              <a:gd name="adj" fmla="val 697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658350" y="5486400"/>
            <a:ext cx="4191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✓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134600" y="5486400"/>
            <a:ext cx="672465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일자별 꺾은선 — 꺾이는 날 찾기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143000" y="6286500"/>
            <a:ext cx="7772400" cy="819150"/>
          </a:xfrm>
          <a:prstGeom prst="roundRect">
            <a:avLst>
              <a:gd name="adj" fmla="val 697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428750" y="6515100"/>
            <a:ext cx="4191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✓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905000" y="6515100"/>
            <a:ext cx="672465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불량 유형 파레토 차트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9372600" y="6286500"/>
            <a:ext cx="7772400" cy="819150"/>
          </a:xfrm>
          <a:prstGeom prst="roundRect">
            <a:avLst>
              <a:gd name="adj" fmla="val 697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658350" y="6515100"/>
            <a:ext cx="4191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✓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134600" y="6515100"/>
            <a:ext cx="672465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공정 합계로 다시 보기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143000" y="7715250"/>
            <a:ext cx="47625" cy="81915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409700" y="7734300"/>
            <a:ext cx="85725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 spc="14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가져올 것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09700" y="8077200"/>
            <a:ext cx="857250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02 생산일지와 04 불량 기록</a:t>
            </a:r>
          </a:p>
        </p:txBody>
      </p:sp>
    </p:spTree>
  </p:cSld>
  <p:clrMapOvr>
    <a:masterClrMapping/>
  </p:clrMapOvr>
</p:sld>
</file>

<file path=ppt/slides/slide7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4192250" y="-2381250"/>
            <a:ext cx="7429500" cy="7429500"/>
          </a:xfrm>
          <a:prstGeom prst="ellipse">
            <a:avLst/>
          </a:prstGeom>
          <a:solidFill>
            <a:srgbClr val="F0F7F7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5430500" y="-1143000"/>
            <a:ext cx="4953000" cy="49530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15906750" y="5905500"/>
            <a:ext cx="4953000" cy="4953000"/>
          </a:xfrm>
          <a:prstGeom prst="ellipse">
            <a:avLst/>
          </a:prstGeom>
          <a:solidFill>
            <a:srgbClr val="F5F6F7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-1714500" y="2857500"/>
            <a:ext cx="2857500" cy="28575"/>
          </a:xfrm>
          <a:prstGeom prst="rect">
            <a:avLst/>
          </a:prstGeom>
          <a:solidFill>
            <a:srgbClr val="E6EAED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-2857500" y="6953250"/>
            <a:ext cx="6953250" cy="6953250"/>
          </a:xfrm>
          <a:prstGeom prst="ellipse">
            <a:avLst/>
          </a:prstGeom>
          <a:solidFill>
            <a:srgbClr val="ECF5F5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-1581150" y="8229600"/>
            <a:ext cx="4400550" cy="440055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3390900" y="8953500"/>
            <a:ext cx="742950" cy="742950"/>
          </a:xfrm>
          <a:prstGeom prst="ellipse">
            <a:avLst/>
          </a:prstGeom>
          <a:solidFill>
            <a:srgbClr val="EBEEF0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4457700" y="9563100"/>
            <a:ext cx="342900" cy="342900"/>
          </a:xfrm>
          <a:prstGeom prst="ellipse">
            <a:avLst/>
          </a:prstGeom>
          <a:solidFill>
            <a:srgbClr val="DFEDE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1143000" y="9639300"/>
            <a:ext cx="1619250" cy="28575"/>
          </a:xfrm>
          <a:prstGeom prst="rect">
            <a:avLst/>
          </a:prstGeom>
          <a:solidFill>
            <a:srgbClr val="E6EAED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1143000" y="2857500"/>
            <a:ext cx="16002000" cy="285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43000" y="3486150"/>
            <a:ext cx="85725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 spc="12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2일차 7교시 · 통합 KPI 분석과 문제 공정 선정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43000" y="3905250"/>
            <a:ext cx="16002000" cy="19187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6300" b="1" spc="-235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추세·파레토 분석</a:t>
            </a:r>
          </a:p>
          <a:p>
            <a:pPr algn="l">
              <a:lnSpc>
                <a:spcPct val="105000"/>
              </a:lnSpc>
            </a:pPr>
            <a:r>
              <a:rPr sz="6300" b="1" spc="-235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언제부터, 무엇이 늘었나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43000" y="6033516"/>
            <a:ext cx="16002000" cy="571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300" b="1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시간으로 쪼개고, 불량 유형으로 쪼갠다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572500" y="7677150"/>
            <a:ext cx="8572500" cy="857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50000"/>
              </a:lnSpc>
            </a:pPr>
            <a:r>
              <a:rPr sz="1950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생산안전본부 및 품질환경단 직무훈련</a:t>
            </a:r>
          </a:p>
          <a:p>
            <a:pPr algn="r">
              <a:lnSpc>
                <a:spcPct val="150000"/>
              </a:lnSpc>
            </a:pPr>
            <a:r>
              <a:rPr sz="1950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생성형 AI 활용 실무 · 2026. 10. 12.~15.</a:t>
            </a:r>
          </a:p>
        </p:txBody>
      </p:sp>
    </p:spTree>
  </p:cSld>
  <p:clrMapOvr>
    <a:masterClrMapping/>
  </p:clrMapOvr>
</p:sld>
</file>

<file path=ppt/slides/slide7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8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이 시간의 목표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50분 뒤에는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339090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390650" y="3533775"/>
            <a:ext cx="533400" cy="53340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390650" y="365760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①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190750" y="339090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월별·일자별 꺾은선으로 지표가 꺾이는 시점을 찾는다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143000" y="438150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1390650" y="4524375"/>
            <a:ext cx="533400" cy="53340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390650" y="464820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②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190750" y="438150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불량 파레토 차트의 상위 항목과 누적 비율을 읽는다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143000" y="537210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1390650" y="5514975"/>
            <a:ext cx="533400" cy="53340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390650" y="563880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③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190750" y="537210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파레토 순위만으로 중점 공정을 정하면 안 되는 이유를 말한다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143000" y="6953250"/>
            <a:ext cx="16002000" cy="876300"/>
          </a:xfrm>
          <a:prstGeom prst="roundRect">
            <a:avLst>
              <a:gd name="adj" fmla="val 5434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143000" y="7200900"/>
            <a:ext cx="16002000" cy="4381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「언제부터·무엇이」까지가 현상 — 「왜」는 3일차에 별도 증거로</a:t>
            </a:r>
          </a:p>
        </p:txBody>
      </p:sp>
      <p:sp>
        <p:nvSpPr>
          <p:cNvPr id="22" name="Rectangle 21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생성형 AI 활용 실무 · 4일 32H · 2일차 7교시 · 실습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02</a:t>
            </a:r>
          </a:p>
        </p:txBody>
      </p:sp>
    </p:spTree>
  </p:cSld>
  <p:clrMapOvr>
    <a:masterClrMapping/>
  </p:clrMapOvr>
</p:sld>
</file>

<file path=ppt/slides/slide7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8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1. 도구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꺾은선(추세)과 파레토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43000" y="2857500"/>
            <a:ext cx="7372350" cy="533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15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꺾은선 — 언제부터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" y="3467100"/>
            <a:ext cx="7372350" cy="876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6000"/>
              </a:lnSpc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가로축 시간, 설비별로 선을 나눈다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143000" y="4610100"/>
            <a:ext cx="7372350" cy="2857500"/>
          </a:xfrm>
          <a:prstGeom prst="roundRect">
            <a:avLst>
              <a:gd name="adj" fmla="val 166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447800" y="5016817"/>
            <a:ext cx="97155" cy="97155"/>
          </a:xfrm>
          <a:prstGeom prst="ellipse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633538" y="4838700"/>
            <a:ext cx="6634162" cy="45339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한 선만 뛰는 날을 찾는다</a:t>
            </a:r>
          </a:p>
        </p:txBody>
      </p:sp>
      <p:sp>
        <p:nvSpPr>
          <p:cNvPr id="13" name="Oval 12"/>
          <p:cNvSpPr/>
          <p:nvPr/>
        </p:nvSpPr>
        <p:spPr>
          <a:xfrm>
            <a:off x="1447800" y="5527358"/>
            <a:ext cx="97155" cy="97155"/>
          </a:xfrm>
          <a:prstGeom prst="ellipse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633538" y="5349240"/>
            <a:ext cx="6634162" cy="45339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뛴 뒤 내려오는지, 머무는지</a:t>
            </a:r>
          </a:p>
        </p:txBody>
      </p:sp>
      <p:sp>
        <p:nvSpPr>
          <p:cNvPr id="15" name="Oval 14"/>
          <p:cNvSpPr/>
          <p:nvPr/>
        </p:nvSpPr>
        <p:spPr>
          <a:xfrm>
            <a:off x="1447800" y="6037898"/>
            <a:ext cx="97155" cy="97155"/>
          </a:xfrm>
          <a:prstGeom prst="ellipse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633538" y="5859780"/>
            <a:ext cx="6634162" cy="45339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하루치 들쭉날쭉은 추세가 아니다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772650" y="2857500"/>
            <a:ext cx="7372350" cy="533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15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파레토 — 무엇이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772650" y="3467100"/>
            <a:ext cx="7372350" cy="876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6000"/>
              </a:lnSpc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큰 순서 막대 + 누적 % 선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9772650" y="4610100"/>
            <a:ext cx="7372350" cy="2857500"/>
          </a:xfrm>
          <a:prstGeom prst="roundRect">
            <a:avLst>
              <a:gd name="adj" fmla="val 166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10077450" y="5016817"/>
            <a:ext cx="97155" cy="97155"/>
          </a:xfrm>
          <a:prstGeom prst="ellipse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0263188" y="4838700"/>
            <a:ext cx="6634162" cy="45339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삽입 → 통계 차트 → 파레토</a:t>
            </a:r>
          </a:p>
        </p:txBody>
      </p:sp>
      <p:sp>
        <p:nvSpPr>
          <p:cNvPr id="22" name="Oval 21"/>
          <p:cNvSpPr/>
          <p:nvPr/>
        </p:nvSpPr>
        <p:spPr>
          <a:xfrm>
            <a:off x="10077450" y="5527358"/>
            <a:ext cx="97155" cy="97155"/>
          </a:xfrm>
          <a:prstGeom prst="ellipse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0263188" y="5349240"/>
            <a:ext cx="6634162" cy="45339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Excel 2016 이상</a:t>
            </a:r>
          </a:p>
        </p:txBody>
      </p:sp>
      <p:sp>
        <p:nvSpPr>
          <p:cNvPr id="24" name="Oval 23"/>
          <p:cNvSpPr/>
          <p:nvPr/>
        </p:nvSpPr>
        <p:spPr>
          <a:xfrm>
            <a:off x="10077450" y="6037898"/>
            <a:ext cx="97155" cy="97155"/>
          </a:xfrm>
          <a:prstGeom prst="ellipse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263188" y="5859780"/>
            <a:ext cx="6634162" cy="45339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건수 순위 ≠ 중요도</a:t>
            </a:r>
          </a:p>
        </p:txBody>
      </p:sp>
      <p:sp>
        <p:nvSpPr>
          <p:cNvPr id="26" name="Oval 25"/>
          <p:cNvSpPr/>
          <p:nvPr/>
        </p:nvSpPr>
        <p:spPr>
          <a:xfrm>
            <a:off x="8686800" y="3771900"/>
            <a:ext cx="914400" cy="91440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686800" y="4057650"/>
            <a:ext cx="9144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VS</a:t>
            </a:r>
          </a:p>
        </p:txBody>
      </p:sp>
      <p:sp>
        <p:nvSpPr>
          <p:cNvPr id="28" name="Rectangle 27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생성형 AI 활용 실무 · 4일 32H · 2일차 7교시 · 실습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03</a:t>
            </a:r>
          </a:p>
        </p:txBody>
      </p:sp>
    </p:spTree>
  </p:cSld>
  <p:clrMapOvr>
    <a:masterClrMapping/>
  </p:clrMapOvr>
</p:sld>
</file>

<file path=ppt/slides/slide7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8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1단계 · 월별 비교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8월에 나빠진 공정은 어디인가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143000" y="2781300"/>
            <a:ext cx="3162300" cy="590550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43000" y="2781300"/>
            <a:ext cx="316230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공정</a:t>
            </a:r>
          </a:p>
        </p:txBody>
      </p:sp>
      <p:sp>
        <p:nvSpPr>
          <p:cNvPr id="10" name="Rectangle 9"/>
          <p:cNvSpPr/>
          <p:nvPr/>
        </p:nvSpPr>
        <p:spPr>
          <a:xfrm>
            <a:off x="4343400" y="2781300"/>
            <a:ext cx="4282440" cy="59055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343400" y="2781300"/>
            <a:ext cx="428244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OEE 7월→8월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663940" y="2781300"/>
            <a:ext cx="4282440" cy="59055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663940" y="2781300"/>
            <a:ext cx="428244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불량률 7월→8월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2984480" y="2781300"/>
            <a:ext cx="4160520" cy="59055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2984480" y="2781300"/>
            <a:ext cx="416052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판단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143000" y="3448050"/>
            <a:ext cx="3162300" cy="619125"/>
          </a:xfrm>
          <a:prstGeom prst="roundRect">
            <a:avLst>
              <a:gd name="adj" fmla="val 6153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238250" y="3448050"/>
            <a:ext cx="297180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원료혼합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343400" y="3448050"/>
            <a:ext cx="4282440" cy="619125"/>
          </a:xfrm>
          <a:prstGeom prst="roundRect">
            <a:avLst>
              <a:gd name="adj" fmla="val 615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438650" y="3448050"/>
            <a:ext cx="409194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88.3 → 87.9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663940" y="3448050"/>
            <a:ext cx="4282440" cy="619125"/>
          </a:xfrm>
          <a:prstGeom prst="roundRect">
            <a:avLst>
              <a:gd name="adj" fmla="val 615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759190" y="3448050"/>
            <a:ext cx="409194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0.65 → 0.65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12984480" y="3448050"/>
            <a:ext cx="4160520" cy="619125"/>
          </a:xfrm>
          <a:prstGeom prst="roundRect">
            <a:avLst>
              <a:gd name="adj" fmla="val 615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3079730" y="3448050"/>
            <a:ext cx="397002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변화 없음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143000" y="4143375"/>
            <a:ext cx="3162300" cy="619125"/>
          </a:xfrm>
          <a:prstGeom prst="roundRect">
            <a:avLst>
              <a:gd name="adj" fmla="val 6153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238250" y="4143375"/>
            <a:ext cx="297180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성형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4343400" y="4143375"/>
            <a:ext cx="4282440" cy="619125"/>
          </a:xfrm>
          <a:prstGeom prst="roundRect">
            <a:avLst>
              <a:gd name="adj" fmla="val 615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438650" y="4143375"/>
            <a:ext cx="409194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87.9 → 86.6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8663940" y="4143375"/>
            <a:ext cx="4282440" cy="619125"/>
          </a:xfrm>
          <a:prstGeom prst="roundRect">
            <a:avLst>
              <a:gd name="adj" fmla="val 615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759190" y="4143375"/>
            <a:ext cx="409194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1.06 → 1.31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12984480" y="4143375"/>
            <a:ext cx="4160520" cy="619125"/>
          </a:xfrm>
          <a:prstGeom prst="roundRect">
            <a:avLst>
              <a:gd name="adj" fmla="val 615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3079730" y="4143375"/>
            <a:ext cx="397002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조금 나빠짐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1143000" y="4838700"/>
            <a:ext cx="3162300" cy="619125"/>
          </a:xfrm>
          <a:prstGeom prst="roundRect">
            <a:avLst>
              <a:gd name="adj" fmla="val 6153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238250" y="4838700"/>
            <a:ext cx="297180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소결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4343400" y="4838700"/>
            <a:ext cx="4282440" cy="619125"/>
          </a:xfrm>
          <a:prstGeom prst="roundRect">
            <a:avLst>
              <a:gd name="adj" fmla="val 615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438650" y="4838700"/>
            <a:ext cx="409194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83.3 → 76.1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8663940" y="4838700"/>
            <a:ext cx="4282440" cy="619125"/>
          </a:xfrm>
          <a:prstGeom prst="roundRect">
            <a:avLst>
              <a:gd name="adj" fmla="val 615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8759190" y="4838700"/>
            <a:ext cx="409194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2.17 → 3.69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12984480" y="4838700"/>
            <a:ext cx="4160520" cy="619125"/>
          </a:xfrm>
          <a:prstGeom prst="roundRect">
            <a:avLst>
              <a:gd name="adj" fmla="val 615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13079730" y="4838700"/>
            <a:ext cx="397002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크게 나빠짐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1143000" y="5534025"/>
            <a:ext cx="3162300" cy="619125"/>
          </a:xfrm>
          <a:prstGeom prst="roundRect">
            <a:avLst>
              <a:gd name="adj" fmla="val 6153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1238250" y="5534025"/>
            <a:ext cx="297180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연삭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4343400" y="5534025"/>
            <a:ext cx="4282440" cy="619125"/>
          </a:xfrm>
          <a:prstGeom prst="roundRect">
            <a:avLst>
              <a:gd name="adj" fmla="val 615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4438650" y="5534025"/>
            <a:ext cx="409194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79.8 → 80.2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8663940" y="5534025"/>
            <a:ext cx="4282440" cy="619125"/>
          </a:xfrm>
          <a:prstGeom prst="roundRect">
            <a:avLst>
              <a:gd name="adj" fmla="val 615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8759190" y="5534025"/>
            <a:ext cx="409194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1.06 → 1.07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12984480" y="5534025"/>
            <a:ext cx="4160520" cy="619125"/>
          </a:xfrm>
          <a:prstGeom prst="roundRect">
            <a:avLst>
              <a:gd name="adj" fmla="val 615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13079730" y="5534025"/>
            <a:ext cx="397002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낮지만 변화 없음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1143000" y="6229350"/>
            <a:ext cx="3162300" cy="619125"/>
          </a:xfrm>
          <a:prstGeom prst="roundRect">
            <a:avLst>
              <a:gd name="adj" fmla="val 6153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1238250" y="6229350"/>
            <a:ext cx="297180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검사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4343400" y="6229350"/>
            <a:ext cx="4282440" cy="619125"/>
          </a:xfrm>
          <a:prstGeom prst="roundRect">
            <a:avLst>
              <a:gd name="adj" fmla="val 615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4438650" y="6229350"/>
            <a:ext cx="409194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88.0 → 87.9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8663940" y="6229350"/>
            <a:ext cx="4282440" cy="619125"/>
          </a:xfrm>
          <a:prstGeom prst="roundRect">
            <a:avLst>
              <a:gd name="adj" fmla="val 615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8759190" y="6229350"/>
            <a:ext cx="409194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0.35 → 0.35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12984480" y="6229350"/>
            <a:ext cx="4160520" cy="619125"/>
          </a:xfrm>
          <a:prstGeom prst="roundRect">
            <a:avLst>
              <a:gd name="adj" fmla="val 615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13079730" y="6229350"/>
            <a:ext cx="397002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변화 없음</a:t>
            </a:r>
          </a:p>
        </p:txBody>
      </p:sp>
      <p:sp>
        <p:nvSpPr>
          <p:cNvPr id="56" name="Rounded Rectangle 55"/>
          <p:cNvSpPr/>
          <p:nvPr/>
        </p:nvSpPr>
        <p:spPr>
          <a:xfrm>
            <a:off x="1143000" y="6924675"/>
            <a:ext cx="3162300" cy="619125"/>
          </a:xfrm>
          <a:prstGeom prst="roundRect">
            <a:avLst>
              <a:gd name="adj" fmla="val 6153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1238250" y="6924675"/>
            <a:ext cx="297180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포장</a:t>
            </a:r>
          </a:p>
        </p:txBody>
      </p:sp>
      <p:sp>
        <p:nvSpPr>
          <p:cNvPr id="58" name="Rounded Rectangle 57"/>
          <p:cNvSpPr/>
          <p:nvPr/>
        </p:nvSpPr>
        <p:spPr>
          <a:xfrm>
            <a:off x="4343400" y="6924675"/>
            <a:ext cx="4282440" cy="619125"/>
          </a:xfrm>
          <a:prstGeom prst="roundRect">
            <a:avLst>
              <a:gd name="adj" fmla="val 615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4438650" y="6924675"/>
            <a:ext cx="409194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88.0 → 88.4</a:t>
            </a:r>
          </a:p>
        </p:txBody>
      </p:sp>
      <p:sp>
        <p:nvSpPr>
          <p:cNvPr id="60" name="Rounded Rectangle 59"/>
          <p:cNvSpPr/>
          <p:nvPr/>
        </p:nvSpPr>
        <p:spPr>
          <a:xfrm>
            <a:off x="8663940" y="6924675"/>
            <a:ext cx="4282440" cy="619125"/>
          </a:xfrm>
          <a:prstGeom prst="roundRect">
            <a:avLst>
              <a:gd name="adj" fmla="val 615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8759190" y="6924675"/>
            <a:ext cx="409194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0.25 → 0.25</a:t>
            </a:r>
          </a:p>
        </p:txBody>
      </p:sp>
      <p:sp>
        <p:nvSpPr>
          <p:cNvPr id="62" name="Rounded Rectangle 61"/>
          <p:cNvSpPr/>
          <p:nvPr/>
        </p:nvSpPr>
        <p:spPr>
          <a:xfrm>
            <a:off x="12984480" y="6924675"/>
            <a:ext cx="4160520" cy="619125"/>
          </a:xfrm>
          <a:prstGeom prst="roundRect">
            <a:avLst>
              <a:gd name="adj" fmla="val 615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13079730" y="6924675"/>
            <a:ext cx="397002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변화 없음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1143000" y="76200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75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연삭은 원래 낮고, 소결은 갑자기 나빠졌다 — 둘은 다른 문제</a:t>
            </a:r>
          </a:p>
        </p:txBody>
      </p:sp>
      <p:sp>
        <p:nvSpPr>
          <p:cNvPr id="65" name="Rectangle 64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생성형 AI 활용 실무 · 4일 32H · 2일차 7교시 · 실습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04</a:t>
            </a:r>
          </a:p>
        </p:txBody>
      </p:sp>
    </p:spTree>
  </p:cSld>
  <p:clrMapOvr>
    <a:masterClrMapping/>
  </p:clrMapOvr>
</p:sld>
</file>

<file path=ppt/slides/slide8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8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2단계 · 언제부터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8/10 무렵부터 SF-02 만 올라간 채 머문다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143000" y="2781300"/>
            <a:ext cx="6362700" cy="590550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43000" y="2781300"/>
            <a:ext cx="636270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설비 · 기간</a:t>
            </a:r>
          </a:p>
        </p:txBody>
      </p:sp>
      <p:sp>
        <p:nvSpPr>
          <p:cNvPr id="10" name="Rectangle 9"/>
          <p:cNvSpPr/>
          <p:nvPr/>
        </p:nvSpPr>
        <p:spPr>
          <a:xfrm>
            <a:off x="7543800" y="2781300"/>
            <a:ext cx="3162300" cy="59055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543800" y="2781300"/>
            <a:ext cx="316230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OEE(%)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0744200" y="2781300"/>
            <a:ext cx="3162300" cy="59055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744200" y="2781300"/>
            <a:ext cx="316230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가동률(%)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3944600" y="2781300"/>
            <a:ext cx="3200400" cy="59055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3944600" y="2781300"/>
            <a:ext cx="320040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불량률(%)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143000" y="3448050"/>
            <a:ext cx="6362700" cy="647700"/>
          </a:xfrm>
          <a:prstGeom prst="roundRect">
            <a:avLst>
              <a:gd name="adj" fmla="val 5882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238250" y="3448050"/>
            <a:ext cx="61722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SF-01 · 7/1~8/9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543800" y="3448050"/>
            <a:ext cx="31623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39050" y="3448050"/>
            <a:ext cx="29718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83.4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0744200" y="3448050"/>
            <a:ext cx="31623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0839450" y="3448050"/>
            <a:ext cx="29718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91.7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13944600" y="3448050"/>
            <a:ext cx="32004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4039850" y="3448050"/>
            <a:ext cx="30099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2.31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143000" y="4171950"/>
            <a:ext cx="6362700" cy="647700"/>
          </a:xfrm>
          <a:prstGeom prst="roundRect">
            <a:avLst>
              <a:gd name="adj" fmla="val 5882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238250" y="4171950"/>
            <a:ext cx="61722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SF-01 · 8/10~8/31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7543800" y="4171950"/>
            <a:ext cx="31623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639050" y="4171950"/>
            <a:ext cx="29718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82.2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10744200" y="4171950"/>
            <a:ext cx="31623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0839450" y="4171950"/>
            <a:ext cx="29718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90.7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13944600" y="4171950"/>
            <a:ext cx="32004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4039850" y="4171950"/>
            <a:ext cx="30099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2.49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1143000" y="4895850"/>
            <a:ext cx="6362700" cy="647700"/>
          </a:xfrm>
          <a:prstGeom prst="roundRect">
            <a:avLst>
              <a:gd name="adj" fmla="val 5882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238250" y="4895850"/>
            <a:ext cx="61722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SF-02 · 7/1~8/9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7543800" y="4895850"/>
            <a:ext cx="31623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7639050" y="4895850"/>
            <a:ext cx="29718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82.8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10744200" y="4895850"/>
            <a:ext cx="31623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10839450" y="4895850"/>
            <a:ext cx="29718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91.0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13944600" y="4895850"/>
            <a:ext cx="32004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14039850" y="4895850"/>
            <a:ext cx="30099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2.11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1143000" y="5619750"/>
            <a:ext cx="6362700" cy="647700"/>
          </a:xfrm>
          <a:prstGeom prst="roundRect">
            <a:avLst>
              <a:gd name="adj" fmla="val 5882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1238250" y="5619750"/>
            <a:ext cx="61722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SF-02 · 8/10~8/31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7543800" y="5619750"/>
            <a:ext cx="31623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7639050" y="5619750"/>
            <a:ext cx="29718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64.9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10744200" y="5619750"/>
            <a:ext cx="31623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10839450" y="5619750"/>
            <a:ext cx="29718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79.7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13944600" y="5619750"/>
            <a:ext cx="32004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14039850" y="5619750"/>
            <a:ext cx="30099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6.50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143000" y="76200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75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한 설비만, 특정한 날부터 — 왜 그날부터인지는 3일차 설비 알람 기록에서</a:t>
            </a:r>
          </a:p>
        </p:txBody>
      </p:sp>
      <p:sp>
        <p:nvSpPr>
          <p:cNvPr id="49" name="Rectangle 48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생성형 AI 활용 실무 · 4일 32H · 2일차 7교시 · 실습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05</a:t>
            </a:r>
          </a:p>
        </p:txBody>
      </p:sp>
    </p:spTree>
  </p:cSld>
  <p:clrMapOvr>
    <a:masterClrMapping/>
  </p:clrMapOvr>
</p:sld>
</file>

<file path=ppt/slides/slide8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8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3단계 · 유형 파레토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불량 유형 파레토 — 상위 6개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143000" y="2781300"/>
            <a:ext cx="6362700" cy="590550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43000" y="2781300"/>
            <a:ext cx="636270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공정·불량유형</a:t>
            </a:r>
          </a:p>
        </p:txBody>
      </p:sp>
      <p:sp>
        <p:nvSpPr>
          <p:cNvPr id="10" name="Rectangle 9"/>
          <p:cNvSpPr/>
          <p:nvPr/>
        </p:nvSpPr>
        <p:spPr>
          <a:xfrm>
            <a:off x="7543800" y="2781300"/>
            <a:ext cx="3162300" cy="59055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543800" y="2781300"/>
            <a:ext cx="316230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수량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0744200" y="2781300"/>
            <a:ext cx="3162300" cy="59055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744200" y="2781300"/>
            <a:ext cx="316230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비율(%)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3944600" y="2781300"/>
            <a:ext cx="3200400" cy="59055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3944600" y="2781300"/>
            <a:ext cx="320040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누적(%)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143000" y="3448050"/>
            <a:ext cx="6362700" cy="619125"/>
          </a:xfrm>
          <a:prstGeom prst="roundRect">
            <a:avLst>
              <a:gd name="adj" fmla="val 6153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238250" y="3448050"/>
            <a:ext cx="617220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소결·밀도미달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543800" y="3448050"/>
            <a:ext cx="3162300" cy="619125"/>
          </a:xfrm>
          <a:prstGeom prst="roundRect">
            <a:avLst>
              <a:gd name="adj" fmla="val 615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39050" y="3448050"/>
            <a:ext cx="297180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8,734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0744200" y="3448050"/>
            <a:ext cx="3162300" cy="619125"/>
          </a:xfrm>
          <a:prstGeom prst="roundRect">
            <a:avLst>
              <a:gd name="adj" fmla="val 615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0839450" y="3448050"/>
            <a:ext cx="297180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13.6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13944600" y="3448050"/>
            <a:ext cx="3200400" cy="619125"/>
          </a:xfrm>
          <a:prstGeom prst="roundRect">
            <a:avLst>
              <a:gd name="adj" fmla="val 615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4039850" y="3448050"/>
            <a:ext cx="300990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13.6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143000" y="4143375"/>
            <a:ext cx="6362700" cy="619125"/>
          </a:xfrm>
          <a:prstGeom prst="roundRect">
            <a:avLst>
              <a:gd name="adj" fmla="val 6153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238250" y="4143375"/>
            <a:ext cx="617220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소결·균열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7543800" y="4143375"/>
            <a:ext cx="3162300" cy="619125"/>
          </a:xfrm>
          <a:prstGeom prst="roundRect">
            <a:avLst>
              <a:gd name="adj" fmla="val 615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639050" y="4143375"/>
            <a:ext cx="297180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8,554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10744200" y="4143375"/>
            <a:ext cx="3162300" cy="619125"/>
          </a:xfrm>
          <a:prstGeom prst="roundRect">
            <a:avLst>
              <a:gd name="adj" fmla="val 615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0839450" y="4143375"/>
            <a:ext cx="297180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13.4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13944600" y="4143375"/>
            <a:ext cx="3200400" cy="619125"/>
          </a:xfrm>
          <a:prstGeom prst="roundRect">
            <a:avLst>
              <a:gd name="adj" fmla="val 615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4039850" y="4143375"/>
            <a:ext cx="300990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27.0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1143000" y="4838700"/>
            <a:ext cx="6362700" cy="619125"/>
          </a:xfrm>
          <a:prstGeom prst="roundRect">
            <a:avLst>
              <a:gd name="adj" fmla="val 6153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238250" y="4838700"/>
            <a:ext cx="617220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성형·밀도불균일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7543800" y="4838700"/>
            <a:ext cx="3162300" cy="619125"/>
          </a:xfrm>
          <a:prstGeom prst="roundRect">
            <a:avLst>
              <a:gd name="adj" fmla="val 615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7639050" y="4838700"/>
            <a:ext cx="297180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7,122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10744200" y="4838700"/>
            <a:ext cx="3162300" cy="619125"/>
          </a:xfrm>
          <a:prstGeom prst="roundRect">
            <a:avLst>
              <a:gd name="adj" fmla="val 615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10839450" y="4838700"/>
            <a:ext cx="297180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11.1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13944600" y="4838700"/>
            <a:ext cx="3200400" cy="619125"/>
          </a:xfrm>
          <a:prstGeom prst="roundRect">
            <a:avLst>
              <a:gd name="adj" fmla="val 615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14039850" y="4838700"/>
            <a:ext cx="300990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38.1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1143000" y="5534025"/>
            <a:ext cx="6362700" cy="619125"/>
          </a:xfrm>
          <a:prstGeom prst="roundRect">
            <a:avLst>
              <a:gd name="adj" fmla="val 6153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1238250" y="5534025"/>
            <a:ext cx="617220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소결·치수불량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7543800" y="5534025"/>
            <a:ext cx="3162300" cy="619125"/>
          </a:xfrm>
          <a:prstGeom prst="roundRect">
            <a:avLst>
              <a:gd name="adj" fmla="val 615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7639050" y="5534025"/>
            <a:ext cx="297180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5,818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10744200" y="5534025"/>
            <a:ext cx="3162300" cy="619125"/>
          </a:xfrm>
          <a:prstGeom prst="roundRect">
            <a:avLst>
              <a:gd name="adj" fmla="val 615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10839450" y="5534025"/>
            <a:ext cx="297180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9.1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13944600" y="5534025"/>
            <a:ext cx="3200400" cy="619125"/>
          </a:xfrm>
          <a:prstGeom prst="roundRect">
            <a:avLst>
              <a:gd name="adj" fmla="val 615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14039850" y="5534025"/>
            <a:ext cx="300990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47.2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1143000" y="6229350"/>
            <a:ext cx="6362700" cy="619125"/>
          </a:xfrm>
          <a:prstGeom prst="roundRect">
            <a:avLst>
              <a:gd name="adj" fmla="val 6153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1238250" y="6229350"/>
            <a:ext cx="617220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성형·치핑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7543800" y="6229350"/>
            <a:ext cx="3162300" cy="619125"/>
          </a:xfrm>
          <a:prstGeom prst="roundRect">
            <a:avLst>
              <a:gd name="adj" fmla="val 615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7639050" y="6229350"/>
            <a:ext cx="297180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5,360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10744200" y="6229350"/>
            <a:ext cx="3162300" cy="619125"/>
          </a:xfrm>
          <a:prstGeom prst="roundRect">
            <a:avLst>
              <a:gd name="adj" fmla="val 615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10839450" y="6229350"/>
            <a:ext cx="297180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8.4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13944600" y="6229350"/>
            <a:ext cx="3200400" cy="619125"/>
          </a:xfrm>
          <a:prstGeom prst="roundRect">
            <a:avLst>
              <a:gd name="adj" fmla="val 615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14039850" y="6229350"/>
            <a:ext cx="300990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55.6</a:t>
            </a:r>
          </a:p>
        </p:txBody>
      </p:sp>
      <p:sp>
        <p:nvSpPr>
          <p:cNvPr id="56" name="Rounded Rectangle 55"/>
          <p:cNvSpPr/>
          <p:nvPr/>
        </p:nvSpPr>
        <p:spPr>
          <a:xfrm>
            <a:off x="1143000" y="6924675"/>
            <a:ext cx="6362700" cy="619125"/>
          </a:xfrm>
          <a:prstGeom prst="roundRect">
            <a:avLst>
              <a:gd name="adj" fmla="val 6153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1238250" y="6924675"/>
            <a:ext cx="617220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연삭·치수불량</a:t>
            </a:r>
          </a:p>
        </p:txBody>
      </p:sp>
      <p:sp>
        <p:nvSpPr>
          <p:cNvPr id="58" name="Rounded Rectangle 57"/>
          <p:cNvSpPr/>
          <p:nvPr/>
        </p:nvSpPr>
        <p:spPr>
          <a:xfrm>
            <a:off x="7543800" y="6924675"/>
            <a:ext cx="3162300" cy="619125"/>
          </a:xfrm>
          <a:prstGeom prst="roundRect">
            <a:avLst>
              <a:gd name="adj" fmla="val 615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7639050" y="6924675"/>
            <a:ext cx="297180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4,991</a:t>
            </a:r>
          </a:p>
        </p:txBody>
      </p:sp>
      <p:sp>
        <p:nvSpPr>
          <p:cNvPr id="60" name="Rounded Rectangle 59"/>
          <p:cNvSpPr/>
          <p:nvPr/>
        </p:nvSpPr>
        <p:spPr>
          <a:xfrm>
            <a:off x="10744200" y="6924675"/>
            <a:ext cx="3162300" cy="619125"/>
          </a:xfrm>
          <a:prstGeom prst="roundRect">
            <a:avLst>
              <a:gd name="adj" fmla="val 615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10839450" y="6924675"/>
            <a:ext cx="297180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7.8</a:t>
            </a:r>
          </a:p>
        </p:txBody>
      </p:sp>
      <p:sp>
        <p:nvSpPr>
          <p:cNvPr id="62" name="Rounded Rectangle 61"/>
          <p:cNvSpPr/>
          <p:nvPr/>
        </p:nvSpPr>
        <p:spPr>
          <a:xfrm>
            <a:off x="13944600" y="6924675"/>
            <a:ext cx="3200400" cy="619125"/>
          </a:xfrm>
          <a:prstGeom prst="roundRect">
            <a:avLst>
              <a:gd name="adj" fmla="val 615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14039850" y="6924675"/>
            <a:ext cx="300990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63.3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1143000" y="76200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75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합계 64,063개 · 80% 를 넘으려면 9번째 항목까지(누적 83.8%) — 3위에 성형이 끼어 있다</a:t>
            </a:r>
          </a:p>
        </p:txBody>
      </p:sp>
      <p:sp>
        <p:nvSpPr>
          <p:cNvPr id="65" name="Rectangle 64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생성형 AI 활용 실무 · 4일 32H · 2일차 7교시 · 실습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06</a:t>
            </a:r>
          </a:p>
        </p:txBody>
      </p:sp>
    </p:spTree>
  </p:cSld>
  <p:clrMapOvr>
    <a:masterClrMapping/>
  </p:clrMapOvr>
</p:sld>
</file>

<file path=ppt/slides/slide8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8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4단계 · 묶고 나눠 다시 보기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공정으로 묶으면, 기간으로 나누면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43000" y="2857500"/>
            <a:ext cx="7372350" cy="533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15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공정 합계 파레토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" y="3467100"/>
            <a:ext cx="7372350" cy="876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6000"/>
              </a:lnSpc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소결이 전체 불량의 40.9% — 뚜렷한 1위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143000" y="4610100"/>
            <a:ext cx="7372350" cy="2857500"/>
          </a:xfrm>
          <a:prstGeom prst="roundRect">
            <a:avLst>
              <a:gd name="adj" fmla="val 166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390650" y="4876800"/>
            <a:ext cx="838688" cy="2752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65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소결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305538" y="4933474"/>
            <a:ext cx="5071574" cy="161925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510462" y="4876800"/>
            <a:ext cx="809625" cy="2752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425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40.9%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390650" y="5152072"/>
            <a:ext cx="838688" cy="2752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65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성형</a:t>
            </a:r>
          </a:p>
        </p:txBody>
      </p:sp>
      <p:sp>
        <p:nvSpPr>
          <p:cNvPr id="15" name="Rectangle 14"/>
          <p:cNvSpPr/>
          <p:nvPr/>
        </p:nvSpPr>
        <p:spPr>
          <a:xfrm>
            <a:off x="2305538" y="5208746"/>
            <a:ext cx="2417988" cy="161925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856876" y="5152072"/>
            <a:ext cx="809625" cy="2752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425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19.5%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390650" y="5427345"/>
            <a:ext cx="838688" cy="2752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65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연삭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305538" y="5484019"/>
            <a:ext cx="1909590" cy="161925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348478" y="5427345"/>
            <a:ext cx="809625" cy="2752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425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15.4%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390650" y="5702617"/>
            <a:ext cx="838688" cy="2752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65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원료혼합</a:t>
            </a:r>
          </a:p>
        </p:txBody>
      </p:sp>
      <p:sp>
        <p:nvSpPr>
          <p:cNvPr id="21" name="Rectangle 20"/>
          <p:cNvSpPr/>
          <p:nvPr/>
        </p:nvSpPr>
        <p:spPr>
          <a:xfrm>
            <a:off x="2305538" y="5759291"/>
            <a:ext cx="1599592" cy="161925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038480" y="5702617"/>
            <a:ext cx="809625" cy="2752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425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12.9%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772650" y="2857500"/>
            <a:ext cx="7372350" cy="533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15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SF-02 소결 불량 유형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772650" y="3467100"/>
            <a:ext cx="7372350" cy="876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6000"/>
              </a:lnSpc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앞 40일 → 뒤 22일, 균열은 거의 두 배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9772650" y="4610100"/>
            <a:ext cx="7372350" cy="2857500"/>
          </a:xfrm>
          <a:prstGeom prst="roundRect">
            <a:avLst>
              <a:gd name="adj" fmla="val 166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10020300" y="4838700"/>
            <a:ext cx="1337310" cy="501967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0020300" y="4838700"/>
            <a:ext cx="1337310" cy="50196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6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유형</a:t>
            </a:r>
          </a:p>
        </p:txBody>
      </p:sp>
      <p:sp>
        <p:nvSpPr>
          <p:cNvPr id="28" name="Rectangle 27"/>
          <p:cNvSpPr/>
          <p:nvPr/>
        </p:nvSpPr>
        <p:spPr>
          <a:xfrm>
            <a:off x="11395710" y="4838700"/>
            <a:ext cx="2368868" cy="501967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1395710" y="4838700"/>
            <a:ext cx="2368868" cy="50196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6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7/1~8/9</a:t>
            </a:r>
          </a:p>
        </p:txBody>
      </p:sp>
      <p:sp>
        <p:nvSpPr>
          <p:cNvPr id="30" name="Rectangle 29"/>
          <p:cNvSpPr/>
          <p:nvPr/>
        </p:nvSpPr>
        <p:spPr>
          <a:xfrm>
            <a:off x="13802678" y="4838700"/>
            <a:ext cx="3094673" cy="501967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3802678" y="4838700"/>
            <a:ext cx="3094673" cy="50196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6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8/10~8/31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10020300" y="5405438"/>
            <a:ext cx="1337310" cy="409813"/>
          </a:xfrm>
          <a:prstGeom prst="roundRect">
            <a:avLst>
              <a:gd name="adj" fmla="val 9296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0115550" y="5405438"/>
            <a:ext cx="1146810" cy="40981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5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균열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11395710" y="5405438"/>
            <a:ext cx="2368868" cy="409813"/>
          </a:xfrm>
          <a:prstGeom prst="roundRect">
            <a:avLst>
              <a:gd name="adj" fmla="val 929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11490960" y="5405438"/>
            <a:ext cx="2178368" cy="40981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5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1,827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13802678" y="5405438"/>
            <a:ext cx="3094673" cy="409813"/>
          </a:xfrm>
          <a:prstGeom prst="roundRect">
            <a:avLst>
              <a:gd name="adj" fmla="val 929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13897928" y="5405438"/>
            <a:ext cx="2904173" cy="40981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5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3,535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10020300" y="5880021"/>
            <a:ext cx="1337310" cy="409813"/>
          </a:xfrm>
          <a:prstGeom prst="roundRect">
            <a:avLst>
              <a:gd name="adj" fmla="val 9296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10115550" y="5880021"/>
            <a:ext cx="1146810" cy="40981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5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밀도미달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11395710" y="5880021"/>
            <a:ext cx="2368868" cy="409813"/>
          </a:xfrm>
          <a:prstGeom prst="roundRect">
            <a:avLst>
              <a:gd name="adj" fmla="val 929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11490960" y="5880021"/>
            <a:ext cx="2178368" cy="40981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5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2,043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13802678" y="5880021"/>
            <a:ext cx="3094673" cy="409813"/>
          </a:xfrm>
          <a:prstGeom prst="roundRect">
            <a:avLst>
              <a:gd name="adj" fmla="val 929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13897928" y="5880021"/>
            <a:ext cx="2904173" cy="40981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5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2,917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10020300" y="6354604"/>
            <a:ext cx="1337310" cy="409813"/>
          </a:xfrm>
          <a:prstGeom prst="roundRect">
            <a:avLst>
              <a:gd name="adj" fmla="val 9296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10115550" y="6354604"/>
            <a:ext cx="1146810" cy="40981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5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치수불량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11395710" y="6354604"/>
            <a:ext cx="2368868" cy="409813"/>
          </a:xfrm>
          <a:prstGeom prst="roundRect">
            <a:avLst>
              <a:gd name="adj" fmla="val 929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11490960" y="6354604"/>
            <a:ext cx="2178368" cy="40981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5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1,505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13802678" y="6354604"/>
            <a:ext cx="3094673" cy="409813"/>
          </a:xfrm>
          <a:prstGeom prst="roundRect">
            <a:avLst>
              <a:gd name="adj" fmla="val 929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13897928" y="6354604"/>
            <a:ext cx="2904173" cy="40981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5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1,769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10020300" y="6829187"/>
            <a:ext cx="1337310" cy="409813"/>
          </a:xfrm>
          <a:prstGeom prst="roundRect">
            <a:avLst>
              <a:gd name="adj" fmla="val 9296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10115550" y="6829187"/>
            <a:ext cx="1146810" cy="40981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5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변형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11395710" y="6829187"/>
            <a:ext cx="2368868" cy="409813"/>
          </a:xfrm>
          <a:prstGeom prst="roundRect">
            <a:avLst>
              <a:gd name="adj" fmla="val 929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11490960" y="6829187"/>
            <a:ext cx="2178368" cy="40981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5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938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13802678" y="6829187"/>
            <a:ext cx="3094673" cy="409813"/>
          </a:xfrm>
          <a:prstGeom prst="roundRect">
            <a:avLst>
              <a:gd name="adj" fmla="val 929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13897928" y="6829187"/>
            <a:ext cx="2904173" cy="40981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5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570</a:t>
            </a:r>
          </a:p>
        </p:txBody>
      </p:sp>
      <p:sp>
        <p:nvSpPr>
          <p:cNvPr id="56" name="Oval 55"/>
          <p:cNvSpPr/>
          <p:nvPr/>
        </p:nvSpPr>
        <p:spPr>
          <a:xfrm>
            <a:off x="8686800" y="3771900"/>
            <a:ext cx="914400" cy="91440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8686800" y="4057650"/>
            <a:ext cx="9144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VS</a:t>
            </a:r>
          </a:p>
        </p:txBody>
      </p:sp>
      <p:sp>
        <p:nvSpPr>
          <p:cNvPr id="58" name="Rectangle 57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생성형 AI 활용 실무 · 4일 32H · 2일차 7교시 · 실습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07</a:t>
            </a:r>
          </a:p>
        </p:txBody>
      </p:sp>
    </p:spTree>
  </p:cSld>
  <p:clrMapOvr>
    <a:masterClrMapping/>
  </p:clrMapOvr>
</p:sld>
</file>

<file path=ppt/slides/slide8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8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자주 틀리는 지점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여기서 자주 막힙니다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3352800"/>
            <a:ext cx="16002000" cy="914400"/>
          </a:xfrm>
          <a:prstGeom prst="roundRect">
            <a:avLst>
              <a:gd name="adj" fmla="val 5208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143000" y="3352800"/>
            <a:ext cx="47625" cy="91440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428750" y="3600450"/>
            <a:ext cx="419100" cy="41910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428750" y="3667125"/>
            <a:ext cx="4191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8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057400" y="3448050"/>
            <a:ext cx="14763750" cy="7239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20000"/>
              </a:lnSpc>
            </a:pPr>
            <a:r>
              <a:rPr sz="21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치수불량이 합쳐짐</a:t>
            </a:r>
          </a:p>
          <a:p>
            <a:pPr>
              <a:lnSpc>
                <a:spcPct val="130000"/>
              </a:lnSpc>
              <a:spcBef>
                <a:spcPts val="300"/>
              </a:spcBef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소결·연삭 양쪽에 있다 — 공정&amp;유형 열부터 만든다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143000" y="4400550"/>
            <a:ext cx="16002000" cy="914400"/>
          </a:xfrm>
          <a:prstGeom prst="roundRect">
            <a:avLst>
              <a:gd name="adj" fmla="val 5208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1143000" y="4400550"/>
            <a:ext cx="47625" cy="91440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1428750" y="4648200"/>
            <a:ext cx="419100" cy="41910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428750" y="4714875"/>
            <a:ext cx="4191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8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057400" y="4495800"/>
            <a:ext cx="14763750" cy="7239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20000"/>
              </a:lnSpc>
            </a:pPr>
            <a:r>
              <a:rPr sz="21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피벗 차트로 파레토</a:t>
            </a:r>
          </a:p>
          <a:p>
            <a:pPr>
              <a:lnSpc>
                <a:spcPct val="130000"/>
              </a:lnSpc>
              <a:spcBef>
                <a:spcPts val="300"/>
              </a:spcBef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안 된다 — 값만 붙여넣기 한 뒤 파레토 차트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143000" y="5448300"/>
            <a:ext cx="16002000" cy="914400"/>
          </a:xfrm>
          <a:prstGeom prst="roundRect">
            <a:avLst>
              <a:gd name="adj" fmla="val 5208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1143000" y="5448300"/>
            <a:ext cx="47625" cy="91440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1428750" y="5695950"/>
            <a:ext cx="419100" cy="41910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428750" y="5762625"/>
            <a:ext cx="4191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8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057400" y="5543550"/>
            <a:ext cx="14763750" cy="7239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20000"/>
              </a:lnSpc>
            </a:pPr>
            <a:r>
              <a:rPr sz="21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합친 선 하나로 추세</a:t>
            </a:r>
          </a:p>
          <a:p>
            <a:pPr>
              <a:lnSpc>
                <a:spcPct val="130000"/>
              </a:lnSpc>
              <a:spcBef>
                <a:spcPts val="300"/>
              </a:spcBef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꺾이는 날이 흐려진다 — 설비별로 선을 나눈다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1143000" y="6496050"/>
            <a:ext cx="16002000" cy="914400"/>
          </a:xfrm>
          <a:prstGeom prst="roundRect">
            <a:avLst>
              <a:gd name="adj" fmla="val 5208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1143000" y="6496050"/>
            <a:ext cx="47625" cy="91440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1428750" y="6743700"/>
            <a:ext cx="419100" cy="41910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428750" y="6810375"/>
            <a:ext cx="4191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8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057400" y="6591300"/>
            <a:ext cx="14763750" cy="7239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20000"/>
              </a:lnSpc>
            </a:pPr>
            <a:r>
              <a:rPr sz="21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AI 가 원인을 지어냄</a:t>
            </a:r>
          </a:p>
          <a:p>
            <a:pPr>
              <a:lnSpc>
                <a:spcPct val="130000"/>
              </a:lnSpc>
              <a:spcBef>
                <a:spcPts val="300"/>
              </a:spcBef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숫자에 없는 원인 문장은 지우고 필요한 기록만 남긴다</a:t>
            </a:r>
          </a:p>
        </p:txBody>
      </p:sp>
      <p:sp>
        <p:nvSpPr>
          <p:cNvPr id="28" name="Rectangle 27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생성형 AI 활용 실무 · 4일 32H · 2일차 7교시 · 실습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08</a:t>
            </a:r>
          </a:p>
        </p:txBody>
      </p:sp>
    </p:spTree>
  </p:cSld>
  <p:clrMapOvr>
    <a:masterClrMapping/>
  </p:clrMapOvr>
</p:sld>
</file>

<file path=ppt/slides/slide8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8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확인 포인트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이것이 되면 끝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348615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390650" y="3629025"/>
            <a:ext cx="533400" cy="53340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390650" y="375285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190750" y="348615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소결 불량률 7월 2.17% → 8월 3.69%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143000" y="447675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1390650" y="4619625"/>
            <a:ext cx="533400" cy="53340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390650" y="474345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190750" y="447675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SF-02 만 8/10 무렵부터 올라간 채 머무는 것을 찾았다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143000" y="546735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1390650" y="5610225"/>
            <a:ext cx="533400" cy="53340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390650" y="573405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190750" y="546735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유형 파레토 13개, 합계 64,063개, 1위 소결·밀도미달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143000" y="645795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1390650" y="6600825"/>
            <a:ext cx="533400" cy="53340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390650" y="672465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190750" y="645795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공정 합계 소결 40.9%, 성형·밀도불균일 3위를 메모했다</a:t>
            </a:r>
          </a:p>
        </p:txBody>
      </p:sp>
      <p:sp>
        <p:nvSpPr>
          <p:cNvPr id="24" name="Rectangle 23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생성형 AI 활용 실무 · 4일 32H · 2일차 7교시 · 실습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09</a:t>
            </a:r>
          </a:p>
        </p:txBody>
      </p:sp>
    </p:spTree>
  </p:cSld>
  <p:clrMapOvr>
    <a:masterClrMapping/>
  </p:clrMapOvr>
</p:sld>
</file>

<file path=ppt/slides/slide8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4859000" y="6667500"/>
            <a:ext cx="5905500" cy="5905500"/>
          </a:xfrm>
          <a:prstGeom prst="ellipse">
            <a:avLst/>
          </a:prstGeom>
          <a:solidFill>
            <a:srgbClr val="F2F8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2095500" y="-2095500"/>
            <a:ext cx="4381500" cy="4381500"/>
          </a:xfrm>
          <a:prstGeom prst="ellipse">
            <a:avLst/>
          </a:prstGeom>
          <a:solidFill>
            <a:srgbClr val="F5F6F7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43000" y="2857500"/>
            <a:ext cx="16002000" cy="285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3352800"/>
            <a:ext cx="85725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2일차 7교시 · 실습 마무리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3771900"/>
            <a:ext cx="16002000" cy="800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다음은 중점관리공정 최종 선정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43000" y="4724400"/>
            <a:ext cx="16002000" cy="4381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4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OEE·Cpk·불량률·추세에 고객 영향과 개선 가능성을 더해 다기준 판단표로 한 곳을 고릅니다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143000" y="5257800"/>
            <a:ext cx="7772400" cy="819150"/>
          </a:xfrm>
          <a:prstGeom prst="roundRect">
            <a:avLst>
              <a:gd name="adj" fmla="val 697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428750" y="5486400"/>
            <a:ext cx="4191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✓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905000" y="5486400"/>
            <a:ext cx="672465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후보 공정 셋으로 좁히기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9372600" y="5257800"/>
            <a:ext cx="7772400" cy="819150"/>
          </a:xfrm>
          <a:prstGeom prst="roundRect">
            <a:avLst>
              <a:gd name="adj" fmla="val 697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658350" y="5486400"/>
            <a:ext cx="4191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✓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134600" y="5486400"/>
            <a:ext cx="672465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기준·가중치 합의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143000" y="6286500"/>
            <a:ext cx="7772400" cy="819150"/>
          </a:xfrm>
          <a:prstGeom prst="roundRect">
            <a:avLst>
              <a:gd name="adj" fmla="val 697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428750" y="6515100"/>
            <a:ext cx="4191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✓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905000" y="6515100"/>
            <a:ext cx="672465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점수와 민감도 점검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9372600" y="6286500"/>
            <a:ext cx="7772400" cy="819150"/>
          </a:xfrm>
          <a:prstGeom prst="roundRect">
            <a:avLst>
              <a:gd name="adj" fmla="val 697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658350" y="6515100"/>
            <a:ext cx="4191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✓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134600" y="6515100"/>
            <a:ext cx="672465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중점관리공정 선정서 한 장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143000" y="7715250"/>
            <a:ext cx="47625" cy="81915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409700" y="7734300"/>
            <a:ext cx="85725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 spc="14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가져올 것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09700" y="8077200"/>
            <a:ext cx="857250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오늘 만든 비교표와 파레토 전부</a:t>
            </a:r>
          </a:p>
        </p:txBody>
      </p:sp>
    </p:spTree>
  </p:cSld>
  <p:clrMapOvr>
    <a:masterClrMapping/>
  </p:clrMapOvr>
</p:sld>
</file>

<file path=ppt/slides/slide8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4192250" y="-2381250"/>
            <a:ext cx="7429500" cy="7429500"/>
          </a:xfrm>
          <a:prstGeom prst="ellipse">
            <a:avLst/>
          </a:prstGeom>
          <a:solidFill>
            <a:srgbClr val="F0F7F7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5430500" y="-1143000"/>
            <a:ext cx="4953000" cy="49530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15906750" y="5905500"/>
            <a:ext cx="4953000" cy="4953000"/>
          </a:xfrm>
          <a:prstGeom prst="ellipse">
            <a:avLst/>
          </a:prstGeom>
          <a:solidFill>
            <a:srgbClr val="F5F6F7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-1714500" y="2857500"/>
            <a:ext cx="2857500" cy="28575"/>
          </a:xfrm>
          <a:prstGeom prst="rect">
            <a:avLst/>
          </a:prstGeom>
          <a:solidFill>
            <a:srgbClr val="E6EAED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-2857500" y="6953250"/>
            <a:ext cx="6953250" cy="6953250"/>
          </a:xfrm>
          <a:prstGeom prst="ellipse">
            <a:avLst/>
          </a:prstGeom>
          <a:solidFill>
            <a:srgbClr val="ECF5F5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-1581150" y="8229600"/>
            <a:ext cx="4400550" cy="440055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3390900" y="8953500"/>
            <a:ext cx="742950" cy="742950"/>
          </a:xfrm>
          <a:prstGeom prst="ellipse">
            <a:avLst/>
          </a:prstGeom>
          <a:solidFill>
            <a:srgbClr val="EBEEF0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4457700" y="9563100"/>
            <a:ext cx="342900" cy="342900"/>
          </a:xfrm>
          <a:prstGeom prst="ellipse">
            <a:avLst/>
          </a:prstGeom>
          <a:solidFill>
            <a:srgbClr val="DFEDE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1143000" y="9639300"/>
            <a:ext cx="1619250" cy="28575"/>
          </a:xfrm>
          <a:prstGeom prst="rect">
            <a:avLst/>
          </a:prstGeom>
          <a:solidFill>
            <a:srgbClr val="E6EAED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1143000" y="2857500"/>
            <a:ext cx="16002000" cy="285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43000" y="3486150"/>
            <a:ext cx="85725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 spc="12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2일차 8교시 · 통합 KPI 분석과 문제 공정 선정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43000" y="3905250"/>
            <a:ext cx="16002000" cy="20833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6900" b="1" spc="-257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중점관리공정 최종 선정</a:t>
            </a:r>
          </a:p>
          <a:p>
            <a:pPr algn="l">
              <a:lnSpc>
                <a:spcPct val="105000"/>
              </a:lnSpc>
            </a:pPr>
            <a:r>
              <a:rPr sz="6900" b="1" spc="-257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다기준 판단표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43000" y="6198108"/>
            <a:ext cx="16002000" cy="571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300" b="1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결론이 기준에서 나오게 한다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572500" y="7677150"/>
            <a:ext cx="8572500" cy="857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50000"/>
              </a:lnSpc>
            </a:pPr>
            <a:r>
              <a:rPr sz="1950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생산안전본부 및 품질환경단 직무훈련</a:t>
            </a:r>
          </a:p>
          <a:p>
            <a:pPr algn="r">
              <a:lnSpc>
                <a:spcPct val="150000"/>
              </a:lnSpc>
            </a:pPr>
            <a:r>
              <a:rPr sz="1950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생성형 AI 활용 실무 · 2026. 10. 12.~15.</a:t>
            </a:r>
          </a:p>
        </p:txBody>
      </p:sp>
    </p:spTree>
  </p:cSld>
  <p:clrMapOvr>
    <a:masterClrMapping/>
  </p:clrMapOvr>
</p:sld>
</file>

<file path=ppt/slides/slide8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8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이 시간의 목표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50분 뒤에는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339090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390650" y="3533775"/>
            <a:ext cx="533400" cy="53340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390650" y="365760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①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190750" y="339090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기준·가중치·점수 규칙을 정해 공정별 가중 점수를 낸다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143000" y="438150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1390650" y="4524375"/>
            <a:ext cx="533400" cy="53340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390650" y="464820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②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190750" y="438150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가중치를 바꿔도 순위가 유지되는지 점검한다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143000" y="537210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1390650" y="5514975"/>
            <a:ext cx="533400" cy="53340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390650" y="563880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③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190750" y="537210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사실과 판단을 나눈 중점관리공정 선정서를 완성한다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143000" y="6953250"/>
            <a:ext cx="16002000" cy="876300"/>
          </a:xfrm>
          <a:prstGeom prst="roundRect">
            <a:avLst>
              <a:gd name="adj" fmla="val 5434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143000" y="7200900"/>
            <a:ext cx="16002000" cy="4381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이 선정서가 3일차 원인 분석의 출발점입니다</a:t>
            </a:r>
          </a:p>
        </p:txBody>
      </p:sp>
      <p:sp>
        <p:nvSpPr>
          <p:cNvPr id="22" name="Rectangle 21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생성형 AI 활용 실무 · 4일 32H · 2일차 8교시 · 실습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02</a:t>
            </a:r>
          </a:p>
        </p:txBody>
      </p:sp>
    </p:spTree>
  </p:cSld>
  <p:clrMapOvr>
    <a:masterClrMapping/>
  </p:clrMapOvr>
</p:sld>
</file>

<file path=ppt/slides/slide8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8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1단계 · 후보 좁히기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여섯 공정에서 후보 셋으로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143000" y="2781300"/>
            <a:ext cx="3482340" cy="590550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43000" y="2781300"/>
            <a:ext cx="348234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공정</a:t>
            </a:r>
          </a:p>
        </p:txBody>
      </p:sp>
      <p:sp>
        <p:nvSpPr>
          <p:cNvPr id="10" name="Rectangle 9"/>
          <p:cNvSpPr/>
          <p:nvPr/>
        </p:nvSpPr>
        <p:spPr>
          <a:xfrm>
            <a:off x="4663440" y="2781300"/>
            <a:ext cx="2682240" cy="59055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663440" y="2781300"/>
            <a:ext cx="268224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OEE(%)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383780" y="2781300"/>
            <a:ext cx="3162300" cy="59055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383780" y="2781300"/>
            <a:ext cx="316230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불량률(%)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0584180" y="2781300"/>
            <a:ext cx="3162300" cy="59055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584180" y="2781300"/>
            <a:ext cx="316230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7→8월(%p)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3784580" y="2781300"/>
            <a:ext cx="3360420" cy="59055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3784580" y="2781300"/>
            <a:ext cx="336042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1차 판단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143000" y="3448050"/>
            <a:ext cx="3482340" cy="619125"/>
          </a:xfrm>
          <a:prstGeom prst="roundRect">
            <a:avLst>
              <a:gd name="adj" fmla="val 6153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238250" y="3448050"/>
            <a:ext cx="329184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원료혼합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663440" y="3448050"/>
            <a:ext cx="2682240" cy="619125"/>
          </a:xfrm>
          <a:prstGeom prst="roundRect">
            <a:avLst>
              <a:gd name="adj" fmla="val 615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758690" y="3448050"/>
            <a:ext cx="249174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88.1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383780" y="3448050"/>
            <a:ext cx="3162300" cy="619125"/>
          </a:xfrm>
          <a:prstGeom prst="roundRect">
            <a:avLst>
              <a:gd name="adj" fmla="val 615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479030" y="3448050"/>
            <a:ext cx="297180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0.65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0584180" y="3448050"/>
            <a:ext cx="3162300" cy="619125"/>
          </a:xfrm>
          <a:prstGeom prst="roundRect">
            <a:avLst>
              <a:gd name="adj" fmla="val 615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679430" y="3448050"/>
            <a:ext cx="297180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0.00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13784580" y="3448050"/>
            <a:ext cx="3360420" cy="619125"/>
          </a:xfrm>
          <a:prstGeom prst="roundRect">
            <a:avLst>
              <a:gd name="adj" fmla="val 615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3879830" y="3448050"/>
            <a:ext cx="316992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제외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1143000" y="4143375"/>
            <a:ext cx="3482340" cy="619125"/>
          </a:xfrm>
          <a:prstGeom prst="roundRect">
            <a:avLst>
              <a:gd name="adj" fmla="val 6153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238250" y="4143375"/>
            <a:ext cx="329184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성형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663440" y="4143375"/>
            <a:ext cx="2682240" cy="619125"/>
          </a:xfrm>
          <a:prstGeom prst="roundRect">
            <a:avLst>
              <a:gd name="adj" fmla="val 615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758690" y="4143375"/>
            <a:ext cx="249174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87.3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7383780" y="4143375"/>
            <a:ext cx="3162300" cy="619125"/>
          </a:xfrm>
          <a:prstGeom prst="roundRect">
            <a:avLst>
              <a:gd name="adj" fmla="val 615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7479030" y="4143375"/>
            <a:ext cx="297180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1.19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10584180" y="4143375"/>
            <a:ext cx="3162300" cy="619125"/>
          </a:xfrm>
          <a:prstGeom prst="roundRect">
            <a:avLst>
              <a:gd name="adj" fmla="val 615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10679430" y="4143375"/>
            <a:ext cx="297180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+0.25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13784580" y="4143375"/>
            <a:ext cx="3360420" cy="619125"/>
          </a:xfrm>
          <a:prstGeom prst="roundRect">
            <a:avLst>
              <a:gd name="adj" fmla="val 615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13879830" y="4143375"/>
            <a:ext cx="316992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후보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1143000" y="4838700"/>
            <a:ext cx="3482340" cy="619125"/>
          </a:xfrm>
          <a:prstGeom prst="roundRect">
            <a:avLst>
              <a:gd name="adj" fmla="val 6153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1238250" y="4838700"/>
            <a:ext cx="329184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소결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4663440" y="4838700"/>
            <a:ext cx="2682240" cy="619125"/>
          </a:xfrm>
          <a:prstGeom prst="roundRect">
            <a:avLst>
              <a:gd name="adj" fmla="val 615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4758690" y="4838700"/>
            <a:ext cx="249174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79.7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7383780" y="4838700"/>
            <a:ext cx="3162300" cy="619125"/>
          </a:xfrm>
          <a:prstGeom prst="roundRect">
            <a:avLst>
              <a:gd name="adj" fmla="val 615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7479030" y="4838700"/>
            <a:ext cx="297180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2.90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10584180" y="4838700"/>
            <a:ext cx="3162300" cy="619125"/>
          </a:xfrm>
          <a:prstGeom prst="roundRect">
            <a:avLst>
              <a:gd name="adj" fmla="val 615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10679430" y="4838700"/>
            <a:ext cx="297180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+1.52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13784580" y="4838700"/>
            <a:ext cx="3360420" cy="619125"/>
          </a:xfrm>
          <a:prstGeom prst="roundRect">
            <a:avLst>
              <a:gd name="adj" fmla="val 615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13879830" y="4838700"/>
            <a:ext cx="316992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후보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1143000" y="5534025"/>
            <a:ext cx="3482340" cy="619125"/>
          </a:xfrm>
          <a:prstGeom prst="roundRect">
            <a:avLst>
              <a:gd name="adj" fmla="val 6153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1238250" y="5534025"/>
            <a:ext cx="329184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연삭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4663440" y="5534025"/>
            <a:ext cx="2682240" cy="619125"/>
          </a:xfrm>
          <a:prstGeom prst="roundRect">
            <a:avLst>
              <a:gd name="adj" fmla="val 615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4758690" y="5534025"/>
            <a:ext cx="249174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80.0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7383780" y="5534025"/>
            <a:ext cx="3162300" cy="619125"/>
          </a:xfrm>
          <a:prstGeom prst="roundRect">
            <a:avLst>
              <a:gd name="adj" fmla="val 615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7479030" y="5534025"/>
            <a:ext cx="297180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1.06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10584180" y="5534025"/>
            <a:ext cx="3162300" cy="619125"/>
          </a:xfrm>
          <a:prstGeom prst="roundRect">
            <a:avLst>
              <a:gd name="adj" fmla="val 615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10679430" y="5534025"/>
            <a:ext cx="297180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+0.01</a:t>
            </a:r>
          </a:p>
        </p:txBody>
      </p:sp>
      <p:sp>
        <p:nvSpPr>
          <p:cNvPr id="56" name="Rounded Rectangle 55"/>
          <p:cNvSpPr/>
          <p:nvPr/>
        </p:nvSpPr>
        <p:spPr>
          <a:xfrm>
            <a:off x="13784580" y="5534025"/>
            <a:ext cx="3360420" cy="619125"/>
          </a:xfrm>
          <a:prstGeom prst="roundRect">
            <a:avLst>
              <a:gd name="adj" fmla="val 615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13879830" y="5534025"/>
            <a:ext cx="316992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후보</a:t>
            </a:r>
          </a:p>
        </p:txBody>
      </p:sp>
      <p:sp>
        <p:nvSpPr>
          <p:cNvPr id="58" name="Rounded Rectangle 57"/>
          <p:cNvSpPr/>
          <p:nvPr/>
        </p:nvSpPr>
        <p:spPr>
          <a:xfrm>
            <a:off x="1143000" y="6229350"/>
            <a:ext cx="3482340" cy="619125"/>
          </a:xfrm>
          <a:prstGeom prst="roundRect">
            <a:avLst>
              <a:gd name="adj" fmla="val 6153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1238250" y="6229350"/>
            <a:ext cx="329184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검사</a:t>
            </a:r>
          </a:p>
        </p:txBody>
      </p:sp>
      <p:sp>
        <p:nvSpPr>
          <p:cNvPr id="60" name="Rounded Rectangle 59"/>
          <p:cNvSpPr/>
          <p:nvPr/>
        </p:nvSpPr>
        <p:spPr>
          <a:xfrm>
            <a:off x="4663440" y="6229350"/>
            <a:ext cx="2682240" cy="619125"/>
          </a:xfrm>
          <a:prstGeom prst="roundRect">
            <a:avLst>
              <a:gd name="adj" fmla="val 615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4758690" y="6229350"/>
            <a:ext cx="249174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87.9</a:t>
            </a:r>
          </a:p>
        </p:txBody>
      </p:sp>
      <p:sp>
        <p:nvSpPr>
          <p:cNvPr id="62" name="Rounded Rectangle 61"/>
          <p:cNvSpPr/>
          <p:nvPr/>
        </p:nvSpPr>
        <p:spPr>
          <a:xfrm>
            <a:off x="7383780" y="6229350"/>
            <a:ext cx="3162300" cy="619125"/>
          </a:xfrm>
          <a:prstGeom prst="roundRect">
            <a:avLst>
              <a:gd name="adj" fmla="val 615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7479030" y="6229350"/>
            <a:ext cx="297180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0.35</a:t>
            </a:r>
          </a:p>
        </p:txBody>
      </p:sp>
      <p:sp>
        <p:nvSpPr>
          <p:cNvPr id="64" name="Rounded Rectangle 63"/>
          <p:cNvSpPr/>
          <p:nvPr/>
        </p:nvSpPr>
        <p:spPr>
          <a:xfrm>
            <a:off x="10584180" y="6229350"/>
            <a:ext cx="3162300" cy="619125"/>
          </a:xfrm>
          <a:prstGeom prst="roundRect">
            <a:avLst>
              <a:gd name="adj" fmla="val 615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10679430" y="6229350"/>
            <a:ext cx="297180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0.00</a:t>
            </a:r>
          </a:p>
        </p:txBody>
      </p:sp>
      <p:sp>
        <p:nvSpPr>
          <p:cNvPr id="66" name="Rounded Rectangle 65"/>
          <p:cNvSpPr/>
          <p:nvPr/>
        </p:nvSpPr>
        <p:spPr>
          <a:xfrm>
            <a:off x="13784580" y="6229350"/>
            <a:ext cx="3360420" cy="619125"/>
          </a:xfrm>
          <a:prstGeom prst="roundRect">
            <a:avLst>
              <a:gd name="adj" fmla="val 615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13879830" y="6229350"/>
            <a:ext cx="316992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제외</a:t>
            </a:r>
          </a:p>
        </p:txBody>
      </p:sp>
      <p:sp>
        <p:nvSpPr>
          <p:cNvPr id="68" name="Rounded Rectangle 67"/>
          <p:cNvSpPr/>
          <p:nvPr/>
        </p:nvSpPr>
        <p:spPr>
          <a:xfrm>
            <a:off x="1143000" y="6924675"/>
            <a:ext cx="3482340" cy="619125"/>
          </a:xfrm>
          <a:prstGeom prst="roundRect">
            <a:avLst>
              <a:gd name="adj" fmla="val 6153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1238250" y="6924675"/>
            <a:ext cx="329184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포장</a:t>
            </a:r>
          </a:p>
        </p:txBody>
      </p:sp>
      <p:sp>
        <p:nvSpPr>
          <p:cNvPr id="70" name="Rounded Rectangle 69"/>
          <p:cNvSpPr/>
          <p:nvPr/>
        </p:nvSpPr>
        <p:spPr>
          <a:xfrm>
            <a:off x="4663440" y="6924675"/>
            <a:ext cx="2682240" cy="619125"/>
          </a:xfrm>
          <a:prstGeom prst="roundRect">
            <a:avLst>
              <a:gd name="adj" fmla="val 615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4758690" y="6924675"/>
            <a:ext cx="249174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88.2</a:t>
            </a:r>
          </a:p>
        </p:txBody>
      </p:sp>
      <p:sp>
        <p:nvSpPr>
          <p:cNvPr id="72" name="Rounded Rectangle 71"/>
          <p:cNvSpPr/>
          <p:nvPr/>
        </p:nvSpPr>
        <p:spPr>
          <a:xfrm>
            <a:off x="7383780" y="6924675"/>
            <a:ext cx="3162300" cy="619125"/>
          </a:xfrm>
          <a:prstGeom prst="roundRect">
            <a:avLst>
              <a:gd name="adj" fmla="val 615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7479030" y="6924675"/>
            <a:ext cx="297180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0.25</a:t>
            </a:r>
          </a:p>
        </p:txBody>
      </p:sp>
      <p:sp>
        <p:nvSpPr>
          <p:cNvPr id="74" name="Rounded Rectangle 73"/>
          <p:cNvSpPr/>
          <p:nvPr/>
        </p:nvSpPr>
        <p:spPr>
          <a:xfrm>
            <a:off x="10584180" y="6924675"/>
            <a:ext cx="3162300" cy="619125"/>
          </a:xfrm>
          <a:prstGeom prst="roundRect">
            <a:avLst>
              <a:gd name="adj" fmla="val 615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10679430" y="6924675"/>
            <a:ext cx="297180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0.00</a:t>
            </a:r>
          </a:p>
        </p:txBody>
      </p:sp>
      <p:sp>
        <p:nvSpPr>
          <p:cNvPr id="76" name="Rounded Rectangle 75"/>
          <p:cNvSpPr/>
          <p:nvPr/>
        </p:nvSpPr>
        <p:spPr>
          <a:xfrm>
            <a:off x="13784580" y="6924675"/>
            <a:ext cx="3360420" cy="619125"/>
          </a:xfrm>
          <a:prstGeom prst="roundRect">
            <a:avLst>
              <a:gd name="adj" fmla="val 615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13879830" y="6924675"/>
            <a:ext cx="316992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제외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1143000" y="76200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75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숫자는 06_kpi_workbook.xlsx 의 OEE_BY_PROCESS 시트와 대조</a:t>
            </a:r>
          </a:p>
        </p:txBody>
      </p:sp>
      <p:sp>
        <p:nvSpPr>
          <p:cNvPr id="79" name="Rectangle 78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0" name="TextBox 79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생성형 AI 활용 실무 · 4일 32H · 2일차 8교시 · 실습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03</a:t>
            </a:r>
          </a:p>
        </p:txBody>
      </p:sp>
    </p:spTree>
  </p:cSld>
  <p:clrMapOvr>
    <a:masterClrMapping/>
  </p:clrMapOvr>
</p:sld>
</file>

<file path=ppt/slides/slide8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8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2단계 · 기준과 가중치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숫자를 보기 전에 합의한다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143000" y="2781300"/>
            <a:ext cx="3802380" cy="590550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43000" y="2781300"/>
            <a:ext cx="380238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기준</a:t>
            </a:r>
          </a:p>
        </p:txBody>
      </p:sp>
      <p:sp>
        <p:nvSpPr>
          <p:cNvPr id="10" name="Rectangle 9"/>
          <p:cNvSpPr/>
          <p:nvPr/>
        </p:nvSpPr>
        <p:spPr>
          <a:xfrm>
            <a:off x="4983480" y="2781300"/>
            <a:ext cx="1882140" cy="59055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983480" y="2781300"/>
            <a:ext cx="188214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가중치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903720" y="2781300"/>
            <a:ext cx="1882140" cy="59055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903720" y="2781300"/>
            <a:ext cx="188214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구분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823960" y="2781300"/>
            <a:ext cx="4122420" cy="59055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823960" y="2781300"/>
            <a:ext cx="412242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1점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2984480" y="2781300"/>
            <a:ext cx="4160520" cy="59055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2984480" y="2781300"/>
            <a:ext cx="416052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5점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143000" y="3448050"/>
            <a:ext cx="3802380" cy="619125"/>
          </a:xfrm>
          <a:prstGeom prst="roundRect">
            <a:avLst>
              <a:gd name="adj" fmla="val 6153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238250" y="3448050"/>
            <a:ext cx="361188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OEE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983480" y="3448050"/>
            <a:ext cx="1882140" cy="619125"/>
          </a:xfrm>
          <a:prstGeom prst="roundRect">
            <a:avLst>
              <a:gd name="adj" fmla="val 615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078730" y="3448050"/>
            <a:ext cx="169164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20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903720" y="3448050"/>
            <a:ext cx="1882140" cy="619125"/>
          </a:xfrm>
          <a:prstGeom prst="roundRect">
            <a:avLst>
              <a:gd name="adj" fmla="val 615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998970" y="3448050"/>
            <a:ext cx="169164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사실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823960" y="3448050"/>
            <a:ext cx="4122420" cy="619125"/>
          </a:xfrm>
          <a:prstGeom prst="roundRect">
            <a:avLst>
              <a:gd name="adj" fmla="val 615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919210" y="3448050"/>
            <a:ext cx="393192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87% 이상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12984480" y="3448050"/>
            <a:ext cx="4160520" cy="619125"/>
          </a:xfrm>
          <a:prstGeom prst="roundRect">
            <a:avLst>
              <a:gd name="adj" fmla="val 615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3079730" y="3448050"/>
            <a:ext cx="397002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81% 미만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1143000" y="4143375"/>
            <a:ext cx="3802380" cy="619125"/>
          </a:xfrm>
          <a:prstGeom prst="roundRect">
            <a:avLst>
              <a:gd name="adj" fmla="val 6153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238250" y="4143375"/>
            <a:ext cx="361188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Cpk(최저 설비)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983480" y="4143375"/>
            <a:ext cx="1882140" cy="619125"/>
          </a:xfrm>
          <a:prstGeom prst="roundRect">
            <a:avLst>
              <a:gd name="adj" fmla="val 615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5078730" y="4143375"/>
            <a:ext cx="169164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20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6903720" y="4143375"/>
            <a:ext cx="1882140" cy="619125"/>
          </a:xfrm>
          <a:prstGeom prst="roundRect">
            <a:avLst>
              <a:gd name="adj" fmla="val 615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998970" y="4143375"/>
            <a:ext cx="169164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사실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8823960" y="4143375"/>
            <a:ext cx="4122420" cy="619125"/>
          </a:xfrm>
          <a:prstGeom prst="roundRect">
            <a:avLst>
              <a:gd name="adj" fmla="val 615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8919210" y="4143375"/>
            <a:ext cx="393192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1.67 이상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12984480" y="4143375"/>
            <a:ext cx="4160520" cy="619125"/>
          </a:xfrm>
          <a:prstGeom prst="roundRect">
            <a:avLst>
              <a:gd name="adj" fmla="val 615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13079730" y="4143375"/>
            <a:ext cx="397002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0.67 미만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1143000" y="4838700"/>
            <a:ext cx="3802380" cy="619125"/>
          </a:xfrm>
          <a:prstGeom prst="roundRect">
            <a:avLst>
              <a:gd name="adj" fmla="val 6153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1238250" y="4838700"/>
            <a:ext cx="361188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불량률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4983480" y="4838700"/>
            <a:ext cx="1882140" cy="619125"/>
          </a:xfrm>
          <a:prstGeom prst="roundRect">
            <a:avLst>
              <a:gd name="adj" fmla="val 615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5078730" y="4838700"/>
            <a:ext cx="169164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20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6903720" y="4838700"/>
            <a:ext cx="1882140" cy="619125"/>
          </a:xfrm>
          <a:prstGeom prst="roundRect">
            <a:avLst>
              <a:gd name="adj" fmla="val 615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6998970" y="4838700"/>
            <a:ext cx="169164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사실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8823960" y="4838700"/>
            <a:ext cx="4122420" cy="619125"/>
          </a:xfrm>
          <a:prstGeom prst="roundRect">
            <a:avLst>
              <a:gd name="adj" fmla="val 615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8919210" y="4838700"/>
            <a:ext cx="393192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0.5% 미만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12984480" y="4838700"/>
            <a:ext cx="4160520" cy="619125"/>
          </a:xfrm>
          <a:prstGeom prst="roundRect">
            <a:avLst>
              <a:gd name="adj" fmla="val 615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13079730" y="4838700"/>
            <a:ext cx="397002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2.5% 이상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1143000" y="5534025"/>
            <a:ext cx="3802380" cy="619125"/>
          </a:xfrm>
          <a:prstGeom prst="roundRect">
            <a:avLst>
              <a:gd name="adj" fmla="val 6153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1238250" y="5534025"/>
            <a:ext cx="361188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악화 추세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4983480" y="5534025"/>
            <a:ext cx="1882140" cy="619125"/>
          </a:xfrm>
          <a:prstGeom prst="roundRect">
            <a:avLst>
              <a:gd name="adj" fmla="val 615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5078730" y="5534025"/>
            <a:ext cx="169164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15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6903720" y="5534025"/>
            <a:ext cx="1882140" cy="619125"/>
          </a:xfrm>
          <a:prstGeom prst="roundRect">
            <a:avLst>
              <a:gd name="adj" fmla="val 615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6998970" y="5534025"/>
            <a:ext cx="169164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사실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8823960" y="5534025"/>
            <a:ext cx="4122420" cy="619125"/>
          </a:xfrm>
          <a:prstGeom prst="roundRect">
            <a:avLst>
              <a:gd name="adj" fmla="val 615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8919210" y="5534025"/>
            <a:ext cx="393192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변화 없음</a:t>
            </a:r>
          </a:p>
        </p:txBody>
      </p:sp>
      <p:sp>
        <p:nvSpPr>
          <p:cNvPr id="56" name="Rounded Rectangle 55"/>
          <p:cNvSpPr/>
          <p:nvPr/>
        </p:nvSpPr>
        <p:spPr>
          <a:xfrm>
            <a:off x="12984480" y="5534025"/>
            <a:ext cx="4160520" cy="619125"/>
          </a:xfrm>
          <a:prstGeom prst="roundRect">
            <a:avLst>
              <a:gd name="adj" fmla="val 615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13079730" y="5534025"/>
            <a:ext cx="397002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+1.0%p 초과</a:t>
            </a:r>
          </a:p>
        </p:txBody>
      </p:sp>
      <p:sp>
        <p:nvSpPr>
          <p:cNvPr id="58" name="Rounded Rectangle 57"/>
          <p:cNvSpPr/>
          <p:nvPr/>
        </p:nvSpPr>
        <p:spPr>
          <a:xfrm>
            <a:off x="1143000" y="6229350"/>
            <a:ext cx="3802380" cy="619125"/>
          </a:xfrm>
          <a:prstGeom prst="roundRect">
            <a:avLst>
              <a:gd name="adj" fmla="val 6153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1238250" y="6229350"/>
            <a:ext cx="361188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고객 영향</a:t>
            </a:r>
          </a:p>
        </p:txBody>
      </p:sp>
      <p:sp>
        <p:nvSpPr>
          <p:cNvPr id="60" name="Rounded Rectangle 59"/>
          <p:cNvSpPr/>
          <p:nvPr/>
        </p:nvSpPr>
        <p:spPr>
          <a:xfrm>
            <a:off x="4983480" y="6229350"/>
            <a:ext cx="1882140" cy="619125"/>
          </a:xfrm>
          <a:prstGeom prst="roundRect">
            <a:avLst>
              <a:gd name="adj" fmla="val 615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5078730" y="6229350"/>
            <a:ext cx="169164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15</a:t>
            </a:r>
          </a:p>
        </p:txBody>
      </p:sp>
      <p:sp>
        <p:nvSpPr>
          <p:cNvPr id="62" name="Rounded Rectangle 61"/>
          <p:cNvSpPr/>
          <p:nvPr/>
        </p:nvSpPr>
        <p:spPr>
          <a:xfrm>
            <a:off x="6903720" y="6229350"/>
            <a:ext cx="1882140" cy="619125"/>
          </a:xfrm>
          <a:prstGeom prst="roundRect">
            <a:avLst>
              <a:gd name="adj" fmla="val 615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6998970" y="6229350"/>
            <a:ext cx="169164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판단</a:t>
            </a:r>
          </a:p>
        </p:txBody>
      </p:sp>
      <p:sp>
        <p:nvSpPr>
          <p:cNvPr id="64" name="Rounded Rectangle 63"/>
          <p:cNvSpPr/>
          <p:nvPr/>
        </p:nvSpPr>
        <p:spPr>
          <a:xfrm>
            <a:off x="8823960" y="6229350"/>
            <a:ext cx="4122420" cy="619125"/>
          </a:xfrm>
          <a:prstGeom prst="roundRect">
            <a:avLst>
              <a:gd name="adj" fmla="val 615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8919210" y="6229350"/>
            <a:ext cx="393192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출하 전 걸러짐</a:t>
            </a:r>
          </a:p>
        </p:txBody>
      </p:sp>
      <p:sp>
        <p:nvSpPr>
          <p:cNvPr id="66" name="Rounded Rectangle 65"/>
          <p:cNvSpPr/>
          <p:nvPr/>
        </p:nvSpPr>
        <p:spPr>
          <a:xfrm>
            <a:off x="12984480" y="6229350"/>
            <a:ext cx="4160520" cy="619125"/>
          </a:xfrm>
          <a:prstGeom prst="roundRect">
            <a:avLst>
              <a:gd name="adj" fmla="val 615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13079730" y="6229350"/>
            <a:ext cx="397002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내부 결함</a:t>
            </a:r>
          </a:p>
        </p:txBody>
      </p:sp>
      <p:sp>
        <p:nvSpPr>
          <p:cNvPr id="68" name="Rounded Rectangle 67"/>
          <p:cNvSpPr/>
          <p:nvPr/>
        </p:nvSpPr>
        <p:spPr>
          <a:xfrm>
            <a:off x="1143000" y="6924675"/>
            <a:ext cx="3802380" cy="619125"/>
          </a:xfrm>
          <a:prstGeom prst="roundRect">
            <a:avLst>
              <a:gd name="adj" fmla="val 6153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1238250" y="6924675"/>
            <a:ext cx="361188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개선 가능성</a:t>
            </a:r>
          </a:p>
        </p:txBody>
      </p:sp>
      <p:sp>
        <p:nvSpPr>
          <p:cNvPr id="70" name="Rounded Rectangle 69"/>
          <p:cNvSpPr/>
          <p:nvPr/>
        </p:nvSpPr>
        <p:spPr>
          <a:xfrm>
            <a:off x="4983480" y="6924675"/>
            <a:ext cx="1882140" cy="619125"/>
          </a:xfrm>
          <a:prstGeom prst="roundRect">
            <a:avLst>
              <a:gd name="adj" fmla="val 615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5078730" y="6924675"/>
            <a:ext cx="169164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10</a:t>
            </a:r>
          </a:p>
        </p:txBody>
      </p:sp>
      <p:sp>
        <p:nvSpPr>
          <p:cNvPr id="72" name="Rounded Rectangle 71"/>
          <p:cNvSpPr/>
          <p:nvPr/>
        </p:nvSpPr>
        <p:spPr>
          <a:xfrm>
            <a:off x="6903720" y="6924675"/>
            <a:ext cx="1882140" cy="619125"/>
          </a:xfrm>
          <a:prstGeom prst="roundRect">
            <a:avLst>
              <a:gd name="adj" fmla="val 615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6998970" y="6924675"/>
            <a:ext cx="169164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판단</a:t>
            </a:r>
          </a:p>
        </p:txBody>
      </p:sp>
      <p:sp>
        <p:nvSpPr>
          <p:cNvPr id="74" name="Rounded Rectangle 73"/>
          <p:cNvSpPr/>
          <p:nvPr/>
        </p:nvSpPr>
        <p:spPr>
          <a:xfrm>
            <a:off x="8823960" y="6924675"/>
            <a:ext cx="4122420" cy="619125"/>
          </a:xfrm>
          <a:prstGeom prst="roundRect">
            <a:avLst>
              <a:gd name="adj" fmla="val 615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8919210" y="6924675"/>
            <a:ext cx="393192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방법 불분명</a:t>
            </a:r>
          </a:p>
        </p:txBody>
      </p:sp>
      <p:sp>
        <p:nvSpPr>
          <p:cNvPr id="76" name="Rounded Rectangle 75"/>
          <p:cNvSpPr/>
          <p:nvPr/>
        </p:nvSpPr>
        <p:spPr>
          <a:xfrm>
            <a:off x="12984480" y="6924675"/>
            <a:ext cx="4160520" cy="619125"/>
          </a:xfrm>
          <a:prstGeom prst="roundRect">
            <a:avLst>
              <a:gd name="adj" fmla="val 615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13079730" y="6924675"/>
            <a:ext cx="397002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돌아갈 기준 있음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1143000" y="76200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75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가중치 합계 100 · 5점 = 문제가 크고 먼저 손대야 함 · 2점·4점은 사이 구간</a:t>
            </a:r>
          </a:p>
        </p:txBody>
      </p:sp>
      <p:sp>
        <p:nvSpPr>
          <p:cNvPr id="79" name="Rectangle 78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0" name="TextBox 79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생성형 AI 활용 실무 · 4일 32H · 2일차 8교시 · 실습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04</a:t>
            </a:r>
          </a:p>
        </p:txBody>
      </p:sp>
    </p:spTree>
  </p:cSld>
  <p:clrMapOvr>
    <a:masterClrMapping/>
  </p:clrMapOvr>
</p:sld>
</file>

<file path=ppt/slides/slide9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8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3단계 · 점수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공정별 점수와 가중 점수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143000" y="2781300"/>
            <a:ext cx="4922520" cy="590550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43000" y="2781300"/>
            <a:ext cx="492252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기준(가중치)</a:t>
            </a:r>
          </a:p>
        </p:txBody>
      </p:sp>
      <p:sp>
        <p:nvSpPr>
          <p:cNvPr id="10" name="Rectangle 9"/>
          <p:cNvSpPr/>
          <p:nvPr/>
        </p:nvSpPr>
        <p:spPr>
          <a:xfrm>
            <a:off x="6103620" y="2781300"/>
            <a:ext cx="3642360" cy="59055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103620" y="2781300"/>
            <a:ext cx="364236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소결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784080" y="2781300"/>
            <a:ext cx="3642360" cy="59055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784080" y="2781300"/>
            <a:ext cx="364236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연삭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3464540" y="2781300"/>
            <a:ext cx="3680460" cy="59055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3464540" y="2781300"/>
            <a:ext cx="368046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성형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143000" y="3448050"/>
            <a:ext cx="4922520" cy="519793"/>
          </a:xfrm>
          <a:prstGeom prst="roundRect">
            <a:avLst>
              <a:gd name="adj" fmla="val 7329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238250" y="3448050"/>
            <a:ext cx="4732020" cy="5197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OEE (20)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103620" y="3448050"/>
            <a:ext cx="3642360" cy="519793"/>
          </a:xfrm>
          <a:prstGeom prst="roundRect">
            <a:avLst>
              <a:gd name="adj" fmla="val 7329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198870" y="3448050"/>
            <a:ext cx="3451860" cy="5197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79.7% · 5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9784080" y="3448050"/>
            <a:ext cx="3642360" cy="519793"/>
          </a:xfrm>
          <a:prstGeom prst="roundRect">
            <a:avLst>
              <a:gd name="adj" fmla="val 7329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879330" y="3448050"/>
            <a:ext cx="3451860" cy="5197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80.0% · 5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13464540" y="3448050"/>
            <a:ext cx="3680460" cy="519793"/>
          </a:xfrm>
          <a:prstGeom prst="roundRect">
            <a:avLst>
              <a:gd name="adj" fmla="val 7329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3559790" y="3448050"/>
            <a:ext cx="3489960" cy="5197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87.3% · 1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143000" y="4044043"/>
            <a:ext cx="4922520" cy="519793"/>
          </a:xfrm>
          <a:prstGeom prst="roundRect">
            <a:avLst>
              <a:gd name="adj" fmla="val 7329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238250" y="4044043"/>
            <a:ext cx="4732020" cy="5197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Cpk (20)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103620" y="4044043"/>
            <a:ext cx="3642360" cy="519793"/>
          </a:xfrm>
          <a:prstGeom prst="roundRect">
            <a:avLst>
              <a:gd name="adj" fmla="val 7329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198870" y="4044043"/>
            <a:ext cx="3451860" cy="5197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0.65 · 5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9784080" y="4044043"/>
            <a:ext cx="3642360" cy="519793"/>
          </a:xfrm>
          <a:prstGeom prst="roundRect">
            <a:avLst>
              <a:gd name="adj" fmla="val 7329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879330" y="4044043"/>
            <a:ext cx="3451860" cy="5197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1.66 · 2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13464540" y="4044043"/>
            <a:ext cx="3680460" cy="519793"/>
          </a:xfrm>
          <a:prstGeom prst="roundRect">
            <a:avLst>
              <a:gd name="adj" fmla="val 7329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3559790" y="4044043"/>
            <a:ext cx="3489960" cy="5197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없음 · 3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1143000" y="4640036"/>
            <a:ext cx="4922520" cy="519793"/>
          </a:xfrm>
          <a:prstGeom prst="roundRect">
            <a:avLst>
              <a:gd name="adj" fmla="val 7329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238250" y="4640036"/>
            <a:ext cx="4732020" cy="5197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불량률 (20)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6103620" y="4640036"/>
            <a:ext cx="3642360" cy="519793"/>
          </a:xfrm>
          <a:prstGeom prst="roundRect">
            <a:avLst>
              <a:gd name="adj" fmla="val 7329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198870" y="4640036"/>
            <a:ext cx="3451860" cy="5197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2.90% · 5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9784080" y="4640036"/>
            <a:ext cx="3642360" cy="519793"/>
          </a:xfrm>
          <a:prstGeom prst="roundRect">
            <a:avLst>
              <a:gd name="adj" fmla="val 7329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9879330" y="4640036"/>
            <a:ext cx="3451860" cy="5197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1.06% · 3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13464540" y="4640036"/>
            <a:ext cx="3680460" cy="519793"/>
          </a:xfrm>
          <a:prstGeom prst="roundRect">
            <a:avLst>
              <a:gd name="adj" fmla="val 7329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13559790" y="4640036"/>
            <a:ext cx="3489960" cy="5197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1.19% · 3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1143000" y="5236029"/>
            <a:ext cx="4922520" cy="519793"/>
          </a:xfrm>
          <a:prstGeom prst="roundRect">
            <a:avLst>
              <a:gd name="adj" fmla="val 7329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1238250" y="5236029"/>
            <a:ext cx="4732020" cy="5197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악화 추세 (15)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6103620" y="5236029"/>
            <a:ext cx="3642360" cy="519793"/>
          </a:xfrm>
          <a:prstGeom prst="roundRect">
            <a:avLst>
              <a:gd name="adj" fmla="val 7329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6198870" y="5236029"/>
            <a:ext cx="3451860" cy="5197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+1.52 · 5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9784080" y="5236029"/>
            <a:ext cx="3642360" cy="519793"/>
          </a:xfrm>
          <a:prstGeom prst="roundRect">
            <a:avLst>
              <a:gd name="adj" fmla="val 7329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9879330" y="5236029"/>
            <a:ext cx="3451860" cy="5197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+0.01 · 2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13464540" y="5236029"/>
            <a:ext cx="3680460" cy="519793"/>
          </a:xfrm>
          <a:prstGeom prst="roundRect">
            <a:avLst>
              <a:gd name="adj" fmla="val 7329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13559790" y="5236029"/>
            <a:ext cx="3489960" cy="5197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+0.25 · 3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1143000" y="5832021"/>
            <a:ext cx="4922520" cy="519793"/>
          </a:xfrm>
          <a:prstGeom prst="roundRect">
            <a:avLst>
              <a:gd name="adj" fmla="val 7329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1238250" y="5832021"/>
            <a:ext cx="4732020" cy="5197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고객 영향 (15)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6103620" y="5832021"/>
            <a:ext cx="3642360" cy="519793"/>
          </a:xfrm>
          <a:prstGeom prst="roundRect">
            <a:avLst>
              <a:gd name="adj" fmla="val 7329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6198870" y="5832021"/>
            <a:ext cx="3451860" cy="5197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5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9784080" y="5832021"/>
            <a:ext cx="3642360" cy="519793"/>
          </a:xfrm>
          <a:prstGeom prst="roundRect">
            <a:avLst>
              <a:gd name="adj" fmla="val 7329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9879330" y="5832021"/>
            <a:ext cx="3451860" cy="5197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2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13464540" y="5832021"/>
            <a:ext cx="3680460" cy="519793"/>
          </a:xfrm>
          <a:prstGeom prst="roundRect">
            <a:avLst>
              <a:gd name="adj" fmla="val 7329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13559790" y="5832021"/>
            <a:ext cx="3489960" cy="5197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3</a:t>
            </a:r>
          </a:p>
        </p:txBody>
      </p:sp>
      <p:sp>
        <p:nvSpPr>
          <p:cNvPr id="56" name="Rounded Rectangle 55"/>
          <p:cNvSpPr/>
          <p:nvPr/>
        </p:nvSpPr>
        <p:spPr>
          <a:xfrm>
            <a:off x="1143000" y="6428014"/>
            <a:ext cx="4922520" cy="519793"/>
          </a:xfrm>
          <a:prstGeom prst="roundRect">
            <a:avLst>
              <a:gd name="adj" fmla="val 7329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1238250" y="6428014"/>
            <a:ext cx="4732020" cy="5197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개선 가능성 (10)</a:t>
            </a:r>
          </a:p>
        </p:txBody>
      </p:sp>
      <p:sp>
        <p:nvSpPr>
          <p:cNvPr id="58" name="Rounded Rectangle 57"/>
          <p:cNvSpPr/>
          <p:nvPr/>
        </p:nvSpPr>
        <p:spPr>
          <a:xfrm>
            <a:off x="6103620" y="6428014"/>
            <a:ext cx="3642360" cy="519793"/>
          </a:xfrm>
          <a:prstGeom prst="roundRect">
            <a:avLst>
              <a:gd name="adj" fmla="val 7329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6198870" y="6428014"/>
            <a:ext cx="3451860" cy="5197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5</a:t>
            </a:r>
          </a:p>
        </p:txBody>
      </p:sp>
      <p:sp>
        <p:nvSpPr>
          <p:cNvPr id="60" name="Rounded Rectangle 59"/>
          <p:cNvSpPr/>
          <p:nvPr/>
        </p:nvSpPr>
        <p:spPr>
          <a:xfrm>
            <a:off x="9784080" y="6428014"/>
            <a:ext cx="3642360" cy="519793"/>
          </a:xfrm>
          <a:prstGeom prst="roundRect">
            <a:avLst>
              <a:gd name="adj" fmla="val 7329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9879330" y="6428014"/>
            <a:ext cx="3451860" cy="5197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3</a:t>
            </a:r>
          </a:p>
        </p:txBody>
      </p:sp>
      <p:sp>
        <p:nvSpPr>
          <p:cNvPr id="62" name="Rounded Rectangle 61"/>
          <p:cNvSpPr/>
          <p:nvPr/>
        </p:nvSpPr>
        <p:spPr>
          <a:xfrm>
            <a:off x="13464540" y="6428014"/>
            <a:ext cx="3680460" cy="519793"/>
          </a:xfrm>
          <a:prstGeom prst="roundRect">
            <a:avLst>
              <a:gd name="adj" fmla="val 7329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13559790" y="6428014"/>
            <a:ext cx="3489960" cy="5197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3</a:t>
            </a:r>
          </a:p>
        </p:txBody>
      </p:sp>
      <p:sp>
        <p:nvSpPr>
          <p:cNvPr id="64" name="Rounded Rectangle 63"/>
          <p:cNvSpPr/>
          <p:nvPr/>
        </p:nvSpPr>
        <p:spPr>
          <a:xfrm>
            <a:off x="1143000" y="7024007"/>
            <a:ext cx="4922520" cy="519793"/>
          </a:xfrm>
          <a:prstGeom prst="roundRect">
            <a:avLst>
              <a:gd name="adj" fmla="val 7329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1238250" y="7024007"/>
            <a:ext cx="4732020" cy="5197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가중 점수</a:t>
            </a:r>
          </a:p>
        </p:txBody>
      </p:sp>
      <p:sp>
        <p:nvSpPr>
          <p:cNvPr id="66" name="Rounded Rectangle 65"/>
          <p:cNvSpPr/>
          <p:nvPr/>
        </p:nvSpPr>
        <p:spPr>
          <a:xfrm>
            <a:off x="6103620" y="7024007"/>
            <a:ext cx="3642360" cy="519793"/>
          </a:xfrm>
          <a:prstGeom prst="roundRect">
            <a:avLst>
              <a:gd name="adj" fmla="val 7329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6198870" y="7024007"/>
            <a:ext cx="3451860" cy="5197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5.00</a:t>
            </a:r>
          </a:p>
        </p:txBody>
      </p:sp>
      <p:sp>
        <p:nvSpPr>
          <p:cNvPr id="68" name="Rounded Rectangle 67"/>
          <p:cNvSpPr/>
          <p:nvPr/>
        </p:nvSpPr>
        <p:spPr>
          <a:xfrm>
            <a:off x="9784080" y="7024007"/>
            <a:ext cx="3642360" cy="519793"/>
          </a:xfrm>
          <a:prstGeom prst="roundRect">
            <a:avLst>
              <a:gd name="adj" fmla="val 7329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9879330" y="7024007"/>
            <a:ext cx="3451860" cy="5197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2.90</a:t>
            </a:r>
          </a:p>
        </p:txBody>
      </p:sp>
      <p:sp>
        <p:nvSpPr>
          <p:cNvPr id="70" name="Rounded Rectangle 69"/>
          <p:cNvSpPr/>
          <p:nvPr/>
        </p:nvSpPr>
        <p:spPr>
          <a:xfrm>
            <a:off x="13464540" y="7024007"/>
            <a:ext cx="3680460" cy="519793"/>
          </a:xfrm>
          <a:prstGeom prst="roundRect">
            <a:avLst>
              <a:gd name="adj" fmla="val 7329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13559790" y="7024007"/>
            <a:ext cx="3489960" cy="5197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2.60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1143000" y="76200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75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=SUMPRODUCT(가중치, 점수)/100 · 성형 Cpk 는 측정 없음 → 3점(판단)</a:t>
            </a:r>
          </a:p>
        </p:txBody>
      </p:sp>
      <p:sp>
        <p:nvSpPr>
          <p:cNvPr id="73" name="Rectangle 72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74" name="TextBox 73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생성형 AI 활용 실무 · 4일 32H · 2일차 8교시 · 실습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05</a:t>
            </a:r>
          </a:p>
        </p:txBody>
      </p:sp>
    </p:spTree>
  </p:cSld>
  <p:clrMapOvr>
    <a:masterClrMapping/>
  </p:clrMapOvr>
</p:sld>
</file>

<file path=ppt/slides/slide9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8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3단계 · 민감도 점검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OEE 하나만 보면 연삭과 동점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43000" y="2857500"/>
            <a:ext cx="7372350" cy="533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15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OEE 100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" y="3467100"/>
            <a:ext cx="7372350" cy="876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6000"/>
              </a:lnSpc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소결 5점 = 연삭 5점 — 구별되지 않는다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143000" y="4610100"/>
            <a:ext cx="7372350" cy="2857500"/>
          </a:xfrm>
          <a:prstGeom prst="roundRect">
            <a:avLst>
              <a:gd name="adj" fmla="val 166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447800" y="5016817"/>
            <a:ext cx="97155" cy="97155"/>
          </a:xfrm>
          <a:prstGeom prst="ellipse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633538" y="4838700"/>
            <a:ext cx="6634162" cy="45339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연삭 OEE 가 낮은 이유는 가동률(87.3%)</a:t>
            </a:r>
          </a:p>
        </p:txBody>
      </p:sp>
      <p:sp>
        <p:nvSpPr>
          <p:cNvPr id="13" name="Oval 12"/>
          <p:cNvSpPr/>
          <p:nvPr/>
        </p:nvSpPr>
        <p:spPr>
          <a:xfrm>
            <a:off x="1447800" y="5527358"/>
            <a:ext cx="97155" cy="97155"/>
          </a:xfrm>
          <a:prstGeom prst="ellipse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633538" y="5349240"/>
            <a:ext cx="6634162" cy="45339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공구 교체로 자주 멈출 뿐</a:t>
            </a:r>
          </a:p>
        </p:txBody>
      </p:sp>
      <p:sp>
        <p:nvSpPr>
          <p:cNvPr id="15" name="Oval 14"/>
          <p:cNvSpPr/>
          <p:nvPr/>
        </p:nvSpPr>
        <p:spPr>
          <a:xfrm>
            <a:off x="1447800" y="6037898"/>
            <a:ext cx="97155" cy="97155"/>
          </a:xfrm>
          <a:prstGeom prst="ellipse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633538" y="5859780"/>
            <a:ext cx="6634162" cy="45339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OEE 하나만 보면 헷갈리는 공정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772650" y="2857500"/>
            <a:ext cx="7372350" cy="533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15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여섯 기준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772650" y="3467100"/>
            <a:ext cx="7372350" cy="876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6000"/>
              </a:lnSpc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소결 5.00 · 연삭 2.90 · 성형 2.60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9772650" y="4610100"/>
            <a:ext cx="7372350" cy="2857500"/>
          </a:xfrm>
          <a:prstGeom prst="roundRect">
            <a:avLst>
              <a:gd name="adj" fmla="val 166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10077450" y="5016817"/>
            <a:ext cx="97155" cy="97155"/>
          </a:xfrm>
          <a:prstGeom prst="ellipse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0263188" y="4838700"/>
            <a:ext cx="6634162" cy="45339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연삭 Cpk 1.7 수준 — 품질 안정</a:t>
            </a:r>
          </a:p>
        </p:txBody>
      </p:sp>
      <p:sp>
        <p:nvSpPr>
          <p:cNvPr id="22" name="Oval 21"/>
          <p:cNvSpPr/>
          <p:nvPr/>
        </p:nvSpPr>
        <p:spPr>
          <a:xfrm>
            <a:off x="10077450" y="5527358"/>
            <a:ext cx="97155" cy="97155"/>
          </a:xfrm>
          <a:prstGeom prst="ellipse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0263188" y="5349240"/>
            <a:ext cx="6634162" cy="45339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연삭은 8월에 나빠지지 않았다</a:t>
            </a:r>
          </a:p>
        </p:txBody>
      </p:sp>
      <p:sp>
        <p:nvSpPr>
          <p:cNvPr id="24" name="Oval 23"/>
          <p:cNvSpPr/>
          <p:nvPr/>
        </p:nvSpPr>
        <p:spPr>
          <a:xfrm>
            <a:off x="10077450" y="6037898"/>
            <a:ext cx="97155" cy="97155"/>
          </a:xfrm>
          <a:prstGeom prst="ellipse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263188" y="5859780"/>
            <a:ext cx="6634162" cy="45339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성형은 습도 문제 — 2차 과제로 기록</a:t>
            </a:r>
          </a:p>
        </p:txBody>
      </p:sp>
      <p:sp>
        <p:nvSpPr>
          <p:cNvPr id="26" name="Oval 25"/>
          <p:cNvSpPr/>
          <p:nvPr/>
        </p:nvSpPr>
        <p:spPr>
          <a:xfrm>
            <a:off x="8686800" y="3771900"/>
            <a:ext cx="914400" cy="91440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686800" y="4057650"/>
            <a:ext cx="9144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VS</a:t>
            </a:r>
          </a:p>
        </p:txBody>
      </p:sp>
      <p:sp>
        <p:nvSpPr>
          <p:cNvPr id="28" name="Rectangle 27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생성형 AI 활용 실무 · 4일 32H · 2일차 8교시 · 실습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06</a:t>
            </a:r>
          </a:p>
        </p:txBody>
      </p:sp>
    </p:spTree>
  </p:cSld>
  <p:clrMapOvr>
    <a:masterClrMapping/>
  </p:clrMapOvr>
</p:sld>
</file>

<file path=ppt/slides/slide9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8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4단계 · 설비까지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소결 안에서 — SF-02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143000" y="2781300"/>
            <a:ext cx="7322820" cy="590550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43000" y="2781300"/>
            <a:ext cx="732282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지표</a:t>
            </a:r>
          </a:p>
        </p:txBody>
      </p:sp>
      <p:sp>
        <p:nvSpPr>
          <p:cNvPr id="10" name="Rectangle 9"/>
          <p:cNvSpPr/>
          <p:nvPr/>
        </p:nvSpPr>
        <p:spPr>
          <a:xfrm>
            <a:off x="8503920" y="2781300"/>
            <a:ext cx="4282440" cy="59055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503920" y="2781300"/>
            <a:ext cx="428244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SF-01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2824460" y="2781300"/>
            <a:ext cx="4320540" cy="59055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2824460" y="2781300"/>
            <a:ext cx="432054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SF-02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143000" y="3448050"/>
            <a:ext cx="7322820" cy="619125"/>
          </a:xfrm>
          <a:prstGeom prst="roundRect">
            <a:avLst>
              <a:gd name="adj" fmla="val 6153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238250" y="3448050"/>
            <a:ext cx="713232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OEE 전체 (%)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503920" y="3448050"/>
            <a:ext cx="4282440" cy="619125"/>
          </a:xfrm>
          <a:prstGeom prst="roundRect">
            <a:avLst>
              <a:gd name="adj" fmla="val 615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599170" y="3448050"/>
            <a:ext cx="409194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82.9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2824460" y="3448050"/>
            <a:ext cx="4320540" cy="619125"/>
          </a:xfrm>
          <a:prstGeom prst="roundRect">
            <a:avLst>
              <a:gd name="adj" fmla="val 615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2919710" y="3448050"/>
            <a:ext cx="413004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76.4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143000" y="4143375"/>
            <a:ext cx="7322820" cy="619125"/>
          </a:xfrm>
          <a:prstGeom prst="roundRect">
            <a:avLst>
              <a:gd name="adj" fmla="val 6153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238250" y="4143375"/>
            <a:ext cx="713232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불량률 전체 (%)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503920" y="4143375"/>
            <a:ext cx="4282440" cy="619125"/>
          </a:xfrm>
          <a:prstGeom prst="roundRect">
            <a:avLst>
              <a:gd name="adj" fmla="val 615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599170" y="4143375"/>
            <a:ext cx="409194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2.37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2824460" y="4143375"/>
            <a:ext cx="4320540" cy="619125"/>
          </a:xfrm>
          <a:prstGeom prst="roundRect">
            <a:avLst>
              <a:gd name="adj" fmla="val 615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2919710" y="4143375"/>
            <a:ext cx="413004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3.47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1143000" y="4838700"/>
            <a:ext cx="7322820" cy="619125"/>
          </a:xfrm>
          <a:prstGeom prst="roundRect">
            <a:avLst>
              <a:gd name="adj" fmla="val 6153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238250" y="4838700"/>
            <a:ext cx="713232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소결밀도 Cpk 전체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8503920" y="4838700"/>
            <a:ext cx="4282440" cy="619125"/>
          </a:xfrm>
          <a:prstGeom prst="roundRect">
            <a:avLst>
              <a:gd name="adj" fmla="val 615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599170" y="4838700"/>
            <a:ext cx="409194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1.28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12824460" y="4838700"/>
            <a:ext cx="4320540" cy="619125"/>
          </a:xfrm>
          <a:prstGeom prst="roundRect">
            <a:avLst>
              <a:gd name="adj" fmla="val 615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2919710" y="4838700"/>
            <a:ext cx="413004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0.65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1143000" y="5534025"/>
            <a:ext cx="7322820" cy="619125"/>
          </a:xfrm>
          <a:prstGeom prst="roundRect">
            <a:avLst>
              <a:gd name="adj" fmla="val 6153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238250" y="5534025"/>
            <a:ext cx="713232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OEE 8/10~ (%)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8503920" y="5534025"/>
            <a:ext cx="4282440" cy="619125"/>
          </a:xfrm>
          <a:prstGeom prst="roundRect">
            <a:avLst>
              <a:gd name="adj" fmla="val 615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8599170" y="5534025"/>
            <a:ext cx="409194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82.2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12824460" y="5534025"/>
            <a:ext cx="4320540" cy="619125"/>
          </a:xfrm>
          <a:prstGeom prst="roundRect">
            <a:avLst>
              <a:gd name="adj" fmla="val 615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12919710" y="5534025"/>
            <a:ext cx="413004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64.9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1143000" y="6229350"/>
            <a:ext cx="7322820" cy="619125"/>
          </a:xfrm>
          <a:prstGeom prst="roundRect">
            <a:avLst>
              <a:gd name="adj" fmla="val 6153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1238250" y="6229350"/>
            <a:ext cx="713232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불량률 8/10~ (%)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8503920" y="6229350"/>
            <a:ext cx="4282440" cy="619125"/>
          </a:xfrm>
          <a:prstGeom prst="roundRect">
            <a:avLst>
              <a:gd name="adj" fmla="val 615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8599170" y="6229350"/>
            <a:ext cx="409194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2.49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12824460" y="6229350"/>
            <a:ext cx="4320540" cy="619125"/>
          </a:xfrm>
          <a:prstGeom prst="roundRect">
            <a:avLst>
              <a:gd name="adj" fmla="val 615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12919710" y="6229350"/>
            <a:ext cx="413004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6.50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1143000" y="6924675"/>
            <a:ext cx="7322820" cy="619125"/>
          </a:xfrm>
          <a:prstGeom prst="roundRect">
            <a:avLst>
              <a:gd name="adj" fmla="val 6153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1238250" y="6924675"/>
            <a:ext cx="713232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소결밀도 Cpk 8/10~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8503920" y="6924675"/>
            <a:ext cx="4282440" cy="619125"/>
          </a:xfrm>
          <a:prstGeom prst="roundRect">
            <a:avLst>
              <a:gd name="adj" fmla="val 615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8599170" y="6924675"/>
            <a:ext cx="409194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1.12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12824460" y="6924675"/>
            <a:ext cx="4320540" cy="619125"/>
          </a:xfrm>
          <a:prstGeom prst="roundRect">
            <a:avLst>
              <a:gd name="adj" fmla="val 615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12919710" y="6924675"/>
            <a:ext cx="413004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0.40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1143000" y="76200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75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같은 SF-02 가 8/9 까지는 OEE 82.8% · 불량률 2.11% — 돌아갈 기준이 있다</a:t>
            </a:r>
          </a:p>
        </p:txBody>
      </p:sp>
      <p:sp>
        <p:nvSpPr>
          <p:cNvPr id="51" name="Rectangle 50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생성형 AI 활용 실무 · 4일 32H · 2일차 8교시 · 실습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07</a:t>
            </a:r>
          </a:p>
        </p:txBody>
      </p:sp>
    </p:spTree>
  </p:cSld>
  <p:clrMapOvr>
    <a:masterClrMapping/>
  </p:clrMapOvr>
</p:sld>
</file>

<file path=ppt/slides/slide9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8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5단계 · 선정서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AI 초안 → 팀 셋이 나눠 검증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2933700"/>
            <a:ext cx="11430000" cy="1095375"/>
          </a:xfrm>
          <a:prstGeom prst="roundRect">
            <a:avLst>
              <a:gd name="adj" fmla="val 4347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447800" y="3181350"/>
            <a:ext cx="590550" cy="59055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447800" y="3333750"/>
            <a:ext cx="59055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324100" y="3143250"/>
            <a:ext cx="990600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4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숫자 담당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324100" y="3543300"/>
            <a:ext cx="9906000" cy="3619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초안의 숫자를 판단표·비교표와 한 개씩 대조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143000" y="4200525"/>
            <a:ext cx="11430000" cy="1095375"/>
          </a:xfrm>
          <a:prstGeom prst="roundRect">
            <a:avLst>
              <a:gd name="adj" fmla="val 4347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1447800" y="4448175"/>
            <a:ext cx="590550" cy="59055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447800" y="4600575"/>
            <a:ext cx="59055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324100" y="4410075"/>
            <a:ext cx="990600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4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사실·판단 담당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324100" y="4810125"/>
            <a:ext cx="9906000" cy="3619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판단을 사실처럼 쓴 문장을 찾아 고친다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143000" y="5467350"/>
            <a:ext cx="11430000" cy="1095375"/>
          </a:xfrm>
          <a:prstGeom prst="roundRect">
            <a:avLst>
              <a:gd name="adj" fmla="val 4347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447800" y="5715000"/>
            <a:ext cx="590550" cy="59055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447800" y="5867400"/>
            <a:ext cx="59055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324100" y="5676900"/>
            <a:ext cx="990600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4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원인 지어내기 담당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24100" y="6076950"/>
            <a:ext cx="9906000" cy="3619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오늘 데이터로 확인하지 않은 원인이 들어갔는지 본다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13144500" y="2933700"/>
            <a:ext cx="4000500" cy="3629025"/>
          </a:xfrm>
          <a:prstGeom prst="roundRect">
            <a:avLst>
              <a:gd name="adj" fmla="val 1312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3487400" y="3929062"/>
            <a:ext cx="33147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 spc="19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AI 에게 줄 것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3487400" y="4329112"/>
            <a:ext cx="3314700" cy="1238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8000"/>
              </a:lnSpc>
            </a:pPr>
            <a:r>
              <a:rPr sz="27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표만 붙여넣기</a:t>
            </a:r>
          </a:p>
          <a:p>
            <a:pPr algn="l">
              <a:lnSpc>
                <a:spcPct val="138000"/>
              </a:lnSpc>
            </a:pPr>
            <a:r>
              <a:rPr sz="27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원본 파일은 X</a:t>
            </a:r>
          </a:p>
        </p:txBody>
      </p:sp>
      <p:sp>
        <p:nvSpPr>
          <p:cNvPr id="26" name="Rectangle 25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생성형 AI 활용 실무 · 4일 32H · 2일차 8교시 · 실습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08</a:t>
            </a:r>
          </a:p>
        </p:txBody>
      </p:sp>
    </p:spTree>
  </p:cSld>
  <p:clrMapOvr>
    <a:masterClrMapping/>
  </p:clrMapOvr>
</p:sld>
</file>

<file path=ppt/slides/slide9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8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자주 틀리는 지점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여기서 자주 막힙니다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3352800"/>
            <a:ext cx="16002000" cy="914400"/>
          </a:xfrm>
          <a:prstGeom prst="roundRect">
            <a:avLst>
              <a:gd name="adj" fmla="val 5208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143000" y="3352800"/>
            <a:ext cx="47625" cy="91440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428750" y="3600450"/>
            <a:ext cx="419100" cy="41910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428750" y="3667125"/>
            <a:ext cx="4191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8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057400" y="3448050"/>
            <a:ext cx="14763750" cy="7239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20000"/>
              </a:lnSpc>
            </a:pPr>
            <a:r>
              <a:rPr sz="21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결과 보고 가중치 조정</a:t>
            </a:r>
          </a:p>
          <a:p>
            <a:pPr>
              <a:lnSpc>
                <a:spcPct val="130000"/>
              </a:lnSpc>
              <a:spcBef>
                <a:spcPts val="300"/>
              </a:spcBef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짜 맞춘 표가 된다 — 숫자 보기 전에 정하고 이유를 남긴다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143000" y="4400550"/>
            <a:ext cx="16002000" cy="914400"/>
          </a:xfrm>
          <a:prstGeom prst="roundRect">
            <a:avLst>
              <a:gd name="adj" fmla="val 5208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1143000" y="4400550"/>
            <a:ext cx="47625" cy="91440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1428750" y="4648200"/>
            <a:ext cx="419100" cy="41910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428750" y="4714875"/>
            <a:ext cx="4191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8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057400" y="4495800"/>
            <a:ext cx="14763750" cy="7239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20000"/>
              </a:lnSpc>
            </a:pPr>
            <a:r>
              <a:rPr sz="21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점수만 있고 근거 없음</a:t>
            </a:r>
          </a:p>
          <a:p>
            <a:pPr>
              <a:lnSpc>
                <a:spcPct val="130000"/>
              </a:lnSpc>
              <a:spcBef>
                <a:spcPts val="300"/>
              </a:spcBef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다시 계산할 수 없다 — 점수 옆에 근거 숫자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143000" y="5448300"/>
            <a:ext cx="16002000" cy="914400"/>
          </a:xfrm>
          <a:prstGeom prst="roundRect">
            <a:avLst>
              <a:gd name="adj" fmla="val 5208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1143000" y="5448300"/>
            <a:ext cx="47625" cy="91440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1428750" y="5695950"/>
            <a:ext cx="419100" cy="41910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428750" y="5762625"/>
            <a:ext cx="4191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8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057400" y="5543550"/>
            <a:ext cx="14763750" cy="7239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20000"/>
              </a:lnSpc>
            </a:pPr>
            <a:r>
              <a:rPr sz="21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측정 없는 칸을 비움</a:t>
            </a:r>
          </a:p>
          <a:p>
            <a:pPr>
              <a:lnSpc>
                <a:spcPct val="130000"/>
              </a:lnSpc>
              <a:spcBef>
                <a:spcPts val="300"/>
              </a:spcBef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「측정 없음 — 3점(판단)」처럼 표시해 채운다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1143000" y="6496050"/>
            <a:ext cx="16002000" cy="914400"/>
          </a:xfrm>
          <a:prstGeom prst="roundRect">
            <a:avLst>
              <a:gd name="adj" fmla="val 5208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1143000" y="6496050"/>
            <a:ext cx="47625" cy="91440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1428750" y="6743700"/>
            <a:ext cx="419100" cy="41910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428750" y="6810375"/>
            <a:ext cx="4191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8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057400" y="6591300"/>
            <a:ext cx="14763750" cy="7239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20000"/>
              </a:lnSpc>
            </a:pPr>
            <a:r>
              <a:rPr sz="21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빠진 공정을 버림</a:t>
            </a:r>
          </a:p>
          <a:p>
            <a:pPr>
              <a:lnSpc>
                <a:spcPct val="130000"/>
              </a:lnSpc>
              <a:spcBef>
                <a:spcPts val="300"/>
              </a:spcBef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제외 이유와 함께 적는다 — 성형은 2차 과제</a:t>
            </a:r>
          </a:p>
        </p:txBody>
      </p:sp>
      <p:sp>
        <p:nvSpPr>
          <p:cNvPr id="28" name="Rectangle 27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생성형 AI 활용 실무 · 4일 32H · 2일차 8교시 · 실습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09</a:t>
            </a:r>
          </a:p>
        </p:txBody>
      </p:sp>
    </p:spTree>
  </p:cSld>
  <p:clrMapOvr>
    <a:masterClrMapping/>
  </p:clrMapOvr>
</p:sld>
</file>

<file path=ppt/slides/slide9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4859000" y="6667500"/>
            <a:ext cx="5905500" cy="5905500"/>
          </a:xfrm>
          <a:prstGeom prst="ellipse">
            <a:avLst/>
          </a:prstGeom>
          <a:solidFill>
            <a:srgbClr val="F2F8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2095500" y="-2095500"/>
            <a:ext cx="4381500" cy="4381500"/>
          </a:xfrm>
          <a:prstGeom prst="ellipse">
            <a:avLst/>
          </a:prstGeom>
          <a:solidFill>
            <a:srgbClr val="F5F6F7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43000" y="2857500"/>
            <a:ext cx="16002000" cy="285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3352800"/>
            <a:ext cx="85725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2일차 8교시 · 실습 마무리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3771900"/>
            <a:ext cx="16002000" cy="800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다음은 3일차 1교시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43000" y="4724400"/>
            <a:ext cx="16002000" cy="4381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4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선정서의 질문 「SF-02 는 왜 8/10 무렵부터 나빠졌는가」를 전통 품질 기법과 생성형 AI 로 풀기 시작합니다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143000" y="5257800"/>
            <a:ext cx="7772400" cy="819150"/>
          </a:xfrm>
          <a:prstGeom prst="roundRect">
            <a:avLst>
              <a:gd name="adj" fmla="val 697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428750" y="5486400"/>
            <a:ext cx="4191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✓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905000" y="5486400"/>
            <a:ext cx="672465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5Why · 특성요인도 · 4M1E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9372600" y="5257800"/>
            <a:ext cx="7772400" cy="819150"/>
          </a:xfrm>
          <a:prstGeom prst="roundRect">
            <a:avLst>
              <a:gd name="adj" fmla="val 697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658350" y="5486400"/>
            <a:ext cx="4191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✓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134600" y="5486400"/>
            <a:ext cx="672465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생성형 AI 와 함께 쓰는 법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143000" y="6286500"/>
            <a:ext cx="7772400" cy="819150"/>
          </a:xfrm>
          <a:prstGeom prst="roundRect">
            <a:avLst>
              <a:gd name="adj" fmla="val 697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428750" y="6515100"/>
            <a:ext cx="4191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✓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905000" y="6515100"/>
            <a:ext cx="672465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불량 유형·로그·공정 조건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9372600" y="6286500"/>
            <a:ext cx="7772400" cy="819150"/>
          </a:xfrm>
          <a:prstGeom prst="roundRect">
            <a:avLst>
              <a:gd name="adj" fmla="val 697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658350" y="6515100"/>
            <a:ext cx="4191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✓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134600" y="6515100"/>
            <a:ext cx="672465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원인 후보를 넓게 펼치기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143000" y="7715250"/>
            <a:ext cx="47625" cy="81915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409700" y="7734300"/>
            <a:ext cx="85725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 spc="14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가져올 것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09700" y="8077200"/>
            <a:ext cx="857250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팀 중점관리공정 선정서 한 장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