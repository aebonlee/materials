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7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8EB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5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DEF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EE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8EB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1부 · 1교시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24124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00" b="1" spc="-302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AI와 함께,</a:t>
            </a:r>
          </a:p>
          <a:p>
            <a:pPr algn="l">
              <a:lnSpc>
                <a:spcPct val="105000"/>
              </a:lnSpc>
            </a:pPr>
            <a:r>
              <a:rPr sz="8100" b="1" spc="-302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내가 원하는 내일로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527292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2026. 11. 6.(금) 13:30~14:25 · 강사 이애본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경산시취업지원센터 · 경산고용복지+센터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2026년 제1차 취업특강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오늘의 지도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4시간, 네 교시로 이력서부터 자기소개서까지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682240" cy="59055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6822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시간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63340" y="2781300"/>
            <a:ext cx="1402080" cy="59055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63340" y="2781300"/>
            <a:ext cx="14020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교시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0" y="2781300"/>
            <a:ext cx="7002780" cy="59055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2781300"/>
            <a:ext cx="70027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내용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남는 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2682240" cy="519793"/>
          </a:xfrm>
          <a:prstGeom prst="roundRect">
            <a:avLst>
              <a:gd name="adj" fmla="val 7329"/>
            </a:avLst>
          </a:prstGeom>
          <a:solidFill>
            <a:srgbClr val="E6F4EE"/>
          </a:solidFill>
          <a:ln w="9525">
            <a:solidFill>
              <a:srgbClr val="C3E6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24917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13:20~13:30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63340" y="3448050"/>
            <a:ext cx="140208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58590" y="3448050"/>
            <a:ext cx="12115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0" y="3448050"/>
            <a:ext cx="700278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8770" y="3448050"/>
            <a:ext cx="68122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등록 · 와이파이 · 학습사이트 열기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0" y="3448050"/>
            <a:ext cx="480060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439650" y="3448050"/>
            <a:ext cx="46101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044043"/>
            <a:ext cx="2682240" cy="519793"/>
          </a:xfrm>
          <a:prstGeom prst="roundRect">
            <a:avLst>
              <a:gd name="adj" fmla="val 7329"/>
            </a:avLst>
          </a:prstGeom>
          <a:solidFill>
            <a:srgbClr val="E6F4EE"/>
          </a:solidFill>
          <a:ln w="9525">
            <a:solidFill>
              <a:srgbClr val="C3E6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044043"/>
            <a:ext cx="24917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13:30~14:25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63340" y="4044043"/>
            <a:ext cx="140208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58590" y="4044043"/>
            <a:ext cx="12115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0" y="4044043"/>
            <a:ext cx="700278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8770" y="4044043"/>
            <a:ext cx="68122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AI 첫걸음 · 다섯 칸 · 강점 찾기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0" y="4044043"/>
            <a:ext cx="480060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439650" y="4044043"/>
            <a:ext cx="46101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강점 키워드 3개 · 목표 한 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640036"/>
            <a:ext cx="2682240" cy="519793"/>
          </a:xfrm>
          <a:prstGeom prst="roundRect">
            <a:avLst>
              <a:gd name="adj" fmla="val 7329"/>
            </a:avLst>
          </a:prstGeom>
          <a:solidFill>
            <a:srgbClr val="E6F4EE"/>
          </a:solidFill>
          <a:ln w="9525">
            <a:solidFill>
              <a:srgbClr val="C3E6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640036"/>
            <a:ext cx="24917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14:25~15:20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63340" y="4640036"/>
            <a:ext cx="140208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58590" y="4640036"/>
            <a:ext cx="12115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03520" y="4640036"/>
            <a:ext cx="700278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98770" y="4640036"/>
            <a:ext cx="68122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채용공고, AI로 읽어 내기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344400" y="4640036"/>
            <a:ext cx="480060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439650" y="4640036"/>
            <a:ext cx="46101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공고 분석표 · 매칭표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236029"/>
            <a:ext cx="2682240" cy="519793"/>
          </a:xfrm>
          <a:prstGeom prst="roundRect">
            <a:avLst>
              <a:gd name="adj" fmla="val 7329"/>
            </a:avLst>
          </a:prstGeom>
          <a:solidFill>
            <a:srgbClr val="E6F4EE"/>
          </a:solidFill>
          <a:ln w="9525">
            <a:solidFill>
              <a:srgbClr val="C3E6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236029"/>
            <a:ext cx="24917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15:20~15:30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863340" y="5236029"/>
            <a:ext cx="140208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58590" y="5236029"/>
            <a:ext cx="12115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303520" y="5236029"/>
            <a:ext cx="700278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98770" y="5236029"/>
            <a:ext cx="68122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휴식(다과)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344400" y="5236029"/>
            <a:ext cx="480060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439650" y="5236029"/>
            <a:ext cx="46101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3000" y="5832021"/>
            <a:ext cx="2682240" cy="519793"/>
          </a:xfrm>
          <a:prstGeom prst="roundRect">
            <a:avLst>
              <a:gd name="adj" fmla="val 7329"/>
            </a:avLst>
          </a:prstGeom>
          <a:solidFill>
            <a:srgbClr val="E6F4EE"/>
          </a:solidFill>
          <a:ln w="9525">
            <a:solidFill>
              <a:srgbClr val="C3E6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38250" y="5832021"/>
            <a:ext cx="24917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15:30~16:25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863340" y="5832021"/>
            <a:ext cx="140208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958590" y="5832021"/>
            <a:ext cx="12115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303520" y="5832021"/>
            <a:ext cx="700278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98770" y="5832021"/>
            <a:ext cx="68122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평범한 경험을 무기로 — 이력서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2344400" y="5832021"/>
            <a:ext cx="480060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2439650" y="5832021"/>
            <a:ext cx="46101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이력서 초안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43000" y="6428014"/>
            <a:ext cx="2682240" cy="519793"/>
          </a:xfrm>
          <a:prstGeom prst="roundRect">
            <a:avLst>
              <a:gd name="adj" fmla="val 7329"/>
            </a:avLst>
          </a:prstGeom>
          <a:solidFill>
            <a:srgbClr val="E6F4EE"/>
          </a:solidFill>
          <a:ln w="9525">
            <a:solidFill>
              <a:srgbClr val="C3E6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38250" y="6428014"/>
            <a:ext cx="24917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16:25~17:20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863340" y="6428014"/>
            <a:ext cx="140208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958590" y="6428014"/>
            <a:ext cx="12115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303520" y="6428014"/>
            <a:ext cx="700278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98770" y="6428014"/>
            <a:ext cx="68122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자기소개서 · 공고 맞춤 수정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2344400" y="6428014"/>
            <a:ext cx="480060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2439650" y="6428014"/>
            <a:ext cx="46101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자기소개서 한 문항 완성본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143000" y="7024007"/>
            <a:ext cx="2682240" cy="519793"/>
          </a:xfrm>
          <a:prstGeom prst="roundRect">
            <a:avLst>
              <a:gd name="adj" fmla="val 7329"/>
            </a:avLst>
          </a:prstGeom>
          <a:solidFill>
            <a:srgbClr val="E6F4EE"/>
          </a:solidFill>
          <a:ln w="9525">
            <a:solidFill>
              <a:srgbClr val="C3E6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238250" y="7024007"/>
            <a:ext cx="24917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17:20~17:30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863340" y="7024007"/>
            <a:ext cx="140208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958590" y="7024007"/>
            <a:ext cx="12115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303520" y="7024007"/>
            <a:ext cx="700278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398770" y="7024007"/>
            <a:ext cx="68122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설문 · 취업상담 연계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2344400" y="7024007"/>
            <a:ext cx="4800600" cy="519793"/>
          </a:xfrm>
          <a:prstGeom prst="roundRect">
            <a:avLst>
              <a:gd name="adj" fmla="val 7329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2439650" y="7024007"/>
            <a:ext cx="46101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모든 프롬프트는 학습사이트 gyeongsan.jobability.co.kr 「실습 프롬프트」에서 복사합니다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1교시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이런 걸 배워요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다섯 단계를 오늘 하루에 걷습니다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앞 단계의 결과가 다음 단계의 재료가 됩니다 — 그래서 순서대로 갑니다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 활용법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1교시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다섯 칸 부탁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채용공고 분석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2교시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숨은 뜻 해독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이력서 작성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3교시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경험 캐내기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자기소개서 작성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4교시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내 목소리로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맞춤형 수정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4교시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공고마다 다르게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1교시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55분 뒤에는 이렇게 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지역 구직자의 처지를 약점이 아니라 이야기로 바꿔 봅니다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AI 계정 하나를 열고 안전수칙 다섯 가지를 지킵니다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AI에게 다섯 칸([역할]~[조건])으로 부탁합니다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AI 인터뷰로 내 강점 키워드 3개와 목표 한 줄을 찾습니다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6F4EE"/>
          </a:solidFill>
          <a:ln w="9525">
            <a:solidFill>
              <a:srgbClr val="C3E6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남는 것: 나의 강점 키워드 3개 · 취업 목표 한 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1교시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준비물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네 가지만 있으면 바로 시작합니다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10000"/>
            <a:ext cx="3714750" cy="47625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노트북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와이파이 연결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충전기도 함께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810000"/>
            <a:ext cx="3714750" cy="47625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AI 계정 하나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ChatGPT · Gemini ·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Claude 무료 계정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810000"/>
            <a:ext cx="3714750" cy="47625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학습사이트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프롬프트 복사는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여기에서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810000"/>
            <a:ext cx="3714750" cy="47625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저장할 곳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메모장 · 한글 · 워드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바탕화면 폴더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1교시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1교시 ① · 직업학 박사가 본 지금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지역 · 나이 · 공백도 설명할 수 있는 이야기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채용 담당자가 궁금한 것은 「이 일을 잘할 사람인가」입니다 — 그 질문에 답할 재료는 이미 내 안에 있습니다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1교시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지금의 채용, 세 가지 장면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회사는 원하는 사람을 공고에 적습니다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619500"/>
            <a:ext cx="5080000" cy="3524250"/>
          </a:xfrm>
          <a:prstGeom prst="roundRect">
            <a:avLst>
              <a:gd name="adj" fmla="val 1351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619500"/>
            <a:ext cx="5080000" cy="47625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8290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943350"/>
            <a:ext cx="4432300" cy="2876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공고가 곧 질문지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주요 업무 · 자격 요건 · 우대 사항에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회사가 찾는 사람이 적혀 있습니다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619500"/>
            <a:ext cx="5080000" cy="3524250"/>
          </a:xfrm>
          <a:prstGeom prst="roundRect">
            <a:avLst>
              <a:gd name="adj" fmla="val 1351"/>
            </a:avLst>
          </a:prstGeom>
          <a:solidFill>
            <a:srgbClr val="1E3E69"/>
          </a:solidFill>
          <a:ln w="952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619500"/>
            <a:ext cx="5080000" cy="47625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8290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943350"/>
            <a:ext cx="4432300" cy="2876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 본 일을 봅니다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비슷한 일을 해 봤는지,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그 일을 어떻게 했는지가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서류의 중심입니다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619500"/>
            <a:ext cx="5080000" cy="3524250"/>
          </a:xfrm>
          <a:prstGeom prst="roundRect">
            <a:avLst>
              <a:gd name="adj" fmla="val 1351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619500"/>
            <a:ext cx="5080000" cy="47625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8290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943350"/>
            <a:ext cx="4432300" cy="2876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맞춰 쓰면 보입니다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공고의 낱말로 내 경험을 쓰면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읽는 사람이 바로 알아봅니다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1교시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생각 바꾸기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약점처럼 보이던 것을 이렇게 말합니다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이렇게 생각하기 쉽습니다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혼자 품고 있으면 걱정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지방이라 갈 곳이 없다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나이가 많아 안 뽑아 줄 것이다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공백이 있어서 불리하다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이렇게 바꿔 말합니다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말로 꺼내면 이야기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경산에 살아 오래, 제때 다닐 수 있습니다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22년 거래처 · 납기 관리를 옮겨 씁니다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그 기간에 한 일 + 그래서 잘할 이유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1교시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지역에서 일자리 찾기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경산에서 일자리를 찾는 다섯 갈래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7178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4322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670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7178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고용24에서 지역(경산)과 직종으로 채용공고를 찾습니다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662362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733800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857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662362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경산시취업지원센터 취업상담 — 오늘 마지막 10분에 안내합니다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45293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45293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경산고용복지+센터에서 구직 등록과 취업지원 제도를 묻습니다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243512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314950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4387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243512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공고의 「인근 거주자 우대」는 지역 구직자의 강점입니다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03408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03408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지원 제도의 내용은 바뀌므로 고용24 공식 사이트에서 확인합니다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6F4EE"/>
          </a:solidFill>
          <a:ln w="9525">
            <a:solidFill>
              <a:srgbClr val="C3E6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AI는 찾은 공고를 읽고 정리하는 데 씁니다 — 공고 찾기는 고용24에서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1교시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1교시 ② · 생성형 AI 첫걸음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AI는 말 잘하는 신입 인턴입니다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아는 것은 많지만 내 사정은 모릅니다 — 알려 준 만큼 일하고, 모르면 그럴듯하게 지어냅니다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1교시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AI의 세 가지 성격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잘하는 것과 조심할 것을 함께 압니다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619500"/>
            <a:ext cx="5080000" cy="3524250"/>
          </a:xfrm>
          <a:prstGeom prst="roundRect">
            <a:avLst>
              <a:gd name="adj" fmla="val 1351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619500"/>
            <a:ext cx="5080000" cy="47625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8290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943350"/>
            <a:ext cx="4432300" cy="2876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글 정리는 빠릅니다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긴 공고를 쉬운 말로 풀고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표로 정리하는 데 강합니다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619500"/>
            <a:ext cx="5080000" cy="3524250"/>
          </a:xfrm>
          <a:prstGeom prst="roundRect">
            <a:avLst>
              <a:gd name="adj" fmla="val 1351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619500"/>
            <a:ext cx="5080000" cy="47625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8290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943350"/>
            <a:ext cx="4432300" cy="2876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묻는 대로 답합니다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부탁이 막연하면 답도 막연하고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구체적이면 답도 구체적입니다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619500"/>
            <a:ext cx="5080000" cy="3524250"/>
          </a:xfrm>
          <a:prstGeom prst="roundRect">
            <a:avLst>
              <a:gd name="adj" fmla="val 1351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619500"/>
            <a:ext cx="5080000" cy="47625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8290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943350"/>
            <a:ext cx="4432300" cy="2876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지어낼 때가 있습니다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모르는 경력 · 숫자 · 정보를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사실처럼 써 넣기도 합니다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1교시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첫걸음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AI 대화창을 여는 네 단계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화면 모양과 메뉴 이름은 서비스마다, 시기마다 바뀔 수 있습니다 — 무료 개인 계정이면 충분합니다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3714750" cy="9144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하나 고르기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ChatGPT · Gemini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· Claude 중 하나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87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38750" y="3924300"/>
            <a:ext cx="3714750" cy="91440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87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로그인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83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평소 쓰는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개인 계정으로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345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34500" y="3924300"/>
            <a:ext cx="3714750" cy="9144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45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새 대화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40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오늘 1~2교시는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한 대화창에서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4302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430250" y="3924300"/>
            <a:ext cx="3714750" cy="91440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4302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붙여 넣기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398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학습사이트에서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복사한 프롬프트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1교시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안전수칙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AI 대화창에 넣지 않는 다섯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571750"/>
            <a:ext cx="16002000" cy="849630"/>
          </a:xfrm>
          <a:prstGeom prst="roundRect">
            <a:avLst>
              <a:gd name="adj" fmla="val 672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466850" y="279654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3600" y="2667000"/>
            <a:ext cx="14725650" cy="6591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이름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6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「저는 ○○입니다」 대신 나이대만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3573780"/>
            <a:ext cx="16002000" cy="849630"/>
          </a:xfrm>
          <a:prstGeom prst="roundRect">
            <a:avLst>
              <a:gd name="adj" fmla="val 672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466850" y="379857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33600" y="3669030"/>
            <a:ext cx="14725650" cy="6591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주민등록번호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6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어떤 경우에도 넣지 않습니다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4575810"/>
            <a:ext cx="16002000" cy="849630"/>
          </a:xfrm>
          <a:prstGeom prst="roundRect">
            <a:avLst>
              <a:gd name="adj" fmla="val 672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466850" y="480060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33600" y="4671060"/>
            <a:ext cx="14725650" cy="6591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전화번호 · 이메일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6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연락처 칸은 비워 둡니다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5577840"/>
            <a:ext cx="16002000" cy="849630"/>
          </a:xfrm>
          <a:prstGeom prst="roundRect">
            <a:avLst>
              <a:gd name="adj" fmla="val 672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466850" y="580263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33600" y="5673090"/>
            <a:ext cx="14725650" cy="6591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주소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6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「경산시」 정도면 충분합니다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579870"/>
            <a:ext cx="16002000" cy="849630"/>
          </a:xfrm>
          <a:prstGeom prst="roundRect">
            <a:avLst>
              <a:gd name="adj" fmla="val 672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466850" y="680466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33600" y="6675120"/>
            <a:ext cx="14725650" cy="6591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사진 · 증명서 이미지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6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올리지 않습니다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C3E6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이력서 완성본의 개인 정보 칸은 AI 밖에서, 내 손으로 채웁니다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1교시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O/X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AI가 대신 할 수 있을까요?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7178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4322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670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7178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어려운 공고 문장을 쉬운 말로 풀어 준다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662362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733800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857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662362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내가 무슨 일을 해 봤는지 대신 기억해 준다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45293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45293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이력서 문장을 짧고 깔끔하게 다듬어 준다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243512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314950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4387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243512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자기소개서 속 경험이 사실이라고 보증해 준다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03408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03408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면접장에서 내 대신 내 말로 답해 준다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6F4EE"/>
          </a:solidFill>
          <a:ln w="9525">
            <a:solidFill>
              <a:srgbClr val="C3E6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옆 사람과 O · X 를 먼저 맞춰 봅니다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1교시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O/X 퀴즈 정답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AI가 대신 못 하는 것은 「나」입니다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682740" cy="59055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6827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문장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2781300"/>
            <a:ext cx="1242060" cy="59055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781300"/>
            <a:ext cx="12420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E6F4EE"/>
          </a:solidFill>
          <a:ln w="9525">
            <a:solidFill>
              <a:srgbClr val="C3E6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어려운 공고 문장을 쉬운 말로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3448050"/>
            <a:ext cx="1242060" cy="64770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9090" y="3448050"/>
            <a:ext cx="10515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34480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9250" y="34480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AI가 가장 잘하는 일입니다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E6F4EE"/>
          </a:solidFill>
          <a:ln w="9525">
            <a:solidFill>
              <a:srgbClr val="C3E6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내 경험을 대신 기억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4171950"/>
            <a:ext cx="1242060" cy="64770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9090" y="4171950"/>
            <a:ext cx="10515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41719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9250" y="41719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AI는 내가 말한 것만 압니다 — 그래서 인터뷰를 합니다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E6F4EE"/>
          </a:solidFill>
          <a:ln w="9525">
            <a:solidFill>
              <a:srgbClr val="C3E6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이력서 문장 다듬기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4895850"/>
            <a:ext cx="1242060" cy="64770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9090" y="4895850"/>
            <a:ext cx="10515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0" y="48958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9250" y="48958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단, 기간 · 숫자 · 자격은 그대로인지 확인합니다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E6F4EE"/>
          </a:solidFill>
          <a:ln w="9525">
            <a:solidFill>
              <a:srgbClr val="C3E6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경험이 사실이라고 보증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63840" y="5619750"/>
            <a:ext cx="1242060" cy="64770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9090" y="5619750"/>
            <a:ext cx="10515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X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56197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9250" y="56197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제출한 서류의 책임은 지원자에게 있습니다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E6F4EE"/>
          </a:solidFill>
          <a:ln w="9525">
            <a:solidFill>
              <a:srgbClr val="C3E6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면접장에서 대신 답하기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863840" y="6343650"/>
            <a:ext cx="1242060" cy="64770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59090" y="6343650"/>
            <a:ext cx="10515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X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44000" y="63436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39250" y="63436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그래서 내가 설명할 수 있는 문장만 씁니다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AI는 정리와 표현을 돕고, 경험과 사실과 목소리는 내가 맡습니다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1교시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1교시 ③ · 잘 부탁하는 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다섯 칸을 채우면 AI가 되묻지 않습니다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새로 온 인턴에게 일을 맡길 때처럼 — 누구로, 무엇을 보고, 무엇을, 어떤 모양으로, 무엇을 지키며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1교시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다섯 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[역할] [자료] [과업] [형식] [조건]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[역할]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누구로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일할지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[자료]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무엇을 보고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일할지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[과업]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번호 붙여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무엇을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[형식]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결과가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어떤 모양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[조건]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지킬 것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하지 말 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비어 있는 칸은 AI가 알아서 채웁니다 — 알아서 채운 자리가 엉뚱한 답이 나오는 자리입니다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1교시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같은 부탁, 다른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「취업 좀 도와줘」 한 줄과 다섯 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한 줄 부탁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누구에게나 하는 일반론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취업 좀 도와줘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「자격증을 따세요」 같은 답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내 상황과 상관없는 조언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다섯 칸 부탁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내 상황에 맞는 첫걸음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[역할] 15년 차 취업 상담 담당자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[자료] 해 본 일 · 걱정되는 점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[조건] 적지 않은 경력은 지어내지 않기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1교시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744450" y="1181100"/>
            <a:ext cx="4400550" cy="590550"/>
          </a:xfrm>
          <a:prstGeom prst="roundRect">
            <a:avLst>
              <a:gd name="adj" fmla="val 50000"/>
            </a:avLst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0683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0" y="1295400"/>
            <a:ext cx="3657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전문은 학습사이트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12204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실습 프롬프트 1-1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12204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AI에게 내 상황 알리고 첫 상담 받기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핵심 — 상담 담당자로 세우고, 첫걸음 세 가지를 받는다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[역할] 15년 차 취업 상담 담당자 [자료] 나이대 · 사는 곳 · 학력 · 해 본 일 · 관심 있는 일 · 걱정되는 점 [과업] ① 내 경험의 강점 3가지 ② 맞을 만한 직무 3가지와 이유 ③ 이번 주 첫걸음 3가지 [형식] 번호 · 항목마다 2문장 이내 [조건] 적지 않은 경력은 지어내지 않기, 확실하지 않으면 「확인 필요」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이름 · 전화번호 없이도 충분합니다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1교시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744450" y="1181100"/>
            <a:ext cx="4400550" cy="590550"/>
          </a:xfrm>
          <a:prstGeom prst="roundRect">
            <a:avLst>
              <a:gd name="adj" fmla="val 50000"/>
            </a:avLst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0683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0" y="1295400"/>
            <a:ext cx="3657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전문은 학습사이트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12204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실습 프롬프트 1-2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12204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강점 찾기 인터뷰 — AI가 묻고 내가 답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핵심 — 한 번에 하나씩 묻게 해서 장면을 떠올린다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[역할] 직업 상담 담당자 [자료] 나이대 · 관심 직무(또는 「아직 모름」) [과업] ① 질문은 한 번에 하나씩, 모두 5개 ② 「칭찬받았던 일」 「오래 해도 지치지 않던 일」 같은 장면 질문 ③ 끝나면 강점 키워드 3개와 목표 한 줄 [조건] 하지 않은 말을 강점으로 만들지 않기, 키워드마다 근거 문장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한 질문에 한 답 — 짧아도 솔직하게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1교시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420850" y="1181100"/>
            <a:ext cx="2724150" cy="590550"/>
          </a:xfrm>
          <a:prstGeom prst="roundRect">
            <a:avLst>
              <a:gd name="adj" fmla="val 50000"/>
            </a:avLst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7447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935200" y="1295400"/>
            <a:ext cx="1981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강점 카드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28968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1교시 산출물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28968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나의 강점 키워드 3개 · 목표 한 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476500"/>
            <a:ext cx="4000500" cy="914400"/>
          </a:xfrm>
          <a:prstGeom prst="roundRect">
            <a:avLst>
              <a:gd name="adj" fmla="val 6250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476500"/>
            <a:ext cx="57150" cy="9144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2590800"/>
            <a:ext cx="34671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2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강점 키워드 ①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650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근거 문장(내가 실제로 한 말)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43500" y="2476500"/>
            <a:ext cx="120015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43000" y="3524250"/>
            <a:ext cx="4000500" cy="914400"/>
          </a:xfrm>
          <a:prstGeom prst="roundRect">
            <a:avLst>
              <a:gd name="adj" fmla="val 6250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43000" y="3524250"/>
            <a:ext cx="57150" cy="9144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3638550"/>
            <a:ext cx="34671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2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강점 키워드 ②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650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근거 문장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43500" y="3524250"/>
            <a:ext cx="120015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143000" y="4572000"/>
            <a:ext cx="4000500" cy="914400"/>
          </a:xfrm>
          <a:prstGeom prst="roundRect">
            <a:avLst>
              <a:gd name="adj" fmla="val 6250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43000" y="4572000"/>
            <a:ext cx="57150" cy="9144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4686300"/>
            <a:ext cx="34671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2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강점 키워드 ③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650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근거 문장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43500" y="4572000"/>
            <a:ext cx="120015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43000" y="5619750"/>
            <a:ext cx="4000500" cy="914400"/>
          </a:xfrm>
          <a:prstGeom prst="roundRect">
            <a:avLst>
              <a:gd name="adj" fmla="val 6250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5619750"/>
            <a:ext cx="57150" cy="9144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5734050"/>
            <a:ext cx="34671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2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취업 목표 한 줄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650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직무 + 어디서 + 어떻게, 40자 이내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43500" y="5619750"/>
            <a:ext cx="120015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C3E6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예: 경산 제조 현장에서 꼼꼼함으로 불량을 줄이는 품질관리 사원 — 연습용 가상 인물 박하늘(가명)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1교시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결과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이렇게 나왔으면 잘된 것입니다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571750"/>
            <a:ext cx="16002000" cy="937260"/>
          </a:xfrm>
          <a:prstGeom prst="roundRect">
            <a:avLst>
              <a:gd name="adj" fmla="val 6097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466850" y="284035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3600" y="2667000"/>
            <a:ext cx="14725650" cy="746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강점 3가지가 내가 적은 경험에서 나왔다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3661410"/>
            <a:ext cx="16002000" cy="937260"/>
          </a:xfrm>
          <a:prstGeom prst="roundRect">
            <a:avLst>
              <a:gd name="adj" fmla="val 6097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466850" y="393001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33600" y="3756660"/>
            <a:ext cx="14725650" cy="746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적지 않은 경력 · 자격이 끼어 있지 않다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4751070"/>
            <a:ext cx="16002000" cy="937260"/>
          </a:xfrm>
          <a:prstGeom prst="roundRect">
            <a:avLst>
              <a:gd name="adj" fmla="val 6097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466850" y="501967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33600" y="4846320"/>
            <a:ext cx="14725650" cy="746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「확인 필요」 지역 정보는 고용24에서 직접 확인한다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5840730"/>
            <a:ext cx="16002000" cy="937260"/>
          </a:xfrm>
          <a:prstGeom prst="roundRect">
            <a:avLst>
              <a:gd name="adj" fmla="val 6097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466850" y="610933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33600" y="5935980"/>
            <a:ext cx="14725650" cy="746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키워드 3개마다 내 답의 근거 문장이 붙어 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30390"/>
            <a:ext cx="16002000" cy="937260"/>
          </a:xfrm>
          <a:prstGeom prst="roundRect">
            <a:avLst>
              <a:gd name="adj" fmla="val 6097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466850" y="719899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33600" y="7025640"/>
            <a:ext cx="14725650" cy="746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목표 한 줄에 직무 · 어디서 · 어떻게가 들어 있다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1교시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산출물 저장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2교시로 가져갈 것을 챙깁니다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대화창은 닫지 않습니다 — 2교시에 같은 대화창에서 이어 씁니다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강점 키워드 3개와 목표 한 줄을 메모장 · 한글 · 워드에 붙여 넣습니다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파일 이름 예: 강점키워드_목표_20261106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붙여 넣은 글에 이름 · 연락처가 섞이지 않았는지 봅니다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6F4EE"/>
          </a:solidFill>
          <a:ln w="9525">
            <a:solidFill>
              <a:srgbClr val="C3E6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본인 이야기가 망설여지면 연습용 가상 인물(박하늘 · 최정우)로 해도 됩니다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1교시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1교시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55분, AI와 첫 대화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AI는 말 잘하는 인턴 — 다섯 칸으로 부탁하고, 결과는 내가 확인합니다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지역 · 나이 · 공백은 설명할 수 있는 이야기입니다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이름 · 주민번호 · 연락처 · 주소 · 사진은 빼고 씁니다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다섯 칸: [역할] [자료] [과업] [형식] [조건]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강점 키워드 3개와 목표 한 줄을 챙겼습니다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7F5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7F5B"/>
                </a:solidFill>
                <a:latin typeface="Pretendard"/>
                <a:ea typeface="Pretendard"/>
                <a:cs typeface="Pretendard"/>
              </a:rPr>
              <a:t>다음 시간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2교시 · 채용공고, AI로 읽어 내기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