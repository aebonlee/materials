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7EA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4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C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C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7EA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11" name="Picture 10" descr="a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52500"/>
            <a:ext cx="1462653" cy="571500"/>
          </a:xfrm>
          <a:prstGeom prst="rect">
            <a:avLst/>
          </a:prstGeom>
        </p:spPr>
      </p:pic>
      <p:pic>
        <p:nvPicPr>
          <p:cNvPr id="12" name="Picture 11" descr="rebui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03540" y="1028700"/>
            <a:ext cx="3941460" cy="4191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영업·마케팅 과정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905250"/>
            <a:ext cx="16002000" cy="2247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0" b="1" spc="-280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AI 활용</a:t>
            </a:r>
          </a:p>
          <a:p>
            <a:pPr algn="l">
              <a:lnSpc>
                <a:spcPct val="105000"/>
              </a:lnSpc>
            </a:pPr>
            <a:r>
              <a:rPr sz="7500" b="1" spc="-280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B2B 영업·고객관리 자동화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6362700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3일차 · 11/8(일) · 모듈 5·6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동양에이케이코리아 × 한국표준협회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2026 산업·일자리 전환 교육 · ReBuild 아카데미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시작하기 전에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AI 에 입력하지 않는 다섯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122420" cy="590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1224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항목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0" y="2781300"/>
            <a:ext cx="11841480" cy="5905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0" y="2781300"/>
            <a:ext cx="118414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한 줄로 기억하기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기술·공정 비밀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0" y="3448050"/>
            <a:ext cx="11841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98770" y="3448050"/>
            <a:ext cx="11650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도면·배합비·공정 조건·설비 파라미터·원가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719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719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고객·거래 정보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03520" y="4171950"/>
            <a:ext cx="11841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98770" y="4171950"/>
            <a:ext cx="11650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고객사 이름·단가·계약 조건·클레임 원문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958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958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개인·인사 정보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0" y="4895850"/>
            <a:ext cx="11841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98770" y="4895850"/>
            <a:ext cx="11650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이름·연락처·사번·평가·급여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6197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6197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공시·재무 정보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03520" y="5619750"/>
            <a:ext cx="11841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98770" y="5619750"/>
            <a:ext cx="11650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공시 전 실적·미확정 재무 수치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3436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63436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IT 보안 정보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03520" y="6343650"/>
            <a:ext cx="11841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98770" y="6343650"/>
            <a:ext cx="11650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비밀번호·서버 주소·계정·내부 URL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오늘 화면의 제품명·수치·이름은 전부 가상의 값이거나 [빈칸]입니다 — 회사가 허용한 AI 서비스만 씁니다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진행 방법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모든 실습은 다섯 단계로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화면을 보며 따라 하고, 잘된 프롬프트는 빈칸째 저장합니다 — 첫 답은 초안, 두 번째 요청에서 쓸 만해집니다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복사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학습사이트의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프롬프트 복사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채우기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[빈칸]에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가상의 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확인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확인 표로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결과 점검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고치기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이어서 던질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프롬프트로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저장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빈칸째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팀 폴더에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3일차 · 모듈 5 · 4시간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영업 자동화 및 데이터 대시보드 구축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영업 파이프라인을 단계로 관리하고, SNS·디지털 마케팅 콘텐츠를 만들며, 영업 KPI 대시보드와 주간 보고를 자동화합니다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1. 영업 파이프라인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기회 → 상담 → 견적 → 협상 → 수주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002280" cy="7048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문의·소개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발굴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164330" y="3028950"/>
            <a:ext cx="209550" cy="209550"/>
          </a:xfrm>
          <a:prstGeom prst="rightArrow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2930" y="2781300"/>
            <a:ext cx="3002280" cy="7048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9293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상담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9293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요구 파악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미팅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414260" y="3028950"/>
            <a:ext cx="209550" cy="209550"/>
          </a:xfrm>
          <a:prstGeom prst="rightArrow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42860" y="2781300"/>
            <a:ext cx="3002280" cy="7048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4286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견적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4286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621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견적서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발송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0664190" y="3028950"/>
            <a:ext cx="209550" cy="209550"/>
          </a:xfrm>
          <a:prstGeom prst="rightArrow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892790" y="2781300"/>
            <a:ext cx="3002280" cy="7048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9279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협상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89279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02614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조건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조율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3914120" y="3028950"/>
            <a:ext cx="209550" cy="209550"/>
          </a:xfrm>
          <a:prstGeom prst="rightArrow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4142720" y="2781300"/>
            <a:ext cx="3002280" cy="7048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14272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수주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14272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27607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발주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접수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단계마다 「다음 할 일과 날짜」가 비어 있는 건이 가장 먼저 놓치는 건입니다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2. 영업 KPI 고르기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결과 지표 · 과정 지표 · 고객 지표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24175"/>
            <a:ext cx="50800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924175"/>
            <a:ext cx="5080000" cy="47625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248025"/>
            <a:ext cx="44323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결과 지표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매출 · 목표 달성률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수주율 · 평균 수주 금액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2924175"/>
            <a:ext cx="50800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2924175"/>
            <a:ext cx="5080000" cy="47625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248025"/>
            <a:ext cx="44323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과정 지표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신규 기회 수 · 견적 발송 수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견적 회신까지 걸린 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2924175"/>
            <a:ext cx="50800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2924175"/>
            <a:ext cx="5080000" cy="47625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248025"/>
            <a:ext cx="44323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고객 지표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재구매율 · 이탈 위험 고객 수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클레임 건수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5800725"/>
            <a:ext cx="47625" cy="7239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5857875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대시보드에는 다섯 개 안팎만 — 지표가 많으면 아무도 보지 않습니다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영업 파이프라인 표와 후속 조치 누락 찾기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다음 할 일 없는 건 찾기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아래 영업 기회 목록 [붙여 넣기] 을 파이프라인 표(고객·단계·예상 금액·확률·다음 할 일·날짜)로 정리해줘. 다음 할 일이나 날짜가 비어 있는 건, 같은 단계에 30일 넘게 머문 건을 따로 표시하고, 이번 주에 먼저 연락할 다섯 건을 골라줘.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고른 다섯 건이 표의 날짜 기준과 맞는지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15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영업 파이프라인 표와 후속 조치 누락 찾기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단계 이름을 고정하기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기회·상담·견적·협상·수주 다섯 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다음 할 일이 핵심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비어 있으면 그 건은 멈춘 것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머문 날을 세기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30일 넘으면 다시 연락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파이프라인은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다음 할 일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+ 날짜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SNS·디지털 마케팅 콘텐츠 만들기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공개해도 되는 정보만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우리 회사 알루미늄 부품의 [강점 한 가지 · 적용 분야] 를 소개하는 B2B 링크드인 게시글 한 편과 카드뉴스 다섯 장 문구를 써줘. 고객사 이름·단가·미공개 실적은 넣지 말고, 수치가 필요한 곳은 [공개 자료 확인] 빈칸으로 남겨줘.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게시 전 홍보 담당 확인을 거쳤는지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16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SNS·디지털 마케팅 콘텐츠 만들기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공개 정보만 쓰기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고객사명·단가는 게시물에 절대 넣지 않는다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한 편에 한 메시지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강점 하나 · 적용 분야 하나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게시 전 확인 절차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홍보·법무 확인 뒤 게시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마케팅 글은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공개 정보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한 메시지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영업 KPI 대시보드 설계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지표마다 공식과 출처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영업팀 월간 대시보드를 엑셀로 만들 수 있게 설계해줘. KPI 다섯 개를 골라 지표·공식·데이터 출처·갱신 주기·목표 칸을 표로 주고, 한 화면 배치(위 숫자 카드 · 가운데 추이 차트 · 아래 고객 표)를 그림 설명으로 줘. 목표 값은 [빈칸] 으로 둬.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이어서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피벗 테이블·차트 만드는 순서를 단계별로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17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영업 KPI 대시보드 설계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다섯 개만 고르기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결과·과정·고객 지표를 섞는다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공식을 글로 남기기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수주율 = 수주 건 ÷ 견적 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출처와 주기를 적기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누가 언제 채우는지가 대시보드의 수명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대시보드는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지표 다섯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공식·출처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주간 영업 보고 자동 작성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숫자는 표에서만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아래 이번 주 영업 데이터 [실적 표 · 상담 기록 메모] 로 주간 영업 보고를 써줘. 실적 요약 세 줄, 주요 고객 동향, 이슈와 요청 사항, 다음 주 계획 순서로 쓰고, 숫자는 표에 있는 값만 쓰고 메모에 없는 고객 반응은 지어내지 마.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보고서의 숫자가 실적 표와 같은지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18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주간 영업 보고 자동 작성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양식을 먼저 고정하기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매주 같은 순서라야 비교된다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숫자 출처를 하나로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실적 표에 있는 값만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요청 사항을 분리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팀장이 결정할 것이 한눈에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주간 보고는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같은 양식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표의 숫자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모듈 5 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이 모듈에서 손에 남는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다음 할 일·날짜가 붙은 영업 파이프라인 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공개 정보만 쓴 링크드인 글과 카드뉴스 문구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공식·출처가 정해진 영업 KPI 대시보드 설계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같은 양식의 주간 영업 보고 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영업 현황이 한 장의 화면과 한 장의 보고서로 모입니다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3일차 · 모듈 6 · 4시간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영업 AI 자동화 실행체계 구축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견적부터 사후관리까지 자동화 흐름을 그리고, 팀별 과제를 구현해 발표한 뒤 영업 DX 로드맵을 세웁니다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1. 견적 → 수주 → 사후관리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끊기는 곳에 자동화를 붙입니다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002280" cy="7048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견적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요청 정리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계산표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164330" y="3028950"/>
            <a:ext cx="209550" cy="209550"/>
          </a:xfrm>
          <a:prstGeom prst="rightArrow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2930" y="2781300"/>
            <a:ext cx="3002280" cy="7048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9293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제안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9293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제안서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점검표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414260" y="3028950"/>
            <a:ext cx="209550" cy="209550"/>
          </a:xfrm>
          <a:prstGeom prst="rightArrow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42860" y="2781300"/>
            <a:ext cx="3002280" cy="7048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4286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수주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4286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621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조건 확인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생산 전달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0664190" y="3028950"/>
            <a:ext cx="209550" cy="209550"/>
          </a:xfrm>
          <a:prstGeom prst="rightArrow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892790" y="2781300"/>
            <a:ext cx="3002280" cy="7048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9279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납품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89279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02614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납기 안내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변경 통보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3914120" y="3028950"/>
            <a:ext cx="209550" cy="209550"/>
          </a:xfrm>
          <a:prstGeom prst="rightArrow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4142720" y="2781300"/>
            <a:ext cx="3002280" cy="7048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14272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사후관리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14272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27607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만족도·클레임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재구매 제안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44140" y="5086350"/>
            <a:ext cx="38100" cy="209550"/>
          </a:xfrm>
          <a:prstGeom prst="rect">
            <a:avLst/>
          </a:prstGeom>
          <a:solidFill>
            <a:srgbClr val="BBD5F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5605760" y="5086350"/>
            <a:ext cx="38100" cy="209550"/>
          </a:xfrm>
          <a:prstGeom prst="rect">
            <a:avLst/>
          </a:prstGeom>
          <a:solidFill>
            <a:srgbClr val="BBD5F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644140" y="5295900"/>
            <a:ext cx="13037820" cy="38100"/>
          </a:xfrm>
          <a:prstGeom prst="rect">
            <a:avLst/>
          </a:prstGeom>
          <a:solidFill>
            <a:srgbClr val="BBD5F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Right Arrow 34"/>
          <p:cNvSpPr/>
          <p:nvPr/>
        </p:nvSpPr>
        <p:spPr>
          <a:xfrm>
            <a:off x="2453640" y="5162550"/>
            <a:ext cx="381000" cy="266700"/>
          </a:xfrm>
          <a:prstGeom prst="rightArrow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단계와 단계 사이에서 정보가 다시 입력되는 곳이 자동화 1순위입니다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2. 팀별 과제 진행 방법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고르기 → 만들기 → 발표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24175"/>
            <a:ext cx="50800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924175"/>
            <a:ext cx="5080000" cy="47625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248025"/>
            <a:ext cx="44323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고르기 (40분)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팀 업무 가운데 하나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지금 시간 · 바뀐 뒤 시간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2924175"/>
            <a:ext cx="50800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2924175"/>
            <a:ext cx="5080000" cy="47625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248025"/>
            <a:ext cx="44323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만들기 (100분)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프롬프트 묶음 + 양식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가상 데이터로 시연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2924175"/>
            <a:ext cx="50800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2924175"/>
            <a:ext cx="5080000" cy="47625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248025"/>
            <a:ext cx="44323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발표 (5분씩)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전 · 후 · 남은 일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다른 팀 질문 하나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5800725"/>
            <a:ext cx="47625" cy="7239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5857875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과제 예: 견적 요청 자동 정리 · 주간 보고 자동 작성 · 해외 메일 회신 세트 · 이탈 고객 재접촉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견적→수주→사후관리 자동화 흐름 설계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사람이 승인하는 지점 표시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우리 팀의 견적부터 사후관리까지 업무 흐름 [단계별 지금 하는 일] 을 보고, 단계마다 자동화할 일·쓸 도구(엑셀·ChatGPT·메일 템플릿)·사람이 승인하는 지점을 표로 설계해줘. 다시 입력하는 정보가 있는 곳을 따로 표시해줘.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승인 지점이 가격·약속·발송 단계에 빠짐없이 있는지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19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견적→수주→사후관리 자동화 흐름 설계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지금 하는 일부터 적기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이상적인 흐름이 아니라 실제 흐름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다시 입력하는 곳 찾기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정보를 두 번 치는 곳이 1순위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승인 지점을 박아 두기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가격·약속·발송은 사람이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자동화 흐름은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다시 입력 줄이기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+ 승인 지점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팀별 자동화 과제 정의서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전·후 시간을 숫자로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우리 팀이 고른 자동화 과제 [과제 이름] 의 정의서를 써줘. 문제, 지금 방식과 걸리는 시간, 바뀐 방식, 쓰는 프롬프트 목록, 기대 효과(시간·실수 감소), 남은 위험과 대응을 표로 정리하고, 측정하지 않은 숫자는 [측정 필요] 로 남겨줘.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기대 효과의 숫자가 실제로 잰 값인지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20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팀별 자동화 과제 정의서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전·후를 숫자로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「30분 → 10분」처럼 재서 적는다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프롬프트를 목록으로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과제가 끝나도 팀에 남는다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위험도 같이 적기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보안·오류·승인 누락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과제 정의서는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전·후 숫자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+ 남은 위험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과제 결과 발표 자료 다섯 장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전·후 비교 한 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우리 팀 자동화 과제 정의서 [붙여 넣기] 로 5분 발표 자료 다섯 장을 구성해줘. 장마다 제목 한 줄과 핵심 세 줄, 넣을 그림·표를 적고, 셋째 장은 지금 방식과 바뀐 방식을 나란히 비교하는 표로 해줘. 정의서에 없는 성과는 쓰지 마.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이어서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다른 팀이 물을 만한 질문 세 개와 답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21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과제 결과 발표 자료 다섯 장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다섯 장이면 충분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문제·방법·전후 비교·시연·남은 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비교 표가 핵심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청중은 전·후 차이만 기억한다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시연은 가상 데이터로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회사 실제 자료는 화면에 띄우지 않는다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발표는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다섯 장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전·후 비교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영업 DX 실행계획과 로드맵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누가·언제·무엇을 재는지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오늘 발표한 팀별 과제 [목록] 을 바탕으로 우리 영업 조직의 영업 DX 실행계획을 이번 주·이번 달·이번 분기로 나눠 표로 써줘. 칸은 할 일·담당 역할·완료 기준·잴 지표로 하고, 필요한 회사 지원(계정·교육·데이터)은 따로 정리해줘. 담당자 이름 대신 역할로 써줘.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할 일마다 완료 기준과 지표가 있는지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22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영업 DX 실행계획과 로드맵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세 칸으로 나누기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이번 주에 할 일이 있어야 시작된다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완료 기준을 적기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「했다」가 아니라 「무엇이 남는다」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회사 지원을 따로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계정·데이터 권한은 요청해야 생긴다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로드맵은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이번 주부터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잴 지표와 함께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모듈 6 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이 모듈에서 손에 남는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승인 지점이 표시된 견적→사후관리 자동화 흐름표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전·후 시간을 잰 팀별 자동화 과제 정의서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전·후 비교 표가 들어간 발표 자료 다섯 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이번 주·달·분기 영업 DX 실행계획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교육장에서 만든 것이 돌아가서 이어질 계획으로 남습니다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3일차 확인 퀴즈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오늘 배운 것 한 문제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57500"/>
            <a:ext cx="16002000" cy="1416368"/>
          </a:xfrm>
          <a:prstGeom prst="roundRect">
            <a:avLst>
              <a:gd name="adj" fmla="val 4034"/>
            </a:avLst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38300" y="3295650"/>
            <a:ext cx="15011400" cy="8448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영업 자동화 흐름을 설계할 때 반드시 사람이 맡아야 하는 지점은?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712018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8750" y="5054918"/>
            <a:ext cx="495300" cy="495300"/>
          </a:xfrm>
          <a:prstGeom prst="ellipse">
            <a:avLst/>
          </a:prstGeom>
          <a:solidFill>
            <a:srgbClr val="EDF4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8750" y="5169218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14550" y="4712018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① 견적 요청 메일을 표로 정리하기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34500" y="4712018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20250" y="5054918"/>
            <a:ext cx="495300" cy="495300"/>
          </a:xfrm>
          <a:prstGeom prst="ellipse">
            <a:avLst/>
          </a:prstGeom>
          <a:solidFill>
            <a:srgbClr val="EDF4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20250" y="5169218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06050" y="4712018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② 주간 보고 초안 쓰기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6140768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28750" y="6483668"/>
            <a:ext cx="495300" cy="495300"/>
          </a:xfrm>
          <a:prstGeom prst="ellipse">
            <a:avLst/>
          </a:prstGeom>
          <a:solidFill>
            <a:srgbClr val="EDF4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28750" y="6597968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14550" y="6140768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③ 단가 확정과 고객에게 약속하는 메일 발송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34500" y="6140768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20250" y="6483668"/>
            <a:ext cx="495300" cy="495300"/>
          </a:xfrm>
          <a:prstGeom prst="ellipse">
            <a:avLst/>
          </a:prstGeom>
          <a:solidFill>
            <a:srgbClr val="EDF4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20250" y="6597968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06050" y="6140768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④ FAQ 답변 묶기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3일차 확인 퀴즈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정답과 해설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048000"/>
            <a:ext cx="16002000" cy="1428750"/>
          </a:xfrm>
          <a:prstGeom prst="roundRect">
            <a:avLst>
              <a:gd name="adj" fmla="val 4000"/>
            </a:avLst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38300" y="3333750"/>
            <a:ext cx="2095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80">
                <a:solidFill>
                  <a:srgbClr val="BBD5F3"/>
                </a:solidFill>
                <a:latin typeface="Pretendard"/>
                <a:ea typeface="Pretendard"/>
                <a:cs typeface="Pretendard"/>
              </a:rPr>
              <a:t>정답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38300" y="3676650"/>
            <a:ext cx="1501140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4953000"/>
            <a:ext cx="1600200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4953000"/>
            <a:ext cx="57150" cy="28575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81150" y="5314950"/>
            <a:ext cx="2857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해설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81150" y="5772150"/>
            <a:ext cx="15125700" cy="1809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5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정리·초안·분류는 AI 가 빠르게 해 줍니다. 그러나 단가를 정하고 고객에게 약속하는 순간은 회사의 결정이므로, 흐름 안에 사람의 승인 지점을 반드시 둡니다.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현업 적용 로드맵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돌아가서 무엇부터 할 것인가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24175"/>
            <a:ext cx="50800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924175"/>
            <a:ext cx="5080000" cy="47625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248025"/>
            <a:ext cx="44323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이번 주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내 고객 매출 표를 요약표로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이탈 위험 고객 다섯 곳 연락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2924175"/>
            <a:ext cx="50800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2924175"/>
            <a:ext cx="5080000" cy="47625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248025"/>
            <a:ext cx="44323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이번 달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견적 계산표·점검표를 팀 공용으로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주간 보고를 같은 양식으로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2924175"/>
            <a:ext cx="50800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2924175"/>
            <a:ext cx="5080000" cy="47625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248025"/>
            <a:ext cx="44323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이번 분기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팀 과제 하나를 끝까지 운영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프롬프트를 팀 폴더에 빈칸째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5800725"/>
            <a:ext cx="47625" cy="7239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5857875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고객사 이름·단가·계약 조건은 비식별 처리한 뒤에만 AI 에 넣습니다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영업·마케팅 과정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a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52500"/>
            <a:ext cx="1462653" cy="571500"/>
          </a:xfrm>
          <a:prstGeom prst="rect">
            <a:avLst/>
          </a:prstGeom>
        </p:spPr>
      </p:pic>
      <p:pic>
        <p:nvPicPr>
          <p:cNvPr id="5" name="Picture 4" descr="rebui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03540" y="1028700"/>
            <a:ext cx="3941460" cy="4191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영업·마케팅 과정 마무리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과정 마무리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오늘 실습한 프롬프트 22개는 학습사이트에서 언제든 다시 복사할 수 있습니다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54768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05000" y="54768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고객 조사·RFM·이탈 위험 분석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58350" y="54768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34600" y="54768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고객 유형별 이메일·영문 메일·클레임 응대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28750" y="65055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05000" y="65055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견적 계산표·제안서·점검표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58350" y="65055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34600" y="65055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영업 대시보드·주간 보고·DX 실행계획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과정 산출물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프롬프트 22개 · 견적·제안 틀 · 팀 과제 정의서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