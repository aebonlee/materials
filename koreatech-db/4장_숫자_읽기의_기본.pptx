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 읽기의 기본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기술통계로 데이터 이해하기 — 평균 하나만 보고 판단하면 틀립니다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평균·중앙값·최빈값의 차이와 상황에 맞는 대푯값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범위·표준편차의 의미, 같은 평균의 두 데이터 구별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쏠린 분포와 파레토 법칙 읽기, 이상치를 다루는 기준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%와 %p 구별, 전월비·전년동월비·기저 효과 해석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심슨의 역설·생존 편향·상관과 인과 등 숫자의 함정 피하기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경영데이터의 이해 4장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대푯값 — 수천 개의 숫자를 하나로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흩어짐 — 같은 평균, 다른 회사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분포 읽기 — 쏠림, 파레토, 이상치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비율·비중·성장률 — %가 든 숫자 읽기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비교의 기술 — 기준 없는 숫자는 판단 불가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0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숫자의 함정 — 똑똑한 사람도 속는 네 가지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830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다온유통으로 연습 — 한 번에 써 보기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30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대푯값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수천 개의 숫자를 하나로 요약하기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더해 개수로 나눈 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값들이 고르게 퍼져 있을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중앙값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줄로 세웠을 때 가운데 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값 몇 개가 전체를 왜곡할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최빈값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자주 나오는 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흔한 유형을 알고 싶을 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지난달 주문 5,000건을 일일이 볼 수 없으니 하나의 숫자로 요약한다 — 「우리 반 평균 키 168cm」와 같은 원리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대푯값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평균의 함정 — 사장님 연봉 3억 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평균 5,700만 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 9명 각 3,000만 원 + 사장 3억 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값 하나가 평균을 통째로 끌어올린다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6400" y="5467350"/>
            <a:ext cx="674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연봉 분포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5936932"/>
            <a:ext cx="1069946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직원 9명 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22546" y="5993606"/>
            <a:ext cx="470697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6593" y="593693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3,000만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6212205"/>
            <a:ext cx="1069946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2546" y="6268879"/>
            <a:ext cx="4706966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862" y="621220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중앙값 3,000만 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줄로 세웠을 때 가운데 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「보통 직원」의 현실에 훨씬 가깝다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83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67900" y="5429250"/>
            <a:ext cx="154093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7900" y="5429250"/>
            <a:ext cx="154093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08837" y="5429250"/>
            <a:ext cx="520276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61237" y="5429250"/>
            <a:ext cx="489796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5,700만 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67900" y="5991225"/>
            <a:ext cx="154093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67900" y="5991225"/>
            <a:ext cx="154093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중앙값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08837" y="5991225"/>
            <a:ext cx="520276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61237" y="5991225"/>
            <a:ext cx="489796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3,000만 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67900" y="6553200"/>
            <a:ext cx="154093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67900" y="6553200"/>
            <a:ext cx="154093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직원 9명의 현실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8837" y="6553200"/>
            <a:ext cx="520276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61237" y="6553200"/>
            <a:ext cx="489796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3,000만 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대푯값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어느 대푯값을 쓸까 — 다온유통 질문으로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대푯값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쓰나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 질문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더해 개수로 나눈 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90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값들이 고르게 퍼져 있을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1인당 평균 몇 번 주문했나?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중앙값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줄로 세웠을 때 가운데 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값 몇 개가 전체를 왜곡할 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 고객의 주문 금액은 얼마인가?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최빈값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자주 나오는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흔한 유형을 알고 싶을 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많이 팔리는 가격대는 어디인가?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보고서의 「평균」을 보면 물어보세요 — 큰 값 몇 개가 끌어올린 건 아닐까? 중앙값은 얼마일까?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연봉·집값·주문 금액처럼 큰 값 쪽으로 쏠리기 쉬운 데이터는 평균보다 중앙값이 정직한 요약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흩어짐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평균이라도 같은 회사가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최댓값 − 최솟값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딱 두 값만 보므로 극단값 하나에 흔들린다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표준편차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값이 평균에서 보통 얼마나 떨어져 있나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작으면 옹기종기, 크면 멀리멀리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양궁 비유 — 평균은 화살이 꽂힌 위치의 중심, 표준편차는 화살이 그 중심에서 보통 얼마나 벗어났는지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흩어짐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A지점과 B지점 — 평균 일 매출은 똑같이 1,000만 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A지점 — 흩어짐 작음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900만~1,100만 원 사이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1,000만 원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표준편차 작음 — 평균 근처에 옹기종기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재고·인력 계획이 쉽다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B지점 — 흩어짐 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날 200만 원, 어떤 날 1,800만 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평균은 똑같이 1,000만 원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표준편차 큼 — 멀리멀리 흩어짐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잘되는 날·안되는 날의 원인부터 찾는다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분포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쏠림, 파레토, 그리고 이상치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쏠린 분포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경영데이터의 기본값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대부분은 소액, 소수가 큰 금액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파레토 법칙(80:20)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소수가 대부분을 차지하는가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80·20이라는 숫자 자체가 법칙은 아니다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무리에서 뚝 떨어진 값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 1만~10만 원인데 한 건만 500만 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쏠림이 확인되면 전략 질문으로 — 모든 고객을 똑같이 대할 것인가, 상위 고객을 따로 관리할 것인가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분포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이상치는 지우기 전에 조사한다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입력 실수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50,000원을 5,000,000원으로 잘못 입력 → 바로잡거나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진짜 사건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단체 구매 같은 실제 대형 주문 → 지우면 안 된다, 법인 영업의 신호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판단이 어려울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포함한 평균과 제외한 평균을 둘 다 적고 판단 근거를 남긴다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삭제 대상이기 전에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조사 대상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「왜 이런 값이 나왔지?」라고 묻는 순간, 이상치는 노이즈가 아니라 정보가 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비율·비중·성장률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%와 %p — VIP 비중이 10%에서 15%가 됐다면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%p — 비율끼리 뺄셈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 − 10% = 「5%p 올랐다」 — 정확한 표현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2817" y="483870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5217" y="483870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2817" y="5400675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5217" y="5400675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672167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2817" y="596265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5217" y="596265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5%p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 — 비율끼리 나눗셈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 ÷ 10 = 1.5 → 「50% 늘었다」 — 맞지만 훨씬 커 보인다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83680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57101" y="4838700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09501" y="4838700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83680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57101" y="5400675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09501" y="5400675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83680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83680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증가율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57101" y="5962650"/>
            <a:ext cx="604024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9501" y="5962650"/>
            <a:ext cx="57354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50%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비율·비중·성장률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무엇과 비교한 성장률인가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무엇과 비교하나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38023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주의할 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전월비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지난달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897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변화를 빨리 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 요인에 흔들림(명절 달 vs 평달)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전년동월비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작년 같은 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 요인이 상쇄됨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작년이 비정상이었으면 왜곡됨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목표비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계획했던 목표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897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관리에 직결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 자체가 적절했는지 별도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성장률이 유난히 크면 반드시 묻는다 — 「출발점이 얼마였는데?」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기저 효과 — 성장률은 「늘어난 양 ÷ 출발점」이라서 출발점이 작으면 저절로 커 보인다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비율·비중·성장률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기저 효과 — 문구 100%와 가전 10%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문구 카테고리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원 → 200만 원 — 성장률은 압도적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0623" y="483870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3023" y="483870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성장률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0623" y="540067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3023" y="540067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늘어난 금액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0623" y="596265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3023" y="596265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+100만 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가전 카테고리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1억 원 → 1억 1,000만 원 — 늘어난 금액은 열 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0273" y="483870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82673" y="483870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1억 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성장률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0273" y="540067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2673" y="540067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늘어난 금액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0273" y="596265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2673" y="596265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+1,000만 원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비교의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기준 없는 숫자는 판단할 수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전기 비교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지난달·지난 분기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단기 흐름을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전년 비교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작년 같은 기간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 요인을 걷어낸다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목표 비교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 대비 진도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관리의 기본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유사 그룹 비교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비슷한 지점·카테고리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「잘하고 있는가」를 상대적으로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「이번 달 매출 3억 원」만으로는 좋은 소식인지 알 수 없다 — 지난달이 5억이면 걱정, 1억이면 축하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비교의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절대값과 비율을 함께, 비교 대상은 공정하게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절대값 + 비율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「식품 매출 20% 성장(+800만 원)」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비율만 보면 작은 것이 커 보이고, 절대값만 보면 정체가 안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공정한 비교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면적 3배 지점과 매출 총액 비교는 불공정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「면적당 매출」처럼 조건을 맞춘 지표로 바꾼다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좋은 보고서의 기본기 — 모든 숫자 옆에 「무엇과 비교한 것인가」를 적는다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숫자의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심슨의 역설 — 합치면 반대로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갑 업체 정시율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을 업체 정시율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가까운 지역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80% (900건 중 720)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90% (100건 중 90)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먼 지역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50% (100건 중 50)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60% (900건 중 540)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전체 합계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77% (1,000건 중 770)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63% (1,000건 중 630)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갑 (역전!)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을 업체는 어려운 먼 지역 배송을 훨씬 많이 맡았다 — 구성이 다르면 집단별로 나눠 비교한다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합쳐진 숫자로 비교하기 전에, 두 집단이 맡은 일의 구성이 같은지부터 확인한다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숫자의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똑똑한 사람도 속는 세 가지 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생존 편향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「단골 만족도 95%」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불만 고객은 이미 떠나서 설문에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≠ 인과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아이스크림과 선풍기가 함께 팔린다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더운 날씨라는 제3의 원인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작은 표본의 착시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「만족도 67%」 = 3명 중 2명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 없는 %는 판단에 쓰지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항상 묻는다 — 이 데이터에서 빠진 사람은 누구인가? 다른 원인은 없는가? 몇 건 중의 비율인가?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다온유통으로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지난달 카테고리별 주문 요약(연습용 가정 값)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332567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33256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카테고리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3667" y="2781300"/>
            <a:ext cx="35179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3667" y="2781300"/>
            <a:ext cx="351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 건수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69667" y="2781300"/>
            <a:ext cx="4703233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9667" y="2781300"/>
            <a:ext cx="470323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주문 금액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11000" y="2781300"/>
            <a:ext cx="53340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11000" y="2781300"/>
            <a:ext cx="5334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중앙값 주문 금액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33256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1420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3667" y="34480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8917" y="34480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400건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9667" y="34480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917" y="34480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250,000원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11000" y="3448050"/>
            <a:ext cx="533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06250" y="3448050"/>
            <a:ext cx="514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180,000원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33256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1420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3667" y="41719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8917" y="41719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2,600건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69667" y="41719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4917" y="41719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38,000원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11000" y="4171950"/>
            <a:ext cx="533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06250" y="4171950"/>
            <a:ext cx="514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35,000원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33256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1420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생활용품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13667" y="48958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8917" y="48958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1,400건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69667" y="48958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64917" y="48958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42,000원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11000" y="4895850"/>
            <a:ext cx="533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906250" y="4895850"/>
            <a:ext cx="514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40,000원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33256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1420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13667" y="56197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8917" y="56197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600건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69667" y="56197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64917" y="56197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15,000원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11000" y="5619750"/>
            <a:ext cx="533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906250" y="5619750"/>
            <a:ext cx="514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14,000원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건수는 식품(전체 5,000건의 절반 이상)이, 건당 금액은 가전이 이끈다 — 카테고리마다 역할이 다르다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가전은 평균 25만 원과 중앙값 18만 원의 차이가 크다 — 고가 대형가전 몇 건이 평균을 끌어올린 신호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다온유통으로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등급별 재구매율 — VIP 75% vs SILVER 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「25%p 높다」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75% − 50% — 비율끼리 뺄셈이므로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%가 아니라 %p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5429250"/>
            <a:ext cx="972294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6400" y="5429250"/>
            <a:ext cx="97229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8694" y="5429250"/>
            <a:ext cx="5771406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1094" y="5429250"/>
            <a:ext cx="546660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200명 중 150명 → 75%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6400" y="5991225"/>
            <a:ext cx="972294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6400" y="5991225"/>
            <a:ext cx="97229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SILVER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48694" y="5991225"/>
            <a:ext cx="5771406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1094" y="5991225"/>
            <a:ext cx="546660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3,000명 중 1,500명 → 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6400" y="6553200"/>
            <a:ext cx="972294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6400" y="6553200"/>
            <a:ext cx="97229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8694" y="6553200"/>
            <a:ext cx="5771406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1094" y="6553200"/>
            <a:ext cx="546660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25%p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5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45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87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승급시키면 재구매율이 오를까?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상관을 인과로 착각하지 않기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83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25050" y="560736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10788" y="5429250"/>
            <a:ext cx="65008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자주 사는 고객이라서 VIP가 됐을 수도</a:t>
            </a:r>
          </a:p>
        </p:txBody>
      </p:sp>
      <p:sp>
        <p:nvSpPr>
          <p:cNvPr id="32" name="Oval 31"/>
          <p:cNvSpPr/>
          <p:nvPr/>
        </p:nvSpPr>
        <p:spPr>
          <a:xfrm>
            <a:off x="9925050" y="611790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0788" y="5939790"/>
            <a:ext cx="65008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원인과 결과가 반대일 가능성(역인과)</a:t>
            </a:r>
          </a:p>
        </p:txBody>
      </p:sp>
      <p:sp>
        <p:nvSpPr>
          <p:cNvPr id="34" name="Oval 33"/>
          <p:cNvSpPr/>
          <p:nvPr/>
        </p:nvSpPr>
        <p:spPr>
          <a:xfrm>
            <a:off x="9925050" y="662844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0788" y="6450330"/>
            <a:ext cx="65008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분모(몇 명 중)도 함께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다온유통으로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숫자를 읽는 다섯 단계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대푯값 확인 — 평균과 중앙값을 나란히, 차이가 크면 쏠림 의심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분모 확인 — 모든 비율에 「몇 건 중」인지를 붙여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기준 확인 — 전월·전년·목표 중 무엇과 비교한 숫자인가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구성 확인 — 두 집단이 맡은 일의 구성이 같은가(심슨의 역설)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원인 검토 — 함께 움직이는 두 숫자에 제3의 원인은 없는가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AVG()로 구한 평균을 보고서에 옮기기 전에 이 다섯 질문을 던진다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재구매율이 20%에서 25%가 되었다. 옳은 표현은?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5% 증가했다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5%p 증가했다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25% 증가했다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변화가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5%p 증가했다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퍼센트 값끼리의 차이는 %p(퍼센트포인트)로 말한다. 비율로 말하면 (25 − 20) ÷ 20 = 25% 증가다. 「5% 증가」는 틀린 표현이고, 「25% 증가」는 맞지만 훨씬 커 보인다.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평균은 큰 값에 끌려간다 — 쏠린 데이터는 중앙값을 함께 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표준편차 = 평균에서 보통 얼마나 떨어졌나 — 같은 평균, 다른 회사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쏠림이 기본값 — 파레토를 직접 확인, 이상치는 지우기 전에 조사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비율의 뺄셈은 %p, 나눗셈은 % — 성장률은 출발점(기저)을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 없는 숫자는 판단 불가 — 절대값과 비율을 함께 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심슨의 역설·생존 편향·상관≠인과·작은 표본 — 구성·빠진 사람·분모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모든 %에는 분모를 붙인다 — 「3명 중 2명」의 67%는 의사결정 근거가 될 수 없다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5장 · 분석의 4단계와 데이터 기반 의사결정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분석의 4단계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기술·진단·예측·처방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무슨 일이, 왜, 앞으로, 무엇을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가설 세우기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막연한 문제를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 가능한 문장으로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드릴다운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쪼개서 비교하며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원인을 좁힌다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A/B 테스트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실험 없이 결론 내릴 때의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4장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배운 질문들을 SQL 집계 결과를 해석할 때 그대로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대푯값 — 평균과 중앙값을 나란히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흩어짐 — 표준편차로 같은 평균을 구별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%와 %p, 기저 효과, 비교 기준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숫자의 함정 네 가지와 다섯 단계 점검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 4장 자가 점검 퀴즈 · SQL 집계 실습에서 AVG() 해석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