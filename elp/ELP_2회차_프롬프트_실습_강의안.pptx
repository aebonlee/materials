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9F4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7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F8F1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B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F3E7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7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2회차 · 프롬프트 작성 및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412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업무에 바로 쓰는</a:t>
            </a:r>
          </a:p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프롬프트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5272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업무 장면 열 가지 · 현장 요령과 노하우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전체 임직원 교육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2회차 · 프롬프트 작성 및 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이 회차의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2시간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프롬프트를 다섯 요소(역할·맥락·과업·형식·조건)로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업무 장면 열 가지를 직접 고쳐 가며 내 것으로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결과를 확인하고 한 번 더 다듬는 요령을 익힌다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회사 정보를 빈칸으로 바꿔 안전하게 쓰는 습관을 갖는다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원칙은 짧게, 시간 대부분은 실습입니다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이번 회차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1회차와 따로 진행되는 세미나입니다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1회차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AI 기본 이해 및 활용 필요성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보안 가이드라인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4110E"/>
          </a:solidFill>
          <a:ln w="9525">
            <a:solidFill>
              <a:srgbClr val="14110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2회차 · 오늘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프롬프트 작성 및 활용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업무 장면 열 가지 실습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이어지는 부분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입력하면 안 되는 다섯 가지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오늘 처음에 짧게 다시 봅니다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1회차를 듣지 않았어도 오늘 내용만으로 따라올 수 있습니다 · 1회차 내용은 학습사이트 보강 자료에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오늘의 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2시간 구성 — 실습이 80분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9883140" cy="59055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9883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오프닝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988314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9692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1회차와 이어지는 부분 · 보안 다섯 가지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944600" y="344805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39850" y="344805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5분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43375"/>
            <a:ext cx="988314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43375"/>
            <a:ext cx="9692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좋은 프롬프트의 원칙 · 실습 요령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944600" y="414337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39850" y="414337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15분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② 실습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38700"/>
            <a:ext cx="988314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38700"/>
            <a:ext cx="9692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문서·소통 — 메일·회의록·요약·보고서·번역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83870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83870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40분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휴식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534025"/>
            <a:ext cx="988314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534025"/>
            <a:ext cx="9692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944600" y="553402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39850" y="553402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10분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③ 실습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229350"/>
            <a:ext cx="988314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229350"/>
            <a:ext cx="9692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데이터·기획 — 수식·표·기획·절차서·발표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944600" y="622935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039850" y="622935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40분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6924675"/>
            <a:ext cx="988314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8610" y="6924675"/>
            <a:ext cx="9692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안전하고 정확하게 쓰는 습관 · 질의응답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944600" y="692467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039850" y="692467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10분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모든 프롬프트는 학습사이트 elp.jobability.co.kr 「프롬프트 실습」에서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1회차와 이어지는 부분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기술·영업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설계 도면·소스 코드·공정 조건·고객별 단가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이름·연락처·평가·급여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전략·계약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협상 중인 계약 조건·사업 계획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비밀번호·서버 주소·계정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오늘 화면의 회사명·제품명·숫자·이름은 전부 가상의 값이거나 [빈칸]입니다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PART 1 ·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좋은 프롬프트의 원칙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프롬프트는 오늘 처음 출근한 똑똑한 동료에게 건네는 업무 지시서입니다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1. 다섯 요소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역할 · 맥락 · 과업 · 형식 · 조건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누구의 눈으로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쓸 것인가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맥락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왜, 누구에게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필요한가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무엇을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만들 것인가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어떤 모양·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분량으로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지킬 것·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하지 말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다섯 칸을 채우면 새로 온 동료도 되묻지 않고 일을 시작할 수 있습니다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2. 같은 요청, 다른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「써줘」 한 줄과 업무 지시서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한 줄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AI가 빈칸을 추측으로 채운다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납기 지연 메일 써줘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받는 사람·톤·길이를 모른다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약속하면 안 될 것을 약속한다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다섯 요소를 채운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고칠 곳이 처음부터 줄어든다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역할 — 해외 영업 담당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형식 — 여덟 문장 이내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조건 — 날짜·보상은 [빈칸]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3. 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화면을 보며 휴대폰으로 따라 해도 되고, 보기만 해도 됩니다 — 회사가 허용한 AI 서비스만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메모장에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4. 노하우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모든 실습에 통하는 요령 7가지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숫자로 지시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「짧게」 대신 「세 문장 이내」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출구 열어 두기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044043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044043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「없으면 '자료에 없음'이라고 적어줘」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표로 받기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640036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640036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원문·결과를 열로 나눠 한 줄씩 대조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한 번에 하나씩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236029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236029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개요 → 고치기 → 한 부분씩 채우기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모양 보여 주기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5832021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5832021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원하는 결과의 짧은 예시 하나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고칠 방향 짚기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428014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428014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「다시」 대신 무엇을 어떻게 바꿀지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주제가 바뀌면 새 대화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7024007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8850" y="7024007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앞 대화가 섞이면 결과가 흐려진다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4. 노하우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첫 답은 초안입니다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두 번째 요청에서 쓸 만해지고, 세 번째 요청에서 내 것이 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대화에서 고친 조건은 처음 프롬프트에 합쳐 저장한다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잘된 프롬프트는 빈칸째 팀 공유 폴더에 — 팀의 자산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다음 한 번의 요청이 그대로 쓸 결과를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PART 2 · 40분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실습 ① 문서·소통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메일 · 회의록 · 요약 · 보고서 · 번역 — 절마다 끝의 「실습 요령」을 챙기세요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해외 고객에게 일정 지연 영문 메일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약속하지 않을 것은 비워 두기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해외 고객을 오래 상대해 온 영업 담당으로서, [장비 종류] 출하 지연을 알리는 영문 메일을 써줘. 사과 → 지연 → 새 일정 → 조치 순서, 여덟 문장 이내, 문단마다 한국어 뜻을 붙이고 날짜·보상은 [빈칸]으로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약속·책임 표현이 끼지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해외 고객에게 일정 지연 영문 메일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받는 사람을 한 줄로 그리기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「영어가 모국어가 아닌 해외 구매 담당」 → 쉬운 단어·짧은 문장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쓰면 안 되는 표현을 먼저 막기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「약속·보상·책임 인정 표현은 쓰지 마」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잘 나온 메일은 프롬프트째 저장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다음에는 [지연 사유]·[새 일정]만 바꿔 1분 안에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길이는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문장 수로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정한다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회의 메모를 회의록으로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언급 안 된 것은 '미정'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아래 비식별 처리한 회의 메모를 회의록으로 정리해줘. 개요 두 줄, 안건별 논의, 결정 사항, 할 일 표(할 일·담당·기한). 메모에 없는 담당·기한은 지어내지 말고 '미정'으로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지어낸 담당·기한이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회의 메모를 회의록으로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이름부터 역할로 바꾸기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찾아 바꾸기(Ctrl+H)로 한 번에 — 빠뜨리지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결정과 논의의 기준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「'하기로 함'만 결정, '검토'는 논의로」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열 이름은 회사 양식대로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그대로 복사해 사내 양식에 붙일 수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받아쓰기는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허용 도구인지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먼저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긴 문서 요약 — 읽는 사람에 따라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목적과 읽는 사람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아래 문서를 바쁜 임원이 1분 안에 판단할 수 있게 세 줄로 요약해줘. 1줄 무엇에 관한 문서, 2줄 가장 중요한 사실, 3줄 우리가 챙길 것. 문서에 없으면 '문서에 해당 내용 없음'이라고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같은 문서로 실무자용 체크리스트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긴 문서 요약 — 읽는 사람에 따라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목적 한 줄이 품질을 정한다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「이 문서로 무엇을 결정하려는가」를 맨 앞에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긴 문서는 나눠 넣기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장별로 요약 → 마지막에 합쳐 달라고 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근거 위치 요구하기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쪽·절 표시가 있으면 확인 시간이 크게 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분량은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줄 수·글자 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숫자로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보고서 초안 — 개요부터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본문은 아직 쓰지 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팀장에게 올리는 [보고서 종류]의 개요만 먼저 제안해줘. 본문은 아직 쓰지 마. 다섯 장 이내, 장마다 들어갈 내용 한 줄, 내가 채울 자료는 [대괄호]로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개요 → 고치기 → 한 장씩 채우기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보고서 초안 — 개요부터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완성본을 한 번에 요청하지 않기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세 번에 나눠야 우리 보고서가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예전 보고서의 말투만 보여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숫자·이름을 지운 문단 하나 + 「이 말투로」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수치는 [수치]로 비워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실제 숫자는 문서 파일에서 직접 채운다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마지막에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세 가지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번역과 용어 통일 — 용어집과 함께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용어집 번역어를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아래 원문을 영어로 번역해 표로 정리해줘(번호·원문·번역·비고). 용어집의 번역어를 반드시 그대로 쓰고, 없는 전문 용어는 번역어를 제안해 비고에 '용어 확인 필요'로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점검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다시 한국어로 옮겨 뜻이 달라진 곳 찾기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번역과 용어 통일 — 용어집과 함께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용어집은 다섯 줄이면 충분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자주 나오는 용어 다섯 개로 문서 전체가 통일된다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읽는 사람 수준 적기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「현장 기술자가 읽음 — 짧은 문장, 쉬운 단어」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숫자·단위·부정문 따로 점검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표 끝에 원문과 같은지 점검 결과를 붙이게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새 용어는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용어집에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더해 간다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휴식 10분 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실습 ② 데이터·기획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엑셀 수식 · 표 해석 · 기획 · 절차서 · 발표 — 데이터 대신 구조를 줍니다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업무 규칙 한 문장을 엑셀 수식으로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데이터 대신 열 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A 발주번호, B 품목, C 납기일, D 상태(진행·완료·보류). 납기일이 오늘보다 지났고 상태가 '완료'가 아니면 '지연'. E2 수식, 풀이, 오류 날 경우, 가상의 시험 데이터 다섯 줄과 기대 결과를 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시험 데이터로 기대 결과와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업무 규칙 한 문장을 엑셀 수식으로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엑셀 버전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버전에 따라 없는 함수가 있다 — 「Microsoft 365」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경계값을 말로 정하기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「납기일이 오늘인 행은 지연 아님」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오류 표시를 그대로 붙이기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「#VALUE! 가 떠」 + 수식 → 원인을 찾아 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수식 설명도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받아 두면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이어받기 쉽다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표 해석 — 숫자 전에 비식별부터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사실·해석·확인할 것 나누기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아래 표는 첫 달을 100으로 둔 지수야. 1) 사실 — 근거 숫자와 함께 2) 해석 — '추정'으로 표시 3) 더 확인할 것 — 이 표만으로 알 수 없는 것. 세 칸으로 나눠 정리해줘.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증감률은 계산식으로 다시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표 해석 — 숫자 전에 비식별부터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지수·비율로 바꾸고 붙이기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추세는 그대로, 실제 금액은 나가지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머리글 행을 꼭 함께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빠지면 AI가 열의 뜻을 추측한다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눈에 띄는 것의 개수 정하기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「세 가지만」 → 핵심만 남는다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추세 자체가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민감하면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넣지 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기획 — 여러 안을 비교표로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서로 다른 세 안 + 단점 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새로 합류한 동료들이 서로 알게 되는 반나절 워크숍 안을 세 가지 제안해줘. 외부 장소·큰 예산 없이. 비교표 열: 안 이름·진행 방식·준비 난이도·참여 부담·기대 효과·걱정되는 점.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고른 안의 시간대별 진행표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기획 — 여러 안을 비교표로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조건을 먼저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예산·시간·장소·인원이 없으면 쓸 수 없는 안이 나온다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서로 다른 안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「진행 방식이 서로 겹치지 않게 세 가지」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입장을 바꿔 검토하게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「참가자 입장에서 불편한 점을 말해줘」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순서는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넓게 → 비교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→ 깊게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절차서·체크리스트 초안과 누락 점검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AI가 더한 단계에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아래는 내가 기억나는 대로 적은 공용 장비 반납 순서야. 절차 표(단계·하는 일·확인 방법·주의)와 끝난 뒤 체크리스트를 만들어줘. 메모에 없는 단계는 [추가 제안]으로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처음 하는 사람의 눈으로 누락 점검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절차서·체크리스트 초안과 누락 점검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엉성해도 내 순서를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빈 상태에서 받으면 우리 작업과 다른 일반론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확인 방법은 눈에 보이게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「잘 확인」 대신 「표시등이 초록색인지」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안전·품질 절차는 승인 뒤에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AI가 만든 것은 끝까지 초안이다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공정 조건값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설비 설정은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넣지 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발표 구성 — 장표 목차와 핵심 메시지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핵심 조건 — 장표 제목은 주장 문장으로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[청중]이 [바라는 결정]을 하게 만드는 [숫자]장 이내 발표 구성안을 표로 줘(번호·장표 제목·핵심 메시지·넣을 자료). 제목은 주장 문장으로, 수치가 필요한 곳은 [자료]로 비워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점검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장표 제목만 이어 읽어도 이야기가 통하는지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발표 구성 — 장표 목차와 핵심 메시지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청중에게 바라는 행동부터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목표가 분명해야 마지막 장표가 결정으로 끝난다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장표 수는 발표 시간으로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1분에 한 장 이하 — 10분이면 8장 이내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반대 질문을 미리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의문이 많을 장표의 대응 문장을 준비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디자인은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평소 도구로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사람이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PART 4 · 10분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안전하고 정확하게 쓰는 습관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AI는 초안을 쓰고, 사람은 사실을 확인한다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1. 보내기 전 3초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넣기 전에 세 가지만 묻는다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회사 밖에 붙어도?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그대로 게시판에 붙었을 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문제 되는 단어가 있나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알아볼 수 있나?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특정 사람·고객사를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알아볼 수 있나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다 읽었나?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붙여 넣은 자료 아래쪽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서명·연락처까지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2. 거짓을 줄이는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어떤 프롬프트 뒤에도 붙이는 네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내가 준 자료에 있는 내용만 쓰고, 없으면 '자료에 없음'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확실한 것과 추측을 나누고, 추측에는 '추정'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숫자나 사실에는 근거가 된 부분을 함께 적기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모르면 모른다고 말하기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메모장에 저장해 두고 복사해 붙이세요 — 그래도 최종 확인은 사람이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3. 결과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AI가 자주 틀리는 다섯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12161520" cy="59055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12161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확인합니다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숫자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3448050"/>
            <a:ext cx="1216152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8730" y="3448050"/>
            <a:ext cx="11971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원자료에서 같은 숫자를 직접 찾는다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고유명사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4171950"/>
            <a:ext cx="1216152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8730" y="4171950"/>
            <a:ext cx="11971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공식 자료에서 철자·명칭을 대조한다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인용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895850"/>
            <a:ext cx="1216152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895850"/>
            <a:ext cx="11971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인용된 원문에 그 문장이 있는지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5619750"/>
            <a:ext cx="1216152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8730" y="5619750"/>
            <a:ext cx="11971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계산식을 받아 엑셀로 다시 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FF3E5"/>
          </a:solidFill>
          <a:ln w="9525">
            <a:solidFill>
              <a:srgbClr val="FFD2A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최신성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6343650"/>
            <a:ext cx="12161520" cy="647700"/>
          </a:xfrm>
          <a:prstGeom prst="roundRect">
            <a:avLst>
              <a:gd name="adj" fmla="val 5882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8730" y="6343650"/>
            <a:ext cx="11971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규정·제도·가격은 최신 공식 자료로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(주)이엘피 생성형 AI 활용 교육 · 2회차 · 프롬프트 작성 및 활용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770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AF6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2회차 · 프롬프트 작성 및 활용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내일부터 해 볼 세 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A36"/>
                </a:solidFill>
                <a:latin typeface="Pretendard"/>
                <a:ea typeface="Pretendard"/>
                <a:cs typeface="Pretendard"/>
              </a:rPr>
              <a:t>오늘 실습한 프롬프트는 학습사이트에서 언제든 다시 복사할 수 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자주 하는 일 하나를 프롬프트로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보내기 전에 3초 멈추기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BFAF8"/>
          </a:solidFill>
          <a:ln w="9525">
            <a:solidFill>
              <a:srgbClr val="E8E4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받은 결과를 한 번 대조하고 「모르면 모른다고 말해줘」 붙이기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A84E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A84E00"/>
                </a:solidFill>
                <a:latin typeface="Pretendard"/>
                <a:ea typeface="Pretendard"/>
                <a:cs typeface="Pretendard"/>
              </a:rPr>
              <a:t>학습사이트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10E"/>
                </a:solidFill>
                <a:latin typeface="Pretendard"/>
                <a:ea typeface="Pretendard"/>
                <a:cs typeface="Pretendard"/>
              </a:rPr>
              <a:t>elp.jobability.co.kr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