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7"/>
  </p:notesMasterIdLst>
  <p:sldIdLst>
    <p:sldId id="685" r:id="rId112"/>
    <p:sldId id="686" r:id="rId113"/>
    <p:sldId id="676" r:id="rId2"/>
    <p:sldId id="572" r:id="rId3"/>
    <p:sldId id="573" r:id="rId4"/>
    <p:sldId id="574" r:id="rId5"/>
    <p:sldId id="575" r:id="rId6"/>
    <p:sldId id="576" r:id="rId7"/>
    <p:sldId id="577" r:id="rId8"/>
    <p:sldId id="578" r:id="rId9"/>
    <p:sldId id="579" r:id="rId10"/>
    <p:sldId id="580" r:id="rId11"/>
    <p:sldId id="581" r:id="rId12"/>
    <p:sldId id="582" r:id="rId13"/>
    <p:sldId id="583" r:id="rId14"/>
    <p:sldId id="584" r:id="rId15"/>
    <p:sldId id="585" r:id="rId16"/>
    <p:sldId id="586" r:id="rId17"/>
    <p:sldId id="587" r:id="rId18"/>
    <p:sldId id="588" r:id="rId19"/>
    <p:sldId id="589" r:id="rId20"/>
    <p:sldId id="590" r:id="rId21"/>
    <p:sldId id="591" r:id="rId22"/>
    <p:sldId id="592" r:id="rId23"/>
    <p:sldId id="593" r:id="rId24"/>
    <p:sldId id="594" r:id="rId25"/>
    <p:sldId id="595" r:id="rId26"/>
    <p:sldId id="596" r:id="rId27"/>
    <p:sldId id="597" r:id="rId28"/>
    <p:sldId id="598" r:id="rId29"/>
    <p:sldId id="599" r:id="rId30"/>
    <p:sldId id="600" r:id="rId31"/>
    <p:sldId id="601" r:id="rId32"/>
    <p:sldId id="602" r:id="rId33"/>
    <p:sldId id="603" r:id="rId34"/>
    <p:sldId id="604" r:id="rId35"/>
    <p:sldId id="605" r:id="rId36"/>
    <p:sldId id="606" r:id="rId37"/>
    <p:sldId id="607" r:id="rId38"/>
    <p:sldId id="639" r:id="rId39"/>
    <p:sldId id="608" r:id="rId40"/>
    <p:sldId id="609" r:id="rId41"/>
    <p:sldId id="610" r:id="rId42"/>
    <p:sldId id="611" r:id="rId43"/>
    <p:sldId id="612" r:id="rId44"/>
    <p:sldId id="613" r:id="rId45"/>
    <p:sldId id="614" r:id="rId46"/>
    <p:sldId id="615" r:id="rId47"/>
    <p:sldId id="616" r:id="rId48"/>
    <p:sldId id="617" r:id="rId49"/>
    <p:sldId id="618" r:id="rId50"/>
    <p:sldId id="619" r:id="rId51"/>
    <p:sldId id="620" r:id="rId52"/>
    <p:sldId id="621" r:id="rId53"/>
    <p:sldId id="622" r:id="rId54"/>
    <p:sldId id="623" r:id="rId55"/>
    <p:sldId id="624" r:id="rId56"/>
    <p:sldId id="625" r:id="rId57"/>
    <p:sldId id="626" r:id="rId58"/>
    <p:sldId id="627" r:id="rId59"/>
    <p:sldId id="628" r:id="rId60"/>
    <p:sldId id="629" r:id="rId61"/>
    <p:sldId id="630" r:id="rId62"/>
    <p:sldId id="631" r:id="rId63"/>
    <p:sldId id="632" r:id="rId64"/>
    <p:sldId id="633" r:id="rId65"/>
    <p:sldId id="640" r:id="rId66"/>
    <p:sldId id="634" r:id="rId67"/>
    <p:sldId id="635" r:id="rId68"/>
    <p:sldId id="636" r:id="rId69"/>
    <p:sldId id="637" r:id="rId70"/>
    <p:sldId id="638" r:id="rId71"/>
    <p:sldId id="641" r:id="rId72"/>
    <p:sldId id="642" r:id="rId73"/>
    <p:sldId id="643" r:id="rId74"/>
    <p:sldId id="644" r:id="rId75"/>
    <p:sldId id="645" r:id="rId76"/>
    <p:sldId id="646" r:id="rId77"/>
    <p:sldId id="647" r:id="rId78"/>
    <p:sldId id="648" r:id="rId79"/>
    <p:sldId id="649" r:id="rId80"/>
    <p:sldId id="650" r:id="rId81"/>
    <p:sldId id="651" r:id="rId82"/>
    <p:sldId id="652" r:id="rId83"/>
    <p:sldId id="653" r:id="rId84"/>
    <p:sldId id="654" r:id="rId85"/>
    <p:sldId id="655" r:id="rId86"/>
    <p:sldId id="656" r:id="rId87"/>
    <p:sldId id="657" r:id="rId88"/>
    <p:sldId id="658" r:id="rId89"/>
    <p:sldId id="659" r:id="rId90"/>
    <p:sldId id="660" r:id="rId91"/>
    <p:sldId id="661" r:id="rId92"/>
    <p:sldId id="662" r:id="rId93"/>
    <p:sldId id="663" r:id="rId94"/>
    <p:sldId id="664" r:id="rId95"/>
    <p:sldId id="665" r:id="rId96"/>
    <p:sldId id="666" r:id="rId97"/>
    <p:sldId id="667" r:id="rId98"/>
    <p:sldId id="668" r:id="rId99"/>
    <p:sldId id="669" r:id="rId100"/>
    <p:sldId id="677" r:id="rId101"/>
    <p:sldId id="678" r:id="rId102"/>
    <p:sldId id="679" r:id="rId103"/>
    <p:sldId id="680" r:id="rId104"/>
    <p:sldId id="684" r:id="rId105"/>
    <p:sldId id="682" r:id="rId106"/>
    <p:sldId id="687" r:id="rId1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1" d="100"/>
          <a:sy n="71" d="100"/>
        </p:scale>
        <p:origin x="7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notesMaster" Target="notesMasters/notesMaster1.xml"/><Relationship Id="rId108" Type="http://schemas.openxmlformats.org/officeDocument/2006/relationships/presProps" Target="presProps.xml"/><Relationship Id="rId109" Type="http://schemas.openxmlformats.org/officeDocument/2006/relationships/viewProps" Target="viewProps.xml"/><Relationship Id="rId110" Type="http://schemas.openxmlformats.org/officeDocument/2006/relationships/theme" Target="theme/theme1.xml"/><Relationship Id="rId111" Type="http://schemas.openxmlformats.org/officeDocument/2006/relationships/tableStyles" Target="tableStyles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350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Relationship Id="rId8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1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5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6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7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3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4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0.jpg"/><Relationship Id="rId4" Type="http://schemas.openxmlformats.org/officeDocument/2006/relationships/image" Target="../media/image3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3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239805" y="0"/>
            <a:ext cx="7048195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1143000"/>
            <a:ext cx="1143000" cy="384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410005"/>
            <a:ext cx="9525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창업 전략 실전 강의안 · 사례 지역: 전남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286000"/>
            <a:ext cx="99066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200" kern="0" spc="-216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기반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364992"/>
            <a:ext cx="6604969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200" kern="0" spc="-216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비즈니스 기획과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443984"/>
            <a:ext cx="99066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200" i="1" kern="0" spc="-216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전략 수립.</a:t>
            </a:r>
            <a:endParaRPr lang="en-US" sz="7200" dirty="0"/>
          </a:p>
        </p:txBody>
      </p:sp>
      <p:sp>
        <p:nvSpPr>
          <p:cNvPr id="10" name="Text 7"/>
          <p:cNvSpPr txBox="1"/>
          <p:nvPr/>
        </p:nvSpPr>
        <p:spPr>
          <a:xfrm>
            <a:off x="1142998" y="6282137"/>
            <a:ext cx="9292329" cy="1833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창업자를 위한 12시간(3일×4시간) 실전 </a:t>
            </a:r>
            <a:r>
              <a:rPr lang="en-US" sz="2800" b="1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강의안</a:t>
            </a:r>
            <a:r>
              <a:rPr lang="en-US" sz="2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8대 클래식 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컨설팅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</a:t>
            </a:r>
            <a:endParaRPr lang="en-US" sz="1800" dirty="0">
              <a:solidFill>
                <a:srgbClr val="0E1B2C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(PESTEL · 5Forces · BCG · SWOT-TOWS · BMC · VRIO · Value Chain · Ansoff)를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해양·관광·바이오 사례에 적용한다.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811305" y="1410005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3-Day Program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11811305" y="2895905"/>
            <a:ext cx="5715000" cy="9144"/>
          </a:xfrm>
          <a:prstGeom prst="rect">
            <a:avLst/>
          </a:prstGeom>
          <a:solidFill>
            <a:srgbClr val="F4EFE6">
              <a:alpha val="18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811304" y="2057400"/>
            <a:ext cx="8227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909785" y="2057400"/>
            <a:ext cx="501901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거시 → 산업 → 포트폴리오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5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PESTEL · Five Forces · BCG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811305" y="3896258"/>
            <a:ext cx="5715000" cy="9144"/>
          </a:xfrm>
          <a:prstGeom prst="rect">
            <a:avLst/>
          </a:prstGeom>
          <a:solidFill>
            <a:srgbClr val="F4EFE6">
              <a:alpha val="18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1811304" y="3057754"/>
            <a:ext cx="8227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909786" y="3057754"/>
            <a:ext cx="37919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진단 → 모델 → 자원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5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SWOT-TOWS · BMC · VRIO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811305" y="4896612"/>
            <a:ext cx="5715000" cy="9144"/>
          </a:xfrm>
          <a:prstGeom prst="rect">
            <a:avLst/>
          </a:prstGeom>
          <a:solidFill>
            <a:srgbClr val="F4EFE6">
              <a:alpha val="18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1811304" y="4058107"/>
            <a:ext cx="8227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909786" y="4058107"/>
            <a:ext cx="4604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가치사슬 → 성장 → 통합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5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Value Chain · Ansoff · 통합실습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1811304" y="5057546"/>
            <a:ext cx="8227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2909785" y="5057546"/>
            <a:ext cx="4369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전남 창업 IR 덱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5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Capstone · 8 Frameworks Applied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9525305"/>
            <a:ext cx="8572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실습환경 ChatGPT Plus, Claude, Gemini, </a:t>
            </a:r>
            <a:r>
              <a:rPr lang="en-US" sz="1500" kern="0" spc="176" dirty="0" err="1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Genspark</a:t>
            </a:r>
            <a:r>
              <a:rPr lang="en-US" sz="1500" kern="0" spc="176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 err="1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수강대상</a:t>
            </a:r>
            <a:r>
              <a:rPr lang="en-US" sz="1500" kern="0" spc="176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기획 담당자 · 예비 창업자 · Primary sources cited per page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105</a:t>
            </a:r>
            <a:endParaRPr lang="en-US" sz="16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532546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4195" y="4000500"/>
            <a:ext cx="7830007" cy="497250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기반 비즈니스 기획과 전략 수립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5914748" y="400507"/>
            <a:ext cx="12311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105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과목 개요 · COURSE BRIEF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4287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700" kern="0" spc="-17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12시간으로 끝내는</a:t>
            </a:r>
            <a:endParaRPr lang="en-US" sz="57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700" i="1" kern="0" spc="-171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창업 전략의 8가지 렌즈.</a:t>
            </a:r>
            <a:endParaRPr lang="en-US" sz="57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095598"/>
            <a:ext cx="723930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프롬프트 엔지니어링과 멀티 페르소나 시뮬레이션을 활용해, </a:t>
            </a:r>
            <a:r>
              <a:rPr lang="en-US" sz="2100" b="1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시장 리서치 → 사업 모델 설계 → 성장 전략 → IR 보고서</a:t>
            </a: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까지 전 과정을 8대 컨설팅 프레임워크로 통과시킨다.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5522062"/>
            <a:ext cx="72393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 해양·관광·바이오 산업의 가상 케이스를 일관되게 적용하므로, 강의 종료 시점에는 본인 사업 아이템을 동일한 흐름으로 분석할 수 있다.</a:t>
            </a:r>
            <a:endParaRPr lang="en-US" sz="1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9334195" y="4000500"/>
          <a:ext cx="7800747" cy="4953304"/>
        </p:xfrm>
        <a:graphic>
          <a:graphicData uri="http://schemas.openxmlformats.org/drawingml/2006/table">
            <a:tbl>
              <a:tblPr/>
              <a:tblGrid>
                <a:gridCol w="2104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5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63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63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과목명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기반 비즈니스 기획과 전략 수립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63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수강 대상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예비 창업자, 기획 담당자 (사례 지역: 전남)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63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Level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 모델 설계 단계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63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 시간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12시간 (3일 × 4시간/일)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63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선수 지식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생성형 AI 기본 사용 경험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63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다음 단계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사업계획서·IR 덱 고도화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9163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환경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ChatGPT Plus · Genspark · Notion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1143000" y="9620402"/>
            <a:ext cx="11430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Frameworks · 12 hours · 1 Capstone deck — 전남 창업 케이스 일관 적용</a:t>
            </a:r>
            <a:endParaRPr lang="en-US" sz="1500" dirty="0"/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9434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238805"/>
            <a:ext cx="792510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239098" y="3238805"/>
            <a:ext cx="792510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6286500"/>
            <a:ext cx="7905902" cy="28575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239098" y="6286500"/>
            <a:ext cx="792510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기반 비즈니스 기획과 전략 수립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학습 목표 · LEARNING OUTCOMES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163860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kern="0" spc="-13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종료 시, 수강생은 다음을 할 수 있다.</a:t>
            </a:r>
            <a:endParaRPr lang="en-US" sz="4600" dirty="0"/>
          </a:p>
        </p:txBody>
      </p:sp>
      <p:sp>
        <p:nvSpPr>
          <p:cNvPr id="14" name="Text 10"/>
          <p:cNvSpPr txBox="1"/>
          <p:nvPr/>
        </p:nvSpPr>
        <p:spPr>
          <a:xfrm>
            <a:off x="1524305" y="3504895"/>
            <a:ext cx="76169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kern="0" spc="-144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800" dirty="0"/>
          </a:p>
        </p:txBody>
      </p:sp>
      <p:sp>
        <p:nvSpPr>
          <p:cNvPr id="15" name="Text 11"/>
          <p:cNvSpPr txBox="1"/>
          <p:nvPr/>
        </p:nvSpPr>
        <p:spPr>
          <a:xfrm>
            <a:off x="2347265" y="3743554"/>
            <a:ext cx="40041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상황에 맞는 프레임워크 선택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524305" y="4908957"/>
            <a:ext cx="7239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 사업이 지금 매력적인가?" → 5Forces, "어디로 성장할까?" → Ansoff, "왜 이 자원이 우위인가?" → VRIO. 질문의 형태를 보고 8개 중 적절한 1-3개를 고를 수 있다.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524305" y="4334256"/>
            <a:ext cx="7239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CHOOSE THE RIGHT LENS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9620402" y="3504895"/>
            <a:ext cx="76626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kern="0" spc="-144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800" dirty="0"/>
          </a:p>
        </p:txBody>
      </p:sp>
      <p:sp>
        <p:nvSpPr>
          <p:cNvPr id="19" name="Text 15"/>
          <p:cNvSpPr txBox="1"/>
          <p:nvPr/>
        </p:nvSpPr>
        <p:spPr>
          <a:xfrm>
            <a:off x="10504627" y="3743554"/>
            <a:ext cx="301111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근거 기반으로 채우기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9620401" y="4857293"/>
            <a:ext cx="7239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칸을 빈말로 채우지 않는다. PESTEL의 P칸에 "정책 좋음" 대신 "○○ 5개년 계획(연도) 예산 ○○억" 같은 구체적 출처를 단다.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9620402" y="4334256"/>
            <a:ext cx="7239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 WITH EVIDENCE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524305" y="6553505"/>
            <a:ext cx="76626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kern="0" spc="-144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800" dirty="0"/>
          </a:p>
        </p:txBody>
      </p:sp>
      <p:sp>
        <p:nvSpPr>
          <p:cNvPr id="23" name="Text 19"/>
          <p:cNvSpPr txBox="1"/>
          <p:nvPr/>
        </p:nvSpPr>
        <p:spPr>
          <a:xfrm>
            <a:off x="2407615" y="6791249"/>
            <a:ext cx="279532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프롬프트로 가속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1524305" y="7381951"/>
            <a:ext cx="7239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PROMPT THE FRAMEWORK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524305" y="7810805"/>
            <a:ext cx="7239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 페르소나 시뮬레이션(고객·투자자·경쟁사·규제당국)으로 한 시간 안에 1차 진단을 끝내고, 사람이 검증·수정하는 워크플로를 체화한다.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9620402" y="6553505"/>
            <a:ext cx="76626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kern="0" spc="-144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4800" dirty="0"/>
          </a:p>
        </p:txBody>
      </p:sp>
      <p:sp>
        <p:nvSpPr>
          <p:cNvPr id="27" name="Text 23"/>
          <p:cNvSpPr txBox="1"/>
          <p:nvPr/>
        </p:nvSpPr>
        <p:spPr>
          <a:xfrm>
            <a:off x="10502798" y="6791249"/>
            <a:ext cx="255483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의사결정으로 잇기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9620402" y="7810805"/>
            <a:ext cx="7239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프레임워크 페이지를 "그래서 무엇을 할 것인가" 한 줄로 닫는다. 결론 없는 분석은 슬라이드에서 뺀다.</a:t>
            </a:r>
            <a:endParaRPr lang="en-US" sz="1900" dirty="0"/>
          </a:p>
        </p:txBody>
      </p:sp>
      <p:sp>
        <p:nvSpPr>
          <p:cNvPr id="29" name="Text 25"/>
          <p:cNvSpPr txBox="1"/>
          <p:nvPr/>
        </p:nvSpPr>
        <p:spPr>
          <a:xfrm>
            <a:off x="9620402" y="7381951"/>
            <a:ext cx="7239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 WHAT — DECIDE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1143000" y="9620402"/>
            <a:ext cx="15240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Capstone — 본인 창업 아이템을 8개 프레임워크 전부로 분석한 12-page IR 덱 산출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F1BEB2BE-9ECF-40F6-8FAC-6CBD1A192D99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03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68472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16021202" cy="630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기반 비즈니스 기획과 전략 수립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12-HOUR SCHEDULE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42875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kern="0" spc="-13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3일 × 4시간 일정표.</a:t>
            </a:r>
            <a:endParaRPr lang="en-US" sz="4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816174"/>
              </p:ext>
            </p:extLst>
          </p:nvPr>
        </p:nvGraphicFramePr>
        <p:xfrm>
          <a:off x="1143000" y="2857500"/>
          <a:ext cx="16002000" cy="6286500"/>
        </p:xfrm>
        <a:graphic>
          <a:graphicData uri="http://schemas.openxmlformats.org/drawingml/2006/table">
            <a:tbl>
              <a:tblPr/>
              <a:tblGrid>
                <a:gridCol w="1194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0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08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DAY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시간대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 주제 (단원)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산출물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프레임워크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DAY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1</a:t>
                      </a:r>
                      <a:endParaRPr lang="en-US" sz="1800" dirty="0"/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09:00-10:20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단원 1.</a:t>
                      </a: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거시환경 스캔과 AI 리서치</a:t>
                      </a:r>
                      <a:endParaRPr lang="en-US" sz="2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전남 산업 PESTEL 1장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PESTEL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 vMerge="1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10:30-11:50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단원 2.</a:t>
                      </a: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산업 매력도 진단</a:t>
                      </a:r>
                      <a:endParaRPr lang="en-US" sz="2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5Forces 스코어카드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 Forces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 vMerge="1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12:00-13:00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단원 3.</a:t>
                      </a: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사업 포트폴리오 진단</a:t>
                      </a:r>
                      <a:endParaRPr lang="en-US" sz="2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BCG 매트릭스 (4사분면 배치)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BCG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DAY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2</a:t>
                      </a:r>
                      <a:endParaRPr lang="en-US" sz="1800" dirty="0"/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09:00-10:20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단원 4.</a:t>
                      </a: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기업 진단과 교차 전략</a:t>
                      </a:r>
                      <a:endParaRPr lang="en-US" sz="2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SWOT + TOWS 4개 교차전략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SWOT-TOWS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 vMerge="1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10:30-11:50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단원 5.</a:t>
                      </a: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비즈니스 모델 설계</a:t>
                      </a:r>
                      <a:endParaRPr lang="en-US" sz="2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9-블록 BMC + TAM-SAM-SOM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BMC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 vMerge="1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12:00-13:00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단원 6.</a:t>
                      </a: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자원·역량 우위 검증</a:t>
                      </a:r>
                      <a:endParaRPr lang="en-US" sz="2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VRIO 점수표 (3-5개 자원)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VRIO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DAY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3</a:t>
                      </a:r>
                      <a:endParaRPr lang="en-US" sz="1800" dirty="0"/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09:00-10:20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단원 7.</a:t>
                      </a: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내부 가치 흐름</a:t>
                      </a:r>
                      <a:endParaRPr lang="en-US" sz="2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Value Chain + 마진 기여도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Value Chain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8650">
                <a:tc vMerge="1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10:30-11:50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단원 8.</a:t>
                      </a: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성장 전략 선택</a:t>
                      </a:r>
                      <a:endParaRPr lang="en-US" sz="2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Ansoff 2×2 + 리스크 평가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Ansoff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8650">
                <a:tc vMerge="1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12:00-13:00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단원 9.</a:t>
                      </a: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통합 캡스톤</a:t>
                      </a:r>
                      <a:endParaRPr lang="en-US" sz="2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본인 사업 8-프레임 IR 덱 v1</a:t>
                      </a:r>
                      <a:endParaRPr lang="en-US" sz="2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통합 실습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9620402"/>
            <a:ext cx="15240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각 단원은 강의(20분) · AI 프롬프트 시연(20분) · 개별 실습(30분) · 공유 토론(10분)으로 구성</a:t>
            </a:r>
            <a:endParaRPr lang="en-US" sz="1500" dirty="0"/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CDF361D-B1C6-4EB8-8F08-ACBA9FE2A28F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04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29196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1333195"/>
            <a:ext cx="11430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600200"/>
            <a:ext cx="9525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36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01 · 4 HOURS · 3 FRAMEWORKS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286000"/>
            <a:ext cx="1276411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0" i="1" kern="0" spc="-6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Day 1.</a:t>
            </a:r>
            <a:endParaRPr lang="en-US" sz="300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6762902"/>
            <a:ext cx="12048134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600" kern="0" spc="-198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거시 → 산업 → 포트폴리오.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8382305"/>
            <a:ext cx="111639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밖에서 안으로. 거시 환경(PESTEL)부터 산업 구조(Porter 5Forces)를 거쳐, 자기 사업 포트폴리오(BCG)에 도달한다.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763195" y="2686507"/>
            <a:ext cx="4572000" cy="9144"/>
          </a:xfrm>
          <a:prstGeom prst="rect">
            <a:avLst/>
          </a:prstGeom>
          <a:solidFill>
            <a:srgbClr val="F4EFE6">
              <a:alpha val="2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2763195" y="2286000"/>
            <a:ext cx="4572000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TODAY'S LENSES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63195" y="4086454"/>
            <a:ext cx="4572000" cy="9144"/>
          </a:xfrm>
          <a:prstGeom prst="rect">
            <a:avLst/>
          </a:prstGeom>
          <a:solidFill>
            <a:srgbClr val="F4EFE6">
              <a:alpha val="18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2763195" y="3181198"/>
            <a:ext cx="4572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kern="0" spc="-81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PESTEL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12763195" y="5479085"/>
            <a:ext cx="4572000" cy="9144"/>
          </a:xfrm>
          <a:prstGeom prst="rect">
            <a:avLst/>
          </a:prstGeom>
          <a:solidFill>
            <a:srgbClr val="F4EFE6">
              <a:alpha val="18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2763195" y="4573829"/>
            <a:ext cx="4572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kern="0" spc="-81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Porter Five Forces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12763195" y="5966460"/>
            <a:ext cx="4572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kern="0" spc="-81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BCG Growth-Share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12763195" y="2924251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09:00-10:20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763195" y="3650285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Aguilar · 1967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763195" y="4316882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10:30-11:50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763195" y="5042002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Porter · 1979 · HBR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2763195" y="5708599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12:00-13:00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763195" y="6434633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Henderson · 1970 · BCG</a:t>
            </a:r>
            <a:endParaRPr lang="en-US" sz="17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B65EE168-0BF4-4A1F-83BB-7C3305BA04A0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05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14654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rcRect t="-400" b="-400"/>
          <a:stretch/>
        </p:blipFill>
        <p:spPr>
          <a:xfrm>
            <a:off x="2667305" y="5333695"/>
            <a:ext cx="13144500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524305" y="3619195"/>
            <a:ext cx="4591202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3"/>
          <p:cNvSpPr/>
          <p:nvPr/>
        </p:nvSpPr>
        <p:spPr>
          <a:xfrm>
            <a:off x="6858000" y="3619195"/>
            <a:ext cx="4591202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12191695" y="3619195"/>
            <a:ext cx="4572000" cy="36191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524305" y="3619195"/>
            <a:ext cx="57607" cy="3619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6858000" y="3619195"/>
            <a:ext cx="57607" cy="36191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2191695" y="3619195"/>
            <a:ext cx="57607" cy="361919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· 거시 → 산업 → 포트폴리오</a:t>
            </a:r>
            <a:endParaRPr lang="en-US" sz="1600" dirty="0"/>
          </a:p>
        </p:txBody>
      </p:sp>
      <p:sp>
        <p:nvSpPr>
          <p:cNvPr id="15" name="Text 7"/>
          <p:cNvSpPr txBox="1"/>
          <p:nvPr/>
        </p:nvSpPr>
        <p:spPr>
          <a:xfrm>
            <a:off x="1143000" y="123809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DAY 1 · ROADMAP</a:t>
            </a:r>
            <a:endParaRPr lang="en-US" sz="190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1638605"/>
            <a:ext cx="142875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kern="0" spc="-13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"우리가 들어가려는 시장은 매력적인가?"</a:t>
            </a:r>
            <a:endParaRPr lang="en-US" sz="4600" dirty="0"/>
          </a:p>
        </p:txBody>
      </p:sp>
      <p:sp>
        <p:nvSpPr>
          <p:cNvPr id="17" name="Text 9"/>
          <p:cNvSpPr txBox="1"/>
          <p:nvPr/>
        </p:nvSpPr>
        <p:spPr>
          <a:xfrm>
            <a:off x="1904695" y="3905402"/>
            <a:ext cx="4000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01 · MACRO</a:t>
            </a:r>
            <a:endParaRPr lang="en-US" sz="1500" dirty="0"/>
          </a:p>
        </p:txBody>
      </p:sp>
      <p:sp>
        <p:nvSpPr>
          <p:cNvPr id="18" name="Text 10"/>
          <p:cNvSpPr txBox="1"/>
          <p:nvPr/>
        </p:nvSpPr>
        <p:spPr>
          <a:xfrm>
            <a:off x="1904695" y="4238244"/>
            <a:ext cx="4000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300" kern="0" spc="-9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PESTEL</a:t>
            </a:r>
            <a:endParaRPr lang="en-US" sz="3300" dirty="0"/>
          </a:p>
        </p:txBody>
      </p:sp>
      <p:sp>
        <p:nvSpPr>
          <p:cNvPr id="19" name="Text 11"/>
          <p:cNvSpPr txBox="1"/>
          <p:nvPr/>
        </p:nvSpPr>
        <p:spPr>
          <a:xfrm>
            <a:off x="1904695" y="5381336"/>
            <a:ext cx="4000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정치·경제·사회·기술·환경·법규 — 6개 거시 변수를 점검해 시장에 부는 바람을 읽는다.</a:t>
            </a:r>
            <a:endParaRPr lang="en-US" sz="1900" dirty="0"/>
          </a:p>
        </p:txBody>
      </p:sp>
      <p:sp>
        <p:nvSpPr>
          <p:cNvPr id="20" name="Text 12"/>
          <p:cNvSpPr txBox="1"/>
          <p:nvPr/>
        </p:nvSpPr>
        <p:spPr>
          <a:xfrm>
            <a:off x="1904695" y="6443975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산출물: 전남 산업 PESTEL 1장</a:t>
            </a:r>
            <a:endParaRPr lang="en-US" sz="1700" dirty="0"/>
          </a:p>
        </p:txBody>
      </p:sp>
      <p:sp>
        <p:nvSpPr>
          <p:cNvPr id="21" name="Text 13"/>
          <p:cNvSpPr txBox="1"/>
          <p:nvPr/>
        </p:nvSpPr>
        <p:spPr>
          <a:xfrm>
            <a:off x="1904695" y="4756709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Aguilar · 1967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7239305" y="3905402"/>
            <a:ext cx="4000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02 · INDUSTRY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7239305" y="4238244"/>
            <a:ext cx="4000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300" kern="0" spc="-9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Porter 5Forces</a:t>
            </a:r>
            <a:endParaRPr lang="en-US" sz="3300" dirty="0"/>
          </a:p>
        </p:txBody>
      </p:sp>
      <p:sp>
        <p:nvSpPr>
          <p:cNvPr id="24" name="Text 16"/>
          <p:cNvSpPr txBox="1"/>
          <p:nvPr/>
        </p:nvSpPr>
        <p:spPr>
          <a:xfrm>
            <a:off x="7239305" y="5381336"/>
            <a:ext cx="4000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진입자·공급자·구매자·대체재·기존 경쟁사. 5개 힘으로 산업의 평균 이익률을 결정짓는다.</a:t>
            </a:r>
            <a:endParaRPr lang="en-US" sz="1900" dirty="0"/>
          </a:p>
        </p:txBody>
      </p:sp>
      <p:sp>
        <p:nvSpPr>
          <p:cNvPr id="25" name="Text 17"/>
          <p:cNvSpPr txBox="1"/>
          <p:nvPr/>
        </p:nvSpPr>
        <p:spPr>
          <a:xfrm>
            <a:off x="7239305" y="6443975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산출물: 5Forces 스코어카드 (1-5점)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7239305" y="4756709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Porter · 1979 · HBR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12573000" y="3905402"/>
            <a:ext cx="4000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03 · PORTFOLIO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2573000" y="4238244"/>
            <a:ext cx="4000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300" kern="0" spc="-99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BCG Matrix</a:t>
            </a:r>
            <a:endParaRPr lang="en-US" sz="3300" dirty="0"/>
          </a:p>
        </p:txBody>
      </p:sp>
      <p:sp>
        <p:nvSpPr>
          <p:cNvPr id="29" name="Text 21"/>
          <p:cNvSpPr txBox="1"/>
          <p:nvPr/>
        </p:nvSpPr>
        <p:spPr>
          <a:xfrm>
            <a:off x="12573000" y="6443975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산출물: BCG 매트릭스 + 투자 결정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12573000" y="4756709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Henderson · 1970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12573000" y="5381336"/>
            <a:ext cx="4000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성장률 × 상대 점유율 — 본인 사업의 캐시카우/스타/물음표/도그를 식별한다.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6191402" y="5143500"/>
            <a:ext cx="762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700" kern="0" spc="-112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→</a:t>
            </a:r>
            <a:endParaRPr lang="en-US" sz="3700" dirty="0"/>
          </a:p>
        </p:txBody>
      </p:sp>
      <p:sp>
        <p:nvSpPr>
          <p:cNvPr id="33" name="Text 25"/>
          <p:cNvSpPr txBox="1"/>
          <p:nvPr/>
        </p:nvSpPr>
        <p:spPr>
          <a:xfrm>
            <a:off x="11525098" y="5143500"/>
            <a:ext cx="762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700" kern="0" spc="-112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→</a:t>
            </a:r>
            <a:endParaRPr lang="en-US" sz="3700" dirty="0"/>
          </a:p>
        </p:txBody>
      </p:sp>
      <p:sp>
        <p:nvSpPr>
          <p:cNvPr id="34" name="Text 26"/>
          <p:cNvSpPr txBox="1"/>
          <p:nvPr/>
        </p:nvSpPr>
        <p:spPr>
          <a:xfrm>
            <a:off x="1524305" y="7905902"/>
            <a:ext cx="152403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프레임워크는 </a:t>
            </a:r>
            <a:r>
              <a:rPr lang="en-US" sz="1900" b="1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줌 레벨</a:t>
            </a:r>
            <a: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다르다. 같은 사업을 거시(시대의 바람) → 산업(경쟁의 지형) → 포트폴리오(우리 카드)로 좁혀가며 본다. </a:t>
            </a:r>
            <a:b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</a:br>
            <a:r>
              <a:rPr lang="en-US" sz="1900" kern="0" spc="-58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어느</a:t>
            </a:r>
            <a: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단계도 건너뛰면 사업 계획서는 공중에 뜬다.</a:t>
            </a:r>
            <a:endParaRPr lang="en-US" sz="1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Outside-in analysis — Macro · Industry · Portfolio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EC82593D-CEA6-4891-819B-9C12A1C050D8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06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750758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619195"/>
            <a:ext cx="16021202" cy="554400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· 거시 → 산업 → 포트폴리오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FRAMEWORK MAP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42875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kern="0" spc="-13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질문의 모양 → 프레임워크 선택.</a:t>
            </a:r>
            <a:endParaRPr lang="en-US" sz="46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2667305"/>
            <a:ext cx="1428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프레임워크는 </a:t>
            </a:r>
            <a:r>
              <a:rPr lang="en-US" sz="1900" b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레이아웃이 아니라 렌즈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다. 잘못된 렌즈를 골라 쓰면 그럴듯한 4분면이 나오지만 결정이 나오지 않는다. </a:t>
            </a:r>
            <a:b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900" dirty="0" err="1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질문의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모양을 먼저 보라.</a:t>
            </a:r>
            <a:endParaRPr lang="en-US" sz="1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89550"/>
              </p:ext>
            </p:extLst>
          </p:nvPr>
        </p:nvGraphicFramePr>
        <p:xfrm>
          <a:off x="1143000" y="3619195"/>
          <a:ext cx="15991942" cy="5524803"/>
        </p:xfrm>
        <a:graphic>
          <a:graphicData uri="http://schemas.openxmlformats.org/drawingml/2006/table">
            <a:tbl>
              <a:tblPr/>
              <a:tblGrid>
                <a:gridCol w="8795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7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8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86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질문의 모양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프레임워크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분석 단위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867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75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"지금 시대의 큰 바람은 어디로 부는가?"</a:t>
                      </a:r>
                      <a:endParaRPr lang="en-US" sz="1800" dirty="0"/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PESTEL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거시 환경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867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75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"이 산업은 매력적인가? 누가 돈을 가져가는가?"</a:t>
                      </a:r>
                      <a:endParaRPr lang="en-US" sz="1800" dirty="0"/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Porter Five Forces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산업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867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75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"우리 사업 포트폴리오 중 어디에 더 투자할까?"</a:t>
                      </a:r>
                      <a:endParaRPr lang="en-US" sz="1800" dirty="0"/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BCG Growth-Share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사업부 / 제품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867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75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"우리는 무엇을 잘하고, 어디가 약한가?"</a:t>
                      </a:r>
                      <a:endParaRPr lang="en-US" sz="1800" dirty="0"/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SWOT + TOWS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 전체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867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75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"우리는 어떻게 돈을 버는가? 벌 수 있는가?"</a:t>
                      </a:r>
                      <a:endParaRPr lang="en-US" sz="1800" dirty="0"/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Business Model Canvas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 모델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867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75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"이 자원이 진짜 경쟁우위의 원천인가?"</a:t>
                      </a:r>
                      <a:endParaRPr lang="en-US" sz="1800" dirty="0"/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VRIO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자원·역량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3867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75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"우리 내부에서 어디서 가치가 만들어지고 새는가?"</a:t>
                      </a:r>
                      <a:endParaRPr lang="en-US" sz="1800" dirty="0"/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Value Chain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 내부 활동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3867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75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"같은 시장에 머물까, 새 시장 / 새 제품으로 갈까?"</a:t>
                      </a:r>
                      <a:endParaRPr lang="en-US" sz="1800" dirty="0"/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Ansoff Matrix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성장 방향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90195" marR="19019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한 덱에 최대 3개 프레임워크 — 그 이상은 체크리스트, 그 이하는 주장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E7D6C275-627C-4744-ABA3-DC3562668DE4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07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681999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715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857707" y="1524305"/>
            <a:ext cx="761695" cy="384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79039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28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01 · MACRO SCAN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7707" y="2286000"/>
            <a:ext cx="45720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0" i="1" kern="0" spc="-3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01.</a:t>
            </a:r>
            <a:endParaRPr lang="en-US" sz="150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45720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kern="0" spc="-13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PESTEL</a:t>
            </a:r>
            <a:endParaRPr lang="en-US" sz="45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539130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Aguilar · 1967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6476695"/>
            <a:ext cx="45720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시장에 부는 6가지 바람을 한 번에 본다. Political · Economic · Social · Technological · Environmental · Legal.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76695" y="1524305"/>
            <a:ext cx="10478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1 · 80분 학습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76695" y="1904695"/>
            <a:ext cx="1047811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400" kern="0" spc="-16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먼저 시대의</a:t>
            </a:r>
            <a:endParaRPr lang="en-US" sz="5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400" kern="0" spc="-16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바람을 읽는다.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6476695" y="4572000"/>
            <a:ext cx="1084539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전남에서 창업을 한다는 것은 단지 "전남에서 가게를 차린다"가 아니다. 탄소중립 전환·지방소멸·고령화·해수온 상승·관광 회복 — 이 모든 거시 흐름이 사업의 5년치 손익을 결정한다.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76695" y="5412334"/>
            <a:ext cx="10287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PESTEL은 그 바람을 </a:t>
            </a: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방향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분해해 빠뜨림 없이 보는 도구다.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76695" y="7592263"/>
            <a:ext cx="1047719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476695" y="7239305"/>
            <a:ext cx="104781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학습 목표 · OBJECTIVES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76695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476695" y="8205221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PESTEL 6변수에 전남 산업 데이터를 1개씩 매핑할 수 있다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0071202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10071202" y="8205221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변수를 순풍(Tailwind) / 역풍(Headwind)으로 분류할 수 있다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3664794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3664794" y="8205221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프롬프트로 1차 PESTEL을 작성하고 사람이 검증한다</a:t>
            </a:r>
            <a:endParaRPr lang="en-US" sz="18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C2A9C4CB-DCF1-4708-8710-27FF7DF9405C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08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22336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30207" y="4095598"/>
            <a:ext cx="8162334" cy="4572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1 · PESTEL · 도입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PESTEL · WHY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4287500" cy="140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kern="0" spc="-13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거시 환경부터</a:t>
            </a:r>
            <a:endParaRPr lang="en-US" sz="4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600" kern="0" spc="-13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시작해야 하는가.</a:t>
            </a:r>
            <a:endParaRPr lang="en-US" sz="46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095598"/>
            <a:ext cx="79059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"우리 가게는 SNS 마케팅만 잘하면 됩니다."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4680585"/>
            <a:ext cx="790590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이런 사업계획서는 1년 안에 무너진다. 이유는 단순하다. </a:t>
            </a: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시대의 큰 흐름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가게 앞 손님 수를 결정하는데, 그 흐름을 본 적이 없기 때문이다.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5503545"/>
            <a:ext cx="790590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전남의 한 어묵 가게(가상의 예)는 SNS도 잘했다. 하지만 동시에 </a:t>
            </a: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(P)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어업면허 규제 강화, </a:t>
            </a: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(E)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원재료 수산물 가격 32% 상승, </a:t>
            </a: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(S)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지역 인구 -2.1%, </a:t>
            </a: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(En)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해수온 상승으로 원료 어종 어획 감소 — 4개의 거시 변수가 동시에 역풍이었다.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6583680"/>
            <a:ext cx="79059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PESTEL이 있었다면, 사업 모델을 "어묵 → 양식 김 가공품" 같은 방향으로 미리 조정했을 것이다.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9810598" y="4381805"/>
            <a:ext cx="7049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810598" y="4695444"/>
            <a:ext cx="70491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kern="0" spc="-81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PESTEL이란</a:t>
            </a:r>
            <a:endParaRPr lang="en-US" sz="27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810598" y="6109106"/>
            <a:ext cx="7048195" cy="91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810598" y="6404458"/>
            <a:ext cx="7049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EVOLUTION · 진화 과정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9810597" y="6773362"/>
            <a:ext cx="8162334" cy="227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1967</a:t>
            </a:r>
            <a:r>
              <a:rPr lang="en-US" sz="1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ETPS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(Aguilar, Harvard) — Economic · Technical · Political · Social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9810598" y="7073194"/>
            <a:ext cx="7049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1980s</a:t>
            </a:r>
            <a:r>
              <a:rPr lang="en-US" sz="1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PEST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순서를 바꿔 외우기 쉽게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9810598" y="7356658"/>
            <a:ext cx="7049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1990s</a:t>
            </a:r>
            <a:r>
              <a:rPr lang="en-US" sz="1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PESTLE / PESTEL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Environmental + Legal 추가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810598" y="7641036"/>
            <a:ext cx="7049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2000s+</a:t>
            </a:r>
            <a:r>
              <a:rPr lang="en-US" sz="1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STEEPLE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Ethics 추가 (선택)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810598" y="5275174"/>
            <a:ext cx="7049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기업이 통제할 수 없지만 반드시 영향을 받는 </a:t>
            </a:r>
            <a:r>
              <a:rPr lang="en-US" sz="1900" b="1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6가지 거시 환경 요인</a:t>
            </a:r>
            <a:r>
              <a:rPr lang="en-US" sz="19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빠짐없이 점검하는 체크리스트.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1142999" y="9452975"/>
            <a:ext cx="11941935" cy="26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Aguilar, F. J. (1967). Scanning the Business Environment. Macmillan.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23C6FB02-C784-482D-B53E-A2CDAD4C77FE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09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84303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619195"/>
            <a:ext cx="5210251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543446" y="3619195"/>
            <a:ext cx="5210251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953951" y="3619195"/>
            <a:ext cx="5210251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6476695"/>
            <a:ext cx="5210251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543446" y="6476695"/>
            <a:ext cx="5191049" cy="266730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953951" y="6476695"/>
            <a:ext cx="5210251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1 · PESTEL · 다이어그램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23809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PESTEL · 6 LENSES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1638605"/>
            <a:ext cx="142875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시장에 부는 6가지 바람.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667305"/>
            <a:ext cx="15457868" cy="17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칸은 단어 하나가 아니라 </a:t>
            </a:r>
            <a:r>
              <a:rPr lang="en-US" sz="1900" b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 이상의 출처 있는 데이터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채운다. 채운 뒤에는 각 항목을 ▲순풍(Tailwind) / ▼역풍(Headwind) / ◇중립으로 분류한다.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410005" y="3829507"/>
            <a:ext cx="48646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800" kern="0" spc="-117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</a:t>
            </a:r>
            <a:endParaRPr lang="en-US" sz="5800" dirty="0"/>
          </a:p>
        </p:txBody>
      </p:sp>
      <p:sp>
        <p:nvSpPr>
          <p:cNvPr id="18" name="Text 14"/>
          <p:cNvSpPr txBox="1"/>
          <p:nvPr/>
        </p:nvSpPr>
        <p:spPr>
          <a:xfrm>
            <a:off x="2060143" y="4134002"/>
            <a:ext cx="222199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Political · 정치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1410005" y="5213705"/>
            <a:ext cx="4715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산업정책, 지자체 보조금, 인허가, 무역장벽, 정치 사이클, 지방소멸대응기금. 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i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전남 청년창업 보조금 한도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410005" y="4705502"/>
            <a:ext cx="4715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정부 정책 · 보조금 · 규제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810451" y="3829507"/>
            <a:ext cx="46725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800" kern="0" spc="-117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</a:t>
            </a:r>
            <a:endParaRPr lang="en-US" sz="5800" dirty="0"/>
          </a:p>
        </p:txBody>
      </p:sp>
      <p:sp>
        <p:nvSpPr>
          <p:cNvPr id="22" name="Text 18"/>
          <p:cNvSpPr txBox="1"/>
          <p:nvPr/>
        </p:nvSpPr>
        <p:spPr>
          <a:xfrm>
            <a:off x="7446874" y="4134002"/>
            <a:ext cx="241767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Economic · 경제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6810451" y="5213705"/>
            <a:ext cx="4715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금리, 환율, 인플레이션, 1인당 GRDP, 가처분소득, 관광객 지출 단가. 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i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전남 1인당 GRDP (통계청 KOSIS 지역계정)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6810451" y="4705502"/>
            <a:ext cx="4715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거시 경제 · 가계 소비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2220956" y="3829507"/>
            <a:ext cx="48006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800" kern="0" spc="-117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</a:t>
            </a:r>
            <a:endParaRPr lang="en-US" sz="5800" dirty="0"/>
          </a:p>
        </p:txBody>
      </p:sp>
      <p:sp>
        <p:nvSpPr>
          <p:cNvPr id="26" name="Text 22"/>
          <p:cNvSpPr txBox="1"/>
          <p:nvPr/>
        </p:nvSpPr>
        <p:spPr>
          <a:xfrm>
            <a:off x="12815316" y="4134002"/>
            <a:ext cx="18818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Social · 사회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12220956" y="5213705"/>
            <a:ext cx="4715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고령화율, 1인 가구, 청년 유입·유출, MZ 소비 트렌드, 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워케이션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i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전남 고령인구 비율 (KOSIS 주민등록인구)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12220956" y="4705502"/>
            <a:ext cx="4715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인구 · 문화 · 라이프스타일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410005" y="6687007"/>
            <a:ext cx="4956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800" kern="0" spc="-117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</a:t>
            </a:r>
            <a:endParaRPr lang="en-US" sz="5800" dirty="0"/>
          </a:p>
        </p:txBody>
      </p:sp>
      <p:sp>
        <p:nvSpPr>
          <p:cNvPr id="30" name="Text 26"/>
          <p:cNvSpPr txBox="1"/>
          <p:nvPr/>
        </p:nvSpPr>
        <p:spPr>
          <a:xfrm>
            <a:off x="2067458" y="6991502"/>
            <a:ext cx="31629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Technological · 기술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1410005" y="8071205"/>
            <a:ext cx="4715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도입률, 스마트팩토리 보급, 5G 커버리지, 결제 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i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업종별 생성형 AI 도입률 (과기정통부·NIA 조사)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1410005" y="7563002"/>
            <a:ext cx="4715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디지털 · AI · 자동화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810451" y="6687007"/>
            <a:ext cx="46725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800" kern="0" spc="-117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</a:t>
            </a:r>
            <a:endParaRPr lang="en-US" sz="5800" dirty="0"/>
          </a:p>
        </p:txBody>
      </p:sp>
      <p:sp>
        <p:nvSpPr>
          <p:cNvPr id="34" name="Text 30"/>
          <p:cNvSpPr txBox="1"/>
          <p:nvPr/>
        </p:nvSpPr>
        <p:spPr>
          <a:xfrm>
            <a:off x="7446874" y="6991502"/>
            <a:ext cx="32580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Environmental · 환경</a:t>
            </a:r>
            <a:endParaRPr lang="en-US" sz="2200" dirty="0"/>
          </a:p>
        </p:txBody>
      </p:sp>
      <p:sp>
        <p:nvSpPr>
          <p:cNvPr id="35" name="Text 31"/>
          <p:cNvSpPr txBox="1"/>
          <p:nvPr/>
        </p:nvSpPr>
        <p:spPr>
          <a:xfrm>
            <a:off x="6810451" y="7563002"/>
            <a:ext cx="4715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기후 · 자원 · 탄소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6810451" y="8071205"/>
            <a:ext cx="4715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탄소중립, 해수온, 강수 패턴, RE100, 친환경 인증. </a:t>
            </a:r>
            <a:r>
              <a:rPr lang="en-US" sz="1800" i="1" dirty="0">
                <a:solidFill>
                  <a:srgbClr val="C58A2E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남해 표층 수온 변화 (국립수산과학원) — 양식 어종 변화</a:t>
            </a:r>
            <a:endParaRPr lang="en-US" sz="1800" dirty="0"/>
          </a:p>
        </p:txBody>
      </p:sp>
      <p:sp>
        <p:nvSpPr>
          <p:cNvPr id="37" name="Text 33"/>
          <p:cNvSpPr txBox="1"/>
          <p:nvPr/>
        </p:nvSpPr>
        <p:spPr>
          <a:xfrm>
            <a:off x="12220956" y="6687007"/>
            <a:ext cx="44805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800" kern="0" spc="-117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endParaRPr lang="en-US" sz="5800" dirty="0"/>
          </a:p>
        </p:txBody>
      </p:sp>
      <p:sp>
        <p:nvSpPr>
          <p:cNvPr id="38" name="Text 34"/>
          <p:cNvSpPr txBox="1"/>
          <p:nvPr/>
        </p:nvSpPr>
        <p:spPr>
          <a:xfrm>
            <a:off x="12833604" y="6991502"/>
            <a:ext cx="17913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Legal · 법규</a:t>
            </a:r>
            <a:endParaRPr lang="en-US" sz="2200" dirty="0"/>
          </a:p>
        </p:txBody>
      </p:sp>
      <p:sp>
        <p:nvSpPr>
          <p:cNvPr id="39" name="Text 35"/>
          <p:cNvSpPr txBox="1"/>
          <p:nvPr/>
        </p:nvSpPr>
        <p:spPr>
          <a:xfrm>
            <a:off x="12220956" y="8071205"/>
            <a:ext cx="4715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식품위생법, 개인정보보호, 농수산물 표시, 어업면허, 관광사업등록. 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i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식품등 표시·광고법 최근 개정 (국가법령정보센터)</a:t>
            </a:r>
            <a:endParaRPr lang="en-US" sz="1800" dirty="0"/>
          </a:p>
        </p:txBody>
      </p:sp>
      <p:sp>
        <p:nvSpPr>
          <p:cNvPr id="40" name="Text 36"/>
          <p:cNvSpPr txBox="1"/>
          <p:nvPr/>
        </p:nvSpPr>
        <p:spPr>
          <a:xfrm>
            <a:off x="12220956" y="7563002"/>
            <a:ext cx="4715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규제 · 표시·광고 · 라이센스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1143000" y="9621148"/>
            <a:ext cx="11430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Aguilar, F. J. (1967). </a:t>
            </a:r>
            <a:r>
              <a:rPr lang="en-US" sz="16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Scanning the Business Environment.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Macmillan — ETPS → PEST → PESTEL</a:t>
            </a:r>
            <a:endParaRPr lang="en-US" sz="1600" dirty="0"/>
          </a:p>
        </p:txBody>
      </p:sp>
      <p:sp>
        <p:nvSpPr>
          <p:cNvPr id="42" name="Text 38"/>
          <p:cNvSpPr txBox="1"/>
          <p:nvPr/>
        </p:nvSpPr>
        <p:spPr>
          <a:xfrm>
            <a:off x="1143000" y="9440096"/>
            <a:ext cx="11430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13126212" y="9639437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변수당 ≥ 1 출처 있는 데이터</a:t>
            </a:r>
            <a:endParaRPr lang="en-US" sz="1600" dirty="0"/>
          </a:p>
        </p:txBody>
      </p:sp>
      <p:sp>
        <p:nvSpPr>
          <p:cNvPr id="44" name="Text 40"/>
          <p:cNvSpPr txBox="1"/>
          <p:nvPr/>
        </p:nvSpPr>
        <p:spPr>
          <a:xfrm>
            <a:off x="13126212" y="9458385"/>
            <a:ext cx="3810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</a:t>
            </a:r>
            <a:endParaRPr lang="en-US" sz="1500" dirty="0"/>
          </a:p>
        </p:txBody>
      </p:sp>
      <p:sp>
        <p:nvSpPr>
          <p:cNvPr id="45" name="PageNumber">
            <a:extLst>
              <a:ext uri="{FF2B5EF4-FFF2-40B4-BE49-F238E27FC236}">
                <a16:creationId xmlns:a16="http://schemas.microsoft.com/office/drawing/2014/main" id="{A902FEA4-3A95-4EB0-9DA3-C3A1E6827118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10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5715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011120"/>
            <a:ext cx="16002000" cy="932687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4190695"/>
            <a:ext cx="16021202" cy="5067605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400507"/>
            <a:ext cx="7620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1 · PESTEL · 전남 케이스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WORKED CASE · 전남 해양관광 스타트업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638605"/>
            <a:ext cx="160020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"여수 섬-스테이" — </a:t>
            </a:r>
            <a:r>
              <a:rPr lang="en-US" sz="4000" kern="0" spc="-122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청년이</a:t>
            </a: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4000" kern="0" spc="-122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만드는</a:t>
            </a: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4000" kern="0" spc="-122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해양관광</a:t>
            </a: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숙박·체험 플랫폼.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1410005" y="3105303"/>
            <a:ext cx="15430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SCENARIO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410005" y="3481199"/>
            <a:ext cx="1543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 출신 30대 김OO 씨는 빈집 5채를 임차해 </a:t>
            </a:r>
            <a:r>
              <a:rPr lang="en-US" sz="19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섬 단위 워케이션 + 어촌 체험</a:t>
            </a:r>
            <a:r>
              <a:rPr lang="en-US" sz="19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결합한 숙박 플랫폼을 시작하려 한다. </a:t>
            </a:r>
            <a:br>
              <a:rPr lang="en-US" sz="19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900" dirty="0" err="1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</a:t>
            </a:r>
            <a:r>
              <a:rPr lang="en-US" sz="19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진출 전 PESTEL로 거시 환경부터 점검한다.</a:t>
            </a:r>
            <a:endParaRPr lang="en-US" sz="1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374200"/>
              </p:ext>
            </p:extLst>
          </p:nvPr>
        </p:nvGraphicFramePr>
        <p:xfrm>
          <a:off x="1143000" y="4190695"/>
          <a:ext cx="15991941" cy="5048400"/>
        </p:xfrm>
        <a:graphic>
          <a:graphicData uri="http://schemas.openxmlformats.org/drawingml/2006/table">
            <a:tbl>
              <a:tblPr/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6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6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(가상 사례 · 학습용 예시값)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방향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"여수 섬-스테이" 사업에의 함의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P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전남도 해양관광 지원 계획(예시) 예산 </a:t>
                      </a: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1.2조원</a:t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, 빈집 활용 어촌체험 보조금 최대 5천만원/동</a:t>
                      </a:r>
                      <a:endParaRPr lang="en-US" sz="1800" dirty="0"/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▲ 순풍</a:t>
                      </a:r>
                      <a:endParaRPr lang="en-US" sz="1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 CAPEX 50% 절감 가능 — 보조금 매칭 신청 필수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E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전남 1인당 GRDP </a:t>
                      </a: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4,160만원</a:t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(2024), 국내 관광객 1인 1박 평균지출 16.8만원</a:t>
                      </a:r>
                      <a:endParaRPr lang="en-US" sz="1800" dirty="0"/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◇ 중립</a:t>
                      </a:r>
                      <a:endParaRPr lang="en-US" sz="1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로컬 손님 &lt; 외지 손님. 객단가는 수도권 워케이션 수요에 묶임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S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2030년대 워케이션 시장 연 </a:t>
                      </a: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+22%</a:t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성장 전망. MZ "관계인구" 트렌드 — 두 번째 거주지 수요</a:t>
                      </a:r>
                      <a:endParaRPr lang="en-US" sz="1800" dirty="0"/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▲ 순풍</a:t>
                      </a:r>
                      <a:endParaRPr lang="en-US" sz="1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코어 타깃 = 서울/경기 IT 직장인 30대. 장기숙박 패키지로 차별화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T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5G 도서지역 커버리지 </a:t>
                      </a: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92%</a:t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, 워케이션용 모바일 결제·키리스 도어락 표준화</a:t>
                      </a:r>
                      <a:endParaRPr lang="en-US" sz="1800" dirty="0"/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▲ 순풍</a:t>
                      </a:r>
                      <a:endParaRPr lang="en-US" sz="1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무인운영(자동 체크인) 가능 → 인건비 -40%, 1인 운영 5채 가능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En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남해안 해수온 상승</a:t>
                      </a: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, 여름 태풍 강도 증가 — 7-8월 결항·휴업 리스크</a:t>
                      </a:r>
                      <a:endParaRPr lang="en-US" sz="1800" dirty="0"/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▼ 역풍</a:t>
                      </a:r>
                      <a:endParaRPr lang="en-US" sz="1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성수기 ≠ 7-8월. 9-11월·3-5월 가을·봄 시즌으로 매출 분산 설계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L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「농어촌민박업」등록 의무 (객실 7실 이하), 「관광사업등록법」 적용 분기점은 객실 30실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◇ 중립</a:t>
                      </a:r>
                      <a:endParaRPr lang="en-US" sz="18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 5채 = 농어촌민박업 등록만으로 합법. 30실 돌파 시 법인 전환 필요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1143000" y="9481868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 WHAT — 순풍 3 (P · S · T) · 역풍 1 (En) · 중립 2 → </a:t>
            </a:r>
            <a:r>
              <a:rPr lang="en-US" sz="1500" b="1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진출 의사결정 = GO</a:t>
            </a: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단 성수기 설계 재조정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37D3868A-C360-4CE2-8A38-FBF8E569A88E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11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92541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4703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5257800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524244" y="2952598"/>
            <a:ext cx="5257800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906402" y="2952598"/>
            <a:ext cx="5257800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6191402"/>
            <a:ext cx="5257800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524244" y="6191402"/>
            <a:ext cx="5238598" cy="3047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906402" y="6191402"/>
            <a:ext cx="5257800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1143000" y="2952598"/>
            <a:ext cx="47549" cy="3047695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6524244" y="2952598"/>
            <a:ext cx="47549" cy="3047695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11906402" y="2952598"/>
            <a:ext cx="47549" cy="304769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1143000" y="6191402"/>
            <a:ext cx="47549" cy="3047695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6524244" y="6191402"/>
            <a:ext cx="47549" cy="3047695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4"/>
          <a:srcRect t="-75" b="-75"/>
          <a:stretch/>
        </p:blipFill>
        <p:spPr>
          <a:xfrm>
            <a:off x="11906402" y="6191402"/>
            <a:ext cx="47549" cy="3047695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1 · PESTEL · 체크리스트</a:t>
            </a:r>
            <a:endParaRPr lang="en-US" sz="1600" dirty="0"/>
          </a:p>
        </p:txBody>
      </p:sp>
      <p:sp>
        <p:nvSpPr>
          <p:cNvPr id="20" name="Text 10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CHECKLIST · 무엇을 묻고 어디서 찾는가</a:t>
            </a:r>
            <a:endParaRPr lang="en-US" sz="1900" dirty="0"/>
          </a:p>
        </p:txBody>
      </p:sp>
      <p:sp>
        <p:nvSpPr>
          <p:cNvPr id="21" name="Text 11"/>
          <p:cNvSpPr txBox="1"/>
          <p:nvPr/>
        </p:nvSpPr>
        <p:spPr>
          <a:xfrm>
            <a:off x="1143000" y="1638605"/>
            <a:ext cx="142875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실무 질문 + 데이터 소스.</a:t>
            </a:r>
            <a:endParaRPr lang="en-US" sz="4000" dirty="0"/>
          </a:p>
        </p:txBody>
      </p:sp>
      <p:sp>
        <p:nvSpPr>
          <p:cNvPr id="22" name="Text 12"/>
          <p:cNvSpPr txBox="1"/>
          <p:nvPr/>
        </p:nvSpPr>
        <p:spPr>
          <a:xfrm>
            <a:off x="1476756" y="3143707"/>
            <a:ext cx="4763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</a:t>
            </a: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Political</a:t>
            </a:r>
            <a:endParaRPr lang="en-US" sz="2200" dirty="0"/>
          </a:p>
        </p:txBody>
      </p:sp>
      <p:sp>
        <p:nvSpPr>
          <p:cNvPr id="23" name="Text 13"/>
          <p:cNvSpPr txBox="1"/>
          <p:nvPr/>
        </p:nvSpPr>
        <p:spPr>
          <a:xfrm>
            <a:off x="1499465" y="3894438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사업을 지원·규제하는 정부·지자체 계획이 있는가?</a:t>
            </a:r>
            <a:endParaRPr lang="en-US" sz="1600" dirty="0"/>
          </a:p>
        </p:txBody>
      </p:sp>
      <p:sp>
        <p:nvSpPr>
          <p:cNvPr id="24" name="Text 14"/>
          <p:cNvSpPr txBox="1"/>
          <p:nvPr/>
        </p:nvSpPr>
        <p:spPr>
          <a:xfrm>
            <a:off x="1499465" y="4101092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분야 보조금·바우처·세제 혜택은?</a:t>
            </a:r>
            <a:endParaRPr lang="en-US" sz="1600" dirty="0"/>
          </a:p>
        </p:txBody>
      </p:sp>
      <p:sp>
        <p:nvSpPr>
          <p:cNvPr id="25" name="Text 15"/>
          <p:cNvSpPr txBox="1"/>
          <p:nvPr/>
        </p:nvSpPr>
        <p:spPr>
          <a:xfrm>
            <a:off x="1499465" y="4307747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지방선거 후 정책 방향이 바뀔 위험은?</a:t>
            </a:r>
            <a:endParaRPr lang="en-US" sz="1600" dirty="0"/>
          </a:p>
        </p:txBody>
      </p:sp>
      <p:sp>
        <p:nvSpPr>
          <p:cNvPr id="26" name="Text 16"/>
          <p:cNvSpPr txBox="1"/>
          <p:nvPr/>
        </p:nvSpPr>
        <p:spPr>
          <a:xfrm>
            <a:off x="1476756" y="4639666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27" name="Text 17"/>
          <p:cNvSpPr txBox="1"/>
          <p:nvPr/>
        </p:nvSpPr>
        <p:spPr>
          <a:xfrm>
            <a:off x="1476756" y="4953242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전남도청 정책DB · 행안부 지방소멸대응기금 · </a:t>
            </a:r>
            <a:b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기재부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예산서</a:t>
            </a:r>
            <a:endParaRPr lang="en-US" sz="1500" dirty="0"/>
          </a:p>
        </p:txBody>
      </p:sp>
      <p:sp>
        <p:nvSpPr>
          <p:cNvPr id="28" name="Text 18"/>
          <p:cNvSpPr txBox="1"/>
          <p:nvPr/>
        </p:nvSpPr>
        <p:spPr>
          <a:xfrm>
            <a:off x="1476756" y="3696005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</a:t>
            </a:r>
            <a:endParaRPr lang="en-US" sz="800" dirty="0"/>
          </a:p>
        </p:txBody>
      </p:sp>
      <p:sp>
        <p:nvSpPr>
          <p:cNvPr id="29" name="Text 19"/>
          <p:cNvSpPr txBox="1"/>
          <p:nvPr/>
        </p:nvSpPr>
        <p:spPr>
          <a:xfrm>
            <a:off x="6858000" y="3143707"/>
            <a:ext cx="4763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</a:t>
            </a: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Economic</a:t>
            </a:r>
            <a:endParaRPr lang="en-US" sz="2200" dirty="0"/>
          </a:p>
        </p:txBody>
      </p:sp>
      <p:sp>
        <p:nvSpPr>
          <p:cNvPr id="30" name="Text 20"/>
          <p:cNvSpPr txBox="1"/>
          <p:nvPr/>
        </p:nvSpPr>
        <p:spPr>
          <a:xfrm>
            <a:off x="6875359" y="3924837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시장의 5년 CAGR은 몇 %인가?</a:t>
            </a:r>
            <a:endParaRPr lang="en-US" sz="1600" dirty="0"/>
          </a:p>
        </p:txBody>
      </p:sp>
      <p:sp>
        <p:nvSpPr>
          <p:cNvPr id="31" name="Text 21"/>
          <p:cNvSpPr txBox="1"/>
          <p:nvPr/>
        </p:nvSpPr>
        <p:spPr>
          <a:xfrm>
            <a:off x="6875359" y="4131491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고객의 가처분소득·소비여력은?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6875359" y="4338146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금리·환율이 비용 구조에 미치는 영향?</a:t>
            </a:r>
            <a:endParaRPr lang="en-US" sz="1600" dirty="0"/>
          </a:p>
        </p:txBody>
      </p:sp>
      <p:sp>
        <p:nvSpPr>
          <p:cNvPr id="33" name="Text 23"/>
          <p:cNvSpPr txBox="1"/>
          <p:nvPr/>
        </p:nvSpPr>
        <p:spPr>
          <a:xfrm>
            <a:off x="6858000" y="4639666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34" name="Text 24"/>
          <p:cNvSpPr txBox="1"/>
          <p:nvPr/>
        </p:nvSpPr>
        <p:spPr>
          <a:xfrm>
            <a:off x="6858000" y="4953242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 KOSIS · 한국은행 ECOS · 한국문화관광연구원 · </a:t>
            </a:r>
            <a:b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산업연구원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6858000" y="3696005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</a:t>
            </a:r>
            <a:endParaRPr lang="en-US" sz="800" dirty="0"/>
          </a:p>
        </p:txBody>
      </p:sp>
      <p:sp>
        <p:nvSpPr>
          <p:cNvPr id="36" name="Text 26"/>
          <p:cNvSpPr txBox="1"/>
          <p:nvPr/>
        </p:nvSpPr>
        <p:spPr>
          <a:xfrm>
            <a:off x="12239244" y="3143707"/>
            <a:ext cx="4763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</a:t>
            </a: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Social</a:t>
            </a:r>
            <a:endParaRPr lang="en-US" sz="2200" dirty="0"/>
          </a:p>
        </p:txBody>
      </p:sp>
      <p:sp>
        <p:nvSpPr>
          <p:cNvPr id="37" name="Text 27"/>
          <p:cNvSpPr txBox="1"/>
          <p:nvPr/>
        </p:nvSpPr>
        <p:spPr>
          <a:xfrm>
            <a:off x="12328771" y="3886200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세그먼트의 인구 규모와 추세는?</a:t>
            </a:r>
            <a:endParaRPr lang="en-US" sz="1600" dirty="0"/>
          </a:p>
        </p:txBody>
      </p:sp>
      <p:sp>
        <p:nvSpPr>
          <p:cNvPr id="38" name="Text 28"/>
          <p:cNvSpPr txBox="1"/>
          <p:nvPr/>
        </p:nvSpPr>
        <p:spPr>
          <a:xfrm>
            <a:off x="12328771" y="4092854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라이프스타일·소비 트렌드 변화는?</a:t>
            </a:r>
            <a:endParaRPr lang="en-US" sz="1600" dirty="0"/>
          </a:p>
        </p:txBody>
      </p:sp>
      <p:sp>
        <p:nvSpPr>
          <p:cNvPr id="39" name="Text 29"/>
          <p:cNvSpPr txBox="1"/>
          <p:nvPr/>
        </p:nvSpPr>
        <p:spPr>
          <a:xfrm>
            <a:off x="12328771" y="4299509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지역의 인구 유입·유출 패턴은?</a:t>
            </a:r>
            <a:endParaRPr lang="en-US" sz="1600" dirty="0"/>
          </a:p>
        </p:txBody>
      </p:sp>
      <p:sp>
        <p:nvSpPr>
          <p:cNvPr id="40" name="Text 30"/>
          <p:cNvSpPr txBox="1"/>
          <p:nvPr/>
        </p:nvSpPr>
        <p:spPr>
          <a:xfrm>
            <a:off x="12239244" y="4639666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41" name="Text 31"/>
          <p:cNvSpPr txBox="1"/>
          <p:nvPr/>
        </p:nvSpPr>
        <p:spPr>
          <a:xfrm>
            <a:off x="12239244" y="4953242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 인구동향 · 컨슈머인사이트 · 신한카드 인사이트 · </a:t>
            </a:r>
            <a:b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트렌드모니터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12239244" y="3696005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</a:t>
            </a:r>
            <a:endParaRPr lang="en-US" sz="800" dirty="0"/>
          </a:p>
        </p:txBody>
      </p:sp>
      <p:sp>
        <p:nvSpPr>
          <p:cNvPr id="43" name="Text 33"/>
          <p:cNvSpPr txBox="1"/>
          <p:nvPr/>
        </p:nvSpPr>
        <p:spPr>
          <a:xfrm>
            <a:off x="1476756" y="6381598"/>
            <a:ext cx="4763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</a:t>
            </a: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Technological</a:t>
            </a:r>
            <a:endParaRPr lang="en-US" sz="2200" dirty="0"/>
          </a:p>
        </p:txBody>
      </p:sp>
      <p:sp>
        <p:nvSpPr>
          <p:cNvPr id="44" name="Text 34"/>
          <p:cNvSpPr txBox="1"/>
          <p:nvPr/>
        </p:nvSpPr>
        <p:spPr>
          <a:xfrm>
            <a:off x="1425325" y="7166195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표준 기술 스택의 변화는?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1425325" y="7372849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AI·자동화로 비용·시간 절감 여지는?</a:t>
            </a:r>
            <a:endParaRPr lang="en-US" sz="1600" dirty="0"/>
          </a:p>
        </p:txBody>
      </p:sp>
      <p:sp>
        <p:nvSpPr>
          <p:cNvPr id="46" name="Text 36"/>
          <p:cNvSpPr txBox="1"/>
          <p:nvPr/>
        </p:nvSpPr>
        <p:spPr>
          <a:xfrm>
            <a:off x="1425325" y="7579504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디지털 도입 속도는?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1476756" y="7878470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48" name="Text 38"/>
          <p:cNvSpPr txBox="1"/>
          <p:nvPr/>
        </p:nvSpPr>
        <p:spPr>
          <a:xfrm>
            <a:off x="1476756" y="8191132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KISDI 보고서 · 정보통신정책연구원 · 가트너 · </a:t>
            </a:r>
            <a:r>
              <a:rPr lang="en-US" sz="15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협회</a:t>
            </a:r>
            <a:b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백서</a:t>
            </a:r>
            <a:endParaRPr lang="en-US" sz="1500" dirty="0"/>
          </a:p>
        </p:txBody>
      </p:sp>
      <p:sp>
        <p:nvSpPr>
          <p:cNvPr id="49" name="Text 39"/>
          <p:cNvSpPr txBox="1"/>
          <p:nvPr/>
        </p:nvSpPr>
        <p:spPr>
          <a:xfrm>
            <a:off x="1476756" y="6933895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</a:t>
            </a:r>
            <a:endParaRPr lang="en-US" sz="800" dirty="0"/>
          </a:p>
        </p:txBody>
      </p:sp>
      <p:sp>
        <p:nvSpPr>
          <p:cNvPr id="50" name="Text 40"/>
          <p:cNvSpPr txBox="1"/>
          <p:nvPr/>
        </p:nvSpPr>
        <p:spPr>
          <a:xfrm>
            <a:off x="6858000" y="6381598"/>
            <a:ext cx="4763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En</a:t>
            </a:r>
            <a:r>
              <a:rPr lang="en-US" sz="2200" kern="0" spc="-67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Environmental</a:t>
            </a:r>
            <a:endParaRPr lang="en-US" sz="2200" dirty="0"/>
          </a:p>
        </p:txBody>
      </p:sp>
      <p:sp>
        <p:nvSpPr>
          <p:cNvPr id="51" name="Text 41"/>
          <p:cNvSpPr txBox="1"/>
          <p:nvPr/>
        </p:nvSpPr>
        <p:spPr>
          <a:xfrm>
            <a:off x="6858000" y="7878470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52" name="Text 42"/>
          <p:cNvSpPr txBox="1"/>
          <p:nvPr/>
        </p:nvSpPr>
        <p:spPr>
          <a:xfrm>
            <a:off x="6858000" y="6933895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</a:t>
            </a:r>
            <a:endParaRPr lang="en-US" sz="800" dirty="0"/>
          </a:p>
        </p:txBody>
      </p:sp>
      <p:sp>
        <p:nvSpPr>
          <p:cNvPr id="53" name="Text 43"/>
          <p:cNvSpPr txBox="1"/>
          <p:nvPr/>
        </p:nvSpPr>
        <p:spPr>
          <a:xfrm>
            <a:off x="6873385" y="7157957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기후 변화가 원재료·운영에 미치는 영향?</a:t>
            </a:r>
            <a:endParaRPr lang="en-US" sz="1600" dirty="0"/>
          </a:p>
        </p:txBody>
      </p:sp>
      <p:sp>
        <p:nvSpPr>
          <p:cNvPr id="54" name="Text 44"/>
          <p:cNvSpPr txBox="1"/>
          <p:nvPr/>
        </p:nvSpPr>
        <p:spPr>
          <a:xfrm>
            <a:off x="6873385" y="7364611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탄소중립·RE100 요구가 비용에 미치는 영향?</a:t>
            </a:r>
            <a:endParaRPr lang="en-US" sz="1600" dirty="0"/>
          </a:p>
        </p:txBody>
      </p:sp>
      <p:sp>
        <p:nvSpPr>
          <p:cNvPr id="55" name="Text 45"/>
          <p:cNvSpPr txBox="1"/>
          <p:nvPr/>
        </p:nvSpPr>
        <p:spPr>
          <a:xfrm>
            <a:off x="6873385" y="7571266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친환경 인증을 가격 프리미엄으로 만들 수 있나?</a:t>
            </a:r>
            <a:endParaRPr lang="en-US" sz="1600" dirty="0"/>
          </a:p>
        </p:txBody>
      </p:sp>
      <p:sp>
        <p:nvSpPr>
          <p:cNvPr id="56" name="Text 46"/>
          <p:cNvSpPr txBox="1"/>
          <p:nvPr/>
        </p:nvSpPr>
        <p:spPr>
          <a:xfrm>
            <a:off x="6858000" y="8191132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기상청 기후정보 · 환경부 K-ETS · 국립수산과학원 · IPCC AR6</a:t>
            </a:r>
            <a:endParaRPr lang="en-US" sz="1500" dirty="0"/>
          </a:p>
        </p:txBody>
      </p:sp>
      <p:sp>
        <p:nvSpPr>
          <p:cNvPr id="57" name="Text 47"/>
          <p:cNvSpPr txBox="1"/>
          <p:nvPr/>
        </p:nvSpPr>
        <p:spPr>
          <a:xfrm>
            <a:off x="12239244" y="6381598"/>
            <a:ext cx="4763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L</a:t>
            </a: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Legal</a:t>
            </a:r>
            <a:endParaRPr lang="en-US" sz="2200" dirty="0"/>
          </a:p>
        </p:txBody>
      </p:sp>
      <p:sp>
        <p:nvSpPr>
          <p:cNvPr id="58" name="Text 48"/>
          <p:cNvSpPr txBox="1"/>
          <p:nvPr/>
        </p:nvSpPr>
        <p:spPr>
          <a:xfrm>
            <a:off x="12246713" y="7151173"/>
            <a:ext cx="4876495" cy="143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사업을 시작하려면 어떤 법령에 등록·신고해야 하는가?</a:t>
            </a:r>
            <a:endParaRPr lang="en-US" sz="1600" dirty="0"/>
          </a:p>
        </p:txBody>
      </p:sp>
      <p:sp>
        <p:nvSpPr>
          <p:cNvPr id="59" name="Text 49"/>
          <p:cNvSpPr txBox="1"/>
          <p:nvPr/>
        </p:nvSpPr>
        <p:spPr>
          <a:xfrm>
            <a:off x="12246713" y="7339211"/>
            <a:ext cx="5427067" cy="206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소비자보호·개인정보보호 의무는?</a:t>
            </a:r>
            <a:endParaRPr lang="en-US" sz="1600" dirty="0"/>
          </a:p>
        </p:txBody>
      </p:sp>
      <p:sp>
        <p:nvSpPr>
          <p:cNvPr id="60" name="Text 50"/>
          <p:cNvSpPr txBox="1"/>
          <p:nvPr/>
        </p:nvSpPr>
        <p:spPr>
          <a:xfrm>
            <a:off x="12283180" y="7563130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1년 내 관련 법령 개정 사항은?</a:t>
            </a:r>
            <a:endParaRPr lang="en-US" sz="1600" dirty="0"/>
          </a:p>
        </p:txBody>
      </p:sp>
      <p:sp>
        <p:nvSpPr>
          <p:cNvPr id="61" name="Text 51"/>
          <p:cNvSpPr txBox="1"/>
          <p:nvPr/>
        </p:nvSpPr>
        <p:spPr>
          <a:xfrm>
            <a:off x="12239244" y="7878470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62" name="Text 52"/>
          <p:cNvSpPr txBox="1"/>
          <p:nvPr/>
        </p:nvSpPr>
        <p:spPr>
          <a:xfrm>
            <a:off x="12239244" y="8049463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국가법령정보센터 · 식약처 · 공정거래위원회 · 업종별 협회</a:t>
            </a:r>
            <a:endParaRPr lang="en-US" sz="1500" dirty="0"/>
          </a:p>
        </p:txBody>
      </p:sp>
      <p:sp>
        <p:nvSpPr>
          <p:cNvPr id="63" name="Text 53"/>
          <p:cNvSpPr txBox="1"/>
          <p:nvPr/>
        </p:nvSpPr>
        <p:spPr>
          <a:xfrm>
            <a:off x="12239244" y="6933895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</a:t>
            </a:r>
            <a:endParaRPr lang="en-US" sz="800" dirty="0"/>
          </a:p>
        </p:txBody>
      </p:sp>
      <p:sp>
        <p:nvSpPr>
          <p:cNvPr id="64" name="Text 54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— 한 변수당 최소 1개 출처 있는 데이터 + 순풍/역풍/중립 분류 + "그래서 무엇" 한 줄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A9BF8603-2C99-4AD4-958F-435A1C2E4681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12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6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23124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8382305" cy="5715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1 · PESTEL · AI 프롬프트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2999" y="897680"/>
            <a:ext cx="6402859" cy="348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AI WORKFLOW · 멀티 페르소나 + 검증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42875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ChatGPT로 1차 PESTEL 작성 + 사람이 검증.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1447495" y="3429000"/>
            <a:ext cx="7810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1 · PROMPT TEMPLATE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447495" y="3705149"/>
            <a:ext cx="7810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아래 프롬프트를 그대로 복사 → 본인 사업으로 치환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447495" y="4209898"/>
            <a:ext cx="7810805" cy="1485900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1447495" y="4209898"/>
            <a:ext cx="28346" cy="1485900"/>
          </a:xfrm>
          <a:prstGeom prst="rect">
            <a:avLst/>
          </a:prstGeom>
          <a:solidFill>
            <a:srgbClr val="C58A2E"/>
          </a:solidFill>
          <a:ln w="12700">
            <a:solidFill>
              <a:srgbClr val="C58A2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704442" y="4506466"/>
            <a:ext cx="7553858" cy="224637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28600" rIns="228600" bIns="2286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너는 한국 지역 산업 시장 분석에 능한 시니어 </a:t>
            </a:r>
            <a:r>
              <a:rPr lang="en-US" sz="1500" dirty="0" err="1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컨설턴트다</a:t>
            </a: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</a:t>
            </a:r>
            <a:b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</a:b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[사업 정의] - 사업명: {여수 섬-스테이} - 카테고리: {해양관광 숙박·체험 플랫폼} - 타깃 고객: {수도권 30대 IT 직장인 워케이션 수요자} </a:t>
            </a:r>
            <a:b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</a:b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진입 지역: {전남 여수시 일대 도서} [작업] 위 사업에 대해 PESTEL 6변수(P/E/S/T/En/L)를 다음 규칙으로 작성하라. </a:t>
            </a:r>
            <a:b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</a:b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 각 변수당 1-2개 출처 있는 데이터 인용 (출처명 명시) </a:t>
            </a:r>
            <a:b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</a:b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 각 항목을 ▲순풍/▼역풍/◇중립으로 </a:t>
            </a:r>
            <a:r>
              <a:rPr lang="en-US" sz="1500" dirty="0" err="1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분류</a:t>
            </a: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b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</a:b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 "그래서 이 사업에 어떤 의미인가" 한 줄 함의 </a:t>
            </a:r>
            <a:r>
              <a:rPr lang="en-US" sz="1500" dirty="0" err="1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추가</a:t>
            </a: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b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</a:b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 한국어 표 형식으로 출력 (변수 / 데이터 / 방향 / 함의) </a:t>
            </a:r>
            <a:b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</a:b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 데이터를 확신하지 못하면 "[검증 필요]" 명시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905695" y="3143707"/>
            <a:ext cx="7239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2 · 멀티 페르소나 검증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9905695" y="3438144"/>
            <a:ext cx="7239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생성된 PESTEL을 4개 페르소나 시각으로 다시 본다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9905695" y="4420210"/>
            <a:ext cx="72393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9773887" y="3924605"/>
            <a:ext cx="7239305" cy="3822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잠재 고객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"내가 이걸 살까?" 시각에서 S·T를 다시 본다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9905695" y="4916729"/>
            <a:ext cx="72393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9773887" y="4421124"/>
            <a:ext cx="7239305" cy="3822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잠재 투자자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"5년 후 출구 가능한가?" 시각에서 E·P를 다시 본다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9905695" y="5414162"/>
            <a:ext cx="72393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9773887" y="4918558"/>
            <a:ext cx="7239305" cy="3822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CEO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"우리도 들어가야 하나?" 시각에서 산업매력도 재검토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9905695" y="5415991"/>
            <a:ext cx="7239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당국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"허용 가능한가?" 시각에서 P·L 재검토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9905695" y="6246266"/>
            <a:ext cx="7239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3 · 사람의 책임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9905695" y="6530653"/>
            <a:ext cx="72393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만든 출처는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한 개씩 클릭해 실제 페이지에서 확인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환각된 통계·존재하지 않는 보고서·만료된 정책은 항상 제거한다.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1258332" y="9472118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1차 작성 30분 + 사람 검증 30분 = 80분 단원의 표준 워크플로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3F3E8345-8CCA-4CEF-9104-B374FC3BDB10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13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92407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4195" y="3619195"/>
            <a:ext cx="7830007" cy="5162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1 · PESTEL · 개별 워크숍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WORKSHOP · 본인 사업 PESTEL 1장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42875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30분 실습 — 본인 사업에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PESTEL을 적용한다.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619195"/>
            <a:ext cx="7810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INSTRUCTIONS · 30분 / 4단계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143000" y="4028846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1143000" y="4209898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1790395" y="4209898"/>
            <a:ext cx="35250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사업 정의 1줄로 쓰기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5분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790395" y="4562855"/>
            <a:ext cx="5540350" cy="327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"누구에게(타깃) 무엇을(가치) 어디서(전남 어느 지역) 판다"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1143000" y="4947818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1143000" y="5128870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1790395" y="5128870"/>
            <a:ext cx="45720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ChatGPT 프롬프트로 1차 작성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10분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790395" y="5481827"/>
            <a:ext cx="725850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 슬라이드 13의 프롬프트 템플릿 사용. 결과를 그대로 표 1장에 붙여 넣는다.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1143000" y="5867705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1143000" y="6048756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8"/>
          <p:cNvSpPr txBox="1"/>
          <p:nvPr/>
        </p:nvSpPr>
        <p:spPr>
          <a:xfrm>
            <a:off x="1790395" y="6048756"/>
            <a:ext cx="54297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출처 검증 — 1개씩 클릭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10분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790395" y="6425514"/>
            <a:ext cx="7468820" cy="376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인용한 모든 출처를 실제 페이지에서 확인. 환각된 데이터는 </a:t>
            </a: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</a:t>
            </a:r>
            <a:b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[검증 실패] 표시.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1143000" y="7181916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2100" dirty="0"/>
          </a:p>
        </p:txBody>
      </p:sp>
      <p:sp>
        <p:nvSpPr>
          <p:cNvPr id="26" name="Text 22"/>
          <p:cNvSpPr txBox="1"/>
          <p:nvPr/>
        </p:nvSpPr>
        <p:spPr>
          <a:xfrm>
            <a:off x="1790395" y="7181916"/>
            <a:ext cx="43918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"그래서 GO/NO-GO" 1줄 결론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5분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790395" y="7682244"/>
            <a:ext cx="50776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순풍 X개 · 역풍 Y개 · 중립 Z개 → 진입 의사결정 = GO / HOLD / NO-GO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9639605" y="3905402"/>
            <a:ext cx="7239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DELIVERABLE · 제출물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9639605" y="4170528"/>
            <a:ext cx="7239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A4 1장 PESTEL 표 + 1줄 결론</a:t>
            </a:r>
            <a:endParaRPr lang="en-US" sz="24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639605" y="5309006"/>
            <a:ext cx="7239305" cy="91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639605" y="5604358"/>
            <a:ext cx="7239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RUBRIC · 평가 기준</a:t>
            </a:r>
            <a:endParaRPr lang="en-US" sz="1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65900"/>
              </p:ext>
            </p:extLst>
          </p:nvPr>
        </p:nvGraphicFramePr>
        <p:xfrm>
          <a:off x="9639605" y="5918911"/>
          <a:ext cx="7229246" cy="1772105"/>
        </p:xfrm>
        <a:graphic>
          <a:graphicData uri="http://schemas.openxmlformats.org/drawingml/2006/table">
            <a:tbl>
              <a:tblPr/>
              <a:tblGrid>
                <a:gridCol w="6044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42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42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6변수 모두 1개 이상 데이터로 채움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42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출처가 실제 존재하며 클릭 가능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42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순풍/역풍/중립 분류가 명확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42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결론(GO/HOLD/NO-GO)이 데이터와 일치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 27"/>
          <p:cNvSpPr txBox="1"/>
          <p:nvPr/>
        </p:nvSpPr>
        <p:spPr>
          <a:xfrm>
            <a:off x="9639605" y="4786884"/>
            <a:ext cx="823783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 형식은 슬라이드 11의 "여수 섬-스테이" 케이스와 동일. 출처는 각 </a:t>
            </a:r>
            <a:r>
              <a:rPr lang="en-US" sz="1800" dirty="0" err="1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행마다</a:t>
            </a:r>
            <a:b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(출처명, 연도) 인라인으로 단다.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제출 후 → 휴식 10분 → 단원 2 (Porter Five Forces) 시작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9B7561D5-40C2-4064-ABEC-537570B20C67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14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8" name="Shape 16">
            <a:extLst>
              <a:ext uri="{FF2B5EF4-FFF2-40B4-BE49-F238E27FC236}">
                <a16:creationId xmlns:a16="http://schemas.microsoft.com/office/drawing/2014/main" id="{B5B82A10-84D1-399E-4C1E-9C58782CBB41}"/>
              </a:ext>
            </a:extLst>
          </p:cNvPr>
          <p:cNvSpPr/>
          <p:nvPr/>
        </p:nvSpPr>
        <p:spPr>
          <a:xfrm>
            <a:off x="1245972" y="7041599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B1A720BA-833C-8770-3C34-4C4756038391}"/>
              </a:ext>
            </a:extLst>
          </p:cNvPr>
          <p:cNvSpPr/>
          <p:nvPr/>
        </p:nvSpPr>
        <p:spPr>
          <a:xfrm>
            <a:off x="1299516" y="8223728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39235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1333195"/>
            <a:ext cx="11430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600200"/>
            <a:ext cx="9525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324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BREAK · 10 MIN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857500"/>
            <a:ext cx="16193110" cy="2714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0" i="1" kern="0" spc="-450" dirty="0">
                <a:solidFill>
                  <a:srgbClr val="0E1B2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10:00</a:t>
            </a:r>
            <a:endParaRPr lang="en-US" sz="22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6476695"/>
            <a:ext cx="12382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400" kern="0" spc="-16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잠시 쉬어갑시다.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7810805"/>
            <a:ext cx="125364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 한 잔, 스트레칭, 옆 사람과 한 마디. 다음 시간은 </a:t>
            </a:r>
            <a:r>
              <a:rPr lang="en-US" sz="1600" b="1" dirty="0">
                <a:solidFill>
                  <a:srgbClr val="C58A2E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Porter의 5가지 힘</a:t>
            </a:r>
            <a:r>
              <a:rPr lang="en-US" sz="1600" dirty="0">
                <a:solidFill>
                  <a:srgbClr val="0E1B2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1979년 HBR에 실린 산업 매력도 진단법입니다.</a:t>
            </a:r>
            <a:endParaRPr lang="en-US" sz="16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617202F9-97AE-47CF-AC82-00713BF89E87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15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73688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715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857707" y="1524305"/>
            <a:ext cx="761695" cy="384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79039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28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02 · INDUSTRY DIAGNOSIS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7707" y="2286000"/>
            <a:ext cx="4572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0" i="1" kern="0" spc="-3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02.</a:t>
            </a:r>
            <a:endParaRPr lang="en-US" sz="150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4953305"/>
            <a:ext cx="45720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Porter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Five Forces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6320333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Porter · 1979 · HBR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723930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산업은 매력적인가?" — 5가지 경쟁의 힘으로 산업의 평균 이익률을 결정짓는 구조를 본다.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76695" y="1524305"/>
            <a:ext cx="10478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2 · 80분 학습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76695" y="1904695"/>
            <a:ext cx="10478110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어떤 산업은</a:t>
            </a:r>
            <a:endParaRPr lang="en-US" sz="5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구조적으로 가난한가.</a:t>
            </a:r>
            <a:endParaRPr lang="en-US" sz="5100" dirty="0"/>
          </a:p>
        </p:txBody>
      </p:sp>
      <p:sp>
        <p:nvSpPr>
          <p:cNvPr id="13" name="Text 10"/>
          <p:cNvSpPr txBox="1"/>
          <p:nvPr/>
        </p:nvSpPr>
        <p:spPr>
          <a:xfrm>
            <a:off x="6476695" y="4667098"/>
            <a:ext cx="10287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치킨집은 왜 이익률이 낮게 묶이는가? 게임 회사는 왜 높은 이익률을 내는가? 그것은 사장의 노력 차이가 아니라, 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b="1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산업의</a:t>
            </a: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다르기 때문이다.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76695" y="5488229"/>
            <a:ext cx="10287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Porter의 5가지 힘이 그 구조를 5개 칸으로 분해한다.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76695" y="7592263"/>
            <a:ext cx="1047719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476695" y="7239305"/>
            <a:ext cx="104781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학습 목표 · OBJECTIVES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76695" y="7725698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476695" y="8153705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5가지 힘을 정의하고 각각이 이익을 어떻게 빼앗는지 설명할 수 있다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0071202" y="7725698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10071202" y="8277275"/>
            <a:ext cx="390265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힘을 1-5점 척도로 채점하고 근거 1줄을 단다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4175549" y="7725698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4175549" y="8153705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 해양관광 산업의 5Forces 스코어카드를 작성한다</a:t>
            </a:r>
            <a:endParaRPr lang="en-US" sz="18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83B2A43A-23B6-4354-A0CA-019344DC6023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16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619298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30207" y="4572000"/>
            <a:ext cx="7715707" cy="4345228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2 · Five Forces · 도입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FIVE FORCES · WHY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300" kern="0" spc="-13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"매력 없는 산업에서는</a:t>
            </a:r>
            <a:endParaRPr lang="en-US" sz="4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300" kern="0" spc="-13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최고의 경영자도 평균 이익을 못 낸다."</a:t>
            </a:r>
            <a:endParaRPr lang="en-US" sz="43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619195"/>
            <a:ext cx="16193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Porter(1979·1980)의 문제의식 요약</a:t>
            </a:r>
            <a:r>
              <a:rPr lang="en-US" sz="1900" i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4572000"/>
            <a:ext cx="7905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같은 노력에도 어떤 사업은 돈을 못 버는가?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5162702"/>
            <a:ext cx="79059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Porter는 1979년 HBR 논문 </a:t>
            </a:r>
            <a:r>
              <a:rPr lang="en-US" sz="19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"How Competitive Forces Shape Strategy“</a:t>
            </a:r>
            <a:br>
              <a:rPr lang="en-US" sz="19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9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답을 제시했다. 산업의 평균 이익률을 결정하는 것은 5가지 구조적 힘이다: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5994806"/>
            <a:ext cx="381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1542474" y="6077186"/>
            <a:ext cx="7199987" cy="19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진입자의 위협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진입 장벽이 낮을수록 경쟁은 매년 심해진다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6455664"/>
            <a:ext cx="381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542474" y="6538044"/>
            <a:ext cx="7486193" cy="254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공급자의 협상력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원재료가 소수 공급자에 묶이면 마진은 그쪽으로 빠진다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6917436"/>
            <a:ext cx="381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1542474" y="6999816"/>
            <a:ext cx="7391095" cy="24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구매자의 협상력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손님이 비교·전환이 쉬우면 가격 결정권을 잃는다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" y="7378294"/>
            <a:ext cx="381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1542474" y="7460674"/>
            <a:ext cx="7585047" cy="213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대체재의 위협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다른 방식으로 같은 욕구가 해결되면 시장 자체가 사라진다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1143000" y="7839151"/>
            <a:ext cx="381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900" dirty="0"/>
          </a:p>
        </p:txBody>
      </p:sp>
      <p:sp>
        <p:nvSpPr>
          <p:cNvPr id="23" name="Text 19"/>
          <p:cNvSpPr txBox="1"/>
          <p:nvPr/>
        </p:nvSpPr>
        <p:spPr>
          <a:xfrm>
            <a:off x="1542475" y="7806198"/>
            <a:ext cx="7585046" cy="376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경쟁사 간의 경쟁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동질 경쟁자가 많을수록 가격 전쟁이 일상화된다</a:t>
            </a:r>
            <a:endParaRPr lang="en-US" sz="1900" dirty="0"/>
          </a:p>
        </p:txBody>
      </p:sp>
      <p:sp>
        <p:nvSpPr>
          <p:cNvPr id="24" name="Text 20"/>
          <p:cNvSpPr txBox="1"/>
          <p:nvPr/>
        </p:nvSpPr>
        <p:spPr>
          <a:xfrm>
            <a:off x="9810598" y="4858207"/>
            <a:ext cx="7049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 · 산업별 평균 영업이익률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9810598" y="5152644"/>
            <a:ext cx="7049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산업마다 이익률 구조가 다르다 (예시값)</a:t>
            </a:r>
            <a:endParaRPr lang="en-US" sz="2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865639"/>
              </p:ext>
            </p:extLst>
          </p:nvPr>
        </p:nvGraphicFramePr>
        <p:xfrm>
          <a:off x="9810598" y="5727802"/>
          <a:ext cx="7049110" cy="2776994"/>
        </p:xfrm>
        <a:graphic>
          <a:graphicData uri="http://schemas.openxmlformats.org/drawingml/2006/table">
            <a:tbl>
              <a:tblPr/>
              <a:tblGrid>
                <a:gridCol w="3091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4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326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산업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영업이익률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진입장벽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326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 (모바일/PC)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28.4%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높음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326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반도체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21.6%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매우 높음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326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화장품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11.2%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중간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326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관광 숙박업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7.8%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낮음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326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치킨 외식업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4.1%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F4EFE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매우 낮음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 22"/>
          <p:cNvSpPr txBox="1"/>
          <p:nvPr/>
        </p:nvSpPr>
        <p:spPr>
          <a:xfrm>
            <a:off x="9810598" y="8601178"/>
            <a:ext cx="7049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· 예시값 — 실제 업종별 영업이익률은 한국은행 「기업경영분석」에서 확인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1143000" y="9448412"/>
            <a:ext cx="14970211" cy="384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Porter, M. E. (1979). How Competitive Forces Shape Strategy. HBR 57(2): 137-145.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4C48FEE5-E544-464E-89E4-7A22526DCDA8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17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73969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16021202" cy="630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048195" y="3238805"/>
            <a:ext cx="4190695" cy="1238098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714500" y="5333695"/>
            <a:ext cx="4190695" cy="13331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2382805" y="5333695"/>
            <a:ext cx="4190695" cy="13331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7048195" y="7524598"/>
            <a:ext cx="4190695" cy="1238098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7239305" y="4953305"/>
            <a:ext cx="3810305" cy="2095805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8762695" y="4524451"/>
            <a:ext cx="571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1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3100" dirty="0"/>
          </a:p>
        </p:txBody>
      </p:sp>
      <p:sp>
        <p:nvSpPr>
          <p:cNvPr id="13" name="Text 9"/>
          <p:cNvSpPr txBox="1"/>
          <p:nvPr/>
        </p:nvSpPr>
        <p:spPr>
          <a:xfrm>
            <a:off x="5952744" y="5715000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1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3100" dirty="0"/>
          </a:p>
        </p:txBody>
      </p:sp>
      <p:sp>
        <p:nvSpPr>
          <p:cNvPr id="14" name="Text 10"/>
          <p:cNvSpPr txBox="1"/>
          <p:nvPr/>
        </p:nvSpPr>
        <p:spPr>
          <a:xfrm>
            <a:off x="11048695" y="5715000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1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</a:t>
            </a:r>
            <a:endParaRPr lang="en-US" sz="3100" dirty="0"/>
          </a:p>
        </p:txBody>
      </p:sp>
      <p:sp>
        <p:nvSpPr>
          <p:cNvPr id="15" name="Text 11"/>
          <p:cNvSpPr txBox="1"/>
          <p:nvPr/>
        </p:nvSpPr>
        <p:spPr>
          <a:xfrm>
            <a:off x="8762695" y="7048195"/>
            <a:ext cx="571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1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↑</a:t>
            </a:r>
            <a:endParaRPr lang="en-US" sz="31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2 · Five Forces · 다이어그램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123809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5 FORCES · DIAGRAM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" y="1638605"/>
            <a:ext cx="142875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5개 화살표가 가운데를 향한다.</a:t>
            </a:r>
            <a:endParaRPr lang="en-US" sz="4000" dirty="0"/>
          </a:p>
        </p:txBody>
      </p:sp>
      <p:sp>
        <p:nvSpPr>
          <p:cNvPr id="20" name="Text 16"/>
          <p:cNvSpPr txBox="1"/>
          <p:nvPr/>
        </p:nvSpPr>
        <p:spPr>
          <a:xfrm>
            <a:off x="7239305" y="3409798"/>
            <a:ext cx="3810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FORCE 01 · ABOVE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239305" y="3651241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신규 진입자의 위협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7239305" y="396396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장벽 · 규모의 경제 · 자본 요건 · 규제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904695" y="5505602"/>
            <a:ext cx="3810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FORCE 02 · LEFT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1904695" y="5705856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공급자 협상력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921171" y="6182425"/>
            <a:ext cx="4190695" cy="22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공급자 집중도 · 전환비용 · </a:t>
            </a:r>
            <a:r>
              <a:rPr lang="en-US" sz="1600" dirty="0" err="1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원재료</a:t>
            </a:r>
            <a:r>
              <a:rPr lang="en-US" sz="16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6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 err="1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</a:t>
            </a:r>
            <a:r>
              <a:rPr lang="en-US" sz="16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가능성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2573000" y="5505602"/>
            <a:ext cx="3810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FORCE 03 · RIGHT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2573000" y="5779998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구매자 협상력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12573000" y="609180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 집중도 · 정보 투명성 · 가격 민감도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7239305" y="7696505"/>
            <a:ext cx="3810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FORCE 04 · BELOW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7239305" y="7895844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대체재의 위협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7239305" y="8381675"/>
            <a:ext cx="3810305" cy="15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대체재 가격-성능 · 전환비용 · 구매자의 대체 성향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7429500" y="5143500"/>
            <a:ext cx="3429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FORCE 05 · CENTER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7429499" y="5362956"/>
            <a:ext cx="49533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kern="0" spc="-63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기존</a:t>
            </a:r>
            <a:r>
              <a:rPr lang="en-US" sz="2100" b="1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100" b="1" kern="0" spc="-63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경쟁사</a:t>
            </a:r>
            <a:r>
              <a:rPr lang="en-US" sz="2100" b="1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ko-KR" altLang="en-US" sz="2100" b="1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간</a:t>
            </a:r>
            <a:r>
              <a:rPr lang="en-US" sz="2100" b="1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의 경쟁</a:t>
            </a:r>
            <a:endParaRPr lang="en-US" sz="2100" dirty="0"/>
          </a:p>
        </p:txBody>
      </p:sp>
      <p:sp>
        <p:nvSpPr>
          <p:cNvPr id="34" name="Text 30"/>
          <p:cNvSpPr txBox="1"/>
          <p:nvPr/>
        </p:nvSpPr>
        <p:spPr>
          <a:xfrm>
            <a:off x="7445976" y="6100926"/>
            <a:ext cx="4539668" cy="22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수·다양성 · 산업 성장률 · 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고정비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비중 · 차별화 정도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143000" y="9620402"/>
            <a:ext cx="11430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Porter (1979) HBR — Five Forces Model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13334695" y="9620402"/>
            <a:ext cx="3810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· 그리지만 말고 점수를 매겨라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D84BD3CB-68D4-4DAE-A962-E0795A24993E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18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21099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619195"/>
            <a:ext cx="16021202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2 · 5Forces · 점수 매기기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ANTI-PATTERN · 그림은 그렸는데 점수가 없다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5Forces는 그리지 말고 채점한다.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2723998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컨설팅 자료의 가장 흔한 오류 — 5각형 다이어그램만 그리고 끝낸다. </a:t>
            </a:r>
            <a:r>
              <a:rPr lang="en-US" sz="1800" b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힘은 1~5점으로 채점하고 근거 1줄</a:t>
            </a:r>
            <a: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단다.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012708"/>
              </p:ext>
            </p:extLst>
          </p:nvPr>
        </p:nvGraphicFramePr>
        <p:xfrm>
          <a:off x="1143000" y="3619195"/>
          <a:ext cx="15993772" cy="5334612"/>
        </p:xfrm>
        <a:graphic>
          <a:graphicData uri="http://schemas.openxmlformats.org/drawingml/2006/table">
            <a:tbl>
              <a:tblPr/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7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1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1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24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942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8910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점수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진입자 (Force 01)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공급자 (02)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구매자 (03)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대체재 (04)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 (05)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10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50" b="1" dirty="0">
                          <a:solidFill>
                            <a:srgbClr val="1C5A7A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1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매우 약함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진입에 100억+ 필요, 인허가 까다로움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공급자 다수, 표준화 원재료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분산, 비교 어려움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대체 방식 없음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2-3개 회사가 시장 분점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10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50" b="1" dirty="0">
                          <a:solidFill>
                            <a:srgbClr val="1C5A7A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2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 자본·기술 장벽 있음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공급자 5-10개, 대체 가능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일부 협상력 보유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대체재 있으나 불편/고가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5개 미만, 차별화 가능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10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5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3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진입 가능하나 시간 소요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공급자 중간 집중도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가격 비교 가능, 전환비용 있음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대체재 존재, 일부 고객 이동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10개 내외, 일부 가격 경쟁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10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50" b="1" dirty="0">
                          <a:solidFill>
                            <a:srgbClr val="A14242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4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진입 장벽 낮음, 매년 신규 다수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공급자 소수, 마진 가져감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정보·비교 쉬움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대체재 가성비 우수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동질 경쟁, 가격 인하 압력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10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50" b="1" dirty="0">
                          <a:solidFill>
                            <a:srgbClr val="A14242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5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매우 강함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누구나 1주일에 시작 가능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독점 공급자, 가격 결정권 보유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대형 구매자 1-2곳 의존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대체재가 빠르게 시장 잠식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레드오션, 출혈 경쟁 일상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 OF AN INDUSTRY = SUM ÷ 5 (1.0-5.0) — </a:t>
            </a:r>
            <a:r>
              <a:rPr lang="en-US" sz="1500" b="1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미만 = Blue Ocean · 4.0 초과 = Red Ocean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32581D24-3D9B-438B-A76B-C06C9719A548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19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244961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10782605" cy="630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2191695" y="2857500"/>
            <a:ext cx="4953305" cy="62865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400507"/>
            <a:ext cx="7620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2 · 5Forces · 전남 케이스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SCORECARD · 여수 섬-스테이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전남 해양관광 숙박업의 5Forces 스코어카드.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3124505"/>
            <a:ext cx="10001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FIVE FORCES SCORECARD · 전남 도서 워케이션 숙박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524305" y="4515307"/>
            <a:ext cx="10001707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1524305" y="3543300"/>
            <a:ext cx="89062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신규 진입자의 위협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0577779" y="3514954"/>
            <a:ext cx="680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A1424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 / 5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1297412" y="3638399"/>
            <a:ext cx="45798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강함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524305" y="4242002"/>
            <a:ext cx="10001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·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빈집 활용 어촌체험 보조금으로 진입 자본 50% 절감, 농어촌민박업은 등록만으로 시작 가능. 2023-24년 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농어촌민박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등록 +18%.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1524305" y="5696712"/>
            <a:ext cx="10001707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1524305" y="4724705"/>
            <a:ext cx="89062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공급자의 협상력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0576865" y="4695444"/>
            <a:ext cx="680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1C5A7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 / 5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11297412" y="4819802"/>
            <a:ext cx="45798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C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약함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524305" y="5423407"/>
            <a:ext cx="10001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·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침구·세제 등 공급자 다수, OTA(에어비앤비·야놀자) 외 채널 선택권 있음. 다만 OTA 수수료 12-17% 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협상력은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있음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1524305" y="6878117"/>
            <a:ext cx="10001707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1524305" y="5905195"/>
            <a:ext cx="89062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구매자의 협상력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10577779" y="5876849"/>
            <a:ext cx="680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A1424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 / 5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11297412" y="6001208"/>
            <a:ext cx="392080" cy="180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강함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524305" y="6505956"/>
            <a:ext cx="10001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·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워케이션 고객은 OTA에서 30개 옵션을 비교 후 결정. 가격 민감도 높고 리뷰가 즉시 다음 구매자에 영향.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1524305" y="8058607"/>
            <a:ext cx="10001707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1524305" y="7086600"/>
            <a:ext cx="89062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대체재의 위협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0577779" y="7058254"/>
            <a:ext cx="680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 / 5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11297412" y="7181698"/>
            <a:ext cx="392080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보통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1524305" y="7686446"/>
            <a:ext cx="10001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·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대체 = 강원·제주 워케이션, 동남아 한달살이, 도시 근교 펜션. 가격대는 비슷하나 "섬" 경험은 차별.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1524305" y="8268005"/>
            <a:ext cx="89062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기존 경쟁사 간의 경쟁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10577779" y="8238744"/>
            <a:ext cx="680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A1424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 / 5</a:t>
            </a:r>
            <a:endParaRPr lang="en-US" sz="2200" dirty="0"/>
          </a:p>
        </p:txBody>
      </p:sp>
      <p:sp>
        <p:nvSpPr>
          <p:cNvPr id="35" name="Text 31"/>
          <p:cNvSpPr txBox="1"/>
          <p:nvPr/>
        </p:nvSpPr>
        <p:spPr>
          <a:xfrm>
            <a:off x="11297412" y="8363102"/>
            <a:ext cx="3920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강함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1524305" y="8867851"/>
            <a:ext cx="10001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·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여수 인근 농어촌민박 412개(2024), 동일 가격대 게스트하우스 80개+. 차별화 없으면 객실당 가동률 30% 이하.</a:t>
            </a:r>
            <a:endParaRPr lang="en-US" sz="16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4"/>
          <a:srcRect t="-55" b="-55"/>
          <a:stretch/>
        </p:blipFill>
        <p:spPr>
          <a:xfrm>
            <a:off x="1524305" y="3933749"/>
            <a:ext cx="10001707" cy="133502"/>
          </a:xfrm>
          <a:prstGeom prst="rect">
            <a:avLst/>
          </a:prstGeom>
        </p:spPr>
      </p:pic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rcRect t="-57" b="-57"/>
          <a:stretch/>
        </p:blipFill>
        <p:spPr>
          <a:xfrm>
            <a:off x="1524305" y="3933749"/>
            <a:ext cx="8001000" cy="133502"/>
          </a:xfrm>
          <a:prstGeom prst="rect">
            <a:avLst/>
          </a:prstGeom>
        </p:spPr>
      </p:pic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/>
          <a:srcRect t="-55" b="-55"/>
          <a:stretch/>
        </p:blipFill>
        <p:spPr>
          <a:xfrm>
            <a:off x="1524305" y="5115154"/>
            <a:ext cx="10001707" cy="133502"/>
          </a:xfrm>
          <a:prstGeom prst="rect">
            <a:avLst/>
          </a:prstGeom>
        </p:spPr>
      </p:pic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6"/>
          <a:srcRect t="-57" b="-57"/>
          <a:stretch/>
        </p:blipFill>
        <p:spPr>
          <a:xfrm>
            <a:off x="1524305" y="5115154"/>
            <a:ext cx="4000500" cy="133502"/>
          </a:xfrm>
          <a:prstGeom prst="rect">
            <a:avLst/>
          </a:prstGeom>
        </p:spPr>
      </p:pic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4"/>
          <a:srcRect t="-55" b="-55"/>
          <a:stretch/>
        </p:blipFill>
        <p:spPr>
          <a:xfrm>
            <a:off x="1524305" y="6295644"/>
            <a:ext cx="10001707" cy="133502"/>
          </a:xfrm>
          <a:prstGeom prst="rect">
            <a:avLst/>
          </a:prstGeom>
        </p:spPr>
      </p:pic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5"/>
          <a:srcRect t="-57" b="-57"/>
          <a:stretch/>
        </p:blipFill>
        <p:spPr>
          <a:xfrm>
            <a:off x="1524305" y="6295644"/>
            <a:ext cx="8001000" cy="133502"/>
          </a:xfrm>
          <a:prstGeom prst="rect">
            <a:avLst/>
          </a:prstGeom>
        </p:spPr>
      </p:pic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4"/>
          <a:srcRect t="-55" b="-55"/>
          <a:stretch/>
        </p:blipFill>
        <p:spPr>
          <a:xfrm>
            <a:off x="1524305" y="7477049"/>
            <a:ext cx="10001707" cy="133502"/>
          </a:xfrm>
          <a:prstGeom prst="rect">
            <a:avLst/>
          </a:prstGeom>
        </p:spPr>
      </p:pic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7"/>
          <a:srcRect t="-53" b="-53"/>
          <a:stretch/>
        </p:blipFill>
        <p:spPr>
          <a:xfrm>
            <a:off x="1524305" y="7477049"/>
            <a:ext cx="6001207" cy="133502"/>
          </a:xfrm>
          <a:prstGeom prst="rect">
            <a:avLst/>
          </a:prstGeom>
        </p:spPr>
      </p:pic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4"/>
          <a:srcRect t="-55" b="-55"/>
          <a:stretch/>
        </p:blipFill>
        <p:spPr>
          <a:xfrm>
            <a:off x="1524305" y="8658454"/>
            <a:ext cx="10001707" cy="133502"/>
          </a:xfrm>
          <a:prstGeom prst="rect">
            <a:avLst/>
          </a:prstGeom>
        </p:spPr>
      </p:pic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5"/>
          <a:srcRect t="-57" b="-57"/>
          <a:stretch/>
        </p:blipFill>
        <p:spPr>
          <a:xfrm>
            <a:off x="1524305" y="8658454"/>
            <a:ext cx="8001000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12477902" y="3238805"/>
            <a:ext cx="4381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INDUSTRY SCORE</a:t>
            </a:r>
            <a:endParaRPr lang="en-US" sz="1500" dirty="0"/>
          </a:p>
        </p:txBody>
      </p:sp>
      <p:sp>
        <p:nvSpPr>
          <p:cNvPr id="48" name="Text 34"/>
          <p:cNvSpPr txBox="1"/>
          <p:nvPr/>
        </p:nvSpPr>
        <p:spPr>
          <a:xfrm>
            <a:off x="12477902" y="3514954"/>
            <a:ext cx="43818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0" kern="0" spc="-270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3.4</a:t>
            </a:r>
            <a:endParaRPr lang="en-US" sz="9000" dirty="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8"/>
          <a:srcRect l="-2089" r="-2089"/>
          <a:stretch/>
        </p:blipFill>
        <p:spPr>
          <a:xfrm>
            <a:off x="12477902" y="5210251"/>
            <a:ext cx="4381805" cy="9144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12477902" y="5447995"/>
            <a:ext cx="4381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 WHAT</a:t>
            </a:r>
            <a:endParaRPr lang="en-US" sz="1500" dirty="0"/>
          </a:p>
        </p:txBody>
      </p:sp>
      <p:sp>
        <p:nvSpPr>
          <p:cNvPr id="51" name="Text 36"/>
          <p:cNvSpPr txBox="1"/>
          <p:nvPr/>
        </p:nvSpPr>
        <p:spPr>
          <a:xfrm>
            <a:off x="12477902" y="5949296"/>
            <a:ext cx="4381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가능하지만 </a:t>
            </a: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평범한 숙박업으로는 안 된다.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4점인 3개 힘(진입자·구매자·경쟁) 모두를 차별화로 무력화해야 함.</a:t>
            </a:r>
            <a:endParaRPr lang="en-US" sz="1800" dirty="0"/>
          </a:p>
        </p:txBody>
      </p:sp>
      <p:sp>
        <p:nvSpPr>
          <p:cNvPr id="52" name="Text 37"/>
          <p:cNvSpPr txBox="1"/>
          <p:nvPr/>
        </p:nvSpPr>
        <p:spPr>
          <a:xfrm>
            <a:off x="12477902" y="4733849"/>
            <a:ext cx="4381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5.0 — 매력도 낮음 (Red-leaning)</a:t>
            </a:r>
            <a:endParaRPr lang="en-US" sz="1900" dirty="0"/>
          </a:p>
        </p:txBody>
      </p:sp>
      <p:sp>
        <p:nvSpPr>
          <p:cNvPr id="53" name="Shape 38"/>
          <p:cNvSpPr/>
          <p:nvPr/>
        </p:nvSpPr>
        <p:spPr>
          <a:xfrm>
            <a:off x="12477902" y="6822338"/>
            <a:ext cx="4381805" cy="9144"/>
          </a:xfrm>
          <a:prstGeom prst="rect">
            <a:avLst/>
          </a:prstGeom>
          <a:solidFill>
            <a:srgbClr val="F4EFE6">
              <a:alpha val="18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54" name="Text 39"/>
          <p:cNvSpPr txBox="1"/>
          <p:nvPr/>
        </p:nvSpPr>
        <p:spPr>
          <a:xfrm>
            <a:off x="12381890" y="6865686"/>
            <a:ext cx="4695148" cy="7830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숙박 X, "어촌체험 워케이션 패키지" 묶음</a:t>
            </a:r>
            <a:endParaRPr lang="en-US" sz="1700" dirty="0"/>
          </a:p>
        </p:txBody>
      </p:sp>
      <p:sp>
        <p:nvSpPr>
          <p:cNvPr id="55" name="Shape 40"/>
          <p:cNvSpPr/>
          <p:nvPr/>
        </p:nvSpPr>
        <p:spPr>
          <a:xfrm>
            <a:off x="12477902" y="7226503"/>
            <a:ext cx="4381805" cy="9144"/>
          </a:xfrm>
          <a:prstGeom prst="rect">
            <a:avLst/>
          </a:prstGeom>
          <a:solidFill>
            <a:srgbClr val="F4EFE6">
              <a:alpha val="18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56" name="Text 41"/>
          <p:cNvSpPr txBox="1"/>
          <p:nvPr/>
        </p:nvSpPr>
        <p:spPr>
          <a:xfrm>
            <a:off x="12387284" y="7064898"/>
            <a:ext cx="43818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OTA 의존 X, 자체 직판·재구매 멤버십 구축</a:t>
            </a:r>
            <a:endParaRPr lang="en-US" sz="1700" dirty="0"/>
          </a:p>
        </p:txBody>
      </p:sp>
      <p:sp>
        <p:nvSpPr>
          <p:cNvPr id="57" name="Text 42"/>
          <p:cNvSpPr txBox="1"/>
          <p:nvPr/>
        </p:nvSpPr>
        <p:spPr>
          <a:xfrm>
            <a:off x="12477902" y="7469977"/>
            <a:ext cx="4381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"여수의 특정 섬 1곳"으로 지역 독점</a:t>
            </a:r>
            <a:endParaRPr lang="en-US" sz="1700" dirty="0"/>
          </a:p>
        </p:txBody>
      </p:sp>
      <p:sp>
        <p:nvSpPr>
          <p:cNvPr id="58" name="Text 43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· 가상 사례 · 수치는 학습용 예시값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32349CFF-0ED9-4CE8-B4C4-8128D0382431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20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5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1190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1419" y="3176168"/>
            <a:ext cx="7830007" cy="582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334195" y="3143707"/>
            <a:ext cx="7830007" cy="582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401" r="-401"/>
          <a:stretch/>
        </p:blipFill>
        <p:spPr>
          <a:xfrm>
            <a:off x="1143000" y="3143707"/>
            <a:ext cx="57607" cy="581009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rcRect l="-401" r="-401"/>
          <a:stretch/>
        </p:blipFill>
        <p:spPr>
          <a:xfrm>
            <a:off x="9334195" y="3143707"/>
            <a:ext cx="57607" cy="581009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2 · 5Forces · 협상력 심화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DEEP DIVE · 구매자 &amp; 공급자의 협상력</a:t>
            </a:r>
            <a:endParaRPr lang="en-US" sz="19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"누가 마진을 가져가는가."</a:t>
            </a:r>
            <a:endParaRPr lang="en-US" sz="4000" dirty="0"/>
          </a:p>
        </p:txBody>
      </p:sp>
      <p:sp>
        <p:nvSpPr>
          <p:cNvPr id="14" name="Text 8"/>
          <p:cNvSpPr txBox="1"/>
          <p:nvPr/>
        </p:nvSpPr>
        <p:spPr>
          <a:xfrm>
            <a:off x="1524305" y="3429000"/>
            <a:ext cx="7239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FORCE 03 · BUYER POWER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524305" y="3705149"/>
            <a:ext cx="7239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kern="0" spc="-8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구매자 협상력 — 강해지는 5가지 조건</a:t>
            </a:r>
            <a:endParaRPr lang="en-US" sz="2800" dirty="0"/>
          </a:p>
        </p:txBody>
      </p:sp>
      <p:sp>
        <p:nvSpPr>
          <p:cNvPr id="16" name="Shape 10"/>
          <p:cNvSpPr/>
          <p:nvPr/>
        </p:nvSpPr>
        <p:spPr>
          <a:xfrm>
            <a:off x="1524305" y="4816145"/>
            <a:ext cx="72393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Text 11"/>
          <p:cNvSpPr txBox="1"/>
          <p:nvPr/>
        </p:nvSpPr>
        <p:spPr>
          <a:xfrm>
            <a:off x="1441925" y="4368089"/>
            <a:ext cx="7239305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구매자가 소수 대형(우리 매출의 30%+ 차지)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1524305" y="5267858"/>
            <a:ext cx="72393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1441925" y="4819802"/>
            <a:ext cx="7239305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우리 제품이 표준화·동질 (= 대체 가능)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1524305" y="5719572"/>
            <a:ext cx="72393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1441925" y="5271516"/>
            <a:ext cx="7239305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구매자의 전환비용이 거의 0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1524305" y="6170371"/>
            <a:ext cx="72393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1441925" y="5722315"/>
            <a:ext cx="7239305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구매자가 가격·품질 정보를 다 안다 (OTA·리뷰)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1524305" y="6174029"/>
            <a:ext cx="7239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구매자의 후방통합 위협 (직접 만들기)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1524305" y="6845198"/>
            <a:ext cx="7239305" cy="1170218"/>
          </a:xfrm>
          <a:prstGeom prst="rect">
            <a:avLst/>
          </a:prstGeom>
          <a:solidFill>
            <a:srgbClr val="FAF7EE"/>
          </a:solidFill>
          <a:ln/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1524305" y="6845198"/>
            <a:ext cx="57606" cy="1213834"/>
          </a:xfrm>
          <a:prstGeom prst="rect">
            <a:avLst/>
          </a:prstGeom>
          <a:solidFill>
            <a:srgbClr val="C58A2E"/>
          </a:solidFill>
          <a:ln w="12700">
            <a:solidFill>
              <a:srgbClr val="C58A2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1733702" y="7016191"/>
            <a:ext cx="6858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COUNTER-PLAY · 협상력 약화 전략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1733702" y="7378420"/>
            <a:ext cx="6858000" cy="39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고객을 분산 · 차별화 강화 · 멤버십·구독으로 전환비용 만들기 · 직판 채널 구축 (OTA 의존 ↓)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715500" y="3429000"/>
            <a:ext cx="7239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FORCE 02 · SUPPLIER POWER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9715500" y="3705149"/>
            <a:ext cx="7239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kern="0" spc="-8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공급자 협상력 — 강해지는 5가지 조건</a:t>
            </a:r>
            <a:endParaRPr lang="en-US" sz="2800" dirty="0"/>
          </a:p>
        </p:txBody>
      </p:sp>
      <p:sp>
        <p:nvSpPr>
          <p:cNvPr id="31" name="Shape 25"/>
          <p:cNvSpPr/>
          <p:nvPr/>
        </p:nvSpPr>
        <p:spPr>
          <a:xfrm>
            <a:off x="9715500" y="4816145"/>
            <a:ext cx="72393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9641358" y="4368089"/>
            <a:ext cx="7239305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공급자 수가 적고 집중도가 높다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715500" y="5267858"/>
            <a:ext cx="72393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9641358" y="4819802"/>
            <a:ext cx="7239305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공급 제품이 유일하거나 대체 어렵다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9715500" y="5719572"/>
            <a:ext cx="72393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6" name="Text 30"/>
          <p:cNvSpPr txBox="1"/>
          <p:nvPr/>
        </p:nvSpPr>
        <p:spPr>
          <a:xfrm>
            <a:off x="9641358" y="5271516"/>
            <a:ext cx="7239305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우리 산업이 공급자 매출의 작은 비중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9715500" y="6170371"/>
            <a:ext cx="72393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8" name="Text 32"/>
          <p:cNvSpPr txBox="1"/>
          <p:nvPr/>
        </p:nvSpPr>
        <p:spPr>
          <a:xfrm>
            <a:off x="9641358" y="5722315"/>
            <a:ext cx="7239305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우리의 전환비용이 크다 (커스텀·통합)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9715500" y="6174029"/>
            <a:ext cx="7239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공급자의 전방통합 위협 (직접 판매)</a:t>
            </a:r>
            <a:endParaRPr lang="en-US" sz="1800" dirty="0"/>
          </a:p>
        </p:txBody>
      </p:sp>
      <p:sp>
        <p:nvSpPr>
          <p:cNvPr id="40" name="Shape 34"/>
          <p:cNvSpPr/>
          <p:nvPr/>
        </p:nvSpPr>
        <p:spPr>
          <a:xfrm>
            <a:off x="9715500" y="6845198"/>
            <a:ext cx="7239305" cy="1107338"/>
          </a:xfrm>
          <a:prstGeom prst="rect">
            <a:avLst/>
          </a:prstGeom>
          <a:solidFill>
            <a:srgbClr val="FAF7EE"/>
          </a:solidFill>
          <a:ln/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1" name="Shape 35"/>
          <p:cNvSpPr/>
          <p:nvPr/>
        </p:nvSpPr>
        <p:spPr>
          <a:xfrm>
            <a:off x="9715500" y="6845197"/>
            <a:ext cx="57607" cy="1213855"/>
          </a:xfrm>
          <a:prstGeom prst="rect">
            <a:avLst/>
          </a:prstGeom>
          <a:solidFill>
            <a:srgbClr val="C58A2E"/>
          </a:solidFill>
          <a:ln w="12700">
            <a:solidFill>
              <a:srgbClr val="C58A2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2" name="Text 36"/>
          <p:cNvSpPr txBox="1"/>
          <p:nvPr/>
        </p:nvSpPr>
        <p:spPr>
          <a:xfrm>
            <a:off x="9924898" y="7016191"/>
            <a:ext cx="6858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COUNTER-PLAY · 협상력 약화 전략</a:t>
            </a:r>
            <a:endParaRPr lang="en-US" sz="1500" dirty="0"/>
          </a:p>
        </p:txBody>
      </p:sp>
      <p:sp>
        <p:nvSpPr>
          <p:cNvPr id="43" name="Text 37"/>
          <p:cNvSpPr txBox="1"/>
          <p:nvPr/>
        </p:nvSpPr>
        <p:spPr>
          <a:xfrm>
            <a:off x="9924898" y="7378420"/>
            <a:ext cx="728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 소싱 · 표준 원재료로 전환 · 공급자와 장기 계약 · 직접 생산(후방통합) 옵션 · 협동조합 공동구매</a:t>
            </a:r>
            <a:endParaRPr lang="en-US" sz="1700" dirty="0"/>
          </a:p>
        </p:txBody>
      </p:sp>
      <p:sp>
        <p:nvSpPr>
          <p:cNvPr id="44" name="Text 38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Porter (1980). Competitive Strategy. Free Press, ch. 1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6E58F100-00A8-4E9D-A95C-92F24375A884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21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421625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5257800" cy="582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524244" y="3143707"/>
            <a:ext cx="5257800" cy="582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906402" y="3143707"/>
            <a:ext cx="5238598" cy="5810098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401" r="-401"/>
          <a:stretch/>
        </p:blipFill>
        <p:spPr>
          <a:xfrm>
            <a:off x="1143000" y="3143707"/>
            <a:ext cx="57607" cy="581009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401" r="-401"/>
          <a:stretch/>
        </p:blipFill>
        <p:spPr>
          <a:xfrm>
            <a:off x="6524244" y="3143707"/>
            <a:ext cx="57607" cy="5810098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l="-401" r="-401"/>
          <a:stretch/>
        </p:blipFill>
        <p:spPr>
          <a:xfrm>
            <a:off x="11906402" y="3143707"/>
            <a:ext cx="57607" cy="581009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2 · 5Forces · 경쟁과 대체재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DEEP DIVE · 진입자 · 대체재 · 경쟁</a:t>
            </a:r>
            <a:endParaRPr lang="en-US" sz="19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"누가 들어오고, 누가 대체하고, 누가 지금 싸우는가."</a:t>
            </a:r>
            <a:endParaRPr lang="en-US" sz="4000" dirty="0"/>
          </a:p>
        </p:txBody>
      </p:sp>
      <p:sp>
        <p:nvSpPr>
          <p:cNvPr id="16" name="Text 9"/>
          <p:cNvSpPr txBox="1"/>
          <p:nvPr/>
        </p:nvSpPr>
        <p:spPr>
          <a:xfrm>
            <a:off x="1476756" y="3429000"/>
            <a:ext cx="4763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FORCE 01 · ENTRY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476756" y="3666744"/>
            <a:ext cx="4763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신규 진입자</a:t>
            </a:r>
            <a:endParaRPr lang="en-US" sz="2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의 위협</a:t>
            </a:r>
            <a:endParaRPr lang="en-US" sz="2200" dirty="0"/>
          </a:p>
        </p:txBody>
      </p:sp>
      <p:sp>
        <p:nvSpPr>
          <p:cNvPr id="18" name="Text 11"/>
          <p:cNvSpPr txBox="1"/>
          <p:nvPr/>
        </p:nvSpPr>
        <p:spPr>
          <a:xfrm>
            <a:off x="1476756" y="4791456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규모의 경제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1476756" y="5017313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제품 차별화 (브랜드)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76756" y="5244084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자본 요건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1476756" y="547085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전환비용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476756" y="5697626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유통채널 접근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476756" y="5924398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비용 우위 (학습효과·특허·입지)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1476756" y="6151169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정부 정책 (인허가·면허)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1476756" y="6587338"/>
            <a:ext cx="4762195" cy="1040900"/>
          </a:xfrm>
          <a:prstGeom prst="rect">
            <a:avLst/>
          </a:prstGeom>
          <a:solidFill>
            <a:srgbClr val="FAF7EE"/>
          </a:solidFill>
          <a:ln/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6" name="Shape 19"/>
          <p:cNvSpPr/>
          <p:nvPr/>
        </p:nvSpPr>
        <p:spPr>
          <a:xfrm>
            <a:off x="1476755" y="6587338"/>
            <a:ext cx="45719" cy="950284"/>
          </a:xfrm>
          <a:prstGeom prst="rect">
            <a:avLst/>
          </a:prstGeom>
          <a:solidFill>
            <a:srgbClr val="C58A2E"/>
          </a:solidFill>
          <a:ln w="12700">
            <a:solidFill>
              <a:srgbClr val="C58A2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7" name="Text 20"/>
          <p:cNvSpPr txBox="1"/>
          <p:nvPr/>
        </p:nvSpPr>
        <p:spPr>
          <a:xfrm>
            <a:off x="1638605" y="6720840"/>
            <a:ext cx="4467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전남 SIDE</a:t>
            </a:r>
            <a:endParaRPr lang="en-US" sz="800" dirty="0"/>
          </a:p>
        </p:txBody>
      </p:sp>
      <p:sp>
        <p:nvSpPr>
          <p:cNvPr id="28" name="Text 21"/>
          <p:cNvSpPr txBox="1"/>
          <p:nvPr/>
        </p:nvSpPr>
        <p:spPr>
          <a:xfrm>
            <a:off x="1638605" y="6930238"/>
            <a:ext cx="44677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농어촌민박업 · 음식점업 · 워케이션 — 진입장벽 매우 낮음. 1개월 안에 누구나 진입 가능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1476756" y="4562856"/>
            <a:ext cx="4763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진입 장벽의 7가지 원천</a:t>
            </a:r>
            <a:endParaRPr lang="en-US" sz="800" dirty="0"/>
          </a:p>
        </p:txBody>
      </p:sp>
      <p:sp>
        <p:nvSpPr>
          <p:cNvPr id="30" name="Text 23"/>
          <p:cNvSpPr txBox="1"/>
          <p:nvPr/>
        </p:nvSpPr>
        <p:spPr>
          <a:xfrm>
            <a:off x="6858000" y="3429000"/>
            <a:ext cx="4763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FORCE 04 · SUBSTITUTES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6858000" y="3666744"/>
            <a:ext cx="4763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대체재의</a:t>
            </a:r>
            <a:endParaRPr lang="en-US" sz="2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위협</a:t>
            </a:r>
            <a:endParaRPr lang="en-US" sz="2200" dirty="0"/>
          </a:p>
        </p:txBody>
      </p:sp>
      <p:sp>
        <p:nvSpPr>
          <p:cNvPr id="32" name="Text 25"/>
          <p:cNvSpPr txBox="1"/>
          <p:nvPr/>
        </p:nvSpPr>
        <p:spPr>
          <a:xfrm>
            <a:off x="6858000" y="4791456"/>
            <a:ext cx="4763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"같은 욕구"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다른 방식으로 푸는 것?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6858000" y="5125212"/>
            <a:ext cx="4763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"같은 예산"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다른 곳으로 흐를 가능성?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6858000" y="5459882"/>
            <a:ext cx="4763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"같은 시간"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다른 곳에 쓰일 가능성?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6858000" y="6213348"/>
            <a:ext cx="53913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카테고리만 본다. 호텔 → 다른 호텔만. 진짜 대체 = 캠핑·차박·해외여행·집콕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6858000" y="6590995"/>
            <a:ext cx="4762195" cy="843992"/>
          </a:xfrm>
          <a:prstGeom prst="rect">
            <a:avLst/>
          </a:prstGeom>
          <a:solidFill>
            <a:srgbClr val="FAF7EE"/>
          </a:solidFill>
          <a:ln/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6857999" y="6590995"/>
            <a:ext cx="45719" cy="843992"/>
          </a:xfrm>
          <a:prstGeom prst="rect">
            <a:avLst/>
          </a:prstGeom>
          <a:solidFill>
            <a:srgbClr val="C58A2E"/>
          </a:solidFill>
          <a:ln w="12700">
            <a:solidFill>
              <a:srgbClr val="C58A2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8" name="Text 31"/>
          <p:cNvSpPr txBox="1"/>
          <p:nvPr/>
        </p:nvSpPr>
        <p:spPr>
          <a:xfrm>
            <a:off x="7019849" y="6724498"/>
            <a:ext cx="4467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전남 SIDE · 섬-스테이</a:t>
            </a:r>
            <a:endParaRPr lang="en-US" sz="800" dirty="0"/>
          </a:p>
        </p:txBody>
      </p:sp>
      <p:sp>
        <p:nvSpPr>
          <p:cNvPr id="39" name="Text 32"/>
          <p:cNvSpPr txBox="1"/>
          <p:nvPr/>
        </p:nvSpPr>
        <p:spPr>
          <a:xfrm>
            <a:off x="7019849" y="6933894"/>
            <a:ext cx="5436108" cy="3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대체재 = 강원 워케이션 · 제주 한달살이 · </a:t>
            </a:r>
            <a:r>
              <a:rPr lang="en-US" sz="15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동남아</a:t>
            </a:r>
            <a:b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(발리·다낭) · 캠핑카 · 회사 재택근무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6858000" y="4562856"/>
            <a:ext cx="4763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대체재를 찾는 3가지 질문</a:t>
            </a:r>
            <a:endParaRPr lang="en-US" sz="800" dirty="0"/>
          </a:p>
        </p:txBody>
      </p:sp>
      <p:sp>
        <p:nvSpPr>
          <p:cNvPr id="41" name="Text 34"/>
          <p:cNvSpPr txBox="1"/>
          <p:nvPr/>
        </p:nvSpPr>
        <p:spPr>
          <a:xfrm>
            <a:off x="6858000" y="6003036"/>
            <a:ext cx="4763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전형적 함정</a:t>
            </a:r>
            <a:endParaRPr lang="en-US" sz="800" dirty="0"/>
          </a:p>
        </p:txBody>
      </p:sp>
      <p:sp>
        <p:nvSpPr>
          <p:cNvPr id="42" name="Text 35"/>
          <p:cNvSpPr txBox="1"/>
          <p:nvPr/>
        </p:nvSpPr>
        <p:spPr>
          <a:xfrm>
            <a:off x="12239244" y="3429000"/>
            <a:ext cx="4763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FORCE 05 · RIVALRY</a:t>
            </a:r>
            <a:endParaRPr lang="en-US" sz="1500" dirty="0"/>
          </a:p>
        </p:txBody>
      </p:sp>
      <p:sp>
        <p:nvSpPr>
          <p:cNvPr id="43" name="Text 36"/>
          <p:cNvSpPr txBox="1"/>
          <p:nvPr/>
        </p:nvSpPr>
        <p:spPr>
          <a:xfrm>
            <a:off x="12239244" y="3666744"/>
            <a:ext cx="4763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기존 경쟁사</a:t>
            </a:r>
            <a:endParaRPr lang="en-US" sz="2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간의 경쟁</a:t>
            </a:r>
            <a:endParaRPr lang="en-US" sz="2200" dirty="0"/>
          </a:p>
        </p:txBody>
      </p:sp>
      <p:sp>
        <p:nvSpPr>
          <p:cNvPr id="44" name="Shape 37"/>
          <p:cNvSpPr/>
          <p:nvPr/>
        </p:nvSpPr>
        <p:spPr>
          <a:xfrm>
            <a:off x="12239244" y="7061249"/>
            <a:ext cx="4762195" cy="847649"/>
          </a:xfrm>
          <a:prstGeom prst="rect">
            <a:avLst/>
          </a:prstGeom>
          <a:solidFill>
            <a:srgbClr val="C58A2E">
              <a:alpha val="20000"/>
            </a:srgbClr>
          </a:solidFill>
          <a:ln/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5" name="Shape 38"/>
          <p:cNvSpPr/>
          <p:nvPr/>
        </p:nvSpPr>
        <p:spPr>
          <a:xfrm>
            <a:off x="12239244" y="7061249"/>
            <a:ext cx="28346" cy="847649"/>
          </a:xfrm>
          <a:prstGeom prst="rect">
            <a:avLst/>
          </a:prstGeom>
          <a:solidFill>
            <a:srgbClr val="C58A2E"/>
          </a:solidFill>
          <a:ln w="12700">
            <a:solidFill>
              <a:srgbClr val="C58A2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6" name="Text 39"/>
          <p:cNvSpPr txBox="1"/>
          <p:nvPr/>
        </p:nvSpPr>
        <p:spPr>
          <a:xfrm>
            <a:off x="12402007" y="7194751"/>
            <a:ext cx="4467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전남 SIDE</a:t>
            </a:r>
            <a:endParaRPr lang="en-US" sz="800" dirty="0"/>
          </a:p>
        </p:txBody>
      </p:sp>
      <p:sp>
        <p:nvSpPr>
          <p:cNvPr id="47" name="Text 40"/>
          <p:cNvSpPr txBox="1"/>
          <p:nvPr/>
        </p:nvSpPr>
        <p:spPr>
          <a:xfrm>
            <a:off x="12239244" y="4562856"/>
            <a:ext cx="4763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경쟁 강도 증폭 요인</a:t>
            </a:r>
            <a:endParaRPr lang="en-US" sz="800" dirty="0"/>
          </a:p>
        </p:txBody>
      </p:sp>
      <p:sp>
        <p:nvSpPr>
          <p:cNvPr id="48" name="Text 41"/>
          <p:cNvSpPr txBox="1"/>
          <p:nvPr/>
        </p:nvSpPr>
        <p:spPr>
          <a:xfrm>
            <a:off x="12239244" y="4791456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경쟁사가 수가 많고 동등</a:t>
            </a:r>
            <a:endParaRPr lang="en-US" sz="1600" dirty="0"/>
          </a:p>
        </p:txBody>
      </p:sp>
      <p:sp>
        <p:nvSpPr>
          <p:cNvPr id="49" name="Text 42"/>
          <p:cNvSpPr txBox="1"/>
          <p:nvPr/>
        </p:nvSpPr>
        <p:spPr>
          <a:xfrm>
            <a:off x="12239244" y="5017313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산업 성장률이 낮음</a:t>
            </a:r>
            <a:endParaRPr lang="en-US" sz="1600" dirty="0"/>
          </a:p>
        </p:txBody>
      </p:sp>
      <p:sp>
        <p:nvSpPr>
          <p:cNvPr id="50" name="Text 43"/>
          <p:cNvSpPr txBox="1"/>
          <p:nvPr/>
        </p:nvSpPr>
        <p:spPr>
          <a:xfrm>
            <a:off x="12239244" y="5244084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고정비/재고비용이 높음</a:t>
            </a:r>
            <a:endParaRPr lang="en-US" sz="1600" dirty="0"/>
          </a:p>
        </p:txBody>
      </p:sp>
      <p:sp>
        <p:nvSpPr>
          <p:cNvPr id="51" name="Text 44"/>
          <p:cNvSpPr txBox="1"/>
          <p:nvPr/>
        </p:nvSpPr>
        <p:spPr>
          <a:xfrm>
            <a:off x="12239244" y="547085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제품 차별화가 어려움</a:t>
            </a:r>
            <a:endParaRPr lang="en-US" sz="1600" dirty="0"/>
          </a:p>
        </p:txBody>
      </p:sp>
      <p:sp>
        <p:nvSpPr>
          <p:cNvPr id="52" name="Text 45"/>
          <p:cNvSpPr txBox="1"/>
          <p:nvPr/>
        </p:nvSpPr>
        <p:spPr>
          <a:xfrm>
            <a:off x="12239244" y="5697626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생산능력이 큰 단위로 증설</a:t>
            </a:r>
            <a:endParaRPr lang="en-US" sz="1600" dirty="0"/>
          </a:p>
        </p:txBody>
      </p:sp>
      <p:sp>
        <p:nvSpPr>
          <p:cNvPr id="53" name="Text 46"/>
          <p:cNvSpPr txBox="1"/>
          <p:nvPr/>
        </p:nvSpPr>
        <p:spPr>
          <a:xfrm>
            <a:off x="12239244" y="5924398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다양한 경쟁자 (목표 상이)</a:t>
            </a:r>
            <a:endParaRPr lang="en-US" sz="1600" dirty="0"/>
          </a:p>
        </p:txBody>
      </p:sp>
      <p:sp>
        <p:nvSpPr>
          <p:cNvPr id="54" name="Text 47"/>
          <p:cNvSpPr txBox="1"/>
          <p:nvPr/>
        </p:nvSpPr>
        <p:spPr>
          <a:xfrm>
            <a:off x="12239244" y="6151169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높은 전략적 이해관계</a:t>
            </a:r>
            <a:endParaRPr lang="en-US" sz="1600" dirty="0"/>
          </a:p>
        </p:txBody>
      </p:sp>
      <p:sp>
        <p:nvSpPr>
          <p:cNvPr id="55" name="Text 48"/>
          <p:cNvSpPr txBox="1"/>
          <p:nvPr/>
        </p:nvSpPr>
        <p:spPr>
          <a:xfrm>
            <a:off x="12239244" y="6377940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높은 퇴출장벽 (특화 자산)</a:t>
            </a:r>
            <a:endParaRPr lang="en-US" sz="1600" dirty="0"/>
          </a:p>
        </p:txBody>
      </p:sp>
      <p:sp>
        <p:nvSpPr>
          <p:cNvPr id="56" name="Text 49"/>
          <p:cNvSpPr txBox="1"/>
          <p:nvPr/>
        </p:nvSpPr>
        <p:spPr>
          <a:xfrm>
            <a:off x="12402007" y="7404149"/>
            <a:ext cx="44677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 일대 동급 농어촌민박 412개. 산업 성장률은 5-7%로 낮지 않으나 동질 경쟁자 다수 → </a:t>
            </a:r>
            <a:r>
              <a:rPr lang="en-US" sz="1500" b="1" dirty="0">
                <a:solidFill>
                  <a:srgbClr val="C58A2E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차별화가 생존 조건</a:t>
            </a:r>
            <a:endParaRPr lang="en-US" sz="1500" dirty="0"/>
          </a:p>
        </p:txBody>
      </p:sp>
      <p:sp>
        <p:nvSpPr>
          <p:cNvPr id="57" name="Text 50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Porter (1980). Competitive Strategy. Free Press, Five Forces Model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176D8C72-9395-4059-B851-4CF7794463AC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22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5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693326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1602120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7239305"/>
            <a:ext cx="16002000" cy="1904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2 · 5Forces · 체크리스트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CHECKLIST · AI 프롬프트 + 데이터 소스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5Forces 데이터를 어디서 찾을 것인가.</a:t>
            </a:r>
            <a:endParaRPr lang="en-US" sz="4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661522"/>
              </p:ext>
            </p:extLst>
          </p:nvPr>
        </p:nvGraphicFramePr>
        <p:xfrm>
          <a:off x="1143000" y="2857500"/>
          <a:ext cx="15991942" cy="4096512"/>
        </p:xfrm>
        <a:graphic>
          <a:graphicData uri="http://schemas.openxmlformats.org/drawingml/2006/table">
            <a:tbl>
              <a:tblPr/>
              <a:tblGrid>
                <a:gridCol w="1837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3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0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275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실무 질문 (5개 중 가장 중요)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소스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 표현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진입자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"이 사업을 새로 시작하려면 필요한 최소 자본·인허가·기간은?"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중소벤처기업부 창업통계 · 업종별 신규 사업자 등록 추이 (국세청 통계포털)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진입 장벽 1-5점 + 1년 신규 진입 수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공급자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"우리가 의존하는 핵심 원재료·서비스 공급자가 몇 개이고 누가 가격을 결정하는가?"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업종별 공급망 보고서 (KIET) · 공정거래위원회 시장 집중도 · 자체 거래처 리스트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상위 공급자 3개 매출 비중 (CR3)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구매자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"고객이 우리를 떠나 다른 곳으로 가는 데 드는 비용·시간은?"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인터뷰 N=10+ · OTA·검색 가격 비교 데이터 · 재구매율 · NPS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전환비용 (분/원) + 가격 민감도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대체재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"같은 욕구·예산·시간을 가져갈 수 있는 전혀 다른 선택지는?"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인터뷰 "이거 안 하면 뭐 했을까?" · 시간/지출 가계부 · 신용카드 소비 데이터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대체재 3개 + 가격-성능 비교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경쟁사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"동일 가격대·동일 입지에서 동일 가치를 제공하는 경쟁사가 몇 개이고 차별화는?"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 사업자 목록 (전남도청 데이터포털) · 네이버 플레이스 · 카카오맵 · 자체 미스터리쇼퍼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동급 경쟁자 수 + HHI 지수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1524305" y="7448702"/>
            <a:ext cx="15240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PROMPT TEMPLATE · ChatGPT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1524305" y="7724851"/>
            <a:ext cx="15240305" cy="657454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524305" y="7724851"/>
            <a:ext cx="28346" cy="657454"/>
          </a:xfrm>
          <a:prstGeom prst="rect">
            <a:avLst/>
          </a:prstGeom>
          <a:solidFill>
            <a:srgbClr val="C58A2E"/>
          </a:solidFill>
          <a:ln w="12700">
            <a:solidFill>
              <a:srgbClr val="C58A2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1724558" y="7724851"/>
            <a:ext cx="15040051" cy="6574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39700" rIns="177800" bIns="1397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너는 한국 산업 분석 시니어 컨설턴트. {산업명, 지역, 타깃 고객}에 대해 Porter Five Forces 스코어카드를 작성하라. 규칙: ① 5개 힘 각각을 1-5점 채점 (1=매우 약함, 5=매우 강함) ② 각 점수에 출처 1개 인용 + 1줄 근거 ③ 합계/5 = 산업 매력도 점수 ④ 결과를 한국어 표(힘 / 점수 / 근거 / 출처)로 출력 ⑤ 마지막에 "GO / HOLD / NO-GO" 1줄 결론 + 만약 GO라면 점수 4점인 힘들을 무력화할 차별화 전략 3개 제안.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· 모든 점수에는 출처 있는 데이터 1개를 단다. 빈말 점수는 0점 처리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BE6D96E4-F28E-463F-8094-F2061A157E4F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23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67859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4195" y="3810305"/>
            <a:ext cx="7830007" cy="5162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2 · 5Forces · 개별 워크숍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WORKSHOP · 본인 산업 5Forces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42875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30분 실습 — </a:t>
            </a:r>
            <a:r>
              <a:rPr lang="en-US" sz="4000" kern="0" spc="-122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본인</a:t>
            </a: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</a:t>
            </a:r>
            <a:r>
              <a:rPr lang="en-US" sz="4000" kern="0" spc="-122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산업의</a:t>
            </a: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5Forces 스코어카드.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810305"/>
            <a:ext cx="7810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INSTRUCTIONS · 30분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143000" y="4219956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1143000" y="4401007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1619402" y="4270413"/>
            <a:ext cx="53821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산업 경계 정의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5분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626972" y="4651436"/>
            <a:ext cx="7411873" cy="32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"숙박업"이 아니라 "여수 도서 워케이션 숙박" 처럼 좁게. 너무 넓으면 5Forces는</a:t>
            </a:r>
            <a:b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흐려진다.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1143000" y="5138928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1143000" y="5319979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1591056" y="5171846"/>
            <a:ext cx="30294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ChatGPT 1차 채점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10분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658587" y="5556691"/>
            <a:ext cx="5269432" cy="189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23의 프롬프트 사용 → 표 형식 결과 확보.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1143000" y="6057900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1143000" y="6238951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8"/>
          <p:cNvSpPr txBox="1"/>
          <p:nvPr/>
        </p:nvSpPr>
        <p:spPr>
          <a:xfrm>
            <a:off x="1526784" y="6067044"/>
            <a:ext cx="47347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"경쟁사 시각" 페르소나 검증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10분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526784" y="6516928"/>
            <a:ext cx="7163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"네가 우리 산업의 대표 경쟁사 CEO라면 이 5점 평가에 동의하는가?" 다시 묻기.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1143000" y="7157923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2100" dirty="0"/>
          </a:p>
        </p:txBody>
      </p:sp>
      <p:sp>
        <p:nvSpPr>
          <p:cNvPr id="26" name="Text 22"/>
          <p:cNvSpPr txBox="1"/>
          <p:nvPr/>
        </p:nvSpPr>
        <p:spPr>
          <a:xfrm>
            <a:off x="1591056" y="7010247"/>
            <a:ext cx="40773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4점 힘에 대한 무력화 전략 3개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5분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790395" y="7510882"/>
            <a:ext cx="6711054" cy="7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강한(4-5점) 힘 각각에 차별화·집중·통합 중 어느 전략으로 대응할지.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9639605" y="4095598"/>
            <a:ext cx="7239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DELIVERABLE · 제출 양식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9639605" y="4390949"/>
            <a:ext cx="7239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5Forces 스코어카드 1장</a:t>
            </a:r>
            <a:endParaRPr lang="en-US" sz="2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9639605" y="4909414"/>
          <a:ext cx="7229247" cy="2705710"/>
        </p:xfrm>
        <a:graphic>
          <a:graphicData uri="http://schemas.openxmlformats.org/drawingml/2006/table">
            <a:tbl>
              <a:tblPr/>
              <a:tblGrid>
                <a:gridCol w="221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1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530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점수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근거 1줄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530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진입자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30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공급자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530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구매자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530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대체재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530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530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합계 ÷ 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_._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GO / HOLD / NO-GO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Text 26"/>
          <p:cNvSpPr txBox="1"/>
          <p:nvPr/>
        </p:nvSpPr>
        <p:spPr>
          <a:xfrm>
            <a:off x="9639605" y="7785202"/>
            <a:ext cx="7239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8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PLUS — 차별화 전략 3개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9639605" y="8004658"/>
            <a:ext cx="7239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_______________________________________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9639605" y="8231429"/>
            <a:ext cx="7239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_______________________________________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9639605" y="8458200"/>
            <a:ext cx="7239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_______________________________________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제출 후 → 점심 휴식 → 단원 3 (BCG Matrix) 시작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8756F27A-B59F-40F1-87C9-37C9AD1DFE59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24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8" name="Shape 16">
            <a:extLst>
              <a:ext uri="{FF2B5EF4-FFF2-40B4-BE49-F238E27FC236}">
                <a16:creationId xmlns:a16="http://schemas.microsoft.com/office/drawing/2014/main" id="{2A9947D9-ABD8-B620-5AC4-0E2294D30D33}"/>
              </a:ext>
            </a:extLst>
          </p:cNvPr>
          <p:cNvSpPr/>
          <p:nvPr/>
        </p:nvSpPr>
        <p:spPr>
          <a:xfrm>
            <a:off x="1163592" y="6951706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709992BA-C620-C501-B681-AA25AFF81C42}"/>
              </a:ext>
            </a:extLst>
          </p:cNvPr>
          <p:cNvSpPr/>
          <p:nvPr/>
        </p:nvSpPr>
        <p:spPr>
          <a:xfrm>
            <a:off x="1208898" y="7829036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62026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1333195"/>
            <a:ext cx="11430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600200"/>
            <a:ext cx="9525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324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BREAK · 10 MIN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857500"/>
            <a:ext cx="16193110" cy="3143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0" i="1" kern="0" spc="-450" dirty="0">
                <a:solidFill>
                  <a:srgbClr val="0E1B2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10:00</a:t>
            </a:r>
            <a:endParaRPr lang="en-US" sz="22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6762902"/>
            <a:ext cx="123828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잠시 쉬어갑시다.</a:t>
            </a:r>
            <a:endParaRPr lang="en-US" sz="51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8096098"/>
            <a:ext cx="12382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시간은 </a:t>
            </a:r>
            <a:r>
              <a:rPr lang="en-US" sz="1600" b="1" dirty="0">
                <a:solidFill>
                  <a:srgbClr val="C58A2E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BCG Growth-Share Matrix</a:t>
            </a:r>
            <a:r>
              <a:rPr lang="en-US" sz="1600" dirty="0">
                <a:solidFill>
                  <a:srgbClr val="0E1B2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Henderson이 1970년 발표한 사업 포트폴리오 진단법입니다.</a:t>
            </a:r>
            <a:endParaRPr lang="en-US" sz="16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239DFA80-2CF0-4303-8AA7-74E68B3D4BF4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25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055008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715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857707" y="1524305"/>
            <a:ext cx="761695" cy="384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79039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28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03 · PORTFOLIO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7707" y="2286000"/>
            <a:ext cx="4572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0" i="1" kern="0" spc="-3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03.</a:t>
            </a:r>
            <a:endParaRPr lang="en-US" sz="150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4953305"/>
            <a:ext cx="45720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BCG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Growth-Share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6320333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Henderson · 1970 · BCG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723930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 사업 중 어디에 더 돈을 </a:t>
            </a:r>
            <a:r>
              <a:rPr lang="en-US" sz="1900" dirty="0" err="1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넣을까</a:t>
            </a: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?“</a:t>
            </a:r>
            <a:b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시장성장률 × 상대 점유율로 4사분면에 </a:t>
            </a:r>
            <a:b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900" dirty="0" err="1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사업을</a:t>
            </a: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배치한다.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76695" y="1524305"/>
            <a:ext cx="10478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3 · 60분 학습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76695" y="1904695"/>
            <a:ext cx="10478110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캐시카우와 스타,</a:t>
            </a:r>
            <a:endParaRPr lang="en-US" sz="5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물음표와 도그.</a:t>
            </a:r>
            <a:endParaRPr lang="en-US" sz="5100" dirty="0"/>
          </a:p>
        </p:txBody>
      </p:sp>
      <p:sp>
        <p:nvSpPr>
          <p:cNvPr id="13" name="Text 10"/>
          <p:cNvSpPr txBox="1"/>
          <p:nvPr/>
        </p:nvSpPr>
        <p:spPr>
          <a:xfrm>
            <a:off x="6476695" y="4667098"/>
            <a:ext cx="10287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창업가에게는 사업이 하나뿐일 수 있지만, </a:t>
            </a: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제품·서비스 라인은 여러 개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다. 어떤 라인은 키우고, 어떤 라인은 짜내고, 어떤 라인은 접어야 한다.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76695" y="5488229"/>
            <a:ext cx="10287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BCG 매트릭스가 그 결정을 데이터 위에 올린다.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76695" y="7592263"/>
            <a:ext cx="1047719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476695" y="7239305"/>
            <a:ext cx="104781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학습 목표 · OBJECTIVES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76695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476695" y="8153705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성장률·상대 점유율 2개 축을 정확히 계산할 수 있다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0071202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10071202" y="8277275"/>
            <a:ext cx="351403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라인별 매출 = 버블 크기로 시각화한다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3870744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3870744" y="8153705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사분면별로 다른 4가지 자원 배분 전략을 적용한다</a:t>
            </a:r>
            <a:endParaRPr lang="en-US" sz="18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1EF34DE1-B3D9-4DFA-875E-5FE96F2AF230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26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89311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30207" y="4476902"/>
            <a:ext cx="7715707" cy="4286707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3 · BCG Matrix · 도입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BCG MATRIX · WHY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300" kern="0" spc="-13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"모든 제품을 똑같이 사랑하지 마라.</a:t>
            </a:r>
            <a:endParaRPr lang="en-US" sz="4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300" kern="0" spc="-13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각 제품은 다른 역할이 있다."</a:t>
            </a:r>
            <a:endParaRPr lang="en-US" sz="43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676802"/>
            <a:ext cx="16193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Henderson(1970)의 문제의식 요약</a:t>
            </a:r>
            <a:r>
              <a:rPr lang="en-US" sz="1900" i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4476902"/>
            <a:ext cx="7905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BCG의 두 가지 핵심 관찰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1143000" y="5906110"/>
            <a:ext cx="7905902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1142086" y="4959244"/>
            <a:ext cx="7905902" cy="7059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A. 경험 곡선 (Experience Curve)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누적 생산량이 2배 되면 단위 비용은 20-30% 떨어진다. 즉 </a:t>
            </a:r>
            <a:r>
              <a:rPr lang="en-US" sz="19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점유율이 큰 회사가 구조적으로 비용 우위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가진다.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1143000" y="6748272"/>
            <a:ext cx="7905902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1143000" y="5909767"/>
            <a:ext cx="7905902" cy="7059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B. 시장 성장률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성장하는 시장은 현금을 빨아들이고(투자 필요), 성숙한 시장은 현금을 만들어낸다(추가 투자 불필요).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6942125"/>
            <a:ext cx="828263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두 변수의 조합으로 4가지 제품 유형이 나온다 —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 · Cash Cow · Question Mark · Dog.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9810598" y="4762195"/>
            <a:ext cx="7049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TWO AXES · DEFINITIONS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9810598" y="6267298"/>
            <a:ext cx="7048195" cy="9144"/>
          </a:xfrm>
          <a:prstGeom prst="rect">
            <a:avLst/>
          </a:prstGeom>
          <a:solidFill>
            <a:srgbClr val="F4EFE6">
              <a:alpha val="2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9810598" y="5152644"/>
            <a:ext cx="7049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Y축 · 시장 성장률 (Market Growth Rate)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9810598" y="6496812"/>
            <a:ext cx="7049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X축 · 상대적 시장 점유율 (Relative Market Share)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9810598" y="5570525"/>
            <a:ext cx="7049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시장의 </a:t>
            </a:r>
            <a:r>
              <a:rPr lang="en-US" sz="1700" b="1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평균 매출 성장률</a:t>
            </a:r>
            <a:r>
              <a:rPr lang="en-US" sz="17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기준선은 보통 10% — 그 이상이면 고성장.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9810598" y="5958323"/>
            <a:ext cx="7049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수식: (당해 시장규모 - 전년 시장규모) ÷ 전년 시장규모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9810598" y="6913778"/>
            <a:ext cx="7049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점유율 ÷ 1위 경쟁사 점유율. 기준선은 </a:t>
            </a:r>
            <a:r>
              <a:rPr lang="en-US" sz="1700" b="1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1.0</a:t>
            </a:r>
            <a:r>
              <a:rPr lang="en-US" sz="17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그 이상이면 시장 리더.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9810598" y="7301576"/>
            <a:ext cx="7049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예: 우리 점유율 18%, 1위 30% → 0.6 (1.0 미만 = 추격자)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Henderson, B. D. (1970). The Product Portfolio. BCG Perspectives #66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6869AFEF-4DC7-49F3-BB08-346917FED71F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27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231073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38805" y="3047695"/>
            <a:ext cx="6286500" cy="2857500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715500" y="3047695"/>
            <a:ext cx="6305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5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3238805" y="6096305"/>
            <a:ext cx="6286500" cy="28575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715500" y="6096305"/>
            <a:ext cx="63057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5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3 · BCG · 4사분면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238098"/>
            <a:ext cx="7620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THE 2×2 GRID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4사분면 · 4가지 제품의 운명.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3619195" y="3333902"/>
            <a:ext cx="5524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Star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3619195" y="4181551"/>
            <a:ext cx="5524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현금 인풋 ≈ 현금 아웃풋.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시장이 빠르게 자라므로 투자가 필요하지만, 점유율 1위라 매출도 크다.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619195" y="4786884"/>
            <a:ext cx="5524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전략: HOLD / BUILD — 점유율 사수, 성장 추격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619195" y="3886200"/>
            <a:ext cx="5524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고성장 · 고점유율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0096805" y="3333902"/>
            <a:ext cx="5524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Question Mark</a:t>
            </a:r>
            <a:endParaRPr lang="en-US" sz="3600" dirty="0"/>
          </a:p>
        </p:txBody>
      </p:sp>
      <p:sp>
        <p:nvSpPr>
          <p:cNvPr id="19" name="Text 15"/>
          <p:cNvSpPr txBox="1"/>
          <p:nvPr/>
        </p:nvSpPr>
        <p:spPr>
          <a:xfrm>
            <a:off x="10096805" y="4181551"/>
            <a:ext cx="5524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현금 잡아먹는 신생 사업.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시장은 매력적이지만 점유율이 낮아 비용 우위가 없다. 베팅인지, 손절인지 결정해야 한다.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0096805" y="4786884"/>
            <a:ext cx="5524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전략: BUILD or DIVEST — 집중 투자 OR 매각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10096805" y="3886200"/>
            <a:ext cx="5524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고성장 · 저점유율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3619195" y="6381598"/>
            <a:ext cx="5524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Cash Cow</a:t>
            </a:r>
            <a:endParaRPr lang="en-US" sz="3600" dirty="0"/>
          </a:p>
        </p:txBody>
      </p:sp>
      <p:sp>
        <p:nvSpPr>
          <p:cNvPr id="23" name="Text 19"/>
          <p:cNvSpPr txBox="1"/>
          <p:nvPr/>
        </p:nvSpPr>
        <p:spPr>
          <a:xfrm>
            <a:off x="3619195" y="7835494"/>
            <a:ext cx="5524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전략: HARVEST — 최소 투자로 현금 짜내기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3619195" y="6933895"/>
            <a:ext cx="5524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저성장 · 고점유율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3619195" y="7229246"/>
            <a:ext cx="5524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회사의 지갑.</a:t>
            </a:r>
            <a:r>
              <a:rPr lang="en-US" sz="18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시장은 안정·성숙해 추가 투자는 적은데, 점유율 우위라 마진은 좋다. </a:t>
            </a:r>
            <a:r>
              <a:rPr lang="en-US" sz="1800" i="1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스타와 물음표에 자금을 공급한다.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0096805" y="6381598"/>
            <a:ext cx="5524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Dog</a:t>
            </a:r>
            <a:endParaRPr lang="en-US" sz="3600" dirty="0"/>
          </a:p>
        </p:txBody>
      </p:sp>
      <p:sp>
        <p:nvSpPr>
          <p:cNvPr id="27" name="Text 23"/>
          <p:cNvSpPr txBox="1"/>
          <p:nvPr/>
        </p:nvSpPr>
        <p:spPr>
          <a:xfrm>
            <a:off x="10096805" y="7229246"/>
            <a:ext cx="5524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들고 있는 비용 = 잃고 있는 시간.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시장도 죽고 우리 위치도 약하다. 감정으로 붙들고 있을 때 가장 위험하다.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10096805" y="7835494"/>
            <a:ext cx="5524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전략: DIVEST / LIQUIDATE — 매각·접기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10121519" y="6958609"/>
            <a:ext cx="5524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저성장 · 저점유율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2675448" y="3417113"/>
            <a:ext cx="248470" cy="4735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 시장 성장률 (LOW → HIGH) ↑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3238805" y="9096451"/>
            <a:ext cx="12764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상대 점유율 (HIGH ← → LOW) →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Henderson (1970). BCG Perspectives — Stars · Cash Cows · Question Marks · Dogs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2FBAA891-BDE0-455D-BEB3-562D88B52627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28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78321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ko-KR" altLang="en-US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16021202" cy="611550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3 · BCG · 사분면별 의사결정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STRATEGY PER QUADRANT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사분면별 자원 배분 전략.</a:t>
            </a:r>
            <a:endParaRPr lang="en-US" sz="4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75944"/>
              </p:ext>
            </p:extLst>
          </p:nvPr>
        </p:nvGraphicFramePr>
        <p:xfrm>
          <a:off x="1143000" y="2857500"/>
          <a:ext cx="15991942" cy="6096305"/>
        </p:xfrm>
        <a:graphic>
          <a:graphicData uri="http://schemas.openxmlformats.org/drawingml/2006/table">
            <a:tbl>
              <a:tblPr/>
              <a:tblGrid>
                <a:gridCol w="1837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7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82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9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1926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사분면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전형적 특징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전략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실행 액션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 배분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61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650" b="1" dirty="0">
                          <a:solidFill>
                            <a:srgbClr val="0E1B2C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Star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 +15-30% / 점유율 1-2위 / 현재 매출 큼 / 매년 투자 필요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HOLD / BUILD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 점유율 사수 위해 마케팅·생산능력 증설. 경쟁사가 따라잡지 못하게 차별화 강화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 자원의 30-40%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61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650" b="1" dirty="0">
                          <a:solidFill>
                            <a:srgbClr val="F4EFE6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Cash Cow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 +0-10% / 점유율 1위 / 마진 좋음 / 추가 투자 적음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HARVEST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최소한의 유지보수 투자만 하고 현금을 최대한 짜낸다. 그 현금을 Star와 Question Mark에 공급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 자원의 10-15%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61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650" b="1" dirty="0">
                          <a:solidFill>
                            <a:srgbClr val="0E1B2C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Question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 +15-30% / 점유율 3-N위 / 현재 적자 가능 / 더 투자할지 빠질지 갈림길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BUILD or DIVEST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2-3개 중 1개에 자원 집중 → Star로 만들기. 나머지는 빨리 손절. </a:t>
                      </a:r>
                      <a:r>
                        <a:rPr lang="en-US" sz="1125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"모두에게 작은 베팅"이 가장 나쁜 선택</a:t>
                      </a:r>
                      <a:endParaRPr lang="en-US" sz="1800" dirty="0"/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집중: 25% / 손절: 0%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61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650" b="1" dirty="0">
                          <a:solidFill>
                            <a:srgbClr val="0E1B2C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Dog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 +0-5% / 점유율 3-N위 / 마진 박하거나 적자 / 미래 없음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DIVEST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매각, 청산, 또는 라이센스 아웃. </a:t>
                      </a: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감정 때문에 들고 있을 때 가장 위험하다.</a:t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자원이 묶여 진짜 기회를 놓침</a:t>
                      </a:r>
                      <a:endParaRPr lang="en-US" sz="1800" dirty="0"/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 자원의 0-5%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현금흐름 그림 · Cash Cow → (Star + Question Mark에 투자) → 다음 시대의 Cash Cow를 만든다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FFE013F3-0D1E-4064-B421-A977BA026748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29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17853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428646"/>
            <a:ext cx="16002000" cy="1019556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3619195"/>
            <a:ext cx="9353398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0763402" y="3619195"/>
            <a:ext cx="6400800" cy="520110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l="-398" r="-398"/>
          <a:stretch/>
        </p:blipFill>
        <p:spPr>
          <a:xfrm>
            <a:off x="2095805" y="4095598"/>
            <a:ext cx="19202" cy="447690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2095805" y="6286500"/>
            <a:ext cx="8001000" cy="19202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rcRect l="-398" r="-398"/>
          <a:stretch/>
        </p:blipFill>
        <p:spPr>
          <a:xfrm>
            <a:off x="5715000" y="4095598"/>
            <a:ext cx="19202" cy="4476902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>
            <a:alphaModFix amt="40000"/>
          </a:blip>
          <a:srcRect t="-400" b="-400"/>
          <a:stretch/>
        </p:blipFill>
        <p:spPr>
          <a:xfrm>
            <a:off x="2095805" y="8553298"/>
            <a:ext cx="8001000" cy="19202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3619195" y="5048402"/>
            <a:ext cx="1238098" cy="1238098"/>
          </a:xfrm>
          <a:prstGeom prst="ellipse">
            <a:avLst/>
          </a:prstGeom>
          <a:solidFill>
            <a:srgbClr val="C58A2E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Shape 6"/>
          <p:cNvSpPr/>
          <p:nvPr/>
        </p:nvSpPr>
        <p:spPr>
          <a:xfrm>
            <a:off x="6953098" y="4572000"/>
            <a:ext cx="819302" cy="81930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58A2E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5" name="Shape 7"/>
          <p:cNvSpPr/>
          <p:nvPr/>
        </p:nvSpPr>
        <p:spPr>
          <a:xfrm>
            <a:off x="3143707" y="7048195"/>
            <a:ext cx="1714500" cy="1238098"/>
          </a:xfrm>
          <a:prstGeom prst="roundRect">
            <a:avLst>
              <a:gd name="adj" fmla="val 73855"/>
            </a:avLst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7905902" y="7524598"/>
            <a:ext cx="571500" cy="571500"/>
          </a:xfrm>
          <a:prstGeom prst="ellipse">
            <a:avLst/>
          </a:prstGeom>
          <a:solidFill>
            <a:srgbClr val="A14242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5048402" y="5572354"/>
            <a:ext cx="771754" cy="77175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58A2E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8" name="Text 10"/>
          <p:cNvSpPr txBox="1"/>
          <p:nvPr/>
        </p:nvSpPr>
        <p:spPr>
          <a:xfrm>
            <a:off x="1143000" y="400507"/>
            <a:ext cx="7620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3 · BCG · 전남 케이스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WORKED CASE · 전남 농수산 가공식품 회사</a:t>
            </a:r>
            <a:endParaRPr lang="en-US" sz="1900" dirty="0"/>
          </a:p>
        </p:txBody>
      </p:sp>
      <p:sp>
        <p:nvSpPr>
          <p:cNvPr id="21" name="Text 13"/>
          <p:cNvSpPr txBox="1"/>
          <p:nvPr/>
        </p:nvSpPr>
        <p:spPr>
          <a:xfrm>
            <a:off x="1143000" y="1638605"/>
            <a:ext cx="161931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700" kern="0" spc="-11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"해남 농수산" — 5개 제품군의 BCG 진단.</a:t>
            </a:r>
            <a:endParaRPr lang="en-US" sz="3700" dirty="0"/>
          </a:p>
        </p:txBody>
      </p:sp>
      <p:sp>
        <p:nvSpPr>
          <p:cNvPr id="22" name="Text 14"/>
          <p:cNvSpPr txBox="1"/>
          <p:nvPr/>
        </p:nvSpPr>
        <p:spPr>
          <a:xfrm>
            <a:off x="1410005" y="2785720"/>
            <a:ext cx="1543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·</a:t>
            </a:r>
            <a:b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</a:b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전남 해남에서 가공식품 5종(고구마말랭이·김 스낵·꼬막 통조림·전복 진액·고들빼기 김치)을 만드는 매출 22억 회사. 자금이 한정되어 어디에 더 </a:t>
            </a:r>
            <a:r>
              <a:rPr lang="en-US" sz="1800" dirty="0" err="1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투자할지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 err="1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결정해야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한다.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2286000" y="4238244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5905195" y="4238244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 MARK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2286000" y="647669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CASH COW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905195" y="647669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DOG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3619195" y="5381244"/>
            <a:ext cx="12390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 스낵</a:t>
            </a:r>
            <a:endParaRPr lang="en-US" sz="1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7.2억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6762902" y="4743907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고구마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말랭이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2.8억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3143707" y="7381951"/>
            <a:ext cx="1714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꼬막 통조림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9.5억</a:t>
            </a:r>
            <a:endParaRPr lang="en-US" sz="1800" dirty="0"/>
          </a:p>
        </p:txBody>
      </p:sp>
      <p:sp>
        <p:nvSpPr>
          <p:cNvPr id="30" name="Text 22"/>
          <p:cNvSpPr txBox="1"/>
          <p:nvPr/>
        </p:nvSpPr>
        <p:spPr>
          <a:xfrm>
            <a:off x="7619695" y="7619695"/>
            <a:ext cx="11430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고들빼기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김치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0.5억</a:t>
            </a:r>
            <a:endParaRPr lang="en-US" sz="800" dirty="0"/>
          </a:p>
        </p:txBody>
      </p:sp>
      <p:sp>
        <p:nvSpPr>
          <p:cNvPr id="31" name="Text 23"/>
          <p:cNvSpPr txBox="1"/>
          <p:nvPr/>
        </p:nvSpPr>
        <p:spPr>
          <a:xfrm>
            <a:off x="4858207" y="5743346"/>
            <a:ext cx="1143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전복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진액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2.0억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333195" y="3952951"/>
            <a:ext cx="1905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시장 성장률 ↑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1333195" y="8524951"/>
            <a:ext cx="1905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 저성장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8763610" y="8715147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상대 점유율 →</a:t>
            </a:r>
            <a:endParaRPr lang="en-US" sz="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787045"/>
              </p:ext>
            </p:extLst>
          </p:nvPr>
        </p:nvGraphicFramePr>
        <p:xfrm>
          <a:off x="10763402" y="3619195"/>
          <a:ext cx="6373367" cy="3429000"/>
        </p:xfrm>
        <a:graphic>
          <a:graphicData uri="http://schemas.openxmlformats.org/drawingml/2006/table">
            <a:tbl>
              <a:tblPr/>
              <a:tblGrid>
                <a:gridCol w="1582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8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590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매출(억)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성장률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점유율비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323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김 스낵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7.2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+22%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782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꼬막 통조림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+3%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2.1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Cash Cow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65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고구마말랭이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2.8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+18%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Question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424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전복 진액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2.0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+15%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Question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5908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고들빼기 김치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+1%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Dog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Shape 27"/>
          <p:cNvSpPr/>
          <p:nvPr/>
        </p:nvSpPr>
        <p:spPr>
          <a:xfrm>
            <a:off x="10763402" y="9029700"/>
            <a:ext cx="6381598" cy="1324051"/>
          </a:xfrm>
          <a:prstGeom prst="rect">
            <a:avLst/>
          </a:prstGeom>
          <a:solidFill>
            <a:srgbClr val="FAF7EE"/>
          </a:solidFill>
          <a:ln/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7" name="Shape 28"/>
          <p:cNvSpPr/>
          <p:nvPr/>
        </p:nvSpPr>
        <p:spPr>
          <a:xfrm>
            <a:off x="10763402" y="9029700"/>
            <a:ext cx="6381598" cy="19202"/>
          </a:xfrm>
          <a:prstGeom prst="rect">
            <a:avLst/>
          </a:prstGeom>
          <a:solidFill>
            <a:srgbClr val="C58A2E"/>
          </a:solidFill>
          <a:ln w="12700">
            <a:solidFill>
              <a:srgbClr val="C58A2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8" name="Text 29"/>
          <p:cNvSpPr txBox="1"/>
          <p:nvPr/>
        </p:nvSpPr>
        <p:spPr>
          <a:xfrm>
            <a:off x="10953598" y="8466429"/>
            <a:ext cx="6153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 WHAT · 의사결정</a:t>
            </a:r>
            <a:endParaRPr lang="en-US" sz="800" dirty="0"/>
          </a:p>
        </p:txBody>
      </p:sp>
      <p:sp>
        <p:nvSpPr>
          <p:cNvPr id="39" name="Text 30"/>
          <p:cNvSpPr txBox="1"/>
          <p:nvPr/>
        </p:nvSpPr>
        <p:spPr>
          <a:xfrm>
            <a:off x="10886846" y="7333488"/>
            <a:ext cx="615391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김 스낵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마케팅·생산 증설 (Star 사수)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꼬막 통조림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현금 흐름 유지, 신규 투자 최소화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고구마말랭이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집중 투자 → Star로 키우기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전복 진액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·고들빼기 김치 → </a:t>
            </a:r>
            <a:r>
              <a:rPr lang="en-US" sz="16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접거나 매각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· 가상 케이스 · 시장 성장률은 KOSIS 가공식품 세분류 / 점유율비는 자체 + 네이버 스마트스토어 추정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4A055A96-B8B6-432E-8AFD-CAB98C6B86C6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30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4935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20000"/>
          </a:blip>
          <a:srcRect l="-2083" r="-2083"/>
          <a:stretch/>
        </p:blipFill>
        <p:spPr>
          <a:xfrm>
            <a:off x="1143000" y="8287207"/>
            <a:ext cx="16002000" cy="914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524305" y="4095598"/>
            <a:ext cx="3810305" cy="24761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3"/>
          <p:cNvSpPr/>
          <p:nvPr/>
        </p:nvSpPr>
        <p:spPr>
          <a:xfrm>
            <a:off x="7239305" y="3143707"/>
            <a:ext cx="3847795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58A2E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12954305" y="3143707"/>
            <a:ext cx="3810305" cy="2476195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12954305" y="6381598"/>
            <a:ext cx="3829507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A14242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400" b="-400"/>
          <a:stretch/>
        </p:blipFill>
        <p:spPr>
          <a:xfrm>
            <a:off x="5524805" y="7048195"/>
            <a:ext cx="7429500" cy="19202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-400" r="-400"/>
          <a:stretch/>
        </p:blipFill>
        <p:spPr>
          <a:xfrm>
            <a:off x="9144000" y="5619902"/>
            <a:ext cx="19202" cy="22860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3 · BCG · 현금 순환</a:t>
            </a:r>
            <a:endParaRPr lang="en-US" sz="16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CASH FLOW · 사분면 사이의 자금 순환</a:t>
            </a:r>
            <a:endParaRPr lang="en-US" sz="190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"오늘의 캐시카우는 어제의 스타였다."</a:t>
            </a:r>
            <a:endParaRPr lang="en-US" sz="40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2667305"/>
            <a:ext cx="16193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BCG의 진짜 가치는 4사분면이 아니라 </a:t>
            </a:r>
            <a:r>
              <a:rPr lang="en-US" sz="1900" b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사이에 흐르는 자금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이다. 한 회사가 지속 성장하려면 4사분면 사이의 현금 순환 고리를 유지해야 한다.</a:t>
            </a:r>
            <a:endParaRPr lang="en-US" sz="1900" dirty="0"/>
          </a:p>
        </p:txBody>
      </p:sp>
      <p:sp>
        <p:nvSpPr>
          <p:cNvPr id="18" name="Text 11"/>
          <p:cNvSpPr txBox="1"/>
          <p:nvPr/>
        </p:nvSpPr>
        <p:spPr>
          <a:xfrm>
            <a:off x="1904695" y="4381805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kern="0" spc="-81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Cash Cow</a:t>
            </a:r>
            <a:endParaRPr lang="en-US" sz="2700" dirty="0"/>
          </a:p>
        </p:txBody>
      </p:sp>
      <p:sp>
        <p:nvSpPr>
          <p:cNvPr id="19" name="Text 12"/>
          <p:cNvSpPr txBox="1"/>
          <p:nvPr/>
        </p:nvSpPr>
        <p:spPr>
          <a:xfrm>
            <a:off x="1904695" y="4858207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CASH GENERATOR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904695" y="5095951"/>
            <a:ext cx="32388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매년 안정적 현금 창출.</a:t>
            </a:r>
            <a:endParaRPr lang="en-US" sz="17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"+" 순현금</a:t>
            </a:r>
            <a:endParaRPr lang="en-US" sz="1700" dirty="0"/>
          </a:p>
        </p:txBody>
      </p:sp>
      <p:sp>
        <p:nvSpPr>
          <p:cNvPr id="21" name="Text 14"/>
          <p:cNvSpPr txBox="1"/>
          <p:nvPr/>
        </p:nvSpPr>
        <p:spPr>
          <a:xfrm>
            <a:off x="7619695" y="3429000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kern="0" spc="-8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Question Mark</a:t>
            </a:r>
            <a:endParaRPr lang="en-US" sz="2700" dirty="0"/>
          </a:p>
        </p:txBody>
      </p:sp>
      <p:sp>
        <p:nvSpPr>
          <p:cNvPr id="22" name="Text 15"/>
          <p:cNvSpPr txBox="1"/>
          <p:nvPr/>
        </p:nvSpPr>
        <p:spPr>
          <a:xfrm>
            <a:off x="7619695" y="3905402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SELECTIVE BET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619695" y="4315967"/>
            <a:ext cx="32388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후보. 1-2개에 집중 투자 → Star 후보.</a:t>
            </a:r>
            <a:endParaRPr lang="en-US" sz="17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"-" 현금 소모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13334695" y="3429000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kern="0" spc="-8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Star</a:t>
            </a:r>
            <a:endParaRPr lang="en-US" sz="2700" dirty="0"/>
          </a:p>
        </p:txBody>
      </p:sp>
      <p:sp>
        <p:nvSpPr>
          <p:cNvPr id="25" name="Text 18"/>
          <p:cNvSpPr txBox="1"/>
          <p:nvPr/>
        </p:nvSpPr>
        <p:spPr>
          <a:xfrm>
            <a:off x="13334695" y="4143146"/>
            <a:ext cx="32388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1위 + 고성장. 점유율 사수.</a:t>
            </a:r>
            <a:endParaRPr lang="en-US" sz="17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"≈" 현금 균형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13334695" y="3905402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&amp; PROTECT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3334695" y="6620256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kern="0" spc="-8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Dog</a:t>
            </a:r>
            <a:endParaRPr lang="en-US" sz="2700" dirty="0"/>
          </a:p>
        </p:txBody>
      </p:sp>
      <p:sp>
        <p:nvSpPr>
          <p:cNvPr id="28" name="Text 21"/>
          <p:cNvSpPr txBox="1"/>
          <p:nvPr/>
        </p:nvSpPr>
        <p:spPr>
          <a:xfrm>
            <a:off x="13334695" y="7095744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13334695" y="7334402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매각·청산 → 묶인 자본 회수.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5524805" y="5143500"/>
            <a:ext cx="1524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자금 공급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5524805" y="5333695"/>
            <a:ext cx="1524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500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500" dirty="0"/>
          </a:p>
        </p:txBody>
      </p:sp>
      <p:sp>
        <p:nvSpPr>
          <p:cNvPr id="32" name="Text 25"/>
          <p:cNvSpPr txBox="1"/>
          <p:nvPr/>
        </p:nvSpPr>
        <p:spPr>
          <a:xfrm>
            <a:off x="11239805" y="4095598"/>
            <a:ext cx="1524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집중 투자 성공 시</a:t>
            </a:r>
            <a:endParaRPr lang="en-US" sz="800" dirty="0"/>
          </a:p>
        </p:txBody>
      </p:sp>
      <p:sp>
        <p:nvSpPr>
          <p:cNvPr id="33" name="Text 26"/>
          <p:cNvSpPr txBox="1"/>
          <p:nvPr/>
        </p:nvSpPr>
        <p:spPr>
          <a:xfrm>
            <a:off x="11239805" y="4286707"/>
            <a:ext cx="1524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500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500" dirty="0"/>
          </a:p>
        </p:txBody>
      </p:sp>
      <p:sp>
        <p:nvSpPr>
          <p:cNvPr id="34" name="Text 27"/>
          <p:cNvSpPr txBox="1"/>
          <p:nvPr/>
        </p:nvSpPr>
        <p:spPr>
          <a:xfrm>
            <a:off x="7239305" y="6715354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시장 성숙 → 점유율 유지하며 진화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5143500" y="6905549"/>
            <a:ext cx="5715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</a:t>
            </a:r>
            <a:endParaRPr lang="en-US" sz="2500" dirty="0"/>
          </a:p>
        </p:txBody>
      </p:sp>
      <p:sp>
        <p:nvSpPr>
          <p:cNvPr id="36" name="Text 29"/>
          <p:cNvSpPr txBox="1"/>
          <p:nvPr/>
        </p:nvSpPr>
        <p:spPr>
          <a:xfrm>
            <a:off x="11239805" y="7048195"/>
            <a:ext cx="1524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실패 시 손절</a:t>
            </a:r>
            <a:endParaRPr lang="en-US" sz="800" dirty="0"/>
          </a:p>
        </p:txBody>
      </p:sp>
      <p:sp>
        <p:nvSpPr>
          <p:cNvPr id="37" name="Text 30"/>
          <p:cNvSpPr txBox="1"/>
          <p:nvPr/>
        </p:nvSpPr>
        <p:spPr>
          <a:xfrm>
            <a:off x="11239805" y="7239305"/>
            <a:ext cx="1524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500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2500" dirty="0"/>
          </a:p>
        </p:txBody>
      </p:sp>
      <p:sp>
        <p:nvSpPr>
          <p:cNvPr id="38" name="Text 31"/>
          <p:cNvSpPr txBox="1"/>
          <p:nvPr/>
        </p:nvSpPr>
        <p:spPr>
          <a:xfrm>
            <a:off x="1143000" y="8572500"/>
            <a:ext cx="160020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자금 순환 고리 — </a:t>
            </a:r>
            <a:r>
              <a:rPr lang="en-US" sz="1900" b="1" kern="0" spc="-5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Cash Cow가 Question Mark를 키워 Star로 만들고, Star가 시장 성숙기를 거쳐 다음 세대 Cash Cow가 된다.</a:t>
            </a:r>
            <a: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b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</a:br>
            <a: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고리가 끊기면 회사는 한 세대 안에 사라진다.</a:t>
            </a:r>
            <a:endParaRPr lang="en-US" sz="1900" dirty="0"/>
          </a:p>
        </p:txBody>
      </p:sp>
      <p:sp>
        <p:nvSpPr>
          <p:cNvPr id="39" name="Text 32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BCG (2014). Growth Share Matrix — Classics Revisited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C2CAAB1A-EFEC-4D93-8AFD-FA803B78C89A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31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4993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792510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239098" y="2952598"/>
            <a:ext cx="792510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6001207"/>
            <a:ext cx="792510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239098" y="6001207"/>
            <a:ext cx="7925105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1143000" y="2952598"/>
            <a:ext cx="57607" cy="28575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9239098" y="2952598"/>
            <a:ext cx="57607" cy="285750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1143000" y="6001207"/>
            <a:ext cx="57607" cy="285750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9239098" y="6001207"/>
            <a:ext cx="57607" cy="28575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3 · BCG · 흔한 오용</a:t>
            </a:r>
            <a:endParaRPr lang="en-US" sz="160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ANTI-PATTERNS · BCG가 잘못 쓰일 때</a:t>
            </a:r>
            <a:endParaRPr lang="en-US" sz="19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4가지 흔한 오용과 교정.</a:t>
            </a:r>
            <a:endParaRPr lang="en-US" sz="4000" dirty="0"/>
          </a:p>
        </p:txBody>
      </p:sp>
      <p:sp>
        <p:nvSpPr>
          <p:cNvPr id="18" name="Text 10"/>
          <p:cNvSpPr txBox="1"/>
          <p:nvPr/>
        </p:nvSpPr>
        <p:spPr>
          <a:xfrm>
            <a:off x="1476756" y="3143707"/>
            <a:ext cx="7239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ANTI-PATTERN 01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476756" y="3381451"/>
            <a:ext cx="7239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버블 위치를 감으로 찍는다</a:t>
            </a:r>
            <a:endParaRPr lang="en-US" sz="2100" dirty="0"/>
          </a:p>
        </p:txBody>
      </p:sp>
      <p:sp>
        <p:nvSpPr>
          <p:cNvPr id="20" name="Text 12"/>
          <p:cNvSpPr txBox="1"/>
          <p:nvPr/>
        </p:nvSpPr>
        <p:spPr>
          <a:xfrm>
            <a:off x="1475841" y="3949294"/>
            <a:ext cx="7239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잘못 ·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"이 제품은 잘 팔리니까 스타", "저건 시들해 보이니까 도그" — 두 축 모두 데이터 없이 추정</a:t>
            </a:r>
            <a:endParaRPr lang="en-US" sz="1700" dirty="0"/>
          </a:p>
        </p:txBody>
      </p:sp>
      <p:sp>
        <p:nvSpPr>
          <p:cNvPr id="21" name="Text 13"/>
          <p:cNvSpPr txBox="1"/>
          <p:nvPr/>
        </p:nvSpPr>
        <p:spPr>
          <a:xfrm>
            <a:off x="1371600" y="4435754"/>
            <a:ext cx="7239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C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교정 ·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시장 성장률은 KOSIS·산업분류 데이터로 계산, 점유율비는 자체 매출 ÷ 1위 경쟁사 매출로 계산. 두 값에 정확한 출처를 단다.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9572854" y="3143707"/>
            <a:ext cx="7239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ANTI-PATTERN 02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9572854" y="3381451"/>
            <a:ext cx="7239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제품 1개짜리 회사에 적용</a:t>
            </a:r>
            <a:endParaRPr lang="en-US" sz="2100" dirty="0"/>
          </a:p>
        </p:txBody>
      </p:sp>
      <p:sp>
        <p:nvSpPr>
          <p:cNvPr id="24" name="Text 16"/>
          <p:cNvSpPr txBox="1"/>
          <p:nvPr/>
        </p:nvSpPr>
        <p:spPr>
          <a:xfrm>
            <a:off x="9572854" y="3920408"/>
            <a:ext cx="7239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잘못 ·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단일 제품 사업에 4사분면을 그려놓고 "우리는 스타다"라고 끝낸다 — 비교 대상이 없어 의미 없음</a:t>
            </a:r>
            <a:endParaRPr lang="en-US" sz="1700" dirty="0"/>
          </a:p>
        </p:txBody>
      </p:sp>
      <p:sp>
        <p:nvSpPr>
          <p:cNvPr id="25" name="Text 17"/>
          <p:cNvSpPr txBox="1"/>
          <p:nvPr/>
        </p:nvSpPr>
        <p:spPr>
          <a:xfrm>
            <a:off x="9572853" y="4386752"/>
            <a:ext cx="7239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C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교정 ·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BCG는 </a:t>
            </a: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다제품 포트폴리오 진단 도구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다. 제품이 1개면 Ansoff 또는 5Forces로 대체. 또는 같은 제품의 지역·고객군별 SBU로 쪼개 본다.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1476756" y="6191402"/>
            <a:ext cx="7239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ANTI-PATTERN 03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1476756" y="6429146"/>
            <a:ext cx="7239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버블 크기 표시 없음</a:t>
            </a:r>
            <a:endParaRPr lang="en-US" sz="2100" dirty="0"/>
          </a:p>
        </p:txBody>
      </p:sp>
      <p:sp>
        <p:nvSpPr>
          <p:cNvPr id="28" name="Text 20"/>
          <p:cNvSpPr txBox="1"/>
          <p:nvPr/>
        </p:nvSpPr>
        <p:spPr>
          <a:xfrm>
            <a:off x="1476756" y="6956831"/>
            <a:ext cx="7239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잘못 ·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버블이 같은 크기. 매출 100억과 매출 1억 제품이 똑같이 보임 → 의사결정 우선순위 혼란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1476756" y="7451663"/>
            <a:ext cx="7239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C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교정 ·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버블 면적 ∝ 매출. 같은 사분면 안에서도 "이걸 먼저 정리할 것인가, 저걸 먼저"의 판단이 달라진다. 슬라이드 30 사례 참조.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9572854" y="6191402"/>
            <a:ext cx="7239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ANTI-PATTERN 04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9572854" y="6429146"/>
            <a:ext cx="7239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장 그리고 끝</a:t>
            </a:r>
            <a:endParaRPr lang="en-US" sz="2100" dirty="0"/>
          </a:p>
        </p:txBody>
      </p:sp>
      <p:sp>
        <p:nvSpPr>
          <p:cNvPr id="32" name="Text 24"/>
          <p:cNvSpPr txBox="1"/>
          <p:nvPr/>
        </p:nvSpPr>
        <p:spPr>
          <a:xfrm>
            <a:off x="9572854" y="6882689"/>
            <a:ext cx="7239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잘못 ·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2024년 한 시점의 BCG만 그린다. 어디로 이동 중인지 보이지 않음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9572854" y="7451663"/>
            <a:ext cx="7239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C5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교정 ·</a:t>
            </a: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 전 · 현재 · 2년 후 예상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3장 시리즈로. 버블이 이동하는 </a:t>
            </a: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화살표가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진짜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의사결정을 만든다 (예: Question Mark가 Star로 갈 추세인가, </a:t>
            </a: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Dog로</a:t>
            </a:r>
            <a:b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갈 추세인가).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1143000" y="9439166"/>
            <a:ext cx="1612350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"BCG matrix is not a to-do list. It is a portfolio diagnostic over relative market share × market growth."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8538624B-A098-4A01-970A-511E4253F202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32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683394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4195" y="3810305"/>
            <a:ext cx="7810805" cy="51435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3 · BCG · 워크숍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WORKSHOP · 본인 사업 BCG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42875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25분 실습 — 제품·서비스 라인의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BCG 배치.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810305"/>
            <a:ext cx="7810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INSTRUCTIONS · 25분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143000" y="4181551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1143000" y="4343400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1716253" y="4195116"/>
            <a:ext cx="55824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제품·서비스 라인 3-7개 추출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5분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790395" y="4654254"/>
            <a:ext cx="67062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1개라면 지역별·고객군별로 쪼개기. 너무 잘게 쪼개지 말 것 </a:t>
            </a:r>
            <a:b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(7개 초과 = 의사결정 흐려짐)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1143000" y="5062118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1143000" y="5224882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1716253" y="5076598"/>
            <a:ext cx="56391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두 축 데이터 수집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10분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790395" y="5543974"/>
            <a:ext cx="6324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성장률(KOSIS, 산업 보고서) + 우리 매출 ÷ 1위 매출. 1위 </a:t>
            </a: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</a:t>
            </a:r>
            <a:b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불명 시 추정 + [추정] 표시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1143000" y="5943600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1143000" y="6105449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8"/>
          <p:cNvSpPr txBox="1"/>
          <p:nvPr/>
        </p:nvSpPr>
        <p:spPr>
          <a:xfrm>
            <a:off x="1716253" y="5990117"/>
            <a:ext cx="39154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2×2 그리드에 배치 + 버블 크기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5분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790395" y="6458407"/>
            <a:ext cx="6783019" cy="152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버블 면적 ∝ 매출. 같은 사분면 안에서도 매출이 큰 것을 우선 다룸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1143000" y="6986930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2100" dirty="0"/>
          </a:p>
        </p:txBody>
      </p:sp>
      <p:sp>
        <p:nvSpPr>
          <p:cNvPr id="26" name="Text 22"/>
          <p:cNvSpPr txBox="1"/>
          <p:nvPr/>
        </p:nvSpPr>
        <p:spPr>
          <a:xfrm>
            <a:off x="1716253" y="6838646"/>
            <a:ext cx="43726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제품별 1줄 결정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5분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790395" y="7262164"/>
            <a:ext cx="6867573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제품에 BUILD / HOLD / HARVEST / DIVEST 중 하나를 적고 이유 1줄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9639605" y="4095598"/>
            <a:ext cx="7239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DELIVERABLE · 제출물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9639605" y="4390949"/>
            <a:ext cx="7239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BCG 매트릭스 1장 + 의사결정표</a:t>
            </a:r>
            <a:endParaRPr lang="en-US" sz="22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639605" y="4972507"/>
            <a:ext cx="7239305" cy="9144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9639605" y="5191049"/>
          <a:ext cx="7237477" cy="2238450"/>
        </p:xfrm>
        <a:graphic>
          <a:graphicData uri="http://schemas.openxmlformats.org/drawingml/2006/table">
            <a:tbl>
              <a:tblPr/>
              <a:tblGrid>
                <a:gridCol w="1167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7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7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07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제품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시장성장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점유율비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분류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결정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7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___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__%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_._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7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___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__%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_._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7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___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__%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_._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7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___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__%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_._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7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___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__%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_._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 26"/>
          <p:cNvSpPr txBox="1"/>
          <p:nvPr/>
        </p:nvSpPr>
        <p:spPr>
          <a:xfrm>
            <a:off x="9639605" y="7658100"/>
            <a:ext cx="8266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추가 결과물 ·</a:t>
            </a: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가장 중요한 1개 의사결정을 1문장으로 — "OO 라인에 </a:t>
            </a:r>
            <a:r>
              <a:rPr lang="en-US" sz="1700" dirty="0" err="1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</a:t>
            </a: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X</a:t>
            </a:r>
            <a:b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%  </a:t>
            </a:r>
            <a:r>
              <a:rPr lang="en-US" sz="1700" dirty="0" err="1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</a:t>
            </a: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투입, △△ 라인은 6개월 내 매각" </a:t>
            </a:r>
            <a:endParaRPr lang="en-US" sz="1700" dirty="0"/>
          </a:p>
        </p:txBody>
      </p:sp>
      <p:sp>
        <p:nvSpPr>
          <p:cNvPr id="33" name="Text 27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제출 후 → Day 1 마무리 (단원 3 워크숍 공유 + 숙제 안내)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62E96A8E-93BC-4C55-A032-CB33A5F24622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33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8" name="Shape 16">
            <a:extLst>
              <a:ext uri="{FF2B5EF4-FFF2-40B4-BE49-F238E27FC236}">
                <a16:creationId xmlns:a16="http://schemas.microsoft.com/office/drawing/2014/main" id="{FE22FAE9-66EB-7129-0468-1B7FF142F246}"/>
              </a:ext>
            </a:extLst>
          </p:cNvPr>
          <p:cNvSpPr/>
          <p:nvPr/>
        </p:nvSpPr>
        <p:spPr>
          <a:xfrm>
            <a:off x="1171830" y="6804457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BF535DBD-953C-BAF1-FADB-D03439A3035A}"/>
              </a:ext>
            </a:extLst>
          </p:cNvPr>
          <p:cNvSpPr/>
          <p:nvPr/>
        </p:nvSpPr>
        <p:spPr>
          <a:xfrm>
            <a:off x="1175947" y="7657070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04323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238805"/>
            <a:ext cx="5257800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524244" y="3238805"/>
            <a:ext cx="5257800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906402" y="3238805"/>
            <a:ext cx="5238598" cy="4572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1143000" y="3238805"/>
            <a:ext cx="57607" cy="457200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6524244" y="3238805"/>
            <a:ext cx="57607" cy="457200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11906402" y="3238805"/>
            <a:ext cx="57607" cy="45720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· 마무리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DAY 1 RECAP · 무엇을 배웠나</a:t>
            </a:r>
            <a:endParaRPr lang="en-US" sz="19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1638605"/>
            <a:ext cx="161931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kern="0" spc="-13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밖에서 안으로 좁혀온 4시간.</a:t>
            </a:r>
            <a:endParaRPr lang="en-US" sz="4500" dirty="0"/>
          </a:p>
        </p:txBody>
      </p:sp>
      <p:sp>
        <p:nvSpPr>
          <p:cNvPr id="16" name="Text 9"/>
          <p:cNvSpPr txBox="1"/>
          <p:nvPr/>
        </p:nvSpPr>
        <p:spPr>
          <a:xfrm>
            <a:off x="1476756" y="3476549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kern="0" spc="-180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6000" dirty="0"/>
          </a:p>
        </p:txBody>
      </p:sp>
      <p:sp>
        <p:nvSpPr>
          <p:cNvPr id="17" name="Text 10"/>
          <p:cNvSpPr txBox="1"/>
          <p:nvPr/>
        </p:nvSpPr>
        <p:spPr>
          <a:xfrm>
            <a:off x="1476756" y="4371746"/>
            <a:ext cx="47631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시대의 바람을 먼저 본다 — PESTEL</a:t>
            </a:r>
            <a:endParaRPr lang="en-US" sz="1900" dirty="0"/>
          </a:p>
        </p:txBody>
      </p:sp>
      <p:sp>
        <p:nvSpPr>
          <p:cNvPr id="18" name="Text 11"/>
          <p:cNvSpPr txBox="1"/>
          <p:nvPr/>
        </p:nvSpPr>
        <p:spPr>
          <a:xfrm>
            <a:off x="1476756" y="4959815"/>
            <a:ext cx="476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거시 변수를 출처 있는 데이터 1개씩으로 채우고, 순풍/역풍/중립으로 분류한다. 모르는 변수가 1개라도 있다면 사업 계획서는 미완성.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1476756" y="5803104"/>
            <a:ext cx="4763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· Aguilar 1967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6858000" y="3476549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kern="0" spc="-180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6000" dirty="0"/>
          </a:p>
        </p:txBody>
      </p:sp>
      <p:sp>
        <p:nvSpPr>
          <p:cNvPr id="21" name="Text 14"/>
          <p:cNvSpPr txBox="1"/>
          <p:nvPr/>
        </p:nvSpPr>
        <p:spPr>
          <a:xfrm>
            <a:off x="6858000" y="4371746"/>
            <a:ext cx="47631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산업 구조가 이익을 결정한다 — 5 Forces</a:t>
            </a:r>
            <a:endParaRPr lang="en-US" sz="1900" dirty="0"/>
          </a:p>
        </p:txBody>
      </p:sp>
      <p:sp>
        <p:nvSpPr>
          <p:cNvPr id="22" name="Text 15"/>
          <p:cNvSpPr txBox="1"/>
          <p:nvPr/>
        </p:nvSpPr>
        <p:spPr>
          <a:xfrm>
            <a:off x="6858000" y="4959815"/>
            <a:ext cx="476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5가지 힘을 1-5점으로 채점한다. 그림만 그리는 것이 가장 흔한 오류. 합계 ÷ 5 = 산업 매력도, 강한 힘에는 차별화·집중·통합 중 하나로 대응.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6858000" y="5803104"/>
            <a:ext cx="4763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· Porter 1979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12239244" y="3476549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kern="0" spc="-180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6000" dirty="0"/>
          </a:p>
        </p:txBody>
      </p:sp>
      <p:sp>
        <p:nvSpPr>
          <p:cNvPr id="25" name="Text 18"/>
          <p:cNvSpPr txBox="1"/>
          <p:nvPr/>
        </p:nvSpPr>
        <p:spPr>
          <a:xfrm>
            <a:off x="12239244" y="4371746"/>
            <a:ext cx="47631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제품마다 다른 운명이 있다 — BCG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12239244" y="4959815"/>
            <a:ext cx="476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성장률 × 상대 점유율로 4사분면 배치. 캐시카우의 현금으로 스타와 물음표를 키운다. 도그는 감정 없이 손절.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12239244" y="5803104"/>
            <a:ext cx="4763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· Henderson 1970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" y="8096098"/>
            <a:ext cx="1600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프레임워크의 줌 레벨이 다르다는 점이 핵심. PESTEL이 답한 "시대의 바람"은 5Forces의 산업 매력도를 결정하고, 산업 매력도는 BCG의 시장 성장률 축을 결정한다. </a:t>
            </a:r>
            <a:r>
              <a:rPr lang="en-US" sz="1800" b="1" kern="0" spc="-54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바깥(거시)이 안쪽(우리 카드)을 정의한다.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산출물 · 본인 사업 PESTEL 1장 + 5Forces 스코어카드 + BCG 매트릭스 — 3개 모두 제출 완료 시 Day 2로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417EED8F-1996-42E8-B009-F62ECB7E89D5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34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816429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21202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5333695"/>
            <a:ext cx="16021202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7524598"/>
            <a:ext cx="16002000" cy="1904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408" r="-408"/>
          <a:stretch/>
        </p:blipFill>
        <p:spPr>
          <a:xfrm>
            <a:off x="1143000" y="3143707"/>
            <a:ext cx="57607" cy="19046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 l="-408" r="-408"/>
          <a:stretch/>
        </p:blipFill>
        <p:spPr>
          <a:xfrm>
            <a:off x="1143000" y="5333695"/>
            <a:ext cx="57607" cy="19046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rcRect l="-408" r="-408"/>
          <a:stretch/>
        </p:blipFill>
        <p:spPr>
          <a:xfrm>
            <a:off x="1143000" y="7524598"/>
            <a:ext cx="57607" cy="190469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· 자율 학습 · HOMEWORK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DAY 1 → DAY 2 · 자율 학습</a:t>
            </a:r>
            <a:endParaRPr lang="en-US" sz="19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Day 2 전에 해 올 것.</a:t>
            </a:r>
            <a:endParaRPr lang="en-US" sz="4000" dirty="0"/>
          </a:p>
        </p:txBody>
      </p:sp>
      <p:sp>
        <p:nvSpPr>
          <p:cNvPr id="16" name="Text 9"/>
          <p:cNvSpPr txBox="1"/>
          <p:nvPr/>
        </p:nvSpPr>
        <p:spPr>
          <a:xfrm>
            <a:off x="1619402" y="3409798"/>
            <a:ext cx="324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</a:t>
            </a:r>
            <a:endParaRPr lang="en-US" sz="3600" dirty="0"/>
          </a:p>
        </p:txBody>
      </p:sp>
      <p:sp>
        <p:nvSpPr>
          <p:cNvPr id="17" name="Text 10"/>
          <p:cNvSpPr txBox="1"/>
          <p:nvPr/>
        </p:nvSpPr>
        <p:spPr>
          <a:xfrm>
            <a:off x="2166214" y="3524098"/>
            <a:ext cx="33229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3개 산출물 다듬기 (60분)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1619402" y="4115773"/>
            <a:ext cx="1524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워크숍에서 만든 PESTEL · 5Forces · BCG 표 3장에서 </a:t>
            </a:r>
            <a:r>
              <a:rPr lang="en-US" sz="18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[검증 필요]·[추정]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표시된 데이터를 1개씩 실제 출처로 보강한다. 출처 없는 칸은 빈칸으로 두는 것이 빈말로 채우는 것보다 낫다.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1619402" y="5600700"/>
            <a:ext cx="305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</a:t>
            </a:r>
            <a:endParaRPr lang="en-US" sz="3600" dirty="0"/>
          </a:p>
        </p:txBody>
      </p:sp>
      <p:sp>
        <p:nvSpPr>
          <p:cNvPr id="20" name="Text 13"/>
          <p:cNvSpPr txBox="1"/>
          <p:nvPr/>
        </p:nvSpPr>
        <p:spPr>
          <a:xfrm>
            <a:off x="2145182" y="5715000"/>
            <a:ext cx="306506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고객 인터뷰 3건 (90분)</a:t>
            </a:r>
            <a:endParaRPr lang="en-US" sz="2100" dirty="0"/>
          </a:p>
        </p:txBody>
      </p:sp>
      <p:sp>
        <p:nvSpPr>
          <p:cNvPr id="21" name="Text 14"/>
          <p:cNvSpPr txBox="1"/>
          <p:nvPr/>
        </p:nvSpPr>
        <p:spPr>
          <a:xfrm>
            <a:off x="1619402" y="6305761"/>
            <a:ext cx="1524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잠재 고객 3명을 30분씩 인터뷰.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사업이 없었다면 무엇을 했을까?"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핵심 질문으로. Day 2의 SWOT·BMC에 필요한 진짜 데이터 — 페인포인트와 대체 행동 — 를 수집한다.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1619402" y="7791602"/>
            <a:ext cx="305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</a:t>
            </a:r>
            <a:endParaRPr lang="en-US" sz="3600" dirty="0"/>
          </a:p>
        </p:txBody>
      </p:sp>
      <p:sp>
        <p:nvSpPr>
          <p:cNvPr id="23" name="Text 16"/>
          <p:cNvSpPr txBox="1"/>
          <p:nvPr/>
        </p:nvSpPr>
        <p:spPr>
          <a:xfrm>
            <a:off x="2151583" y="7905902"/>
            <a:ext cx="6762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자기 자산 / 약점 / 외부 기회 / 외부 위협을 메모 (30분)</a:t>
            </a:r>
            <a:endParaRPr lang="en-US" sz="2100" dirty="0"/>
          </a:p>
        </p:txBody>
      </p:sp>
      <p:sp>
        <p:nvSpPr>
          <p:cNvPr id="24" name="Text 17"/>
          <p:cNvSpPr txBox="1"/>
          <p:nvPr/>
        </p:nvSpPr>
        <p:spPr>
          <a:xfrm>
            <a:off x="1619402" y="8438998"/>
            <a:ext cx="1524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2의 SWOT 워크숍을 시작할 원료. 형식 없이 자유 메모. 강점은 "남보다 잘하는 것", 약점은 "남보다 못하는 것" — 단순한 좋은점/나쁜점이 아님을 유의.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총 소요 약 3시간 · Day 2 09:00 시작 · 산출물 3개 + 인터뷰 노트 + 메모 지참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5DF6C327-E111-4D43-BC99-60F23413B4D6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35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71666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1143000" y="1333195"/>
            <a:ext cx="11430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600200"/>
            <a:ext cx="9525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36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02 · 4 HOURS · 3 FRAMEWORKS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286000"/>
            <a:ext cx="13525805" cy="381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0" i="1" kern="0" spc="-6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Day 2.</a:t>
            </a:r>
            <a:endParaRPr lang="en-US" sz="300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7048195"/>
            <a:ext cx="1143000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300" kern="0" spc="-189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진단 → 모델 → 자원.</a:t>
            </a:r>
            <a:endParaRPr lang="en-US" sz="63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8572500"/>
            <a:ext cx="104781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밖을 봤으니 안을 본다. 우리의 강·약점을 진단하고(SWOT), 돈 버는 구조를 설계하고(BMC), 진짜 자원 우위를 가려낸다(VRIO).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763195" y="2686507"/>
            <a:ext cx="4572000" cy="9144"/>
          </a:xfrm>
          <a:prstGeom prst="rect">
            <a:avLst/>
          </a:prstGeom>
          <a:solidFill>
            <a:srgbClr val="F4EFE6">
              <a:alpha val="2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2763195" y="2286000"/>
            <a:ext cx="4572000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TODAY'S LENSES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63195" y="4038905"/>
            <a:ext cx="4572000" cy="9144"/>
          </a:xfrm>
          <a:prstGeom prst="rect">
            <a:avLst/>
          </a:prstGeom>
          <a:solidFill>
            <a:srgbClr val="F4EFE6">
              <a:alpha val="18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2763195" y="3181198"/>
            <a:ext cx="4572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SWOT + TOWS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763195" y="5385816"/>
            <a:ext cx="4572000" cy="9144"/>
          </a:xfrm>
          <a:prstGeom prst="rect">
            <a:avLst/>
          </a:prstGeom>
          <a:solidFill>
            <a:srgbClr val="F4EFE6">
              <a:alpha val="18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2763195" y="4528109"/>
            <a:ext cx="4572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Business Model Canvas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2763195" y="5875020"/>
            <a:ext cx="4572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VRIO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2763195" y="2924251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09:00-10:20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763195" y="3604565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SRI 1960s · Weihrich 1982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763195" y="4271162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10:30-11:50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763195" y="4950562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Osterwalder &amp; Pigneur · 2010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2763195" y="5618074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12:00-13:00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763195" y="6297473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Barney · 1991 · JoM</a:t>
            </a:r>
            <a:endParaRPr lang="en-US" sz="17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9DB4FDEF-EE54-412A-949D-C35BC4914299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36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024406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rcRect t="-400" b="-400"/>
          <a:stretch/>
        </p:blipFill>
        <p:spPr>
          <a:xfrm>
            <a:off x="2667305" y="5333695"/>
            <a:ext cx="13144500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524305" y="3619195"/>
            <a:ext cx="4591202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3"/>
          <p:cNvSpPr/>
          <p:nvPr/>
        </p:nvSpPr>
        <p:spPr>
          <a:xfrm>
            <a:off x="6858000" y="3619195"/>
            <a:ext cx="4591202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12191695" y="3619195"/>
            <a:ext cx="4572000" cy="36191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524305" y="3619195"/>
            <a:ext cx="57607" cy="3619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6858000" y="3619195"/>
            <a:ext cx="57607" cy="36191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2191695" y="3619195"/>
            <a:ext cx="57607" cy="361919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2 · 진단 → 모델 → 자원</a:t>
            </a:r>
            <a:endParaRPr lang="en-US" sz="1600" dirty="0"/>
          </a:p>
        </p:txBody>
      </p:sp>
      <p:sp>
        <p:nvSpPr>
          <p:cNvPr id="15" name="Text 7"/>
          <p:cNvSpPr txBox="1"/>
          <p:nvPr/>
        </p:nvSpPr>
        <p:spPr>
          <a:xfrm>
            <a:off x="1143000" y="123809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DAY 2 · ROADMAP</a:t>
            </a:r>
            <a:endParaRPr lang="en-US" sz="190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1638605"/>
            <a:ext cx="14287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kern="0" spc="-13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"우리는 어떻게 돈을 버는가?"</a:t>
            </a:r>
            <a:endParaRPr lang="en-US" sz="4500" dirty="0"/>
          </a:p>
        </p:txBody>
      </p:sp>
      <p:sp>
        <p:nvSpPr>
          <p:cNvPr id="17" name="Text 9"/>
          <p:cNvSpPr txBox="1"/>
          <p:nvPr/>
        </p:nvSpPr>
        <p:spPr>
          <a:xfrm>
            <a:off x="1904695" y="3905402"/>
            <a:ext cx="4000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04 · DIAGNOSE</a:t>
            </a:r>
            <a:endParaRPr lang="en-US" sz="1500" dirty="0"/>
          </a:p>
        </p:txBody>
      </p:sp>
      <p:sp>
        <p:nvSpPr>
          <p:cNvPr id="18" name="Text 10"/>
          <p:cNvSpPr txBox="1"/>
          <p:nvPr/>
        </p:nvSpPr>
        <p:spPr>
          <a:xfrm>
            <a:off x="1904695" y="4238244"/>
            <a:ext cx="400050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kern="0" spc="-9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SWOT</a:t>
            </a:r>
            <a:endParaRPr lang="en-US" sz="3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000" kern="0" spc="-9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 TOWS</a:t>
            </a:r>
            <a:endParaRPr lang="en-US" sz="3000" dirty="0"/>
          </a:p>
        </p:txBody>
      </p:sp>
      <p:sp>
        <p:nvSpPr>
          <p:cNvPr id="19" name="Text 11"/>
          <p:cNvSpPr txBox="1"/>
          <p:nvPr/>
        </p:nvSpPr>
        <p:spPr>
          <a:xfrm>
            <a:off x="1904695" y="5640984"/>
            <a:ext cx="4000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강점·약점·기회·위협을 식별하고, 4가지 교차 전략(SO·WO·ST·WT)으로 전환한다.</a:t>
            </a:r>
            <a:endParaRPr lang="en-US" sz="1900" dirty="0"/>
          </a:p>
        </p:txBody>
      </p:sp>
      <p:sp>
        <p:nvSpPr>
          <p:cNvPr id="20" name="Text 12"/>
          <p:cNvSpPr txBox="1"/>
          <p:nvPr/>
        </p:nvSpPr>
        <p:spPr>
          <a:xfrm>
            <a:off x="1904695" y="6571122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산출물: SWOT 1장 + TOWS 4개 전략</a:t>
            </a:r>
            <a:endParaRPr lang="en-US" sz="1700" dirty="0"/>
          </a:p>
        </p:txBody>
      </p:sp>
      <p:sp>
        <p:nvSpPr>
          <p:cNvPr id="21" name="Text 13"/>
          <p:cNvSpPr txBox="1"/>
          <p:nvPr/>
        </p:nvSpPr>
        <p:spPr>
          <a:xfrm>
            <a:off x="1904695" y="5134356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SRI 1960s · Weihrich 1982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7239305" y="3905402"/>
            <a:ext cx="4000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05 · DESIGN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7239305" y="4238244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kern="0" spc="-9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BMC</a:t>
            </a:r>
            <a:endParaRPr lang="en-US" sz="3000" dirty="0"/>
          </a:p>
        </p:txBody>
      </p:sp>
      <p:sp>
        <p:nvSpPr>
          <p:cNvPr id="24" name="Text 16"/>
          <p:cNvSpPr txBox="1"/>
          <p:nvPr/>
        </p:nvSpPr>
        <p:spPr>
          <a:xfrm>
            <a:off x="7239305" y="5221274"/>
            <a:ext cx="4000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블록으로 사업 모델 전체를 한 장에 그린다. 가치 제안 → 고객 → 수익 → 비용까지 일관성을 점검한다.</a:t>
            </a:r>
            <a:endParaRPr lang="en-US" sz="1900" dirty="0"/>
          </a:p>
        </p:txBody>
      </p:sp>
      <p:sp>
        <p:nvSpPr>
          <p:cNvPr id="25" name="Text 17"/>
          <p:cNvSpPr txBox="1"/>
          <p:nvPr/>
        </p:nvSpPr>
        <p:spPr>
          <a:xfrm>
            <a:off x="7239305" y="6151412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산출물: BMC 9-블록 + TAM-SAM-SOM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7239305" y="4714646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Osterwalder · 2010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12573000" y="3905402"/>
            <a:ext cx="4000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06 · VERIFY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2573000" y="4238244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kern="0" spc="-90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VRIO</a:t>
            </a:r>
            <a:endParaRPr lang="en-US" sz="3000" dirty="0"/>
          </a:p>
        </p:txBody>
      </p:sp>
      <p:sp>
        <p:nvSpPr>
          <p:cNvPr id="29" name="Text 21"/>
          <p:cNvSpPr txBox="1"/>
          <p:nvPr/>
        </p:nvSpPr>
        <p:spPr>
          <a:xfrm>
            <a:off x="12573000" y="6151412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산출물: VRIO 점수표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12573000" y="4714646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Barney · 1991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12573000" y="5221274"/>
            <a:ext cx="4000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3-5개를 가치·희소성·모방가능성·조직 4단계로 통과시킨다. 진짜 우위와 가짜 우위를 가른다.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6096305" y="5048402"/>
            <a:ext cx="952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700" kern="0" spc="-112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→</a:t>
            </a:r>
            <a:endParaRPr lang="en-US" sz="3700" dirty="0"/>
          </a:p>
        </p:txBody>
      </p:sp>
      <p:sp>
        <p:nvSpPr>
          <p:cNvPr id="33" name="Text 25"/>
          <p:cNvSpPr txBox="1"/>
          <p:nvPr/>
        </p:nvSpPr>
        <p:spPr>
          <a:xfrm>
            <a:off x="11430000" y="5048402"/>
            <a:ext cx="952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700" kern="0" spc="-112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→</a:t>
            </a:r>
            <a:endParaRPr lang="en-US" sz="3700" dirty="0"/>
          </a:p>
        </p:txBody>
      </p:sp>
      <p:sp>
        <p:nvSpPr>
          <p:cNvPr id="34" name="Text 26"/>
          <p:cNvSpPr txBox="1"/>
          <p:nvPr/>
        </p:nvSpPr>
        <p:spPr>
          <a:xfrm>
            <a:off x="1524305" y="7905902"/>
            <a:ext cx="152403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Day 1이 "밖"이었다면, Day 2는 "안". </a:t>
            </a:r>
            <a:r>
              <a:rPr lang="en-US" sz="1900" b="1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진단(SWOT)으로 우리 위치를 알고, 모델(BMC)로 돈 버는 구조를 설계한 뒤, VRIO로 차별화의 진짜 원천을 검증한다.</a:t>
            </a:r>
            <a:endParaRPr lang="en-US" sz="1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Inside-out diagnosis — Position · Model · Resource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C7ABFE33-F607-481A-89D9-42990211458A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37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1575448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047695"/>
            <a:ext cx="5257800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524244" y="3047695"/>
            <a:ext cx="5257800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906402" y="3047695"/>
            <a:ext cx="5238598" cy="5333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2 · 시작 · Day 1 리캡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RECAP · 어제의 3개 산출물 5분 공유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옆 사람과 공유 — 2분씩 5분.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333902"/>
            <a:ext cx="4572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PROMPT 01 · PESTEL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524305" y="3610051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가장 큰 역풍 1개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1524305" y="4181551"/>
            <a:ext cx="495147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"내 사업에 가장 강한 역풍은 ___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이유는 ___입니다."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524305" y="4677156"/>
            <a:ext cx="4572000" cy="811072"/>
          </a:xfrm>
          <a:prstGeom prst="rect">
            <a:avLst/>
          </a:prstGeom>
          <a:solidFill>
            <a:srgbClr val="FAF7EE"/>
          </a:solidFill>
          <a:ln/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524305" y="4677156"/>
            <a:ext cx="28346" cy="714146"/>
          </a:xfrm>
          <a:prstGeom prst="rect">
            <a:avLst/>
          </a:prstGeom>
          <a:solidFill>
            <a:srgbClr val="C58A2E"/>
          </a:solidFill>
          <a:ln w="12700">
            <a:solidFill>
              <a:srgbClr val="C58A2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1705356" y="4747481"/>
            <a:ext cx="42391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EXAMPLE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1705356" y="5085960"/>
            <a:ext cx="42391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"여름철 태풍·결항으로 7-8월 매출이 30% 줄어들 위험."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1524305" y="5731636"/>
            <a:ext cx="48956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이 역풍을 어떻게 우회할지가 오늘 SWOT-</a:t>
            </a:r>
            <a:r>
              <a:rPr lang="en-US" sz="1600" dirty="0" err="1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TOWS의</a:t>
            </a:r>
            <a:b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 전략으로 들어간다.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905549" y="3333902"/>
            <a:ext cx="4572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PROMPT 02 · 5 FORCES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905549" y="3610051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가장 강한 힘과 점수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6905549" y="4181551"/>
            <a:ext cx="5257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 산업의 5Forces 합계는 ___ / 5, 가장 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강한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힘은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___입니다."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905549" y="4677156"/>
            <a:ext cx="4572000" cy="714146"/>
          </a:xfrm>
          <a:prstGeom prst="rect">
            <a:avLst/>
          </a:prstGeom>
          <a:solidFill>
            <a:srgbClr val="FAF7EE"/>
          </a:solidFill>
          <a:ln/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6905549" y="4677156"/>
            <a:ext cx="28346" cy="714146"/>
          </a:xfrm>
          <a:prstGeom prst="rect">
            <a:avLst/>
          </a:prstGeom>
          <a:solidFill>
            <a:srgbClr val="C58A2E"/>
          </a:solidFill>
          <a:ln w="12700">
            <a:solidFill>
              <a:srgbClr val="C58A2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7086600" y="4829861"/>
            <a:ext cx="42391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EXAMPLE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7086600" y="5020056"/>
            <a:ext cx="42391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"3.4 / 5, 가장 강한 힘은 신규 진입자 4점."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6905549" y="5731636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이 힘을 무력화할 차별화가 오늘 BMC의 가치 제안으로 들어간다.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2287707" y="3333902"/>
            <a:ext cx="4572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PROMPT 03 · BCG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12287707" y="3610051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버릴 라인 1개</a:t>
            </a:r>
            <a:endParaRPr lang="en-US" sz="2400" dirty="0"/>
          </a:p>
        </p:txBody>
      </p:sp>
      <p:sp>
        <p:nvSpPr>
          <p:cNvPr id="31" name="Shape 27"/>
          <p:cNvSpPr/>
          <p:nvPr/>
        </p:nvSpPr>
        <p:spPr>
          <a:xfrm>
            <a:off x="12287707" y="4677155"/>
            <a:ext cx="4572000" cy="830275"/>
          </a:xfrm>
          <a:prstGeom prst="rect">
            <a:avLst/>
          </a:prstGeom>
          <a:solidFill>
            <a:srgbClr val="C58A2E">
              <a:alpha val="15000"/>
            </a:srgbClr>
          </a:solidFill>
          <a:ln/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2" name="Shape 28"/>
          <p:cNvSpPr/>
          <p:nvPr/>
        </p:nvSpPr>
        <p:spPr>
          <a:xfrm>
            <a:off x="12287707" y="4677156"/>
            <a:ext cx="28346" cy="714146"/>
          </a:xfrm>
          <a:prstGeom prst="rect">
            <a:avLst/>
          </a:prstGeom>
          <a:solidFill>
            <a:srgbClr val="C58A2E"/>
          </a:solidFill>
          <a:ln w="12700">
            <a:solidFill>
              <a:srgbClr val="C58A2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12467844" y="4689815"/>
            <a:ext cx="42391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EXAMPLE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12454128" y="4980859"/>
            <a:ext cx="42391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"고들빼기 김치 라인을 6개월 안에 매각하거나 OEM 전환."</a:t>
            </a:r>
            <a:endParaRPr lang="en-US" sz="1700" dirty="0"/>
          </a:p>
        </p:txBody>
      </p:sp>
      <p:sp>
        <p:nvSpPr>
          <p:cNvPr id="35" name="Text 31"/>
          <p:cNvSpPr txBox="1"/>
          <p:nvPr/>
        </p:nvSpPr>
        <p:spPr>
          <a:xfrm>
            <a:off x="12287707" y="4181551"/>
            <a:ext cx="5048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"가장 빨리 버려야 할 라인은 ___이며 6개월 안에 ___합니다."</a:t>
            </a:r>
            <a:endParaRPr lang="en-US" sz="1800" dirty="0"/>
          </a:p>
        </p:txBody>
      </p:sp>
      <p:sp>
        <p:nvSpPr>
          <p:cNvPr id="36" name="Text 32"/>
          <p:cNvSpPr txBox="1"/>
          <p:nvPr/>
        </p:nvSpPr>
        <p:spPr>
          <a:xfrm>
            <a:off x="12287707" y="5731636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이 결정은 오늘 VRIO에서 자원 재배치의 </a:t>
            </a:r>
            <a:r>
              <a:rPr lang="en-US" sz="1600" dirty="0" err="1">
                <a:solidFill>
                  <a:srgbClr val="F4EFE6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근거가</a:t>
            </a:r>
            <a:r>
              <a:rPr lang="en-US" sz="1600" dirty="0">
                <a:solidFill>
                  <a:srgbClr val="F4EFE6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600" dirty="0">
                <a:solidFill>
                  <a:srgbClr val="F4EFE6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F4EFE6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r>
              <a:rPr lang="en-US" sz="1600" dirty="0" err="1">
                <a:solidFill>
                  <a:srgbClr val="F4EFE6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된다</a:t>
            </a:r>
            <a:r>
              <a:rPr lang="en-US" sz="1600" dirty="0">
                <a:solidFill>
                  <a:srgbClr val="F4EFE6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2명이 짝을 이뤄 각각 2분씩 발표 → 1분 피드백 → 단원 4 시작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920BECB9-896B-472D-AE4E-27EA057A44E9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38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5670305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715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t="-420" b="-420"/>
          <a:stretch/>
        </p:blipFill>
        <p:spPr>
          <a:xfrm>
            <a:off x="857707" y="1524305"/>
            <a:ext cx="761695" cy="384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79039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28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04 · DIAGNOSE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7707" y="2286000"/>
            <a:ext cx="4572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0" i="1" kern="0" spc="-3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04.</a:t>
            </a:r>
            <a:endParaRPr lang="en-US" sz="150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4953305"/>
            <a:ext cx="45720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SWOT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 TOWS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6320333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SRI 1960s · Weihrich 1982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723930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강·약점은 내부, 기회·위협은 외부. 4칸</a:t>
            </a:r>
            <a:b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채우기로 끝내지 말고 4가지 교차 전략(SO·WO·ST·WT)으로 전환한다.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76695" y="1524305"/>
            <a:ext cx="10478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4 · 80분 학습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76695" y="1904695"/>
            <a:ext cx="10478110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4칸 채우기에서</a:t>
            </a:r>
            <a:endParaRPr lang="en-US" sz="5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4개 전략 만들기로.</a:t>
            </a:r>
            <a:endParaRPr lang="en-US" sz="5100" dirty="0"/>
          </a:p>
        </p:txBody>
      </p:sp>
      <p:sp>
        <p:nvSpPr>
          <p:cNvPr id="13" name="Text 10"/>
          <p:cNvSpPr txBox="1"/>
          <p:nvPr/>
        </p:nvSpPr>
        <p:spPr>
          <a:xfrm>
            <a:off x="6476695" y="4667098"/>
            <a:ext cx="11036948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SWOT은 한국 사업계획서에서 가장 흔히 쓰이지만 가장 잘못 쓰이는 도구다. </a:t>
            </a: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"강점·약점·기회·위협을 나열했다"로 끝낸다.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76695" y="5488229"/>
            <a:ext cx="10287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진짜 가치는 TOWS — 4개 칸을 곱해서 만든 </a:t>
            </a: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교차 전략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있다.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76695" y="7592263"/>
            <a:ext cx="1047719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476695" y="7239305"/>
            <a:ext cx="104781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학습 목표 · OBJECTIVES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76695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476695" y="8186657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SWOT 4칸을 각각 3개 이상의 출처 있는 항목으로 채울 수 있다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0071202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10071202" y="8186657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SO/WO/ST/WT 교차 전략 4개를 명확히 만들 수 있다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3755412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3755412" y="8186657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"강점·약점은 좋은점·나쁜점이 아니다"를 구분할 수 있다</a:t>
            </a:r>
            <a:endParaRPr lang="en-US" sz="18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774028D6-736D-4547-B7E3-760BE5549BD6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39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9424807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619195"/>
            <a:ext cx="8001000" cy="2667305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334195" y="3619195"/>
            <a:ext cx="8020202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6476695"/>
            <a:ext cx="8020202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334195" y="6476695"/>
            <a:ext cx="8001000" cy="266730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4 · SWOT · 도입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238098"/>
            <a:ext cx="7620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SWOT · DEFINITION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1638605"/>
            <a:ext cx="161931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300" kern="0" spc="-13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내부 · 외부 × 긍정 · 부정.</a:t>
            </a:r>
            <a:endParaRPr lang="en-US" sz="4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2723998"/>
            <a:ext cx="16193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SWOT은 2개 축의 2×2 매트릭스. </a:t>
            </a:r>
            <a:r>
              <a:rPr lang="en-US" sz="1900" b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축을 잘못 이해하면 4칸이 뒤죽박죽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된다.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1524305" y="3905402"/>
            <a:ext cx="7239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· POSITIVE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524305" y="4123944"/>
            <a:ext cx="7239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 · Strengths</a:t>
            </a:r>
            <a:endParaRPr lang="en-US" sz="3600" dirty="0"/>
          </a:p>
        </p:txBody>
      </p:sp>
      <p:sp>
        <p:nvSpPr>
          <p:cNvPr id="17" name="Text 13"/>
          <p:cNvSpPr txBox="1"/>
          <p:nvPr/>
        </p:nvSpPr>
        <p:spPr>
          <a:xfrm>
            <a:off x="1524305" y="4714646"/>
            <a:ext cx="7239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"남보다 잘하는 것."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단순한 장점 ≠ 강점. 경쟁사와 비교했을 때만 의미 있음.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524305" y="5385212"/>
            <a:ext cx="74779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여수 5개 섬 어촌계와의 5년 협약 (경쟁자 없음) → 강점. "친절한 사장님" → 강점 아님 (누구나 주장)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9715500" y="4123944"/>
            <a:ext cx="7239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 · Weaknesses</a:t>
            </a:r>
            <a:endParaRPr lang="en-US" sz="3600" dirty="0"/>
          </a:p>
        </p:txBody>
      </p:sp>
      <p:sp>
        <p:nvSpPr>
          <p:cNvPr id="20" name="Text 16"/>
          <p:cNvSpPr txBox="1"/>
          <p:nvPr/>
        </p:nvSpPr>
        <p:spPr>
          <a:xfrm>
            <a:off x="9649596" y="4788788"/>
            <a:ext cx="7239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"남보다 못하는 것."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단순한 단점 ≠ 약점. 경쟁사가 잘하는 데 우리만 못하면 약점.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9715500" y="5533496"/>
            <a:ext cx="7239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운영 자본이 6개월치만 있음 → 약점. "직원이 1명" → 약점 아님 (1인 사업의 본질)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9715500" y="3905402"/>
            <a:ext cx="7239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· NEGATIVE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524305" y="6981444"/>
            <a:ext cx="7239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 · Opportunities</a:t>
            </a:r>
            <a:endParaRPr lang="en-US" sz="3600" dirty="0"/>
          </a:p>
        </p:txBody>
      </p:sp>
      <p:sp>
        <p:nvSpPr>
          <p:cNvPr id="24" name="Text 20"/>
          <p:cNvSpPr txBox="1"/>
          <p:nvPr/>
        </p:nvSpPr>
        <p:spPr>
          <a:xfrm>
            <a:off x="1524305" y="7662764"/>
            <a:ext cx="7239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"우리가 통제할 수 없지만 유리하게 작용하는 외부 변화."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PESTEL의 순풍이 여기로 들어온다.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524305" y="8390996"/>
            <a:ext cx="7239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워케이션 시장 +22% 성장, 청년창업 보조금 확대. 주의: 우리가 만드는 것은 기회가 아님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1524305" y="6762902"/>
            <a:ext cx="7239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EXTERNAL · POSITIVE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9715500" y="6981444"/>
            <a:ext cx="7239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 · Threats</a:t>
            </a:r>
            <a:endParaRPr lang="en-US" sz="3600" dirty="0"/>
          </a:p>
        </p:txBody>
      </p:sp>
      <p:sp>
        <p:nvSpPr>
          <p:cNvPr id="28" name="Text 24"/>
          <p:cNvSpPr txBox="1"/>
          <p:nvPr/>
        </p:nvSpPr>
        <p:spPr>
          <a:xfrm>
            <a:off x="9715500" y="6762902"/>
            <a:ext cx="7239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EXTERNAL · NEGATIVE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9715500" y="7662764"/>
            <a:ext cx="7239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"우리가 통제할 수 없으며 불리하게 작용하는 외부 변화."</a:t>
            </a:r>
            <a:r>
              <a:rPr lang="en-US" sz="1800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PESTEL의 역풍이 여기로 들어온다.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9715500" y="8242712"/>
            <a:ext cx="7239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여름 태풍 강도 증가, 신규 진입자 +18%/년, 식품안전법 개정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Puyt, Lie &amp; Wilderom (2023). The origins of SWOT analysis. LRP 56(3)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2388C564-9C6C-4DEA-BD8F-E37CF42D765B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40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358846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047695"/>
            <a:ext cx="16021202" cy="6019495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4 · SWOT · 작성 규칙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HOW TO WRITE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좋은 SWOT 항목 vs 나쁜 SWOT 항목.</a:t>
            </a:r>
            <a:endParaRPr lang="en-US" sz="4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850740"/>
              </p:ext>
            </p:extLst>
          </p:nvPr>
        </p:nvGraphicFramePr>
        <p:xfrm>
          <a:off x="1143000" y="3047695"/>
          <a:ext cx="15992856" cy="6001205"/>
        </p:xfrm>
        <a:graphic>
          <a:graphicData uri="http://schemas.openxmlformats.org/drawingml/2006/table">
            <a:tbl>
              <a:tblPr/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2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6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0024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Noto Sans KR" pitchFamily="34" charset="-120"/>
                        </a:rPr>
                        <a:t>칸</a:t>
                      </a:r>
                      <a:endParaRPr lang="en-US" sz="1400" dirty="0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A14242"/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Noto Sans KR" pitchFamily="34" charset="-120"/>
                        </a:rPr>
                        <a:t>✗ 나쁜 항목 (모호·비교 없음·근거 없음)</a:t>
                      </a:r>
                      <a:endParaRPr lang="en-US" sz="1400" dirty="0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5A7A"/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Noto Sans KR" pitchFamily="34" charset="-120"/>
                        </a:rPr>
                        <a:t>✓ 좋은 항목 (구체·비교·근거 있음)</a:t>
                      </a:r>
                      <a:endParaRPr lang="en-US" sz="1400" dirty="0"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24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S</a:t>
                      </a:r>
                      <a:endParaRPr lang="en-US" sz="18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"친절한 서비스"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"좋은 위치"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"열정 있는 대표" </a:t>
                      </a:r>
                      <a:endParaRPr lang="en-US" sz="1400" dirty="0"/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여수 5개 섬 어촌계와의 </a:t>
                      </a: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5년 독점 협약 (경쟁사 0건)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워케이션 직장인 페르소나 인터뷰 데이터 </a:t>
                      </a: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N=42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대표가 호텔업 10년 경력 + 객실관리사 자격 </a:t>
                      </a:r>
                      <a:endParaRPr lang="en-US" sz="1400" dirty="0"/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24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A14242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W</a:t>
                      </a:r>
                      <a:endParaRPr lang="en-US" sz="18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4242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"자금이 부족함"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"인지도가 없음"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"사람이 적음" </a:t>
                      </a:r>
                      <a:endParaRPr lang="en-US" sz="1400" dirty="0"/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운영 자본 </a:t>
                      </a: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6개월치만 보유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(BEP 도달 전 자금 소진 위험)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자체 직판 채널 0%, OTA 의존 100% → </a:t>
                      </a: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수수료 12-17% 마진 잠식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마케팅 인력 0명 (경쟁사 평균 1.4명) </a:t>
                      </a:r>
                      <a:endParaRPr lang="en-US" sz="1400" dirty="0"/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24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C5A7A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O</a:t>
                      </a:r>
                      <a:endParaRPr lang="en-US" sz="18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7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"AI가 발전함"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"환경에 관심 많아짐"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"관광객이 늘어남" </a:t>
                      </a:r>
                      <a:endParaRPr lang="en-US" sz="1400" dirty="0"/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</a:t>
                      </a: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워케이션 시장 +22%/년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성장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전남도 해양관광 5개년 예산 </a:t>
                      </a: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1.2조원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, 빈집 보조금 5천만/동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5G 도서 커버리지 92% → 자동화 운영 가능 </a:t>
                      </a:r>
                      <a:endParaRPr lang="en-US" sz="1400" dirty="0"/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24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T</a:t>
                      </a:r>
                      <a:endParaRPr lang="en-US" sz="18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"경쟁이 심함"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"코로나 같은 위기"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"기후 변화" </a:t>
                      </a:r>
                      <a:endParaRPr lang="en-US" sz="1400" dirty="0"/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여수 농어촌민박 신규 등록 </a:t>
                      </a: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+18%/년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(신규 진입 폭증)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남해안 해수온 상승→ 여름 태풍 강도 증가 → </a:t>
                      </a: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7-8월 결항 위험</a:t>
                      </a:r>
                      <a:endParaRPr lang="en-US" sz="14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• 식품 표시·광고 규정 강화(예시) → 어촌 체험 식재료 표시 의무 </a:t>
                      </a:r>
                      <a:endParaRPr lang="en-US" sz="1400" dirty="0"/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— 각 칸에 ≥ 3 항목, 각 항목은 숫자/출처/비교 중 1개 이상을 포함 · 오른쪽 수치는 가상 사례 예시값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75CE9E2B-BA8F-43F8-A44D-5F295D1F7B42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41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8499413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8039405" cy="308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C58A2E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334195" y="2857500"/>
            <a:ext cx="8039405" cy="308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A14242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6096305"/>
            <a:ext cx="8039405" cy="308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5A7A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334195" y="6096305"/>
            <a:ext cx="8001000" cy="3047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400507"/>
            <a:ext cx="7620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4 · SWOT · 전남 케이스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WORKED CASE · 여수 섬-스테이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1638605"/>
            <a:ext cx="161931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700" kern="0" spc="-11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"여수 섬-스테이"의 SWOT.</a:t>
            </a:r>
            <a:endParaRPr lang="en-US" sz="3700" dirty="0"/>
          </a:p>
        </p:txBody>
      </p:sp>
      <p:sp>
        <p:nvSpPr>
          <p:cNvPr id="14" name="Text 10"/>
          <p:cNvSpPr txBox="1"/>
          <p:nvPr/>
        </p:nvSpPr>
        <p:spPr>
          <a:xfrm>
            <a:off x="1524305" y="3047695"/>
            <a:ext cx="2578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00" kern="0" spc="-94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</a:t>
            </a:r>
            <a:endParaRPr lang="en-US" sz="3100" dirty="0"/>
          </a:p>
        </p:txBody>
      </p:sp>
      <p:sp>
        <p:nvSpPr>
          <p:cNvPr id="15" name="Text 11"/>
          <p:cNvSpPr txBox="1"/>
          <p:nvPr/>
        </p:nvSpPr>
        <p:spPr>
          <a:xfrm>
            <a:off x="1875434" y="3181198"/>
            <a:ext cx="233537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Strengths · 내부 강점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714500" y="3857854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 5개 도서 어촌계와 </a:t>
            </a: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 독점 협약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(경쟁사 보유 0)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1714500" y="4100170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호텔업 10년 경력 + 객실관리사·관광통역안내사 자격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1714500" y="4343400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워케이션 잠재고객 인터뷰 </a:t>
            </a: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N=42 (수도권 IT 직장인 30대)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1714500" y="4586630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키리스·자동결제 표준 기술 스택으로 </a:t>
            </a: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운영 5채 가능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1524305" y="3571646"/>
            <a:ext cx="7239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남보다 잘하는 것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9715500" y="3047695"/>
            <a:ext cx="4197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00" kern="0" spc="-94" dirty="0">
                <a:solidFill>
                  <a:srgbClr val="A1424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</a:t>
            </a:r>
            <a:endParaRPr lang="en-US" sz="3100" dirty="0"/>
          </a:p>
        </p:txBody>
      </p:sp>
      <p:sp>
        <p:nvSpPr>
          <p:cNvPr id="22" name="Text 18"/>
          <p:cNvSpPr txBox="1"/>
          <p:nvPr/>
        </p:nvSpPr>
        <p:spPr>
          <a:xfrm>
            <a:off x="10262311" y="3181198"/>
            <a:ext cx="254660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Weaknesses · 내부 약점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9905695" y="3857854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자본 </a:t>
            </a: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6개월치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(BEP 8개월 예상 → 2개월 부족)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9905695" y="4100170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직판 0%, </a:t>
            </a: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OTA 의존 100% → 수수료 12-17%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마진 잠식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9905695" y="4343400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브랜드·인지도 0 — 검색 시 노출 시 SEO·PR 비용 추가 필요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9905695" y="4586630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섬 위치 → </a:t>
            </a: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7-8월 태풍·결항 시 매출 0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 운영 리스크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9715500" y="3571646"/>
            <a:ext cx="7239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남보다 못하는 것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1524305" y="6286500"/>
            <a:ext cx="3054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00" kern="0" spc="-94" dirty="0">
                <a:solidFill>
                  <a:srgbClr val="1C5A7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</a:t>
            </a:r>
            <a:endParaRPr lang="en-US" sz="3100" dirty="0"/>
          </a:p>
        </p:txBody>
      </p:sp>
      <p:sp>
        <p:nvSpPr>
          <p:cNvPr id="29" name="Text 25"/>
          <p:cNvSpPr txBox="1"/>
          <p:nvPr/>
        </p:nvSpPr>
        <p:spPr>
          <a:xfrm>
            <a:off x="1954073" y="6420002"/>
            <a:ext cx="285658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Opportunities · 외부 기회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714500" y="7095744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전남도 「해양관광 5개년」 </a:t>
            </a: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1.2조원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빈집 보조금 5천만/동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1714500" y="7338974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워케이션 시장 </a:t>
            </a: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+22%/년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성장</a:t>
            </a:r>
            <a:endParaRPr lang="en-US" sz="1700" dirty="0"/>
          </a:p>
        </p:txBody>
      </p:sp>
      <p:sp>
        <p:nvSpPr>
          <p:cNvPr id="32" name="Text 28"/>
          <p:cNvSpPr txBox="1"/>
          <p:nvPr/>
        </p:nvSpPr>
        <p:spPr>
          <a:xfrm>
            <a:off x="1714500" y="7582205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"관계인구" 트렌드 — MZ의 두 번째 거주지 수요</a:t>
            </a:r>
            <a:endParaRPr lang="en-US" sz="1700" dirty="0"/>
          </a:p>
        </p:txBody>
      </p:sp>
      <p:sp>
        <p:nvSpPr>
          <p:cNvPr id="33" name="Text 29"/>
          <p:cNvSpPr txBox="1"/>
          <p:nvPr/>
        </p:nvSpPr>
        <p:spPr>
          <a:xfrm>
            <a:off x="1714500" y="7824521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5G 도서 커버리지 92% → 무인 운영·원격 체크인 가능</a:t>
            </a:r>
            <a:endParaRPr lang="en-US" sz="1700" dirty="0"/>
          </a:p>
        </p:txBody>
      </p:sp>
      <p:sp>
        <p:nvSpPr>
          <p:cNvPr id="34" name="Text 30"/>
          <p:cNvSpPr txBox="1"/>
          <p:nvPr/>
        </p:nvSpPr>
        <p:spPr>
          <a:xfrm>
            <a:off x="1524305" y="6810451"/>
            <a:ext cx="7239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PESTEL의 순풍 (우리가 통제 못 함, 유리)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9715500" y="6286500"/>
            <a:ext cx="2578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00" kern="0" spc="-94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</a:t>
            </a:r>
            <a:endParaRPr lang="en-US" sz="3100" dirty="0"/>
          </a:p>
        </p:txBody>
      </p:sp>
      <p:sp>
        <p:nvSpPr>
          <p:cNvPr id="36" name="Text 32"/>
          <p:cNvSpPr txBox="1"/>
          <p:nvPr/>
        </p:nvSpPr>
        <p:spPr>
          <a:xfrm>
            <a:off x="10105034" y="6420002"/>
            <a:ext cx="210860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Threats · 외부 위협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9715500" y="6810451"/>
            <a:ext cx="7239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C58A2E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PESTEL의 역풍 (우리가 통제 못 함, 불리)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9905695" y="7095744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 농어촌민박 신규 등록 </a:t>
            </a:r>
            <a:r>
              <a:rPr lang="en-US" sz="1700" b="1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+18%/년</a:t>
            </a: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5년 내 공급 과잉</a:t>
            </a:r>
            <a:endParaRPr lang="en-US" sz="1700" dirty="0"/>
          </a:p>
        </p:txBody>
      </p:sp>
      <p:sp>
        <p:nvSpPr>
          <p:cNvPr id="39" name="Text 35"/>
          <p:cNvSpPr txBox="1"/>
          <p:nvPr/>
        </p:nvSpPr>
        <p:spPr>
          <a:xfrm>
            <a:off x="9905695" y="7338974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남해안 해수온 상승</a:t>
            </a:r>
            <a:r>
              <a:rPr lang="en-US" sz="1700" b="1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태풍 강도 증가</a:t>
            </a:r>
            <a:endParaRPr lang="en-US" sz="1700" dirty="0"/>
          </a:p>
        </p:txBody>
      </p:sp>
      <p:sp>
        <p:nvSpPr>
          <p:cNvPr id="40" name="Text 36"/>
          <p:cNvSpPr txBox="1"/>
          <p:nvPr/>
        </p:nvSpPr>
        <p:spPr>
          <a:xfrm>
            <a:off x="9905695" y="7582205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OTA 수수료 인상 추세 (12% → 17%, 5년)</a:t>
            </a:r>
            <a:endParaRPr lang="en-US" sz="1700" dirty="0"/>
          </a:p>
        </p:txBody>
      </p:sp>
      <p:sp>
        <p:nvSpPr>
          <p:cNvPr id="41" name="Text 37"/>
          <p:cNvSpPr txBox="1"/>
          <p:nvPr/>
        </p:nvSpPr>
        <p:spPr>
          <a:xfrm>
            <a:off x="9905695" y="7824521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식품 표시·광고 규정 강화(예시) — 어촌 체험 식재료 표시 의무</a:t>
            </a:r>
            <a:endParaRPr lang="en-US" sz="1700" dirty="0"/>
          </a:p>
        </p:txBody>
      </p:sp>
      <p:sp>
        <p:nvSpPr>
          <p:cNvPr id="42" name="Text 38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가상 사례 · 다음 슬라이드 — 이 4칸을 곱해 TOWS 4개 교차 전략을 만든다 (진짜 가치는 여기서 나옴)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788C17B3-E46F-4BF2-A59E-E68660306DF6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42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195821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30207" y="4190695"/>
            <a:ext cx="7733995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858500" y="4953305"/>
            <a:ext cx="2857500" cy="1714500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4097305" y="4953305"/>
            <a:ext cx="2895905" cy="1752905"/>
          </a:xfrm>
          <a:prstGeom prst="rect">
            <a:avLst/>
          </a:prstGeom>
          <a:solidFill>
            <a:srgbClr val="FFFFFF"/>
          </a:solidFill>
          <a:ln w="25400">
            <a:solidFill>
              <a:srgbClr val="C58A2E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0858500" y="6858000"/>
            <a:ext cx="2895905" cy="1752905"/>
          </a:xfrm>
          <a:prstGeom prst="rect">
            <a:avLst/>
          </a:prstGeom>
          <a:solidFill>
            <a:srgbClr val="FFFFFF"/>
          </a:solidFill>
          <a:ln w="25400">
            <a:solidFill>
              <a:srgbClr val="1C5A7A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4097305" y="6858000"/>
            <a:ext cx="2857500" cy="17145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4 · TOWS · 교차 전략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TOWS · SWOT의 진짜 가치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638605"/>
            <a:ext cx="161931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300" kern="0" spc="-13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SWOT을 곱하면</a:t>
            </a:r>
            <a:endParaRPr lang="en-US" sz="4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300" kern="0" spc="-13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4가지 </a:t>
            </a:r>
            <a:r>
              <a:rPr lang="en-US" sz="4300" kern="0" spc="-130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전략</a:t>
            </a:r>
            <a:r>
              <a:rPr lang="en-US" sz="4300" kern="0" spc="-13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나온다.</a:t>
            </a:r>
            <a:endParaRPr lang="en-US" sz="43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4190695"/>
            <a:ext cx="7905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SWOT만으로는 부족한가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4800600"/>
            <a:ext cx="7905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SWOT 4칸을 채우는 것까지가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진단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여기서 멈추면 회의실 벽에 붙인 포스트잇과 같다.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484495"/>
            <a:ext cx="79059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Weihrich(1982)는 SWOT의 4칸을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곱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해서 4개 교차 전략을 만들 것을 제안했다. 강점으로 기회를 잡고, 약점을 인정하며 기회를 활용하고, 강점으로 위협을 막고, 약점과 위협이 겹치는 곳은 피한다.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6507687"/>
            <a:ext cx="7905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나온 </a:t>
            </a:r>
            <a:r>
              <a:rPr lang="en-US" sz="19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 · WO · ST · WT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4가지 전략 묶음이 사업계획서의 핵심 액션이 된다.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11334902" y="4381805"/>
            <a:ext cx="1905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1C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↑ O 기회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4573707" y="4381805"/>
            <a:ext cx="1905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↑ T 위협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9620402" y="5524805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S 강점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9620402" y="7429500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W 약점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1048695" y="5143500"/>
            <a:ext cx="2572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SO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11048695" y="5924582"/>
            <a:ext cx="2572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강점으로 기회 잡기 — </a:t>
            </a: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 전략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11048695" y="5505602"/>
            <a:ext cx="2572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MAXI-MAXI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4287500" y="5143500"/>
            <a:ext cx="2572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ST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14182801" y="5718648"/>
            <a:ext cx="2895905" cy="205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강점으로 위협 막기 — </a:t>
            </a: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방어 전략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14259153" y="5416740"/>
            <a:ext cx="2572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MAXI-MINI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1048695" y="7048195"/>
            <a:ext cx="2572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WO</a:t>
            </a:r>
            <a:endParaRPr lang="en-US" sz="2200" dirty="0"/>
          </a:p>
        </p:txBody>
      </p:sp>
      <p:sp>
        <p:nvSpPr>
          <p:cNvPr id="30" name="Text 26"/>
          <p:cNvSpPr txBox="1"/>
          <p:nvPr/>
        </p:nvSpPr>
        <p:spPr>
          <a:xfrm>
            <a:off x="11048695" y="7830192"/>
            <a:ext cx="2572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약점 보완해 기회 잡기 — </a:t>
            </a: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전략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11048695" y="7410298"/>
            <a:ext cx="2572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MINI-MAXI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14287500" y="7048195"/>
            <a:ext cx="2572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WT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14287500" y="7410298"/>
            <a:ext cx="2572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MINI-MINI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14287500" y="7648956"/>
            <a:ext cx="2572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약점·위협 회피 — </a:t>
            </a:r>
            <a:r>
              <a:rPr lang="en-US" sz="1600" b="1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최소화 전략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Weihrich, H. (1982). The TOWS Matrix — A Tool for Situational Analysis. Long Range Planning 15(2): 54-66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277A790F-7D05-4C1D-8500-DC36E618A2F3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43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0115342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7905902" cy="3047695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239098" y="2952598"/>
            <a:ext cx="7944307" cy="308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C58A2E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6191402"/>
            <a:ext cx="7944307" cy="2895905"/>
          </a:xfrm>
          <a:prstGeom prst="rect">
            <a:avLst/>
          </a:prstGeom>
          <a:solidFill>
            <a:srgbClr val="FFFFFF"/>
          </a:solidFill>
          <a:ln w="25400">
            <a:solidFill>
              <a:srgbClr val="1C5A7A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239098" y="6191402"/>
            <a:ext cx="7905902" cy="28575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4 · TOWS · 작성법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23809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HOW TO BUILD TOWS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4가지 전략, 4가지 질문.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1524305" y="3143707"/>
            <a:ext cx="7239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kern="0" spc="-76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SO · 공격 전략</a:t>
            </a:r>
            <a:endParaRPr lang="en-US" sz="2500" dirty="0"/>
          </a:p>
        </p:txBody>
      </p:sp>
      <p:sp>
        <p:nvSpPr>
          <p:cNvPr id="15" name="Text 11"/>
          <p:cNvSpPr txBox="1"/>
          <p:nvPr/>
        </p:nvSpPr>
        <p:spPr>
          <a:xfrm>
            <a:off x="1524305" y="3877056"/>
            <a:ext cx="7239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 ·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"우리의 어떤 강점으로 어떤 기회를 가장 빠르게 잡을 수 있나?"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516069" y="4425865"/>
            <a:ext cx="80430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방향 ·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자원 집중. </a:t>
            </a:r>
            <a:r>
              <a:rPr lang="en-US" sz="17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큰 보상을 가진 칸이지만, 모든 강점에 모든 </a:t>
            </a:r>
            <a:r>
              <a:rPr lang="en-US" sz="1700" i="1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기회를</a:t>
            </a:r>
            <a:r>
              <a:rPr lang="en-US" sz="17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7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i="1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곱하는</a:t>
            </a:r>
            <a:r>
              <a:rPr lang="en-US" sz="17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함정 주의.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1-2개로 압축.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1524305" y="4987523"/>
            <a:ext cx="7239305" cy="9144"/>
          </a:xfrm>
          <a:prstGeom prst="rect">
            <a:avLst/>
          </a:prstGeom>
          <a:solidFill>
            <a:srgbClr val="0E1B2C">
              <a:alpha val="2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1524305" y="5344348"/>
            <a:ext cx="72393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 (여수 섬-스테이) ·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호텔업 10년 경력 (S) × 워케이션 시장 +22% (O) → "월 단위 워케이션 패키지" 출시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524305" y="3562502"/>
            <a:ext cx="7239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MAXI-MAXI · 강점 × 기회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9620402" y="3143707"/>
            <a:ext cx="7239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kern="0" spc="-76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ST · 방어 전략</a:t>
            </a:r>
            <a:endParaRPr lang="en-US" sz="2500" dirty="0"/>
          </a:p>
        </p:txBody>
      </p:sp>
      <p:sp>
        <p:nvSpPr>
          <p:cNvPr id="21" name="Text 17"/>
          <p:cNvSpPr txBox="1"/>
          <p:nvPr/>
        </p:nvSpPr>
        <p:spPr>
          <a:xfrm>
            <a:off x="9620402" y="3562502"/>
            <a:ext cx="7239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MAXI-MINI · 강점 × 위협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9620402" y="3877056"/>
            <a:ext cx="7239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 ·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"우리의 어떤 강점으로 어떤 위협을 무력화할 수 있나?"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9612166" y="4458824"/>
            <a:ext cx="7239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방향 ·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진입장벽·차별화 강화. 외부 위협이 다가오기 전에 </a:t>
            </a: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강점을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활용해</a:t>
            </a:r>
            <a:b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미리 막는 선제 조치.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9620402" y="5012233"/>
            <a:ext cx="7239305" cy="9144"/>
          </a:xfrm>
          <a:prstGeom prst="rect">
            <a:avLst/>
          </a:prstGeom>
          <a:solidFill>
            <a:srgbClr val="0E1B2C">
              <a:alpha val="2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9620402" y="5344348"/>
            <a:ext cx="72393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 ·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5년 어촌계 협약 (S) × 신규 진입자 +18% (T) → "여수 5개 도서 독점 권리"를 마케팅 메시지화 + 추가 도서 협약 확장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524305" y="6381598"/>
            <a:ext cx="7239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kern="0" spc="-76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WO · 전환 전략</a:t>
            </a:r>
            <a:endParaRPr lang="en-US" sz="2500" dirty="0"/>
          </a:p>
        </p:txBody>
      </p:sp>
      <p:sp>
        <p:nvSpPr>
          <p:cNvPr id="27" name="Text 23"/>
          <p:cNvSpPr txBox="1"/>
          <p:nvPr/>
        </p:nvSpPr>
        <p:spPr>
          <a:xfrm>
            <a:off x="1524305" y="6801307"/>
            <a:ext cx="7239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1C5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MINI-MAXI · 약점 보완 × 기회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1524305" y="7095744"/>
            <a:ext cx="7239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 ·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"어떤 약점을 보완해야 어떤 기회를 잡을 수 있나?"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1495500" y="7673813"/>
            <a:ext cx="7923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방향 ·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외부 자원 활용 (파트너십·정부 지원·외주). 부족한 자원을 </a:t>
            </a: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빨리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채워</a:t>
            </a:r>
            <a:b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기회의 창이 닫히기 전에 진입.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1495500" y="8173076"/>
            <a:ext cx="7239305" cy="9144"/>
          </a:xfrm>
          <a:prstGeom prst="rect">
            <a:avLst/>
          </a:prstGeom>
          <a:solidFill>
            <a:srgbClr val="0E1B2C">
              <a:alpha val="2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1524305" y="8525546"/>
            <a:ext cx="7239305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 ·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자금 부족 (W) × 1.2조 해양관광 보조금 (O) → 빈집 보조금 즉시 신청 + 청년창업 매칭펀드 동시 지원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9620402" y="6381598"/>
            <a:ext cx="7239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kern="0" spc="-76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WT · 최소화 전략</a:t>
            </a:r>
            <a:endParaRPr lang="en-US" sz="2500" dirty="0"/>
          </a:p>
        </p:txBody>
      </p:sp>
      <p:sp>
        <p:nvSpPr>
          <p:cNvPr id="33" name="Text 29"/>
          <p:cNvSpPr txBox="1"/>
          <p:nvPr/>
        </p:nvSpPr>
        <p:spPr>
          <a:xfrm>
            <a:off x="9620402" y="6801307"/>
            <a:ext cx="7239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MINI-MINI · 약점 × 위협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9620402" y="7095744"/>
            <a:ext cx="7239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 ·</a:t>
            </a:r>
            <a:r>
              <a:rPr lang="en-US" sz="1800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"약점과 위협이 겹치는 영역은 어디인가, 어떻게 피할까?"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9620402" y="7626264"/>
            <a:ext cx="7239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방향 ·</a:t>
            </a: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회피·축소·연기. </a:t>
            </a:r>
            <a:r>
              <a:rPr lang="en-US" sz="1700" i="1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"하지 않을 일"</a:t>
            </a: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결정하는 전략 — 가장 짧지만 가장 명확.</a:t>
            </a:r>
            <a:endParaRPr lang="en-US" sz="1700" dirty="0"/>
          </a:p>
        </p:txBody>
      </p:sp>
      <p:sp>
        <p:nvSpPr>
          <p:cNvPr id="36" name="Shape 32"/>
          <p:cNvSpPr/>
          <p:nvPr/>
        </p:nvSpPr>
        <p:spPr>
          <a:xfrm>
            <a:off x="9488597" y="8196364"/>
            <a:ext cx="7239305" cy="9144"/>
          </a:xfrm>
          <a:prstGeom prst="rect">
            <a:avLst/>
          </a:prstGeom>
          <a:solidFill>
            <a:srgbClr val="F4EFE6">
              <a:alpha val="2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 dirty="0">
              <a:highlight>
                <a:srgbClr val="C0C0C0"/>
              </a:highlight>
            </a:endParaRPr>
          </a:p>
        </p:txBody>
      </p:sp>
      <p:sp>
        <p:nvSpPr>
          <p:cNvPr id="37" name="Text 33"/>
          <p:cNvSpPr txBox="1"/>
          <p:nvPr/>
        </p:nvSpPr>
        <p:spPr>
          <a:xfrm>
            <a:off x="9620402" y="8525546"/>
            <a:ext cx="7239305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 ·</a:t>
            </a: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운영자본 6개월 (W) × 7-8월 결항 (T) → 1년차 7-8월은 운영 </a:t>
            </a:r>
            <a:r>
              <a:rPr lang="en-US" sz="1600" dirty="0" err="1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중단</a:t>
            </a: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b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비수기 임대료 절감 협상</a:t>
            </a:r>
            <a:endParaRPr lang="en-US" sz="1600" dirty="0"/>
          </a:p>
        </p:txBody>
      </p:sp>
      <p:sp>
        <p:nvSpPr>
          <p:cNvPr id="38" name="Text 34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— 각 셀에 1-2개 전략. 4개 셀 모두 비어있으면 SWOT 4칸을 다시 채워라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A1C6A019-6EFA-4796-9EE3-7AE73C504C35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44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635135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952598"/>
            <a:ext cx="16021202" cy="592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7620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4 · TOWS · 전남 4-전략 매트릭스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WORKED CASE · 여수 섬-스테이 4개 전략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700" kern="0" spc="-11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SWOT을 곱한 4개 전략, 우선순위까지.</a:t>
            </a:r>
            <a:endParaRPr lang="en-US" sz="3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682852"/>
              </p:ext>
            </p:extLst>
          </p:nvPr>
        </p:nvGraphicFramePr>
        <p:xfrm>
          <a:off x="1143000" y="2952598"/>
          <a:ext cx="15987370" cy="5906110"/>
        </p:xfrm>
        <a:graphic>
          <a:graphicData uri="http://schemas.openxmlformats.org/drawingml/2006/table">
            <a:tbl>
              <a:tblPr/>
              <a:tblGrid>
                <a:gridCol w="109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2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5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3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전략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조합 (강점·약점 × 기회·위협)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전략 설명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예상 비용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우선순위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3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0E1B2C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SO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S2 호텔 10년 경력 + 인터뷰 42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×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O2 워케이션 +22%</a:t>
                      </a:r>
                      <a:endParaRPr lang="en-US" sz="1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"월 단위 워케이션 패키지"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출시 — 주 단위가 아닌 30일 패키지로 핵심 타깃(수도권 IT 30대)에 집중. 가격 280만원/월</a:t>
                      </a:r>
                      <a:endParaRPr lang="en-US" sz="1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 (마케팅 위주)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★★★ 즉시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3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0E1B2C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SO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S4 자동화 운영 기술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×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O4 5G 도서 92%</a:t>
                      </a:r>
                      <a:endParaRPr lang="en-US" sz="1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키리스 무인 운영 표준화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— 5채 전체에 동일 시스템 적용, 인건비 -40%, 1인 사장으로 5채 동시 운영</a:t>
                      </a:r>
                      <a:endParaRPr lang="en-US" sz="1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 (초기 1회)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★★★ 즉시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3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4EFE6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WO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 자금 부족 6개월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×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O1 보조금 1.2조</a:t>
                      </a:r>
                      <a:endParaRPr lang="en-US" sz="1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빈집 보조금 + 청년창업 매칭펀드 동시 신청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— 5천만원/동 × 3채 = 1.5억 + 매칭펀드 1억 = 2.5억 자금 확보로 BEP 도달까지 12개월 연장</a:t>
                      </a:r>
                      <a:endParaRPr lang="en-US" sz="1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 (신청서 작성)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★★★ 즉시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3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4EFE6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WO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W2 OTA 의존 100%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×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O3 관계인구 트렌드</a:t>
                      </a:r>
                      <a:endParaRPr lang="en-US" sz="1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"여수섬민(民) 멤버십"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— 자체 채널로 재구매 + 연 단위 멤버십. 6개월 후 OTA 비중 70%로 축소 목표</a:t>
                      </a:r>
                      <a:endParaRPr lang="en-US" sz="1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 (브랜딩·CRM)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★★ 6개월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3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0E1B2C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ST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C58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58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58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S1 5년 어촌계 독점 협약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×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T1 신규 진입자 +18%</a:t>
                      </a:r>
                      <a:endParaRPr lang="en-US" sz="1800" dirty="0"/>
                    </a:p>
                  </a:txBody>
                  <a:tcPr marL="152705" marR="152705" marT="114300" marB="114300" anchor="ctr">
                    <a:lnL w="19050" cap="flat" cmpd="sng" algn="ctr">
                      <a:solidFill>
                        <a:srgbClr val="C58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"여수 5섬 독점" 브랜드화 + 도서 확장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— 현재 5개 외 추가 3개 도서와 협약 추진, 진입장벽 강화</a:t>
                      </a:r>
                      <a:endParaRPr lang="en-US" sz="1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 (협상·법무)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★★ 6개월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3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WT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58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W4 7-8월 결항 위험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×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T2 태풍 강도 증가</a:t>
                      </a:r>
                      <a:endParaRPr lang="en-US" sz="1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1년차 7-8월은 의도적 비운영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, 시설 정비·임대료 협상 시즌으로 활용. 매출 계획에서 2개월 제외하고 BEP 재계산</a:t>
                      </a:r>
                      <a:endParaRPr lang="en-US" sz="1800" dirty="0"/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 (회피)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8888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 운영 시작 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 WHAT — 6개 전략 중 즉시 시행 3개 (SO×2 + WO×1) → 사업 계획서 핵심 액션으로 등재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E129CFA5-50BA-41ED-8096-3B3261EB51F6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45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014283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986" y="-90617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9453" y="2765310"/>
            <a:ext cx="8401507" cy="630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10598" y="2857500"/>
            <a:ext cx="7334402" cy="62865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4 · SWOT-TOWS · 체크리스트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CHECKLIST · 흔한 오용 + AI 프롬프트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5가지 오용 + 한국식 함정.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1476756" y="3047695"/>
            <a:ext cx="7810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A142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ANTI-PATTERNS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476756" y="3940175"/>
            <a:ext cx="78108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1438350" y="3306470"/>
            <a:ext cx="78108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강점·약점을 내부/외부 구분 없이 작성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"AI 발전"이 강점에 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들어감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(외부 = 기회·위협으로) 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428750" y="5424722"/>
            <a:ext cx="78108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1409090" y="4067376"/>
            <a:ext cx="78108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"좋은 점=강점, 나쁜 점=약점" 식 사고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비교 없는 자기 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강점은 </a:t>
            </a:r>
            <a:r>
              <a:rPr lang="en-US" sz="18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경쟁사와 비교한 우위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여야 함. 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458518" y="6237993"/>
            <a:ext cx="78108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1409089" y="4719990"/>
            <a:ext cx="78108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4칸만 채우고 끝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TOWS 교차 없이 결론. 한국 사업계획서의 가장 흔한 오류. 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476756" y="5556263"/>
            <a:ext cx="78108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전체에 일반론만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"성장 잠재력", "글로벌 트렌드" — 누구나 쓸 수 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있는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문구는 가치 0. 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608560" y="6287900"/>
            <a:ext cx="7810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칸을 6개 이상 채움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것이 중요하면 아무것도 중요하지 않음. 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각 칸 3-5개 최적. 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0116007" y="3143707"/>
            <a:ext cx="6762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PROMPT TEMPLATE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0116007" y="3419856"/>
            <a:ext cx="6762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SWOT + TOWS 동시 생성용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0116007" y="3868826"/>
            <a:ext cx="6762902" cy="1867205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10116007" y="3868826"/>
            <a:ext cx="28346" cy="1867205"/>
          </a:xfrm>
          <a:prstGeom prst="rect">
            <a:avLst/>
          </a:prstGeom>
          <a:solidFill>
            <a:srgbClr val="C58A2E"/>
          </a:solidFill>
          <a:ln w="12700">
            <a:solidFill>
              <a:srgbClr val="C58A2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10230306" y="4251160"/>
            <a:ext cx="6562649" cy="313718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77800" rIns="177800" bIns="1778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너는 전남지역 창업 컨설팅 시니어 컨설턴트. [입력] - 사업명: {여수 섬-스테이} - PESTEL 결과: {앞 결과 붙여넣기} - 5Forces 결과: {앞 결과 붙여넣기} - 사업주 인터뷰: {핵심 메모} [작업 - 2단계] </a:t>
            </a:r>
            <a:b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</a:b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① SWOT 4칸을 채워라: - S·W: 내부, 경쟁사 비교 우위/열위만 - O·T: PESTEL에서 가져온 순풍/역풍 - 각 칸 3-5항목, 각 항목에 숫자/출처 포함 - 일반론 금지 — 모두 구체적이어야 함 </a:t>
            </a:r>
            <a:b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</a:b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② TOWS 4가지 교차 전략 생성: - SO·WO·ST·WT 각 1-2개 전략 - 각 전략은 "어떤 S/W × 어떤 O/T"의 조합인지 명시 - 각 전략에 예상 비용 (저/중/고) + 우선순위 표시 - 6개 전략 중 즉시 시행 3개를 강조 [검증 단계] 4가지 페르소나로 다시 한 번 검토: - 잠재 고객: "이 SO 전략을 들으면 사고 싶은가?" - 잠재 투자자: "이 ST가 진입장벽으로 충분한가?" - 경쟁사 CEO: "이 WT가 우리 위협을 무력화하는가?" - 사업주 본인: "WO를 6개월 안에 실행 가능한가?"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— SWOT만 있고 TOWS 없으면 "분석"이지 "전략"이 아니다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D370BA7F-C892-4A7F-8DCF-550FC843C926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46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2B3C2A8-902E-0700-CD3F-B5A347A814BC}"/>
              </a:ext>
            </a:extLst>
          </p:cNvPr>
          <p:cNvSpPr/>
          <p:nvPr/>
        </p:nvSpPr>
        <p:spPr>
          <a:xfrm>
            <a:off x="1476754" y="4710074"/>
            <a:ext cx="78108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402F822C-9CDB-0196-4164-B4C44BD15FE0}"/>
              </a:ext>
            </a:extLst>
          </p:cNvPr>
          <p:cNvSpPr/>
          <p:nvPr/>
        </p:nvSpPr>
        <p:spPr>
          <a:xfrm>
            <a:off x="1525877" y="7026036"/>
            <a:ext cx="7810805" cy="9144"/>
          </a:xfrm>
          <a:prstGeom prst="rect">
            <a:avLst/>
          </a:prstGeom>
          <a:solidFill>
            <a:srgbClr val="0E1B2C">
              <a:alpha val="12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944860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4195" y="3619195"/>
            <a:ext cx="7830007" cy="51627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4 · SWOT-TOWS · 워크숍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WORKSHOP · 30분 + 발표 10분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42875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본인 사업의 SWOT + TOWS 1장.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619195"/>
            <a:ext cx="7810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INSTRUCTIONS · 30분 + 발표 10분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143000" y="3991356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1143000" y="4153205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1732729" y="3955493"/>
            <a:ext cx="62106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SWOT 4칸 채우기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10분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790395" y="4447583"/>
            <a:ext cx="68964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전일 PESTEL·5Forces 결과 + 인터뷰 메모를 재료로. 각 칸 3-5 항목. 모든 항목은 숫자/출처/비교 中 1개.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1143000" y="4871923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1143000" y="5033772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1732729" y="4836060"/>
            <a:ext cx="47439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TOWS 4개 셀 곱하기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10분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751990" y="5319522"/>
            <a:ext cx="7258508" cy="11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SO/WO/ST/WT 각 1-2개 전략. 각 전략에 "어떤 S × 어떤 O" 식으로 조합 명시.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1143000" y="5753405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1143000" y="5915254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8"/>
          <p:cNvSpPr txBox="1"/>
          <p:nvPr/>
        </p:nvSpPr>
        <p:spPr>
          <a:xfrm>
            <a:off x="1732729" y="5717542"/>
            <a:ext cx="41724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즉시 시행 3개 선택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5분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790395" y="6112562"/>
            <a:ext cx="7163410" cy="30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6-8개 전략 중 ★★★ 우선순위 3개. 나머지는 6개월/12개월 후순위로.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1143000" y="6795821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2100" dirty="0"/>
          </a:p>
        </p:txBody>
      </p:sp>
      <p:sp>
        <p:nvSpPr>
          <p:cNvPr id="26" name="Text 22"/>
          <p:cNvSpPr txBox="1"/>
          <p:nvPr/>
        </p:nvSpPr>
        <p:spPr>
          <a:xfrm>
            <a:off x="1732729" y="6598109"/>
            <a:ext cx="61155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짝과 5분씩 발표 + 피드백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10분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790395" y="7148779"/>
            <a:ext cx="68013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발표자: "내 SO #1은 ___ × ___입니다." 청자는 "이 강점이 진짜 경쟁사 대비 우위인가?" 한 가지 도전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9639605" y="3905402"/>
            <a:ext cx="7239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DELIVERABLE · 제출물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9639605" y="4200754"/>
            <a:ext cx="7239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A4 1장 · SWOT 박스 + TOWS 표</a:t>
            </a:r>
            <a:endParaRPr lang="en-US" sz="22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639605" y="5189220"/>
            <a:ext cx="7239305" cy="91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639605" y="5446166"/>
            <a:ext cx="7239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RUBRIC · 평가 기준</a:t>
            </a:r>
            <a:endParaRPr lang="en-US" sz="1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/>
        </p:nvGraphicFramePr>
        <p:xfrm>
          <a:off x="9639605" y="5760720"/>
          <a:ext cx="7229246" cy="2124150"/>
        </p:xfrm>
        <a:graphic>
          <a:graphicData uri="http://schemas.openxmlformats.org/drawingml/2006/table">
            <a:tbl>
              <a:tblPr/>
              <a:tblGrid>
                <a:gridCol w="5912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02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2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SWOT 4칸 모두 3+ 항목 + 숫자/출처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02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S/W가 비교 우위/열위로 작성됨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02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TOWS 4셀 각각 1+ 전략 존재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02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각 전략에 SxO/SxT 조합 명시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02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우선순위 3개 선정 + 이유 1줄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Text 27"/>
          <p:cNvSpPr txBox="1"/>
          <p:nvPr/>
        </p:nvSpPr>
        <p:spPr>
          <a:xfrm>
            <a:off x="9639605" y="4705501"/>
            <a:ext cx="7610427" cy="25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반은 SWOT 2×2, 아래 반은 TOWS 6-8개 전략 표. 우선순위 3개에 ★ 표시.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제출 후 → 휴식 10분 → 단원 5 (Business Model Canvas) 시작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0344A5D1-724E-416F-ABD6-3B7B5A50010F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47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8" name="Shape 16">
            <a:extLst>
              <a:ext uri="{FF2B5EF4-FFF2-40B4-BE49-F238E27FC236}">
                <a16:creationId xmlns:a16="http://schemas.microsoft.com/office/drawing/2014/main" id="{6EA60091-5761-E814-732D-5B19879732D0}"/>
              </a:ext>
            </a:extLst>
          </p:cNvPr>
          <p:cNvSpPr/>
          <p:nvPr/>
        </p:nvSpPr>
        <p:spPr>
          <a:xfrm>
            <a:off x="1188306" y="6556601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C40DF301-20DF-2528-7B4B-3F3971324EA6}"/>
              </a:ext>
            </a:extLst>
          </p:cNvPr>
          <p:cNvSpPr/>
          <p:nvPr/>
        </p:nvSpPr>
        <p:spPr>
          <a:xfrm>
            <a:off x="1126518" y="7623393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713489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1143000" y="1333195"/>
            <a:ext cx="11430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600200"/>
            <a:ext cx="9525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324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BREAK · 10 MIN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857500"/>
            <a:ext cx="16193110" cy="3143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0" i="1" kern="0" spc="-450" dirty="0">
                <a:solidFill>
                  <a:srgbClr val="0E1B2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10:00</a:t>
            </a:r>
            <a:endParaRPr lang="en-US" sz="22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6762902"/>
            <a:ext cx="123828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잠시 쉬어갑시다.</a:t>
            </a:r>
            <a:endParaRPr lang="en-US" sz="51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8096098"/>
            <a:ext cx="12382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시간은 </a:t>
            </a:r>
            <a:r>
              <a:rPr lang="en-US" sz="1600" b="1" dirty="0">
                <a:solidFill>
                  <a:srgbClr val="C58A2E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Model Canvas</a:t>
            </a:r>
            <a:r>
              <a:rPr lang="en-US" sz="1600" dirty="0">
                <a:solidFill>
                  <a:srgbClr val="0E1B2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Osterwalder &amp; Pigneur가 2010년 발표한 9-블록 사업 모델 설계법입니다.</a:t>
            </a:r>
            <a:endParaRPr lang="en-US" sz="16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C994D5D4-0528-4AEE-8284-79C2BF4792A5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48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2388017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715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t="-420" b="-420"/>
          <a:stretch/>
        </p:blipFill>
        <p:spPr>
          <a:xfrm>
            <a:off x="857707" y="1524305"/>
            <a:ext cx="761695" cy="384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79039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28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05 · DESIGN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7707" y="2286000"/>
            <a:ext cx="4572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0" i="1" kern="0" spc="-3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05.</a:t>
            </a:r>
            <a:endParaRPr lang="en-US" sz="150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4953305"/>
            <a:ext cx="4572000" cy="1858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Business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Model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Canvas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6937553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Osterwalder &amp; Pigneur · 2010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761969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블록으로 사업 전체를 한 장에. 가치 제안 · 고객 · 채널 · 관계 · 수익 · 핵심자원 · 활동 · 파트너 · 비용.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76695" y="1524305"/>
            <a:ext cx="10478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5 · 80분 학습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76695" y="1904695"/>
            <a:ext cx="10478110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</a:t>
            </a:r>
            <a:r>
              <a:rPr lang="en-US" sz="5100" kern="0" spc="-153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우리는</a:t>
            </a: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5100" kern="0" spc="-153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어떻게</a:t>
            </a: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</a:t>
            </a:r>
            <a:r>
              <a:rPr lang="en-US" sz="5100" kern="0" spc="-153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돈을</a:t>
            </a: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버는가."</a:t>
            </a:r>
            <a:endParaRPr lang="en-US" sz="5100" dirty="0"/>
          </a:p>
        </p:txBody>
      </p:sp>
      <p:sp>
        <p:nvSpPr>
          <p:cNvPr id="13" name="Text 10"/>
          <p:cNvSpPr txBox="1"/>
          <p:nvPr/>
        </p:nvSpPr>
        <p:spPr>
          <a:xfrm>
            <a:off x="6476695" y="4667097"/>
            <a:ext cx="10287000" cy="1007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사업계획서 50장을 BMC 1장으로 압축할 수 있다. 9개 블록이 서로 연결되어 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있는지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가치 제안이 진짜 고객의 문제를 풀고, 그 가치가 적절한 채널로 전달되고, 그 채널이 수익으로 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이어지는지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한 장으로 점검한다.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76695" y="7592263"/>
            <a:ext cx="1047719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476695" y="7239305"/>
            <a:ext cx="104781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학습 목표 · OBJECTIVES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76695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6476695" y="8236085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블록을 정의·기입할 수 있다 + 작성 순서를 안다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0071202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10071202" y="8236085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TAM-SAM-SOM으로 시장 규모를 3단계로 추정한다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3664794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13664794" y="8236085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"희망사항 BMC"와 "근거 있는 BMC"를 구분할 수 있다</a:t>
            </a:r>
            <a:endParaRPr lang="en-US" sz="18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3313E9B1-BBAF-4C58-8624-6B6CBC6051CE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49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4566310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30207" y="4476902"/>
            <a:ext cx="7715707" cy="4190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5 · BMC · 도입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BMC · WHY ONE PAGE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300" kern="0" spc="-13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"50장 사업계획서를 1장으로."</a:t>
            </a:r>
            <a:endParaRPr lang="en-US" sz="43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619195"/>
            <a:ext cx="16193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Osterwalder &amp; Pigneur(2010)의 취지 요약 (박사논문 2004</a:t>
            </a:r>
            <a:r>
              <a:rPr lang="en-US" sz="1900" i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4476902"/>
            <a:ext cx="7905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9개 블록 = 사업의 모든 뼈대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5067605"/>
            <a:ext cx="7905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모델은 결국 4개 영역 9개 블록으로 환원된다: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5521147"/>
            <a:ext cx="79059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[누구에게]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5. 고객 관계 · 6. 채널 · 7. 고객 세그먼트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5927141"/>
            <a:ext cx="79059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[무엇을]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4. 가치 제안 ←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중앙, 모든 블록이 이를 향함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6333134"/>
            <a:ext cx="79059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[어떻게]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1. 핵심 파트너 · 2. 핵심 활동 · 3. 핵심 자원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6738214"/>
            <a:ext cx="79059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[얼마에]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8. 비용 구조 · 9. 수익 흐름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7372807"/>
            <a:ext cx="7905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블록이 다른 블록과 일관되는지가 핵심.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"가치 제안이 고객 세그먼트의 진짜 문제를 풀고 있는가?"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첫 번째 점검 질문.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9810598" y="4762195"/>
            <a:ext cx="7049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HISTORY · 진화 과정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9810598" y="5609844"/>
            <a:ext cx="7048195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9810598" y="5152644"/>
            <a:ext cx="7049110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2004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Osterwalder PhD </a:t>
            </a:r>
            <a:r>
              <a:rPr lang="en-US" sz="1800" i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"The Business Model Ontology"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University of Lausanne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9810598" y="6075274"/>
            <a:ext cx="7048195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9761170" y="5856976"/>
            <a:ext cx="7049110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2010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Osterwalder &amp; Pigneur </a:t>
            </a:r>
            <a:r>
              <a:rPr lang="en-US" sz="1800" i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Model Generation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(Wiley) — 9-block canvas 공식화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810598" y="6778691"/>
            <a:ext cx="7048195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9736456" y="6321491"/>
            <a:ext cx="7049110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이후 Strategyzer(Osterwalder 공동 창업)가 캔버스 도구 보급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9810598" y="6786006"/>
            <a:ext cx="7049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이후 창업 교육의 표준 도구로 확산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8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810598" y="7489180"/>
            <a:ext cx="7048195" cy="91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810598" y="7746126"/>
            <a:ext cx="70491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정부 지원사업 사업계획서(예비창업패키지 등)는 문제인식·실현가능성·성장전략·팀구성(PSST) 구조다. BMC 9블록을 먼저 채워 두면 각 항목을 채우기 쉽</a:t>
            </a:r>
            <a:r>
              <a:rPr lang="en-US" sz="1700" b="1" dirty="0">
                <a:solidFill>
                  <a:srgbClr val="C58A2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7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다.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1143000" y="9620402"/>
            <a:ext cx="11430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Osterwalder &amp; Pigneur (2010). Business Model Generation. Wiley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A5558B8A-BC23-44A8-BFAD-98527210769F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50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122657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667305"/>
            <a:ext cx="3219602" cy="497250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343400" y="2667305"/>
            <a:ext cx="3219602" cy="2447849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343400" y="5191049"/>
            <a:ext cx="3219602" cy="2447849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543800" y="2667305"/>
            <a:ext cx="3200400" cy="495330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0744200" y="2667305"/>
            <a:ext cx="3219602" cy="2447849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0744200" y="5191049"/>
            <a:ext cx="3219602" cy="2447849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3944600" y="2667305"/>
            <a:ext cx="3219602" cy="497250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7715707"/>
            <a:ext cx="8020202" cy="13523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144000" y="7715707"/>
            <a:ext cx="8020202" cy="13523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-412" r="-412"/>
          <a:stretch/>
        </p:blipFill>
        <p:spPr>
          <a:xfrm>
            <a:off x="9144000" y="7715707"/>
            <a:ext cx="57607" cy="1333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5 · BMC · 9-블록 캔버스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123809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9-BLOCK CANVAS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1657807"/>
            <a:ext cx="14287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9개 블록, 한 장의 사업.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1371600" y="2857500"/>
            <a:ext cx="28200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· KP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" y="3066898"/>
            <a:ext cx="28200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파트너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Key Partners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371600" y="3876413"/>
            <a:ext cx="28200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사업이 의존하는 외부 협력자·공급자·생태계 행위자. 원가 최적화, 리스크 완화, 자원 확보가 목적.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371600" y="4655148"/>
            <a:ext cx="28200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없으면 사업이 안 되는 파트너 3개?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0" y="2857500"/>
            <a:ext cx="28200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KA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0" y="3066898"/>
            <a:ext cx="28200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활동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Key Activities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0" y="3876413"/>
            <a:ext cx="28200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사업을 굴리려면 무엇을 잘 해야 하는가 — 생산, 문제 해결, 플랫폼 운영.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0" y="5381244"/>
            <a:ext cx="28200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KR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0" y="5591556"/>
            <a:ext cx="28200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자원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Key Resources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4572000" y="6400157"/>
            <a:ext cx="28200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물적·지적·인적·금융 자산 중 사업 모델이 의존하는 것. VRIO 단원의 분석 대상.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7772400" y="2857500"/>
            <a:ext cx="2820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VP · 중심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7772400" y="3086100"/>
            <a:ext cx="28200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가치 제안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7789905" y="4718821"/>
            <a:ext cx="18507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블록이 이 칸을 향한다.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772400" y="3895615"/>
            <a:ext cx="28200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고객 세그먼트의 어떤 문제를 어떻게 해결하는가. 성능·가격·접근성·디자인·위험 감소 중 하나.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0972800" y="2857500"/>
            <a:ext cx="28200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CR</a:t>
            </a:r>
            <a:endParaRPr lang="en-US" sz="800" dirty="0"/>
          </a:p>
        </p:txBody>
      </p:sp>
      <p:sp>
        <p:nvSpPr>
          <p:cNvPr id="35" name="Text 30"/>
          <p:cNvSpPr txBox="1"/>
          <p:nvPr/>
        </p:nvSpPr>
        <p:spPr>
          <a:xfrm>
            <a:off x="10972800" y="3066898"/>
            <a:ext cx="28200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고객 관계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Customer Relationships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10972800" y="3728129"/>
            <a:ext cx="28200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세그먼트별 관계 형태 — 셀프, 전담, 자동, 커뮤니티, 공동 창작.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10972800" y="5381244"/>
            <a:ext cx="28200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CH</a:t>
            </a:r>
            <a:endParaRPr lang="en-US" sz="800" dirty="0"/>
          </a:p>
        </p:txBody>
      </p:sp>
      <p:sp>
        <p:nvSpPr>
          <p:cNvPr id="38" name="Text 33"/>
          <p:cNvSpPr txBox="1"/>
          <p:nvPr/>
        </p:nvSpPr>
        <p:spPr>
          <a:xfrm>
            <a:off x="10972800" y="5591556"/>
            <a:ext cx="28200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채널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Channels</a:t>
            </a:r>
            <a:endParaRPr lang="en-US" sz="1600" dirty="0"/>
          </a:p>
        </p:txBody>
      </p:sp>
      <p:sp>
        <p:nvSpPr>
          <p:cNvPr id="39" name="Text 34"/>
          <p:cNvSpPr txBox="1"/>
          <p:nvPr/>
        </p:nvSpPr>
        <p:spPr>
          <a:xfrm>
            <a:off x="10972800" y="6320629"/>
            <a:ext cx="28200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제안을 고객에게 어떻게 전달 — 인지·평가·구매·전달·사후.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14173200" y="2857500"/>
            <a:ext cx="28200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CS</a:t>
            </a:r>
            <a:endParaRPr lang="en-US" sz="800" dirty="0"/>
          </a:p>
        </p:txBody>
      </p:sp>
      <p:sp>
        <p:nvSpPr>
          <p:cNvPr id="41" name="Text 36"/>
          <p:cNvSpPr txBox="1"/>
          <p:nvPr/>
        </p:nvSpPr>
        <p:spPr>
          <a:xfrm>
            <a:off x="14173200" y="3066898"/>
            <a:ext cx="28200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고객 세그먼트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Customer Segments</a:t>
            </a:r>
            <a:endParaRPr lang="en-US" sz="1600" dirty="0"/>
          </a:p>
        </p:txBody>
      </p:sp>
      <p:sp>
        <p:nvSpPr>
          <p:cNvPr id="42" name="Text 37"/>
          <p:cNvSpPr txBox="1"/>
          <p:nvPr/>
        </p:nvSpPr>
        <p:spPr>
          <a:xfrm>
            <a:off x="14173200" y="3728129"/>
            <a:ext cx="28200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누구에게 가치를 만드는가 — 대중·니치·세분화·다양화·다면 플랫폼.</a:t>
            </a:r>
            <a:endParaRPr lang="en-US" sz="1500" dirty="0"/>
          </a:p>
        </p:txBody>
      </p:sp>
      <p:sp>
        <p:nvSpPr>
          <p:cNvPr id="43" name="Text 38"/>
          <p:cNvSpPr txBox="1"/>
          <p:nvPr/>
        </p:nvSpPr>
        <p:spPr>
          <a:xfrm>
            <a:off x="14190705" y="4557970"/>
            <a:ext cx="28200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1순위 고객의 인구통계 + 페인포인트?</a:t>
            </a:r>
            <a:endParaRPr lang="en-US" sz="1500" dirty="0"/>
          </a:p>
        </p:txBody>
      </p:sp>
      <p:sp>
        <p:nvSpPr>
          <p:cNvPr id="44" name="Text 39"/>
          <p:cNvSpPr txBox="1"/>
          <p:nvPr/>
        </p:nvSpPr>
        <p:spPr>
          <a:xfrm>
            <a:off x="1371600" y="7886700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· C$ · 비용 구조 (Cost Structure)</a:t>
            </a:r>
            <a:endParaRPr lang="en-US" sz="800" dirty="0"/>
          </a:p>
        </p:txBody>
      </p:sp>
      <p:sp>
        <p:nvSpPr>
          <p:cNvPr id="45" name="Text 40"/>
          <p:cNvSpPr txBox="1"/>
          <p:nvPr/>
        </p:nvSpPr>
        <p:spPr>
          <a:xfrm>
            <a:off x="1371600" y="8096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사업 운영에 드는 가장 큰 비용 3-5개는?</a:t>
            </a:r>
            <a:endParaRPr lang="en-US" sz="1900" dirty="0"/>
          </a:p>
        </p:txBody>
      </p:sp>
      <p:sp>
        <p:nvSpPr>
          <p:cNvPr id="46" name="Text 41"/>
          <p:cNvSpPr txBox="1"/>
          <p:nvPr/>
        </p:nvSpPr>
        <p:spPr>
          <a:xfrm>
            <a:off x="1371600" y="8586673"/>
            <a:ext cx="7620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고정비 vs 변동비, 규모/범위의 경제, 비용 주도 vs 가치 주도 모델. 위 KA·KR 중 비싼 것을 여기로 가져온다.</a:t>
            </a:r>
            <a:endParaRPr lang="en-US" sz="1500" dirty="0"/>
          </a:p>
        </p:txBody>
      </p:sp>
      <p:sp>
        <p:nvSpPr>
          <p:cNvPr id="47" name="Text 42"/>
          <p:cNvSpPr txBox="1"/>
          <p:nvPr/>
        </p:nvSpPr>
        <p:spPr>
          <a:xfrm>
            <a:off x="9430207" y="7886700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8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R$ · 수익 흐름 (Revenue Streams)</a:t>
            </a:r>
            <a:endParaRPr lang="en-US" sz="800" dirty="0"/>
          </a:p>
        </p:txBody>
      </p:sp>
      <p:sp>
        <p:nvSpPr>
          <p:cNvPr id="48" name="Text 43"/>
          <p:cNvSpPr txBox="1"/>
          <p:nvPr/>
        </p:nvSpPr>
        <p:spPr>
          <a:xfrm>
            <a:off x="9430207" y="8096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각 세그먼트는 무엇에 대해 얼마를 지불하는가?</a:t>
            </a:r>
            <a:endParaRPr lang="en-US" sz="1900" dirty="0"/>
          </a:p>
        </p:txBody>
      </p:sp>
      <p:sp>
        <p:nvSpPr>
          <p:cNvPr id="49" name="Text 44"/>
          <p:cNvSpPr txBox="1"/>
          <p:nvPr/>
        </p:nvSpPr>
        <p:spPr>
          <a:xfrm>
            <a:off x="9430207" y="8553898"/>
            <a:ext cx="7620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판매·이용료·구독·임대·라이센스·중개수수료·광고. 가격: </a:t>
            </a:r>
            <a:r>
              <a:rPr lang="en-US" sz="15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정찰·시장·경매·동적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"수익 흐름 = 가치 제안의 진실성 테스트."</a:t>
            </a:r>
            <a:endParaRPr lang="en-US" sz="1500" dirty="0"/>
          </a:p>
        </p:txBody>
      </p:sp>
      <p:sp>
        <p:nvSpPr>
          <p:cNvPr id="50" name="Text 45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Osterwalder &amp; Pigneur (2010). Business Model Generation. Wiley · strategyzer.com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6F9AD526-41BF-474C-B4F2-BD22E5052FBF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51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5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0720362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16021202" cy="630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5 · BMC · 블록 상세 (1/2)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BLOCKS 01-05 · "WHO &amp; WHAT"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700" kern="0" spc="-11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누구에게 무엇을, 어떻게 전달하는가.</a:t>
            </a:r>
            <a:endParaRPr lang="en-US" sz="3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412591"/>
              </p:ext>
            </p:extLst>
          </p:nvPr>
        </p:nvGraphicFramePr>
        <p:xfrm>
          <a:off x="1143000" y="2857500"/>
          <a:ext cx="15991942" cy="6286500"/>
        </p:xfrm>
        <a:graphic>
          <a:graphicData uri="http://schemas.openxmlformats.org/drawingml/2006/table">
            <a:tbl>
              <a:tblPr/>
              <a:tblGrid>
                <a:gridCol w="809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8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8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블록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질문 · 작성 가이드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"여수 섬-스테이" 예시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01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가치 제안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Value Proposition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"___에게 ___ 문제를 ___ 방식으로 해결한다." 한 문장에 페인포인트·차별화·전달방식이 모두 들어가야. 일반론(편리함, 좋은 경험) 금지.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"수도권 IT 30대 워케이션 수요자에게, 도시 펜션의 산만함 + 호텔의 비용 부담을 해결하는 '섬 단위 워케이션 패키지'를 월 280만원에 무인 운영한다."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0E1B2C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02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세그먼트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Customer Segments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우선순위 1-3개 세그먼트. 인구통계 + 행동특성 + 페인포인트. "젊은 사람들" 같은 비세그먼트화 금지. 1순위에 매출 60%+ 의존 시 위험.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S1 (60%)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수도권 IT 30대 직장인, 연봉 6천+, 원격근무 가능자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S2 (25%)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30-40대 프리랜서·자영업자, 워케이션 빈도 분기 1회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S3 (15%)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50대 부부 단기 휴양 수요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0E1B2C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03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채널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Channels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고객이 우리를 알게/사게/받게 되는 모든 접점. 인지·평가·구매·전달·사후 5단계 모두 점검. 채널별 점유율 + 단위경제.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인지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인스타·당근·블로그 SEO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구매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자체 사이트(40%) + 에어비앤비(40%) + 야놀자(20%)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전달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무인 키리스 체크인 + 카카오톡 컨시어지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사후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멤버십 + 재구매 쿠폰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0E1B2C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04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관계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Customer Relationships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셀프 · 전담 · 자동 · 커뮤니티 · 공동창작 中 어떤 유형? 세그먼트별로 다를 수 있음. 신규 획득 vs 유지 vs 매출 향상 어디에 집중?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S1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자동(키리스) + 커뮤니티(카톡 입주민방)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S2-3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전담(매니저 1:1 응대)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유지 전략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"여수섬민 멤버십" — 연 12만원, 30% 할인 + 전용 이벤트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05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수익 흐름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Revenue Streams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각 세그먼트가 무엇에 얼마를 지불하나? 일회성 vs 반복. 가격은 정찰·시장·경매·동적. 매출 = 사용자수 × 단가 × 빈도 — 세 변수 모두 명시.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패키지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280만/월 × 5채 × 가동률 70% = 980만/월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주말 단기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38만/박 × 평균 8박/월 × 5채 = 1,520만/월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멤버십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12만/연 × 200명 = 240만/년 (반복)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합계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약 3,200만/월 (가동률 70% 기준)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— 작성 순서: ② 고객 세그먼트 → ① 가치 제안 → ③ 채널 → ④ 관계 → ⑤ 수익 흐름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F0C8EBF7-86D3-4CFE-92D5-4097366E82A5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52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2474108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16021202" cy="630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5 · BMC · 블록 상세 (2/2)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BLOCKS 06-09 · "HOW &amp; COST"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700" kern="0" spc="-11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어떻게 만들고, 얼마에 운영하는가.</a:t>
            </a:r>
            <a:endParaRPr lang="en-US" sz="3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888371"/>
              </p:ext>
            </p:extLst>
          </p:nvPr>
        </p:nvGraphicFramePr>
        <p:xfrm>
          <a:off x="1143000" y="2857500"/>
          <a:ext cx="15991942" cy="6286500"/>
        </p:xfrm>
        <a:graphic>
          <a:graphicData uri="http://schemas.openxmlformats.org/drawingml/2006/table">
            <a:tbl>
              <a:tblPr/>
              <a:tblGrid>
                <a:gridCol w="809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8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8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57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블록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질문 · 작성 가이드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"여수 섬-스테이" 예시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0E1B2C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06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활동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Key Activities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가치 제안을 만들고 전달하기 위해 우리가 매일 해야 하는 활동. 생산형 · 문제해결형 · 플랫폼형 中. 외부에 줄 수 있는 활동인지 점검.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청소·세탁·점검 · 어촌계 행사 큐레이션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마케팅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콘텐츠·인플루언서·OTA 관리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응대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카톡 컨시어지 24/7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0E1B2C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07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자원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Key Resources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물적·지적·인적·금융 자산. 다음 단원의 VRIO 후보.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"없으면 사업이 안 되는 것"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만 적기. 노트북·사무실 같은 일반 자산은 제외.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물적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빈집 5채 (5년 임차 계약)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지적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어촌계와 5년 독점 협약 + 워케이션 운영 SOP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인적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대표 호텔 10년 경력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디지털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키리스 시스템 · CRM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0E1B2C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08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파트너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Key Partners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없으면 사업이 안 되는 외부 협력자. 비용 최적화 · 리스크 완화 · 자원 확보 · 활동 외주. 일반 거래처와 구별. 3-5개로 압축.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P1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5개 도서 어촌계 (체험 콘텐츠 + 독점)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P2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OTA 2곳 (트래픽 확보)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P3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청소·세탁 외주업체 (인건비)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P4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키리스 SaaS 공급사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P5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지자체 (보조금)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09</a:t>
                      </a:r>
                      <a:endParaRPr lang="en-US" sz="19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 구조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Cost Structure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가장 큰 비용 3-5개. 고정비/변동비 분리. 비용 주도 vs 가치 주도? 매출 대비 비용 비중까지 명시해야 BEP 계산 가능.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고정 (1,520만/월)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임차 5채 800만 · 청소외주 320만 · 키리스SaaS 50만 · OTA 광고 200만 · 보험 50만 · 대표 인건비 100만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변동 (수익의 약 22%)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OTA 수수료 12-17%, 식자재(체험)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BEP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가동률 50%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— ⑥-⑨는 ①-⑤가 결정된 후 작성. "가치 제안을 만들기 위해 무엇이 필요한가"의 답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5779E24A-4FBC-47D6-B931-8C595C70F38D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53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957291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572207"/>
            <a:ext cx="3219602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343400" y="2572207"/>
            <a:ext cx="3219602" cy="2638044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343400" y="5286146"/>
            <a:ext cx="3219602" cy="2638044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543800" y="2572207"/>
            <a:ext cx="3200400" cy="5333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0744200" y="2572207"/>
            <a:ext cx="3219602" cy="2638044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0744200" y="5286146"/>
            <a:ext cx="3219602" cy="2638044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3944600" y="2572207"/>
            <a:ext cx="3219602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143000" y="8001000"/>
            <a:ext cx="8020202" cy="13523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144000" y="8001000"/>
            <a:ext cx="8020202" cy="13523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3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525305"/>
            <a:ext cx="16002000" cy="9144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-412" r="-412"/>
          <a:stretch/>
        </p:blipFill>
        <p:spPr>
          <a:xfrm>
            <a:off x="9144000" y="8001000"/>
            <a:ext cx="57607" cy="1333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400507"/>
            <a:ext cx="7620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5 · BMC · 완성된 캔버스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WORKED CASE · 여수 섬-스테이 완성본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1638605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완성된 BMC — 모든 칸이 데이터로.</a:t>
            </a:r>
            <a:endParaRPr lang="en-US" sz="3400" dirty="0"/>
          </a:p>
        </p:txBody>
      </p:sp>
      <p:sp>
        <p:nvSpPr>
          <p:cNvPr id="20" name="Text 15"/>
          <p:cNvSpPr txBox="1"/>
          <p:nvPr/>
        </p:nvSpPr>
        <p:spPr>
          <a:xfrm>
            <a:off x="1333195" y="2629869"/>
            <a:ext cx="2857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5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· KP · 핵심 파트너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1333195" y="2924251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5년 어촌계 협약 (5개섬)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1333195" y="3145536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독점 체험 콘텐츠 공급. 갱신권 +5년 확보.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1333195" y="3443630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OTA · 에어비앤비 · 야놀자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1333195" y="3664915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트래픽 60%. 멤버십으로 점차 비중 축소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1333195" y="3962095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전남도 · 여수시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1333195" y="4184294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빈집 보조금 5천/동 × 3채 = 1.5억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1333195" y="4481474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청소·세탁 외주</a:t>
            </a:r>
            <a:endParaRPr lang="en-US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1333195" y="4702759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320만, 1인 운영 가능 핵심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4533595" y="2629869"/>
            <a:ext cx="2857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5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KA · 핵심 활동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4533595" y="2924251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콘텐츠 마케팅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4533595" y="3145536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인스타·블로그·인플루언서, 월 신규 30+ 인지</a:t>
            </a:r>
            <a:endParaRPr lang="en-US" sz="800" dirty="0"/>
          </a:p>
        </p:txBody>
      </p:sp>
      <p:sp>
        <p:nvSpPr>
          <p:cNvPr id="32" name="Text 27"/>
          <p:cNvSpPr txBox="1"/>
          <p:nvPr/>
        </p:nvSpPr>
        <p:spPr>
          <a:xfrm>
            <a:off x="4533595" y="3405226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어촌계 큐레이션</a:t>
            </a:r>
            <a:endParaRPr lang="en-US" sz="1700" dirty="0"/>
          </a:p>
        </p:txBody>
      </p:sp>
      <p:sp>
        <p:nvSpPr>
          <p:cNvPr id="33" name="Text 28"/>
          <p:cNvSpPr txBox="1"/>
          <p:nvPr/>
        </p:nvSpPr>
        <p:spPr>
          <a:xfrm>
            <a:off x="4533595" y="3626510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2회 체험 프로그램 기획·실행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4533595" y="3886200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카톡 컨시어지 24/7</a:t>
            </a:r>
            <a:endParaRPr 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4533595" y="4107485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투숙 전후 응대로 NPS·재구매 ↑</a:t>
            </a:r>
            <a:endParaRPr lang="en-US" sz="800" dirty="0"/>
          </a:p>
        </p:txBody>
      </p:sp>
      <p:sp>
        <p:nvSpPr>
          <p:cNvPr id="36" name="Text 31"/>
          <p:cNvSpPr txBox="1"/>
          <p:nvPr/>
        </p:nvSpPr>
        <p:spPr>
          <a:xfrm>
            <a:off x="4533595" y="5438851"/>
            <a:ext cx="2857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5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KR · 핵심 자원</a:t>
            </a:r>
            <a:endParaRPr lang="en-US" sz="800" dirty="0"/>
          </a:p>
        </p:txBody>
      </p:sp>
      <p:sp>
        <p:nvSpPr>
          <p:cNvPr id="37" name="Text 32"/>
          <p:cNvSpPr txBox="1"/>
          <p:nvPr/>
        </p:nvSpPr>
        <p:spPr>
          <a:xfrm>
            <a:off x="4533595" y="5639105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5채 빈집 5년 임차</a:t>
            </a:r>
            <a:endParaRPr lang="en-US" sz="1700" dirty="0"/>
          </a:p>
        </p:txBody>
      </p:sp>
      <p:sp>
        <p:nvSpPr>
          <p:cNvPr id="38" name="Text 33"/>
          <p:cNvSpPr txBox="1"/>
          <p:nvPr/>
        </p:nvSpPr>
        <p:spPr>
          <a:xfrm>
            <a:off x="4533595" y="5860390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감가 없음, 보조금 매칭</a:t>
            </a:r>
            <a:endParaRPr lang="en-US" sz="800" dirty="0"/>
          </a:p>
        </p:txBody>
      </p:sp>
      <p:sp>
        <p:nvSpPr>
          <p:cNvPr id="39" name="Text 34"/>
          <p:cNvSpPr txBox="1"/>
          <p:nvPr/>
        </p:nvSpPr>
        <p:spPr>
          <a:xfrm>
            <a:off x="4533595" y="6120079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어촌계 독점 협약</a:t>
            </a:r>
            <a:endParaRPr lang="en-US" sz="1700" dirty="0"/>
          </a:p>
        </p:txBody>
      </p:sp>
      <p:sp>
        <p:nvSpPr>
          <p:cNvPr id="40" name="Text 35"/>
          <p:cNvSpPr txBox="1"/>
          <p:nvPr/>
        </p:nvSpPr>
        <p:spPr>
          <a:xfrm>
            <a:off x="4533595" y="6341364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VRIO 4단계 통과 후보</a:t>
            </a:r>
            <a:endParaRPr lang="en-US" sz="800" dirty="0"/>
          </a:p>
        </p:txBody>
      </p:sp>
      <p:sp>
        <p:nvSpPr>
          <p:cNvPr id="41" name="Text 36"/>
          <p:cNvSpPr txBox="1"/>
          <p:nvPr/>
        </p:nvSpPr>
        <p:spPr>
          <a:xfrm>
            <a:off x="4533595" y="6601054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대표 호텔업 10년</a:t>
            </a:r>
            <a:endParaRPr lang="en-US" sz="1700" dirty="0"/>
          </a:p>
        </p:txBody>
      </p:sp>
      <p:sp>
        <p:nvSpPr>
          <p:cNvPr id="42" name="Text 37"/>
          <p:cNvSpPr txBox="1"/>
          <p:nvPr/>
        </p:nvSpPr>
        <p:spPr>
          <a:xfrm>
            <a:off x="4533595" y="6822338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 작성·서비스 품질</a:t>
            </a:r>
            <a:endParaRPr lang="en-US" sz="800" dirty="0"/>
          </a:p>
        </p:txBody>
      </p:sp>
      <p:sp>
        <p:nvSpPr>
          <p:cNvPr id="43" name="Text 38"/>
          <p:cNvSpPr txBox="1"/>
          <p:nvPr/>
        </p:nvSpPr>
        <p:spPr>
          <a:xfrm>
            <a:off x="7733995" y="2629869"/>
            <a:ext cx="2857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5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VP · 중심</a:t>
            </a:r>
            <a:endParaRPr lang="en-US" sz="800" dirty="0"/>
          </a:p>
        </p:txBody>
      </p:sp>
      <p:sp>
        <p:nvSpPr>
          <p:cNvPr id="44" name="Text 39"/>
          <p:cNvSpPr txBox="1"/>
          <p:nvPr/>
        </p:nvSpPr>
        <p:spPr>
          <a:xfrm>
            <a:off x="7733995" y="2943454"/>
            <a:ext cx="2857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"섬 단위</a:t>
            </a:r>
            <a:endParaRPr lang="en-US" sz="1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워케이션 패키지"</a:t>
            </a:r>
            <a:endParaRPr lang="en-US" sz="1900" dirty="0"/>
          </a:p>
        </p:txBody>
      </p:sp>
      <p:sp>
        <p:nvSpPr>
          <p:cNvPr id="45" name="Text 40"/>
          <p:cNvSpPr txBox="1"/>
          <p:nvPr/>
        </p:nvSpPr>
        <p:spPr>
          <a:xfrm>
            <a:off x="7733995" y="6262399"/>
            <a:ext cx="32717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차별화: 5섬 독점 + 무인 운영 + 카톡 컨시어지 — 경쟁사 0개</a:t>
            </a:r>
            <a:endParaRPr lang="en-US" sz="800" dirty="0"/>
          </a:p>
        </p:txBody>
      </p:sp>
      <p:sp>
        <p:nvSpPr>
          <p:cNvPr id="46" name="Text 41"/>
          <p:cNvSpPr txBox="1"/>
          <p:nvPr/>
        </p:nvSpPr>
        <p:spPr>
          <a:xfrm>
            <a:off x="7733995" y="3487522"/>
            <a:ext cx="2857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 IT 30대에게,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펜션의 산만함 +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호텔의 고비용 +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대중 관광지의 피로 를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번에 해결하는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"섬 한 채 통째 임대 +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어촌 체험 +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무인 운영"</a:t>
            </a:r>
            <a:r>
              <a:rPr lang="en-US" sz="15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패키지.</a:t>
            </a:r>
            <a:endParaRPr lang="en-US" sz="1500" dirty="0"/>
          </a:p>
        </p:txBody>
      </p:sp>
      <p:sp>
        <p:nvSpPr>
          <p:cNvPr id="47" name="Text 42"/>
          <p:cNvSpPr txBox="1"/>
          <p:nvPr/>
        </p:nvSpPr>
        <p:spPr>
          <a:xfrm>
            <a:off x="7733995" y="5759103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280만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(주말 단기 38만/박도 가능)</a:t>
            </a:r>
            <a:endParaRPr lang="en-US" sz="1500" dirty="0"/>
          </a:p>
        </p:txBody>
      </p:sp>
      <p:sp>
        <p:nvSpPr>
          <p:cNvPr id="48" name="Text 43"/>
          <p:cNvSpPr txBox="1"/>
          <p:nvPr/>
        </p:nvSpPr>
        <p:spPr>
          <a:xfrm>
            <a:off x="10934395" y="2629869"/>
            <a:ext cx="2857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5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CR · 고객 관계</a:t>
            </a:r>
            <a:endParaRPr lang="en-US" sz="800" dirty="0"/>
          </a:p>
        </p:txBody>
      </p:sp>
      <p:sp>
        <p:nvSpPr>
          <p:cNvPr id="49" name="Text 44"/>
          <p:cNvSpPr txBox="1"/>
          <p:nvPr/>
        </p:nvSpPr>
        <p:spPr>
          <a:xfrm>
            <a:off x="10934395" y="2924251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자동 + 커뮤니티 (S1)</a:t>
            </a:r>
            <a:endParaRPr lang="en-US" sz="1700" dirty="0"/>
          </a:p>
        </p:txBody>
      </p:sp>
      <p:sp>
        <p:nvSpPr>
          <p:cNvPr id="50" name="Text 45"/>
          <p:cNvSpPr txBox="1"/>
          <p:nvPr/>
        </p:nvSpPr>
        <p:spPr>
          <a:xfrm>
            <a:off x="10934395" y="3145536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키리스 셀프 + 카톡 입주민방</a:t>
            </a:r>
            <a:endParaRPr lang="en-US" sz="800" dirty="0"/>
          </a:p>
        </p:txBody>
      </p:sp>
      <p:sp>
        <p:nvSpPr>
          <p:cNvPr id="51" name="Text 46"/>
          <p:cNvSpPr txBox="1"/>
          <p:nvPr/>
        </p:nvSpPr>
        <p:spPr>
          <a:xfrm>
            <a:off x="10934395" y="3405226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전담 1:1 (S2-3)</a:t>
            </a:r>
            <a:endParaRPr lang="en-US" sz="1700" dirty="0"/>
          </a:p>
        </p:txBody>
      </p:sp>
      <p:sp>
        <p:nvSpPr>
          <p:cNvPr id="52" name="Text 47"/>
          <p:cNvSpPr txBox="1"/>
          <p:nvPr/>
        </p:nvSpPr>
        <p:spPr>
          <a:xfrm>
            <a:off x="10934395" y="3626510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매니저 응대, 가격 프리미엄</a:t>
            </a:r>
            <a:endParaRPr lang="en-US" sz="800" dirty="0"/>
          </a:p>
        </p:txBody>
      </p:sp>
      <p:sp>
        <p:nvSpPr>
          <p:cNvPr id="53" name="Text 48"/>
          <p:cNvSpPr txBox="1"/>
          <p:nvPr/>
        </p:nvSpPr>
        <p:spPr>
          <a:xfrm>
            <a:off x="10934395" y="3886200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"여수섬민" 멤버십</a:t>
            </a:r>
            <a:endParaRPr lang="en-US" sz="1700" dirty="0"/>
          </a:p>
        </p:txBody>
      </p:sp>
      <p:sp>
        <p:nvSpPr>
          <p:cNvPr id="54" name="Text 49"/>
          <p:cNvSpPr txBox="1"/>
          <p:nvPr/>
        </p:nvSpPr>
        <p:spPr>
          <a:xfrm>
            <a:off x="10934395" y="4107485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12만/연 · 30% 할인 + 전용 이벤트</a:t>
            </a:r>
            <a:endParaRPr lang="en-US" sz="800" dirty="0"/>
          </a:p>
        </p:txBody>
      </p:sp>
      <p:sp>
        <p:nvSpPr>
          <p:cNvPr id="55" name="Text 50"/>
          <p:cNvSpPr txBox="1"/>
          <p:nvPr/>
        </p:nvSpPr>
        <p:spPr>
          <a:xfrm>
            <a:off x="10934395" y="5438851"/>
            <a:ext cx="2857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5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CH · 채널</a:t>
            </a:r>
            <a:endParaRPr lang="en-US" sz="800" dirty="0"/>
          </a:p>
        </p:txBody>
      </p:sp>
      <p:sp>
        <p:nvSpPr>
          <p:cNvPr id="56" name="Text 51"/>
          <p:cNvSpPr txBox="1"/>
          <p:nvPr/>
        </p:nvSpPr>
        <p:spPr>
          <a:xfrm>
            <a:off x="10934395" y="5639105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인지</a:t>
            </a: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인스타·당근·블로그 SEO</a:t>
            </a:r>
            <a:endParaRPr lang="en-US" sz="800" dirty="0"/>
          </a:p>
        </p:txBody>
      </p:sp>
      <p:sp>
        <p:nvSpPr>
          <p:cNvPr id="57" name="Text 52"/>
          <p:cNvSpPr txBox="1"/>
          <p:nvPr/>
        </p:nvSpPr>
        <p:spPr>
          <a:xfrm>
            <a:off x="10934395" y="5860390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</a:t>
            </a: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자체사이트 40% · 에어비앤비 40% · 야놀자 20%</a:t>
            </a:r>
            <a:endParaRPr lang="en-US" sz="800" dirty="0"/>
          </a:p>
        </p:txBody>
      </p:sp>
      <p:sp>
        <p:nvSpPr>
          <p:cNvPr id="58" name="Text 53"/>
          <p:cNvSpPr txBox="1"/>
          <p:nvPr/>
        </p:nvSpPr>
        <p:spPr>
          <a:xfrm>
            <a:off x="10934395" y="6081674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전달</a:t>
            </a: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무인 키리스 · 카톡 컨시어지</a:t>
            </a:r>
            <a:endParaRPr lang="en-US" sz="800" dirty="0"/>
          </a:p>
        </p:txBody>
      </p:sp>
      <p:sp>
        <p:nvSpPr>
          <p:cNvPr id="59" name="Text 54"/>
          <p:cNvSpPr txBox="1"/>
          <p:nvPr/>
        </p:nvSpPr>
        <p:spPr>
          <a:xfrm>
            <a:off x="10934395" y="6302959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</a:t>
            </a: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 NPS · 재구매 쿠폰</a:t>
            </a:r>
            <a:endParaRPr lang="en-US" sz="800" dirty="0"/>
          </a:p>
        </p:txBody>
      </p:sp>
      <p:sp>
        <p:nvSpPr>
          <p:cNvPr id="60" name="Text 55"/>
          <p:cNvSpPr txBox="1"/>
          <p:nvPr/>
        </p:nvSpPr>
        <p:spPr>
          <a:xfrm>
            <a:off x="14134795" y="2629869"/>
            <a:ext cx="2857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5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CS · 고객 세그먼트</a:t>
            </a:r>
            <a:endParaRPr lang="en-US" sz="800" dirty="0"/>
          </a:p>
        </p:txBody>
      </p:sp>
      <p:sp>
        <p:nvSpPr>
          <p:cNvPr id="61" name="Text 56"/>
          <p:cNvSpPr txBox="1"/>
          <p:nvPr/>
        </p:nvSpPr>
        <p:spPr>
          <a:xfrm>
            <a:off x="14134795" y="2924251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S1 (60%) 수도권 IT 30대</a:t>
            </a:r>
            <a:endParaRPr lang="en-US" sz="1700" dirty="0"/>
          </a:p>
        </p:txBody>
      </p:sp>
      <p:sp>
        <p:nvSpPr>
          <p:cNvPr id="62" name="Text 57"/>
          <p:cNvSpPr txBox="1"/>
          <p:nvPr/>
        </p:nvSpPr>
        <p:spPr>
          <a:xfrm>
            <a:off x="14134795" y="3145536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원격근무 가능, 연봉 6천+, 분기 1-2회 워케이션</a:t>
            </a:r>
            <a:endParaRPr lang="en-US" sz="800" dirty="0"/>
          </a:p>
        </p:txBody>
      </p:sp>
      <p:sp>
        <p:nvSpPr>
          <p:cNvPr id="63" name="Text 58"/>
          <p:cNvSpPr txBox="1"/>
          <p:nvPr/>
        </p:nvSpPr>
        <p:spPr>
          <a:xfrm>
            <a:off x="14134795" y="3443630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S2 (25%) 프리·자영업</a:t>
            </a:r>
            <a:endParaRPr lang="en-US" sz="1700" dirty="0"/>
          </a:p>
        </p:txBody>
      </p:sp>
      <p:sp>
        <p:nvSpPr>
          <p:cNvPr id="64" name="Text 59"/>
          <p:cNvSpPr txBox="1"/>
          <p:nvPr/>
        </p:nvSpPr>
        <p:spPr>
          <a:xfrm>
            <a:off x="14134795" y="3664915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30-40대, 월 1주 워케이션 가능, 가격 민감도 낮음</a:t>
            </a:r>
            <a:endParaRPr lang="en-US" sz="800" dirty="0"/>
          </a:p>
        </p:txBody>
      </p:sp>
      <p:sp>
        <p:nvSpPr>
          <p:cNvPr id="65" name="Text 60"/>
          <p:cNvSpPr txBox="1"/>
          <p:nvPr/>
        </p:nvSpPr>
        <p:spPr>
          <a:xfrm>
            <a:off x="14134795" y="3962095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S3 (15%) 50대 부부 단기</a:t>
            </a:r>
            <a:endParaRPr lang="en-US" sz="1700" dirty="0"/>
          </a:p>
        </p:txBody>
      </p:sp>
      <p:sp>
        <p:nvSpPr>
          <p:cNvPr id="66" name="Text 61"/>
          <p:cNvSpPr txBox="1"/>
          <p:nvPr/>
        </p:nvSpPr>
        <p:spPr>
          <a:xfrm>
            <a:off x="14134795" y="4184294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2-3박 단기, 친절·안전 우선, 시즌 의존</a:t>
            </a:r>
            <a:endParaRPr lang="en-US" sz="800" dirty="0"/>
          </a:p>
        </p:txBody>
      </p:sp>
      <p:sp>
        <p:nvSpPr>
          <p:cNvPr id="67" name="Text 62"/>
          <p:cNvSpPr txBox="1"/>
          <p:nvPr/>
        </p:nvSpPr>
        <p:spPr>
          <a:xfrm>
            <a:off x="14134795" y="4519879"/>
            <a:ext cx="2857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페인포인트</a:t>
            </a:r>
            <a:endParaRPr lang="en-US" sz="1700" dirty="0"/>
          </a:p>
        </p:txBody>
      </p:sp>
      <p:sp>
        <p:nvSpPr>
          <p:cNvPr id="68" name="Text 63"/>
          <p:cNvSpPr txBox="1"/>
          <p:nvPr/>
        </p:nvSpPr>
        <p:spPr>
          <a:xfrm>
            <a:off x="14134795" y="4741164"/>
            <a:ext cx="3397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"도시 펜션은 산만, 호텔은 비싸고 단조, 대중 관광지는 피곤"</a:t>
            </a:r>
            <a:endParaRPr lang="en-US" sz="800" dirty="0"/>
          </a:p>
        </p:txBody>
      </p:sp>
      <p:sp>
        <p:nvSpPr>
          <p:cNvPr id="69" name="Text 64"/>
          <p:cNvSpPr txBox="1"/>
          <p:nvPr/>
        </p:nvSpPr>
        <p:spPr>
          <a:xfrm>
            <a:off x="1294333" y="8071408"/>
            <a:ext cx="7620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5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· C$ · 비용 구조</a:t>
            </a:r>
            <a:endParaRPr lang="en-US" sz="800" dirty="0"/>
          </a:p>
        </p:txBody>
      </p:sp>
      <p:sp>
        <p:nvSpPr>
          <p:cNvPr id="70" name="Text 65"/>
          <p:cNvSpPr txBox="1"/>
          <p:nvPr/>
        </p:nvSpPr>
        <p:spPr>
          <a:xfrm>
            <a:off x="1294333" y="8434694"/>
            <a:ext cx="79452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고정 1,520만/월 (임차 800 · 외주 320 · OTA광고 200 · 대표 100 · SaaS+보험 100) · 변동 매출의 22%</a:t>
            </a:r>
            <a:endParaRPr lang="en-US" sz="1700" dirty="0"/>
          </a:p>
        </p:txBody>
      </p:sp>
      <p:sp>
        <p:nvSpPr>
          <p:cNvPr id="71" name="Text 66"/>
          <p:cNvSpPr txBox="1"/>
          <p:nvPr/>
        </p:nvSpPr>
        <p:spPr>
          <a:xfrm>
            <a:off x="1289008" y="8969241"/>
            <a:ext cx="7620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BEP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객실 가동률 50% — 평균 가동률 70% 가정 시 영업이익률 약 18%, 1년차 순이익 약 3,800만원 예상</a:t>
            </a:r>
            <a:endParaRPr lang="en-US" sz="1500" dirty="0"/>
          </a:p>
        </p:txBody>
      </p:sp>
      <p:sp>
        <p:nvSpPr>
          <p:cNvPr id="72" name="Text 67"/>
          <p:cNvSpPr txBox="1"/>
          <p:nvPr/>
        </p:nvSpPr>
        <p:spPr>
          <a:xfrm>
            <a:off x="9303455" y="8059145"/>
            <a:ext cx="7620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5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R$ · 수익 흐름</a:t>
            </a:r>
            <a:endParaRPr lang="en-US" sz="800" dirty="0"/>
          </a:p>
        </p:txBody>
      </p:sp>
      <p:sp>
        <p:nvSpPr>
          <p:cNvPr id="73" name="Text 68"/>
          <p:cNvSpPr txBox="1"/>
          <p:nvPr/>
        </p:nvSpPr>
        <p:spPr>
          <a:xfrm>
            <a:off x="9334195" y="8446637"/>
            <a:ext cx="8306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월 패키지 980만 · 주말 단기 1,520만 · 어촌 체험 옵션 480만 · 멤버십 (연 240만) </a:t>
            </a:r>
            <a:b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</a:br>
            <a:r>
              <a:rPr lang="en-US" sz="1700" b="1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= </a:t>
            </a:r>
            <a:r>
              <a:rPr lang="en-US" sz="1700" b="1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월 평균 약 3,000-3,200만</a:t>
            </a:r>
            <a:endParaRPr lang="en-US" sz="1700" dirty="0"/>
          </a:p>
        </p:txBody>
      </p:sp>
      <p:sp>
        <p:nvSpPr>
          <p:cNvPr id="74" name="Text 69"/>
          <p:cNvSpPr txBox="1"/>
          <p:nvPr/>
        </p:nvSpPr>
        <p:spPr>
          <a:xfrm>
            <a:off x="9334195" y="8927877"/>
            <a:ext cx="7620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모델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패키지 정찰 · 단기 동적가격(시즌) · 멤버십 정기구독 — 3가지 가격 형태 혼합</a:t>
            </a:r>
            <a:endParaRPr lang="en-US" sz="1500" dirty="0"/>
          </a:p>
        </p:txBody>
      </p:sp>
      <p:sp>
        <p:nvSpPr>
          <p:cNvPr id="75" name="Text 70"/>
          <p:cNvSpPr txBox="1"/>
          <p:nvPr/>
        </p:nvSpPr>
        <p:spPr>
          <a:xfrm>
            <a:off x="1143000" y="9696298"/>
            <a:ext cx="14287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49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 WHAT — 9블록 일관성 점검: VP "섬 패키지" ← KR "어촌 협약" + KA "콘텐츠" → CS "수도권 IT" → CH "OTA+자체" → R$ "3,200만/월"</a:t>
            </a:r>
            <a:endParaRPr lang="en-US" sz="8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5E1CAA4B-B00F-4F61-88AF-9F323C73DCCC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54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7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47620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619195"/>
            <a:ext cx="8401507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715500" y="3619195"/>
            <a:ext cx="7448702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04695" y="4095598"/>
            <a:ext cx="6896405" cy="4419295"/>
          </a:xfrm>
          <a:prstGeom prst="roundRect">
            <a:avLst>
              <a:gd name="adj" fmla="val 20691"/>
            </a:avLst>
          </a:prstGeom>
          <a:solidFill>
            <a:srgbClr val="FAF7EE"/>
          </a:solidFill>
          <a:ln w="25400">
            <a:solidFill>
              <a:srgbClr val="C58A2E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3143707" y="4762195"/>
            <a:ext cx="4419295" cy="3086100"/>
          </a:xfrm>
          <a:prstGeom prst="roundRect">
            <a:avLst>
              <a:gd name="adj" fmla="val 29630"/>
            </a:avLst>
          </a:prstGeom>
          <a:solidFill>
            <a:srgbClr val="F4EFE6"/>
          </a:solidFill>
          <a:ln w="25400">
            <a:solidFill>
              <a:srgbClr val="C58A2E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4286707" y="5524805"/>
            <a:ext cx="2095805" cy="1524305"/>
          </a:xfrm>
          <a:prstGeom prst="roundRect">
            <a:avLst>
              <a:gd name="adj" fmla="val 59988"/>
            </a:avLst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5 · BMC · 시장 규모 추정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TAM-SAM-SOM · 시장 3단계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"우리 시장은 얼마나 큰가."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2723998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투자자가 "시장이 얼마인가요?"라고 물을 때 1조원이라 답하면 위험하다. </a:t>
            </a:r>
            <a:r>
              <a:rPr lang="en-US" sz="1800" b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 다른 답이 있다.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904695" y="4238244"/>
            <a:ext cx="6858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904695" y="4438498"/>
            <a:ext cx="6858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00" kern="0" spc="-4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Total Addressable Market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3143707" y="4905756"/>
            <a:ext cx="4381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3143707" y="5105095"/>
            <a:ext cx="4381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kern="0" spc="-3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Serviceable Available Market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286707" y="5810098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SOM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286707" y="6010351"/>
            <a:ext cx="2095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kern="0" spc="-38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Obtainable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4286707" y="6507407"/>
            <a:ext cx="2095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3년 안에 </a:t>
            </a:r>
            <a:r>
              <a:rPr lang="en-US" sz="1500" dirty="0" err="1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잡을</a:t>
            </a: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 있는 시장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9715500" y="3619195"/>
          <a:ext cx="7419442" cy="5334612"/>
        </p:xfrm>
        <a:graphic>
          <a:graphicData uri="http://schemas.openxmlformats.org/drawingml/2006/table">
            <a:tbl>
              <a:tblPr/>
              <a:tblGrid>
                <a:gridCol w="1037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2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65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정의 · 계산법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여수 섬-스테이 예시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65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5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TAM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 시장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제품/서비스가 잡을 수 있는 이론상 최대 시장. </a:t>
                      </a:r>
                      <a:r>
                        <a:rPr lang="en-US" sz="1050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모든 한국인이 워케이션 한다면?</a:t>
                      </a:r>
                      <a:endParaRPr lang="en-US" sz="1800" dirty="0"/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한국 국내 관광 숙박 시장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=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6조원/년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800" dirty="0"/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65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5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SAM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유효 시장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지리·세그먼트·가격으로 좁힌 우리가 실제 접근할 수 있는 시장</a:t>
                      </a:r>
                      <a:endParaRPr lang="en-US" sz="1800" dirty="0"/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전남 도서지역 워케이션 숙박 (수도권 IT 30대 타깃)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=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240억/년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(시장 4% × 타깃 비중 10%)</a:t>
                      </a:r>
                      <a:endParaRPr lang="en-US" sz="1800" dirty="0"/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65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50" b="1" dirty="0">
                          <a:solidFill>
                            <a:srgbClr val="C58A2E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SOM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획득 가능 시장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3년 내 우리가 실제 점유할 수 있는 시장. SAM의 1-5% 정도가 현실적.</a:t>
                      </a:r>
                      <a:endParaRPr lang="en-US" sz="1800" dirty="0"/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3년 내 도달 목표 =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SAM의 2%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=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4.8억/년 = 월 4,000만</a:t>
                      </a: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(현재 BMC의 매출 목표 3,200만 대비 충분히 도달 가능)</a:t>
                      </a:r>
                      <a:endParaRPr lang="en-US" sz="1800" dirty="0"/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 19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· 가상 사례 · 시장 규모는 학습용 예시값 (실제 값은 한국문화관광연구원·KOSIS 에서 확인)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D73B5074-6251-4D1F-BE88-CDBB24F38465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55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866324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16021202" cy="611550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5 · BMC · 일관성 체크리스트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CONSISTENCY CHECK · 9블록 정합성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7가지 일관성 점검 질문.</a:t>
            </a:r>
            <a:endParaRPr lang="en-US" sz="4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761190"/>
              </p:ext>
            </p:extLst>
          </p:nvPr>
        </p:nvGraphicFramePr>
        <p:xfrm>
          <a:off x="1143000" y="2857500"/>
          <a:ext cx="15992857" cy="6096304"/>
        </p:xfrm>
        <a:graphic>
          <a:graphicData uri="http://schemas.openxmlformats.org/drawingml/2006/table">
            <a:tbl>
              <a:tblPr/>
              <a:tblGrid>
                <a:gridCol w="809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3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6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3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3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점검 흐름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실패 사례 (한국 사업계획서)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3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01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VP ↔ CS</a:t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가치 ↔ 고객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VP가 CS의 실제 페인포인트를 푸는가? CS 인터뷰 N=10+이 있는가?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"전 국민 대상" 같은 고객 정의 → VP가 누구를 위한 건지 불명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3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02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CS ↔ CH</a:t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고객 ↔ 채널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CS가 실제 사용하는 채널인가? 채널별 단위 경제(CAC·LTV)가 양수인가?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50대 타깃인데 "인스타로 마케팅한다" — 채널 미스매치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3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03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VP ↔ R$</a:t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가치 ↔ 수익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CS가 VP에 실제로 지불하겠는가? 인터뷰에서 "얼마면 살 것"이 확인됐나?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"좋은 서비스 제공" → 무료/저가 외 가격 검증 0건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3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04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VP ↔ KA + KR</a:t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가치 ↔ 활동·자원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VP를 만들기 위해 필요한 활동·자원이 모두 KA·KR에 있나?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VP "AI 기반 분석" 인데 KR에 AI 인력·데이터 없음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3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05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KA + KR ↔ KP</a:t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내부 ↔ 외부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내부에서 못 하는 것을 KP가 채워주는가? 의존도가 한 파트너에 60%+ 안 묶였는가?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 95%가 1개 OTA — 파트너 사고 = 사업 폐쇄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03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06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R$ ≥ C$</a:t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수익 ≥ 비용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R$ &gt; 월 C$의 BEP가 24개월 안에 오는가? Unit economics 양수?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"3년 내 흑자 전환" — 어떤 BEP 가정인지 명시 없음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203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07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SOM 도달</a:t>
                      </a: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시장 규모 검증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SOM (3년 도달 시장)이 우리 R$ 목표보다 큰가? 작으면 BMC가 비현실적.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SOM 5억인데 매출 목표 10억 — 시장 100% 점유 가정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— 7개 점검 모두 통과 못 하면 BMC를 다시 작성. "예쁜 캔버스"는 평가 항목 아님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25C60FC0-A241-4DEA-AA97-576FE2A4DFE8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56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902737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4195" y="3619195"/>
            <a:ext cx="7810805" cy="51435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5 · BMC · 워크숍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WORKSHOP · 35분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42875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본인 사업의 9-블록 BMC.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619195"/>
            <a:ext cx="7810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INSTRUCTIONS · 35분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143000" y="3991356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1143000" y="4153205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1790395" y="3978394"/>
            <a:ext cx="55156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CS → VP 먼저 (10분)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790395" y="4505249"/>
            <a:ext cx="6602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1순위 고객 세그먼트의 페인포인트 1개 → 가치 제안 1줄. 인터뷰 데이터(전일 숙제 B)를 인용.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1143000" y="4871923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1143000" y="5033772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1790395" y="4858961"/>
            <a:ext cx="5772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CH·CR·R$ (10분)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790395" y="5386730"/>
            <a:ext cx="69119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고객이 어디서 사고, 어떤 관계를 맺고, 무엇에 얼마를 지불하는지. 가격은 인터뷰로 검증된 숫자만.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1143000" y="5753405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1143000" y="5915254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8"/>
          <p:cNvSpPr txBox="1"/>
          <p:nvPr/>
        </p:nvSpPr>
        <p:spPr>
          <a:xfrm>
            <a:off x="1790395" y="5740443"/>
            <a:ext cx="4248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KA·KR·KP·C$ (10분)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790395" y="6267298"/>
            <a:ext cx="5060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VP를 만들기 위한 활동·자원·파트너 → 그 비용을 합산. BEP 가정 명시.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1143000" y="6633972"/>
            <a:ext cx="7810805" cy="895198"/>
          </a:xfrm>
          <a:prstGeom prst="rect">
            <a:avLst/>
          </a:prstGeom>
          <a:noFill/>
          <a:ln w="12700">
            <a:solidFill>
              <a:srgbClr val="0E1B2C">
                <a:alpha val="20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1143000" y="6795821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2100" dirty="0"/>
          </a:p>
        </p:txBody>
      </p:sp>
      <p:sp>
        <p:nvSpPr>
          <p:cNvPr id="26" name="Text 22"/>
          <p:cNvSpPr txBox="1"/>
          <p:nvPr/>
        </p:nvSpPr>
        <p:spPr>
          <a:xfrm>
            <a:off x="1790395" y="6621010"/>
            <a:ext cx="37060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7개 일관성 점검 (5분)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790395" y="7148779"/>
            <a:ext cx="45454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56의 7가지 질문에 모두 답하고 통과 못 한 항목 표시.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9639605" y="3905402"/>
            <a:ext cx="7239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DELIVERABLE · 제출물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9639605" y="4200754"/>
            <a:ext cx="7239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A3 1장 · BMC 9-블록 캔버스 + TAM-SAM-SOM 표</a:t>
            </a:r>
            <a:endParaRPr lang="en-US" sz="22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639605" y="5189220"/>
            <a:ext cx="7239305" cy="91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639605" y="5426964"/>
            <a:ext cx="7239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RUBRIC · 평가 기준 (100점)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9639605" y="4724705"/>
            <a:ext cx="7239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54 양식을 본인 사업으로 채운다. 시장 규모(TAM·SAM·SOM)는 출처와 함께 별도 표.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639605" y="5703113"/>
            <a:ext cx="7239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9블록 모두 채움 + 일반론 없음 — 30점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9639605" y="5943600"/>
            <a:ext cx="7239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VP가 CS의 검증된 페인포인트 푼다 — 20점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9639605" y="6184087"/>
            <a:ext cx="7239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R$ ≥ C$ 산식 + BEP 가동률 명시 — 20점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9639605" y="6423660"/>
            <a:ext cx="7239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TAM-SAM-SOM 3단계 출처 — 15점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9639605" y="6664147"/>
            <a:ext cx="7239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7개 일관성 점검 통과 표시 — 15점</a:t>
            </a:r>
            <a:endParaRPr lang="en-US" sz="1600" dirty="0"/>
          </a:p>
        </p:txBody>
      </p:sp>
      <p:sp>
        <p:nvSpPr>
          <p:cNvPr id="38" name="Text 33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제출 후 → 휴식 10분 → 단원 6 (VRIO) — 자원 우위의 진실성 검증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0A7376BD-E9C7-475F-96E2-6D0F952BDA2D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57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5868776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1143000" y="1333195"/>
            <a:ext cx="11430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600200"/>
            <a:ext cx="9525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324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BREAK · 10 MIN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857500"/>
            <a:ext cx="16193110" cy="3143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0" i="1" kern="0" spc="-450" dirty="0">
                <a:solidFill>
                  <a:srgbClr val="0E1B2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10:00</a:t>
            </a:r>
            <a:endParaRPr lang="en-US" sz="22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6762902"/>
            <a:ext cx="123828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100" kern="0" spc="-15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잠시 쉬어갑시다.</a:t>
            </a:r>
            <a:endParaRPr lang="en-US" sz="51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8096098"/>
            <a:ext cx="12382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시간은 </a:t>
            </a:r>
            <a:r>
              <a:rPr lang="en-US" sz="1600" b="1" dirty="0">
                <a:solidFill>
                  <a:srgbClr val="C58A2E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VRIO</a:t>
            </a:r>
            <a:r>
              <a:rPr lang="en-US" sz="1600" dirty="0">
                <a:solidFill>
                  <a:srgbClr val="0E1B2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Barney가 1991년 발표한 자원 기반 관점(RBV). 자원 우위의 진짜와 가짜를 가른다.</a:t>
            </a:r>
            <a:endParaRPr lang="en-US" sz="16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DD4C850F-39BC-4EC4-B4CB-DE2A0497F283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58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800389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715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t="-420" b="-420"/>
          <a:stretch/>
        </p:blipFill>
        <p:spPr>
          <a:xfrm>
            <a:off x="857707" y="1524305"/>
            <a:ext cx="761695" cy="384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79039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28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06 · VERIFY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7707" y="2286000"/>
            <a:ext cx="4572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0" i="1" kern="0" spc="-3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06.</a:t>
            </a:r>
            <a:endParaRPr lang="en-US" sz="150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4953305"/>
            <a:ext cx="4572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kern="0" spc="-144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VRIO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5817413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Barney · 1991 · JoM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6858000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3-5개를 가치(V) · 희소성(R) · 모방가능성(I) · 조직(O) 4단계로 통과시킨다. 진짜 우위와 가짜 우위를 가른다.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76695" y="1524305"/>
            <a:ext cx="10478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6 · 60분 학습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76695" y="1904695"/>
            <a:ext cx="10478110" cy="141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kern="0" spc="-14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"이 </a:t>
            </a:r>
            <a:r>
              <a:rPr lang="en-US" sz="4800" kern="0" spc="-144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자원이</a:t>
            </a:r>
            <a:r>
              <a:rPr lang="en-US" sz="4800" kern="0" spc="-14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4800" kern="0" spc="-144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진짜</a:t>
            </a:r>
            <a:r>
              <a:rPr lang="en-US" sz="4800" kern="0" spc="-14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</a:t>
            </a:r>
            <a:r>
              <a:rPr lang="en-US" sz="4800" kern="0" spc="-144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경쟁우위인가</a:t>
            </a:r>
            <a:r>
              <a:rPr lang="en-US" sz="4800" kern="0" spc="-14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?"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6476695" y="4667098"/>
            <a:ext cx="10287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BMC의 KR(핵심 자원) 칸에 적은 자원이 진짜 경쟁우위의 원천인가? 아니면 누구나 가진, 누구나 따라할 수 있는 자원인가?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76695" y="5488229"/>
            <a:ext cx="10287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VRIO는 </a:t>
            </a: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깔때기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그 답을 가린다.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76695" y="7592263"/>
            <a:ext cx="1047719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476695" y="7239305"/>
            <a:ext cx="104781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76695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476695" y="8261281"/>
            <a:ext cx="382585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 · R · I · O 4단계 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깔때기를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적용할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 있다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0071202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10124990" y="8153705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3-5개 자원을 각각 통과/탈락시켜 우선순위를 정한다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3664794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3664794" y="8153705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VRIN(1991) → VRIO(1995)로 진화된 맥락을 안다</a:t>
            </a:r>
            <a:endParaRPr lang="en-US" sz="18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D61B6B58-BB8B-46B3-ADBE-098B6E3D4E52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59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835098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30207" y="4572000"/>
            <a:ext cx="7715707" cy="4190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6 · VRIO · 도입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VRIO · RESOURCE-BASED VIEW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300" kern="0" spc="-13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"우위는 산업이 아니라</a:t>
            </a:r>
            <a:endParaRPr lang="en-US" sz="4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300" kern="0" spc="-13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자원에서 온다."</a:t>
            </a:r>
            <a:endParaRPr lang="en-US" sz="43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676802"/>
            <a:ext cx="16193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Barney(1991)의 문제의식 요약</a:t>
            </a:r>
            <a:r>
              <a:rPr lang="en-US" sz="1900" i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4572000"/>
            <a:ext cx="7905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Porter의 반대편 학파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5162702"/>
            <a:ext cx="79059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Porter(1979/85)는 "산업 구조가 이익을 결정한다" 학파. Barney(1991)는 정반대 —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"같은 산업 안에서도 어떤 회사는 평균 이상의 이익을 내는데, 그 차이는 회사가 보유한 자원의 차이"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라고 주장했다.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6289672"/>
            <a:ext cx="9614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학파는 보완적이다. 5Forces로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산업이 매력적인가"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본 뒤, </a:t>
            </a:r>
            <a:b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9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VRIO로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"우리만 가진 무엇이 있나"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본다.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9810598" y="4858207"/>
            <a:ext cx="7049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EVOLUTION · VRIN → VRIO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9810598" y="5744261"/>
            <a:ext cx="7048195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9810598" y="5181421"/>
            <a:ext cx="7049110" cy="3822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1991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Barney </a:t>
            </a:r>
            <a:r>
              <a:rPr lang="en-US" sz="1800" i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VRIN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aluable · </a:t>
            </a:r>
            <a:r>
              <a:rPr lang="en-US" sz="1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 · </a:t>
            </a:r>
            <a:r>
              <a:rPr lang="en-US" sz="1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nimitable · </a:t>
            </a:r>
            <a:r>
              <a:rPr lang="en-US" sz="1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on-substitutable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9810598" y="6504127"/>
            <a:ext cx="7048195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9810598" y="5751576"/>
            <a:ext cx="7049110" cy="6391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1995 Barney (AME 9(4))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N(대체불가능성)을 O(조직)로 대체 — "조직이 그 자원을 활용할 준비가 됐는가" 추가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9810598" y="6513271"/>
            <a:ext cx="7049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현재</a:t>
            </a: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 · R · I · O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4단계 통과 = 지속 가능한 경쟁우위</a:t>
            </a:r>
            <a:endParaRPr lang="en-US" sz="1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810598" y="7253935"/>
            <a:ext cx="7048195" cy="91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0598" y="7511796"/>
            <a:ext cx="769559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= 물적·재무적·인적·지적·조직적 자산. </a:t>
            </a:r>
            <a:r>
              <a:rPr lang="en-US" sz="1600" b="1" dirty="0">
                <a:solidFill>
                  <a:srgbClr val="C58A2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"자원"</a:t>
            </a:r>
            <a:r>
              <a:rPr lang="en-US" sz="16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이라는 단어를 </a:t>
            </a:r>
            <a:r>
              <a:rPr lang="en-US" sz="1600" dirty="0" err="1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BMC의</a:t>
            </a:r>
            <a:r>
              <a:rPr lang="en-US" sz="16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6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KR + KA(역량) 모두 포괄하는 의미로 본다.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9553192"/>
            <a:ext cx="16363188" cy="309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Barney (1991). Firm Resources and Sustained Competitive Advantage. Journal of Management 17(1): 99-120</a:t>
            </a:r>
            <a:endParaRPr lang="en-US" sz="14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56052612-884F-47F0-824A-B73270602249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60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2313543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3829507" cy="497250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143500" y="3143707"/>
            <a:ext cx="3829507" cy="497250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144000" y="3143707"/>
            <a:ext cx="3829507" cy="497250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3144500" y="3143707"/>
            <a:ext cx="3810305" cy="495330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8382305"/>
            <a:ext cx="16002000" cy="761695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 l="-397" r="-397"/>
          <a:stretch/>
        </p:blipFill>
        <p:spPr>
          <a:xfrm>
            <a:off x="1143000" y="3143707"/>
            <a:ext cx="57607" cy="495330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rcRect l="-397" r="-397"/>
          <a:stretch/>
        </p:blipFill>
        <p:spPr>
          <a:xfrm>
            <a:off x="5143500" y="3143707"/>
            <a:ext cx="57607" cy="495330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rcRect l="-397" r="-397"/>
          <a:stretch/>
        </p:blipFill>
        <p:spPr>
          <a:xfrm>
            <a:off x="9144000" y="3143707"/>
            <a:ext cx="57607" cy="495330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rcRect l="-397" r="-397"/>
          <a:stretch/>
        </p:blipFill>
        <p:spPr>
          <a:xfrm>
            <a:off x="13144500" y="3143707"/>
            <a:ext cx="57607" cy="495330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6 · VRIO · 4단계 깔때기</a:t>
            </a:r>
            <a:endParaRPr lang="en-US" sz="16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238098"/>
            <a:ext cx="7620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4-STEP FUNNEL</a:t>
            </a:r>
            <a:endParaRPr lang="en-US" sz="1900" dirty="0"/>
          </a:p>
        </p:txBody>
      </p:sp>
      <p:sp>
        <p:nvSpPr>
          <p:cNvPr id="18" name="Text 10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자원을 4개 질문에 차례로 통과시켜라.</a:t>
            </a:r>
            <a:endParaRPr lang="en-US" sz="4000" dirty="0"/>
          </a:p>
        </p:txBody>
      </p:sp>
      <p:sp>
        <p:nvSpPr>
          <p:cNvPr id="19" name="Text 11"/>
          <p:cNvSpPr txBox="1"/>
          <p:nvPr/>
        </p:nvSpPr>
        <p:spPr>
          <a:xfrm>
            <a:off x="1429207" y="3333902"/>
            <a:ext cx="3429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kern="0" spc="-180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</a:t>
            </a:r>
            <a:endParaRPr lang="en-US" sz="6000" dirty="0"/>
          </a:p>
        </p:txBody>
      </p:sp>
      <p:sp>
        <p:nvSpPr>
          <p:cNvPr id="20" name="Text 12"/>
          <p:cNvSpPr txBox="1"/>
          <p:nvPr/>
        </p:nvSpPr>
        <p:spPr>
          <a:xfrm>
            <a:off x="1429207" y="4078278"/>
            <a:ext cx="3429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Valuable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가치 있는가?</a:t>
            </a:r>
            <a:endParaRPr lang="en-US" sz="1800" dirty="0"/>
          </a:p>
        </p:txBody>
      </p:sp>
      <p:sp>
        <p:nvSpPr>
          <p:cNvPr id="21" name="Text 13"/>
          <p:cNvSpPr txBox="1"/>
          <p:nvPr/>
        </p:nvSpPr>
        <p:spPr>
          <a:xfrm>
            <a:off x="1429207" y="5092294"/>
            <a:ext cx="3429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자원이 기회를 활용하거나 위협을 무력화하는가? 즉, 고객 가치 또는 비용 절감으로 연결되는가?</a:t>
            </a:r>
            <a:endParaRPr lang="en-US" sz="1700" dirty="0"/>
          </a:p>
        </p:txBody>
      </p:sp>
      <p:sp>
        <p:nvSpPr>
          <p:cNvPr id="22" name="Shape 14"/>
          <p:cNvSpPr/>
          <p:nvPr/>
        </p:nvSpPr>
        <p:spPr>
          <a:xfrm>
            <a:off x="1429207" y="5835485"/>
            <a:ext cx="3429000" cy="1037844"/>
          </a:xfrm>
          <a:prstGeom prst="rect">
            <a:avLst/>
          </a:prstGeom>
          <a:solidFill>
            <a:srgbClr val="FAF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3" name="Text 15"/>
          <p:cNvSpPr txBox="1"/>
          <p:nvPr/>
        </p:nvSpPr>
        <p:spPr>
          <a:xfrm>
            <a:off x="1561795" y="5968987"/>
            <a:ext cx="3162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→</a:t>
            </a:r>
            <a:r>
              <a:rPr lang="en-US" sz="1500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경쟁 열위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1561795" y="6394989"/>
            <a:ext cx="196133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YES → V 통과, R로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429207" y="4684311"/>
            <a:ext cx="3429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 01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429707" y="3333902"/>
            <a:ext cx="3429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kern="0" spc="-180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</a:t>
            </a:r>
            <a:endParaRPr lang="en-US" sz="6000" dirty="0"/>
          </a:p>
        </p:txBody>
      </p:sp>
      <p:sp>
        <p:nvSpPr>
          <p:cNvPr id="27" name="Text 19"/>
          <p:cNvSpPr txBox="1"/>
          <p:nvPr/>
        </p:nvSpPr>
        <p:spPr>
          <a:xfrm>
            <a:off x="5429707" y="4078278"/>
            <a:ext cx="3429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Rare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희소한가?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5429707" y="5092294"/>
            <a:ext cx="3429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자원을 가진 경쟁사가 소수인가? 모두가 가지면 우위가 아니라 "필수 조건"이다.</a:t>
            </a:r>
            <a:endParaRPr lang="en-US" sz="1700" dirty="0"/>
          </a:p>
        </p:txBody>
      </p:sp>
      <p:sp>
        <p:nvSpPr>
          <p:cNvPr id="29" name="Shape 21"/>
          <p:cNvSpPr/>
          <p:nvPr/>
        </p:nvSpPr>
        <p:spPr>
          <a:xfrm>
            <a:off x="5429707" y="5835485"/>
            <a:ext cx="3429000" cy="1037844"/>
          </a:xfrm>
          <a:prstGeom prst="rect">
            <a:avLst/>
          </a:prstGeom>
          <a:solidFill>
            <a:srgbClr val="FAF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5562295" y="5968987"/>
            <a:ext cx="3162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→</a:t>
            </a:r>
            <a:r>
              <a:rPr lang="en-US" sz="1500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경쟁 동등 (parity)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5562295" y="6448777"/>
            <a:ext cx="21159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YES → 일시적 우위, I로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5429707" y="4684580"/>
            <a:ext cx="3429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 02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9430207" y="3333902"/>
            <a:ext cx="3429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kern="0" spc="-180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</a:t>
            </a:r>
            <a:endParaRPr lang="en-US" sz="6000" dirty="0"/>
          </a:p>
        </p:txBody>
      </p:sp>
      <p:sp>
        <p:nvSpPr>
          <p:cNvPr id="34" name="Text 26"/>
          <p:cNvSpPr txBox="1"/>
          <p:nvPr/>
        </p:nvSpPr>
        <p:spPr>
          <a:xfrm>
            <a:off x="9430207" y="4078278"/>
            <a:ext cx="3429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Inimitable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모방 어려운가?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9430207" y="5092294"/>
            <a:ext cx="3429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경쟁사가 이걸 만들거나 사는 데 큰 비용·시간이 드는가? 역사적 우연·인과 모호성·사회적 복잡성이 있는가?</a:t>
            </a:r>
            <a:endParaRPr lang="en-US" sz="1700" dirty="0"/>
          </a:p>
        </p:txBody>
      </p:sp>
      <p:sp>
        <p:nvSpPr>
          <p:cNvPr id="36" name="Shape 28"/>
          <p:cNvSpPr/>
          <p:nvPr/>
        </p:nvSpPr>
        <p:spPr>
          <a:xfrm>
            <a:off x="9430207" y="5835485"/>
            <a:ext cx="3429000" cy="1037844"/>
          </a:xfrm>
          <a:prstGeom prst="rect">
            <a:avLst/>
          </a:prstGeom>
          <a:solidFill>
            <a:srgbClr val="FAF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7" name="Text 29"/>
          <p:cNvSpPr txBox="1"/>
          <p:nvPr/>
        </p:nvSpPr>
        <p:spPr>
          <a:xfrm>
            <a:off x="9562795" y="5968987"/>
            <a:ext cx="3162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→</a:t>
            </a:r>
            <a:r>
              <a:rPr lang="en-US" sz="1500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1-2년 뒤 패리티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562795" y="6448777"/>
            <a:ext cx="23684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YES → 지속 우위 후보, O로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9430207" y="4684580"/>
            <a:ext cx="3429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 03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13430707" y="3333902"/>
            <a:ext cx="3429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kern="0" spc="-180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</a:t>
            </a:r>
            <a:endParaRPr lang="en-US" sz="6000" dirty="0"/>
          </a:p>
        </p:txBody>
      </p:sp>
      <p:sp>
        <p:nvSpPr>
          <p:cNvPr id="41" name="Text 33"/>
          <p:cNvSpPr txBox="1"/>
          <p:nvPr/>
        </p:nvSpPr>
        <p:spPr>
          <a:xfrm>
            <a:off x="13430707" y="4037937"/>
            <a:ext cx="3429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Organized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조직화됐는가?</a:t>
            </a:r>
            <a:endParaRPr lang="en-US" sz="1800" dirty="0"/>
          </a:p>
        </p:txBody>
      </p:sp>
      <p:sp>
        <p:nvSpPr>
          <p:cNvPr id="42" name="Shape 34"/>
          <p:cNvSpPr/>
          <p:nvPr/>
        </p:nvSpPr>
        <p:spPr>
          <a:xfrm>
            <a:off x="13430707" y="5952419"/>
            <a:ext cx="3429000" cy="920909"/>
          </a:xfrm>
          <a:prstGeom prst="rect">
            <a:avLst/>
          </a:prstGeom>
          <a:solidFill>
            <a:srgbClr val="C58A2E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3" name="Text 35"/>
          <p:cNvSpPr txBox="1"/>
          <p:nvPr/>
        </p:nvSpPr>
        <p:spPr>
          <a:xfrm>
            <a:off x="13563295" y="6049669"/>
            <a:ext cx="3162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→</a:t>
            </a:r>
            <a:r>
              <a:rPr lang="en-US" sz="1500" dirty="0">
                <a:solidFill>
                  <a:srgbClr val="A142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잠재력만, 실현 X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13563294" y="6354648"/>
            <a:ext cx="2349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YES → 지속 경쟁우위 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13430707" y="4684580"/>
            <a:ext cx="3429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 04</a:t>
            </a:r>
            <a:endParaRPr lang="en-US" sz="1500" dirty="0"/>
          </a:p>
        </p:txBody>
      </p:sp>
      <p:sp>
        <p:nvSpPr>
          <p:cNvPr id="46" name="Text 38"/>
          <p:cNvSpPr txBox="1"/>
          <p:nvPr/>
        </p:nvSpPr>
        <p:spPr>
          <a:xfrm>
            <a:off x="13430707" y="5092294"/>
            <a:ext cx="3429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조직이 이 자원에서 가치를 뽑아낼 구조·프로세스·인재를 갖고 있는가? 자원만 있고 활용 못 하면 0점.</a:t>
            </a:r>
            <a:endParaRPr lang="en-US" sz="1700" dirty="0"/>
          </a:p>
        </p:txBody>
      </p:sp>
      <p:sp>
        <p:nvSpPr>
          <p:cNvPr id="47" name="Text 39"/>
          <p:cNvSpPr txBox="1"/>
          <p:nvPr/>
        </p:nvSpPr>
        <p:spPr>
          <a:xfrm>
            <a:off x="1524305" y="8572500"/>
            <a:ext cx="15926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통과 결과 → </a:t>
            </a:r>
            <a:r>
              <a:rPr lang="en-US" sz="1800" b="1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V만 NO</a:t>
            </a: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경쟁 열위 · </a:t>
            </a:r>
            <a:r>
              <a:rPr lang="en-US" sz="1800" b="1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 YES, R NO</a:t>
            </a: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경쟁 동등 · </a:t>
            </a:r>
            <a:r>
              <a:rPr lang="en-US" sz="1800" b="1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VR YES, I NO</a:t>
            </a: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일시적 우위 · </a:t>
            </a:r>
            <a:r>
              <a:rPr lang="en-US" sz="1800" b="1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VRI YES, O NO</a:t>
            </a: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잠재 우위 · </a:t>
            </a:r>
            <a:r>
              <a:rPr lang="en-US" sz="1800" b="1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VRIO 모두 YES</a:t>
            </a: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지속 경쟁우위 </a:t>
            </a:r>
            <a:endParaRPr lang="en-US" sz="1800" dirty="0"/>
          </a:p>
        </p:txBody>
      </p:sp>
      <p:sp>
        <p:nvSpPr>
          <p:cNvPr id="48" name="Text 40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— 자원 1개당 4개 질문 모두 답한다. 중간에 NO가 나오면 거기서 멈춰도 됨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88D97B86-FEE5-4B87-83B5-217EFA2CA41E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61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733505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16021202" cy="630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6 · VRIO · 채점 결과 해석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5 POSSIBLE OUTCOMES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자원의 5가지 결과와 의미.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409357"/>
              </p:ext>
            </p:extLst>
          </p:nvPr>
        </p:nvGraphicFramePr>
        <p:xfrm>
          <a:off x="1143000" y="2857500"/>
          <a:ext cx="15993771" cy="6286500"/>
        </p:xfrm>
        <a:graphic>
          <a:graphicData uri="http://schemas.openxmlformats.org/drawingml/2006/table">
            <a:tbl>
              <a:tblPr/>
              <a:tblGrid>
                <a:gridCol w="905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21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105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의미 · 의사결정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NO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88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088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88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088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88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088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 열위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Competitive Disadvantage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 자원에 더 투자하지 마라. 다른 자원으로 대체하거나 매각·정리.</a:t>
                      </a:r>
                      <a:endParaRPr lang="en-US" sz="1088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YES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NO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88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088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88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088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b="1" dirty="0">
                          <a:solidFill>
                            <a:srgbClr val="8888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 동등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b="1" dirty="0">
                          <a:solidFill>
                            <a:srgbClr val="8888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Competitive Parity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운영에 필요한 "참가 조건"이다. 우위는 아니지만 없으면 안 됨. 평균만 유지.</a:t>
                      </a:r>
                      <a:endParaRPr lang="en-US" sz="1088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YES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YES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NO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88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088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일시적 경쟁우위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Temporary Advantage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1-2년 안에 경쟁사가 따라잡는다. 그동안 시장 점유율·브랜드를 구축해 다음 우위로 전환.</a:t>
                      </a:r>
                      <a:endParaRPr lang="en-US" sz="1088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YES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YES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YES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NO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활용 안된 잠재력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Unused Potential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자원은 진짜 우위인데 조직이 못 쓰고 있다. </a:t>
                      </a:r>
                      <a:r>
                        <a:rPr lang="en-US" sz="1088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조직·프로세스·인재 투자가 즉시 필요.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YES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YES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YES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YES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지속 경쟁우위</a:t>
                      </a:r>
                      <a:endParaRPr lang="en-US" sz="1800" dirty="0"/>
                    </a:p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Sustained Advantage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88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가장 큰 자원을 여기에 투자.</a:t>
                      </a:r>
                      <a:r>
                        <a:rPr lang="en-US" sz="1088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IR 덱·사업계획서·마케팅 메시지의 핵심으로 활용. 보호·확장이 최우선 과제.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— 자원 3-5개 중 "지속 우위" 후보가 0개면, BMC의 VP를 다시 작성. 차별화 근거가 없음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E85E57A9-0362-4582-A662-B9A3AA75BF37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62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7616561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16021202" cy="630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7620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6 · VRIO · 전남 케이스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WORKED CASE · 여수 섬-스테이 5개 자원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BMC의 KR 5개를 4단계 통과시키면.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70283"/>
              </p:ext>
            </p:extLst>
          </p:nvPr>
        </p:nvGraphicFramePr>
        <p:xfrm>
          <a:off x="1143000" y="2857500"/>
          <a:ext cx="15991026" cy="6286500"/>
        </p:xfrm>
        <a:graphic>
          <a:graphicData uri="http://schemas.openxmlformats.org/drawingml/2006/table">
            <a:tbl>
              <a:tblPr/>
              <a:tblGrid>
                <a:gridCol w="2180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70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0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1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 (BMC의 KR)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근거 · 의미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5개 도서 어촌계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5년 독점 협약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지속 경쟁우위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5년 협약 만료까지 경쟁사 진입 불가 (R). 어촌계 신뢰는 시간·인간관계로만 형성 (I). 운영 매뉴얼화 완료 (O).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자산.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 호텔업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10년 경력 + 자격증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✗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일시적 우위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경쟁사도 호텔업 인력 채용 가능 (I 탈락). 2-3년 안에 따라잡힐 우위 — 그동안 브랜드 구축으로 전환.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키리스 자동화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 시스템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✗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8888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 동등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SaaS 형태로 시중에서 구매 가능, 누구나 도입 가능 (R 탈락). "필요 조건"이지 "우위"는 아님.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워케이션 고객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인터뷰 N=42 데이터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✗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잠재 우위 (활용 X)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그 자체는 우위 후보지만 CRM·세그먼트 분석으로 활용하는 조직 미비. </a:t>
                      </a: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 즉시 보강 필요.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빈집 5채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5년 임차 계약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C5A7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A142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✗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88888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 동등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빈집 임차는 누구나 할 수 있다. 임차 자체로는 우위 없음. </a:t>
                      </a:r>
                      <a:r>
                        <a:rPr lang="en-US" sz="1050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"5개섬 어촌계 협약"과 결합돼야 R1과 같은 우위.</a:t>
                      </a:r>
                      <a:endParaRPr lang="en-US" sz="1800" dirty="0"/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 WHAT — 지속 우위 1개 (어촌계 협약) + 잠재 1개 (인터뷰 데이터) → 두 자원에 자금·시간 집중, IR 핵심 메시지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605E70F4-3384-46F1-BFBF-5CAD5CA63DC6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63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2258872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7925105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239098" y="2857500"/>
            <a:ext cx="7925105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6096305"/>
            <a:ext cx="7925105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239098" y="6096305"/>
            <a:ext cx="7905902" cy="3047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rcRect l="-405" r="-405"/>
          <a:stretch/>
        </p:blipFill>
        <p:spPr>
          <a:xfrm>
            <a:off x="1143000" y="2857500"/>
            <a:ext cx="57607" cy="304769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rcRect l="-405" r="-405"/>
          <a:stretch/>
        </p:blipFill>
        <p:spPr>
          <a:xfrm>
            <a:off x="9239098" y="2857500"/>
            <a:ext cx="57607" cy="304769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rcRect l="-405" r="-405"/>
          <a:stretch/>
        </p:blipFill>
        <p:spPr>
          <a:xfrm>
            <a:off x="1143000" y="6096305"/>
            <a:ext cx="57607" cy="304769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rcRect l="-405" r="-405"/>
          <a:stretch/>
        </p:blipFill>
        <p:spPr>
          <a:xfrm>
            <a:off x="9239098" y="6096305"/>
            <a:ext cx="57607" cy="304769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6 · VRIO · 체크리스트</a:t>
            </a:r>
            <a:endParaRPr lang="en-US" sz="160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CHECKLIST · 4단계 실무 질문</a:t>
            </a:r>
            <a:endParaRPr lang="en-US" sz="190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각 단계에서 무엇을 묻고 무엇으로 답하는가.</a:t>
            </a:r>
            <a:endParaRPr lang="en-US" sz="4000" dirty="0"/>
          </a:p>
        </p:txBody>
      </p:sp>
      <p:sp>
        <p:nvSpPr>
          <p:cNvPr id="18" name="Text 10"/>
          <p:cNvSpPr txBox="1"/>
          <p:nvPr/>
        </p:nvSpPr>
        <p:spPr>
          <a:xfrm>
            <a:off x="1476756" y="3047695"/>
            <a:ext cx="72393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i="1" kern="0" spc="-85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 · Valuable</a:t>
            </a:r>
            <a:endParaRPr lang="en-US" sz="2800" dirty="0"/>
          </a:p>
        </p:txBody>
      </p:sp>
      <p:sp>
        <p:nvSpPr>
          <p:cNvPr id="19" name="Text 11"/>
          <p:cNvSpPr txBox="1"/>
          <p:nvPr/>
        </p:nvSpPr>
        <p:spPr>
          <a:xfrm>
            <a:off x="1666951" y="3752698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자원이 고객 가치를 직접 만드는가? (매출 증가)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1666951" y="3966667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비용을 낮추는가? (마진 개선)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1666951" y="4179722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위협을 무력화하는가? (생존)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1476756" y="4526280"/>
            <a:ext cx="7239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</a:t>
            </a:r>
            <a:endParaRPr lang="en-US" sz="800" dirty="0"/>
          </a:p>
        </p:txBody>
      </p:sp>
      <p:sp>
        <p:nvSpPr>
          <p:cNvPr id="23" name="Text 15"/>
          <p:cNvSpPr txBox="1"/>
          <p:nvPr/>
        </p:nvSpPr>
        <p:spPr>
          <a:xfrm>
            <a:off x="1476756" y="4717390"/>
            <a:ext cx="7239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인터뷰·NPS · 매출/원가 데이터 · 손익 시뮬레이션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1476756" y="3543300"/>
            <a:ext cx="7239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</a:t>
            </a:r>
            <a:endParaRPr lang="en-US" sz="800" dirty="0"/>
          </a:p>
        </p:txBody>
      </p:sp>
      <p:sp>
        <p:nvSpPr>
          <p:cNvPr id="25" name="Text 17"/>
          <p:cNvSpPr txBox="1"/>
          <p:nvPr/>
        </p:nvSpPr>
        <p:spPr>
          <a:xfrm>
            <a:off x="9572854" y="3047695"/>
            <a:ext cx="72393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i="1" kern="0" spc="-85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 · Rare</a:t>
            </a:r>
            <a:endParaRPr lang="en-US" sz="2800" dirty="0"/>
          </a:p>
        </p:txBody>
      </p:sp>
      <p:sp>
        <p:nvSpPr>
          <p:cNvPr id="26" name="Text 18"/>
          <p:cNvSpPr txBox="1"/>
          <p:nvPr/>
        </p:nvSpPr>
        <p:spPr>
          <a:xfrm>
            <a:off x="9763049" y="3752698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중 이 자원을 가진 수가 몇 곳인가?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9763049" y="3966667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미만이면 R (희소), 5-20개면 부분적 R, 20+개면 NO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9763049" y="4179722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지역으로 좁히면 R이 되는 자원도 있음 (예: 여수 한정)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9572854" y="4526280"/>
            <a:ext cx="7239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</a:t>
            </a:r>
            <a:endParaRPr lang="en-US" sz="800" dirty="0"/>
          </a:p>
        </p:txBody>
      </p:sp>
      <p:sp>
        <p:nvSpPr>
          <p:cNvPr id="30" name="Text 22"/>
          <p:cNvSpPr txBox="1"/>
          <p:nvPr/>
        </p:nvSpPr>
        <p:spPr>
          <a:xfrm>
            <a:off x="9572854" y="4717390"/>
            <a:ext cx="7239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리스트 · 시장 점유율 · 협회 통계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9572854" y="3543300"/>
            <a:ext cx="7239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</a:t>
            </a:r>
            <a:endParaRPr lang="en-US" sz="8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6286500"/>
            <a:ext cx="72393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i="1" kern="0" spc="-85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 · Inimitable</a:t>
            </a:r>
            <a:endParaRPr lang="en-US" sz="2800" dirty="0"/>
          </a:p>
        </p:txBody>
      </p:sp>
      <p:sp>
        <p:nvSpPr>
          <p:cNvPr id="33" name="Text 25"/>
          <p:cNvSpPr txBox="1"/>
          <p:nvPr/>
        </p:nvSpPr>
        <p:spPr>
          <a:xfrm>
            <a:off x="1666951" y="7010705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역사적 우연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특정 시점·장소에서만 가능했던 일 (예: 1990년대 어촌계 가입)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1666951" y="7223760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인과 모호성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성공의 원인이 외부에서 분석 불가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1666951" y="7436815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복잡성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인간 관계·문화·신뢰가 핵심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1476756" y="7784287"/>
            <a:ext cx="7239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</a:t>
            </a:r>
            <a:endParaRPr lang="en-US" sz="800" dirty="0"/>
          </a:p>
        </p:txBody>
      </p:sp>
      <p:sp>
        <p:nvSpPr>
          <p:cNvPr id="37" name="Text 29"/>
          <p:cNvSpPr txBox="1"/>
          <p:nvPr/>
        </p:nvSpPr>
        <p:spPr>
          <a:xfrm>
            <a:off x="1476756" y="7974482"/>
            <a:ext cx="7239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"경쟁사가 이를 만들려면 얼마·몇 년 걸리는가?" 3년+ = I 통과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1476756" y="6782105"/>
            <a:ext cx="7239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3가지 모방 장벽 (Barney 1991)</a:t>
            </a:r>
            <a:endParaRPr lang="en-US" sz="800" dirty="0"/>
          </a:p>
        </p:txBody>
      </p:sp>
      <p:sp>
        <p:nvSpPr>
          <p:cNvPr id="39" name="Text 31"/>
          <p:cNvSpPr txBox="1"/>
          <p:nvPr/>
        </p:nvSpPr>
        <p:spPr>
          <a:xfrm>
            <a:off x="9572854" y="6286500"/>
            <a:ext cx="72393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i="1" kern="0" spc="-85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 · Organized</a:t>
            </a:r>
            <a:endParaRPr lang="en-US" sz="2800" dirty="0"/>
          </a:p>
        </p:txBody>
      </p:sp>
      <p:sp>
        <p:nvSpPr>
          <p:cNvPr id="40" name="Text 32"/>
          <p:cNvSpPr txBox="1"/>
          <p:nvPr/>
        </p:nvSpPr>
        <p:spPr>
          <a:xfrm>
            <a:off x="9572854" y="7978140"/>
            <a:ext cx="7239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</a:t>
            </a:r>
            <a:endParaRPr lang="en-US" sz="800" dirty="0"/>
          </a:p>
        </p:txBody>
      </p:sp>
      <p:sp>
        <p:nvSpPr>
          <p:cNvPr id="41" name="Text 33"/>
          <p:cNvSpPr txBox="1"/>
          <p:nvPr/>
        </p:nvSpPr>
        <p:spPr>
          <a:xfrm>
            <a:off x="9572854" y="6782105"/>
            <a:ext cx="7239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65" dirty="0">
                <a:solidFill>
                  <a:srgbClr val="C58A2E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</a:t>
            </a:r>
            <a:endParaRPr lang="en-US" sz="800" dirty="0"/>
          </a:p>
        </p:txBody>
      </p:sp>
      <p:sp>
        <p:nvSpPr>
          <p:cNvPr id="42" name="Text 34"/>
          <p:cNvSpPr txBox="1"/>
          <p:nvPr/>
        </p:nvSpPr>
        <p:spPr>
          <a:xfrm>
            <a:off x="9763049" y="6991502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자원을 활용하는 프로세스·SOP가 있는가?</a:t>
            </a:r>
            <a:endParaRPr lang="en-US" sz="1600" dirty="0"/>
          </a:p>
        </p:txBody>
      </p:sp>
      <p:sp>
        <p:nvSpPr>
          <p:cNvPr id="43" name="Text 35"/>
          <p:cNvSpPr txBox="1"/>
          <p:nvPr/>
        </p:nvSpPr>
        <p:spPr>
          <a:xfrm>
            <a:off x="9763049" y="7204558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운영할 인재·팀이 있는가?</a:t>
            </a:r>
            <a:endParaRPr lang="en-US" sz="1600" dirty="0"/>
          </a:p>
        </p:txBody>
      </p:sp>
      <p:sp>
        <p:nvSpPr>
          <p:cNvPr id="44" name="Text 36"/>
          <p:cNvSpPr txBox="1"/>
          <p:nvPr/>
        </p:nvSpPr>
        <p:spPr>
          <a:xfrm>
            <a:off x="9763049" y="7418527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측정·보상 체계가 자원 활용을 강화하는가?</a:t>
            </a:r>
            <a:endParaRPr lang="en-US" sz="1600" dirty="0"/>
          </a:p>
        </p:txBody>
      </p:sp>
      <p:sp>
        <p:nvSpPr>
          <p:cNvPr id="45" name="Text 37"/>
          <p:cNvSpPr txBox="1"/>
          <p:nvPr/>
        </p:nvSpPr>
        <p:spPr>
          <a:xfrm>
            <a:off x="9763049" y="7631582"/>
            <a:ext cx="704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경영진이 이 자원의 중요성을 인지하고 자원을 배분하는가?</a:t>
            </a:r>
            <a:endParaRPr lang="en-US" sz="1600" dirty="0"/>
          </a:p>
        </p:txBody>
      </p:sp>
      <p:sp>
        <p:nvSpPr>
          <p:cNvPr id="46" name="Text 38"/>
          <p:cNvSpPr txBox="1"/>
          <p:nvPr/>
        </p:nvSpPr>
        <p:spPr>
          <a:xfrm>
            <a:off x="9572854" y="8169250"/>
            <a:ext cx="7239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조직도 · KPI 설정 · 업무 흐름도 · 자원 배분 데이터</a:t>
            </a:r>
            <a:endParaRPr lang="en-US" sz="1600" dirty="0"/>
          </a:p>
        </p:txBody>
      </p:sp>
      <p:sp>
        <p:nvSpPr>
          <p:cNvPr id="47" name="Text 39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— 각 단계에 정량 근거 1개 이상. "느낌상 그렇다"는 NO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14F4EEA2-A946-4322-87B8-7F52962D563F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64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701416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4195" y="4095598"/>
            <a:ext cx="7810805" cy="4667098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6 · VRIO · 워크숍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WORKSHOP · 25분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42875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본인 BMC의 KR을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VRIO로 통과시켜라.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095598"/>
            <a:ext cx="7810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INSTRUCTIONS · 25분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143000" y="4466844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1143000" y="4629607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1642478" y="4481690"/>
            <a:ext cx="50008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KR + KA 합쳐 자원 3-5개 추출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5분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790395" y="4981651"/>
            <a:ext cx="56866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54 양식의 본인 BMC의 KR + KA에서 가장 중요한 3-5개. "없으면 사업 망함" 기준.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1143000" y="5388667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1143000" y="5604303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1642478" y="5456386"/>
            <a:ext cx="5524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각 자원을 V→R→I→O 통과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15분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790395" y="5956347"/>
            <a:ext cx="6210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자원당 3분. 슬라이드 64의 질문에 각 단계 YES/NO + 근거 1줄. 중간 NO 나오면 거기서 멈춤.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" y="6606808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8"/>
          <p:cNvSpPr txBox="1"/>
          <p:nvPr/>
        </p:nvSpPr>
        <p:spPr>
          <a:xfrm>
            <a:off x="1642478" y="6458891"/>
            <a:ext cx="57342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결과 분류 + 자원 배분 결정 </a:t>
            </a:r>
            <a:r>
              <a:rPr lang="en-US" sz="1500" kern="0" spc="-49" dirty="0">
                <a:solidFill>
                  <a:srgbClr val="8888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5분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790395" y="6958852"/>
            <a:ext cx="6808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우위 자원에 자금 60% · 잠재 자원에 O 보강 · 일시적 자원으로 시간 벌기 · 동등/열위 자원은 외주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9639605" y="4381805"/>
            <a:ext cx="7239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DELIVERABLE · 제출물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9639605" y="4677156"/>
            <a:ext cx="7239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VRIO 점수표 + 의사결정 한 줄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9639605" y="5219395"/>
          <a:ext cx="7239305" cy="2238450"/>
        </p:xfrm>
        <a:graphic>
          <a:graphicData uri="http://schemas.openxmlformats.org/drawingml/2006/table">
            <a:tbl>
              <a:tblPr/>
              <a:tblGrid>
                <a:gridCol w="2273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5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6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07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7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 1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7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 2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7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 3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7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 4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75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 5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_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607" marR="576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 22"/>
          <p:cNvSpPr txBox="1"/>
          <p:nvPr/>
        </p:nvSpPr>
        <p:spPr>
          <a:xfrm>
            <a:off x="9639605" y="7629754"/>
            <a:ext cx="7239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8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INSIGHT (1줄)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639605" y="7848295"/>
            <a:ext cx="7239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"내 핵심 지속 우위는 ___이며, 이를 보호·확장하기 위해 ___를 한다."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제출 후 → Day 2 마무리 · 숙제 안내 → Day 3 09:00 시작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F1B1FA46-A20D-4E89-BF6B-DE4CEDD6D21B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65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482FF985-BF31-B661-29E1-EF0D98CE9C26}"/>
              </a:ext>
            </a:extLst>
          </p:cNvPr>
          <p:cNvSpPr/>
          <p:nvPr/>
        </p:nvSpPr>
        <p:spPr>
          <a:xfrm>
            <a:off x="1174377" y="6415122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1E71F3A9-7ADF-5938-9D6B-1DE8A892C438}"/>
              </a:ext>
            </a:extLst>
          </p:cNvPr>
          <p:cNvSpPr/>
          <p:nvPr/>
        </p:nvSpPr>
        <p:spPr>
          <a:xfrm>
            <a:off x="1155801" y="7483718"/>
            <a:ext cx="781080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482033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238805"/>
            <a:ext cx="5257800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524244" y="3238805"/>
            <a:ext cx="5257800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906402" y="3238805"/>
            <a:ext cx="5238598" cy="4572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1143000" y="3238805"/>
            <a:ext cx="57607" cy="457200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6524244" y="3238805"/>
            <a:ext cx="57607" cy="457200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11906402" y="3238805"/>
            <a:ext cx="57607" cy="45720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2 · 마무리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1238098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DAY 2 RECAP · 안을 채우다</a:t>
            </a:r>
            <a:endParaRPr lang="en-US" sz="19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1638605"/>
            <a:ext cx="161931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kern="0" spc="-13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안에서 진단하고 설계하고 검증한 4시간.</a:t>
            </a:r>
            <a:endParaRPr lang="en-US" sz="4500" dirty="0"/>
          </a:p>
        </p:txBody>
      </p:sp>
      <p:sp>
        <p:nvSpPr>
          <p:cNvPr id="16" name="Text 9"/>
          <p:cNvSpPr txBox="1"/>
          <p:nvPr/>
        </p:nvSpPr>
        <p:spPr>
          <a:xfrm>
            <a:off x="1476756" y="3476549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kern="0" spc="-180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6000" dirty="0"/>
          </a:p>
        </p:txBody>
      </p:sp>
      <p:sp>
        <p:nvSpPr>
          <p:cNvPr id="17" name="Text 10"/>
          <p:cNvSpPr txBox="1"/>
          <p:nvPr/>
        </p:nvSpPr>
        <p:spPr>
          <a:xfrm>
            <a:off x="1476756" y="4371746"/>
            <a:ext cx="47631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진단했다 — SWOT + TOWS</a:t>
            </a:r>
            <a:endParaRPr lang="en-US" sz="1900" dirty="0"/>
          </a:p>
        </p:txBody>
      </p:sp>
      <p:sp>
        <p:nvSpPr>
          <p:cNvPr id="18" name="Text 11"/>
          <p:cNvSpPr txBox="1"/>
          <p:nvPr/>
        </p:nvSpPr>
        <p:spPr>
          <a:xfrm>
            <a:off x="1476756" y="4946850"/>
            <a:ext cx="476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4칸 채우기에서 끝나지 않고 4개 교차 전략(SO/WO/ST/WT)으로 변환. 즉시 시행 3개를 우선순위로 선정.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1476756" y="5737321"/>
            <a:ext cx="4763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· SRI 1960s · Weihrich 1982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6858000" y="3476549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kern="0" spc="-180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6000" dirty="0"/>
          </a:p>
        </p:txBody>
      </p:sp>
      <p:sp>
        <p:nvSpPr>
          <p:cNvPr id="21" name="Text 14"/>
          <p:cNvSpPr txBox="1"/>
          <p:nvPr/>
        </p:nvSpPr>
        <p:spPr>
          <a:xfrm>
            <a:off x="6858000" y="4371746"/>
            <a:ext cx="47631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설계했다 — BMC + TAM-SAM-SOM</a:t>
            </a:r>
            <a:endParaRPr lang="en-US" sz="1900" dirty="0"/>
          </a:p>
        </p:txBody>
      </p:sp>
      <p:sp>
        <p:nvSpPr>
          <p:cNvPr id="22" name="Text 15"/>
          <p:cNvSpPr txBox="1"/>
          <p:nvPr/>
        </p:nvSpPr>
        <p:spPr>
          <a:xfrm>
            <a:off x="6858000" y="4852721"/>
            <a:ext cx="476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9블록으로 사업 전체를 한 장에. CS·VP·R$를 인터뷰 데이터로 검증하고 7개 일관성 점검을 통과시켰다.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6858000" y="5737321"/>
            <a:ext cx="4763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· Osterwalder &amp; Pigneur 2010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12239244" y="3476549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kern="0" spc="-180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6000" dirty="0"/>
          </a:p>
        </p:txBody>
      </p:sp>
      <p:sp>
        <p:nvSpPr>
          <p:cNvPr id="25" name="Text 18"/>
          <p:cNvSpPr txBox="1"/>
          <p:nvPr/>
        </p:nvSpPr>
        <p:spPr>
          <a:xfrm>
            <a:off x="12239244" y="4371746"/>
            <a:ext cx="47631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검증했다 — VRIO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12239244" y="4852721"/>
            <a:ext cx="476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3-5개를 V·R·I·O 4단계 통과시켜 진짜 지속 우위와 가짜 우위를 구분. 지속 우위 자원에 자금 배분.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12239244" y="5737321"/>
            <a:ext cx="4763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· Barney 1991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" y="8096098"/>
            <a:ext cx="1668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SWOT-TOWS의 ST·WT 전략 ↔ BMC의 KP·C$ 블록 ↔ VRIO의 지속 우위 자원 — </a:t>
            </a:r>
            <a:r>
              <a:rPr lang="en-US" sz="1800" b="1" kern="0" spc="-54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프레임워크는 동일한 사업의 다른 각도</a:t>
            </a: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한 곳을 바꾸면 다른 곳도 자동으로 바뀐다.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2 산출물 · SWOT+TOWS 1장 + BMC + TAM-SAM-SOM + VRIO 점수표 — 4개 제출 완료 시 Day 3로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D79793ED-A1A4-433F-9852-19BCBDDF92A3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66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383714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143707"/>
            <a:ext cx="16021202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5333695"/>
            <a:ext cx="16021202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7524598"/>
            <a:ext cx="16002000" cy="1904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408" r="-408"/>
          <a:stretch/>
        </p:blipFill>
        <p:spPr>
          <a:xfrm>
            <a:off x="1143000" y="3143707"/>
            <a:ext cx="57607" cy="19046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 l="-408" r="-408"/>
          <a:stretch/>
        </p:blipFill>
        <p:spPr>
          <a:xfrm>
            <a:off x="1143000" y="5333695"/>
            <a:ext cx="57607" cy="19046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rcRect l="-408" r="-408"/>
          <a:stretch/>
        </p:blipFill>
        <p:spPr>
          <a:xfrm>
            <a:off x="1143000" y="7524598"/>
            <a:ext cx="57607" cy="190469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2 · 자율 학습 · HOMEWORK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DAY 2 → DAY 3 · 자율 학습</a:t>
            </a:r>
            <a:endParaRPr lang="en-US" sz="19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Day 3 전에 해 올 것.</a:t>
            </a:r>
            <a:endParaRPr lang="en-US" sz="4000" dirty="0"/>
          </a:p>
        </p:txBody>
      </p:sp>
      <p:sp>
        <p:nvSpPr>
          <p:cNvPr id="16" name="Text 9"/>
          <p:cNvSpPr txBox="1"/>
          <p:nvPr/>
        </p:nvSpPr>
        <p:spPr>
          <a:xfrm>
            <a:off x="1619402" y="3409798"/>
            <a:ext cx="324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</a:t>
            </a:r>
            <a:endParaRPr lang="en-US" sz="3600" dirty="0"/>
          </a:p>
        </p:txBody>
      </p:sp>
      <p:sp>
        <p:nvSpPr>
          <p:cNvPr id="17" name="Text 10"/>
          <p:cNvSpPr txBox="1"/>
          <p:nvPr/>
        </p:nvSpPr>
        <p:spPr>
          <a:xfrm>
            <a:off x="2166214" y="3524098"/>
            <a:ext cx="377921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BMC 비용 구조 정밀화 (90분)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1619402" y="4058107"/>
            <a:ext cx="1524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작성한 BMC의 C$ 칸을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월별 12개월 손익 시뮬레이션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확장. Day 3 단원 7 (Value Chain)에서 어디서 가치가 새는지 분석할 원료가 된다.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1619402" y="5600700"/>
            <a:ext cx="305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</a:t>
            </a:r>
            <a:endParaRPr lang="en-US" sz="3600" dirty="0"/>
          </a:p>
        </p:txBody>
      </p:sp>
      <p:sp>
        <p:nvSpPr>
          <p:cNvPr id="20" name="Text 13"/>
          <p:cNvSpPr txBox="1"/>
          <p:nvPr/>
        </p:nvSpPr>
        <p:spPr>
          <a:xfrm>
            <a:off x="2145182" y="5715000"/>
            <a:ext cx="66394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기존 사업 동질 경쟁사 3개 가격·서비스 조사 (60분)</a:t>
            </a:r>
            <a:endParaRPr lang="en-US" sz="2100" dirty="0"/>
          </a:p>
        </p:txBody>
      </p:sp>
      <p:sp>
        <p:nvSpPr>
          <p:cNvPr id="21" name="Text 14"/>
          <p:cNvSpPr txBox="1"/>
          <p:nvPr/>
        </p:nvSpPr>
        <p:spPr>
          <a:xfrm>
            <a:off x="1619402" y="6248095"/>
            <a:ext cx="1524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가격대·동일 입지·동일 가치 제공하는 경쟁사 3개를 실제로 방문/체험. 가격·서비스·차별화 포인트 비교표 작성. Day 3 Ansoff에서 시장 침투 전략의 데이터로 사용.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1619402" y="7791602"/>
            <a:ext cx="305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</a:t>
            </a:r>
            <a:endParaRPr lang="en-US" sz="3600" dirty="0"/>
          </a:p>
        </p:txBody>
      </p:sp>
      <p:sp>
        <p:nvSpPr>
          <p:cNvPr id="23" name="Text 16"/>
          <p:cNvSpPr txBox="1"/>
          <p:nvPr/>
        </p:nvSpPr>
        <p:spPr>
          <a:xfrm>
            <a:off x="2151583" y="7905902"/>
            <a:ext cx="58677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3년 후 비전 1줄 + 성장 옵션 2-3개 메모 (30분)</a:t>
            </a:r>
            <a:endParaRPr lang="en-US" sz="2100" dirty="0"/>
          </a:p>
        </p:txBody>
      </p:sp>
      <p:sp>
        <p:nvSpPr>
          <p:cNvPr id="24" name="Text 17"/>
          <p:cNvSpPr txBox="1"/>
          <p:nvPr/>
        </p:nvSpPr>
        <p:spPr>
          <a:xfrm>
            <a:off x="1619402" y="8438998"/>
            <a:ext cx="1524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"3년 후 우리 사업은 ___이다." 1줄. 그 비전에 도달하는 성장 옵션 2-3개 메모 (같은 시장 추가 진입 / 신상품 출시 / 신시장 진출 / 다각화). Day 3 Ansoff의 입력값.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총 소요 약 3시간 · Day 3 09:00 시작 · 산출물 3개 지참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BF41A05C-2A4F-48BE-8145-5BD8616FA9D3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67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737529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1143000" y="1333195"/>
            <a:ext cx="11430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600200"/>
            <a:ext cx="9525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36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03 · 4 HOURS · CAPSTONE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286000"/>
            <a:ext cx="13525805" cy="381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0" i="1" kern="0" spc="-6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Day 3.</a:t>
            </a:r>
            <a:endParaRPr lang="en-US" sz="300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7048195"/>
            <a:ext cx="1143000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300" kern="0" spc="-189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가치사슬 → 성장 → 통합.</a:t>
            </a:r>
            <a:endParaRPr lang="en-US" sz="63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8572500"/>
            <a:ext cx="111639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가치 흐름(Value Chain)을 보고, 성장 방향(Ansoff)을 정하고, 8개 프레임워크를 본인 사업의 IR 덱으로 통합한다.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763195" y="2686507"/>
            <a:ext cx="4572000" cy="9144"/>
          </a:xfrm>
          <a:prstGeom prst="rect">
            <a:avLst/>
          </a:prstGeom>
          <a:solidFill>
            <a:srgbClr val="F4EFE6">
              <a:alpha val="2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2763195" y="2286000"/>
            <a:ext cx="4572000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TODAY'S LENSES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63195" y="4038905"/>
            <a:ext cx="4572000" cy="9144"/>
          </a:xfrm>
          <a:prstGeom prst="rect">
            <a:avLst/>
          </a:prstGeom>
          <a:solidFill>
            <a:srgbClr val="F4EFE6">
              <a:alpha val="18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2763195" y="3181198"/>
            <a:ext cx="4572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Value Chain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763195" y="5385816"/>
            <a:ext cx="4572000" cy="9144"/>
          </a:xfrm>
          <a:prstGeom prst="rect">
            <a:avLst/>
          </a:prstGeom>
          <a:solidFill>
            <a:srgbClr val="F4EFE6">
              <a:alpha val="18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2763195" y="4528109"/>
            <a:ext cx="4572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Ansoff Matrix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2763195" y="5875020"/>
            <a:ext cx="4572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Capstone IR 덱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2763195" y="2924251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09:00-10:20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763195" y="3604565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Porter · 1985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763195" y="4271162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· 10:30-11:50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763195" y="4950562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Ansoff · 1957 · HBR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2763195" y="5618074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· 12:00-13:00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763195" y="6297473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Frameworks Applied</a:t>
            </a:r>
            <a:endParaRPr lang="en-US" sz="17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4A99CA65-4899-45E3-ADE6-33D043142FE3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68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489433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rcRect t="-400" b="-400"/>
          <a:stretch/>
        </p:blipFill>
        <p:spPr>
          <a:xfrm>
            <a:off x="2667305" y="5333695"/>
            <a:ext cx="13144500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524305" y="3619195"/>
            <a:ext cx="4591202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3"/>
          <p:cNvSpPr/>
          <p:nvPr/>
        </p:nvSpPr>
        <p:spPr>
          <a:xfrm>
            <a:off x="6858000" y="3619195"/>
            <a:ext cx="4591202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0E1B2C">
                <a:alpha val="22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12191695" y="3619195"/>
            <a:ext cx="4572000" cy="36191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524305" y="3619195"/>
            <a:ext cx="57607" cy="3619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6858000" y="3619195"/>
            <a:ext cx="57607" cy="36191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2191695" y="3619195"/>
            <a:ext cx="57607" cy="361919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3 · 가치사슬 → 성장 → 통합</a:t>
            </a:r>
            <a:endParaRPr lang="en-US" sz="1600" dirty="0"/>
          </a:p>
        </p:txBody>
      </p:sp>
      <p:sp>
        <p:nvSpPr>
          <p:cNvPr id="15" name="Text 7"/>
          <p:cNvSpPr txBox="1"/>
          <p:nvPr/>
        </p:nvSpPr>
        <p:spPr>
          <a:xfrm>
            <a:off x="1143000" y="123809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DAY 3 · ROADMAP</a:t>
            </a:r>
            <a:endParaRPr lang="en-US" sz="190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1638605"/>
            <a:ext cx="14287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kern="0" spc="-13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"3년 뒤, 우리는 어디로 가는가?"</a:t>
            </a:r>
            <a:endParaRPr lang="en-US" sz="4500" dirty="0"/>
          </a:p>
        </p:txBody>
      </p:sp>
      <p:sp>
        <p:nvSpPr>
          <p:cNvPr id="17" name="Text 9"/>
          <p:cNvSpPr txBox="1"/>
          <p:nvPr/>
        </p:nvSpPr>
        <p:spPr>
          <a:xfrm>
            <a:off x="1904695" y="3905402"/>
            <a:ext cx="4000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07 · INTERNAL FLOW</a:t>
            </a:r>
            <a:endParaRPr lang="en-US" sz="1500" dirty="0"/>
          </a:p>
        </p:txBody>
      </p:sp>
      <p:sp>
        <p:nvSpPr>
          <p:cNvPr id="18" name="Text 10"/>
          <p:cNvSpPr txBox="1"/>
          <p:nvPr/>
        </p:nvSpPr>
        <p:spPr>
          <a:xfrm>
            <a:off x="1904695" y="4238244"/>
            <a:ext cx="4000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00" kern="0" spc="-9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Value Chain</a:t>
            </a:r>
            <a:endParaRPr lang="en-US" sz="3100" dirty="0"/>
          </a:p>
        </p:txBody>
      </p:sp>
      <p:sp>
        <p:nvSpPr>
          <p:cNvPr id="19" name="Text 11"/>
          <p:cNvSpPr txBox="1"/>
          <p:nvPr/>
        </p:nvSpPr>
        <p:spPr>
          <a:xfrm>
            <a:off x="1904695" y="5192878"/>
            <a:ext cx="4000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본원 활동 + 4개 지원 활동으로 회사 내부를 분해한다. 어디서 마진이 만들어지고 새는가?</a:t>
            </a:r>
            <a:endParaRPr lang="en-US" sz="1900" dirty="0"/>
          </a:p>
        </p:txBody>
      </p:sp>
      <p:sp>
        <p:nvSpPr>
          <p:cNvPr id="20" name="Text 12"/>
          <p:cNvSpPr txBox="1"/>
          <p:nvPr/>
        </p:nvSpPr>
        <p:spPr>
          <a:xfrm>
            <a:off x="1904695" y="6041118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산출물: VC 다이어그램 + 마진 기여도</a:t>
            </a:r>
            <a:endParaRPr lang="en-US" sz="1700" dirty="0"/>
          </a:p>
        </p:txBody>
      </p:sp>
      <p:sp>
        <p:nvSpPr>
          <p:cNvPr id="21" name="Text 13"/>
          <p:cNvSpPr txBox="1"/>
          <p:nvPr/>
        </p:nvSpPr>
        <p:spPr>
          <a:xfrm>
            <a:off x="1904695" y="4735678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Porter · 1985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7239305" y="3905402"/>
            <a:ext cx="4000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08 · GROWTH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7239305" y="4238244"/>
            <a:ext cx="4000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00" kern="0" spc="-9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Ansoff</a:t>
            </a:r>
            <a:endParaRPr lang="en-US" sz="3100" dirty="0"/>
          </a:p>
        </p:txBody>
      </p:sp>
      <p:sp>
        <p:nvSpPr>
          <p:cNvPr id="24" name="Text 16"/>
          <p:cNvSpPr txBox="1"/>
          <p:nvPr/>
        </p:nvSpPr>
        <p:spPr>
          <a:xfrm>
            <a:off x="7239305" y="5192878"/>
            <a:ext cx="4000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시장(기존/신규) × 제품(기존/신규) 2×2 매트릭스로 4가지 성장 전략의 리스크를 비교한다.</a:t>
            </a:r>
            <a:endParaRPr lang="en-US" sz="1900" dirty="0"/>
          </a:p>
        </p:txBody>
      </p:sp>
      <p:sp>
        <p:nvSpPr>
          <p:cNvPr id="25" name="Text 17"/>
          <p:cNvSpPr txBox="1"/>
          <p:nvPr/>
        </p:nvSpPr>
        <p:spPr>
          <a:xfrm>
            <a:off x="7239305" y="6041118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산출물: Ansoff 2×2 + 리스크 평가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7239305" y="4735678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Ansoff · 1957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12573000" y="3905402"/>
            <a:ext cx="4000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09 · INTEGRATION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2573000" y="4238244"/>
            <a:ext cx="4000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00" kern="0" spc="-94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Capstone</a:t>
            </a:r>
            <a:endParaRPr lang="en-US" sz="3100" dirty="0"/>
          </a:p>
        </p:txBody>
      </p:sp>
      <p:sp>
        <p:nvSpPr>
          <p:cNvPr id="29" name="Text 21"/>
          <p:cNvSpPr txBox="1"/>
          <p:nvPr/>
        </p:nvSpPr>
        <p:spPr>
          <a:xfrm>
            <a:off x="12573000" y="6041118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산출물: 본인 사업 IR 덱 v1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12573000" y="4735678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Frameworks Applied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12573000" y="5192878"/>
            <a:ext cx="4000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3일간 만든 8개 산출물을 12장 IR 덱으로 통합. 가장 중요한 결정 3개와 12개월 액션 플랜.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6096305" y="5048402"/>
            <a:ext cx="952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700" kern="0" spc="-112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→</a:t>
            </a:r>
            <a:endParaRPr lang="en-US" sz="3700" dirty="0"/>
          </a:p>
        </p:txBody>
      </p:sp>
      <p:sp>
        <p:nvSpPr>
          <p:cNvPr id="33" name="Text 25"/>
          <p:cNvSpPr txBox="1"/>
          <p:nvPr/>
        </p:nvSpPr>
        <p:spPr>
          <a:xfrm>
            <a:off x="11430000" y="5048402"/>
            <a:ext cx="952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700" kern="0" spc="-112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→</a:t>
            </a:r>
            <a:endParaRPr lang="en-US" sz="3700" dirty="0"/>
          </a:p>
        </p:txBody>
      </p:sp>
      <p:sp>
        <p:nvSpPr>
          <p:cNvPr id="34" name="Text 26"/>
          <p:cNvSpPr txBox="1"/>
          <p:nvPr/>
        </p:nvSpPr>
        <p:spPr>
          <a:xfrm>
            <a:off x="1524305" y="7905902"/>
            <a:ext cx="159261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"내부에서 가치를 어디서 만드는지(VC) → 외부로 어떻게 성장할지(Ansoff) → 그 모든 답을 12장에(Capstone)." </a:t>
            </a:r>
            <a:r>
              <a:rPr lang="en-US" sz="1900" b="1" kern="0" spc="-5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오늘 IR 덱을 들고 나간다.</a:t>
            </a:r>
            <a:endParaRPr lang="en-US" sz="1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Integration day — Internal · Growth · Synthesis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45E1F56E-02D8-43D3-A904-6A9D9A3BCAFC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69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7444443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16021202" cy="630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3 · 시작 · Day 2 리캡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RECAP · 이틀간의 6개 산출물 점검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2일치 산출물 6장을 책상 위에.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196709"/>
              </p:ext>
            </p:extLst>
          </p:nvPr>
        </p:nvGraphicFramePr>
        <p:xfrm>
          <a:off x="1143000" y="2857500"/>
          <a:ext cx="15991942" cy="6286497"/>
        </p:xfrm>
        <a:graphic>
          <a:graphicData uri="http://schemas.openxmlformats.org/drawingml/2006/table">
            <a:tbl>
              <a:tblPr/>
              <a:tblGrid>
                <a:gridCol w="109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6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0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807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단원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산출물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오늘 다시 봐야 할 1개 질문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Day 3의 어디로 연결되는가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807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PESTEL 1장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"가장 강한 순풍 1개를 3년 비전에 어떻게 반영했나?"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Ansoff의 시장 침투 / 시장 개발 결정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807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5Forces 스코어카드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"4점인 힘을 무력화하는 차별화가 VP에 들어갔는가?"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Value Chain의 차별화 활동 식별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807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BCG 매트릭스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"버리기로 한 라인의 자원을 어디로 옮기는가?"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Ansoff의 신상품 개발 / 다각화 후보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807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SWOT + TOWS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"SO·WO·ST·WT 6개 전략 중 12개월 안에 시행할 3개는?"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Capstone IR 덱의 12개월 액션 플랜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807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BMC 9블록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"KP·KA·KR의 활동 중 어디서 비용이 발생하나?"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Value Chain의 9개 활동 매핑 입력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807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VRIO 점수표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"지속 우위가 사라지지 않게 어떻게 보호하는가?"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IR 덱의 "왜 우리가 이길 수 있는가" 핵심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짝과 5분씩 발표 (10분 총) → 단원 7 (Value Chain) 시작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CC52B793-7C7E-4091-B277-BA5A81708F83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70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851998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715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t="-420" b="-420"/>
          <a:stretch/>
        </p:blipFill>
        <p:spPr>
          <a:xfrm>
            <a:off x="857707" y="1524305"/>
            <a:ext cx="761695" cy="384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79039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28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07 · OPERATE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7707" y="2286000"/>
            <a:ext cx="4572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0" i="1" kern="0" spc="-3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07.</a:t>
            </a:r>
            <a:endParaRPr lang="en-US" sz="150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4953305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kern="0" spc="-126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Value Chain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5806655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Porter · 1985 · Competitive Advantage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6858000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내부 활동을 9단계로 쪼개 어디서 가치(margin)가 만들어지는지, 어디서 비용이 새는지 본다.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76695" y="1524305"/>
            <a:ext cx="10478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7 · 80분 학습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76695" y="1904695"/>
            <a:ext cx="10478110" cy="141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kern="0" spc="-14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"우리 회사 안</a:t>
            </a:r>
            <a:endParaRPr lang="en-US" sz="4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800" kern="0" spc="-14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가치는 어디서 만들어지나?"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6476695" y="4762195"/>
            <a:ext cx="10287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VRIO가 자원을 분해했다면, Value Chain은 </a:t>
            </a: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활동을 분해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한다. 9개 활동(주활동 5 + 지원활동 4) 중 어디서 마진이 나오고 어디가 약점인지.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76695" y="7592263"/>
            <a:ext cx="1047719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476695" y="7239305"/>
            <a:ext cx="104781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76695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6476695" y="8153705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주활동과 4개 지원활동을 자기 사업에 매핑한다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0071202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10071202" y="8315069"/>
            <a:ext cx="372709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활동의 비용 동인과 차별화 동인을 식별한다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3866499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13866499" y="8315069"/>
            <a:ext cx="32964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마진을 만드는 활동을 3개로 좁힌다</a:t>
            </a:r>
            <a:endParaRPr lang="en-US" sz="18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A1CE0C34-A18E-4AB1-A681-B1B53B84C713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71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639280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30207" y="4667098"/>
            <a:ext cx="7715707" cy="4095598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7 · VALUE CHAIN · 도입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9525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VALUE CHAIN · COMPETITIVE ADVANTAGE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"기업은 활동의 묶음이다.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각 활동이 만드는 가치를 분해하라."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810305"/>
            <a:ext cx="16193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Michael E. Porter, </a:t>
            </a:r>
            <a:r>
              <a:rPr lang="en-US" sz="1900" i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Competitive Advantage: Creating and Sustaining Superior Performance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Free Press, 1985.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4667098"/>
            <a:ext cx="7905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5Forces의 짝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5257800"/>
            <a:ext cx="79059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Porter는 1979년 5Forces로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"산업 안에서의 위치"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다뤘다. 그 다음 책 </a:t>
            </a:r>
            <a:r>
              <a:rPr lang="en-US" sz="1900" i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Competitive Advantage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(1985)에서는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"회사 안에서 가치가 어떻게 만들어지는가"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분해했다.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6295697"/>
            <a:ext cx="8097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도구는 짝이다. 5Forces로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"어디서 싸울지"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Value Chain으로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싸울지"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정한다.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9810598" y="4953305"/>
            <a:ext cx="7049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IDEA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810598" y="5324551"/>
            <a:ext cx="7049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회사는 </a:t>
            </a: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9가지 활동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쪼개진다 — </a:t>
            </a:r>
            <a:r>
              <a:rPr lang="en-US" sz="1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주활동 5개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(들여오기 → 만들기 → 내보내기 → 팔기 → 사후서비스)와 </a:t>
            </a:r>
            <a:r>
              <a:rPr lang="en-US" sz="18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지원활동 4개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(인프라 · 인사 · 기술 · 조달). 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9810598" y="6046927"/>
            <a:ext cx="7049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각 활동은 </a:t>
            </a: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발생시키고, </a:t>
            </a: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만든다. 가치 − 비용 = </a:t>
            </a: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마진(margin)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마진이 큰 활동에 투자하고, 작은 활동은 아웃소싱·자동화한다. </a:t>
            </a:r>
            <a:endParaRPr lang="en-US" sz="1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810598" y="6806794"/>
            <a:ext cx="7048195" cy="91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810598" y="7025335"/>
            <a:ext cx="7049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창업자에게 핵심은 </a:t>
            </a:r>
            <a:r>
              <a:rPr lang="en-US" sz="1600" b="1" dirty="0">
                <a:solidFill>
                  <a:srgbClr val="C58A2E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"3가지 활동만 직접 한다"</a:t>
            </a:r>
            <a:r>
              <a:rPr lang="en-US" sz="16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나머지는 외주. 사업 초기 자원이 부족하기 때문.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Porter, M.E. (1985). Competitive Advantage. New York: Free Press · Ch. 2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71C1FE03-3CBC-4CA5-86E6-943DD03CB122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72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613160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523744"/>
            <a:ext cx="14306702" cy="59070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3095244"/>
            <a:ext cx="14306702" cy="58064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3666744"/>
            <a:ext cx="14306702" cy="58064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4238244"/>
            <a:ext cx="14306702" cy="58064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5524805"/>
            <a:ext cx="2723998" cy="152430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038905" y="5524805"/>
            <a:ext cx="2723998" cy="1524305"/>
          </a:xfrm>
          <a:prstGeom prst="rect">
            <a:avLst/>
          </a:prstGeom>
          <a:solidFill>
            <a:srgbClr val="1C3A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933895" y="5524805"/>
            <a:ext cx="2723998" cy="1524305"/>
          </a:xfrm>
          <a:prstGeom prst="rect">
            <a:avLst/>
          </a:prstGeom>
          <a:solidFill>
            <a:srgbClr val="2D5A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829800" y="5524805"/>
            <a:ext cx="2723998" cy="1524305"/>
          </a:xfrm>
          <a:prstGeom prst="rect">
            <a:avLst/>
          </a:prstGeom>
          <a:solidFill>
            <a:srgbClr val="1C5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2725705" y="5524805"/>
            <a:ext cx="2723998" cy="152430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5620695" y="2523744"/>
            <a:ext cx="1619402" cy="4524451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7 · VALUE CHAIN · 9개 활동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9개 활동을 한 그림에 — Porter의 표준 다이어그램</a:t>
            </a:r>
            <a:endParaRPr lang="en-US" sz="3400" dirty="0"/>
          </a:p>
        </p:txBody>
      </p:sp>
      <p:sp>
        <p:nvSpPr>
          <p:cNvPr id="19" name="Text 15"/>
          <p:cNvSpPr txBox="1"/>
          <p:nvPr/>
        </p:nvSpPr>
        <p:spPr>
          <a:xfrm>
            <a:off x="1142999" y="2190902"/>
            <a:ext cx="2299447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SUPPORT · 지원활동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333195" y="2686507"/>
            <a:ext cx="1400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인프라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재무 · 회계 · 법무 · 경영시스템 · 사무공간 · 거버넌스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3258007"/>
            <a:ext cx="1400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인적자원 관리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채용 · 교육훈련 · 평가 · 보상 · 조직문화 · 노무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333195" y="3829507"/>
            <a:ext cx="1400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개발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R&amp;D · 공정 혁신 · 디자인 · 소프트웨어 · AI/디지털 역량 · 특허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333195" y="4401007"/>
            <a:ext cx="1400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조달 · 구매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원재료 · 부품 · 설비 · 외부 서비스 계약 · 공급자 관리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1142999" y="5143500"/>
            <a:ext cx="24742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· 주활동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333195" y="5580530"/>
            <a:ext cx="2382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01·INBOUND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333195" y="5804827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들여오기</a:t>
            </a:r>
            <a:endParaRPr lang="en-US" sz="1900" dirty="0"/>
          </a:p>
        </p:txBody>
      </p:sp>
      <p:sp>
        <p:nvSpPr>
          <p:cNvPr id="27" name="Text 23"/>
          <p:cNvSpPr txBox="1"/>
          <p:nvPr/>
        </p:nvSpPr>
        <p:spPr>
          <a:xfrm>
            <a:off x="1333195" y="6263909"/>
            <a:ext cx="27916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원재료 입고 · 보관 · </a:t>
            </a:r>
            <a:r>
              <a:rPr lang="en-US" sz="1500" dirty="0" err="1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재고관리</a:t>
            </a: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</a:t>
            </a:r>
            <a:b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운송 수령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4229100" y="5580530"/>
            <a:ext cx="2382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02·OPERATIONS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4229100" y="5804827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만들기</a:t>
            </a:r>
            <a:endParaRPr lang="en-US" sz="1900" dirty="0"/>
          </a:p>
        </p:txBody>
      </p:sp>
      <p:sp>
        <p:nvSpPr>
          <p:cNvPr id="30" name="Text 26"/>
          <p:cNvSpPr txBox="1"/>
          <p:nvPr/>
        </p:nvSpPr>
        <p:spPr>
          <a:xfrm>
            <a:off x="4229100" y="6263909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· 가공 · 조립 · 품질관리 · 포장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7125005" y="5580530"/>
            <a:ext cx="2382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03·OUTBOUND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7125005" y="5804827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내보내기</a:t>
            </a:r>
            <a:endParaRPr lang="en-US" sz="1900" dirty="0"/>
          </a:p>
        </p:txBody>
      </p:sp>
      <p:sp>
        <p:nvSpPr>
          <p:cNvPr id="33" name="Text 29"/>
          <p:cNvSpPr txBox="1"/>
          <p:nvPr/>
        </p:nvSpPr>
        <p:spPr>
          <a:xfrm>
            <a:off x="7125005" y="6263909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완제품 보관 · 주문 </a:t>
            </a:r>
            <a:r>
              <a:rPr lang="en-US" sz="1500" dirty="0" err="1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</a:t>
            </a: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</a:t>
            </a:r>
            <a:b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배송 · 물류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10019995" y="5580530"/>
            <a:ext cx="2382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04·MARKETING &amp; SALES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10019995" y="5912403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팔기</a:t>
            </a:r>
            <a:endParaRPr lang="en-US" sz="1900" dirty="0"/>
          </a:p>
        </p:txBody>
      </p:sp>
      <p:sp>
        <p:nvSpPr>
          <p:cNvPr id="36" name="Text 32"/>
          <p:cNvSpPr txBox="1"/>
          <p:nvPr/>
        </p:nvSpPr>
        <p:spPr>
          <a:xfrm>
            <a:off x="10019995" y="6371485"/>
            <a:ext cx="2606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 · 가격 · 영업 · 채널 관리 · 브랜딩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12915900" y="5580530"/>
            <a:ext cx="2382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05·SERVICE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12915900" y="5804827"/>
            <a:ext cx="2382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사후 서비스</a:t>
            </a:r>
            <a:endParaRPr lang="en-US" sz="1900" dirty="0"/>
          </a:p>
        </p:txBody>
      </p:sp>
      <p:sp>
        <p:nvSpPr>
          <p:cNvPr id="39" name="Text 35"/>
          <p:cNvSpPr txBox="1"/>
          <p:nvPr/>
        </p:nvSpPr>
        <p:spPr>
          <a:xfrm>
            <a:off x="12915900" y="6263909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· 교육 · 수리 · 부품 공급 · CS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15620695" y="4476902"/>
            <a:ext cx="161940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500" kern="0" spc="-76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마진</a:t>
            </a:r>
            <a:endParaRPr lang="en-US" sz="2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500" kern="0" spc="-76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MARGIN</a:t>
            </a:r>
            <a:endParaRPr lang="en-US" sz="2500" dirty="0"/>
          </a:p>
        </p:txBody>
      </p:sp>
      <p:sp>
        <p:nvSpPr>
          <p:cNvPr id="41" name="Text 37"/>
          <p:cNvSpPr txBox="1"/>
          <p:nvPr/>
        </p:nvSpPr>
        <p:spPr>
          <a:xfrm>
            <a:off x="15620695" y="5303520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kern="0" spc="149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가치 − 비용</a:t>
            </a:r>
            <a:endParaRPr lang="en-US" sz="800" dirty="0"/>
          </a:p>
        </p:txBody>
      </p:sp>
      <p:sp>
        <p:nvSpPr>
          <p:cNvPr id="42" name="Text 38"/>
          <p:cNvSpPr txBox="1"/>
          <p:nvPr/>
        </p:nvSpPr>
        <p:spPr>
          <a:xfrm>
            <a:off x="1143000" y="6940135"/>
            <a:ext cx="15132244" cy="66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읽는 법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위쪽 4줄(지원활동)이 아래쪽 5칸(주활동) 전체를 떠받친다. 가로 5칸은 원재료가 고객으로 가는 흐름. 오른쪽 끝의 </a:t>
            </a:r>
            <a:r>
              <a:rPr lang="en-US" sz="19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마진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모든 활동의 결과.</a:t>
            </a:r>
            <a:endParaRPr lang="en-US" sz="1900" dirty="0"/>
          </a:p>
        </p:txBody>
      </p:sp>
      <p:sp>
        <p:nvSpPr>
          <p:cNvPr id="43" name="Text 39"/>
          <p:cNvSpPr txBox="1"/>
          <p:nvPr/>
        </p:nvSpPr>
        <p:spPr>
          <a:xfrm>
            <a:off x="1143000" y="7740235"/>
            <a:ext cx="14287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창업자의 첫 질문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"9개 칸 중 우리가 직접 잘하는 칸은 어디고, 외주가 더 나은 칸은 어디인가?"</a:t>
            </a:r>
            <a:endParaRPr lang="en-US" sz="1900" dirty="0"/>
          </a:p>
        </p:txBody>
      </p:sp>
      <p:sp>
        <p:nvSpPr>
          <p:cNvPr id="44" name="Text 40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Porter (1985) Competitive Advantage, p.37, Figure 2-2 The Generic Value Chain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B13C5DF7-C639-4226-8A78-8307419B6333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73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373436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7 · VALUE CHAIN · 주활동 5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주활동 5개 — 비용 동인 vs 차별화 동인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활동은 </a:t>
            </a:r>
            <a:r>
              <a:rPr lang="en-US" sz="1900" b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비용을 줄여 마진을 만들거나(원가 리더십)가치를 더해 마진을 만든다(차별화)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어느 동인을 쓸지가 전략의 핵심.</a:t>
            </a:r>
            <a:endParaRPr lang="en-US" sz="1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673239"/>
              </p:ext>
            </p:extLst>
          </p:nvPr>
        </p:nvGraphicFramePr>
        <p:xfrm>
          <a:off x="1143000" y="2667305"/>
          <a:ext cx="15991941" cy="5573340"/>
        </p:xfrm>
        <a:graphic>
          <a:graphicData uri="http://schemas.openxmlformats.org/drawingml/2006/table">
            <a:tbl>
              <a:tblPr/>
              <a:tblGrid>
                <a:gridCol w="1076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3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7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57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350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활동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주요 작업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 동인 (원가)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차별화 동인 (가치)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5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01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들여오기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Inbound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원재료 · 부품 입고, 검수, 보관, 재고관리, 사내 운송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벌크 구매 단가 협상, 재고 회전율, JIT 도입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 원재료(전남 농수산), 신선도, 추적성, 친환경 인증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5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02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만들기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Operations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제조, 가공, 조립, 시험, 품질관리, 포장, 시설 관리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설비 가동률, 수율, 인건비, </a:t>
                      </a:r>
                      <a:b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</a:br>
                      <a:r>
                        <a:rPr lang="en-US" sz="18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자동화율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맞춤 생산, 품질 등급, 디자인 일관성, 수공 가치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5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03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내보내기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Outbound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완제품 보관, 주문 처리, 출고, 배송, 콜드체인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배송 단가, 차량 활용률, 보관 기간 단축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당일 배송, 콜드체인 정확도, 포장 디자인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5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04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팔기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Marketing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&amp; Sales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광고, 가격 책정, 영업, 채널 관리, 프로모션, 브랜드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채널 수수료, 광고 단가(CAC), </a:t>
                      </a:r>
                      <a:b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</a:br>
                      <a:r>
                        <a:rPr lang="en-US" sz="18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</a:t>
                      </a: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인건비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브랜드 가치, 콘텐츠/스토리텔링, 큐레이션, B2B 전담 영업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35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05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사후 서비스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Service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설치, 교육, AS, 부품 공급, 콜센터, 환불, 리퍼브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 콜 수, 평균 처리시간(AHT), 자동 응답률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NPS, 충성도 프로그램, 커뮤니티, 재구매율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143000" y="846924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규칙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한 활동에 두 동인을 동시에 추구하지 마라. "원가도 줄이고 품질도 높이고"는 대부분 실패한다 → Porter "stuck in the middle".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9430208"/>
            <a:ext cx="14287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Porter (1985) Competitive Advantage, Ch. 2 — Primary Activities pp.39-43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4E803ED5-01BC-4FE4-A5CE-D18772E5B291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74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5903157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7 · VALUE CHAIN · 지원활동 4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지원활동 4개 — 주활동을 떠받친다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지원활동은 직접 매출을 만들지 않지만, 주활동의 비용·품질·속도를 결정한다. 1인 창업자는 이 4개를 </a:t>
            </a:r>
            <a:r>
              <a:rPr lang="en-US" sz="1900" b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"누구에게 맡길 것인가"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본다.</a:t>
            </a:r>
            <a:endParaRPr lang="en-US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056756"/>
              </p:ext>
            </p:extLst>
          </p:nvPr>
        </p:nvGraphicFramePr>
        <p:xfrm>
          <a:off x="1143000" y="2667305"/>
          <a:ext cx="15992857" cy="5745724"/>
        </p:xfrm>
        <a:graphic>
          <a:graphicData uri="http://schemas.openxmlformats.org/drawingml/2006/table">
            <a:tbl>
              <a:tblPr/>
              <a:tblGrid>
                <a:gridCol w="1076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8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2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2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49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지원활동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업무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예비 창업자 — 누가 맡나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· 디지털 활용 포인트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97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S1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 인프라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Firm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Infrastructure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경영전략, 재무 · 회계, 법무, 거버넌스, 사업계획, 투자유치, 이사회 운영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 본인 + 세무사 · 법무 자문(필요 시)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보고서 작성(ChatGPT, Gemini), 자동 회계(SaaS), 사업계획서 초안 자동화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497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S2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인적자원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HRM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채용, 교육훈련, 평가, 보상, 조직문화, 노무, 4대보험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 본인 + 노무사 · 채용플랫폼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JD 작성 자동화, 1차 면접 봇, 교육 콘텐츠 생성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497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S3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기술 개발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Technology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Development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R&amp;D, 공정 개선, 디자인, 소프트웨어, 데이터 분석, AI 모델, 특허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외주(에이전시) → 점차 내재화 · 정부 R&amp;D 과제 활용(전남TP)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코드 생성(Copilot), 디자인(Canva AI), 데이터 분석 자동화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497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S4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조달 · 구매</a:t>
                      </a:r>
                      <a:endParaRPr lang="en-US" sz="18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Procurement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원재료 · 부품 · 설비 · 외부 서비스 · 공급자 발굴 · 단가 협상 · </a:t>
                      </a:r>
                      <a:b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</a:br>
                      <a:r>
                        <a:rPr lang="en-US" sz="18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 본인 — 지역 공급자(전남 농수산 · 협동조합) 우선 검토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공급자 발굴(B2B 플랫폼), 가격 비교 자동화, 계약서 초안 AI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143000" y="8591699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 창업자 팁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전남창조경제혁신센터 · 전남TP · 지역 노무사·세무사 협업 네트워크를 활용하면 지원활동의 상당 부분을 적은 비용으로 해결할 수 있다.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8983977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 1순위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기술 개발(S3)을 처음부터 다 내재화하려다 6개월 안에 자금이 마른다. 첫 1년은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"외주 → 학습 → 점진 내재화"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정답.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Porter (1985) Competitive Advantage, Ch. 2 — Support Activities pp.40-43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0C163AA1-0543-4F29-9503-3AF9595E226E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75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0558049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7 · 전남 케이스 적용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238098"/>
            <a:ext cx="16193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00" kern="0" spc="-9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전남 케이스 — 완도 프리미엄 김 D2C 가공 스타트업</a:t>
            </a:r>
            <a:endParaRPr lang="en-US" sz="31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848002"/>
            <a:ext cx="16193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케이스 · 완도산 무산김 원초를 직접 매입해 도시락김 · 김부각 · 김자반을 만들어 자사몰 + 백화점에 D2C 판매. 연 매출 12억(3년차), 직원 4명.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286663"/>
              </p:ext>
            </p:extLst>
          </p:nvPr>
        </p:nvGraphicFramePr>
        <p:xfrm>
          <a:off x="1143000" y="2286000"/>
          <a:ext cx="15991941" cy="4967072"/>
        </p:xfrm>
        <a:graphic>
          <a:graphicData uri="http://schemas.openxmlformats.org/drawingml/2006/table">
            <a:tbl>
              <a:tblPr/>
              <a:tblGrid>
                <a:gridCol w="847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7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3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26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활동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구체적인 작업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 비용(추정)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차별화 포인트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마진 기여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6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01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들여오기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완도 군외면 어가 12곳과 직거래 · 원초 검수 · 저온 보관(-25℃)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4.2억 (매출의 35%)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완도산 100% · 어가 직거래 · 추적코드 · 무산김 인증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★★★ HIGH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6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02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만들기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가공 · 구이 · 시즈닝 · 포장(소형 라인 1개 + 외주 1곳)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1.8억 (15%)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저염 · 무첨가 · 한정 시즌 시즈닝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★★ MED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6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03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내보내기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광주 물류센터 위탁 · CJ대한통운 익일배송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0.9억 (7.5%)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친환경 포장재 · 선물용 패키지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 LOW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6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04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팔기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자사몰(45%) · 백화점 매장 3곳(35%) · B2B 답례품(20%) · 인스타 콘텐츠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2.1억 (17.5%)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완도 어가 스토리텔링 · 셰프 협업 콘텐츠 · 시즌 한정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★★★ HIGH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6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05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사후 서비스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CS 챗봇 + 카톡 + 정기구독 큐레이션 · 어가 방문 투어 연 2회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0.3억 (2.5%)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재구매율 38% · 정기구독 NPS 72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★★ MED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6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S3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기술 개발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저염 시즈닝 R&amp;D · 자사몰 개발(외주) · 전남TP R&amp;D 과제 1건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0.6억 (5%)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전남TP 매칭 1.5억 추가 확보 · 특허 출원 1건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★★ MED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26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S4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조달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원초 · 포장재 · 시즈닝 원료 · 외주 가공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(원가에 합산)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어가 직거래로 중간상 마진 제거 · 단가 18% 절감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★★★ HIGH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143000" y="7433209"/>
            <a:ext cx="161931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마진을 만드는 세 활동은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들여오기(어가 직거래)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팔기(브랜딩)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조달(중간상 제거)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만들기 · 내보내기는 외주 비중을 늘려도 무방.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포지션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"프리미엄 차별화" — 원가 리더십은 시도하지 않는다.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· 가상 사례 · 수치는 학습용 예시값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037010D4-B0A3-44C4-8100-7E80E1B250CA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76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953266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447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429000"/>
            <a:ext cx="7830007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048402" y="3429000"/>
            <a:ext cx="3905402" cy="2667305"/>
          </a:xfrm>
          <a:prstGeom prst="rect">
            <a:avLst/>
          </a:prstGeom>
          <a:solidFill>
            <a:srgbClr val="C58A2E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334195" y="2857500"/>
            <a:ext cx="7810805" cy="59051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5048402" y="3429000"/>
            <a:ext cx="9144" cy="53336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6096305"/>
            <a:ext cx="7810805" cy="914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7 · VALUE CHAIN · 의사결정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결정 — "직접 하는 3개"와 "외주 6개" 가르기</a:t>
            </a:r>
            <a:endParaRPr lang="en-US" sz="34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활동 모두 잘하려는 회사는 망한다. 자원이 부족한 창업 초기에는 </a:t>
            </a:r>
            <a:r>
              <a:rPr lang="en-US" sz="1900" b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"마진 기여 ★★★ 3개에 자원의 70%, 나머지 6개에 30%"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일반 공식이다.</a:t>
            </a:r>
            <a:endParaRPr lang="en-US" sz="19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2857500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2×2 의사결정 매트릭스</a:t>
            </a:r>
            <a:endParaRPr lang="en-US" sz="21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3238805"/>
            <a:ext cx="7810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↑ 마진 기여도 高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8810244"/>
            <a:ext cx="7810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우리만의 역량 高 →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333195" y="3619195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6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Q2 · LEARN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33195" y="3857854"/>
            <a:ext cx="3620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 · 제휴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333195" y="4355878"/>
            <a:ext cx="3620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마진은 만들지만 우리가 못한다 → 1~2년 내 내재화 계획 + 그동안은 파트너 확보. 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1333195" y="5085192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B2B 영업 채널 · 콜드체인 물류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238598" y="3619195"/>
            <a:ext cx="3620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6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 · OWN ★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238598" y="3877056"/>
            <a:ext cx="3620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직접 한다 (코어)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238598" y="4267505"/>
            <a:ext cx="3620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자원의 70% 투입. 채용 · 학습 · 시스템화. 여기서 경쟁우위가 나온다.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238598" y="4794199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완도 케이스: 들여오기 · 팔기 · 조달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333195" y="6524244"/>
            <a:ext cx="3620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외주 · 자동화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333195" y="6915607"/>
            <a:ext cx="3620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마진도 작고 역량도 없다 → 외주 또는 SaaS로 자동화. 시간 회수가 목적.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1333195" y="6286500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62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Q3 · OUTSOURCE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1333195" y="7549878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회계 · 세무 · 일반 광고 · 단순 물류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5238598" y="6524244"/>
            <a:ext cx="3620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유지 · 효율화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5238598" y="6915607"/>
            <a:ext cx="3620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잘하지만 마진을 안 만든다 → 현 수준 유지하고 효율만 챙긴다. 추가 투자 금지.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5238598" y="6286500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62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Q4 · MAINTAIN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5238598" y="7549878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사후 서비스 · 단순 제조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9715500" y="3143707"/>
            <a:ext cx="7049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RULES · 4가지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9715500" y="3619195"/>
            <a:ext cx="7049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01 · 70/30 RULE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9715500" y="4041809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코어 3개 활동에 시간·자금의 </a:t>
            </a: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70%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나머지 6개에 30%. 균등 배분은 균등한 평범함을 만든다.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9715500" y="4762195"/>
            <a:ext cx="7049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02 · ONE POSITION ONLY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9715500" y="5063786"/>
            <a:ext cx="7049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활동에서 </a:t>
            </a: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원가 동인과 차별화 동인을 동시에 쓰지 않는다.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"싸고 좋은"은 거의 항상 망한다(stuck in the middle).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9715500" y="5905195"/>
            <a:ext cx="7049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03 · 6-MONTH REVIEW</a:t>
            </a:r>
            <a:endParaRPr lang="en-US" sz="1600" dirty="0"/>
          </a:p>
        </p:txBody>
      </p:sp>
      <p:sp>
        <p:nvSpPr>
          <p:cNvPr id="40" name="Text 34"/>
          <p:cNvSpPr txBox="1"/>
          <p:nvPr/>
        </p:nvSpPr>
        <p:spPr>
          <a:xfrm>
            <a:off x="9715500" y="6327809"/>
            <a:ext cx="7049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6개월마다 매트릭스를 다시 그린다. 마진 기여가 바뀌면 코어 활동도 바뀐다.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9715500" y="7048195"/>
            <a:ext cx="7049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04 · MAKE OR BUY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9715500" y="7336339"/>
            <a:ext cx="7049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"내가 하는 것이 시장가보다 30% 이상 우월하지 않으면 외주가 답"이라는 단순 룰. 자존심을 의사결정에 끌어들이지 않는다.</a:t>
            </a:r>
            <a:endParaRPr lang="en-US" sz="1800" dirty="0"/>
          </a:p>
        </p:txBody>
      </p:sp>
      <p:sp>
        <p:nvSpPr>
          <p:cNvPr id="43" name="Text 37"/>
          <p:cNvSpPr txBox="1"/>
          <p:nvPr/>
        </p:nvSpPr>
        <p:spPr>
          <a:xfrm>
            <a:off x="1116105" y="9418697"/>
            <a:ext cx="16620565" cy="482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Porter (1985) Ch. 3 — Cost Advantage; Ch. 4 — Differentiation; Ch. 2 — Linkages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B1EEFD58-936D-4B0F-9907-4AA5E5F79ABF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77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331634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7 · WORKSHOP · 30분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워크숍 — 내 사업의 Value Chain 그리기 (30분)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2286000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진행 순서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712696" y="3442447"/>
            <a:ext cx="78108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712696" y="2870947"/>
            <a:ext cx="7810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00:00 – 00:05 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활동 매핑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9개 칸에 내 사업의 작업 1줄씩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12696" y="4073221"/>
            <a:ext cx="78108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712696" y="3461380"/>
            <a:ext cx="7810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00:05 – 00:12 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비용 추정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매출 대비 비중(%) 적기. 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모르면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ChatGPT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                      로 업종 평균 검색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12696" y="4596420"/>
            <a:ext cx="78108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712696" y="4024920"/>
            <a:ext cx="7810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00:12 – 00:18 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마진 기여 평가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각 활동에 ★★★/★★/★ 표시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712696" y="5174321"/>
            <a:ext cx="78108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712696" y="4602821"/>
            <a:ext cx="7810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00:18 – 00:24 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Make-or-Buy 결정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직접 3개 + 외주 6개 가르기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712696" y="5751307"/>
            <a:ext cx="78108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712696" y="5179807"/>
            <a:ext cx="7810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00:24 – 00:28 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짝꿍 발표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90초 발표 · 1개 질문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33718" y="5756793"/>
            <a:ext cx="768978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00:28 – 00:30 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 정리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워크북에 결정 메모 · 사진 촬영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9334195" y="2286000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워크북 — 9칸 채우기</a:t>
            </a:r>
            <a:endParaRPr lang="en-US" sz="2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318173"/>
              </p:ext>
            </p:extLst>
          </p:nvPr>
        </p:nvGraphicFramePr>
        <p:xfrm>
          <a:off x="9334195" y="2857500"/>
          <a:ext cx="7801661" cy="4663948"/>
        </p:xfrm>
        <a:graphic>
          <a:graphicData uri="http://schemas.openxmlformats.org/drawingml/2006/table">
            <a:tbl>
              <a:tblPr/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40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4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활동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구체 작업 1줄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% 비용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마진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Make/Buy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들여오기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만들기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내보내기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팔기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사후서비스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4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인프라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HRM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4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기술 개발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4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조달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Text 18"/>
          <p:cNvSpPr txBox="1"/>
          <p:nvPr/>
        </p:nvSpPr>
        <p:spPr>
          <a:xfrm>
            <a:off x="9334195" y="8382305"/>
            <a:ext cx="78108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루브릭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활동 9개 모두 채움(2점) · 비용% 합 ≈ 100%(2점) · 마진 ★★★ 3개 이하(2점) · Make/Buy 명시(2점) · 발표 시간 준수(2점)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WORKSHOP · 30 MIN · INDIVIDUAL → PAIR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0D8CBBE6-50F5-41B4-A272-CAD76FBAB0F2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78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735798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1143000" y="1333195"/>
            <a:ext cx="11430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600200"/>
            <a:ext cx="9525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324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BREAK · 10 MIN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857500"/>
            <a:ext cx="16193110" cy="2714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0" i="1" kern="0" spc="-450" dirty="0">
                <a:solidFill>
                  <a:srgbClr val="0E1B2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10:00</a:t>
            </a:r>
            <a:endParaRPr lang="en-US" sz="22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6476695"/>
            <a:ext cx="12382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400" kern="0" spc="-16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잠시 쉬어갑시다.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7810805"/>
            <a:ext cx="12382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시간은 </a:t>
            </a:r>
            <a:r>
              <a:rPr lang="en-US" sz="1600" b="1" dirty="0">
                <a:solidFill>
                  <a:srgbClr val="C58A2E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Ansoff 매트릭스</a:t>
            </a:r>
            <a:r>
              <a:rPr lang="en-US" sz="1600" dirty="0">
                <a:solidFill>
                  <a:srgbClr val="0E1B2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1957년 HBR에 실린 성장 4전략 분류법입니다.</a:t>
            </a:r>
            <a:endParaRPr lang="en-US" sz="16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841E517A-D7FA-4D92-96F8-839EB8879F9A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79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6203514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715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t="-420" b="-420"/>
          <a:stretch/>
        </p:blipFill>
        <p:spPr>
          <a:xfrm>
            <a:off x="857707" y="1524305"/>
            <a:ext cx="761695" cy="384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79039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28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08 · GROW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7707" y="2286000"/>
            <a:ext cx="4572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0" i="1" kern="0" spc="-3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08.</a:t>
            </a:r>
            <a:endParaRPr lang="en-US" sz="150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4953305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kern="0" spc="-126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Ansoff Matrix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5725973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Ansoff · 1957 · HBR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6858000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× 시장 2×2로 성장 옵션을 4가지로 분류한다. 위험 1배 → 9배까지 단계별로.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76695" y="1524305"/>
            <a:ext cx="10478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8 · 80분 학습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76695" y="1904695"/>
            <a:ext cx="1047811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kern="0" spc="-13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"내년에 어떤 방향으로</a:t>
            </a:r>
            <a:endParaRPr lang="en-US" sz="4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600" kern="0" spc="-13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성장할 것인가?"</a:t>
            </a:r>
            <a:endParaRPr lang="en-US" sz="4600" dirty="0"/>
          </a:p>
        </p:txBody>
      </p:sp>
      <p:sp>
        <p:nvSpPr>
          <p:cNvPr id="13" name="Text 10"/>
          <p:cNvSpPr txBox="1"/>
          <p:nvPr/>
        </p:nvSpPr>
        <p:spPr>
          <a:xfrm>
            <a:off x="6476695" y="4762195"/>
            <a:ext cx="10287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제품 vs 신제품 × 기존 시장 vs 신시장 = 4가지 전략. </a:t>
            </a: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위험은 1·2·3·9배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가파르게 올라간다.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76695" y="7592263"/>
            <a:ext cx="1047719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476695" y="7239305"/>
            <a:ext cx="104781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76695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6476695" y="8288175"/>
            <a:ext cx="35716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성장 전략을 구분하고 위험을 평가한다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0071202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10071202" y="8288175"/>
            <a:ext cx="32964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사업의 1-2년 성장 경로를 정한다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3664794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13664794" y="8288175"/>
            <a:ext cx="382585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BCG · VRIO · BMC 결과와 연결해 의사결정한다</a:t>
            </a:r>
            <a:endParaRPr lang="en-US" sz="18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99E10457-3569-4FB8-AA32-48104995A9A2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80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857190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30207" y="4667098"/>
            <a:ext cx="7715707" cy="4095598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8 · ANSOFF · 도입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9525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297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ANSOFF · STRATEGIES FOR DIVERSIFICATION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638605"/>
            <a:ext cx="1619311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"기업 성장은 4가지 방향뿐.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제품×시장의 2×2."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810305"/>
            <a:ext cx="16193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H. Igor Ansoff, "Strategies for Diversification", </a:t>
            </a:r>
            <a:r>
              <a:rPr lang="en-US" sz="1900" i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Harvard Business Review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Sep-Oct 1957, pp.113-124.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4667098"/>
            <a:ext cx="7905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전략기획의 시작점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5257800"/>
            <a:ext cx="79059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Ansoff는 BCG(1970)보다 13년 앞선 1957년에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"기업이 어디로 갈 수 있는가"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가장 단순한 2×2로 표현했다. 모든 후속 성장 프레임워크의 원형(原型).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5994806"/>
            <a:ext cx="79059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그가 시작한 '전략기획(strategic planning)' 분야는 이후 BCG, Porter 등으로 이어졌다. </a:t>
            </a: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"Father of Strategic Management"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불린다.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9810598" y="4953305"/>
            <a:ext cx="7049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TWO QUESTIONS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9810598" y="6210605"/>
            <a:ext cx="7048195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9810598" y="5514746"/>
            <a:ext cx="7049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 · PRODUCT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9810598" y="5762549"/>
            <a:ext cx="7049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팔 것은 </a:t>
            </a:r>
            <a:r>
              <a:rPr lang="en-US" sz="19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제품</a:t>
            </a:r>
            <a:r>
              <a:rPr lang="en-US" sz="19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 </a:t>
            </a:r>
            <a:r>
              <a:rPr lang="en-US" sz="19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신제품</a:t>
            </a:r>
            <a:r>
              <a:rPr lang="en-US" sz="19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인가?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9810598" y="7086600"/>
            <a:ext cx="7048195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9810598" y="6391656"/>
            <a:ext cx="7049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Q2 · MARKET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9810598" y="6638544"/>
            <a:ext cx="7049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팔 곳은 </a:t>
            </a:r>
            <a:r>
              <a:rPr lang="en-US" sz="19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시장</a:t>
            </a:r>
            <a:r>
              <a:rPr lang="en-US" sz="19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 </a:t>
            </a:r>
            <a:r>
              <a:rPr lang="en-US" sz="19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신시장</a:t>
            </a:r>
            <a:r>
              <a:rPr lang="en-US" sz="19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인가?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9810598" y="7267651"/>
            <a:ext cx="7049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9810598" y="7515454"/>
            <a:ext cx="7049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질문의 답으로 4가지 성장 전략이 나온다. 각 전략의 </a:t>
            </a:r>
            <a:r>
              <a:rPr lang="en-US" sz="1800" b="1" dirty="0">
                <a:solidFill>
                  <a:srgbClr val="C58A2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배수는 1·2·3·9</a:t>
            </a:r>
            <a:r>
              <a:rPr lang="en-US" sz="18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다각화로 갈수록 가파르게 오른다.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Ansoff, H.I. (1957). Strategies for Diversification. HBR 35(5): 113-124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D26C6AC4-84B6-4D0F-A5AF-C1A5F6D3E9FD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81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06377574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29000" y="3429000"/>
            <a:ext cx="5333695" cy="2667305"/>
          </a:xfrm>
          <a:prstGeom prst="rect">
            <a:avLst/>
          </a:prstGeom>
          <a:solidFill>
            <a:srgbClr val="E5DD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144000" y="3429000"/>
            <a:ext cx="5333695" cy="2667305"/>
          </a:xfrm>
          <a:prstGeom prst="rect">
            <a:avLst/>
          </a:prstGeom>
          <a:solidFill>
            <a:srgbClr val="C58A2E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3429000" y="6096305"/>
            <a:ext cx="5333695" cy="2667305"/>
          </a:xfrm>
          <a:prstGeom prst="rect">
            <a:avLst/>
          </a:prstGeom>
          <a:solidFill>
            <a:srgbClr val="C58A2E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144000" y="6096305"/>
            <a:ext cx="5333695" cy="266730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5049195" y="3429000"/>
            <a:ext cx="2115007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8 · ANSOFF · 2×2 매트릭스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4가지 성장 전략 — 위험 배수 1·2·3·9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1333195" y="2667305"/>
            <a:ext cx="1334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시장 / MARKET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904695" y="3619195"/>
            <a:ext cx="1143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기존</a:t>
            </a:r>
            <a:endParaRPr lang="en-US" sz="1600" dirty="0"/>
          </a:p>
          <a:p>
            <a:pPr marL="0" indent="0" algn="r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시장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904695" y="6286500"/>
            <a:ext cx="1143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</a:t>
            </a:r>
            <a:endParaRPr lang="en-US" sz="1600" dirty="0"/>
          </a:p>
          <a:p>
            <a:pPr marL="0" indent="0" algn="r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시장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3047695"/>
            <a:ext cx="5334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기존 제품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9144000" y="3047695"/>
            <a:ext cx="5334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신제품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2763195" y="2667305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/ 제품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3619195" y="3877056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Market Penetration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3619195" y="4448556"/>
            <a:ext cx="5746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제품을 같은 시장에 더 판다. 점유율↑ · </a:t>
            </a: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재구매율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↑</a:t>
            </a:r>
            <a:b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가격할인 · 광고 강화.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3619195" y="5234132"/>
            <a:ext cx="2487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위험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3847795" y="5109774"/>
            <a:ext cx="333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×1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4407408" y="5234132"/>
            <a:ext cx="372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성공률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749394" y="5109774"/>
            <a:ext cx="448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75%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3619195" y="3619195"/>
            <a:ext cx="4953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 · 시장 침투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9334195" y="3877056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Product Development</a:t>
            </a:r>
            <a:endParaRPr lang="en-US" sz="2400" dirty="0"/>
          </a:p>
        </p:txBody>
      </p:sp>
      <p:sp>
        <p:nvSpPr>
          <p:cNvPr id="28" name="Text 24"/>
          <p:cNvSpPr txBox="1"/>
          <p:nvPr/>
        </p:nvSpPr>
        <p:spPr>
          <a:xfrm>
            <a:off x="9334195" y="4448556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시장에 새 제품을 낸다. 라인 확장 · 업그레이드 · 번들 · 신메뉴.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9334195" y="5234132"/>
            <a:ext cx="2487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위험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9562795" y="5109774"/>
            <a:ext cx="333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×3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10122408" y="5234132"/>
            <a:ext cx="372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성공률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10464394" y="5109774"/>
            <a:ext cx="448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40%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9334195" y="3619195"/>
            <a:ext cx="4953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Q2 · 제품 개발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3619195" y="6543446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Market Development</a:t>
            </a:r>
            <a:endParaRPr lang="en-US" sz="2400" dirty="0"/>
          </a:p>
        </p:txBody>
      </p:sp>
      <p:sp>
        <p:nvSpPr>
          <p:cNvPr id="35" name="Text 31"/>
          <p:cNvSpPr txBox="1"/>
          <p:nvPr/>
        </p:nvSpPr>
        <p:spPr>
          <a:xfrm>
            <a:off x="3619195" y="7114946"/>
            <a:ext cx="5746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제품을 새 시장에 낸다. 신규 지역 · 신규 채널 · </a:t>
            </a:r>
            <a:b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고객층 · 해외 수출.</a:t>
            </a:r>
            <a:endParaRPr lang="en-US" sz="1700" dirty="0"/>
          </a:p>
        </p:txBody>
      </p:sp>
      <p:sp>
        <p:nvSpPr>
          <p:cNvPr id="36" name="Text 32"/>
          <p:cNvSpPr txBox="1"/>
          <p:nvPr/>
        </p:nvSpPr>
        <p:spPr>
          <a:xfrm>
            <a:off x="3619195" y="7900522"/>
            <a:ext cx="2487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위험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3847795" y="7777078"/>
            <a:ext cx="333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×2</a:t>
            </a:r>
            <a:endParaRPr lang="en-US" sz="1600" dirty="0"/>
          </a:p>
        </p:txBody>
      </p:sp>
      <p:sp>
        <p:nvSpPr>
          <p:cNvPr id="38" name="Text 34"/>
          <p:cNvSpPr txBox="1"/>
          <p:nvPr/>
        </p:nvSpPr>
        <p:spPr>
          <a:xfrm>
            <a:off x="4407408" y="7900522"/>
            <a:ext cx="372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성공률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4749394" y="7777078"/>
            <a:ext cx="448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600" dirty="0"/>
          </a:p>
        </p:txBody>
      </p:sp>
      <p:sp>
        <p:nvSpPr>
          <p:cNvPr id="40" name="Text 36"/>
          <p:cNvSpPr txBox="1"/>
          <p:nvPr/>
        </p:nvSpPr>
        <p:spPr>
          <a:xfrm>
            <a:off x="3619195" y="6286500"/>
            <a:ext cx="4953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Q3 · 시장 개발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9334195" y="6543446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Diversification</a:t>
            </a:r>
            <a:endParaRPr lang="en-US" sz="2400" dirty="0"/>
          </a:p>
        </p:txBody>
      </p:sp>
      <p:sp>
        <p:nvSpPr>
          <p:cNvPr id="42" name="Text 38"/>
          <p:cNvSpPr txBox="1"/>
          <p:nvPr/>
        </p:nvSpPr>
        <p:spPr>
          <a:xfrm>
            <a:off x="9334195" y="7900522"/>
            <a:ext cx="2487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위험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9562795" y="7777078"/>
            <a:ext cx="333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×9</a:t>
            </a:r>
            <a:endParaRPr lang="en-US" sz="1600" dirty="0"/>
          </a:p>
        </p:txBody>
      </p:sp>
      <p:sp>
        <p:nvSpPr>
          <p:cNvPr id="44" name="Text 40"/>
          <p:cNvSpPr txBox="1"/>
          <p:nvPr/>
        </p:nvSpPr>
        <p:spPr>
          <a:xfrm>
            <a:off x="10122408" y="7900522"/>
            <a:ext cx="372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성공률</a:t>
            </a:r>
            <a:endParaRPr lang="en-US" sz="1500" dirty="0"/>
          </a:p>
        </p:txBody>
      </p:sp>
      <p:sp>
        <p:nvSpPr>
          <p:cNvPr id="45" name="Text 41"/>
          <p:cNvSpPr txBox="1"/>
          <p:nvPr/>
        </p:nvSpPr>
        <p:spPr>
          <a:xfrm>
            <a:off x="10464394" y="7777078"/>
            <a:ext cx="448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600" dirty="0"/>
          </a:p>
        </p:txBody>
      </p:sp>
      <p:sp>
        <p:nvSpPr>
          <p:cNvPr id="46" name="Text 42"/>
          <p:cNvSpPr txBox="1"/>
          <p:nvPr/>
        </p:nvSpPr>
        <p:spPr>
          <a:xfrm>
            <a:off x="9334195" y="6286500"/>
            <a:ext cx="4953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C58A2E">
                    <a:alpha val="8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Q4 · 다각화</a:t>
            </a:r>
            <a:endParaRPr lang="en-US" sz="1500" dirty="0"/>
          </a:p>
        </p:txBody>
      </p:sp>
      <p:sp>
        <p:nvSpPr>
          <p:cNvPr id="47" name="Text 43"/>
          <p:cNvSpPr txBox="1"/>
          <p:nvPr/>
        </p:nvSpPr>
        <p:spPr>
          <a:xfrm>
            <a:off x="9334195" y="7114946"/>
            <a:ext cx="54543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제품을 새 시장에. 관련/비관련 다각화. </a:t>
            </a:r>
            <a:r>
              <a:rPr lang="en-US" sz="1700" dirty="0" err="1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인수합병</a:t>
            </a: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700" dirty="0" err="1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동반</a:t>
            </a:r>
            <a:b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위험이 가장 크다.</a:t>
            </a:r>
            <a:endParaRPr lang="en-US" sz="1700" dirty="0"/>
          </a:p>
        </p:txBody>
      </p:sp>
      <p:sp>
        <p:nvSpPr>
          <p:cNvPr id="48" name="Text 44"/>
          <p:cNvSpPr txBox="1"/>
          <p:nvPr/>
        </p:nvSpPr>
        <p:spPr>
          <a:xfrm>
            <a:off x="15240305" y="3619195"/>
            <a:ext cx="1762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6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 MULTIPLIER</a:t>
            </a:r>
            <a:endParaRPr lang="en-US" sz="1500" dirty="0"/>
          </a:p>
        </p:txBody>
      </p:sp>
      <p:sp>
        <p:nvSpPr>
          <p:cNvPr id="49" name="Shape 45"/>
          <p:cNvSpPr/>
          <p:nvPr/>
        </p:nvSpPr>
        <p:spPr>
          <a:xfrm>
            <a:off x="15240305" y="4743907"/>
            <a:ext cx="1762049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50" name="Text 46"/>
          <p:cNvSpPr txBox="1"/>
          <p:nvPr/>
        </p:nvSpPr>
        <p:spPr>
          <a:xfrm>
            <a:off x="15240305" y="4028846"/>
            <a:ext cx="17629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×1</a:t>
            </a:r>
            <a:endParaRPr lang="en-US" sz="2200" dirty="0"/>
          </a:p>
        </p:txBody>
      </p:sp>
      <p:sp>
        <p:nvSpPr>
          <p:cNvPr id="51" name="Shape 47"/>
          <p:cNvSpPr/>
          <p:nvPr/>
        </p:nvSpPr>
        <p:spPr>
          <a:xfrm>
            <a:off x="15240305" y="5563210"/>
            <a:ext cx="1762049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52" name="Text 48"/>
          <p:cNvSpPr txBox="1"/>
          <p:nvPr/>
        </p:nvSpPr>
        <p:spPr>
          <a:xfrm>
            <a:off x="15240305" y="4848149"/>
            <a:ext cx="17629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×2</a:t>
            </a:r>
            <a:endParaRPr lang="en-US" sz="2200" dirty="0"/>
          </a:p>
        </p:txBody>
      </p:sp>
      <p:sp>
        <p:nvSpPr>
          <p:cNvPr id="53" name="Shape 49"/>
          <p:cNvSpPr/>
          <p:nvPr/>
        </p:nvSpPr>
        <p:spPr>
          <a:xfrm>
            <a:off x="15240305" y="6382512"/>
            <a:ext cx="1762049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54" name="Text 50"/>
          <p:cNvSpPr txBox="1"/>
          <p:nvPr/>
        </p:nvSpPr>
        <p:spPr>
          <a:xfrm>
            <a:off x="15240305" y="5667451"/>
            <a:ext cx="17629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×3</a:t>
            </a:r>
            <a:endParaRPr lang="en-US" sz="2200" dirty="0"/>
          </a:p>
        </p:txBody>
      </p:sp>
      <p:sp>
        <p:nvSpPr>
          <p:cNvPr id="55" name="Text 51"/>
          <p:cNvSpPr txBox="1"/>
          <p:nvPr/>
        </p:nvSpPr>
        <p:spPr>
          <a:xfrm>
            <a:off x="15240305" y="6486754"/>
            <a:ext cx="17629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×9</a:t>
            </a:r>
            <a:endParaRPr lang="en-US" sz="2200" dirty="0"/>
          </a:p>
        </p:txBody>
      </p:sp>
      <p:sp>
        <p:nvSpPr>
          <p:cNvPr id="56" name="Text 52"/>
          <p:cNvSpPr txBox="1"/>
          <p:nvPr/>
        </p:nvSpPr>
        <p:spPr>
          <a:xfrm>
            <a:off x="15240305" y="4486046"/>
            <a:ext cx="1762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침투 기준선</a:t>
            </a:r>
            <a:endParaRPr lang="en-US" sz="1500" dirty="0"/>
          </a:p>
        </p:txBody>
      </p:sp>
      <p:sp>
        <p:nvSpPr>
          <p:cNvPr id="57" name="Text 53"/>
          <p:cNvSpPr txBox="1"/>
          <p:nvPr/>
        </p:nvSpPr>
        <p:spPr>
          <a:xfrm>
            <a:off x="15240305" y="5305349"/>
            <a:ext cx="1762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시장만 새것</a:t>
            </a:r>
            <a:endParaRPr lang="en-US" sz="1500" dirty="0"/>
          </a:p>
        </p:txBody>
      </p:sp>
      <p:sp>
        <p:nvSpPr>
          <p:cNvPr id="58" name="Text 54"/>
          <p:cNvSpPr txBox="1"/>
          <p:nvPr/>
        </p:nvSpPr>
        <p:spPr>
          <a:xfrm>
            <a:off x="15240305" y="6124651"/>
            <a:ext cx="1762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제품만 새것</a:t>
            </a:r>
            <a:endParaRPr lang="en-US" sz="1500" dirty="0"/>
          </a:p>
        </p:txBody>
      </p:sp>
      <p:sp>
        <p:nvSpPr>
          <p:cNvPr id="59" name="Text 55"/>
          <p:cNvSpPr txBox="1"/>
          <p:nvPr/>
        </p:nvSpPr>
        <p:spPr>
          <a:xfrm>
            <a:off x="15240305" y="6943954"/>
            <a:ext cx="1762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둘 다 새것</a:t>
            </a:r>
            <a:endParaRPr lang="en-US" sz="1500" dirty="0"/>
          </a:p>
        </p:txBody>
      </p:sp>
      <p:sp>
        <p:nvSpPr>
          <p:cNvPr id="60" name="Text 56"/>
          <p:cNvSpPr txBox="1"/>
          <p:nvPr/>
        </p:nvSpPr>
        <p:spPr>
          <a:xfrm>
            <a:off x="1143000" y="8953805"/>
            <a:ext cx="1619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규칙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창업 첫 3년은 Q1·Q2·Q3까지만. Q4(다각화)는 본업이 안정된 뒤에. 위험 ×9의 의미: 새 제품 학습 위험 × 새 시장 학습 위험이 곱셈으로 누적된다.</a:t>
            </a:r>
            <a:endParaRPr lang="en-US" sz="1800" dirty="0"/>
          </a:p>
        </p:txBody>
      </p:sp>
      <p:sp>
        <p:nvSpPr>
          <p:cNvPr id="61" name="Text 57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Ansoff (1957) HBR · 위험 배수·성공률은 교육용 어림값(원전 수치 아님)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3B26AF64-0B59-4090-A30F-52CF9E68EF97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82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6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44954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8 · ANSOFF · 4가지 전략 상세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4가지 전략 — 구체 행동과 예시</a:t>
            </a:r>
            <a:endParaRPr lang="en-US" sz="3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488652"/>
              </p:ext>
            </p:extLst>
          </p:nvPr>
        </p:nvGraphicFramePr>
        <p:xfrm>
          <a:off x="1143000" y="2095805"/>
          <a:ext cx="15992856" cy="4539495"/>
        </p:xfrm>
        <a:graphic>
          <a:graphicData uri="http://schemas.openxmlformats.org/drawingml/2006/table">
            <a:tbl>
              <a:tblPr/>
              <a:tblGrid>
                <a:gridCol w="790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6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7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9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778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전략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구체 행동 (예비 창업자 관점)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예시 (전남 가공식품 D2C)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 자원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Q1</a:t>
                      </a:r>
                      <a:endParaRPr lang="en-US" sz="1600" b="1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 침투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Penetration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 ×1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① 가격 할인 / 번들 ② 광고 강화 / 유튜브·인스타 ③ 재구독·로열티 ④ 사용 빈도↑ </a:t>
                      </a:r>
                      <a:r>
                        <a:rPr lang="en-US" sz="14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캠페인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b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</a:b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⑤ 미사용 고객 재유치 ⑥ B2B 답례품 강화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도시락김 자사몰에서 정기구독 30% 할인 + 인스타 광고 강화. 기존 고객의 재구매율을 38% → 50%로 끌어올린다.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마케팅 비용 ↑</a:t>
                      </a:r>
                      <a:endParaRPr lang="en-US" sz="24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 인프라(기존)</a:t>
                      </a:r>
                      <a:endParaRPr lang="en-US" sz="24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Q2</a:t>
                      </a:r>
                      <a:endParaRPr lang="en-US" sz="1600" b="1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제품 개발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Product Dev.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 ×3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① 라인 확장(맛 · 사이즈) ② 업그레이드(고가 · 프리미엄) ③ 번들 ④ 새 카테고리(같은 고객 대상)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자사몰 고객에게 김부각·김자반·미역·전복죽을 추가 출시. 한국 1인 가구 대상.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R&amp;D · 생산 라인</a:t>
                      </a:r>
                      <a:endParaRPr lang="en-US" sz="24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외주 제조 파트너</a:t>
                      </a:r>
                      <a:endParaRPr lang="en-US" sz="24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Q3</a:t>
                      </a:r>
                      <a:endParaRPr lang="en-US" sz="1600" b="1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 개발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Market Dev.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 ×2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① 신규 지역(수도권 백화점) ② 신규 채널(편의점 · 호텔) ③ 신규 세그먼트(</a:t>
                      </a:r>
                      <a:r>
                        <a:rPr lang="en-US" sz="14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어린이·시니어·비건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 ④ 해외 수출(아세안 · 일본)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도시락김을 일본 라쿠텐에 수출. 같은 제품, 새 시장 + 새 채널 + 새 언어.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수출 인증 · 통관</a:t>
                      </a:r>
                      <a:endParaRPr lang="en-US" sz="24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 파트너 · 환위험</a:t>
                      </a:r>
                      <a:endParaRPr lang="en-US" sz="24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Q4</a:t>
                      </a:r>
                      <a:endParaRPr lang="en-US" sz="1600" b="1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다각화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Diversification</a:t>
                      </a:r>
                      <a:endParaRPr lang="en-US" sz="18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 ×9</a:t>
                      </a:r>
                      <a:endParaRPr lang="en-US" sz="18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① 관련 다각화(인접 카테고리, 동일 역량) ② 비관련 다각화(완전 신사업) ③ 수직 통합(</a:t>
                      </a:r>
                      <a:r>
                        <a:rPr lang="en-US" sz="14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상류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b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</a:br>
                      <a:r>
                        <a:rPr lang="en-US" sz="14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하류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진출) ④ M&amp;A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완도에 김 어가 체험형 펜션 + 카페를 차린다. 가공식품과 관광은 다른 사업.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신사업 인력</a:t>
                      </a:r>
                      <a:endParaRPr lang="en-US" sz="24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대규모 자본 · 신뢰</a:t>
                      </a:r>
                      <a:endParaRPr lang="en-US" sz="24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143000" y="6930029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창업 1년차는 Q1만 ─ "지금 제품을 지금 고객에게 더 판다"가 우선. 2-3년차에 Q2 또는 Q3 중 하나(둘 다 X). 5년차 이후 Q4 검토.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7303104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함정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매출이 정체하면 본능적으로 Q4로 점프하려는 유혹. 대부분은 본업의 Q1·Q2·Q3을 충분히 안 한 결과. 다시 본업으로 돌아가는 게 답.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Ansoff (1957/1965). Corporate Strategy. McGraw-Hill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A5F803F9-0ECF-45BB-8F4D-70A3CE60D3AA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83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457275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857500"/>
            <a:ext cx="9734702" cy="592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144707" y="2857500"/>
            <a:ext cx="6001207" cy="59051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19195" y="3733495"/>
            <a:ext cx="761695" cy="4572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3619195" y="4828946"/>
            <a:ext cx="1524305" cy="457200"/>
          </a:xfrm>
          <a:prstGeom prst="rect">
            <a:avLst/>
          </a:prstGeom>
          <a:solidFill>
            <a:srgbClr val="1C5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3619195" y="5924398"/>
            <a:ext cx="2286000" cy="457200"/>
          </a:xfrm>
          <a:prstGeom prst="rect">
            <a:avLst/>
          </a:prstGeom>
          <a:solidFill>
            <a:srgbClr val="2D5A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3619195" y="7019849"/>
            <a:ext cx="6858000" cy="457200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619195" y="7905902"/>
            <a:ext cx="6858000" cy="9144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525098" y="7239305"/>
            <a:ext cx="5238598" cy="91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8 · ANSOFF · 위험-수익 곡선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위험 ↔ 학습 비용 — 왜 ×9까지 가나</a:t>
            </a:r>
            <a:endParaRPr lang="en-US" sz="340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위험은 </a:t>
            </a:r>
            <a:r>
              <a:rPr lang="en-US" sz="1900" b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 배워야 할 것의 양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비례한다. 제품과 시장 각각 학습 위험을 가지고, 두 가지가 동시에 새것이면 위험이 곱셈으로 누적된다.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1524305" y="3047695"/>
            <a:ext cx="8953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 INDEX · 시장 침투 = 1.0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524305" y="3619195"/>
            <a:ext cx="1905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900" kern="0" spc="-4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Q1 · 시장 침투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1524305" y="3893892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제품 / 기존 시장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4476902" y="3829507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×1.0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1524305" y="4714646"/>
            <a:ext cx="1905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900" kern="0" spc="-4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Q3 · 시장 개발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1524305" y="4989343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제품 / 신시장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238598" y="4924044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×2.0</a:t>
            </a:r>
            <a:endParaRPr lang="en-US" sz="2100" dirty="0"/>
          </a:p>
        </p:txBody>
      </p:sp>
      <p:sp>
        <p:nvSpPr>
          <p:cNvPr id="25" name="Text 19"/>
          <p:cNvSpPr txBox="1"/>
          <p:nvPr/>
        </p:nvSpPr>
        <p:spPr>
          <a:xfrm>
            <a:off x="1524305" y="5810098"/>
            <a:ext cx="1905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900" kern="0" spc="-4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Q2 · 제품 개발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1524305" y="6084794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신제품 / 기존 시장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001207" y="6019495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×3.0</a:t>
            </a:r>
            <a:endParaRPr lang="en-US" sz="2100" dirty="0"/>
          </a:p>
        </p:txBody>
      </p:sp>
      <p:sp>
        <p:nvSpPr>
          <p:cNvPr id="28" name="Text 22"/>
          <p:cNvSpPr txBox="1"/>
          <p:nvPr/>
        </p:nvSpPr>
        <p:spPr>
          <a:xfrm>
            <a:off x="1524305" y="6905549"/>
            <a:ext cx="1905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900" kern="0" spc="-4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Q4 · 다각화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1524305" y="7180245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신제품 / 신시장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9904781" y="7533741"/>
            <a:ext cx="1905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×9.0</a:t>
            </a:r>
            <a:endParaRPr lang="en-US" sz="2100" dirty="0"/>
          </a:p>
        </p:txBody>
      </p:sp>
      <p:sp>
        <p:nvSpPr>
          <p:cNvPr id="31" name="Text 25"/>
          <p:cNvSpPr txBox="1"/>
          <p:nvPr/>
        </p:nvSpPr>
        <p:spPr>
          <a:xfrm>
            <a:off x="3619195" y="8001000"/>
            <a:ext cx="762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5143500" y="8001000"/>
            <a:ext cx="762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7048195" y="8001000"/>
            <a:ext cx="762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9334195" y="8001000"/>
            <a:ext cx="762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3619195" y="8287207"/>
            <a:ext cx="6858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kern="0" spc="162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위험 배수 (RISK MULTIPLIER)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11525098" y="3143707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LEARNING COST · 학습 비용 분해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11525098" y="3619195"/>
            <a:ext cx="5239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새 제품을 만들면 배워야 할 것</a:t>
            </a:r>
            <a:endParaRPr lang="en-US" sz="1900" dirty="0"/>
          </a:p>
        </p:txBody>
      </p:sp>
      <p:sp>
        <p:nvSpPr>
          <p:cNvPr id="38" name="Text 32"/>
          <p:cNvSpPr txBox="1"/>
          <p:nvPr/>
        </p:nvSpPr>
        <p:spPr>
          <a:xfrm>
            <a:off x="11525098" y="4058591"/>
            <a:ext cx="52395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원재료 / 부품 / 공급자 발굴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생산 공정 · 품질 기준 · 인증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가격 책정 / 마진 구조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재고 회전율 · 폐기율 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11525098" y="5333695"/>
            <a:ext cx="5239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새 시장에 들어가면 배워야 할 것</a:t>
            </a:r>
            <a:endParaRPr lang="en-US" sz="1900" dirty="0"/>
          </a:p>
        </p:txBody>
      </p:sp>
      <p:sp>
        <p:nvSpPr>
          <p:cNvPr id="40" name="Text 34"/>
          <p:cNvSpPr txBox="1"/>
          <p:nvPr/>
        </p:nvSpPr>
        <p:spPr>
          <a:xfrm>
            <a:off x="11525098" y="5773091"/>
            <a:ext cx="52395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고객 페르소나 · 구매 동기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가격 민감도 · 결제 행태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채널 · 유통 구조 · 수수료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규제 · 인증 · 문화 · 언어 </a:t>
            </a:r>
            <a:endParaRPr lang="en-US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11525098" y="7429500"/>
            <a:ext cx="52395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곱셈 효과</a:t>
            </a:r>
            <a:r>
              <a:rPr lang="en-US" sz="16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새 제품 학습 위험(×3) × 새 시장 학습 위험(×3) = ×9. 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각각 학습하면 3씩, 동시 학습은 9. 이게 다각화가 가장 어려운 이유.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NOTE · 위험 배수는 학습 위험을 설명하기 위한 교육용 어림값 — Ansoff(1957) 원전의 수치가 아님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3D9E1342-9DFA-4B71-8CBD-B658DF882A7E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84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3539186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174714"/>
            <a:ext cx="16002000" cy="91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8 · 전남 케이스 적용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238098"/>
            <a:ext cx="16193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00" kern="0" spc="-9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전남 케이스 — 완도 김 D2C의 5년 로드맵</a:t>
            </a:r>
            <a:endParaRPr lang="en-US" sz="31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848002"/>
            <a:ext cx="16193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회사의 시간 순서 — Y1부터 Y5까지 4가지 Ansoff 전략을 단계적으로 적용. 위험을 한 칸씩 올린다.</a:t>
            </a:r>
            <a:endParaRPr lang="en-US" sz="1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524746"/>
              </p:ext>
            </p:extLst>
          </p:nvPr>
        </p:nvGraphicFramePr>
        <p:xfrm>
          <a:off x="1143000" y="2286000"/>
          <a:ext cx="15991941" cy="4529921"/>
        </p:xfrm>
        <a:graphic>
          <a:graphicData uri="http://schemas.openxmlformats.org/drawingml/2006/table">
            <a:tbl>
              <a:tblPr/>
              <a:tblGrid>
                <a:gridCol w="1171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0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9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13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842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시기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전략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구체 행동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 지표 목표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 자원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42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Y1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 침투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도시락김 1종을 자사몰 + 광주 백화점 1곳에 집중. SNS 광고 강화. 정기구독 출시.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 3억 · 재구매율 35% · NPS 60+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 1인 + 외주 2개 라인 · 정부 청년창업 2천만원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×1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42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Y2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 침투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제품, 같은 시장. 가격 5% 인상 + 재구독 락인. 인스타 콘텐츠 일 1회.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 6억 · 재구매율 42% · </a:t>
                      </a:r>
                      <a:r>
                        <a:rPr lang="en-US" sz="14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정기</a:t>
                      </a:r>
                      <a:b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</a:br>
                      <a:r>
                        <a:rPr lang="en-US" sz="14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구독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1,500명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인력 1명 추가 · </a:t>
                      </a:r>
                      <a:r>
                        <a:rPr lang="en-US" sz="14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광고비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b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</a:br>
                      <a:r>
                        <a:rPr lang="en-US" sz="14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매출의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12%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×1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42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Y3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제품 개발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자사몰 고객에게 김부각·김자반 출시. 라인 확장. 묶음 판매.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 12억 · 신제품 비중 30% ·</a:t>
                      </a:r>
                      <a:b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</a:b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객단가 28k → 38k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R&amp;D 6천만원 + 외주 제조 1곳 추가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×3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42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Y4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 개발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도시락김 일본 라쿠텐 수출. 한국 제품 그대로 + 일본어 패키지. 무역회사 위탁.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매출 비중 15% · 총 매출 18억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수출 인증 1.2천 · </a:t>
                      </a:r>
                      <a:r>
                        <a:rPr lang="en-US" sz="14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일본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b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</a:br>
                      <a:r>
                        <a:rPr lang="en-US" sz="14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파트너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환위험 헤지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×2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42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Y5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다각화</a:t>
                      </a:r>
                      <a:endParaRPr lang="en-US" sz="16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(검토)</a:t>
                      </a:r>
                      <a:endParaRPr lang="en-US" sz="1600" dirty="0"/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완도 어가 체험 펜션 + 카페 신사업 검토. </a:t>
                      </a:r>
                      <a:r>
                        <a:rPr lang="en-US" sz="1400" b="1" dirty="0">
                          <a:solidFill>
                            <a:srgbClr val="C58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신중하게.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자회사 형태.</a:t>
                      </a:r>
                      <a:endParaRPr lang="en-US" sz="1400" dirty="0"/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의사결정만 — Go/No-Go. </a:t>
                      </a:r>
                      <a:r>
                        <a:rPr lang="en-US" sz="14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본업이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b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</a:br>
                      <a:r>
                        <a:rPr lang="en-US" sz="1400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위협받으면</a:t>
                      </a: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No-Go.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별도 자본 5억 + 별도 인력 3명 필요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×9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143000" y="6824385"/>
            <a:ext cx="1619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시퀀싱 원칙 — "한 번에 한 위험만"</a:t>
            </a:r>
            <a:endParaRPr lang="en-US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7421810"/>
            <a:ext cx="79059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1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Y1-Y2는 무조건 시장 침투. 본업의 단위경제(매출-비용 구조)를 안정시킨다. 여기 안 되면 그 어떤 성장도 헛수고.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8177696"/>
            <a:ext cx="8001000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2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제품·시장 둘 중 하나만 새것으로. 두 번째 새것은 첫 번째 성과를 확인한 뒤.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9605018" y="7421810"/>
            <a:ext cx="77157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3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다각화는 "본업이 흔들리지 않을 때만, 별도 자본으로, 별도 의사결정으로." 본업 현금으로 신사업 시작하면 둘 다 망한다.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9605018" y="8177696"/>
            <a:ext cx="77157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4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매년 12월 — Ansoff 매트릭스 다시 그린다. 내년에 어느 칸에 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있을지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왜 그 칸을 선택했는지 1페이지로 정리.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· 가상 사례 · 수치는 학습용 예시값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8022EBA5-67E8-441E-96E3-8E9B4E45EC9E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85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454436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667305"/>
            <a:ext cx="3829507" cy="592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143500" y="2667305"/>
            <a:ext cx="3829507" cy="592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144000" y="2667305"/>
            <a:ext cx="3829507" cy="592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3144500" y="2667305"/>
            <a:ext cx="4000500" cy="59051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43000" y="2667305"/>
            <a:ext cx="3810305" cy="761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143500" y="2667305"/>
            <a:ext cx="3810305" cy="761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9144000" y="2667305"/>
            <a:ext cx="3810305" cy="761695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8 · 의사결정 체크리스트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의사결정 체크리스트 — 다음 칸으로 갈 자격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칸에서 다음 칸으로 이동하기 전 확인할 5가지 게이트. 한 항목이라도 NO면 1년 더 기다린다.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333195" y="2857500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6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 A · Q1 → Q3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06301" y="3130744"/>
            <a:ext cx="3429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시장 침투 → 시장 개발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1333195" y="4058107"/>
            <a:ext cx="34290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333195" y="3619195"/>
            <a:ext cx="3620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기존 시장 점유율이 더 안 오르는가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1333195" y="4501591"/>
            <a:ext cx="34290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1333195" y="4062679"/>
            <a:ext cx="342900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재구매율 ≥ 30%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1333195" y="4944161"/>
            <a:ext cx="34290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1333195" y="4505249"/>
            <a:ext cx="342900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단위경제 양수(매출 &gt; 변동비)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1333195" y="5386730"/>
            <a:ext cx="34290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1333195" y="4947818"/>
            <a:ext cx="342900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신시장 PMF 가설 명확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1440771" y="539130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12개월 자금 여유 확보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5333695" y="2857500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6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 B · Q1 → Q2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5306801" y="3130744"/>
            <a:ext cx="3429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시장 침투 → 제품 개발</a:t>
            </a:r>
            <a:endParaRPr lang="en-US" sz="1900" dirty="0"/>
          </a:p>
        </p:txBody>
      </p:sp>
      <p:sp>
        <p:nvSpPr>
          <p:cNvPr id="30" name="Shape 26"/>
          <p:cNvSpPr/>
          <p:nvPr/>
        </p:nvSpPr>
        <p:spPr>
          <a:xfrm>
            <a:off x="5333695" y="4058107"/>
            <a:ext cx="34290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5333695" y="3619195"/>
            <a:ext cx="342900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기존 고객 인터뷰 30건+ 완료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5333695" y="4501591"/>
            <a:ext cx="34290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5333695" y="4062679"/>
            <a:ext cx="342900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동일 고객의 추가 페인포인트 검증</a:t>
            </a:r>
            <a:endParaRPr lang="en-US" sz="1700" dirty="0"/>
          </a:p>
        </p:txBody>
      </p:sp>
      <p:sp>
        <p:nvSpPr>
          <p:cNvPr id="34" name="Shape 30"/>
          <p:cNvSpPr/>
          <p:nvPr/>
        </p:nvSpPr>
        <p:spPr>
          <a:xfrm>
            <a:off x="5333695" y="4944161"/>
            <a:ext cx="34290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5" name="Text 31"/>
          <p:cNvSpPr txBox="1"/>
          <p:nvPr/>
        </p:nvSpPr>
        <p:spPr>
          <a:xfrm>
            <a:off x="5333695" y="4505249"/>
            <a:ext cx="342900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신제품 R&amp;D 자원 확보</a:t>
            </a:r>
            <a:endParaRPr lang="en-US" sz="1700" dirty="0"/>
          </a:p>
        </p:txBody>
      </p:sp>
      <p:sp>
        <p:nvSpPr>
          <p:cNvPr id="36" name="Shape 32"/>
          <p:cNvSpPr/>
          <p:nvPr/>
        </p:nvSpPr>
        <p:spPr>
          <a:xfrm>
            <a:off x="5333695" y="5386730"/>
            <a:ext cx="34290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7" name="Text 33"/>
          <p:cNvSpPr txBox="1"/>
          <p:nvPr/>
        </p:nvSpPr>
        <p:spPr>
          <a:xfrm>
            <a:off x="5333695" y="4947818"/>
            <a:ext cx="342900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MVP를 30일 내 출시 가능</a:t>
            </a:r>
            <a:endParaRPr lang="en-US" sz="1700" dirty="0"/>
          </a:p>
        </p:txBody>
      </p:sp>
      <p:sp>
        <p:nvSpPr>
          <p:cNvPr id="38" name="Text 34"/>
          <p:cNvSpPr txBox="1"/>
          <p:nvPr/>
        </p:nvSpPr>
        <p:spPr>
          <a:xfrm>
            <a:off x="5441271" y="539130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기존 제품 매출 안정(MoM ±10%)</a:t>
            </a:r>
            <a:endParaRPr lang="en-US" sz="1700" dirty="0"/>
          </a:p>
        </p:txBody>
      </p:sp>
      <p:sp>
        <p:nvSpPr>
          <p:cNvPr id="39" name="Text 35"/>
          <p:cNvSpPr txBox="1"/>
          <p:nvPr/>
        </p:nvSpPr>
        <p:spPr>
          <a:xfrm>
            <a:off x="9334195" y="2857500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62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 C · → Q4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9307301" y="3130744"/>
            <a:ext cx="3429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다각화 게이트 (가장 엄격)</a:t>
            </a:r>
            <a:endParaRPr lang="en-US" sz="1900" dirty="0"/>
          </a:p>
        </p:txBody>
      </p:sp>
      <p:sp>
        <p:nvSpPr>
          <p:cNvPr id="41" name="Shape 37"/>
          <p:cNvSpPr/>
          <p:nvPr/>
        </p:nvSpPr>
        <p:spPr>
          <a:xfrm>
            <a:off x="9334195" y="4058107"/>
            <a:ext cx="34290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2" name="Text 38"/>
          <p:cNvSpPr txBox="1"/>
          <p:nvPr/>
        </p:nvSpPr>
        <p:spPr>
          <a:xfrm>
            <a:off x="9334195" y="3619195"/>
            <a:ext cx="342900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본업이 24개월간 흑자</a:t>
            </a:r>
            <a:endParaRPr lang="en-US" sz="1700" dirty="0"/>
          </a:p>
        </p:txBody>
      </p:sp>
      <p:sp>
        <p:nvSpPr>
          <p:cNvPr id="43" name="Shape 39"/>
          <p:cNvSpPr/>
          <p:nvPr/>
        </p:nvSpPr>
        <p:spPr>
          <a:xfrm>
            <a:off x="9334195" y="4501591"/>
            <a:ext cx="34290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4" name="Text 40"/>
          <p:cNvSpPr txBox="1"/>
          <p:nvPr/>
        </p:nvSpPr>
        <p:spPr>
          <a:xfrm>
            <a:off x="9334195" y="4062679"/>
            <a:ext cx="342900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별도 자본(본업 현금 X)</a:t>
            </a:r>
            <a:endParaRPr lang="en-US" sz="1700" dirty="0"/>
          </a:p>
        </p:txBody>
      </p:sp>
      <p:sp>
        <p:nvSpPr>
          <p:cNvPr id="45" name="Shape 41"/>
          <p:cNvSpPr/>
          <p:nvPr/>
        </p:nvSpPr>
        <p:spPr>
          <a:xfrm>
            <a:off x="9334195" y="4944161"/>
            <a:ext cx="34290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6" name="Text 42"/>
          <p:cNvSpPr txBox="1"/>
          <p:nvPr/>
        </p:nvSpPr>
        <p:spPr>
          <a:xfrm>
            <a:off x="9334195" y="4505249"/>
            <a:ext cx="342900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별도 의사결정자(대표 X)</a:t>
            </a:r>
            <a:endParaRPr lang="en-US" sz="1700" dirty="0"/>
          </a:p>
        </p:txBody>
      </p:sp>
      <p:sp>
        <p:nvSpPr>
          <p:cNvPr id="47" name="Shape 43"/>
          <p:cNvSpPr/>
          <p:nvPr/>
        </p:nvSpPr>
        <p:spPr>
          <a:xfrm>
            <a:off x="9334195" y="5386730"/>
            <a:ext cx="34290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8" name="Text 44"/>
          <p:cNvSpPr txBox="1"/>
          <p:nvPr/>
        </p:nvSpPr>
        <p:spPr>
          <a:xfrm>
            <a:off x="9334195" y="4947818"/>
            <a:ext cx="342900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VRIO 자원 1개 이상 이전 가능</a:t>
            </a:r>
            <a:endParaRPr lang="en-US" sz="1700" dirty="0"/>
          </a:p>
        </p:txBody>
      </p:sp>
      <p:sp>
        <p:nvSpPr>
          <p:cNvPr id="49" name="Text 45"/>
          <p:cNvSpPr txBox="1"/>
          <p:nvPr/>
        </p:nvSpPr>
        <p:spPr>
          <a:xfrm>
            <a:off x="9468665" y="539130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18개월 내 Go/No-Go 결정 라인</a:t>
            </a:r>
            <a:endParaRPr lang="en-US" sz="1700" dirty="0"/>
          </a:p>
        </p:txBody>
      </p:sp>
      <p:sp>
        <p:nvSpPr>
          <p:cNvPr id="50" name="Text 46"/>
          <p:cNvSpPr txBox="1"/>
          <p:nvPr/>
        </p:nvSpPr>
        <p:spPr>
          <a:xfrm>
            <a:off x="13334695" y="2952598"/>
            <a:ext cx="3620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62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ROLLBACK · 후퇴 신호</a:t>
            </a:r>
            <a:endParaRPr lang="en-US" sz="1500" dirty="0"/>
          </a:p>
        </p:txBody>
      </p:sp>
      <p:sp>
        <p:nvSpPr>
          <p:cNvPr id="51" name="Text 47"/>
          <p:cNvSpPr txBox="1"/>
          <p:nvPr/>
        </p:nvSpPr>
        <p:spPr>
          <a:xfrm>
            <a:off x="13469165" y="3225842"/>
            <a:ext cx="3620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"되돌아가야 할 때"</a:t>
            </a:r>
            <a:endParaRPr lang="en-US" sz="1900" dirty="0"/>
          </a:p>
        </p:txBody>
      </p:sp>
      <p:sp>
        <p:nvSpPr>
          <p:cNvPr id="52" name="Shape 48"/>
          <p:cNvSpPr/>
          <p:nvPr/>
        </p:nvSpPr>
        <p:spPr>
          <a:xfrm>
            <a:off x="13334695" y="4154119"/>
            <a:ext cx="3619195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53" name="Text 49"/>
          <p:cNvSpPr txBox="1"/>
          <p:nvPr/>
        </p:nvSpPr>
        <p:spPr>
          <a:xfrm>
            <a:off x="13334695" y="3715207"/>
            <a:ext cx="3620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신시장 진입 6개월 후 매출 0</a:t>
            </a:r>
            <a:endParaRPr lang="en-US" sz="1700" dirty="0"/>
          </a:p>
        </p:txBody>
      </p:sp>
      <p:sp>
        <p:nvSpPr>
          <p:cNvPr id="54" name="Shape 50"/>
          <p:cNvSpPr/>
          <p:nvPr/>
        </p:nvSpPr>
        <p:spPr>
          <a:xfrm>
            <a:off x="13334695" y="4596689"/>
            <a:ext cx="3619195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55" name="Text 51"/>
          <p:cNvSpPr txBox="1"/>
          <p:nvPr/>
        </p:nvSpPr>
        <p:spPr>
          <a:xfrm>
            <a:off x="13334695" y="4157777"/>
            <a:ext cx="3620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신제품 출시 후 본업 매출 -20%</a:t>
            </a:r>
            <a:endParaRPr lang="en-US" sz="1700" dirty="0"/>
          </a:p>
        </p:txBody>
      </p:sp>
      <p:sp>
        <p:nvSpPr>
          <p:cNvPr id="56" name="Shape 52"/>
          <p:cNvSpPr/>
          <p:nvPr/>
        </p:nvSpPr>
        <p:spPr>
          <a:xfrm>
            <a:off x="13334695" y="5039258"/>
            <a:ext cx="3619195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57" name="Text 53"/>
          <p:cNvSpPr txBox="1"/>
          <p:nvPr/>
        </p:nvSpPr>
        <p:spPr>
          <a:xfrm>
            <a:off x="13334695" y="4600346"/>
            <a:ext cx="3620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다각화 자금이 본업으로 전이</a:t>
            </a:r>
            <a:endParaRPr lang="en-US" sz="1700" dirty="0"/>
          </a:p>
        </p:txBody>
      </p:sp>
      <p:sp>
        <p:nvSpPr>
          <p:cNvPr id="58" name="Shape 54"/>
          <p:cNvSpPr/>
          <p:nvPr/>
        </p:nvSpPr>
        <p:spPr>
          <a:xfrm>
            <a:off x="13334695" y="5482742"/>
            <a:ext cx="3619195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59" name="Text 55"/>
          <p:cNvSpPr txBox="1"/>
          <p:nvPr/>
        </p:nvSpPr>
        <p:spPr>
          <a:xfrm>
            <a:off x="13334695" y="5043830"/>
            <a:ext cx="36201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대표 시간의 40% 이상 신사업에</a:t>
            </a:r>
            <a:endParaRPr lang="en-US" sz="1700" dirty="0"/>
          </a:p>
        </p:txBody>
      </p:sp>
      <p:sp>
        <p:nvSpPr>
          <p:cNvPr id="60" name="Text 56"/>
          <p:cNvSpPr txBox="1"/>
          <p:nvPr/>
        </p:nvSpPr>
        <p:spPr>
          <a:xfrm>
            <a:off x="13334695" y="5486400"/>
            <a:ext cx="3620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본업 NPS 10pt 이상 하락</a:t>
            </a:r>
            <a:endParaRPr lang="en-US" sz="1700" dirty="0"/>
          </a:p>
        </p:txBody>
      </p:sp>
      <p:sp>
        <p:nvSpPr>
          <p:cNvPr id="61" name="Shape 57"/>
          <p:cNvSpPr/>
          <p:nvPr/>
        </p:nvSpPr>
        <p:spPr>
          <a:xfrm>
            <a:off x="13334695" y="6148426"/>
            <a:ext cx="3619195" cy="666598"/>
          </a:xfrm>
          <a:prstGeom prst="rect">
            <a:avLst/>
          </a:prstGeom>
          <a:solidFill>
            <a:srgbClr val="C58A2E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2" name="Text 58"/>
          <p:cNvSpPr txBox="1"/>
          <p:nvPr/>
        </p:nvSpPr>
        <p:spPr>
          <a:xfrm>
            <a:off x="13468198" y="6281928"/>
            <a:ext cx="33531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하나라도 충족되면 </a:t>
            </a: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본업으로 후퇴</a:t>
            </a:r>
            <a:r>
              <a:rPr lang="en-US" sz="16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자존심은 의사결정에서 분리한다.</a:t>
            </a:r>
            <a:endParaRPr lang="en-US" sz="1600" dirty="0"/>
          </a:p>
        </p:txBody>
      </p:sp>
      <p:sp>
        <p:nvSpPr>
          <p:cNvPr id="63" name="Text 59"/>
          <p:cNvSpPr txBox="1"/>
          <p:nvPr/>
        </p:nvSpPr>
        <p:spPr>
          <a:xfrm>
            <a:off x="1143000" y="8762695"/>
            <a:ext cx="1619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사용법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분기마다 1회. 5분이면 끝난다. 게이트 통과 못한 항목이 다음 분기 액션 아이템.</a:t>
            </a:r>
            <a:endParaRPr lang="en-US" sz="1800" dirty="0"/>
          </a:p>
        </p:txBody>
      </p:sp>
      <p:sp>
        <p:nvSpPr>
          <p:cNvPr id="64" name="Text 60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 · Ansoff (1965) Corporate Strategy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81E005F9-C66A-44FA-9125-2381758619E2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86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6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9596364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4195" y="6476695"/>
            <a:ext cx="7810805" cy="2286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8 · WORKSHOP · 30분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워크숍 — 내 사업의 3년 Ansoff 로드맵 (30분)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190902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진행 순서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1143000" y="3333902"/>
            <a:ext cx="78108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1143000" y="2762402"/>
            <a:ext cx="7810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00:00 – 00:04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Now 칸 확정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지금 내 사업은 Q1/Q2/Q3 중 어디?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43000" y="3910889"/>
            <a:ext cx="78108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1143000" y="3339389"/>
            <a:ext cx="7810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00:04 – 00:10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Y1 계획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시장 침투 액션 5개 적기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143000" y="4487875"/>
            <a:ext cx="78108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1143000" y="3916375"/>
            <a:ext cx="7810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00:10 – 00:18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Y2 시나리오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Q2 vs Q3 비교, 하나 선택, 이유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143000" y="5064862"/>
            <a:ext cx="78108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1143000" y="4493362"/>
            <a:ext cx="7810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00:18 – 00:22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Y3 가설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다음 칸 후보 + Gate 체크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143000" y="5642762"/>
            <a:ext cx="7810805" cy="9144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143000" y="5071262"/>
            <a:ext cx="7810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00:22 – 00:28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짝꿍 발표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2분 발표 · 1개 질문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304364" y="5648249"/>
            <a:ext cx="7810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00:28 – 00:30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 AI 활용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ChatGPT로 위험·기회 보완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334195" y="2190902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워크북 — 3년 로드맵</a:t>
            </a:r>
            <a:endParaRPr lang="en-US" sz="2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183120"/>
              </p:ext>
            </p:extLst>
          </p:nvPr>
        </p:nvGraphicFramePr>
        <p:xfrm>
          <a:off x="9334195" y="2762402"/>
          <a:ext cx="7800747" cy="2674870"/>
        </p:xfrm>
        <a:graphic>
          <a:graphicData uri="http://schemas.openxmlformats.org/drawingml/2006/table">
            <a:tbl>
              <a:tblPr/>
              <a:tblGrid>
                <a:gridCol w="1076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93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시기</a:t>
                      </a: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Ansoff</a:t>
                      </a: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구체 행동 (3줄)</a:t>
                      </a: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위험·자금</a:t>
                      </a: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93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Now</a:t>
                      </a: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93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Y1</a:t>
                      </a: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93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Y2</a:t>
                      </a: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93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Y3</a:t>
                      </a: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6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19"/>
          <p:cNvSpPr txBox="1"/>
          <p:nvPr/>
        </p:nvSpPr>
        <p:spPr>
          <a:xfrm>
            <a:off x="9715500" y="6762902"/>
            <a:ext cx="7049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PROMPT · ChatGPT 보완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9715500" y="7095744"/>
            <a:ext cx="7227794" cy="1486814"/>
          </a:xfrm>
          <a:prstGeom prst="rect">
            <a:avLst/>
          </a:prstGeom>
          <a:solidFill>
            <a:srgbClr val="F4EFE6">
              <a:alpha val="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"나는 [업종/지역] 창업자다. 현재 [Now 칸]에 있고 Y2에 [선택한 칸]으로 이동하려 한다. 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1) 이 이동의 가장 큰 학습 위험 3가지를 우선순위대로 알려줘. 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2) 위험을 줄일 90일 액션 5가지를 제안해줘. 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3) 후퇴 신호 3가지를 정의해줘." 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1143000" y="8382305"/>
            <a:ext cx="7810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루브릭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4행 채움(2점) · Y2 선택 이유(2점) · Y3 Gate 조건 적시(2점) ·</a:t>
            </a:r>
            <a:b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위험·자금 추정(2점) · 발표(2점)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WORKSHOP · 30 MIN · INDIVIDUAL → PAIR → AI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ADCC2F58-33C0-45BD-AE79-59E9D8ADFB96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87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5362892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1143000" y="1333195"/>
            <a:ext cx="11430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600200"/>
            <a:ext cx="9525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324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BREAK · 10 MIN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857500"/>
            <a:ext cx="16193110" cy="2714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0" i="1" kern="0" spc="-450" dirty="0">
                <a:solidFill>
                  <a:srgbClr val="0E1B2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10:00</a:t>
            </a:r>
            <a:endParaRPr lang="en-US" sz="22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6476695"/>
            <a:ext cx="12382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400" kern="0" spc="-16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잠시 쉬어갑시다.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7810805"/>
            <a:ext cx="12382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단원은 </a:t>
            </a:r>
            <a:r>
              <a:rPr lang="en-US" sz="1600" b="1" dirty="0">
                <a:solidFill>
                  <a:srgbClr val="C58A2E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 프레임워크 통합 — 캡스톤 프로젝트</a:t>
            </a:r>
            <a:r>
              <a:rPr lang="en-US" sz="1600" dirty="0">
                <a:solidFill>
                  <a:srgbClr val="0E1B2C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내 사업을 처음부터 끝까지 한 번에 그려봅시다.</a:t>
            </a:r>
            <a:endParaRPr lang="en-US" sz="16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DF4BC9F5-38A2-4BED-A650-8805865E7257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88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65895553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715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t="-420" b="-420"/>
          <a:stretch/>
        </p:blipFill>
        <p:spPr>
          <a:xfrm>
            <a:off x="857707" y="1524305"/>
            <a:ext cx="761695" cy="384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79039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28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09 · INTEGRATE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7707" y="2286000"/>
            <a:ext cx="4572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0" i="1" kern="0" spc="-3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09.</a:t>
            </a:r>
            <a:endParaRPr lang="en-US" sz="150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4953305"/>
            <a:ext cx="4572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900" kern="0" spc="-117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통합 · 캡스톤</a:t>
            </a:r>
            <a:endParaRPr lang="en-US" sz="39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5680253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frameworks · 1 business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6858000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 프레임워크를 한 사업에 처음부터 끝까지 적용. AI 파이프라인으로 1주에 완성하는 법.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76695" y="1524305"/>
            <a:ext cx="10478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9 · CAPSTONE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76695" y="1904695"/>
            <a:ext cx="10478110" cy="1314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kern="0" spc="-13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"흩어진 8개를  </a:t>
            </a:r>
            <a:r>
              <a:rPr lang="en-US" sz="4500" kern="0" spc="-135" dirty="0" err="1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하나의</a:t>
            </a:r>
            <a:r>
              <a:rPr lang="en-US" sz="4500" kern="0" spc="-13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의사결정으로."</a:t>
            </a:r>
            <a:endParaRPr lang="en-US" sz="4500" dirty="0"/>
          </a:p>
        </p:txBody>
      </p:sp>
      <p:sp>
        <p:nvSpPr>
          <p:cNvPr id="13" name="Text 10"/>
          <p:cNvSpPr txBox="1"/>
          <p:nvPr/>
        </p:nvSpPr>
        <p:spPr>
          <a:xfrm>
            <a:off x="6476695" y="4762195"/>
            <a:ext cx="10953598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프레임워크는 도구일 뿐 — 8개를 다 외워도 의사결정으로 연결 안 되면 의미 없다. 이 단원은 </a:t>
            </a: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"언제 무엇을 꺼내 쓸지"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핵심.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76695" y="7592263"/>
            <a:ext cx="1047719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476695" y="7239305"/>
            <a:ext cx="104781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76695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6476695" y="8261281"/>
            <a:ext cx="32964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 프레임워크 적용 순서를 설명한다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0071202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10071202" y="8153705"/>
            <a:ext cx="32964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파이프라인으로 1주 안에 사업 보고서를 완성한다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3664794" y="7791602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13664794" y="8261281"/>
            <a:ext cx="32964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90분 캡스톤 발표로 강의를 마무리한다</a:t>
            </a:r>
            <a:endParaRPr lang="en-US" sz="18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4CE97C40-6590-4DD1-8E43-5AFCA82E9FC5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89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1868095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667305"/>
            <a:ext cx="3905402" cy="476402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238598" y="2667305"/>
            <a:ext cx="3905402" cy="476402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334195" y="2667305"/>
            <a:ext cx="3905402" cy="476402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3430707" y="2667305"/>
            <a:ext cx="3715207" cy="476402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3333902"/>
            <a:ext cx="3924605" cy="5067605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238598" y="3333902"/>
            <a:ext cx="3924605" cy="2447849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238598" y="5952744"/>
            <a:ext cx="3924605" cy="2447849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334195" y="3333902"/>
            <a:ext cx="3924605" cy="1209751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334195" y="4619549"/>
            <a:ext cx="3924605" cy="1209751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334195" y="5905195"/>
            <a:ext cx="3924605" cy="1209751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334195" y="7191756"/>
            <a:ext cx="3924605" cy="1209751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3430707" y="3333902"/>
            <a:ext cx="3715207" cy="5048402"/>
          </a:xfrm>
          <a:prstGeom prst="rect">
            <a:avLst/>
          </a:prstGeom>
          <a:solidFill>
            <a:srgbClr val="C58A2E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9 · 8개 프레임워크 통합지도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장으로 보는 8개 — 거시 · 산업 · 기업 · 성장</a:t>
            </a:r>
            <a:endParaRPr lang="en-US" sz="34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왼쪽에서 오른쪽으로 — 환경 → 내부 진단 → 모델 설계 → 성장 결정. 각 단계에서 한두 개 프레임워크만 꺼낸다.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1333195" y="2720125"/>
            <a:ext cx="3620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189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01 · MACRO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333195" y="2910320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거시 환경 — "어디서 싸울지"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5429707" y="2720125"/>
            <a:ext cx="3620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189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02 · INDUSTRY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5429707" y="2910320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— "이 시장이 매력적인가"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9525305" y="2720125"/>
            <a:ext cx="3620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189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03 · FIRM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9525305" y="2910320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회사 — "어떻게 싸울지"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13620902" y="2720125"/>
            <a:ext cx="3429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189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04 · GROW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3620902" y="2910320"/>
            <a:ext cx="3429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— "어디로 갈지"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1333195" y="3524098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FRAMEWORK 01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1333195" y="3724351"/>
            <a:ext cx="3620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PESTEL</a:t>
            </a:r>
            <a:endParaRPr lang="en-US" sz="2200" dirty="0"/>
          </a:p>
        </p:txBody>
      </p:sp>
      <p:sp>
        <p:nvSpPr>
          <p:cNvPr id="32" name="Text 28"/>
          <p:cNvSpPr txBox="1"/>
          <p:nvPr/>
        </p:nvSpPr>
        <p:spPr>
          <a:xfrm>
            <a:off x="1333195" y="4515307"/>
            <a:ext cx="362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정치 · 경제 · 사회 · 기술 · 환경 · 법규 6변수로 향후 2-3년의 거시 환경을 스캔.</a:t>
            </a:r>
            <a:endParaRPr lang="en-US" sz="1700" dirty="0"/>
          </a:p>
        </p:txBody>
      </p:sp>
      <p:sp>
        <p:nvSpPr>
          <p:cNvPr id="33" name="Text 29"/>
          <p:cNvSpPr txBox="1"/>
          <p:nvPr/>
        </p:nvSpPr>
        <p:spPr>
          <a:xfrm>
            <a:off x="1333195" y="5143500"/>
            <a:ext cx="3620110" cy="428854"/>
          </a:xfrm>
          <a:prstGeom prst="rect">
            <a:avLst/>
          </a:prstGeom>
          <a:solidFill>
            <a:srgbClr val="F4EF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▸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기회 3개 + 위협 3개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1333195" y="6257131"/>
            <a:ext cx="3620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사업의 외부 트렌드는 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우호적이다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적대적이다"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333195" y="4181551"/>
            <a:ext cx="3620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Aguilar 1967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1333195" y="5849417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OUTCOME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5429707" y="3524098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FRAMEWORK 02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5429707" y="3724351"/>
            <a:ext cx="3620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Porter 5 Forces</a:t>
            </a:r>
            <a:endParaRPr lang="en-US" sz="2100" dirty="0"/>
          </a:p>
        </p:txBody>
      </p:sp>
      <p:sp>
        <p:nvSpPr>
          <p:cNvPr id="39" name="Text 35"/>
          <p:cNvSpPr txBox="1"/>
          <p:nvPr/>
        </p:nvSpPr>
        <p:spPr>
          <a:xfrm>
            <a:off x="5429707" y="4478839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5가지 힘으로 산업 매력도 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각 힘 1-5점.</a:t>
            </a:r>
            <a:endParaRPr lang="en-US" sz="1600" dirty="0"/>
          </a:p>
        </p:txBody>
      </p:sp>
      <p:sp>
        <p:nvSpPr>
          <p:cNvPr id="40" name="Text 36"/>
          <p:cNvSpPr txBox="1"/>
          <p:nvPr/>
        </p:nvSpPr>
        <p:spPr>
          <a:xfrm>
            <a:off x="5429707" y="4940018"/>
            <a:ext cx="3620110" cy="314554"/>
          </a:xfrm>
          <a:prstGeom prst="rect">
            <a:avLst/>
          </a:prstGeom>
          <a:solidFill>
            <a:srgbClr val="F4EF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76200" rIns="114300" bIns="762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산업 평균 점수 + 핵심 위협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5429707" y="4089358"/>
            <a:ext cx="3620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Porter 1979</a:t>
            </a:r>
            <a:endParaRPr lang="en-US" sz="1500" dirty="0"/>
          </a:p>
        </p:txBody>
      </p:sp>
      <p:sp>
        <p:nvSpPr>
          <p:cNvPr id="42" name="Text 38"/>
          <p:cNvSpPr txBox="1"/>
          <p:nvPr/>
        </p:nvSpPr>
        <p:spPr>
          <a:xfrm>
            <a:off x="5429707" y="6143854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FRAMEWORK 03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5429707" y="6344107"/>
            <a:ext cx="3620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BCG Matrix</a:t>
            </a:r>
            <a:endParaRPr lang="en-US" sz="2100" dirty="0"/>
          </a:p>
        </p:txBody>
      </p:sp>
      <p:sp>
        <p:nvSpPr>
          <p:cNvPr id="44" name="Text 40"/>
          <p:cNvSpPr txBox="1"/>
          <p:nvPr/>
        </p:nvSpPr>
        <p:spPr>
          <a:xfrm>
            <a:off x="5429707" y="7125489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포트폴리오를 Star/Cash/?/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Dog로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600" dirty="0"/>
          </a:p>
        </p:txBody>
      </p:sp>
      <p:sp>
        <p:nvSpPr>
          <p:cNvPr id="45" name="Text 41"/>
          <p:cNvSpPr txBox="1"/>
          <p:nvPr/>
        </p:nvSpPr>
        <p:spPr>
          <a:xfrm>
            <a:off x="5429707" y="7599201"/>
            <a:ext cx="3620110" cy="314554"/>
          </a:xfrm>
          <a:prstGeom prst="rect">
            <a:avLst/>
          </a:prstGeom>
          <a:solidFill>
            <a:srgbClr val="F4EF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76200" rIns="114300" bIns="762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자원 배분 우선순위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5429707" y="6762902"/>
            <a:ext cx="3620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Henderson 1970</a:t>
            </a:r>
            <a:endParaRPr lang="en-US" sz="1500" dirty="0"/>
          </a:p>
        </p:txBody>
      </p:sp>
      <p:sp>
        <p:nvSpPr>
          <p:cNvPr id="47" name="Text 43"/>
          <p:cNvSpPr txBox="1"/>
          <p:nvPr/>
        </p:nvSpPr>
        <p:spPr>
          <a:xfrm>
            <a:off x="9525305" y="3504895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FW 04 · SWOT/TOWS</a:t>
            </a:r>
            <a:endParaRPr lang="en-US" sz="1500" dirty="0"/>
          </a:p>
        </p:txBody>
      </p:sp>
      <p:sp>
        <p:nvSpPr>
          <p:cNvPr id="48" name="Text 44"/>
          <p:cNvSpPr txBox="1"/>
          <p:nvPr/>
        </p:nvSpPr>
        <p:spPr>
          <a:xfrm>
            <a:off x="9525305" y="3726287"/>
            <a:ext cx="3620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강·약·기·위 + 교차 전략</a:t>
            </a:r>
            <a:endParaRPr lang="en-US" sz="1900" dirty="0"/>
          </a:p>
        </p:txBody>
      </p:sp>
      <p:sp>
        <p:nvSpPr>
          <p:cNvPr id="49" name="Text 45"/>
          <p:cNvSpPr txBox="1"/>
          <p:nvPr/>
        </p:nvSpPr>
        <p:spPr>
          <a:xfrm>
            <a:off x="9525305" y="4067735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SRI 1960s · Weihrich 1982</a:t>
            </a:r>
            <a:endParaRPr lang="en-US" sz="1500" dirty="0"/>
          </a:p>
        </p:txBody>
      </p:sp>
      <p:sp>
        <p:nvSpPr>
          <p:cNvPr id="50" name="Text 46"/>
          <p:cNvSpPr txBox="1"/>
          <p:nvPr/>
        </p:nvSpPr>
        <p:spPr>
          <a:xfrm>
            <a:off x="9525305" y="4791456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FW 05 · BMC</a:t>
            </a:r>
            <a:endParaRPr lang="en-US" sz="1500" dirty="0"/>
          </a:p>
        </p:txBody>
      </p:sp>
      <p:sp>
        <p:nvSpPr>
          <p:cNvPr id="51" name="Text 47"/>
          <p:cNvSpPr txBox="1"/>
          <p:nvPr/>
        </p:nvSpPr>
        <p:spPr>
          <a:xfrm>
            <a:off x="9525305" y="5012848"/>
            <a:ext cx="3620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9블록 비즈니스 모델</a:t>
            </a:r>
            <a:endParaRPr lang="en-US" sz="1900" dirty="0"/>
          </a:p>
        </p:txBody>
      </p:sp>
      <p:sp>
        <p:nvSpPr>
          <p:cNvPr id="52" name="Text 48"/>
          <p:cNvSpPr txBox="1"/>
          <p:nvPr/>
        </p:nvSpPr>
        <p:spPr>
          <a:xfrm>
            <a:off x="9525305" y="5326487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Osterwalder 2010</a:t>
            </a:r>
            <a:endParaRPr lang="en-US" sz="1500" dirty="0"/>
          </a:p>
        </p:txBody>
      </p:sp>
      <p:sp>
        <p:nvSpPr>
          <p:cNvPr id="53" name="Text 49"/>
          <p:cNvSpPr txBox="1"/>
          <p:nvPr/>
        </p:nvSpPr>
        <p:spPr>
          <a:xfrm>
            <a:off x="9525305" y="6077102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FW 06 · VRIO</a:t>
            </a:r>
            <a:endParaRPr lang="en-US" sz="1500" dirty="0"/>
          </a:p>
        </p:txBody>
      </p:sp>
      <p:sp>
        <p:nvSpPr>
          <p:cNvPr id="54" name="Text 50"/>
          <p:cNvSpPr txBox="1"/>
          <p:nvPr/>
        </p:nvSpPr>
        <p:spPr>
          <a:xfrm>
            <a:off x="9525305" y="6258154"/>
            <a:ext cx="3620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자원 4단계 깔때기</a:t>
            </a:r>
            <a:endParaRPr lang="en-US" sz="1900" dirty="0"/>
          </a:p>
        </p:txBody>
      </p:sp>
      <p:sp>
        <p:nvSpPr>
          <p:cNvPr id="55" name="Text 51"/>
          <p:cNvSpPr txBox="1"/>
          <p:nvPr/>
        </p:nvSpPr>
        <p:spPr>
          <a:xfrm>
            <a:off x="9525305" y="6572707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Barney 1991</a:t>
            </a:r>
            <a:endParaRPr lang="en-US" sz="1500" dirty="0"/>
          </a:p>
        </p:txBody>
      </p:sp>
      <p:sp>
        <p:nvSpPr>
          <p:cNvPr id="56" name="Text 52"/>
          <p:cNvSpPr txBox="1"/>
          <p:nvPr/>
        </p:nvSpPr>
        <p:spPr>
          <a:xfrm>
            <a:off x="9525305" y="7362749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FW 07 · Value Chain</a:t>
            </a:r>
            <a:endParaRPr lang="en-US" sz="1500" dirty="0"/>
          </a:p>
        </p:txBody>
      </p:sp>
      <p:sp>
        <p:nvSpPr>
          <p:cNvPr id="57" name="Text 53"/>
          <p:cNvSpPr txBox="1"/>
          <p:nvPr/>
        </p:nvSpPr>
        <p:spPr>
          <a:xfrm>
            <a:off x="9525305" y="7543800"/>
            <a:ext cx="3620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45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9개 활동 분해</a:t>
            </a:r>
            <a:endParaRPr lang="en-US" sz="1900" dirty="0"/>
          </a:p>
        </p:txBody>
      </p:sp>
      <p:sp>
        <p:nvSpPr>
          <p:cNvPr id="58" name="Text 54"/>
          <p:cNvSpPr txBox="1"/>
          <p:nvPr/>
        </p:nvSpPr>
        <p:spPr>
          <a:xfrm>
            <a:off x="9525305" y="7858354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Porter 1985</a:t>
            </a:r>
            <a:endParaRPr lang="en-US" sz="1500" dirty="0"/>
          </a:p>
        </p:txBody>
      </p:sp>
      <p:sp>
        <p:nvSpPr>
          <p:cNvPr id="59" name="Text 55"/>
          <p:cNvSpPr txBox="1"/>
          <p:nvPr/>
        </p:nvSpPr>
        <p:spPr>
          <a:xfrm>
            <a:off x="13620902" y="3524098"/>
            <a:ext cx="3429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FRAMEWORK 08</a:t>
            </a:r>
            <a:endParaRPr lang="en-US" sz="1500" dirty="0"/>
          </a:p>
        </p:txBody>
      </p:sp>
      <p:sp>
        <p:nvSpPr>
          <p:cNvPr id="60" name="Text 56"/>
          <p:cNvSpPr txBox="1"/>
          <p:nvPr/>
        </p:nvSpPr>
        <p:spPr>
          <a:xfrm>
            <a:off x="13620902" y="3724351"/>
            <a:ext cx="3429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kern="0" spc="-67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Ansoff Matrix</a:t>
            </a:r>
            <a:endParaRPr lang="en-US" sz="2200" dirty="0"/>
          </a:p>
        </p:txBody>
      </p:sp>
      <p:sp>
        <p:nvSpPr>
          <p:cNvPr id="61" name="Text 57"/>
          <p:cNvSpPr txBox="1"/>
          <p:nvPr/>
        </p:nvSpPr>
        <p:spPr>
          <a:xfrm>
            <a:off x="13620902" y="4555648"/>
            <a:ext cx="3817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× 시장 2×2 = 4가지 성장 </a:t>
            </a:r>
            <a:r>
              <a:rPr lang="en-US" sz="17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</a:t>
            </a: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위험 1·2·3·9.</a:t>
            </a:r>
            <a:endParaRPr lang="en-US" sz="1700" dirty="0"/>
          </a:p>
        </p:txBody>
      </p:sp>
      <p:sp>
        <p:nvSpPr>
          <p:cNvPr id="62" name="Text 58"/>
          <p:cNvSpPr txBox="1"/>
          <p:nvPr/>
        </p:nvSpPr>
        <p:spPr>
          <a:xfrm>
            <a:off x="13620902" y="5197287"/>
            <a:ext cx="3429000" cy="428854"/>
          </a:xfrm>
          <a:prstGeom prst="rect">
            <a:avLst/>
          </a:prstGeom>
          <a:solidFill>
            <a:srgbClr val="0E1B2C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▸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Y1 · Y2 · Y3 어느 칸?</a:t>
            </a:r>
            <a:endParaRPr lang="en-US" sz="1500" dirty="0"/>
          </a:p>
        </p:txBody>
      </p:sp>
      <p:sp>
        <p:nvSpPr>
          <p:cNvPr id="63" name="Text 59"/>
          <p:cNvSpPr txBox="1"/>
          <p:nvPr/>
        </p:nvSpPr>
        <p:spPr>
          <a:xfrm>
            <a:off x="13620902" y="6055425"/>
            <a:ext cx="3429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"내년 12월까지 우리는 [Q?] 칸에 있고, 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[구체 KPI]를 달성한다."</a:t>
            </a:r>
            <a:endParaRPr lang="en-US" sz="1600" dirty="0"/>
          </a:p>
        </p:txBody>
      </p:sp>
      <p:sp>
        <p:nvSpPr>
          <p:cNvPr id="64" name="Text 60"/>
          <p:cNvSpPr txBox="1"/>
          <p:nvPr/>
        </p:nvSpPr>
        <p:spPr>
          <a:xfrm>
            <a:off x="13620902" y="4181551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Ansoff 1957</a:t>
            </a:r>
            <a:endParaRPr lang="en-US" sz="1500" dirty="0"/>
          </a:p>
        </p:txBody>
      </p:sp>
      <p:sp>
        <p:nvSpPr>
          <p:cNvPr id="65" name="Text 61"/>
          <p:cNvSpPr txBox="1"/>
          <p:nvPr/>
        </p:nvSpPr>
        <p:spPr>
          <a:xfrm>
            <a:off x="13620902" y="5741840"/>
            <a:ext cx="3429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OUTCOME</a:t>
            </a:r>
            <a:endParaRPr lang="en-US" sz="1500" dirty="0"/>
          </a:p>
        </p:txBody>
      </p:sp>
      <p:sp>
        <p:nvSpPr>
          <p:cNvPr id="66" name="Text 62"/>
          <p:cNvSpPr txBox="1"/>
          <p:nvPr/>
        </p:nvSpPr>
        <p:spPr>
          <a:xfrm>
            <a:off x="1143000" y="8667598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사용법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8개를 다 쓰지 않는다. 사업 단계에 따라 4-5개만 선택. 다음 슬라이드의 "언제 무엇을 쓸지" 결정표 참고.</a:t>
            </a:r>
            <a:endParaRPr lang="en-US" sz="1800" dirty="0"/>
          </a:p>
        </p:txBody>
      </p:sp>
      <p:sp>
        <p:nvSpPr>
          <p:cNvPr id="67" name="Text 63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INTEGRATION · MACRO → INDUSTRY → FIRM → GROWTH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E26A4CD2-5545-45D3-BC2A-367D67C8F391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90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6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151398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4195" y="7427563"/>
            <a:ext cx="7810805" cy="1904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9 · 사용 결정 매트릭스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언제 무엇을 쓸지 — 8개 × 5단계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단계마다 필요한 프레임워크가 다르다. </a:t>
            </a:r>
            <a:r>
              <a:rPr lang="en-US" sz="1900" b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필수 · </a:t>
            </a:r>
            <a:r>
              <a:rPr lang="en-US" sz="1900" b="1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선택. 다 쓰려 하지 마라.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90200"/>
              </p:ext>
            </p:extLst>
          </p:nvPr>
        </p:nvGraphicFramePr>
        <p:xfrm>
          <a:off x="1143000" y="2667305"/>
          <a:ext cx="15992857" cy="4558121"/>
        </p:xfrm>
        <a:graphic>
          <a:graphicData uri="http://schemas.openxmlformats.org/drawingml/2006/table">
            <a:tbl>
              <a:tblPr/>
              <a:tblGrid>
                <a:gridCol w="1800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6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9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51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3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34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62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118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670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9222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PESTEL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5Forces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BCG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SWOT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TOWS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BMC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VRIO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VC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Ansoff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 단계의 핵심 질문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22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아이디어</a:t>
                      </a:r>
                      <a:endParaRPr lang="en-US" sz="16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검증</a:t>
                      </a:r>
                      <a:endParaRPr lang="en-US" sz="16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 시장이 진짜 매력적인가? PMF가 있는가?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22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 모델</a:t>
                      </a:r>
                      <a:endParaRPr lang="en-US" sz="16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설계</a:t>
                      </a:r>
                      <a:endParaRPr lang="en-US" sz="16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9블록이 일관되는가? 우리만의 자원이 있는가?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22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투자유치</a:t>
                      </a:r>
                      <a:endParaRPr lang="en-US" sz="16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(IR)</a:t>
                      </a:r>
                      <a:endParaRPr lang="en-US" sz="16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왜 지금? 왜 우리? 어떻게 키울 것인가?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22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연간</a:t>
                      </a:r>
                      <a:endParaRPr lang="en-US" sz="16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전략 계획</a:t>
                      </a:r>
                      <a:endParaRPr lang="en-US" sz="16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내년 어디로? 자원을 어떻게 배분?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22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신사업</a:t>
                      </a:r>
                      <a:endParaRPr lang="en-US" sz="16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의사결정</a:t>
                      </a:r>
                      <a:endParaRPr lang="en-US" sz="16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D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 신사업이 본업을 위협하지 않는가?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7427563"/>
            <a:ext cx="79059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예비 창업자의 첫 한 달 — 최소 4개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7893907"/>
            <a:ext cx="79059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검증 단계는 </a:t>
            </a: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PESTEL · 5Forces · SWOT · BMC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4개만 쓴다. 8개 다 쓰면 분석에만 6개월 걸리고 사업은 시작도 못한다.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8695727"/>
            <a:ext cx="7905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"한 프레임워크에 반나절"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시작점. 완벽하게 채우려 하지 말고 1차 가설 → 시장 검증 → 보완.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9715500" y="7712856"/>
            <a:ext cx="7049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반대로 — 이런 함정 피하기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9715500" y="8121538"/>
            <a:ext cx="704911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✗ "8개 다 그려야 진짜 사업계획"이라는 강박</a:t>
            </a:r>
            <a:endParaRPr lang="en-US" sz="17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✗ 프레임워크 채우기에 한 달, 고객 만나기는 0건</a:t>
            </a:r>
            <a:endParaRPr lang="en-US" sz="17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✗ 적용 단계에 안 맞는 도구로 시간 낭비 (예: 아이디어 단계에 BCG)</a:t>
            </a:r>
            <a:endParaRPr lang="en-US" sz="17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✗ 같은 정보를 SWOT · PESTEL · 5Forces에 중복 입력 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MATRIX · 현장 경험 기반 · 사용 우선순위 가이드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9ACC2516-122C-4D38-9B80-A31B2EB4ED94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91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8424235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8762695"/>
            <a:ext cx="16002000" cy="571500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9 · 통합 사례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16193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00" kern="0" spc="-9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통합 사례 — 완도 김 D2C, 8개를 한 표에</a:t>
            </a:r>
            <a:endParaRPr lang="en-US" sz="31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848002"/>
            <a:ext cx="16193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3일간 다룬 8개 프레임워크의 핵심 결론을 한 줄로 요약. 의사결정은 이런 표 한 장에서 나온다.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432403"/>
              </p:ext>
            </p:extLst>
          </p:nvPr>
        </p:nvGraphicFramePr>
        <p:xfrm>
          <a:off x="1143000" y="2286000"/>
          <a:ext cx="15992856" cy="6204330"/>
        </p:xfrm>
        <a:graphic>
          <a:graphicData uri="http://schemas.openxmlformats.org/drawingml/2006/table">
            <a:tbl>
              <a:tblPr/>
              <a:tblGrid>
                <a:gridCol w="733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5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8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44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18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프레임워크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입력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결론 (1줄)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다음 행동 (1줄)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01</a:t>
                      </a:r>
                      <a:endParaRPr lang="en-US" sz="1600" b="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PESTEL</a:t>
                      </a:r>
                      <a:endParaRPr lang="en-US" sz="1600" b="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해양 환경 규제↑ / 1인 가구↑ / 건강식 트렌드 / 중국 김 단가 변동 / 일본 수출 회복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거시 우호 — 1인 가구 · 건강식 · K-food 3가지 순풍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일본 수출 채널 1년차 준비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02</a:t>
                      </a:r>
                      <a:endParaRPr lang="en-US" sz="1600" b="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5Forces</a:t>
                      </a:r>
                      <a:endParaRPr lang="en-US" sz="1600" b="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공급자(어가)교섭력 中 · 신규진입 易 · 대체재 多 · 구매자교섭력 강 · 경쟁 강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산업 매력도 평균 2.3/5 — 평범. 차별화 필수.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가격 경쟁 회피. 프리미엄 포지션.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03</a:t>
                      </a:r>
                      <a:endParaRPr lang="en-US" sz="1600" b="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BCG</a:t>
                      </a:r>
                      <a:endParaRPr lang="en-US" sz="1600" b="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도시락김(시장성장 8%, 점유 2.5%) · 김부각(15%, 0.8%) · 김자반(5%, 4%)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도시락김=?(Question Mark) · 김부각=Star 후보 · 김자반=Cash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김부각 R&amp;D · 마케팅 집중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04</a:t>
                      </a:r>
                      <a:endParaRPr lang="en-US" sz="1600" b="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SWOT</a:t>
                      </a:r>
                      <a:endParaRPr lang="en-US" sz="1600" b="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 어가 직거래·완도산 · W 자본 부족·인지도 · O K-food 수출 · T 대기업 진입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강점(원산지·직거래) · 약점(자본) 명확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약점은 정부 R&amp;D + 크라우드펀딩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05</a:t>
                      </a:r>
                      <a:endParaRPr lang="en-US" sz="1600" b="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TOWS</a:t>
                      </a:r>
                      <a:endParaRPr lang="en-US" sz="1600" b="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S×O = 완도산 + K-food 트렌드 / S×T = 직거래 추적성으로 대기업과 차별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"완도 어가 직거래" 스토리텔링을 모든 채널의 1번 메시지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인스타 · 백화점 매장 동일 메시지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06</a:t>
                      </a:r>
                      <a:endParaRPr lang="en-US" sz="1600" b="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BMC</a:t>
                      </a:r>
                      <a:endParaRPr lang="en-US" sz="1600" b="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VP "완도 어가 직거래 프리미엄 김" / CS 30-40대 건강식 소비자 / CH 자사몰+백화점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9블록 정합성 OK — KR(어가 네트워크)·KA(D2C 운영)·VP 연결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BMC 분기 갱신 + 정량 KPI 매핑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1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07</a:t>
                      </a:r>
                      <a:endParaRPr lang="en-US" sz="1600" b="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VRIO</a:t>
                      </a:r>
                      <a:endParaRPr lang="en-US" sz="1600" b="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어가 직거래 V·R·I·O 모두 통과 / 가공 라인 V·R만 통과(I·O X)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지속 우위 자원 = "완도 어가 12곳과의 신뢰 네트워크" 1개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어가 관계는 직접 관리 / 가공은 외주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1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08</a:t>
                      </a:r>
                      <a:endParaRPr lang="en-US" sz="1600" b="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Value Chain</a:t>
                      </a:r>
                      <a:endParaRPr lang="en-US" sz="1600" b="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마진 ★★★ = 들여오기 · 팔기 · 조달 / 만들기·내보내기 = 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3개 코어 활동에 시간 70% 투입. 나머지 외주.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제조·물류 외주 계약 갱신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18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09</a:t>
                      </a:r>
                      <a:endParaRPr lang="en-US" sz="1600" b="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Ansoff</a:t>
                      </a:r>
                      <a:endParaRPr lang="en-US" sz="1600" b="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Y1 = 시장 침투 · Y3 = 제품 개발 · Y4 = 시장 개발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3년 로드맵 확정 · 다각화는 Y5+에 검토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분기마다 매트릭스 다시 그리기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23444" marR="123444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333195" y="8924544"/>
            <a:ext cx="1562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결론</a:t>
            </a:r>
            <a:r>
              <a:rPr lang="en-US" sz="19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"완도 어가 직거래 프리미엄 김 D2C — Y1 시장 침투에 집중하고, 12개월간 단위경제·재구매율을 검증한 뒤 Y2에 김부각 라인을 추가한다."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· 가상 · 8개 프레임워크 통합 적용 예시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9BFDCDDC-489D-4691-9A79-0A4A9DAAF404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92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63490674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9 · COMMON MISUSES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8개 프레임워크 — 가장 흔한 오용 8가지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현장에서 보는 실패 패턴. 한 번씩 본 적 있는 실수이고, 안 하기는 어렵다 — 그러나 알면 줄어든다.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198909"/>
              </p:ext>
            </p:extLst>
          </p:nvPr>
        </p:nvGraphicFramePr>
        <p:xfrm>
          <a:off x="1143000" y="2667305"/>
          <a:ext cx="15991942" cy="5349740"/>
        </p:xfrm>
        <a:graphic>
          <a:graphicData uri="http://schemas.openxmlformats.org/drawingml/2006/table">
            <a:tbl>
              <a:tblPr/>
              <a:tblGrid>
                <a:gridCol w="1552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7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5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5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프레임워크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흔한 오용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왜 잘못됐나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올바른 사용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5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PESTEL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"세상 모든 트렌드"를 다 적기 — 30개 이상 나열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중요도 가중치 없음 → 의사결정 불가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각 변수당 사업 영향도 1-5점, 상위 6개만 다룸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5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5Forces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5개 힘에 각각 1줄씩 "약하다/강하다"만 적기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정량 점수 없으면 다른 산업과 비교 불가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각 힘 1-5점 + 근거 데이터 1줄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5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BCG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제품이 1개인데 BCG로 그리려 함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BCG는 포트폴리오 도구. 단일 제품 회사엔 부적합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제품 ≥ 3개일 때만 사용. 1개면 BMC + VRIO로 대체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5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SWOT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S/W/O/T 4칸에 각각 10개씩 — 40개 항목 나열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우선순위 없는 SWOT은 청소 안 된 책상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각 칸 3개씩, 12개 이내. 반드시 TOWS로 교차전략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5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TOWS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SWOT은 그렸는데 TOWS로 교차전략을 안 만듦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TOWS가 빠진 SWOT은 진단만 있고 처방 없음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SO·ST·WO·WT 각 1-2개 전략 도출 필수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5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BMC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VP에 "최고의 품질" "고객 만족" 같은 추상적 슬로건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VP는 페인포인트 → 해결책 → 측정가능 결과여야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"누구의 / 어떤 문제를 / 어떻게 / 얼마나 잘"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5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VRIO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모든 자원을 V·R·I·O 통과로 평가 (자기 채점 후함)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대부분의 자원은 V는 되지만 R·I에서 탈락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3rd party 시각에서 R(희소성) 엄격 평가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15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Value Chain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9개 활동 모두 "직접 잘 한다" — 외주 0개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자원이 모자라 모든 활동이 평균 이하로 떨어짐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코어 3개 / 외주 6개 명시. Make/Buy 결정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15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Ansoff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1년차에 Q4 다각화로 점프 — "이것도 하고 저것도"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본업이 안정 안 된 상태의 다각화는 자살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Y1·Y2 시장 침투. Q4는 24개월 흑자 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143000" y="8667598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 규칙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프레임워크는 의사결정을 위한 도구다. 빈칸을 채우는 게 목적이 아니다. 한 프레임워크를 적용한 뒤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"그래서 무엇을 다르게 할 것인가?"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답할 수 없다면, 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채우지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않은 것과 같다.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 · Rumelt (2011) Good Strategy/Bad Strategy · Magretta (2012) Understanding Michael Porter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6352F920-153F-4CC6-860D-4FA8D35C1A23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93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10738893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667305"/>
            <a:ext cx="3258007" cy="582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0" y="2667305"/>
            <a:ext cx="3258007" cy="582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2667305"/>
            <a:ext cx="3258007" cy="582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0" y="2667305"/>
            <a:ext cx="3258007" cy="582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4859000" y="2667305"/>
            <a:ext cx="2286000" cy="5810098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43000" y="2667305"/>
            <a:ext cx="3238805" cy="514807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4572000" y="2667305"/>
            <a:ext cx="3238805" cy="514807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8001000" y="2667305"/>
            <a:ext cx="3238805" cy="514807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11430000" y="2667305"/>
            <a:ext cx="3238805" cy="514807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단원 9 · AI 파이프라인 · 1주 완성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파이프라인 — 1주에 사업 보고서 완성</a:t>
            </a:r>
            <a:endParaRPr lang="en-US" sz="34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ChatGPT Plus 1개로 8개 프레임워크 초안 → 검증 → 의사결정까지 5일. 각 단계 프롬프트 템플릿.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1333195" y="2742716"/>
            <a:ext cx="285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01 · 환경 스캔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333195" y="3010205"/>
            <a:ext cx="2857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PESTEL · 5Forces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3610051"/>
            <a:ext cx="2857500" cy="734263"/>
          </a:xfrm>
          <a:prstGeom prst="rect">
            <a:avLst/>
          </a:prstGeom>
          <a:solidFill>
            <a:srgbClr val="F4EF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"[업종][지역] 사업을 시작한다. PESTEL 6변수로 향후 3년 트렌드를 1-5 영향도 점수로 정리. 데이터 출처 명시."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333195" y="4475074"/>
            <a:ext cx="2857500" cy="571500"/>
          </a:xfrm>
          <a:prstGeom prst="rect">
            <a:avLst/>
          </a:prstGeom>
          <a:solidFill>
            <a:srgbClr val="F4EF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"같은 산업에 Porter 5Forces 적용. 각 힘 1-5점 + 근거 1줄 + 출처."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333195" y="5333210"/>
            <a:ext cx="33732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sz="15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통계청·KOSIS·한국은행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통계로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숫자 3개 확인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1333195" y="5870608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PESTEL 표 + 5Forces 점수 (2장)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333195" y="33723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PROMPT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4762195" y="2742716"/>
            <a:ext cx="285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02 · 내부 진단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4762195" y="3010205"/>
            <a:ext cx="2857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SWOT · TOWS · VRIO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4762195" y="3610051"/>
            <a:ext cx="2857500" cy="571500"/>
          </a:xfrm>
          <a:prstGeom prst="rect">
            <a:avLst/>
          </a:prstGeom>
          <a:solidFill>
            <a:srgbClr val="F4EF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"내 사업 정보: [매출/팀/자원]. SWOT 4칸 각 3개씩 작성. 추상어 금지, 구체적 사실만."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4762195" y="4306824"/>
            <a:ext cx="2857500" cy="571500"/>
          </a:xfrm>
          <a:prstGeom prst="rect">
            <a:avLst/>
          </a:prstGeom>
          <a:solidFill>
            <a:srgbClr val="F4EF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"위 SWOT으로 TOWS 4전략 도출. 핵심 자원 3개를 VRIO 평가."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4762195" y="5165875"/>
            <a:ext cx="29946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멘토/동료 2명에게 SWOT 확인 — "동의하나?"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4762195" y="5703272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SWOT + TOWS + VRIO 표 (3장)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4762195" y="33723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PROMPT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8191195" y="2742716"/>
            <a:ext cx="285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03 · 모델 · 활동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8191195" y="3010205"/>
            <a:ext cx="2857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BMC · Value Chain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8191195" y="3610051"/>
            <a:ext cx="2857500" cy="571500"/>
          </a:xfrm>
          <a:prstGeom prst="rect">
            <a:avLst/>
          </a:prstGeom>
          <a:solidFill>
            <a:srgbClr val="F4EF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"위 SWOT·VRIO 결과를 입력으로 BMC 9블록 작성. KR·KA·VP는 VRIO 결과와 일관성 검증."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191195" y="4306824"/>
            <a:ext cx="2857500" cy="571500"/>
          </a:xfrm>
          <a:prstGeom prst="rect">
            <a:avLst/>
          </a:prstGeom>
          <a:solidFill>
            <a:srgbClr val="F4EF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"Value Chain 9활동 매핑. 각 활동에 비용% + 마진★ + Make/Buy."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8191195" y="5165875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BMC 9블록 = VRIO </a:t>
            </a:r>
            <a:r>
              <a:rPr lang="en-US" sz="15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자원과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일치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8191195" y="5703272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BMC 캔버스 + Value Chain (2장)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8191195" y="33723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PROMPT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11620195" y="2742716"/>
            <a:ext cx="285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04 · 자원·성장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11620195" y="3010205"/>
            <a:ext cx="2857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F4EFE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BCG · Ansoff</a:t>
            </a:r>
            <a:endParaRPr lang="en-US" sz="800" dirty="0"/>
          </a:p>
        </p:txBody>
      </p:sp>
      <p:sp>
        <p:nvSpPr>
          <p:cNvPr id="42" name="Text 38"/>
          <p:cNvSpPr txBox="1"/>
          <p:nvPr/>
        </p:nvSpPr>
        <p:spPr>
          <a:xfrm>
            <a:off x="11620195" y="3610051"/>
            <a:ext cx="2857500" cy="571500"/>
          </a:xfrm>
          <a:prstGeom prst="rect">
            <a:avLst/>
          </a:prstGeom>
          <a:solidFill>
            <a:srgbClr val="F4EF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"내 제품 3개의 시장 성장률·상대 점유율로 BCG 매트릭스. 자원 배분 권고."</a:t>
            </a:r>
            <a:endParaRPr lang="en-US" sz="800" dirty="0"/>
          </a:p>
        </p:txBody>
      </p:sp>
      <p:sp>
        <p:nvSpPr>
          <p:cNvPr id="43" name="Text 39"/>
          <p:cNvSpPr txBox="1"/>
          <p:nvPr/>
        </p:nvSpPr>
        <p:spPr>
          <a:xfrm>
            <a:off x="11620195" y="4306824"/>
            <a:ext cx="2857500" cy="571500"/>
          </a:xfrm>
          <a:prstGeom prst="rect">
            <a:avLst/>
          </a:prstGeom>
          <a:solidFill>
            <a:srgbClr val="F4EF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"Ansoff Y1·Y2·Y3 시나리오 3가지. 각 시나리오의 위험·자금·KPI."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11620195" y="5165875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BCG → Ansoff 시퀀스 점검</a:t>
            </a:r>
            <a:endParaRPr lang="en-US" sz="1500" dirty="0"/>
          </a:p>
        </p:txBody>
      </p:sp>
      <p:sp>
        <p:nvSpPr>
          <p:cNvPr id="45" name="Text 41"/>
          <p:cNvSpPr txBox="1"/>
          <p:nvPr/>
        </p:nvSpPr>
        <p:spPr>
          <a:xfrm>
            <a:off x="11620195" y="5703272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BCG + Ansoff 로드맵 (2장)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11620195" y="3372307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PROMPT</a:t>
            </a:r>
            <a:endParaRPr lang="en-US" sz="1500" dirty="0"/>
          </a:p>
        </p:txBody>
      </p:sp>
      <p:sp>
        <p:nvSpPr>
          <p:cNvPr id="47" name="Text 43"/>
          <p:cNvSpPr txBox="1"/>
          <p:nvPr/>
        </p:nvSpPr>
        <p:spPr>
          <a:xfrm>
            <a:off x="15049195" y="2857500"/>
            <a:ext cx="1905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05</a:t>
            </a:r>
            <a:endParaRPr lang="en-US" sz="1500" dirty="0"/>
          </a:p>
        </p:txBody>
      </p:sp>
      <p:sp>
        <p:nvSpPr>
          <p:cNvPr id="48" name="Text 44"/>
          <p:cNvSpPr txBox="1"/>
          <p:nvPr/>
        </p:nvSpPr>
        <p:spPr>
          <a:xfrm>
            <a:off x="15049195" y="3057754"/>
            <a:ext cx="1905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통합 · 결론</a:t>
            </a:r>
            <a:endParaRPr lang="en-US" sz="1600" dirty="0"/>
          </a:p>
        </p:txBody>
      </p:sp>
      <p:sp>
        <p:nvSpPr>
          <p:cNvPr id="49" name="Text 45"/>
          <p:cNvSpPr txBox="1"/>
          <p:nvPr/>
        </p:nvSpPr>
        <p:spPr>
          <a:xfrm>
            <a:off x="15049195" y="3365906"/>
            <a:ext cx="1905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8 → 1 page</a:t>
            </a:r>
            <a:endParaRPr lang="en-US" sz="800" dirty="0"/>
          </a:p>
        </p:txBody>
      </p:sp>
      <p:sp>
        <p:nvSpPr>
          <p:cNvPr id="50" name="Text 46"/>
          <p:cNvSpPr txBox="1"/>
          <p:nvPr/>
        </p:nvSpPr>
        <p:spPr>
          <a:xfrm>
            <a:off x="15049195" y="3619195"/>
            <a:ext cx="1905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9 → 1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9장 → 한 줄 요약 9개</a:t>
            </a:r>
            <a:endParaRPr lang="en-US" sz="1500" dirty="0"/>
          </a:p>
        </p:txBody>
      </p:sp>
      <p:sp>
        <p:nvSpPr>
          <p:cNvPr id="51" name="Text 47"/>
          <p:cNvSpPr txBox="1"/>
          <p:nvPr/>
        </p:nvSpPr>
        <p:spPr>
          <a:xfrm>
            <a:off x="15049195" y="4148633"/>
            <a:ext cx="1905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결론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Y1 행동 5개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15049195" y="4678985"/>
            <a:ext cx="1905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게이트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후 점검 지표</a:t>
            </a:r>
            <a:endParaRPr lang="en-US" sz="1500" dirty="0"/>
          </a:p>
        </p:txBody>
      </p:sp>
      <p:sp>
        <p:nvSpPr>
          <p:cNvPr id="53" name="Shape 49"/>
          <p:cNvSpPr/>
          <p:nvPr/>
        </p:nvSpPr>
        <p:spPr>
          <a:xfrm>
            <a:off x="14981046" y="5610919"/>
            <a:ext cx="1905610" cy="984379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54" name="Text 50"/>
          <p:cNvSpPr txBox="1"/>
          <p:nvPr/>
        </p:nvSpPr>
        <p:spPr>
          <a:xfrm>
            <a:off x="15163495" y="5821230"/>
            <a:ext cx="1677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산출</a:t>
            </a:r>
            <a:r>
              <a:rPr lang="en-US" sz="15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10페이지 사업 보고서 (커버 + 8개 표 + 결론)</a:t>
            </a:r>
            <a:endParaRPr lang="en-US" sz="1500" dirty="0"/>
          </a:p>
        </p:txBody>
      </p:sp>
      <p:sp>
        <p:nvSpPr>
          <p:cNvPr id="55" name="Text 51"/>
          <p:cNvSpPr txBox="1"/>
          <p:nvPr/>
        </p:nvSpPr>
        <p:spPr>
          <a:xfrm>
            <a:off x="1143000" y="8667598"/>
            <a:ext cx="1619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AI 출력은 초안일 뿐. 매 단계에서 </a:t>
            </a:r>
            <a:r>
              <a:rPr lang="en-US" sz="1800" b="1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데이터 1-2개로 검증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해야 한다. AI는 빠르지만 거짓말도 빠르다.</a:t>
            </a:r>
            <a:endParaRPr lang="en-US" sz="1800" dirty="0"/>
          </a:p>
        </p:txBody>
      </p:sp>
      <p:sp>
        <p:nvSpPr>
          <p:cNvPr id="56" name="Text 52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PIPELINE · ChatGPT Plus / Google AI Pro · 1 WEEK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0BB8AA75-8AF3-4DC1-BE5F-B46F30352925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94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5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5953631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333902"/>
            <a:ext cx="7830007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334195" y="3333902"/>
            <a:ext cx="7810805" cy="5333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CAPSTONE · WORKSHOP BRIEF · 90분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238098"/>
            <a:ext cx="161931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700" kern="0" spc="-11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캡스톤 프로젝트 — 내 사업, 8개로 정리하기</a:t>
            </a:r>
            <a:endParaRPr lang="en-US" sz="37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962302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3일간 배운 8개 프레임워크를 본인 사업 아이디어에 적용. 90분 안에 1페이지 사업 보고서 완성 + 5분 발표.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2857500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제출물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1333195" y="3524098"/>
            <a:ext cx="7429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DELIVERABLES · 1 PAGE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1333195" y="4391863"/>
            <a:ext cx="74295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333195" y="3857854"/>
            <a:ext cx="742950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사업 한 줄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"누구의 / 어떤 문제를 / 어떻게 / 얼마나 잘"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333195" y="4935017"/>
            <a:ext cx="74295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1333195" y="4401007"/>
            <a:ext cx="742950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PESTEL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기회 3개 + 위협 3개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333195" y="5477256"/>
            <a:ext cx="74295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1333195" y="4943246"/>
            <a:ext cx="742950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5Forces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각 힘 1-5점 + 평균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333195" y="6020410"/>
            <a:ext cx="74295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1333195" y="5486400"/>
            <a:ext cx="742950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SWOT + TOWS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12개 항목 + 4개 교차전략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333195" y="6563563"/>
            <a:ext cx="74295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1333195" y="6029554"/>
            <a:ext cx="742950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BMC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9블록 한 줄씩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333195" y="7106717"/>
            <a:ext cx="74295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1333195" y="6572707"/>
            <a:ext cx="742950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 VRIO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자원 3개 V·R·I·O 평가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333195" y="7648956"/>
            <a:ext cx="7429500" cy="9144"/>
          </a:xfrm>
          <a:prstGeom prst="rect">
            <a:avLst/>
          </a:prstGeom>
          <a:solidFill>
            <a:srgbClr val="E5DDC8"/>
          </a:solidFill>
          <a:ln w="12700">
            <a:solidFill>
              <a:srgbClr val="E5DDC8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1333195" y="7114946"/>
            <a:ext cx="742950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⑦ Value Chain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마진 ★★★ 활동 3개 + Make/Buy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1481112" y="7658100"/>
            <a:ext cx="7429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⑧ Ansoff 3년 로드맵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Y1·Y2·Y3 칸 + 핵심 KPI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9334195" y="2857500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6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진행 — 90분</a:t>
            </a:r>
            <a:endParaRPr lang="en-US" sz="2100" dirty="0"/>
          </a:p>
        </p:txBody>
      </p:sp>
      <p:sp>
        <p:nvSpPr>
          <p:cNvPr id="30" name="Text 26"/>
          <p:cNvSpPr txBox="1"/>
          <p:nvPr/>
        </p:nvSpPr>
        <p:spPr>
          <a:xfrm>
            <a:off x="9525305" y="3524098"/>
            <a:ext cx="7429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TIMELINE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9525305" y="4363517"/>
            <a:ext cx="7429500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2" name="Text 28"/>
          <p:cNvSpPr txBox="1"/>
          <p:nvPr/>
        </p:nvSpPr>
        <p:spPr>
          <a:xfrm>
            <a:off x="9525305" y="3857854"/>
            <a:ext cx="742950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00:00 – 00:05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1800" dirty="0" err="1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 줄 + ChatGPT 페르소나 점검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9525305" y="4870094"/>
            <a:ext cx="7429500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4" name="Text 30"/>
          <p:cNvSpPr txBox="1"/>
          <p:nvPr/>
        </p:nvSpPr>
        <p:spPr>
          <a:xfrm>
            <a:off x="9525305" y="4364431"/>
            <a:ext cx="742950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00:05 – 00:20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PESTEL + 5Forces (AI 초안 → 검증)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9525305" y="5376672"/>
            <a:ext cx="7429500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6" name="Text 32"/>
          <p:cNvSpPr txBox="1"/>
          <p:nvPr/>
        </p:nvSpPr>
        <p:spPr>
          <a:xfrm>
            <a:off x="9525305" y="4871009"/>
            <a:ext cx="742950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00:20 – 00:35 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SWOT · TOWS (직접 작성)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9525305" y="5883250"/>
            <a:ext cx="7429500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8" name="Text 34"/>
          <p:cNvSpPr txBox="1"/>
          <p:nvPr/>
        </p:nvSpPr>
        <p:spPr>
          <a:xfrm>
            <a:off x="9525305" y="5377586"/>
            <a:ext cx="742950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00:35 – 00:50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BMC 9블록 (제공 캔버스에)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9525305" y="6390742"/>
            <a:ext cx="7429500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0" name="Text 36"/>
          <p:cNvSpPr txBox="1"/>
          <p:nvPr/>
        </p:nvSpPr>
        <p:spPr>
          <a:xfrm>
            <a:off x="9525305" y="5885078"/>
            <a:ext cx="742950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00:50 – 01:00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VRIO + Value Chain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9525305" y="6897319"/>
            <a:ext cx="7429500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2" name="Text 38"/>
          <p:cNvSpPr txBox="1"/>
          <p:nvPr/>
        </p:nvSpPr>
        <p:spPr>
          <a:xfrm>
            <a:off x="9525305" y="6391656"/>
            <a:ext cx="742950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01:00 – 01:10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Ansoff 3년 로드맵 + KPI</a:t>
            </a:r>
            <a:endParaRPr lang="en-US" sz="1800" dirty="0"/>
          </a:p>
        </p:txBody>
      </p:sp>
      <p:sp>
        <p:nvSpPr>
          <p:cNvPr id="43" name="Shape 39"/>
          <p:cNvSpPr/>
          <p:nvPr/>
        </p:nvSpPr>
        <p:spPr>
          <a:xfrm>
            <a:off x="9525305" y="7403897"/>
            <a:ext cx="7429500" cy="9144"/>
          </a:xfrm>
          <a:prstGeom prst="rect">
            <a:avLst/>
          </a:prstGeom>
          <a:solidFill>
            <a:srgbClr val="F4EFE6">
              <a:alpha val="15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4" name="Text 40"/>
          <p:cNvSpPr txBox="1"/>
          <p:nvPr/>
        </p:nvSpPr>
        <p:spPr>
          <a:xfrm>
            <a:off x="9525305" y="6898234"/>
            <a:ext cx="742950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01:10 – 01:20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1페이지 통합 + 발표 슬라이드 1장</a:t>
            </a:r>
            <a:endParaRPr lang="en-US" sz="1800" dirty="0"/>
          </a:p>
        </p:txBody>
      </p:sp>
      <p:sp>
        <p:nvSpPr>
          <p:cNvPr id="45" name="Text 41"/>
          <p:cNvSpPr txBox="1"/>
          <p:nvPr/>
        </p:nvSpPr>
        <p:spPr>
          <a:xfrm>
            <a:off x="9659775" y="7404811"/>
            <a:ext cx="7429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01:20 – 01:30 </a:t>
            </a: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 발표 × 4명 (조별)</a:t>
            </a:r>
            <a:r>
              <a:rPr lang="en-US" sz="18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피드백</a:t>
            </a:r>
            <a:endParaRPr lang="en-US" sz="1800" dirty="0"/>
          </a:p>
        </p:txBody>
      </p:sp>
      <p:sp>
        <p:nvSpPr>
          <p:cNvPr id="46" name="Text 42"/>
          <p:cNvSpPr txBox="1"/>
          <p:nvPr/>
        </p:nvSpPr>
        <p:spPr>
          <a:xfrm>
            <a:off x="1143000" y="8906256"/>
            <a:ext cx="1619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구성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개인 작업 → 4인 조 발표. 노트북 + ChatGPT Plus 계정 필수. 발표용 슬라이드 1장은 PPT/Keynote/Canva 자유.</a:t>
            </a:r>
            <a:endParaRPr lang="en-US" sz="1800" dirty="0"/>
          </a:p>
        </p:txBody>
      </p:sp>
      <p:sp>
        <p:nvSpPr>
          <p:cNvPr id="47" name="Text 43"/>
          <p:cNvSpPr txBox="1"/>
          <p:nvPr/>
        </p:nvSpPr>
        <p:spPr>
          <a:xfrm>
            <a:off x="1143000" y="9620402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CAPSTONE · 90 MIN · INDIVIDUAL → TEAM PRESENT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BF188D6B-D4FE-4562-AE32-3BC7CAF47322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95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22598170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000707"/>
            <a:ext cx="16002000" cy="761695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43000" y="2952598"/>
            <a:ext cx="392460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143500" y="2952598"/>
            <a:ext cx="392460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144000" y="2952598"/>
            <a:ext cx="392460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3144500" y="2952598"/>
            <a:ext cx="4019702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5810098"/>
            <a:ext cx="392460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143500" y="5810098"/>
            <a:ext cx="392460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144000" y="5810098"/>
            <a:ext cx="392460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3144500" y="5810098"/>
            <a:ext cx="4000500" cy="2667305"/>
          </a:xfrm>
          <a:prstGeom prst="rect">
            <a:avLst/>
          </a:prstGeom>
          <a:solidFill>
            <a:srgbClr val="C58A2E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43000" y="8667598"/>
            <a:ext cx="16002000" cy="5715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43000" y="400507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CAPSTONE · ONE-PAGE TEMPLATE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1238098"/>
            <a:ext cx="16193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100" kern="0" spc="-9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1페이지 사업 보고서 — 채울 칸 8개</a:t>
            </a:r>
            <a:endParaRPr lang="en-US" sz="3100" dirty="0"/>
          </a:p>
        </p:txBody>
      </p:sp>
      <p:sp>
        <p:nvSpPr>
          <p:cNvPr id="19" name="Text 15"/>
          <p:cNvSpPr txBox="1"/>
          <p:nvPr/>
        </p:nvSpPr>
        <p:spPr>
          <a:xfrm>
            <a:off x="1333195" y="2171700"/>
            <a:ext cx="15621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ONE-LINER · 사업 한 줄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333195" y="2391156"/>
            <a:ext cx="1562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"_______의 _______ 문제를 _______로 해결해 _______까지 _______를 달성한다"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3030376"/>
            <a:ext cx="35250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49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MACRO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333195" y="3295498"/>
            <a:ext cx="3525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PESTEL 6변수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333195" y="3684978"/>
            <a:ext cx="3525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정치 · 경제 · 사회 · 기술 · 환경 · </a:t>
            </a:r>
            <a:r>
              <a:rPr lang="en-US" sz="1500" dirty="0" err="1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법규</a:t>
            </a: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</a:t>
            </a:r>
            <a:b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기회 3개 · 위협 3개. 영향도 1-5점.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5333695" y="3030376"/>
            <a:ext cx="35250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49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INDUSTRY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5333695" y="3295498"/>
            <a:ext cx="3525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Porter 5Forces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5333694" y="3806001"/>
            <a:ext cx="3600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신규진입 / 공급자 / 구매자 / 대체재 / </a:t>
            </a:r>
            <a:r>
              <a:rPr lang="en-US" sz="1500" dirty="0" err="1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</a:t>
            </a:r>
            <a:b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 err="1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각 1-5 + 평균. 평균 ≥3.5면 진입 신중.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9334195" y="3030376"/>
            <a:ext cx="35250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49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STRATEGIC FIT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9334195" y="3295498"/>
            <a:ext cx="3525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SWOT + TOWS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9334195" y="3684978"/>
            <a:ext cx="3525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S/W/O/T 각 3개. 교차전략 SO·ST·WO·WT 4개. "그래서 무엇을 할 것인가"가 핵심.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13334695" y="3030376"/>
            <a:ext cx="3620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49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MODEL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13334695" y="3295498"/>
            <a:ext cx="3620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BMC 9블록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13334695" y="3684978"/>
            <a:ext cx="3620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CS-VP-CH-CR-RS / KR-KA-KP-CS. </a:t>
            </a:r>
            <a:r>
              <a:rPr lang="en-US" sz="1500" dirty="0" err="1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VP는</a:t>
            </a:r>
            <a:b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추상 슬로건 금지. KR은 VRIO 통과 자원만.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1333195" y="5887876"/>
            <a:ext cx="35250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49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RESOURCE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1333195" y="6152998"/>
            <a:ext cx="3525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VRIO 자원 3개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1333195" y="6582819"/>
            <a:ext cx="433334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자원당 V·R·I·O 통과/탈락 표시. 1개 </a:t>
            </a:r>
            <a:r>
              <a:rPr lang="en-US" sz="1500" dirty="0" err="1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</a:t>
            </a:r>
            <a:b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4단계 모두 통과해야 진짜 우위.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5333695" y="5887876"/>
            <a:ext cx="35250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49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ACTIVITY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5333695" y="6152998"/>
            <a:ext cx="3525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Value Chain 9활동</a:t>
            </a:r>
            <a:endParaRPr lang="en-US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5333695" y="6623160"/>
            <a:ext cx="368046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마진 ★★★ 3개 (Make) · ★ 6개 (Buy/외주). 70/30 자원 배분.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9334195" y="5887876"/>
            <a:ext cx="35250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49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PORTFOLIO</a:t>
            </a:r>
            <a:endParaRPr lang="en-US" sz="800" dirty="0"/>
          </a:p>
        </p:txBody>
      </p:sp>
      <p:sp>
        <p:nvSpPr>
          <p:cNvPr id="40" name="Text 36"/>
          <p:cNvSpPr txBox="1"/>
          <p:nvPr/>
        </p:nvSpPr>
        <p:spPr>
          <a:xfrm>
            <a:off x="9334195" y="6152998"/>
            <a:ext cx="3525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BCG (선택)</a:t>
            </a:r>
            <a:endParaRPr lang="en-US" sz="1800" dirty="0"/>
          </a:p>
        </p:txBody>
      </p:sp>
      <p:sp>
        <p:nvSpPr>
          <p:cNvPr id="41" name="Text 37"/>
          <p:cNvSpPr txBox="1"/>
          <p:nvPr/>
        </p:nvSpPr>
        <p:spPr>
          <a:xfrm>
            <a:off x="9334195" y="6609713"/>
            <a:ext cx="389991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제품이 3개 이상일 때만. Star/Cash/?/Dog</a:t>
            </a:r>
            <a:b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>
                <a:solidFill>
                  <a:srgbClr val="0E1B2C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분류 + 자원 배분 권고.</a:t>
            </a:r>
            <a:endParaRPr lang="en-US" sz="1500" dirty="0"/>
          </a:p>
        </p:txBody>
      </p:sp>
      <p:sp>
        <p:nvSpPr>
          <p:cNvPr id="42" name="Text 38"/>
          <p:cNvSpPr txBox="1"/>
          <p:nvPr/>
        </p:nvSpPr>
        <p:spPr>
          <a:xfrm>
            <a:off x="13334695" y="5887876"/>
            <a:ext cx="3620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kern="0" spc="149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· GROWTH</a:t>
            </a:r>
            <a:endParaRPr lang="en-US" sz="800" dirty="0"/>
          </a:p>
        </p:txBody>
      </p:sp>
      <p:sp>
        <p:nvSpPr>
          <p:cNvPr id="43" name="Text 39"/>
          <p:cNvSpPr txBox="1"/>
          <p:nvPr/>
        </p:nvSpPr>
        <p:spPr>
          <a:xfrm>
            <a:off x="13334695" y="6152998"/>
            <a:ext cx="3620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Ansoff 3년 로드맵</a:t>
            </a:r>
            <a:endParaRPr lang="en-US" sz="1800" dirty="0"/>
          </a:p>
        </p:txBody>
      </p:sp>
      <p:sp>
        <p:nvSpPr>
          <p:cNvPr id="44" name="Text 40"/>
          <p:cNvSpPr txBox="1"/>
          <p:nvPr/>
        </p:nvSpPr>
        <p:spPr>
          <a:xfrm>
            <a:off x="13334695" y="6582819"/>
            <a:ext cx="42775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Y1 / Y2 / Y3 각 칸 + KPI. 위험 ×1·2·3 </a:t>
            </a:r>
            <a:r>
              <a:rPr lang="en-US" sz="1500" dirty="0" err="1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까지만</a:t>
            </a:r>
            <a:r>
              <a:rPr lang="en-US" sz="15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>
              <a:rPr lang="en-US" sz="15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5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Y4·Y5는 다음 분기 검토.</a:t>
            </a:r>
            <a:endParaRPr lang="en-US" sz="1500" dirty="0"/>
          </a:p>
        </p:txBody>
      </p:sp>
      <p:sp>
        <p:nvSpPr>
          <p:cNvPr id="45" name="Text 41"/>
          <p:cNvSpPr txBox="1"/>
          <p:nvPr/>
        </p:nvSpPr>
        <p:spPr>
          <a:xfrm>
            <a:off x="1333195" y="8810244"/>
            <a:ext cx="15621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9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CONCLUSION · 90일 안에 할 5가지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1333195" y="9029700"/>
            <a:ext cx="15621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_____ ② _____ ③ _____ ④ _____ ⑤ _____</a:t>
            </a:r>
            <a:endParaRPr lang="en-US" sz="1600" dirty="0"/>
          </a:p>
        </p:txBody>
      </p:sp>
      <p:sp>
        <p:nvSpPr>
          <p:cNvPr id="47" name="Text 43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TEMPLATE · ONE-PAGE BUSINESS REPORT · PRINTABLE A4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FCCD355B-2FA6-4AB7-9C3D-B0E9F27ACB1E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96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07254345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4195" y="8001000"/>
            <a:ext cx="7810805" cy="1143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CAPSTONE · 발표 루브릭 / 100점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발표 루브릭 — 5분 발표 평가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항목 1-4점. 4점 = 완벽 · 3점 = 양호 · 2점 = 보완 필요 · 1점 = 부족. 60점 이상 통과.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119458"/>
              </p:ext>
            </p:extLst>
          </p:nvPr>
        </p:nvGraphicFramePr>
        <p:xfrm>
          <a:off x="1143000" y="2667305"/>
          <a:ext cx="15991943" cy="4576401"/>
        </p:xfrm>
        <a:graphic>
          <a:graphicData uri="http://schemas.openxmlformats.org/drawingml/2006/table">
            <a:tbl>
              <a:tblPr/>
              <a:tblGrid>
                <a:gridCol w="2219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9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2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5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62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50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</a:t>
                      </a: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4점 — 완벽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3점 — 양호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2점 — 보완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1점 — 부족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배점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 한 줄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"누구의/문제/해결/지표"가 모두 구체적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3가지 요소 명시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추상적 표현 일부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슬로건 수준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0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프레임워크 적용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8개 모두 일관성 · 결과 연결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6-7개 완성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4-5개 완성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3개 이하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근거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숫자 5개+ · 출처 명시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숫자 3개 · 일부 출처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숫자 1-2개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숫자 없음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0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의사결정 명확성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"무엇을 다르게 할지" Y1 행동 5개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행동 3개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행동 1-2개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행동 없음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0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 인식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주요 위험 3개 + 완화 액션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 2개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 1개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 인식 없음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0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발표 (5분)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시간 준수 · 흐름 명확 · 질문 대응 완벽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시간 ±30초 · 흐름 명확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시간 초과 · 흐름 흐림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시간 1분+ 초과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0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동료 피드백</a:t>
                      </a:r>
                      <a:endParaRPr lang="en-US" sz="160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(조원 평가)</a:t>
                      </a:r>
                      <a:endParaRPr lang="en-US" sz="1600" dirty="0"/>
                    </a:p>
                  </a:txBody>
                  <a:tcPr marL="152705" marR="152705" marT="133502" marB="133502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3명 모두 "추가 자본 1천만원 투자 의향"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2명 투자 의향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1명 투자 의향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의향 없음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8001000"/>
            <a:ext cx="79059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통과 기준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8449056"/>
            <a:ext cx="790590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60점+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통과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80점+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우수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90점+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탁월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9715500" y="8191195"/>
            <a:ext cx="7049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SCORING TIP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715500" y="8449056"/>
            <a:ext cx="7049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루브릭은 "완벽한 사업"을 평가하는 도구가 아니라 </a:t>
            </a: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"가설을 명확히 표현했는가"</a:t>
            </a: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평가하는 도구. 잘 모르면 모른다고 적는 게 1점보다 낫다.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RUBRIC · 100 PTS · PASS 60 / EXCELLENT 80 / DISTINGUISHED 90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DAAE53DF-14C9-423A-BECD-F6736D5A3020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97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0312992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2476195"/>
            <a:ext cx="5162702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572707" y="2476195"/>
            <a:ext cx="5162702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2001500" y="2476195"/>
            <a:ext cx="5143500" cy="4572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43000" y="7429500"/>
            <a:ext cx="16002000" cy="1333195"/>
          </a:xfrm>
          <a:prstGeom prst="rect">
            <a:avLst/>
          </a:prstGeom>
          <a:solidFill>
            <a:srgbClr val="C58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400507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3 · WRAP-UP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238098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Day 3 — 오늘 얻은 세 가지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1429207" y="2762402"/>
            <a:ext cx="4572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kern="0" spc="-144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800" dirty="0"/>
          </a:p>
        </p:txBody>
      </p:sp>
      <p:sp>
        <p:nvSpPr>
          <p:cNvPr id="14" name="Text 10"/>
          <p:cNvSpPr txBox="1"/>
          <p:nvPr/>
        </p:nvSpPr>
        <p:spPr>
          <a:xfrm>
            <a:off x="1429207" y="3781044"/>
            <a:ext cx="457200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"내 사업의 가치는 9개 활동 중 3개에서만 만들어진다."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429207" y="458937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활동 매핑 → 마진 ★★★ 3개에 70% 자원 → 나머지 6개는 외주·자동화. "한 가지에 한 동인."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1429207" y="3524098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OPERATE · VALUE CHAIN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762402"/>
            <a:ext cx="4572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kern="0" spc="-144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8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0" y="3751998"/>
            <a:ext cx="45720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-54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"성장은 4가지 방향. 위험은 1·2·3·9배."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0" y="442865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침투(×1) → 시장 개발(×2) or 제품 개발(×3) → 다각화(×9). 한 번에 한 위험만, Gate 통과 후 다음으로.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524098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· ANSOFF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12287707" y="2762402"/>
            <a:ext cx="4572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kern="0" spc="-144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Text 18"/>
          <p:cNvSpPr txBox="1"/>
          <p:nvPr/>
        </p:nvSpPr>
        <p:spPr>
          <a:xfrm>
            <a:off x="12287707" y="3834832"/>
            <a:ext cx="45720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54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"8개를 다 쓰지 마라. 단계별로 4-5개만."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2287707" y="3524098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C58A2E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INTEGRATE · CAPSTONE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12287706" y="4334094"/>
            <a:ext cx="4857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단계는 PESTEL·5Forces·SWOT·BMC 4개로 충분. AI 파이프라인으로 1주에 1페이지 보고서.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1524305" y="7715707"/>
            <a:ext cx="15240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0E1B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MESSAGE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524305" y="7972654"/>
            <a:ext cx="15240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7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"프레임워크는 의사결정을 대신 해주지 않는다. 단지 의사결정의 질을 높인다. 결정은 결국 당신이 한다."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1143000" y="9001354"/>
            <a:ext cx="16193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안내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강의 마무리(전체 요약) → 부록(원전 · 참고문헌 · 전남 데이터 · 용어) → 감사 인사.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3 · 4 HOURS · UNITS 7-9 · VALUE CHAIN · ANSOFF · CAPSTONE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F7AA67C7-AFBD-4B84-BC84-FD515028C085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98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58853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8382305"/>
            <a:ext cx="16002000" cy="857707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강의 마무리 · 12시간을 한 장에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16193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12시간 — 가져갈 7가지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000707"/>
            <a:ext cx="1619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3일간 8개 프레임워크를 다뤘지만, 진짜 남길 7가지는 도구가 아닌 사고의 습관이다.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143000" y="3829507"/>
            <a:ext cx="7905902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1143000" y="3066898"/>
            <a:ext cx="762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2133295" y="2918981"/>
            <a:ext cx="4058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밖에서 안으로 본다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133295" y="3437337"/>
            <a:ext cx="4743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PESTEL → 5Forces → SWOT 순서. 환경이 먼저, 우리 회사는 나중.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1143000" y="4808830"/>
            <a:ext cx="7905902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1143000" y="4046220"/>
            <a:ext cx="762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3"/>
          <p:cNvSpPr txBox="1"/>
          <p:nvPr/>
        </p:nvSpPr>
        <p:spPr>
          <a:xfrm>
            <a:off x="2133295" y="3898303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곳에서 이긴다 (Porter)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2133295" y="4376318"/>
            <a:ext cx="4496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원가 vs 차별화 둘 중 하나. "싸고 좋은"은 stuck in the middle.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1143000" y="5789066"/>
            <a:ext cx="7905902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143000" y="5026457"/>
            <a:ext cx="762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7"/>
          <p:cNvSpPr txBox="1"/>
          <p:nvPr/>
        </p:nvSpPr>
        <p:spPr>
          <a:xfrm>
            <a:off x="2133295" y="4878540"/>
            <a:ext cx="4144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자원은 V·R·I·O 통과해야 우위 (Barney)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2133295" y="5355641"/>
            <a:ext cx="4734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대부분 자원은 R(희소성)에서 탈락. 자신을 후하게 채점하지 말 것.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1143000" y="6005779"/>
            <a:ext cx="762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Text 20"/>
          <p:cNvSpPr txBox="1"/>
          <p:nvPr/>
        </p:nvSpPr>
        <p:spPr>
          <a:xfrm>
            <a:off x="2133295" y="5857862"/>
            <a:ext cx="4562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모든 일을 직접 하지 않는다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2133295" y="6429092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Chain 9활동 중 3개에 70%, 나머지는 외주. 자원의 가장 큰 적은 분산.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9430207" y="3829507"/>
            <a:ext cx="7715707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9430207" y="3066898"/>
            <a:ext cx="762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3600" dirty="0"/>
          </a:p>
        </p:txBody>
      </p:sp>
      <p:sp>
        <p:nvSpPr>
          <p:cNvPr id="28" name="Text 24"/>
          <p:cNvSpPr txBox="1"/>
          <p:nvPr/>
        </p:nvSpPr>
        <p:spPr>
          <a:xfrm>
            <a:off x="10420502" y="2918981"/>
            <a:ext cx="44677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성장은 한 번에 한 위험만 (Ansoff)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0420502" y="3437337"/>
            <a:ext cx="5153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Y1 시장 침투 → Y2 시장 or 제품 개발 → Y3+ 다각화 검토. ×9는 마지막에.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9430207" y="4808830"/>
            <a:ext cx="7715707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9430207" y="4046220"/>
            <a:ext cx="762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3600" dirty="0"/>
          </a:p>
        </p:txBody>
      </p:sp>
      <p:sp>
        <p:nvSpPr>
          <p:cNvPr id="32" name="Text 28"/>
          <p:cNvSpPr txBox="1"/>
          <p:nvPr/>
        </p:nvSpPr>
        <p:spPr>
          <a:xfrm>
            <a:off x="10420502" y="3898303"/>
            <a:ext cx="41340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의사결정 없는 분석은 의미 없다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10420502" y="4376318"/>
            <a:ext cx="5009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프레임워크 끝에 "그래서 무엇을 다르게 할 것인가" 한 줄을 적는다.</a:t>
            </a:r>
            <a:endParaRPr lang="en-US" sz="1700" dirty="0"/>
          </a:p>
        </p:txBody>
      </p:sp>
      <p:sp>
        <p:nvSpPr>
          <p:cNvPr id="34" name="Text 30"/>
          <p:cNvSpPr txBox="1"/>
          <p:nvPr/>
        </p:nvSpPr>
        <p:spPr>
          <a:xfrm>
            <a:off x="9430207" y="5026457"/>
            <a:ext cx="762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kern="0" spc="-10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07</a:t>
            </a:r>
            <a:endParaRPr lang="en-US" sz="3600" dirty="0"/>
          </a:p>
        </p:txBody>
      </p:sp>
      <p:sp>
        <p:nvSpPr>
          <p:cNvPr id="35" name="Text 31"/>
          <p:cNvSpPr txBox="1"/>
          <p:nvPr/>
        </p:nvSpPr>
        <p:spPr>
          <a:xfrm>
            <a:off x="10420502" y="4878540"/>
            <a:ext cx="48490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-49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AI는 초안, 검증은 사람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10420502" y="5449770"/>
            <a:ext cx="5814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ChatGPT로 빠르게 초안. 하지만 핵심 숫자·인용은 1차 데이터로 직접 확인.</a:t>
            </a:r>
            <a:endParaRPr lang="en-US" sz="1700" dirty="0"/>
          </a:p>
        </p:txBody>
      </p:sp>
      <p:sp>
        <p:nvSpPr>
          <p:cNvPr id="37" name="Text 33"/>
          <p:cNvSpPr txBox="1"/>
          <p:nvPr/>
        </p:nvSpPr>
        <p:spPr>
          <a:xfrm>
            <a:off x="1524305" y="8600846"/>
            <a:ext cx="15240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90-DAY ACTION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1524305" y="8839505"/>
            <a:ext cx="1524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오늘부터 90일 안에 — 8개 중 4개(PESTEL·SWOT·BMC·Ansoff)만 본인 사업에 적용해 1페이지 보고서를 완성하고, 멘토 1명에게 30분 피드백 받기.</a:t>
            </a:r>
            <a:endParaRPr lang="en-US" sz="1900" dirty="0"/>
          </a:p>
        </p:txBody>
      </p:sp>
      <p:sp>
        <p:nvSpPr>
          <p:cNvPr id="39" name="Text 35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COURSE TAKEAWAYS · 7 HABITS · 12 HOURS · 8 FRAMEWORKS</a:t>
            </a:r>
            <a:endParaRPr lang="en-US" sz="15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1E79183B-3828-4165-B29E-5F63B15E8CD0}"/>
              </a:ext>
            </a:extLst>
          </p:cNvPr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0E1B2C"/>
                </a:solidFill>
                <a:latin typeface="IBM Plex Mono"/>
              </a:rPr>
              <a:t>99 / 105</a:t>
            </a:r>
            <a:endParaRPr lang="ko-KR" altLang="en-US" sz="1600">
              <a:solidFill>
                <a:srgbClr val="0E1B2C"/>
              </a:solidFill>
              <a:latin typeface="IBM Plex Mono"/>
            </a:endParaRPr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969469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715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t="-420" b="-420"/>
          <a:stretch/>
        </p:blipFill>
        <p:spPr>
          <a:xfrm>
            <a:off x="857707" y="1524305"/>
            <a:ext cx="761695" cy="384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79039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288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APPENDIX · REFERENCE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7707" y="2286000"/>
            <a:ext cx="4572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0" i="1" kern="0" spc="-30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A.</a:t>
            </a:r>
            <a:endParaRPr lang="en-US" sz="150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4953305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kern="0" spc="-126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부록 · 참고자료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5725973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sources · Books · Jeonnam data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6858000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 프레임워크의 원전(原典) 인용, 추천 도서, 전남 사업 데이터 출처, 핵심 용어 사전.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76695" y="1904695"/>
            <a:ext cx="10478110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강의가 끝나도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kern="0" spc="-122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참고할 수 있도록.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476695" y="4572000"/>
            <a:ext cx="104781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 원전은 1차 자료로 확인했습니다. 사례 수치는 학습용 예시값입니다. 원전·교과서·전남 통계 출처를 모두 정리해 두었으니, 사업을 키워가면서 다시 펼쳐보시기 바랍니다.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76695" y="7592263"/>
            <a:ext cx="10477195" cy="9144"/>
          </a:xfrm>
          <a:prstGeom prst="rect">
            <a:avLst/>
          </a:prstGeom>
          <a:solidFill>
            <a:srgbClr val="0E1B2C">
              <a:alpha val="20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476695" y="7239305"/>
            <a:ext cx="104781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CONTENTS · 부록 5장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76695" y="7791602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76695" y="8010144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 프레임워크 원전 인용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618220" y="7791602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102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618220" y="8010144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도서 10권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0759745" y="7791602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0759745" y="8010144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 창업 데이터 · 기관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2900355" y="7791602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900355" y="8010144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용어 사전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5041880" y="7791602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105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041880" y="8010144"/>
            <a:ext cx="1914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· 연락</a:t>
            </a:r>
            <a:endParaRPr lang="en-US" sz="1700" dirty="0"/>
          </a:p>
        </p:txBody>
      </p:sp>
      <p:sp>
        <p:nvSpPr>
          <p:cNvPr id="25" name="PageNumber"/>
          <p:cNvSpPr txBox="1"/>
          <p:nvPr/>
        </p:nvSpPr>
        <p:spPr>
          <a:xfrm>
            <a:off x="15694429" y="406399"/>
            <a:ext cx="1450571" cy="408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 / 105</a:t>
            </a:r>
            <a:endParaRPr lang="en-US" sz="16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00933833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685700"/>
            <a:ext cx="16002000" cy="91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400507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APPENDIX · PRIMARY SOURCES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8개 프레임워크 — 원전 인용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교과서가 아닌 발표 당시의 1차 자료. 원문은 JSTOR, HBR 아카이브, Strategyzer 등에서 접근 가능.</a:t>
            </a:r>
            <a:endParaRPr lang="en-US" sz="1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819586"/>
              </p:ext>
            </p:extLst>
          </p:nvPr>
        </p:nvGraphicFramePr>
        <p:xfrm>
          <a:off x="1143000" y="2352751"/>
          <a:ext cx="15991942" cy="6202136"/>
        </p:xfrm>
        <a:graphic>
          <a:graphicData uri="http://schemas.openxmlformats.org/drawingml/2006/table">
            <a:tbl>
              <a:tblPr/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1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2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1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프레임워크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연도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저자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원전 (제목 · 출처 · 페이지)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접근 / DOI · 비고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1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Ansoff Matrix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1957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H. Igor Ansoff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"Strategies for Diversification", </a:t>
                      </a:r>
                      <a:r>
                        <a:rPr lang="en-US" sz="1200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Harvard Business Review</a:t>
                      </a: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35(5): 113-124 · Sep-Oct</a:t>
                      </a:r>
                      <a:endParaRPr lang="en-US" sz="12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HBR Archive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1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SWOT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1960s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R. F. Stewart (SRI)</a:t>
                      </a:r>
                      <a:endParaRPr lang="en-US" sz="14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SRI 「SOFT Approach」(1965) · 기원 연구 Puyt et al. (2023) · 후속: Weihrich, H. (1982) "The TOWS Matrix"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Long Range Planning 15(2): 54-66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1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PESTEL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1967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Francis J. Aguilar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Scanning the Business Environment</a:t>
                      </a: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 New York: Macmillan — 원형은 "ETPS" (Economic·Technical·Political·Social)</a:t>
                      </a:r>
                      <a:endParaRPr lang="en-US" sz="12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후 PEST→PESTLE 확장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1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BCG Matrix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1970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Bruce D. Henderson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"The Product Portfolio", </a:t>
                      </a:r>
                      <a:r>
                        <a:rPr lang="en-US" sz="1200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BCG Perspectives</a:t>
                      </a: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No. 66 — 후속: "The Experience Curve Reviewed: IV. The Growth Share Matrix" (1973)</a:t>
                      </a:r>
                      <a:endParaRPr lang="en-US" sz="12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BCG Archive · bcg.com/history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1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Porter 5 Forces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1979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Michael E. Porter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"How Competitive Forces Shape Strategy", </a:t>
                      </a:r>
                      <a:r>
                        <a:rPr lang="en-US" sz="1200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Harvard Business Review</a:t>
                      </a: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57(2): 137-145 · Mar-Apr — 후속: </a:t>
                      </a:r>
                      <a:r>
                        <a:rPr lang="en-US" sz="1200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Competitive Strategy</a:t>
                      </a: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(1980)</a:t>
                      </a:r>
                      <a:endParaRPr lang="en-US" sz="12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HBR Archive · ID 79208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1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Value Chain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1985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Michael E. Porter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Competitive Advantage: Creating and Sustaining Superior Performance</a:t>
                      </a: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 New York: Free Press, Ch. 2 "The Value Chain and Competitive Advantage" pp.33-61</a:t>
                      </a:r>
                      <a:endParaRPr lang="en-US" sz="12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Free Press · ISBN 0-684-84146-0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1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VRIO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1991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Jay B. Barney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"Firm Resources and Sustained Competitive Advantage", </a:t>
                      </a:r>
                      <a:r>
                        <a:rPr lang="en-US" sz="1200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Journal of Management</a:t>
                      </a: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17(1): 99-120 — 원형은 VRIN, Barney (1995) AME 9(4)에서 N→O로 개정</a:t>
                      </a:r>
                      <a:endParaRPr lang="en-US" sz="12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DOI 10.1177/014920639101700108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1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Business</a:t>
                      </a:r>
                      <a:endParaRPr lang="en-US" sz="16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Model Canvas</a:t>
                      </a:r>
                      <a:endParaRPr lang="en-US" sz="16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C58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2010</a:t>
                      </a:r>
                      <a:endParaRPr lang="en-US" sz="16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A. Osterwalder</a:t>
                      </a:r>
                      <a:endParaRPr lang="en-US" sz="1400" dirty="0"/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Y. Pigneur</a:t>
                      </a:r>
                      <a:endParaRPr lang="en-US" sz="14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i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Business Model Generation</a:t>
                      </a: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 Hoboken: Wiley — 원형은 Osterwalder의 2004 박사 학위논문 "The Business Model Ontology" (Univ. of Lausanne)</a:t>
                      </a:r>
                      <a:endParaRPr lang="en-US" sz="12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strategyzer.com/canvas</a:t>
                      </a:r>
                      <a:endParaRPr lang="en-US" sz="12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ISBN 978-0470876411</a:t>
                      </a:r>
                      <a:endParaRPr lang="en-US" sz="1200" dirty="0"/>
                    </a:p>
                  </a:txBody>
                  <a:tcPr marL="133502" marR="133502" marT="114300" marB="11430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143000" y="8949016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원전을 봐야 하나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교과서 요약은 5%만 전한다. 원전은 저자가 어떤 문제를 풀려 했는지, 어떤 한계를 인정했는지를 담고 있다. 한 프레임워크에 </a:t>
            </a: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진지해진다면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원전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1편씩은 읽기.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9419071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경로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HBR(hbr.org/archive) · JSTOR(대학 도서관) · Google Scholar · Strategyzer(BMC) · BCG History page · 국내 대학 도서관 RISS.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9875895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SOURCES · 8 FRAMEWORKS · 1957-2010</a:t>
            </a:r>
            <a:endParaRPr lang="en-US" sz="1500" dirty="0"/>
          </a:p>
        </p:txBody>
      </p:sp>
      <p:sp>
        <p:nvSpPr>
          <p:cNvPr id="14" name="PageNumber"/>
          <p:cNvSpPr txBox="1"/>
          <p:nvPr/>
        </p:nvSpPr>
        <p:spPr>
          <a:xfrm>
            <a:off x="15430500" y="40640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101 / 105</a:t>
            </a:r>
            <a:endParaRPr lang="en-US" sz="1600" dirty="0"/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505646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8762695"/>
            <a:ext cx="16002000" cy="476402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APPENDIX · RECOMMENDED READING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추천 도서 10권 — 다음 1년의 읽기 목록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내용을 깊이 있게 확장할 책들. 우선순위 ★(필독) → ◯(추천). 두꺼운 책은 1장+결론만 읽어도 된다.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2762402"/>
            <a:ext cx="7905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CLASSICS · 5권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143000" y="4058107"/>
            <a:ext cx="7905902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1143000" y="3314700"/>
            <a:ext cx="3429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★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619402" y="3390595"/>
            <a:ext cx="609921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Understanding Michael Porter — Joan Magretta (2012)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143000" y="4981651"/>
            <a:ext cx="7905902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1143000" y="4238244"/>
            <a:ext cx="3429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★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 rot="10800000" flipV="1">
            <a:off x="1619402" y="4210812"/>
            <a:ext cx="5800954" cy="199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Good Strategy / Bad Strategy — Richard Rumelt (2011)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143000" y="5905195"/>
            <a:ext cx="7905902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1143000" y="5162702"/>
            <a:ext cx="3429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★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1619402" y="5175449"/>
            <a:ext cx="5238598" cy="276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Competitive Strategy — Michael Porter (1980)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143000" y="6829654"/>
            <a:ext cx="7905902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1619401" y="6066532"/>
            <a:ext cx="6516069" cy="245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Business Model Generation — Osterwalder &amp; Pigneur (2010)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618488" y="6872578"/>
            <a:ext cx="5238598" cy="502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Corporate Strategy — H. Igor Ansoff (1965)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1619402" y="3685946"/>
            <a:ext cx="58009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Porter의 5Forces·Value Chain·전략을 한 권으로 압축한 책. Porter 의 협력으로 쓰인 입문서.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1619402" y="4541905"/>
            <a:ext cx="6986716" cy="223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대부분의 "전략"은 가짜 전략인가. 진단·정책·일관된 행동(kernel)이 진짜 전략.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678381" y="5532712"/>
            <a:ext cx="4310482" cy="23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5Forces 교과서. 두꺼우니 1·2장만 읽어도 충분.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143000" y="6086246"/>
            <a:ext cx="3429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>
                    <a:alpha val="7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◯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1633601" y="6405777"/>
            <a:ext cx="5115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BMC 원전. 시각적 디자인이 훌륭한 펼침형 책.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143000" y="7010705"/>
            <a:ext cx="3429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>
                    <a:alpha val="7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◯</a:t>
            </a:r>
            <a:endParaRPr lang="en-US" sz="1900" dirty="0"/>
          </a:p>
        </p:txBody>
      </p:sp>
      <p:sp>
        <p:nvSpPr>
          <p:cNvPr id="30" name="Text 26"/>
          <p:cNvSpPr txBox="1"/>
          <p:nvPr/>
        </p:nvSpPr>
        <p:spPr>
          <a:xfrm>
            <a:off x="1633601" y="7400401"/>
            <a:ext cx="6354704" cy="3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전략기획 분야의 시조. Ansoff 매트릭스 + 시너지 개념의 원전.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9430207" y="2762402"/>
            <a:ext cx="7715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PRACTICE · 창업 실무 5권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9430207" y="4058107"/>
            <a:ext cx="7715707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9430207" y="3314700"/>
            <a:ext cx="3429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★</a:t>
            </a:r>
            <a:endParaRPr lang="en-US" sz="1900" dirty="0"/>
          </a:p>
        </p:txBody>
      </p:sp>
      <p:sp>
        <p:nvSpPr>
          <p:cNvPr id="34" name="Text 30"/>
          <p:cNvSpPr txBox="1"/>
          <p:nvPr/>
        </p:nvSpPr>
        <p:spPr>
          <a:xfrm>
            <a:off x="9905695" y="3390595"/>
            <a:ext cx="37307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The Lean Startup — Eric Ries (2011)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9430207" y="4981651"/>
            <a:ext cx="7715707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6" name="Text 32"/>
          <p:cNvSpPr txBox="1"/>
          <p:nvPr/>
        </p:nvSpPr>
        <p:spPr>
          <a:xfrm>
            <a:off x="9430207" y="4238244"/>
            <a:ext cx="3429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C58A2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★</a:t>
            </a:r>
            <a:endParaRPr lang="en-US" sz="1900" dirty="0"/>
          </a:p>
        </p:txBody>
      </p:sp>
      <p:sp>
        <p:nvSpPr>
          <p:cNvPr id="37" name="Text 33"/>
          <p:cNvSpPr txBox="1"/>
          <p:nvPr/>
        </p:nvSpPr>
        <p:spPr>
          <a:xfrm>
            <a:off x="9910428" y="4234880"/>
            <a:ext cx="3877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Zero to One — Peter Thiel (2014)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9430207" y="5905195"/>
            <a:ext cx="7715707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39" name="Text 35"/>
          <p:cNvSpPr txBox="1"/>
          <p:nvPr/>
        </p:nvSpPr>
        <p:spPr>
          <a:xfrm>
            <a:off x="9905694" y="5105098"/>
            <a:ext cx="5805687" cy="37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Playing to Win — A.G. Lafley &amp; R. Martin (2013)</a:t>
            </a:r>
            <a:endParaRPr lang="en-US" sz="1800" dirty="0"/>
          </a:p>
        </p:txBody>
      </p:sp>
      <p:sp>
        <p:nvSpPr>
          <p:cNvPr id="40" name="Shape 36"/>
          <p:cNvSpPr/>
          <p:nvPr/>
        </p:nvSpPr>
        <p:spPr>
          <a:xfrm>
            <a:off x="9430207" y="6829654"/>
            <a:ext cx="7715707" cy="9144"/>
          </a:xfrm>
          <a:prstGeom prst="rect">
            <a:avLst/>
          </a:prstGeom>
          <a:solidFill>
            <a:srgbClr val="0E1B2C">
              <a:alpha val="18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sp>
        <p:nvSpPr>
          <p:cNvPr id="41" name="Text 37"/>
          <p:cNvSpPr txBox="1"/>
          <p:nvPr/>
        </p:nvSpPr>
        <p:spPr>
          <a:xfrm>
            <a:off x="9928124" y="5962802"/>
            <a:ext cx="6365246" cy="348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Bulletproof Problem Solving — Conn &amp; McLean (2018)</a:t>
            </a:r>
            <a:endParaRPr lang="en-US" sz="1800" dirty="0"/>
          </a:p>
        </p:txBody>
      </p:sp>
      <p:sp>
        <p:nvSpPr>
          <p:cNvPr id="42" name="Text 38"/>
          <p:cNvSpPr txBox="1"/>
          <p:nvPr/>
        </p:nvSpPr>
        <p:spPr>
          <a:xfrm>
            <a:off x="9910428" y="6925910"/>
            <a:ext cx="6354704" cy="309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-4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린 분석 — Alistair Croll &amp; Benjamin Yoskovitz (2013)</a:t>
            </a:r>
            <a:endParaRPr lang="en-US" sz="1800" dirty="0"/>
          </a:p>
        </p:txBody>
      </p:sp>
      <p:sp>
        <p:nvSpPr>
          <p:cNvPr id="43" name="Text 39"/>
          <p:cNvSpPr txBox="1"/>
          <p:nvPr/>
        </p:nvSpPr>
        <p:spPr>
          <a:xfrm>
            <a:off x="9910428" y="3645603"/>
            <a:ext cx="5800954" cy="399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MVP·Build-Measure-Learn 사이클. BMC의 가설 검증 짝꿍.</a:t>
            </a:r>
            <a:endParaRPr lang="en-US" sz="1600" dirty="0"/>
          </a:p>
        </p:txBody>
      </p:sp>
      <p:sp>
        <p:nvSpPr>
          <p:cNvPr id="44" name="Text 40"/>
          <p:cNvSpPr txBox="1"/>
          <p:nvPr/>
        </p:nvSpPr>
        <p:spPr>
          <a:xfrm>
            <a:off x="9905694" y="4610404"/>
            <a:ext cx="6217329" cy="256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"독점은 좋고 경쟁은 나쁘다" Porter의 정반대 관점. 함께 읽으면 균형.</a:t>
            </a:r>
            <a:endParaRPr lang="en-US" sz="1600" dirty="0"/>
          </a:p>
        </p:txBody>
      </p:sp>
      <p:sp>
        <p:nvSpPr>
          <p:cNvPr id="45" name="Text 41"/>
          <p:cNvSpPr txBox="1"/>
          <p:nvPr/>
        </p:nvSpPr>
        <p:spPr>
          <a:xfrm>
            <a:off x="9430207" y="5162702"/>
            <a:ext cx="3429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>
                    <a:alpha val="7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◯</a:t>
            </a:r>
            <a:endParaRPr lang="en-US" sz="1900" dirty="0"/>
          </a:p>
        </p:txBody>
      </p:sp>
      <p:sp>
        <p:nvSpPr>
          <p:cNvPr id="46" name="Text 42"/>
          <p:cNvSpPr txBox="1"/>
          <p:nvPr/>
        </p:nvSpPr>
        <p:spPr>
          <a:xfrm>
            <a:off x="9928124" y="5452812"/>
            <a:ext cx="5067605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전략을 "5가지 질문"으로 단순화. P&amp;G CEO 사례.</a:t>
            </a:r>
            <a:endParaRPr lang="en-US" sz="1600" dirty="0"/>
          </a:p>
        </p:txBody>
      </p:sp>
      <p:sp>
        <p:nvSpPr>
          <p:cNvPr id="47" name="Text 43"/>
          <p:cNvSpPr txBox="1"/>
          <p:nvPr/>
        </p:nvSpPr>
        <p:spPr>
          <a:xfrm>
            <a:off x="9430207" y="6086246"/>
            <a:ext cx="3429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>
                    <a:alpha val="7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◯</a:t>
            </a:r>
            <a:endParaRPr lang="en-US" sz="1900" dirty="0"/>
          </a:p>
        </p:txBody>
      </p:sp>
      <p:sp>
        <p:nvSpPr>
          <p:cNvPr id="48" name="Text 44"/>
          <p:cNvSpPr txBox="1"/>
          <p:nvPr/>
        </p:nvSpPr>
        <p:spPr>
          <a:xfrm>
            <a:off x="9905695" y="6348676"/>
            <a:ext cx="5805687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맥킨지식 이슈트리 분해. 분석을 의사결정으로 잇는 7단계.</a:t>
            </a:r>
            <a:endParaRPr lang="en-US" sz="1600" dirty="0"/>
          </a:p>
        </p:txBody>
      </p:sp>
      <p:sp>
        <p:nvSpPr>
          <p:cNvPr id="49" name="Text 45"/>
          <p:cNvSpPr txBox="1"/>
          <p:nvPr/>
        </p:nvSpPr>
        <p:spPr>
          <a:xfrm>
            <a:off x="9430207" y="7010705"/>
            <a:ext cx="3429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-58" dirty="0">
                <a:solidFill>
                  <a:srgbClr val="0E1B2C">
                    <a:alpha val="7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◯</a:t>
            </a:r>
            <a:endParaRPr lang="en-US" sz="1900" dirty="0"/>
          </a:p>
        </p:txBody>
      </p:sp>
      <p:sp>
        <p:nvSpPr>
          <p:cNvPr id="50" name="Text 46"/>
          <p:cNvSpPr txBox="1"/>
          <p:nvPr/>
        </p:nvSpPr>
        <p:spPr>
          <a:xfrm>
            <a:off x="9910428" y="7300947"/>
            <a:ext cx="5934940" cy="37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E1B2C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OMTM(One Metric That Matters). 사업 단계별 핵심 지표.</a:t>
            </a:r>
            <a:endParaRPr lang="en-US" sz="1600" dirty="0"/>
          </a:p>
        </p:txBody>
      </p:sp>
      <p:sp>
        <p:nvSpPr>
          <p:cNvPr id="51" name="Text 47"/>
          <p:cNvSpPr txBox="1"/>
          <p:nvPr/>
        </p:nvSpPr>
        <p:spPr>
          <a:xfrm>
            <a:off x="1333195" y="8906256"/>
            <a:ext cx="1562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챌린지</a:t>
            </a:r>
            <a:r>
              <a:rPr lang="en-US" sz="1700" dirty="0">
                <a:solidFill>
                  <a:srgbClr val="F4EF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한 달에 1권씩 ★ 3권부터 → ◯ 5권 → 원전 직접 읽기. 분량보다 적용이 중요.</a:t>
            </a:r>
            <a:endParaRPr lang="en-US" sz="1700" dirty="0"/>
          </a:p>
        </p:txBody>
      </p:sp>
      <p:sp>
        <p:nvSpPr>
          <p:cNvPr id="52" name="Text 48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REFERENCES · 10 BOOKS · CLASSICS 5 + PRACTICE 5</a:t>
            </a:r>
            <a:endParaRPr lang="en-US" sz="1500" dirty="0"/>
          </a:p>
        </p:txBody>
      </p:sp>
      <p:sp>
        <p:nvSpPr>
          <p:cNvPr id="53" name="PageNumber"/>
          <p:cNvSpPr txBox="1"/>
          <p:nvPr/>
        </p:nvSpPr>
        <p:spPr>
          <a:xfrm>
            <a:off x="15644553" y="406399"/>
            <a:ext cx="1500447" cy="355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102 / 105</a:t>
            </a:r>
            <a:endParaRPr lang="en-US" sz="16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6793305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896094"/>
            <a:ext cx="16002000" cy="91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4005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APPENDIX · JEONNAM · 데이터 · 지원기관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전남 창업 — 데이터 · 지원기관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90469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PESTEL · 5Forces · BCG에 넣을 1차 데이터의 출처. 첫 분기에 한 번씩은 확인.</a:t>
            </a:r>
            <a:endParaRPr lang="en-US" sz="1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302093"/>
              </p:ext>
            </p:extLst>
          </p:nvPr>
        </p:nvGraphicFramePr>
        <p:xfrm>
          <a:off x="1143000" y="2344091"/>
          <a:ext cx="15991942" cy="6417564"/>
        </p:xfrm>
        <a:graphic>
          <a:graphicData uri="http://schemas.openxmlformats.org/drawingml/2006/table">
            <a:tbl>
              <a:tblPr/>
              <a:tblGrid>
                <a:gridCol w="1514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7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0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802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분류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기관 / 사이트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제공 데이터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활용 프레임워크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접근 URL · 비고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02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국가 통계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통계청 KOSIS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인구 · 가구 구조 · 산업·업종별 사업체 · 종사자 수 · 매출 · 지역 GRDP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PESTEL(사회·경제) · BCG(시장성장)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kosis.kr · 무료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02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국가 통계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한국은행 ECOS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금리 · 환율 · 물가 · 산업별 BSI · 가계신용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PESTEL(경제)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ecos.bok.or.kr · 무료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02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전남 통계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전라남도청 통계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전남 인구 · 산업 · 농수산·관광 데이터 · 시군별 세부 통계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PESTEL · 시장 분석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jeonnam.go.kr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02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전남 창업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전남창조경제혁신센터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창업 지원 프로그램 · 멘토링 · IR · 액셀러레이팅 · 시제품 제작 지원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실행 · 자금 · 네트워크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ccei.creativekorea.or.kr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02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전남 창업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전남테크노파크 (전남TP)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R&amp;D 과제 · 기술 사업화 · 시험분석 · 인증 · 마케팅 지원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VRIO(기술자원) · VC(S3)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jntp.or.kr · 순천·목포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802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중앙 창업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K-Startup (중기부)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예비창업패키지 · 초기창업패키지 · TIPS · 공공 데이터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자금 · 시장 데이터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k-startup.go.kr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02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산업 데이터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KOTRA · 한국무역협회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수출입 · 해외 시장 · 바이어 · 환경 분석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Ansoff(Q3 시장개발) · PESTEL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kotra.or.kr / kita.net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7450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수산·농업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KMI 한국해양수산개발원</a:t>
                      </a:r>
                      <a:endParaRPr lang="en-US" sz="14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KREI 한국농촌경제연구원</a:t>
                      </a:r>
                      <a:endParaRPr lang="en-US" sz="1400" dirty="0"/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김·전복·미역 등 해양산업 보고서 · 농산물 가격·생산 통계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PESTEL · 5Forces · BCG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kmi.re.kr · krei.re.kr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450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관광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한국관광공사</a:t>
                      </a:r>
                      <a:endParaRPr lang="en-US" sz="14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전남관광재단</a:t>
                      </a:r>
                      <a:endParaRPr lang="en-US" sz="1400" dirty="0"/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방문객 수 · 외국인 관광 · 지역별 관광 트렌드 · 숙박업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관광 스타트업 PESTEL · 5F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datalab.visitkorea.or.kr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802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 데이터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금감원 DART · NICE신용평가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상장사 · 외부감사 대상 기업 재무·매출 · 경쟁사 분석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5Forces · BCG · 경쟁사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dart.fss.or.kr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7450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EFE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AI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공공데이터포털</a:t>
                      </a:r>
                      <a:endParaRPr lang="en-US" sz="1400" dirty="0"/>
                    </a:p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네이버 데이터랩</a:t>
                      </a:r>
                      <a:endParaRPr lang="en-US" sz="1400" dirty="0"/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1만+ 공공 API · 검색 트렌드 · 카드 매출 · 지역별 소비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PESTEL(사회) · 시장 사이즈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E1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data.go.kr · datalab.naver.com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143000" y="9309735"/>
            <a:ext cx="1619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우선순위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① KOSIS로 기본 통계 → ② 전남도청·전남TP·전남창조경제혁신센터 정보 → ③ DART로 경쟁사 재무 → ④ 부족한 부분만 ChatGPT 보완. </a:t>
            </a:r>
            <a:b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8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r>
              <a:rPr lang="en-US" sz="18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명시 없는 숫자는 사업계획서에서 빼라.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9998964"/>
            <a:ext cx="1428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JEONNAM STARTUP DATA · 11 SOURCES · 무료 공공 데이터 우선</a:t>
            </a:r>
            <a:endParaRPr lang="en-US" sz="1500" dirty="0"/>
          </a:p>
        </p:txBody>
      </p:sp>
      <p:sp>
        <p:nvSpPr>
          <p:cNvPr id="13" name="PageNumber"/>
          <p:cNvSpPr txBox="1"/>
          <p:nvPr/>
        </p:nvSpPr>
        <p:spPr>
          <a:xfrm>
            <a:off x="15661178" y="406400"/>
            <a:ext cx="1483822" cy="319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103 / 105</a:t>
            </a:r>
            <a:endParaRPr lang="en-US" sz="1600" dirty="0"/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6867399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18000"/>
          </a:blip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30000"/>
          </a:blip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400507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APPENDIX · GLOSSARY · 24 TERMS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238098"/>
            <a:ext cx="16193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kern="0" spc="-103" dirty="0">
                <a:solidFill>
                  <a:srgbClr val="0E1B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용어 사전 — 24개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904695"/>
            <a:ext cx="16193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E1B2C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중 반복 등장한 용어 24개. 모르는 채로 넘어가지 말 것 — 한 줄 정의로 충분.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143000" y="3276309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11" name="Text 7"/>
          <p:cNvSpPr txBox="1"/>
          <p:nvPr/>
        </p:nvSpPr>
        <p:spPr>
          <a:xfrm>
            <a:off x="1143000" y="2667000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TAM · SAM · SOM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전체시장 · 가용시장 · 획득가능시장. 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시장 사이즈.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143000" y="4063127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13" name="Text 9"/>
          <p:cNvSpPr txBox="1"/>
          <p:nvPr/>
        </p:nvSpPr>
        <p:spPr>
          <a:xfrm>
            <a:off x="1143000" y="3453818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PMF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Product-Market Fit. 제품·시장 적합도. 재구매 + NPS로 측정.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1143000" y="4849945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15" name="Text 11"/>
          <p:cNvSpPr txBox="1"/>
          <p:nvPr/>
        </p:nvSpPr>
        <p:spPr>
          <a:xfrm>
            <a:off x="1143000" y="4240636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Minimum Viable Product. 학습용 최소제품. 외관보다 가설검증.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143000" y="5636763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17" name="Text 13"/>
          <p:cNvSpPr txBox="1"/>
          <p:nvPr/>
        </p:nvSpPr>
        <p:spPr>
          <a:xfrm>
            <a:off x="1143000" y="5027454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CAC · LTV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고객획득비용 · 고객생애가치. LTV ≥ 3×CAC가 건강.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1143000" y="6423581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19" name="Text 15"/>
          <p:cNvSpPr txBox="1"/>
          <p:nvPr/>
        </p:nvSpPr>
        <p:spPr>
          <a:xfrm>
            <a:off x="1143000" y="5814272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NPS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Net Promoter Score. -100 ~ +100. 50+ 우수.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1143000" y="7210399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21" name="Text 17"/>
          <p:cNvSpPr txBox="1"/>
          <p:nvPr/>
        </p:nvSpPr>
        <p:spPr>
          <a:xfrm>
            <a:off x="1143000" y="6601090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단위경제 (Unit Economics)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고객 1명 단위의 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매출-비용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음수면 사업 X.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1143000" y="7997217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23" name="Text 19"/>
          <p:cNvSpPr txBox="1"/>
          <p:nvPr/>
        </p:nvSpPr>
        <p:spPr>
          <a:xfrm>
            <a:off x="1143000" y="7387908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D2C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Direct-to-Consumer. 자사몰 등 중간상 거치지 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않는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판매.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155700" y="8174723"/>
            <a:ext cx="5143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 / B2C / B2G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기업·소비자·정부 대상 거래.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578600" y="3270023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26" name="Text 22"/>
          <p:cNvSpPr txBox="1"/>
          <p:nvPr/>
        </p:nvSpPr>
        <p:spPr>
          <a:xfrm>
            <a:off x="6578600" y="2667000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SBU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Strategic Business Unit. BCG의 분석 단위. 회사 안의 사업부.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578600" y="4044269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28" name="Text 24"/>
          <p:cNvSpPr txBox="1"/>
          <p:nvPr/>
        </p:nvSpPr>
        <p:spPr>
          <a:xfrm>
            <a:off x="6578600" y="3441246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Stuck in the middle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Porter — 원가·차별화 양쪽 어중간한 상태. 둘 다 진다.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578600" y="5136015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30" name="Text 26"/>
          <p:cNvSpPr txBox="1"/>
          <p:nvPr/>
        </p:nvSpPr>
        <p:spPr>
          <a:xfrm>
            <a:off x="6578600" y="4215492"/>
            <a:ext cx="5143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진입장벽 (Entry Barrier)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신규기업이 들어오기 어렵게 하는 요소. 자본 · 규제 · 브랜드 · 학습곡선.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6578600" y="5910261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32" name="Text 28"/>
          <p:cNvSpPr txBox="1"/>
          <p:nvPr/>
        </p:nvSpPr>
        <p:spPr>
          <a:xfrm>
            <a:off x="6578600" y="5307238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교섭력 (Bargaining Power)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공급자·구매자가 가격·조건을 강요할 수 있는 힘.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6578600" y="6684507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34" name="Text 30"/>
          <p:cNvSpPr txBox="1"/>
          <p:nvPr/>
        </p:nvSpPr>
        <p:spPr>
          <a:xfrm>
            <a:off x="6578600" y="6081484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대체재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같은 욕구를 다르게 충족하는 다른 산업의 제품 (영화↔게임).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6578600" y="6855730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VRIO 4단계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Value · Rarity · Inimitability · Organization. 모두 통과해야 지속 우위.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6578600" y="7458753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38" name="Text 34"/>
          <p:cNvSpPr txBox="1"/>
          <p:nvPr/>
        </p:nvSpPr>
        <p:spPr>
          <a:xfrm>
            <a:off x="6578599" y="7629976"/>
            <a:ext cx="5295153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RBV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Resource-Based View. 자원기반 관점. Barney의 학파.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6578600" y="8233005"/>
            <a:ext cx="5143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 or Buy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직접 할지 외주할지 결정. 자원이 모자란 창업자의 필수 결정.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12001500" y="3289786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41" name="Text 37"/>
          <p:cNvSpPr txBox="1"/>
          <p:nvPr/>
        </p:nvSpPr>
        <p:spPr>
          <a:xfrm>
            <a:off x="12001500" y="2667000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Cash Cow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BCG — 저성장·고점유. 현금 생성, 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dirty="0" err="1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</a:t>
            </a:r>
            <a:br>
              <a:rPr lang="en-US" sz="160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60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자금원.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12001500" y="4103558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43" name="Text 39"/>
          <p:cNvSpPr txBox="1"/>
          <p:nvPr/>
        </p:nvSpPr>
        <p:spPr>
          <a:xfrm>
            <a:off x="12001500" y="3480772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BCG — 고성장·고점유. 재투자해서 Cash Cow로 발전.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12001500" y="4917330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45" name="Text 41"/>
          <p:cNvSpPr txBox="1"/>
          <p:nvPr/>
        </p:nvSpPr>
        <p:spPr>
          <a:xfrm>
            <a:off x="12001500" y="4294544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Question Mark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BCG — 고성장·저점유. 투자 or 철수 의사결정 필요.</a:t>
            </a:r>
            <a:endParaRPr lang="en-US" sz="1600" dirty="0"/>
          </a:p>
        </p:txBody>
      </p:sp>
      <p:sp>
        <p:nvSpPr>
          <p:cNvPr id="46" name="Shape 42"/>
          <p:cNvSpPr/>
          <p:nvPr/>
        </p:nvSpPr>
        <p:spPr>
          <a:xfrm>
            <a:off x="12001500" y="5731102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47" name="Text 43"/>
          <p:cNvSpPr txBox="1"/>
          <p:nvPr/>
        </p:nvSpPr>
        <p:spPr>
          <a:xfrm>
            <a:off x="12001500" y="5108316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TOWS Matrix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Weihrich 1982 — SWOT 4칸을 교차해 SO·ST·WO·WT 전략 도출.</a:t>
            </a:r>
            <a:endParaRPr lang="en-US" sz="1600" dirty="0"/>
          </a:p>
        </p:txBody>
      </p:sp>
      <p:sp>
        <p:nvSpPr>
          <p:cNvPr id="48" name="Shape 44"/>
          <p:cNvSpPr/>
          <p:nvPr/>
        </p:nvSpPr>
        <p:spPr>
          <a:xfrm>
            <a:off x="12001500" y="6544874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49" name="Text 45"/>
          <p:cNvSpPr txBox="1"/>
          <p:nvPr/>
        </p:nvSpPr>
        <p:spPr>
          <a:xfrm>
            <a:off x="12001500" y="5922088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침투 (Market Penetration)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Ansoff Q1 — 같은 제품을 같은 시장에. 위험 ×1.</a:t>
            </a:r>
            <a:endParaRPr lang="en-US" sz="1600" dirty="0"/>
          </a:p>
        </p:txBody>
      </p:sp>
      <p:sp>
        <p:nvSpPr>
          <p:cNvPr id="50" name="Shape 46"/>
          <p:cNvSpPr/>
          <p:nvPr/>
        </p:nvSpPr>
        <p:spPr>
          <a:xfrm>
            <a:off x="12001500" y="7358646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51" name="Text 47"/>
          <p:cNvSpPr txBox="1"/>
          <p:nvPr/>
        </p:nvSpPr>
        <p:spPr>
          <a:xfrm>
            <a:off x="12001500" y="6735860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다각화 (Diversification)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Ansoff Q4 — 새 제품 + 새 시장. 위험 ×9.</a:t>
            </a:r>
            <a:endParaRPr lang="en-US" sz="1600" dirty="0"/>
          </a:p>
        </p:txBody>
      </p:sp>
      <p:sp>
        <p:nvSpPr>
          <p:cNvPr id="52" name="Shape 48"/>
          <p:cNvSpPr/>
          <p:nvPr/>
        </p:nvSpPr>
        <p:spPr>
          <a:xfrm>
            <a:off x="12001500" y="8172418"/>
            <a:ext cx="5143500" cy="12700"/>
          </a:xfrm>
          <a:prstGeom prst="rect">
            <a:avLst/>
          </a:prstGeom>
          <a:solidFill>
            <a:srgbClr val="0E1B2C">
              <a:alpha val="15000"/>
            </a:srgbClr>
          </a:solidFill>
          <a:ln w="12700">
            <a:solidFill>
              <a:srgbClr val="0E1B2C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>
              <a:lnSpc>
                <a:spcPct val="150000"/>
              </a:lnSpc>
            </a:pPr>
            <a:endParaRPr lang="ko-KR" altLang="en-US" sz="1600"/>
          </a:p>
        </p:txBody>
      </p:sp>
      <p:sp>
        <p:nvSpPr>
          <p:cNvPr id="53" name="Text 49"/>
          <p:cNvSpPr txBox="1"/>
          <p:nvPr/>
        </p:nvSpPr>
        <p:spPr>
          <a:xfrm>
            <a:off x="12001500" y="7549632"/>
            <a:ext cx="5143500" cy="44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 페르소나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고객을 3-5개 가상 인물로 정의해 AI로 시뮬레이션.</a:t>
            </a:r>
            <a:endParaRPr lang="en-US" sz="1600" dirty="0"/>
          </a:p>
        </p:txBody>
      </p:sp>
      <p:sp>
        <p:nvSpPr>
          <p:cNvPr id="54" name="Text 50"/>
          <p:cNvSpPr txBox="1"/>
          <p:nvPr/>
        </p:nvSpPr>
        <p:spPr>
          <a:xfrm>
            <a:off x="12001500" y="8363407"/>
            <a:ext cx="5143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58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엔지니어링</a:t>
            </a:r>
            <a:r>
              <a:rPr lang="en-US" sz="1600" dirty="0">
                <a:solidFill>
                  <a:srgbClr val="0E1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AI에게 정확한 답을 받기 위한 입력 설계. 페르소나·목표·제약·예시 4요소.</a:t>
            </a:r>
            <a:endParaRPr lang="en-US" sz="1600" dirty="0"/>
          </a:p>
        </p:txBody>
      </p:sp>
      <p:sp>
        <p:nvSpPr>
          <p:cNvPr id="55" name="Text 51"/>
          <p:cNvSpPr txBox="1"/>
          <p:nvPr/>
        </p:nvSpPr>
        <p:spPr>
          <a:xfrm>
            <a:off x="1143000" y="9620402"/>
            <a:ext cx="1428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0E1B2C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GLOSSARY · 24 TERMS · STRATEGY · STARTUP · AI</a:t>
            </a:r>
            <a:endParaRPr lang="en-US" sz="1500" dirty="0"/>
          </a:p>
        </p:txBody>
      </p:sp>
      <p:sp>
        <p:nvSpPr>
          <p:cNvPr id="56" name="PageNumber"/>
          <p:cNvSpPr txBox="1"/>
          <p:nvPr/>
        </p:nvSpPr>
        <p:spPr>
          <a:xfrm>
            <a:off x="15661178" y="406400"/>
            <a:ext cx="1483822" cy="308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104 / 105</a:t>
            </a:r>
            <a:endParaRPr lang="en-US" sz="1600" dirty="0"/>
          </a:p>
        </p:txBody>
      </p:sp>
      <p:sp>
        <p:nvSpPr>
          <p:cNvPr id="5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1662914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1B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1143000" y="1333195"/>
            <a:ext cx="1143000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34195" y="7524598"/>
            <a:ext cx="7830007" cy="1923898"/>
          </a:xfrm>
          <a:prstGeom prst="rect">
            <a:avLst/>
          </a:prstGeom>
          <a:solidFill>
            <a:srgbClr val="F4EFE6">
              <a:alpha val="6000"/>
            </a:srgbClr>
          </a:solidFill>
          <a:ln w="12700">
            <a:solidFill>
              <a:srgbClr val="F4EFE6">
                <a:alpha val="1800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ko-KR" alt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525305"/>
            <a:ext cx="16002000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600200"/>
            <a:ext cx="9525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kern="0" spc="324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 · 12 HOURS · 8 FRAMEWORKS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2476195"/>
            <a:ext cx="1619311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0" i="1" kern="0" spc="-360" dirty="0">
                <a:solidFill>
                  <a:srgbClr val="C58A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Thank you.</a:t>
            </a:r>
            <a:endParaRPr lang="en-US" sz="180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5524805"/>
            <a:ext cx="1619311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400" kern="0" spc="-16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전남에서 시작하는 모든 사업에</a:t>
            </a:r>
            <a:endParaRPr lang="en-US" sz="5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400" kern="0" spc="-162" dirty="0">
                <a:solidFill>
                  <a:srgbClr val="F4EF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응원을 보냅니다.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7524598"/>
            <a:ext cx="7810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WORD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43001" y="7888035"/>
            <a:ext cx="7638032" cy="105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 프레임워크를 외우는 것이 목표가 아닙니다. </a:t>
            </a:r>
            <a:r>
              <a:rPr lang="en-US" sz="1900" b="1" dirty="0">
                <a:solidFill>
                  <a:srgbClr val="C58A2E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"내년에 무엇을 다르게 할 것인가"</a:t>
            </a:r>
            <a:r>
              <a:rPr lang="en-US" sz="19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답할 수 있도록 돕는 것이 목표였습니다. 답이 있다면, 강의는 끝난 게 아니라 시작입니다.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9715500" y="7810805"/>
            <a:ext cx="7049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215" dirty="0">
                <a:solidFill>
                  <a:srgbClr val="C58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90 DAYS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715500" y="8086954"/>
            <a:ext cx="70491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D+30</a:t>
            </a:r>
            <a:r>
              <a:rPr lang="en-US" sz="18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PESTEL · SWOT · BMC 1차 작성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D+60</a:t>
            </a:r>
            <a:r>
              <a:rPr lang="en-US" sz="18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멘토 1명에게 피드백 + 핵심 가설 2개 시장검증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58A2E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D+90</a:t>
            </a:r>
            <a:r>
              <a:rPr lang="en-US" sz="1800" dirty="0">
                <a:solidFill>
                  <a:srgbClr val="F4EFE6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1페이지 사업 보고서 + 다음 분기 Ansoff Y1 액션 5개 확정 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9696298"/>
            <a:ext cx="12382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kern="0" spc="176" dirty="0">
                <a:solidFill>
                  <a:srgbClr val="F4EFE6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기반 비즈니스 기획과 전략 수립 · 사례 지역: 전남 · 12 HRS · 8 FRAMEWORKS</a:t>
            </a:r>
            <a:endParaRPr lang="en-US" sz="1500" dirty="0"/>
          </a:p>
        </p:txBody>
      </p:sp>
      <p:sp>
        <p:nvSpPr>
          <p:cNvPr id="15" name="PageNumber"/>
          <p:cNvSpPr txBox="1"/>
          <p:nvPr/>
        </p:nvSpPr>
        <p:spPr>
          <a:xfrm>
            <a:off x="15913100" y="406400"/>
            <a:ext cx="123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kern="0" spc="231" dirty="0">
                <a:solidFill>
                  <a:srgbClr val="0E1B2C">
                    <a:alpha val="6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105 / 105</a:t>
            </a:r>
            <a:endParaRPr lang="en-US" sz="1600" dirty="0"/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293429619"/>
      </p:ext>
    </p:extLst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E958D9-3287-46BA-AC68-CDC337D791E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80de45d-803d-4434-bc13-cac33350658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2180</TotalTime>
  <Words>24507</Words>
  <Application>Microsoft Office PowerPoint</Application>
  <PresentationFormat>사용자 지정</PresentationFormat>
  <Paragraphs>3263</Paragraphs>
  <Slides>105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105</vt:i4>
      </vt:variant>
    </vt:vector>
  </HeadingPairs>
  <TitlesOfParts>
    <vt:vector size="112" baseType="lpstr">
      <vt:lpstr>Fraunces</vt:lpstr>
      <vt:lpstr>Microsoft YaHei Light</vt:lpstr>
      <vt:lpstr>Noto Sans KR</vt:lpstr>
      <vt:lpstr>Noto Serif KR</vt:lpstr>
      <vt:lpstr>Arial</vt:lpstr>
      <vt:lpstr>IBM Plex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john jung</cp:lastModifiedBy>
  <cp:revision>22</cp:revision>
  <dcterms:created xsi:type="dcterms:W3CDTF">2026-05-12T05:08:23Z</dcterms:created>
  <dcterms:modified xsi:type="dcterms:W3CDTF">2026-05-19T22:57:04Z</dcterms:modified>
</cp:coreProperties>
</file>