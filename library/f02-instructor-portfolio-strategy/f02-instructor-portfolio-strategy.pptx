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6" r:id="rId77"/>
    <p:sldId id="327" r:id="rId78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8" r:id="rId79"/>
  </p:sldIdLst>
  <p:notesMasterIdLst>
    <p:notesMasterId r:id="rId3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0"/>
            <a:ext cx="228600" cy="10287000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gen-dedup-32632fd3bace44a46384d92b94c27275.png">    </p:cNvPr>
          <p:cNvPicPr>
            <a:picLocks noChangeAspect="1"/>
          </p:cNvPicPr>
          <p:nvPr/>
        </p:nvPicPr>
        <p:blipFill>
          <a:blip r:embed="rId1"/>
          <a:srcRect l="0" r="0" t="-399" b="-399"/>
          <a:stretch/>
        </p:blipFill>
        <p:spPr>
          <a:xfrm>
            <a:off x="1524305" y="8762695"/>
            <a:ext cx="15240305" cy="192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24305" y="1333195"/>
            <a:ext cx="15240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363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INSTRUCTOR PORTFOLIO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3238805"/>
            <a:ext cx="15240305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0" b="1" spc="-39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</a:t>
            </a:r>
            <a:pPr algn="l" indent="0" marL="0">
              <a:buNone/>
            </a:pPr>
            <a:endParaRPr lang="en-US" sz="9700" dirty="0"/>
          </a:p>
          <a:p>
            <a:pPr algn="l" indent="0" marL="0">
              <a:buNone/>
            </a:pPr>
            <a:r>
              <a:rPr lang="en-US" sz="9700" b="1" spc="-39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미래전략</a:t>
            </a:r>
            <a:endParaRPr lang="en-US" sz="97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6654089"/>
            <a:ext cx="1596176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 전달자에서 학습 경험 디자이너로 — 다수의 자격을 강의 자산으로 전환하는 2시간.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11099902" y="7862011"/>
            <a:ext cx="66888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Ph.D. 이애본 · 드림아이티비즈(DreamIT Biz)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9048902"/>
            <a:ext cx="7620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2시간 · 70장 · 실습 6단계 포함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9144000" y="9048902"/>
            <a:ext cx="7620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양성 · 직무교육 · 평생교육 분야</a:t>
            </a:r>
            <a:endParaRPr lang="en-US" sz="1800" dirty="0"/>
          </a:p>
        </p:txBody>
      </p:sp>
      <p:sp>
        <p:nvSpPr>
          <p:cNvPr id="1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OPENING · 01 OF 05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나는 왜 강사라는 직업을 좋아하는가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4153205"/>
            <a:ext cx="365942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98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한 사람의 시간을 앞당긴다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4772254"/>
            <a:ext cx="2150669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1시간이</a:t>
            </a:r>
            <a:endParaRPr lang="en-US" sz="25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5419649"/>
            <a:ext cx="388528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학습자의 1년을 줄인다.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1524305" y="6229807"/>
            <a:ext cx="456651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시행착오로 보낸 길을 압축해 전달하면,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524305" y="6648602"/>
            <a:ext cx="403799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학습자는 같은 실수를 반복하지 않는다.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524305" y="7067398"/>
            <a:ext cx="57982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강사의 가장 큰 가치는 ‘앞서 걸어본 사람’의 길 안내다.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667805" y="4153205"/>
            <a:ext cx="254843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98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매번 새로 배운다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667805" y="4772254"/>
            <a:ext cx="2624328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가르치는 사람이</a:t>
            </a:r>
            <a:endParaRPr lang="en-US" sz="2500" dirty="0"/>
          </a:p>
        </p:txBody>
      </p:sp>
      <p:sp>
        <p:nvSpPr>
          <p:cNvPr id="16" name="Text 13"/>
          <p:cNvSpPr txBox="1"/>
          <p:nvPr/>
        </p:nvSpPr>
        <p:spPr>
          <a:xfrm>
            <a:off x="6667805" y="5419649"/>
            <a:ext cx="3042209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많이 배운다.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6667805" y="6229807"/>
            <a:ext cx="48929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대상이 바뀌면 같은 주제도 다시 설계해야 한다.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667805" y="6648602"/>
            <a:ext cx="494324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학생·직장인·교수자·구직자 — 4개 청중을 거치며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667805" y="7067398"/>
            <a:ext cx="57982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주제를 4번 다시 쓰는 일이 곧 전문성을 깊게 만든다.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1811305" y="4153205"/>
            <a:ext cx="327172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98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결과가 사람으로 남는다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1811305" y="4772254"/>
            <a:ext cx="2279599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매출이 아니라</a:t>
            </a:r>
            <a:endParaRPr lang="en-US" sz="2500" dirty="0"/>
          </a:p>
        </p:txBody>
      </p:sp>
      <p:sp>
        <p:nvSpPr>
          <p:cNvPr id="22" name="Text 19"/>
          <p:cNvSpPr txBox="1"/>
          <p:nvPr/>
        </p:nvSpPr>
        <p:spPr>
          <a:xfrm>
            <a:off x="11811305" y="5419649"/>
            <a:ext cx="492953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‘다시 부르는 사람’이 남는다.</a:t>
            </a:r>
            <a:endParaRPr lang="en-US" sz="2500" dirty="0"/>
          </a:p>
        </p:txBody>
      </p:sp>
      <p:sp>
        <p:nvSpPr>
          <p:cNvPr id="23" name="Text 20"/>
          <p:cNvSpPr txBox="1"/>
          <p:nvPr/>
        </p:nvSpPr>
        <p:spPr>
          <a:xfrm>
            <a:off x="11811305" y="6229807"/>
            <a:ext cx="514441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강의의 진짜 KPI는 만족도가 아니라 재의뢰율이다.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1811305" y="6648602"/>
            <a:ext cx="469178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기관·같은 담당자가 다시 부르는 횟수가,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1811305" y="7067398"/>
            <a:ext cx="44403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강사로서의 자산이 쌓이는 속도를 결정한다.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OPENING</a:t>
            </a:r>
            <a:endParaRPr lang="en-US" sz="13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477195" y="4095598"/>
            <a:ext cx="6286500" cy="4953305"/>
          </a:xfrm>
          <a:prstGeom prst="rect">
            <a:avLst/>
          </a:prstGeom>
          <a:solidFill>
            <a:srgbClr val="EF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OPENING · 02 OF 05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/ 70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강사는 직업이 아니라 </a:t>
            </a:r>
            <a:pPr algn="l" indent="0" marL="0">
              <a:buNone/>
            </a:pPr>
            <a:r>
              <a:rPr lang="en-US" sz="4800" b="1" spc="-12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영향력</a:t>
            </a:r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이다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4095598"/>
            <a:ext cx="83823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강사는 강의실에서 세 가지 층의 영향력을 행사한다.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4657954"/>
            <a:ext cx="571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2324405" y="4657954"/>
            <a:ext cx="75822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→ 이해 → 적용</a:t>
            </a:r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변환을 책임진다. 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2324405" y="5210251"/>
            <a:ext cx="75822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전달이 아니라, 학습자의 현장 맥락에 맞게 ‘번역’하는 일이다.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524305" y="5724144"/>
            <a:ext cx="5715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1524305" y="5885993"/>
            <a:ext cx="57150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0" rIns="152400" bIns="15240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동기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2324405" y="5724144"/>
            <a:ext cx="75822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2324405" y="5885993"/>
            <a:ext cx="7582205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0" rIns="152400" bIns="1524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‘왜 지금 배워야 하는가’</a:t>
            </a:r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매 슬라이드마다 다시 설득한다. 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524305" y="6439205"/>
            <a:ext cx="5715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2324405" y="6439205"/>
            <a:ext cx="75822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2324405" y="6601054"/>
            <a:ext cx="7582205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0" rIns="152400" bIns="1524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시대 강사의 차별점은 정보가 아니라 동기다.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524305" y="7114946"/>
            <a:ext cx="5715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1524305" y="7276795"/>
            <a:ext cx="57150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0" rIns="152400" bIns="15240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방향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2324405" y="7114946"/>
            <a:ext cx="75822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2324405" y="7276795"/>
            <a:ext cx="7582205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0" rIns="152400" bIns="1524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학습자가 강의 후 무엇을 할 것인가</a:t>
            </a:r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까지 설계한다. 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524305" y="7830007"/>
            <a:ext cx="5715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2324405" y="7830007"/>
            <a:ext cx="75822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2324405" y="7991856"/>
            <a:ext cx="7582205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0" rIns="152400" bIns="1524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강의는 끝이 아니라 ‘다음 행동’의 시작이다.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10858500" y="4476902"/>
            <a:ext cx="552480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</a:t>
            </a:r>
            <a:endParaRPr lang="en-US" sz="9000" dirty="0"/>
          </a:p>
        </p:txBody>
      </p:sp>
      <p:sp>
        <p:nvSpPr>
          <p:cNvPr id="28" name="Text 25"/>
          <p:cNvSpPr txBox="1"/>
          <p:nvPr/>
        </p:nvSpPr>
        <p:spPr>
          <a:xfrm>
            <a:off x="10858500" y="5219395"/>
            <a:ext cx="55248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-36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강사는 정보를 주는 사람이 아니라,</a:t>
            </a:r>
            <a:endParaRPr lang="en-US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10858500" y="5783580"/>
            <a:ext cx="588233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-36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학습자가 어떤 사람이 되어야 하는 지를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10858500" y="6346850"/>
            <a:ext cx="55248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-36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보여주는 사람이다.</a:t>
            </a:r>
            <a:endParaRPr lang="en-US" sz="2400" dirty="0"/>
          </a:p>
        </p:txBody>
      </p:sp>
      <p:sp>
        <p:nvSpPr>
          <p:cNvPr id="31" name="Text 28"/>
          <p:cNvSpPr txBox="1"/>
          <p:nvPr/>
        </p:nvSpPr>
        <p:spPr>
          <a:xfrm>
            <a:off x="10858500" y="7040880"/>
            <a:ext cx="5524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본 강의의 핵심 정의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OPENING</a:t>
            </a:r>
            <a:endParaRPr lang="en-US" sz="1300" dirty="0"/>
          </a:p>
        </p:txBody>
      </p:sp>
      <p:sp>
        <p:nvSpPr>
          <p:cNvPr id="3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OPENING · 03 OF 05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강의의 목표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619195"/>
            <a:ext cx="15240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강의를 듣고 강의실을 나갈 때, 여러분 손에 있어야 할 4가지.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4762195"/>
            <a:ext cx="81564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2456993" y="4981651"/>
            <a:ext cx="354238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정체성 문장</a:t>
            </a:r>
            <a:endParaRPr lang="en-US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1524305" y="5526634"/>
            <a:ext cx="7239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‘대상 + 문제 + 해결 + 성과’ 구조로 한 문장.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524305" y="5840273"/>
            <a:ext cx="7239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명함 뒷면, 제안서 첫 줄, SNS 소개에 그대로 붙는 카피.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9525305" y="4762195"/>
            <a:ext cx="81564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4800" dirty="0"/>
          </a:p>
        </p:txBody>
      </p:sp>
      <p:sp>
        <p:nvSpPr>
          <p:cNvPr id="14" name="Text 11"/>
          <p:cNvSpPr txBox="1"/>
          <p:nvPr/>
        </p:nvSpPr>
        <p:spPr>
          <a:xfrm>
            <a:off x="10457993" y="4981651"/>
            <a:ext cx="419618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전문분야 3~5개 정리</a:t>
            </a:r>
            <a:endParaRPr lang="en-US" sz="2700" dirty="0"/>
          </a:p>
        </p:txBody>
      </p:sp>
      <p:sp>
        <p:nvSpPr>
          <p:cNvPr id="15" name="Text 12"/>
          <p:cNvSpPr txBox="1"/>
          <p:nvPr/>
        </p:nvSpPr>
        <p:spPr>
          <a:xfrm>
            <a:off x="9525305" y="5526634"/>
            <a:ext cx="7239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가능한 모든 주제를 나열하지 않는다.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9525305" y="5840273"/>
            <a:ext cx="7239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‘반복 의뢰가 들어오는 분야’ 3~5개로 좁혀 한 페이지로 정리한다.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524305" y="7144207"/>
            <a:ext cx="81564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4800" dirty="0"/>
          </a:p>
        </p:txBody>
      </p:sp>
      <p:sp>
        <p:nvSpPr>
          <p:cNvPr id="18" name="Text 15"/>
          <p:cNvSpPr txBox="1"/>
          <p:nvPr/>
        </p:nvSpPr>
        <p:spPr>
          <a:xfrm>
            <a:off x="2456993" y="7362749"/>
            <a:ext cx="417423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 5장 목차</a:t>
            </a:r>
            <a:endParaRPr lang="en-US" sz="2700" dirty="0"/>
          </a:p>
        </p:txBody>
      </p:sp>
      <p:sp>
        <p:nvSpPr>
          <p:cNvPr id="19" name="Text 16"/>
          <p:cNvSpPr txBox="1"/>
          <p:nvPr/>
        </p:nvSpPr>
        <p:spPr>
          <a:xfrm>
            <a:off x="1524305" y="7907731"/>
            <a:ext cx="7239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 · 전문분야 · 강의실적 · 콘텐츠 자산 · 성과의 5장 구조.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524305" y="8222285"/>
            <a:ext cx="7239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끝나고 1주일 안에 작성 가능한 분량.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9525305" y="7144207"/>
            <a:ext cx="81564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4800" dirty="0"/>
          </a:p>
        </p:txBody>
      </p:sp>
      <p:sp>
        <p:nvSpPr>
          <p:cNvPr id="22" name="Text 19"/>
          <p:cNvSpPr txBox="1"/>
          <p:nvPr/>
        </p:nvSpPr>
        <p:spPr>
          <a:xfrm>
            <a:off x="10457993" y="7362749"/>
            <a:ext cx="669615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미래전략 3축 — 브랜딩 · 콘텐츠 · AI</a:t>
            </a:r>
            <a:endParaRPr lang="en-US" sz="2700" dirty="0"/>
          </a:p>
        </p:txBody>
      </p:sp>
      <p:sp>
        <p:nvSpPr>
          <p:cNvPr id="23" name="Text 20"/>
          <p:cNvSpPr txBox="1"/>
          <p:nvPr/>
        </p:nvSpPr>
        <p:spPr>
          <a:xfrm>
            <a:off x="9525305" y="7907731"/>
            <a:ext cx="7239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앞으로 5년, 강사로 살아남기 위한 3축.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525305" y="8222285"/>
            <a:ext cx="7239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축에서 90일 안에 실행할 작은 한 가지를 결정한다.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OPENING</a:t>
            </a:r>
            <a:endParaRPr lang="en-US" sz="1300" dirty="0"/>
          </a:p>
        </p:txBody>
      </p:sp>
      <p:sp>
        <p:nvSpPr>
          <p:cNvPr id="2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OPENING · 04 OF 05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2시간 강의 운영안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619195"/>
            <a:ext cx="15240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정체성 → 포트폴리오 → 브랜딩 → 미래전략, 그리고 실습 6단계.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1524305" y="5152644"/>
            <a:ext cx="133319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524305" y="4667098"/>
            <a:ext cx="1334110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857500" y="5152644"/>
            <a:ext cx="190469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2857500" y="4667098"/>
            <a:ext cx="1905610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소요 시간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62195" y="5152644"/>
            <a:ext cx="9715500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762195" y="4667098"/>
            <a:ext cx="9715500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내용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4477695" y="5152644"/>
            <a:ext cx="2286000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4477695" y="4667098"/>
            <a:ext cx="2286000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r" indent="0" marL="0">
              <a:buNone/>
            </a:pPr>
            <a:r>
              <a:rPr lang="en-US" sz="1300" b="1" spc="135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524305" y="5915254"/>
            <a:ext cx="1333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1524305" y="5171846"/>
            <a:ext cx="133411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2857500" y="5915254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2857500" y="5171846"/>
            <a:ext cx="190561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25분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762195" y="5915254"/>
            <a:ext cx="97155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4762195" y="5171846"/>
            <a:ext cx="97155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강사의 정체성</a:t>
            </a:r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역할 변화, 전문성·경험성·안내성, 다수 자격의 스토리화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4477695" y="5915254"/>
            <a:ext cx="2286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14477695" y="5171846"/>
            <a:ext cx="22860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– 15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524305" y="6667805"/>
            <a:ext cx="1333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1524305" y="5924398"/>
            <a:ext cx="133411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2857500" y="6667805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2857500" y="5924398"/>
            <a:ext cx="190561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25분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4762195" y="6667805"/>
            <a:ext cx="97155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4762195" y="5924398"/>
            <a:ext cx="97155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 설계</a:t>
            </a:r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5장 구조, 정체성 공식, 강의실적·후기·자격증·콘텐츠 정리법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14477695" y="6667805"/>
            <a:ext cx="2286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14477695" y="5924398"/>
            <a:ext cx="22860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 – 30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1524305" y="7420356"/>
            <a:ext cx="1333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1524305" y="6676949"/>
            <a:ext cx="133411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</a:t>
            </a:r>
            <a:endParaRPr lang="en-US" sz="2100" dirty="0"/>
          </a:p>
        </p:txBody>
      </p:sp>
      <p:sp>
        <p:nvSpPr>
          <p:cNvPr id="35" name="Shape 32"/>
          <p:cNvSpPr/>
          <p:nvPr/>
        </p:nvSpPr>
        <p:spPr>
          <a:xfrm>
            <a:off x="2857500" y="7420356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2857500" y="6676949"/>
            <a:ext cx="190561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25분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4762195" y="7420356"/>
            <a:ext cx="97155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4762195" y="6676949"/>
            <a:ext cx="97155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브랜딩 확장</a:t>
            </a:r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키워드 5개, 제안서 연결, 디지털 포트폴리오, 시그니처 강의 상품화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14477695" y="7420356"/>
            <a:ext cx="2286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14477695" y="6676949"/>
            <a:ext cx="22860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31 – 45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1524305" y="8172907"/>
            <a:ext cx="1333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 txBox="1"/>
          <p:nvPr/>
        </p:nvSpPr>
        <p:spPr>
          <a:xfrm>
            <a:off x="1524305" y="7429500"/>
            <a:ext cx="133411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</a:t>
            </a:r>
            <a:endParaRPr lang="en-US" sz="2100" dirty="0"/>
          </a:p>
        </p:txBody>
      </p:sp>
      <p:sp>
        <p:nvSpPr>
          <p:cNvPr id="43" name="Shape 40"/>
          <p:cNvSpPr/>
          <p:nvPr/>
        </p:nvSpPr>
        <p:spPr>
          <a:xfrm>
            <a:off x="2857500" y="8172907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 txBox="1"/>
          <p:nvPr/>
        </p:nvSpPr>
        <p:spPr>
          <a:xfrm>
            <a:off x="2857500" y="7429500"/>
            <a:ext cx="190561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25분</a:t>
            </a:r>
            <a:endParaRPr lang="en-US" sz="1800" dirty="0"/>
          </a:p>
        </p:txBody>
      </p:sp>
      <p:sp>
        <p:nvSpPr>
          <p:cNvPr id="45" name="Shape 42"/>
          <p:cNvSpPr/>
          <p:nvPr/>
        </p:nvSpPr>
        <p:spPr>
          <a:xfrm>
            <a:off x="4762195" y="8172907"/>
            <a:ext cx="97155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 txBox="1"/>
          <p:nvPr/>
        </p:nvSpPr>
        <p:spPr>
          <a:xfrm>
            <a:off x="4762195" y="7429500"/>
            <a:ext cx="97155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미래전략</a:t>
            </a:r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AI 시대 강사 역량, 프로젝트 기반 강의, 수익 구조, 5년 후 역량 지도</a:t>
            </a:r>
            <a:endParaRPr lang="en-US" sz="1800" dirty="0"/>
          </a:p>
        </p:txBody>
      </p:sp>
      <p:sp>
        <p:nvSpPr>
          <p:cNvPr id="47" name="Shape 44"/>
          <p:cNvSpPr/>
          <p:nvPr/>
        </p:nvSpPr>
        <p:spPr>
          <a:xfrm>
            <a:off x="14477695" y="8172907"/>
            <a:ext cx="2286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Text 45"/>
          <p:cNvSpPr txBox="1"/>
          <p:nvPr/>
        </p:nvSpPr>
        <p:spPr>
          <a:xfrm>
            <a:off x="14477695" y="7429500"/>
            <a:ext cx="22860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46 – 60</a:t>
            </a:r>
            <a:endParaRPr lang="en-US" sz="1800" dirty="0"/>
          </a:p>
        </p:txBody>
      </p:sp>
      <p:sp>
        <p:nvSpPr>
          <p:cNvPr id="49" name="Text 46"/>
          <p:cNvSpPr txBox="1"/>
          <p:nvPr/>
        </p:nvSpPr>
        <p:spPr>
          <a:xfrm>
            <a:off x="1524305" y="8182051"/>
            <a:ext cx="13341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실습·정리</a:t>
            </a:r>
            <a:endParaRPr lang="en-US" sz="2100" dirty="0"/>
          </a:p>
        </p:txBody>
      </p:sp>
      <p:sp>
        <p:nvSpPr>
          <p:cNvPr id="50" name="Text 47"/>
          <p:cNvSpPr txBox="1"/>
          <p:nvPr/>
        </p:nvSpPr>
        <p:spPr>
          <a:xfrm>
            <a:off x="2857500" y="8182051"/>
            <a:ext cx="19056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20분</a:t>
            </a:r>
            <a:endParaRPr lang="en-US" sz="1800" dirty="0"/>
          </a:p>
        </p:txBody>
      </p:sp>
      <p:sp>
        <p:nvSpPr>
          <p:cNvPr id="51" name="Text 48"/>
          <p:cNvSpPr txBox="1"/>
          <p:nvPr/>
        </p:nvSpPr>
        <p:spPr>
          <a:xfrm>
            <a:off x="4762195" y="8182051"/>
            <a:ext cx="97155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6단계 워크북</a:t>
            </a:r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정체성·전문분야·대표 강의·자격 연결·목차·미래전략 작성</a:t>
            </a:r>
            <a:endParaRPr lang="en-US" sz="1800" dirty="0"/>
          </a:p>
        </p:txBody>
      </p:sp>
      <p:sp>
        <p:nvSpPr>
          <p:cNvPr id="52" name="Text 49"/>
          <p:cNvSpPr txBox="1"/>
          <p:nvPr/>
        </p:nvSpPr>
        <p:spPr>
          <a:xfrm>
            <a:off x="14477695" y="8182051"/>
            <a:ext cx="22860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61 – 70</a:t>
            </a:r>
            <a:endParaRPr lang="en-US" sz="1800" dirty="0"/>
          </a:p>
        </p:txBody>
      </p:sp>
      <p:sp>
        <p:nvSpPr>
          <p:cNvPr id="53" name="Text 50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OPENING</a:t>
            </a:r>
            <a:endParaRPr lang="en-US" sz="1300" dirty="0"/>
          </a:p>
        </p:txBody>
      </p:sp>
      <p:sp>
        <p:nvSpPr>
          <p:cNvPr id="5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811305" y="4476902"/>
            <a:ext cx="4953305" cy="4953305"/>
          </a:xfrm>
          <a:prstGeom prst="rect">
            <a:avLst/>
          </a:prstGeom>
          <a:solidFill>
            <a:srgbClr val="EF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 · 강사의 정체성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/ 70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강사의 역할은 어떻게 바뀌고 있는가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619195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전달자 1.0 → 코치 2.0 → 멘토·퍼실리테이터 3.0. 역할이 깊어질수록 보수와 신뢰가 함께 커진다.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4724705"/>
            <a:ext cx="76535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 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24305" y="5305349"/>
            <a:ext cx="270479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 전달자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1524305" y="6133795"/>
            <a:ext cx="1419149" cy="418795"/>
          </a:xfrm>
          <a:prstGeom prst="roundRect">
            <a:avLst>
              <a:gd name="adj" fmla="val 39698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1638605" y="6219749"/>
            <a:ext cx="154167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방향 · 강의식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524305" y="6838798"/>
            <a:ext cx="36612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PPT 슬라이드를 ‘읽어주는’ 역할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24305" y="7258507"/>
            <a:ext cx="308152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평가 지표: 진도율, 출석률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524305" y="7677302"/>
            <a:ext cx="308244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AI·유튜브로 대체되는 영역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524305" y="8096098"/>
            <a:ext cx="195864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1회성 단가 중심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762902" y="4724705"/>
            <a:ext cx="76535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 2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762902" y="5305349"/>
            <a:ext cx="32104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코치·트레이너</a:t>
            </a:r>
            <a:endParaRPr lang="en-US" sz="3000" dirty="0"/>
          </a:p>
        </p:txBody>
      </p:sp>
      <p:sp>
        <p:nvSpPr>
          <p:cNvPr id="20" name="Shape 17"/>
          <p:cNvSpPr/>
          <p:nvPr/>
        </p:nvSpPr>
        <p:spPr>
          <a:xfrm>
            <a:off x="6762902" y="6133795"/>
            <a:ext cx="1209751" cy="418795"/>
          </a:xfrm>
          <a:prstGeom prst="roundRect">
            <a:avLst>
              <a:gd name="adj" fmla="val 39698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6877202" y="6219749"/>
            <a:ext cx="124815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· 피드백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762902" y="6838798"/>
            <a:ext cx="368594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학습자가 ‘만들고’ 강사가 피드백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762902" y="7258507"/>
            <a:ext cx="126461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평가 지표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784287" y="7258507"/>
            <a:ext cx="16925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산출물 완성도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762902" y="7677302"/>
            <a:ext cx="361096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AI는 도구이며 평가는 사람이 함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762902" y="8096098"/>
            <a:ext cx="209763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단가 상승 여지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2001500" y="4724705"/>
            <a:ext cx="328543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 3 · 본 강의의 지향점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2001500" y="5305349"/>
            <a:ext cx="413217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멘토·퍼실리테이터</a:t>
            </a:r>
            <a:endParaRPr lang="en-US" sz="3000" dirty="0"/>
          </a:p>
        </p:txBody>
      </p:sp>
      <p:sp>
        <p:nvSpPr>
          <p:cNvPr id="29" name="Shape 26"/>
          <p:cNvSpPr/>
          <p:nvPr/>
        </p:nvSpPr>
        <p:spPr>
          <a:xfrm>
            <a:off x="12001500" y="6133795"/>
            <a:ext cx="1781251" cy="418795"/>
          </a:xfrm>
          <a:prstGeom prst="roundRect">
            <a:avLst>
              <a:gd name="adj" fmla="val 39698"/>
            </a:avLst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12115800" y="6219749"/>
            <a:ext cx="201716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 설계 · 동기 부여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2001500" y="6838798"/>
            <a:ext cx="348477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학습자의 ‘다음 행동’까지 설계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2001500" y="7258507"/>
            <a:ext cx="129296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평가 지표: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13085978" y="7258507"/>
            <a:ext cx="232989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재의뢰율 · 후속 관계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12001500" y="7677302"/>
            <a:ext cx="265358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AI가 대체 불가한 영역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12001500" y="8096098"/>
            <a:ext cx="315833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컨설팅·코칭 단가 합산 가능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1 강사의 정체성</a:t>
            </a:r>
            <a:endParaRPr lang="en-US" sz="1300" dirty="0"/>
          </a:p>
        </p:txBody>
      </p:sp>
      <p:sp>
        <p:nvSpPr>
          <p:cNvPr id="3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 · 강사의 정체성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과거의 강사 vs 미래의 강사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619195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강의력 중심에서 문제해결력 중심으로. 8개 축으로 비교한다.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524305" y="4962449"/>
            <a:ext cx="209580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524305" y="4476902"/>
            <a:ext cx="2095805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축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19195" y="4962449"/>
            <a:ext cx="6572707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619195" y="4476902"/>
            <a:ext cx="6572707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과거의 강사 ( ~ 2020 )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0191902" y="4962449"/>
            <a:ext cx="6572707" cy="1920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10191902" y="4476902"/>
            <a:ext cx="6572707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미래의 강사 ( 2025 ~ 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524305" y="5506517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524305" y="4972507"/>
            <a:ext cx="2095805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역량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619195" y="5506517"/>
            <a:ext cx="6572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3619195" y="4972507"/>
            <a:ext cx="6572707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강의력 · 발성 · 슬라이드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0191902" y="5506517"/>
            <a:ext cx="6572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10191902" y="4972507"/>
            <a:ext cx="6572707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문제해결력 · 설계력 · 큐레이션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524305" y="6048756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1524305" y="5514746"/>
            <a:ext cx="2095805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 출처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619195" y="6048756"/>
            <a:ext cx="6572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3619195" y="5514746"/>
            <a:ext cx="6572707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교재 · 이론 · 사례 모음집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0191902" y="6048756"/>
            <a:ext cx="6572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10191902" y="5514746"/>
            <a:ext cx="6572707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본인 경험 · 실시간 데이터 · AI 분석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524305" y="6590995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1524305" y="6056986"/>
            <a:ext cx="2095805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방식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619195" y="6590995"/>
            <a:ext cx="6572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3619195" y="6056986"/>
            <a:ext cx="6572707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듣고 적고 시험 본다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0191902" y="6590995"/>
            <a:ext cx="6572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10191902" y="6056986"/>
            <a:ext cx="6572707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만들고 공유하고 피드백 받는다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524305" y="7133234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1524305" y="6599225"/>
            <a:ext cx="2095805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지표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3619195" y="7133234"/>
            <a:ext cx="6572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3619195" y="6599225"/>
            <a:ext cx="6572707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출석률 · 만족도 점수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10191902" y="7133234"/>
            <a:ext cx="6572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10191902" y="6599225"/>
            <a:ext cx="6572707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완성도 · 재의뢰율 · 행동 변화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1524305" y="7675474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1524305" y="7141464"/>
            <a:ext cx="2095805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형식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3619195" y="7675474"/>
            <a:ext cx="6572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 txBox="1"/>
          <p:nvPr/>
        </p:nvSpPr>
        <p:spPr>
          <a:xfrm>
            <a:off x="3619195" y="7141464"/>
            <a:ext cx="6572707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대면 1회성 · 일방향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10191902" y="7675474"/>
            <a:ext cx="6572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 txBox="1"/>
          <p:nvPr/>
        </p:nvSpPr>
        <p:spPr>
          <a:xfrm>
            <a:off x="10191902" y="7141464"/>
            <a:ext cx="6572707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블렌디드 · 후속 코칭 · 커뮤니티 연계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1524305" y="8216798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 txBox="1"/>
          <p:nvPr/>
        </p:nvSpPr>
        <p:spPr>
          <a:xfrm>
            <a:off x="1524305" y="7682789"/>
            <a:ext cx="2095805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수익 구조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3619195" y="8216798"/>
            <a:ext cx="6572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Text 45"/>
          <p:cNvSpPr txBox="1"/>
          <p:nvPr/>
        </p:nvSpPr>
        <p:spPr>
          <a:xfrm>
            <a:off x="3619195" y="7682789"/>
            <a:ext cx="6572707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시간당 단가 단일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10191902" y="8216798"/>
            <a:ext cx="6572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47"/>
          <p:cNvSpPr txBox="1"/>
          <p:nvPr/>
        </p:nvSpPr>
        <p:spPr>
          <a:xfrm>
            <a:off x="10191902" y="7682789"/>
            <a:ext cx="6572707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+ 컨설팅 + 교재 + 콘텐츠 + 플랫폼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1524305" y="8759038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Text 49"/>
          <p:cNvSpPr txBox="1"/>
          <p:nvPr/>
        </p:nvSpPr>
        <p:spPr>
          <a:xfrm>
            <a:off x="1524305" y="8225028"/>
            <a:ext cx="2095805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전문성 증명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3619195" y="8759038"/>
            <a:ext cx="6572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" name="Text 51"/>
          <p:cNvSpPr txBox="1"/>
          <p:nvPr/>
        </p:nvSpPr>
        <p:spPr>
          <a:xfrm>
            <a:off x="3619195" y="8225028"/>
            <a:ext cx="6572707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학위 · 자격증 나열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10191902" y="8759038"/>
            <a:ext cx="6572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53"/>
          <p:cNvSpPr txBox="1"/>
          <p:nvPr/>
        </p:nvSpPr>
        <p:spPr>
          <a:xfrm>
            <a:off x="10191902" y="8225028"/>
            <a:ext cx="6572707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 · 사례 · 결과물 · 후기</a:t>
            </a:r>
            <a:endParaRPr lang="en-US" sz="1600" dirty="0"/>
          </a:p>
        </p:txBody>
      </p:sp>
      <p:sp>
        <p:nvSpPr>
          <p:cNvPr id="57" name="Text 54"/>
          <p:cNvSpPr txBox="1"/>
          <p:nvPr/>
        </p:nvSpPr>
        <p:spPr>
          <a:xfrm>
            <a:off x="1524305" y="8767267"/>
            <a:ext cx="20958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 단위</a:t>
            </a:r>
            <a:endParaRPr lang="en-US" sz="1600" dirty="0"/>
          </a:p>
        </p:txBody>
      </p:sp>
      <p:sp>
        <p:nvSpPr>
          <p:cNvPr id="58" name="Text 55"/>
          <p:cNvSpPr txBox="1"/>
          <p:nvPr/>
        </p:nvSpPr>
        <p:spPr>
          <a:xfrm>
            <a:off x="3619195" y="8767267"/>
            <a:ext cx="6572707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종료 = 관계 종료</a:t>
            </a:r>
            <a:endParaRPr lang="en-US" sz="1600" dirty="0"/>
          </a:p>
        </p:txBody>
      </p:sp>
      <p:sp>
        <p:nvSpPr>
          <p:cNvPr id="59" name="Text 56"/>
          <p:cNvSpPr txBox="1"/>
          <p:nvPr/>
        </p:nvSpPr>
        <p:spPr>
          <a:xfrm>
            <a:off x="10191902" y="8767267"/>
            <a:ext cx="6572707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종료 = 관계 시작</a:t>
            </a:r>
            <a:endParaRPr lang="en-US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1 강사의 정체성</a:t>
            </a:r>
            <a:endParaRPr lang="en-US" sz="1300" dirty="0"/>
          </a:p>
        </p:txBody>
      </p:sp>
      <p:sp>
        <p:nvSpPr>
          <p:cNvPr id="6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24305" y="4572000"/>
            <a:ext cx="4972507" cy="459120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667805" y="4572000"/>
            <a:ext cx="4972507" cy="459120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811305" y="4572000"/>
            <a:ext cx="4953305" cy="4572000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 · 강사의 정체성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/ 70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강사의 3가지 조건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1524305" y="3002890"/>
            <a:ext cx="31629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가지만 잘하면 강사다.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1524305" y="3497580"/>
            <a:ext cx="34006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가지를 갖추면 전문가다.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1524305" y="3993185"/>
            <a:ext cx="619414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가지를 모두 가지면 ‘다시 부르는 강사’가 된다.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914754" y="4858207"/>
            <a:ext cx="41916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6000" dirty="0"/>
          </a:p>
        </p:txBody>
      </p:sp>
      <p:sp>
        <p:nvSpPr>
          <p:cNvPr id="15" name="Text 12"/>
          <p:cNvSpPr txBox="1"/>
          <p:nvPr/>
        </p:nvSpPr>
        <p:spPr>
          <a:xfrm>
            <a:off x="1914754" y="5695798"/>
            <a:ext cx="4191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전문성</a:t>
            </a:r>
            <a:endParaRPr lang="en-US" sz="3100" dirty="0"/>
          </a:p>
        </p:txBody>
      </p:sp>
      <p:sp>
        <p:nvSpPr>
          <p:cNvPr id="16" name="Text 13"/>
          <p:cNvSpPr txBox="1"/>
          <p:nvPr/>
        </p:nvSpPr>
        <p:spPr>
          <a:xfrm>
            <a:off x="1914754" y="6326734"/>
            <a:ext cx="4191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“무엇을 아는가”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914754" y="6717182"/>
            <a:ext cx="43918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학위 · 자격증 · 실무 경력의 </a:t>
            </a:r>
            <a:pPr algn="l" indent="0" marL="0">
              <a:buNone/>
            </a:pPr>
            <a:r>
              <a:rPr lang="en-US" sz="15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축적된 증거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914754" y="7027164"/>
            <a:ext cx="41916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한 분야에서 최소 </a:t>
            </a:r>
            <a:pPr algn="l" indent="0" marL="0">
              <a:buNone/>
            </a:pPr>
            <a:r>
              <a:rPr lang="en-US" sz="15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3년</a:t>
            </a:r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이상의 깊이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914754" y="7337146"/>
            <a:ext cx="453542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동료가 ‘이 주제는 저 사람에게 물어보라’고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914754" y="7647127"/>
            <a:ext cx="41916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말하는 정도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914754" y="7957109"/>
            <a:ext cx="484723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자격증은 </a:t>
            </a:r>
            <a:pPr algn="l" indent="0" marL="0">
              <a:buNone/>
            </a:pPr>
            <a:r>
              <a:rPr lang="en-US" sz="15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</a:t>
            </a:r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 뿐, 그 자체가 전문성은 아님 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048195" y="4858207"/>
            <a:ext cx="41916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6000" dirty="0"/>
          </a:p>
        </p:txBody>
      </p:sp>
      <p:sp>
        <p:nvSpPr>
          <p:cNvPr id="23" name="Text 20"/>
          <p:cNvSpPr txBox="1"/>
          <p:nvPr/>
        </p:nvSpPr>
        <p:spPr>
          <a:xfrm>
            <a:off x="7048195" y="5695798"/>
            <a:ext cx="4191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경험성</a:t>
            </a:r>
            <a:endParaRPr lang="en-US" sz="3100" dirty="0"/>
          </a:p>
        </p:txBody>
      </p:sp>
      <p:sp>
        <p:nvSpPr>
          <p:cNvPr id="24" name="Text 21"/>
          <p:cNvSpPr txBox="1"/>
          <p:nvPr/>
        </p:nvSpPr>
        <p:spPr>
          <a:xfrm>
            <a:off x="7048195" y="6326734"/>
            <a:ext cx="4191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“무엇을 겪었는가”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048195" y="6717182"/>
            <a:ext cx="41916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책으로 배운 지식 + </a:t>
            </a:r>
            <a:pPr algn="l" indent="0" marL="0">
              <a:buNone/>
            </a:pPr>
            <a:r>
              <a:rPr lang="en-US" sz="15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시행착오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7048195" y="7027164"/>
            <a:ext cx="41916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성공 사례보다 </a:t>
            </a:r>
            <a:pPr algn="l" indent="0" marL="0">
              <a:buNone/>
            </a:pPr>
            <a:r>
              <a:rPr lang="en-US" sz="15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사례</a:t>
            </a:r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더 강한 자산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048195" y="7337146"/>
            <a:ext cx="453542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학습자의 ‘저도 비슷한 상황인데요…’ 질문에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048195" y="7647127"/>
            <a:ext cx="41916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답할 수 있는 깊이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7048195" y="7957109"/>
            <a:ext cx="41916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경험은 </a:t>
            </a:r>
            <a:pPr algn="l" indent="0" marL="0">
              <a:buNone/>
            </a:pPr>
            <a:r>
              <a:rPr lang="en-US" sz="15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스토리화</a:t>
            </a:r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되어야 자산이 됨 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2191695" y="5695798"/>
            <a:ext cx="4191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안내성</a:t>
            </a:r>
            <a:endParaRPr lang="en-US" sz="3100" dirty="0"/>
          </a:p>
        </p:txBody>
      </p:sp>
      <p:sp>
        <p:nvSpPr>
          <p:cNvPr id="31" name="Text 28"/>
          <p:cNvSpPr txBox="1"/>
          <p:nvPr/>
        </p:nvSpPr>
        <p:spPr>
          <a:xfrm>
            <a:off x="12191695" y="4858207"/>
            <a:ext cx="41916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6000" dirty="0"/>
          </a:p>
        </p:txBody>
      </p:sp>
      <p:sp>
        <p:nvSpPr>
          <p:cNvPr id="32" name="Text 29"/>
          <p:cNvSpPr txBox="1"/>
          <p:nvPr/>
        </p:nvSpPr>
        <p:spPr>
          <a:xfrm>
            <a:off x="12191695" y="6326734"/>
            <a:ext cx="4191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“어디로 데려가는가”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2191695" y="6821424"/>
            <a:ext cx="4191610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학습자의 </a:t>
            </a:r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→ 다음 단계</a:t>
            </a:r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명확히 보여줌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답을 주는 것이 아니라 </a:t>
            </a:r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질문을 설계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강의 후 ‘이제 무엇을 해야 하지?’가 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12191695" y="7751369"/>
            <a:ext cx="41916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분명하게 남음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12191695" y="8061350"/>
            <a:ext cx="41916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AI 시대에도 </a:t>
            </a:r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대체 불가한 핵심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1 강사의 정체성</a:t>
            </a:r>
            <a:endParaRPr lang="en-US" sz="1300" dirty="0"/>
          </a:p>
        </p:txBody>
      </p:sp>
      <p:sp>
        <p:nvSpPr>
          <p:cNvPr id="3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477195" y="4667098"/>
            <a:ext cx="6286500" cy="4572000"/>
          </a:xfrm>
          <a:prstGeom prst="rect">
            <a:avLst/>
          </a:prstGeom>
          <a:solidFill>
            <a:srgbClr val="EF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 · 강사의 정체성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 / 70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강사는 ‘앞서간 선생’이다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209544"/>
            <a:ext cx="542147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학습자보다 한 발 먼저 그 길을 걸어본 사람.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3705149"/>
            <a:ext cx="604509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강의는 ‘성공담’이 아니라 ‘시행착오 압축본’이다.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524305" y="4667098"/>
            <a:ext cx="8382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강의에서 반드시 다루어야 할 4가지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524305" y="5201107"/>
            <a:ext cx="4764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524305" y="5991149"/>
            <a:ext cx="4764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1524305" y="6133795"/>
            <a:ext cx="476402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2171700" y="5991149"/>
            <a:ext cx="77339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524305" y="6924751"/>
            <a:ext cx="4764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1524305" y="7067398"/>
            <a:ext cx="476402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2171700" y="6924751"/>
            <a:ext cx="77339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524305" y="7858354"/>
            <a:ext cx="4764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1524305" y="8001000"/>
            <a:ext cx="476402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2171700" y="7858354"/>
            <a:ext cx="77339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2171700" y="5201107"/>
            <a:ext cx="252374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처음 헤맸던 지점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2171700" y="5567782"/>
            <a:ext cx="668335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학습자가 곧 만날 첫 번째 벽이기도 하다. 미리 알려주면 시간을 아낀다.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2171700" y="6133795"/>
            <a:ext cx="28081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교재에 없는 ‘현장 변수’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2171700" y="6500470"/>
            <a:ext cx="7620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부족, 자원 부족, 사람 갈등 — 실제로 일을 끝내지 못하게 하는 진짜 장애물.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2171700" y="7067398"/>
            <a:ext cx="31245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실패해서 알게 된 원칙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2171700" y="7434072"/>
            <a:ext cx="7163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사례는 따라 하기 어렵지만, 실패에서 추출한 원칙은 누구나 쓸 수 있다.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2171700" y="8001000"/>
            <a:ext cx="326075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‘이렇게까지는 안 해도 된다’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2171700" y="8367674"/>
            <a:ext cx="668335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학습자가 빠지기 쉬운 과잉투자 영역. 시간·비용을 아끼는 가장 빠른 길.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0858500" y="5048402"/>
            <a:ext cx="5524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</a:t>
            </a:r>
            <a:endParaRPr lang="en-US" sz="7500" dirty="0"/>
          </a:p>
        </p:txBody>
      </p:sp>
      <p:sp>
        <p:nvSpPr>
          <p:cNvPr id="31" name="Text 28"/>
          <p:cNvSpPr txBox="1"/>
          <p:nvPr/>
        </p:nvSpPr>
        <p:spPr>
          <a:xfrm>
            <a:off x="10858500" y="5619902"/>
            <a:ext cx="55248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-22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강사는 답을 가진 사람이 아니라,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10858500" y="6248095"/>
            <a:ext cx="55248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-22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길을 먼저 걸어가며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10858500" y="7582205"/>
            <a:ext cx="55248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학습자가 강사에게 가장 듣고 싶어 하는 말: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“저도 그때 그랬어요. 이렇게 풀었습니다.”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10858500" y="6867144"/>
            <a:ext cx="499353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-22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함정의 위치를 기록해 둔 사람이다.</a:t>
            </a:r>
            <a:endParaRPr lang="en-US" sz="2200" dirty="0"/>
          </a:p>
        </p:txBody>
      </p:sp>
      <p:sp>
        <p:nvSpPr>
          <p:cNvPr id="35" name="Text 32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1 강사의 정체성</a:t>
            </a:r>
            <a:endParaRPr lang="en-US" sz="1300" dirty="0"/>
          </a:p>
        </p:txBody>
      </p:sp>
      <p:sp>
        <p:nvSpPr>
          <p:cNvPr id="3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24305" y="8667598"/>
            <a:ext cx="15240305" cy="571500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 · 강사의 정체성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/ 70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강사의 경험은 어떻게 콘텐츠가 되는가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225089"/>
            <a:ext cx="15240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</a:t>
            </a:r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 → 콘텐츠’ 전환 5단계. 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3786530"/>
            <a:ext cx="574791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흩어진 기억을 자산으로 바꾸는 가장 빠른 루틴.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524305" y="4762195"/>
            <a:ext cx="28675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524305" y="5105095"/>
            <a:ext cx="28675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기록한다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524305" y="5567782"/>
            <a:ext cx="28675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끝난 당일 30분.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524305" y="5862218"/>
            <a:ext cx="28675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잘된 부분, 막힌 부분,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524305" y="6157570"/>
            <a:ext cx="28675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 질문 TOP 3을 메모.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617720" y="4762195"/>
            <a:ext cx="28675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02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617720" y="5105095"/>
            <a:ext cx="28675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분류한다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4617720" y="5567782"/>
            <a:ext cx="28675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· 실패 · 질문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617720" y="5862218"/>
            <a:ext cx="28675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</a:t>
            </a:r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도구 · 인용 — 5개 폴더에 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711135" y="4762195"/>
            <a:ext cx="28675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711135" y="5105095"/>
            <a:ext cx="28675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사례화한다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7711135" y="5567782"/>
            <a:ext cx="28675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상황·문제·시도·결과·교훈의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711135" y="5862218"/>
            <a:ext cx="28675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5문단 구조로 1편 완성.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711135" y="6157570"/>
            <a:ext cx="28675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A4 1매 분량.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805465" y="4762195"/>
            <a:ext cx="28675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04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0805465" y="5105095"/>
            <a:ext cx="28675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칼럼화한다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10805465" y="5567782"/>
            <a:ext cx="28675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3~5개를 묶어 ‘원칙’으로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0805465" y="5862218"/>
            <a:ext cx="28675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추상화. 블로그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0805465" y="6157570"/>
            <a:ext cx="28675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·뉴스레터·SNS 공개.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3898880" y="4762195"/>
            <a:ext cx="28675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05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3898880" y="5105095"/>
            <a:ext cx="28675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강의화한다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13898880" y="5567782"/>
            <a:ext cx="28675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칼럼 4~6편이 모이면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3898880" y="5862218"/>
            <a:ext cx="28675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강의 모듈 1개가 된다.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13898880" y="6157570"/>
            <a:ext cx="28675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시그니처 강의의 씨앗.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1524305" y="6586423"/>
            <a:ext cx="952805" cy="362102"/>
          </a:xfrm>
          <a:prstGeom prst="roundRect">
            <a:avLst>
              <a:gd name="adj" fmla="val 53163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1524305" y="6586423"/>
            <a:ext cx="952805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소요 30분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617720" y="6167628"/>
            <a:ext cx="1616659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떨어뜨린다.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4617720" y="6586423"/>
            <a:ext cx="694944" cy="362102"/>
          </a:xfrm>
          <a:prstGeom prst="roundRect">
            <a:avLst>
              <a:gd name="adj" fmla="val 53163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 txBox="1"/>
          <p:nvPr/>
        </p:nvSpPr>
        <p:spPr>
          <a:xfrm>
            <a:off x="4617720" y="6586423"/>
            <a:ext cx="695858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 1회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7711135" y="6586423"/>
            <a:ext cx="905256" cy="362102"/>
          </a:xfrm>
          <a:prstGeom prst="roundRect">
            <a:avLst>
              <a:gd name="adj" fmla="val 53163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 txBox="1"/>
          <p:nvPr/>
        </p:nvSpPr>
        <p:spPr>
          <a:xfrm>
            <a:off x="7711135" y="6586423"/>
            <a:ext cx="905256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2~3편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10805465" y="6586423"/>
            <a:ext cx="857707" cy="362102"/>
          </a:xfrm>
          <a:prstGeom prst="roundRect">
            <a:avLst>
              <a:gd name="adj" fmla="val 53163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 txBox="1"/>
          <p:nvPr/>
        </p:nvSpPr>
        <p:spPr>
          <a:xfrm>
            <a:off x="10805465" y="6586423"/>
            <a:ext cx="857707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1편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13898880" y="6586423"/>
            <a:ext cx="905256" cy="362102"/>
          </a:xfrm>
          <a:prstGeom prst="roundRect">
            <a:avLst>
              <a:gd name="adj" fmla="val 53163"/>
            </a:avLst>
          </a:prstGeom>
          <a:solidFill>
            <a:srgbClr val="EF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 txBox="1"/>
          <p:nvPr/>
        </p:nvSpPr>
        <p:spPr>
          <a:xfrm>
            <a:off x="13898880" y="6586423"/>
            <a:ext cx="905256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1~2개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1904695" y="8810244"/>
            <a:ext cx="14478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원칙 ▸ 강의 종료 직후 30분의 기록이, 6개월 후 새 강의 1개가 된다.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1 강사의 정체성</a:t>
            </a:r>
            <a:endParaRPr lang="en-US" sz="13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24305" y="4572000"/>
            <a:ext cx="4953305" cy="4572000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 · 강사의 정체성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/ 70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자격증은 ‘목록’이 아니라 ‘스토리’다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055010"/>
            <a:ext cx="586679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다수의 자격을 ‘나열’하면 신뢰가 떨어진다.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3550615"/>
            <a:ext cx="601583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‘묶고 → 연결하고 → 의미를 입혀야’ 자산이 된다.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904695" y="5333695"/>
            <a:ext cx="5715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spc="-75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다수</a:t>
            </a:r>
            <a:pPr algn="l" indent="0" marL="0">
              <a:buNone/>
            </a:pPr>
            <a:r>
              <a:rPr lang="en-US" sz="9000" b="1" spc="-75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0" dirty="0"/>
          </a:p>
        </p:txBody>
      </p:sp>
      <p:sp>
        <p:nvSpPr>
          <p:cNvPr id="12" name="Text 9"/>
          <p:cNvSpPr txBox="1"/>
          <p:nvPr/>
        </p:nvSpPr>
        <p:spPr>
          <a:xfrm>
            <a:off x="1904695" y="7276795"/>
            <a:ext cx="4191610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▸ 국가기술자격 보유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▸ 국가공인자격 보유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▸ 민간자격 다수 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904695" y="4858207"/>
            <a:ext cx="4191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강사 보유 자격증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0" y="4572000"/>
            <a:ext cx="9906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다수의 자격을 ‘스토리’로 바꾸는 4단계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5105095"/>
            <a:ext cx="4764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7563002" y="5105095"/>
            <a:ext cx="92016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분야별로 묶는다 (Cluster)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7563002" y="5471770"/>
            <a:ext cx="92016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예) AI·데이터 8개 / 교수법·HRD 6개 / 직무역량 7개 / 안전·법규 4개. 묶음 한 개당 카드 1장.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858000" y="5928970"/>
            <a:ext cx="4764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6858000" y="6071616"/>
            <a:ext cx="47640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7563002" y="5928970"/>
            <a:ext cx="92016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7563002" y="6072530"/>
            <a:ext cx="92016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주제와 연결한다 (Connect)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7563002" y="6439205"/>
            <a:ext cx="92016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묶음 옆에 ‘이 묶음이 보장하는 강의 영역’을 한 줄로 적는다. 자격증 → 강의력의 ‘근거 화살표’.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858000" y="6896405"/>
            <a:ext cx="4764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6858000" y="7039051"/>
            <a:ext cx="47640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7563002" y="6896405"/>
            <a:ext cx="92016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7563002" y="7039051"/>
            <a:ext cx="92016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자격을 고른다 (Curate)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7563002" y="7405726"/>
            <a:ext cx="92016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묶음당 ‘가장 권위 있는 자격’ 1~2개만 포트폴리오 앞면에 노출. 나머지는 부록.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858000" y="7862926"/>
            <a:ext cx="4764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6858000" y="8005572"/>
            <a:ext cx="47640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7563002" y="7862926"/>
            <a:ext cx="92016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7563002" y="8005572"/>
            <a:ext cx="92016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이야기로 변환한다 (Convert)</a:t>
            </a:r>
            <a:endParaRPr lang="en-US" sz="1900" dirty="0"/>
          </a:p>
        </p:txBody>
      </p:sp>
      <p:sp>
        <p:nvSpPr>
          <p:cNvPr id="32" name="Text 29"/>
          <p:cNvSpPr txBox="1"/>
          <p:nvPr/>
        </p:nvSpPr>
        <p:spPr>
          <a:xfrm>
            <a:off x="7563002" y="8372246"/>
            <a:ext cx="92016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‘왜 이 자격을 땄는가 + 강의에 어떻게 쓰는가’ 2문장. 많은 자격 → 4개 스토리.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1 강사의 정체성</a:t>
            </a:r>
            <a:endParaRPr lang="en-US" sz="1300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 · 강사의 정체성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전문성은 ‘축적된 증거’로 말한다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619195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‘저 전문가예요’라고 말하는 사람과, 5종의 증거가 일관되게 가리키는 사람은 다르다.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524305" y="4572000"/>
            <a:ext cx="2895905" cy="40005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752905" y="4858207"/>
            <a:ext cx="24387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EVIDENCE 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752905" y="5229454"/>
            <a:ext cx="24387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학위·자격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1752905" y="5729630"/>
            <a:ext cx="24387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분야 관련 학위,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752905" y="6009437"/>
            <a:ext cx="2438705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국가·국가공인 자격증 중심. 전부 나열 ✗ → 분야별 대표 1~2개만 표면에.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752905" y="7022592"/>
            <a:ext cx="24387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1752905" y="7165238"/>
            <a:ext cx="2438705" cy="2487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가중치 ★★★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10405" y="4572000"/>
            <a:ext cx="2895905" cy="40005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4839005" y="4858207"/>
            <a:ext cx="24387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EVIDENCE 2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839005" y="5229454"/>
            <a:ext cx="24387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실적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4839005" y="5729630"/>
            <a:ext cx="24387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 × 대상 × 시간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839005" y="6009437"/>
            <a:ext cx="24387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주제 × 성과의 5열 정리.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839005" y="6290158"/>
            <a:ext cx="24387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 강의 시수보다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839005" y="6570878"/>
            <a:ext cx="314462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‘재의뢰 기관 수’가 더 강한 신호.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839005" y="7022592"/>
            <a:ext cx="24387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4839005" y="7165238"/>
            <a:ext cx="2438705" cy="2487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가중치 ★★★★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696505" y="4572000"/>
            <a:ext cx="2895905" cy="40005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7925105" y="4858207"/>
            <a:ext cx="24387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EVIDENCE 3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925105" y="5229454"/>
            <a:ext cx="24387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7925105" y="5729630"/>
            <a:ext cx="274777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‘참여’ ✗ → ‘해결한 문제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925105" y="6009437"/>
            <a:ext cx="24387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산출물 + 결과 수치’ ○.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925105" y="6290158"/>
            <a:ext cx="24387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주제와 1:1로 매칭되는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925105" y="6570878"/>
            <a:ext cx="24387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프로젝트만.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925105" y="7022592"/>
            <a:ext cx="24387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7925105" y="7165238"/>
            <a:ext cx="2438705" cy="2487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가중치 ★★★★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10782605" y="4572000"/>
            <a:ext cx="2895905" cy="40005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11011205" y="4858207"/>
            <a:ext cx="24387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EVIDENCE 4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11011205" y="5229454"/>
            <a:ext cx="24387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</a:t>
            </a:r>
            <a:endParaRPr lang="en-US" sz="2200" dirty="0"/>
          </a:p>
        </p:txBody>
      </p:sp>
      <p:sp>
        <p:nvSpPr>
          <p:cNvPr id="37" name="Text 34"/>
          <p:cNvSpPr txBox="1"/>
          <p:nvPr/>
        </p:nvSpPr>
        <p:spPr>
          <a:xfrm>
            <a:off x="11011205" y="5729630"/>
            <a:ext cx="24387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교재 · 슬라이드 · 영상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11011205" y="6009437"/>
            <a:ext cx="24387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칼럼 · 블로그 · 깃허브.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11011205" y="6290158"/>
            <a:ext cx="24387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일부라도 ‘공개 가능한 자료’가 있어야 신뢰가 만들어진다.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11011205" y="7022592"/>
            <a:ext cx="24387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 txBox="1"/>
          <p:nvPr/>
        </p:nvSpPr>
        <p:spPr>
          <a:xfrm>
            <a:off x="11011205" y="7165238"/>
            <a:ext cx="2438705" cy="2487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가중치 ★★★★★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13868705" y="4572000"/>
            <a:ext cx="2895905" cy="4000500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 txBox="1"/>
          <p:nvPr/>
        </p:nvSpPr>
        <p:spPr>
          <a:xfrm>
            <a:off x="14097305" y="5229454"/>
            <a:ext cx="24387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제3자 후기</a:t>
            </a:r>
            <a:endParaRPr lang="en-US" sz="2200" dirty="0"/>
          </a:p>
        </p:txBody>
      </p:sp>
      <p:sp>
        <p:nvSpPr>
          <p:cNvPr id="44" name="Shape 41"/>
          <p:cNvSpPr/>
          <p:nvPr/>
        </p:nvSpPr>
        <p:spPr>
          <a:xfrm>
            <a:off x="14097305" y="7022592"/>
            <a:ext cx="2438705" cy="9144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 txBox="1"/>
          <p:nvPr/>
        </p:nvSpPr>
        <p:spPr>
          <a:xfrm>
            <a:off x="14097305" y="7165238"/>
            <a:ext cx="2438705" cy="2487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가중치 ★★★★★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14097305" y="4858207"/>
            <a:ext cx="24387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EVIDENCE 5</a:t>
            </a:r>
            <a:endParaRPr lang="en-US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4097305" y="5729630"/>
            <a:ext cx="24387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수강생 피드백 · 기관 평가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14097305" y="6009437"/>
            <a:ext cx="24387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재의뢰 의향.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14097305" y="6290158"/>
            <a:ext cx="268833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‘본인의 말’보다 ‘남의 말’이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14097305" y="6570878"/>
            <a:ext cx="24387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항상 더 강하다.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1 강사의 정체성</a:t>
            </a:r>
            <a:endParaRPr lang="en-US" sz="1300" dirty="0"/>
          </a:p>
        </p:txBody>
      </p:sp>
      <p:sp>
        <p:nvSpPr>
          <p:cNvPr id="5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 · 강사의 정체성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‘대상에 맞춘다’는 것은 무엇인가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209544"/>
            <a:ext cx="28200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주제, 다른 대상.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705149"/>
            <a:ext cx="548091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동사·예시·KPI·과제까지 모두 바뀌어야 한다.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524305" y="5057546"/>
            <a:ext cx="190469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524305" y="4572000"/>
            <a:ext cx="1905610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요소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29000" y="5057546"/>
            <a:ext cx="3333902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3429000" y="4572000"/>
            <a:ext cx="3333902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학생·구직자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762902" y="5057546"/>
            <a:ext cx="3333902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6762902" y="4572000"/>
            <a:ext cx="3333902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직장인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0096805" y="5057546"/>
            <a:ext cx="3333902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10096805" y="4572000"/>
            <a:ext cx="3333902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관리자·임원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3430707" y="5057546"/>
            <a:ext cx="3333902" cy="1920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13430707" y="4572000"/>
            <a:ext cx="3333902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교수자·강사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524305" y="5611673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1524305" y="5068519"/>
            <a:ext cx="1905610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동기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3429000" y="5611673"/>
            <a:ext cx="33339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3429000" y="5068519"/>
            <a:ext cx="3333902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취업 · 시험 합격 · 자격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762902" y="5611673"/>
            <a:ext cx="33339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6762902" y="5068519"/>
            <a:ext cx="3333902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월요일 업무에 바로 적용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10096805" y="5611673"/>
            <a:ext cx="33339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10096805" y="5068519"/>
            <a:ext cx="3333902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· 리스크 판단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13430707" y="5611673"/>
            <a:ext cx="33339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13430707" y="5068519"/>
            <a:ext cx="3333902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학습자에게 다시 가르치기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1524305" y="6163970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1524305" y="5620817"/>
            <a:ext cx="1905610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동사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3429000" y="6163970"/>
            <a:ext cx="33339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3429000" y="5620817"/>
            <a:ext cx="3333902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‘이해한다’ · ‘외운다’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762902" y="6163970"/>
            <a:ext cx="33339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6762902" y="5620817"/>
            <a:ext cx="3333902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‘만든다’ · ‘적용한다’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10096805" y="6163970"/>
            <a:ext cx="33339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10096805" y="5620817"/>
            <a:ext cx="3333902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‘판단한다’ · ‘투자한다’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13430707" y="6163970"/>
            <a:ext cx="33339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 txBox="1"/>
          <p:nvPr/>
        </p:nvSpPr>
        <p:spPr>
          <a:xfrm>
            <a:off x="13430707" y="5620817"/>
            <a:ext cx="3333902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‘설계한다’ · ‘가르친다’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1524305" y="6716268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 txBox="1"/>
          <p:nvPr/>
        </p:nvSpPr>
        <p:spPr>
          <a:xfrm>
            <a:off x="1524305" y="6173114"/>
            <a:ext cx="1905610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무게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3429000" y="6716268"/>
            <a:ext cx="33339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 txBox="1"/>
          <p:nvPr/>
        </p:nvSpPr>
        <p:spPr>
          <a:xfrm>
            <a:off x="3429000" y="6173114"/>
            <a:ext cx="3333902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교과서 · 시험 기출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6762902" y="6716268"/>
            <a:ext cx="33339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 txBox="1"/>
          <p:nvPr/>
        </p:nvSpPr>
        <p:spPr>
          <a:xfrm>
            <a:off x="6762902" y="6173114"/>
            <a:ext cx="3333902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동종 업계 사례 · 도구 시연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10096805" y="6716268"/>
            <a:ext cx="33339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 txBox="1"/>
          <p:nvPr/>
        </p:nvSpPr>
        <p:spPr>
          <a:xfrm>
            <a:off x="10096805" y="6173114"/>
            <a:ext cx="3333902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CEO/CFO 관점 사례 · 수치</a:t>
            </a:r>
            <a:endParaRPr lang="en-US" sz="1500" dirty="0"/>
          </a:p>
        </p:txBody>
      </p:sp>
      <p:sp>
        <p:nvSpPr>
          <p:cNvPr id="48" name="Shape 45"/>
          <p:cNvSpPr/>
          <p:nvPr/>
        </p:nvSpPr>
        <p:spPr>
          <a:xfrm>
            <a:off x="13430707" y="6716268"/>
            <a:ext cx="33339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 txBox="1"/>
          <p:nvPr/>
        </p:nvSpPr>
        <p:spPr>
          <a:xfrm>
            <a:off x="13430707" y="6173114"/>
            <a:ext cx="3333902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교수법 · 평가 설계 사례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1524305" y="7268566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Text 48"/>
          <p:cNvSpPr txBox="1"/>
          <p:nvPr/>
        </p:nvSpPr>
        <p:spPr>
          <a:xfrm>
            <a:off x="1524305" y="6725412"/>
            <a:ext cx="1905610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형태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3429000" y="7268566"/>
            <a:ext cx="33339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0"/>
          <p:cNvSpPr txBox="1"/>
          <p:nvPr/>
        </p:nvSpPr>
        <p:spPr>
          <a:xfrm>
            <a:off x="3429000" y="6725412"/>
            <a:ext cx="3333902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풀이 · 퀴즈</a:t>
            </a:r>
            <a:endParaRPr lang="en-US" sz="1500" dirty="0"/>
          </a:p>
        </p:txBody>
      </p:sp>
      <p:sp>
        <p:nvSpPr>
          <p:cNvPr id="54" name="Shape 51"/>
          <p:cNvSpPr/>
          <p:nvPr/>
        </p:nvSpPr>
        <p:spPr>
          <a:xfrm>
            <a:off x="6762902" y="7268566"/>
            <a:ext cx="33339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Text 52"/>
          <p:cNvSpPr txBox="1"/>
          <p:nvPr/>
        </p:nvSpPr>
        <p:spPr>
          <a:xfrm>
            <a:off x="6762902" y="6725412"/>
            <a:ext cx="3333902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 업무에 적용 워크북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10096805" y="7268566"/>
            <a:ext cx="33339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Text 54"/>
          <p:cNvSpPr txBox="1"/>
          <p:nvPr/>
        </p:nvSpPr>
        <p:spPr>
          <a:xfrm>
            <a:off x="10096805" y="6725412"/>
            <a:ext cx="3333902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토론 · 의사결정 게임</a:t>
            </a:r>
            <a:endParaRPr lang="en-US" sz="1500" dirty="0"/>
          </a:p>
        </p:txBody>
      </p:sp>
      <p:sp>
        <p:nvSpPr>
          <p:cNvPr id="58" name="Shape 55"/>
          <p:cNvSpPr/>
          <p:nvPr/>
        </p:nvSpPr>
        <p:spPr>
          <a:xfrm>
            <a:off x="13430707" y="7268566"/>
            <a:ext cx="33339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" name="Text 56"/>
          <p:cNvSpPr txBox="1"/>
          <p:nvPr/>
        </p:nvSpPr>
        <p:spPr>
          <a:xfrm>
            <a:off x="13430707" y="6725412"/>
            <a:ext cx="3333902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강의안 설계 실습</a:t>
            </a:r>
            <a:endParaRPr lang="en-US" sz="1500" dirty="0"/>
          </a:p>
        </p:txBody>
      </p:sp>
      <p:sp>
        <p:nvSpPr>
          <p:cNvPr id="60" name="Shape 57"/>
          <p:cNvSpPr/>
          <p:nvPr/>
        </p:nvSpPr>
        <p:spPr>
          <a:xfrm>
            <a:off x="1524305" y="7820863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Text 58"/>
          <p:cNvSpPr txBox="1"/>
          <p:nvPr/>
        </p:nvSpPr>
        <p:spPr>
          <a:xfrm>
            <a:off x="1524305" y="7277710"/>
            <a:ext cx="1905610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KPI</a:t>
            </a:r>
            <a:endParaRPr lang="en-US" sz="1500" dirty="0"/>
          </a:p>
        </p:txBody>
      </p:sp>
      <p:sp>
        <p:nvSpPr>
          <p:cNvPr id="62" name="Shape 59"/>
          <p:cNvSpPr/>
          <p:nvPr/>
        </p:nvSpPr>
        <p:spPr>
          <a:xfrm>
            <a:off x="3429000" y="7820863"/>
            <a:ext cx="33339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3" name="Text 60"/>
          <p:cNvSpPr txBox="1"/>
          <p:nvPr/>
        </p:nvSpPr>
        <p:spPr>
          <a:xfrm>
            <a:off x="3429000" y="7277710"/>
            <a:ext cx="3333902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합격률 · 점수 향상</a:t>
            </a:r>
            <a:endParaRPr lang="en-US" sz="1500" dirty="0"/>
          </a:p>
        </p:txBody>
      </p:sp>
      <p:sp>
        <p:nvSpPr>
          <p:cNvPr id="64" name="Shape 61"/>
          <p:cNvSpPr/>
          <p:nvPr/>
        </p:nvSpPr>
        <p:spPr>
          <a:xfrm>
            <a:off x="6762902" y="7820863"/>
            <a:ext cx="33339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Text 62"/>
          <p:cNvSpPr txBox="1"/>
          <p:nvPr/>
        </p:nvSpPr>
        <p:spPr>
          <a:xfrm>
            <a:off x="6762902" y="7277710"/>
            <a:ext cx="3333902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후 30일 적용률</a:t>
            </a:r>
            <a:endParaRPr lang="en-US" sz="1500" dirty="0"/>
          </a:p>
        </p:txBody>
      </p:sp>
      <p:sp>
        <p:nvSpPr>
          <p:cNvPr id="66" name="Shape 63"/>
          <p:cNvSpPr/>
          <p:nvPr/>
        </p:nvSpPr>
        <p:spPr>
          <a:xfrm>
            <a:off x="10096805" y="7820863"/>
            <a:ext cx="33339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7" name="Text 64"/>
          <p:cNvSpPr txBox="1"/>
          <p:nvPr/>
        </p:nvSpPr>
        <p:spPr>
          <a:xfrm>
            <a:off x="10096805" y="7277710"/>
            <a:ext cx="3333902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의사결정 변화</a:t>
            </a:r>
            <a:endParaRPr lang="en-US" sz="1500" dirty="0"/>
          </a:p>
        </p:txBody>
      </p:sp>
      <p:sp>
        <p:nvSpPr>
          <p:cNvPr id="68" name="Shape 65"/>
          <p:cNvSpPr/>
          <p:nvPr/>
        </p:nvSpPr>
        <p:spPr>
          <a:xfrm>
            <a:off x="13430707" y="7820863"/>
            <a:ext cx="33339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9" name="Text 66"/>
          <p:cNvSpPr txBox="1"/>
          <p:nvPr/>
        </p:nvSpPr>
        <p:spPr>
          <a:xfrm>
            <a:off x="13430707" y="7277710"/>
            <a:ext cx="3333902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재수강자가 자신의 강의 개선</a:t>
            </a:r>
            <a:endParaRPr lang="en-US" sz="1500" dirty="0"/>
          </a:p>
        </p:txBody>
      </p:sp>
      <p:sp>
        <p:nvSpPr>
          <p:cNvPr id="70" name="Text 67"/>
          <p:cNvSpPr txBox="1"/>
          <p:nvPr/>
        </p:nvSpPr>
        <p:spPr>
          <a:xfrm>
            <a:off x="1524305" y="7830007"/>
            <a:ext cx="1905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필요 역량</a:t>
            </a:r>
            <a:endParaRPr lang="en-US" sz="1500" dirty="0"/>
          </a:p>
        </p:txBody>
      </p:sp>
      <p:sp>
        <p:nvSpPr>
          <p:cNvPr id="71" name="Text 68"/>
          <p:cNvSpPr txBox="1"/>
          <p:nvPr/>
        </p:nvSpPr>
        <p:spPr>
          <a:xfrm>
            <a:off x="3429000" y="7830007"/>
            <a:ext cx="333390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설명력 · 인내력</a:t>
            </a:r>
            <a:endParaRPr lang="en-US" sz="1500" dirty="0"/>
          </a:p>
        </p:txBody>
      </p:sp>
      <p:sp>
        <p:nvSpPr>
          <p:cNvPr id="72" name="Text 69"/>
          <p:cNvSpPr txBox="1"/>
          <p:nvPr/>
        </p:nvSpPr>
        <p:spPr>
          <a:xfrm>
            <a:off x="6762902" y="7830007"/>
            <a:ext cx="333390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현장감 · 도구 숙련</a:t>
            </a:r>
            <a:endParaRPr lang="en-US" sz="1500" dirty="0"/>
          </a:p>
        </p:txBody>
      </p:sp>
      <p:sp>
        <p:nvSpPr>
          <p:cNvPr id="73" name="Text 70"/>
          <p:cNvSpPr txBox="1"/>
          <p:nvPr/>
        </p:nvSpPr>
        <p:spPr>
          <a:xfrm>
            <a:off x="10096805" y="7830007"/>
            <a:ext cx="333390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압축력 · 신뢰감</a:t>
            </a:r>
            <a:endParaRPr lang="en-US" sz="1500" dirty="0"/>
          </a:p>
        </p:txBody>
      </p:sp>
      <p:sp>
        <p:nvSpPr>
          <p:cNvPr id="74" name="Text 71"/>
          <p:cNvSpPr txBox="1"/>
          <p:nvPr/>
        </p:nvSpPr>
        <p:spPr>
          <a:xfrm>
            <a:off x="13430707" y="7830007"/>
            <a:ext cx="333390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메타 역량 · 큐레이션</a:t>
            </a:r>
            <a:endParaRPr lang="en-US" sz="1500" dirty="0"/>
          </a:p>
        </p:txBody>
      </p:sp>
      <p:sp>
        <p:nvSpPr>
          <p:cNvPr id="75" name="Text 72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1 강사의 정체성</a:t>
            </a:r>
            <a:endParaRPr lang="en-US" sz="1300" dirty="0"/>
          </a:p>
        </p:txBody>
      </p:sp>
      <p:sp>
        <p:nvSpPr>
          <p:cNvPr id="7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24305" y="4572000"/>
            <a:ext cx="4953305" cy="2286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24305" y="7048195"/>
            <a:ext cx="4953305" cy="2286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858000" y="4572000"/>
            <a:ext cx="9905695" cy="4762195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24305" y="1009498"/>
            <a:ext cx="322143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 · 강사의 정체성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6319297" y="1009498"/>
            <a:ext cx="82753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 / 70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2076602"/>
            <a:ext cx="9162288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대상별 강사 핵심 역량 3종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1524305" y="3209544"/>
            <a:ext cx="711494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설명력 · 공감력 · 실습 설계력 — 비중은 대상마다 다르다.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1524305" y="3705149"/>
            <a:ext cx="387614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본인의 강점 분포부터 파악한다.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1904695" y="4914900"/>
            <a:ext cx="125821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· 설명력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904695" y="5438851"/>
            <a:ext cx="31766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것을 한 줄로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904695" y="6105449"/>
            <a:ext cx="30385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은유 1개 + 사례 1개 + 도식 1개.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904695" y="6486754"/>
            <a:ext cx="29818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학생·구직자에서 가중치 ★★★★★.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904695" y="7391095"/>
            <a:ext cx="12701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 · 공감력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904695" y="7915046"/>
            <a:ext cx="298734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학습자의 현재 자리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1904695" y="8581644"/>
            <a:ext cx="307147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‘저도 그때 그랬어요’의 정확도.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904695" y="8962949"/>
            <a:ext cx="31629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직장인·관리자에서 가중치 ★★★★★.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2381890" y="8687714"/>
            <a:ext cx="400141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성취 — 손에 잡히는 산출물 1개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239305" y="5544007"/>
            <a:ext cx="6201461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‘듣는 강의’가 아니라</a:t>
            </a:r>
            <a:endParaRPr lang="en-US" sz="3900" dirty="0"/>
          </a:p>
        </p:txBody>
      </p:sp>
      <p:sp>
        <p:nvSpPr>
          <p:cNvPr id="23" name="Text 20"/>
          <p:cNvSpPr txBox="1"/>
          <p:nvPr/>
        </p:nvSpPr>
        <p:spPr>
          <a:xfrm>
            <a:off x="7239305" y="6534302"/>
            <a:ext cx="8258861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‘만드는 강의’를 설계하는 힘</a:t>
            </a:r>
            <a:endParaRPr lang="en-US" sz="3900" dirty="0"/>
          </a:p>
        </p:txBody>
      </p:sp>
      <p:sp>
        <p:nvSpPr>
          <p:cNvPr id="24" name="Shape 21"/>
          <p:cNvSpPr/>
          <p:nvPr/>
        </p:nvSpPr>
        <p:spPr>
          <a:xfrm>
            <a:off x="7239305" y="8192110"/>
            <a:ext cx="323698" cy="32369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7239305" y="819211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658100" y="8192110"/>
            <a:ext cx="27560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흐름 — 60분을 6블록으로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1963095" y="8192110"/>
            <a:ext cx="323698" cy="32369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1963095" y="819211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2382805" y="8192110"/>
            <a:ext cx="338876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 — 듣기 30% · 만들기 70%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239305" y="8744407"/>
            <a:ext cx="323698" cy="32369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7239305" y="8744407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658100" y="8744407"/>
            <a:ext cx="333481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피드백 — 즉시·짧게·구체적으로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1963095" y="8687714"/>
            <a:ext cx="323698" cy="32369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11963095" y="8687714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7239305" y="4914900"/>
            <a:ext cx="549097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 · 실습 설계력 — 미래 강사의 결정적 차별점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7239305" y="7610551"/>
            <a:ext cx="640171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설계력은 다음 4가지를 한 번에 설계할 수 있는 능력이다.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1 강사의 정체성</a:t>
            </a:r>
            <a:endParaRPr lang="en-US" sz="1300" dirty="0"/>
          </a:p>
        </p:txBody>
      </p:sp>
      <p:sp>
        <p:nvSpPr>
          <p:cNvPr id="3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477195" y="4476902"/>
            <a:ext cx="6286500" cy="4953305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 · 강사의 정체성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 / 70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강사는 ‘질문을 설계하는 사람’이다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277210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강의의 품질은 ‘얼마나 잘 답하느냐’가 아니라, ‘얼마나 좋은 질문으로 학습자의 사고를 여느냐’로 결정된다.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4572000"/>
            <a:ext cx="8382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강의용 ‘좋은 질문’의 5조건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24305" y="5048402"/>
            <a:ext cx="4389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2133295" y="5048402"/>
            <a:ext cx="879104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정답이 하나가 아닌가</a:t>
            </a:r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학습자의 맥락에 따라 답이 갈리는 질문일 때 토론이 살아난다.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524305" y="5514746"/>
            <a:ext cx="437998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1524305" y="5638190"/>
            <a:ext cx="438912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2133295" y="5514746"/>
            <a:ext cx="77724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2133295" y="5638190"/>
            <a:ext cx="7772400" cy="315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학습자의 현장과 연결되는가</a:t>
            </a:r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추상적인 질문은 침묵을 부른다. 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524305" y="6105449"/>
            <a:ext cx="437998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2133295" y="6105449"/>
            <a:ext cx="77724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2133295" y="6228893"/>
            <a:ext cx="7772400" cy="315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 상황에 묶어야 손이 올라간다.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524305" y="6676949"/>
            <a:ext cx="437998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1524305" y="6800393"/>
            <a:ext cx="438912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2133295" y="6676949"/>
            <a:ext cx="77724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2133295" y="6800393"/>
            <a:ext cx="7772400" cy="315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30초 안에 답할 수 있는가</a:t>
            </a:r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너무 큰 질문은 답을 막는다. 한 입 크기로 자른다.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524305" y="7267651"/>
            <a:ext cx="437998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1524305" y="7391095"/>
            <a:ext cx="438912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2133295" y="7267651"/>
            <a:ext cx="77724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2133295" y="7391095"/>
            <a:ext cx="7772400" cy="315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‘틀려도 안전한가’</a:t>
            </a:r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답이 틀려도 손해 보지 않는 분위기가 만들어져 있는가.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524305" y="7858354"/>
            <a:ext cx="437998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1524305" y="7981798"/>
            <a:ext cx="438912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2133295" y="7858354"/>
            <a:ext cx="77724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1524305" y="8449056"/>
            <a:ext cx="437998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2133295" y="8449056"/>
            <a:ext cx="77724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2133295" y="8572500"/>
            <a:ext cx="7772400" cy="315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질문 → 토론 → 다음 슬라이드로 이어지는 ‘다리’ 역할을 하는가.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2133295" y="7981798"/>
            <a:ext cx="250271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흐름과 연결되는가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10858500" y="4667098"/>
            <a:ext cx="5524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전후 비교 — 같은 주제, 다른 질문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0858500" y="5925312"/>
            <a:ext cx="5524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10858500" y="5257800"/>
            <a:ext cx="5524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✗ 침묵을 부르는 질문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10858500" y="5544007"/>
            <a:ext cx="5524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“여러분, 데이터 분석이 왜 중요하다고 생각하세요?”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10858500" y="6982358"/>
            <a:ext cx="5524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10858500" y="6048756"/>
            <a:ext cx="5524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손이 올라오는 질문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10858500" y="6334049"/>
            <a:ext cx="5524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“지난주 보고서 중에 ‘이 숫자, 어디서 나왔지?’라고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10858500" y="6601054"/>
            <a:ext cx="5524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다시 물어본 적 있는 분, 손 들어주세요.”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10858500" y="7773314"/>
            <a:ext cx="5524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 txBox="1"/>
          <p:nvPr/>
        </p:nvSpPr>
        <p:spPr>
          <a:xfrm>
            <a:off x="10858500" y="7105802"/>
            <a:ext cx="5524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✗ 학습자가 답할 수 없는 질문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10858500" y="7391095"/>
            <a:ext cx="5524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“AI가 강사를 대체할까요?”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10858500" y="7895844"/>
            <a:ext cx="5524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학습자가 답할 수 있는 질문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10858500" y="8182051"/>
            <a:ext cx="5524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“최근 3개월, 본인의 업무 중 AI에 시켜본 일 한 가지만</a:t>
            </a:r>
            <a:endParaRPr lang="en-US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10858500" y="8449056"/>
            <a:ext cx="5524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옆 사람에게 말해보세요.”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1 강사의 정체성</a:t>
            </a:r>
            <a:endParaRPr lang="en-US" sz="1300" dirty="0"/>
          </a:p>
        </p:txBody>
      </p:sp>
      <p:sp>
        <p:nvSpPr>
          <p:cNvPr id="5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24305" y="4572000"/>
            <a:ext cx="8382305" cy="4762195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 · 포트폴리오 설계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 / 70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포트폴리오란 무엇인가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619195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 담당자가 ‘이 사람을 부를지 말지’를 7분 안에 결정하게 만드는 문서.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904695" y="4953305"/>
            <a:ext cx="7620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904695" y="5410505"/>
            <a:ext cx="76206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포트폴리오는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1904695" y="6133795"/>
            <a:ext cx="800557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‘전문성을 증명하는 설득용 문서’다.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1904695" y="7528255"/>
            <a:ext cx="7620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</a:t>
            </a:r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강의 발주 기관, 인사 담당자, 학습자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904695" y="7863840"/>
            <a:ext cx="7620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</a:t>
            </a:r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‘부를지 말지’ 결정에 필요한 근거 제공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904695" y="8198510"/>
            <a:ext cx="7620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형식</a:t>
            </a:r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종이 1장 ~ 디지털 사이트, 다중 채널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904695" y="8534095"/>
            <a:ext cx="7620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갱신 주기</a:t>
            </a:r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분기 1회, 최소 강의 후 1주일 내 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0477195" y="4667098"/>
            <a:ext cx="6286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IT IS NOT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0477195" y="5124298"/>
            <a:ext cx="62865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포트폴리오는</a:t>
            </a:r>
            <a:pPr algn="l" indent="0" marL="0">
              <a:buNone/>
            </a:pP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이것이 아니다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10477195" y="6115507"/>
            <a:ext cx="3429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✗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0953598" y="6115507"/>
            <a:ext cx="58110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이력서</a:t>
            </a:r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시간 순 ‘기록’일 뿐, 설득의 구조가 없다.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0477195" y="6543446"/>
            <a:ext cx="3429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10477195" y="6666890"/>
            <a:ext cx="34290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✗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953598" y="6543446"/>
            <a:ext cx="5810098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10953598" y="6666890"/>
            <a:ext cx="5811012" cy="315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자격증 사본 묶음</a:t>
            </a:r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증거의 ‘재료’일 뿐, 의미가 입혀지지 않았다.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0477195" y="7095744"/>
            <a:ext cx="3429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10477195" y="7219188"/>
            <a:ext cx="34290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✗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0953598" y="7095744"/>
            <a:ext cx="5810098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10477195" y="7648956"/>
            <a:ext cx="3429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10953598" y="7648956"/>
            <a:ext cx="5810098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10953598" y="7772400"/>
            <a:ext cx="5811012" cy="315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학습자용이지 발주자용이 아니다.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0477195" y="8201254"/>
            <a:ext cx="3429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10477195" y="8324698"/>
            <a:ext cx="34290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✗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0953598" y="8201254"/>
            <a:ext cx="5810098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0477195" y="8753551"/>
            <a:ext cx="3429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10953598" y="8753551"/>
            <a:ext cx="5810098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10953598" y="8876995"/>
            <a:ext cx="5811012" cy="315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‘나의 이야기’가 아니라 ‘기관이 얻는 이익’이 중심이어야 한다.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10953598" y="7220102"/>
            <a:ext cx="227959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슬라이드 모음집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10953598" y="8324698"/>
            <a:ext cx="111739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자기소개서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2 포트폴리오 설계</a:t>
            </a:r>
            <a:endParaRPr lang="en-US" sz="1300" dirty="0"/>
          </a:p>
        </p:txBody>
      </p:sp>
      <p:sp>
        <p:nvSpPr>
          <p:cNvPr id="4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 · 포트폴리오 설계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이력서와 포트폴리오의 결정적 차이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251606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이력서는 ‘과거 기록’, 포트폴리오는 ‘미래 약속’. 7개 항목으로 비교한다.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524305" y="5085893"/>
            <a:ext cx="209580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524305" y="4572000"/>
            <a:ext cx="2095805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19195" y="5085893"/>
            <a:ext cx="6572707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619195" y="4572000"/>
            <a:ext cx="6572707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이력서 (Résumé)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0191902" y="5085893"/>
            <a:ext cx="6572707" cy="1920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10191902" y="4572000"/>
            <a:ext cx="6572707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 (Portfolio)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524305" y="5686654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524305" y="5105095"/>
            <a:ext cx="2095805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본질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619195" y="5686654"/>
            <a:ext cx="6572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3619195" y="5105095"/>
            <a:ext cx="6572707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 — 시간 순으로 무엇을 했는지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0191902" y="5686654"/>
            <a:ext cx="6572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10191902" y="5105095"/>
            <a:ext cx="6572707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설득 — 이 사람을 왜 불러야 하는지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524305" y="6277356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1524305" y="5695798"/>
            <a:ext cx="2095805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독자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619195" y="6277356"/>
            <a:ext cx="6572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3619195" y="5695798"/>
            <a:ext cx="6572707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인사부 · 채용 담당자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0191902" y="6277356"/>
            <a:ext cx="6572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10191902" y="5695798"/>
            <a:ext cx="6572707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발주 기관 · 의사결정자 · 학습자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524305" y="6868058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1524305" y="6286500"/>
            <a:ext cx="2095805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시간축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619195" y="6868058"/>
            <a:ext cx="6572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3619195" y="6286500"/>
            <a:ext cx="6572707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(했던 일)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0191902" y="6868058"/>
            <a:ext cx="6572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10191902" y="6286500"/>
            <a:ext cx="6572707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 (만들 수 있는 변화)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524305" y="7458761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1524305" y="6877202"/>
            <a:ext cx="2095805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중심 단위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3619195" y="7458761"/>
            <a:ext cx="6572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3619195" y="6877202"/>
            <a:ext cx="6572707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소속·직책·기간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10191902" y="7458761"/>
            <a:ext cx="6572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10191902" y="6877202"/>
            <a:ext cx="6572707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문제·해결·결과·증거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1524305" y="8049463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1524305" y="7467905"/>
            <a:ext cx="2095805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3619195" y="8049463"/>
            <a:ext cx="6572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 txBox="1"/>
          <p:nvPr/>
        </p:nvSpPr>
        <p:spPr>
          <a:xfrm>
            <a:off x="3619195" y="7467905"/>
            <a:ext cx="6572707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학력 → 경력 → 자격증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10191902" y="8049463"/>
            <a:ext cx="6572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 txBox="1"/>
          <p:nvPr/>
        </p:nvSpPr>
        <p:spPr>
          <a:xfrm>
            <a:off x="10191902" y="7467905"/>
            <a:ext cx="6572707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정체성 → 전문분야 → 실적 → 콘텐츠 → 성과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1524305" y="8640166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 txBox="1"/>
          <p:nvPr/>
        </p:nvSpPr>
        <p:spPr>
          <a:xfrm>
            <a:off x="1524305" y="8058607"/>
            <a:ext cx="2095805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분량 압박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3619195" y="8640166"/>
            <a:ext cx="6572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Text 45"/>
          <p:cNvSpPr txBox="1"/>
          <p:nvPr/>
        </p:nvSpPr>
        <p:spPr>
          <a:xfrm>
            <a:off x="3619195" y="8058607"/>
            <a:ext cx="6572707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A4 1~2장으로 압축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10191902" y="8640166"/>
            <a:ext cx="6572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47"/>
          <p:cNvSpPr txBox="1"/>
          <p:nvPr/>
        </p:nvSpPr>
        <p:spPr>
          <a:xfrm>
            <a:off x="10191902" y="8058607"/>
            <a:ext cx="6572707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표지 1장 + 상세 5~15장 + 부록 자유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1524305" y="8648395"/>
            <a:ext cx="2095805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갱신 주기</a:t>
            </a:r>
            <a:endParaRPr lang="en-US" sz="1600" dirty="0"/>
          </a:p>
        </p:txBody>
      </p:sp>
      <p:sp>
        <p:nvSpPr>
          <p:cNvPr id="52" name="Text 49"/>
          <p:cNvSpPr txBox="1"/>
          <p:nvPr/>
        </p:nvSpPr>
        <p:spPr>
          <a:xfrm>
            <a:off x="3619195" y="8648395"/>
            <a:ext cx="6572707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이직 시점</a:t>
            </a:r>
            <a:endParaRPr lang="en-US" sz="1600" dirty="0"/>
          </a:p>
        </p:txBody>
      </p:sp>
      <p:sp>
        <p:nvSpPr>
          <p:cNvPr id="53" name="Text 50"/>
          <p:cNvSpPr txBox="1"/>
          <p:nvPr/>
        </p:nvSpPr>
        <p:spPr>
          <a:xfrm>
            <a:off x="10191902" y="8648395"/>
            <a:ext cx="6572707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1회 · 강의 종료 후 1주일 내</a:t>
            </a:r>
            <a:endParaRPr lang="en-US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2 포트폴리오 설계</a:t>
            </a:r>
            <a:endParaRPr lang="en-US" sz="1300" dirty="0"/>
          </a:p>
        </p:txBody>
      </p:sp>
      <p:sp>
        <p:nvSpPr>
          <p:cNvPr id="5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051646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 · 포트폴리오 설계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포트폴리오가 강사에게 필요한 4가지 이유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146450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포트폴리오는 ‘있으면 좋은 것’이 아니라, 강의 기회를 만들고 단가를 지키는 ‘영업 도구’다.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4222699"/>
            <a:ext cx="6126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2252167" y="4403750"/>
            <a:ext cx="41596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기회를 ‘먼저’ 받는다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1524305" y="5184648"/>
            <a:ext cx="371155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 담당자가 강사를 검색하는 순간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524305" y="5603443"/>
            <a:ext cx="69549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사이트·블로그·LinkedIn에 포트폴리오가 있어야 후보에 들어간다.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524305" y="6022238"/>
            <a:ext cx="29050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노출이 없으면 의뢰도 없다.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9334195" y="4222699"/>
            <a:ext cx="6126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10062972" y="4403750"/>
            <a:ext cx="4953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‘이 강사 맞나’의 의심을 끊는다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9334195" y="5184648"/>
            <a:ext cx="368594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기관은 항상 ‘안전한 선택’을 한다.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9334195" y="5603443"/>
            <a:ext cx="738286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후기·산출물·공개 자료가 보이면 의사결정 시간이 짧아진다.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524305" y="6889090"/>
            <a:ext cx="6126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2252167" y="7070141"/>
            <a:ext cx="4953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단가를 ‘근거 있게’ 지킨다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1524305" y="7851038"/>
            <a:ext cx="620054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‘왜 시간당 ○○만원인가요?’라는 질문에 포트폴리오가 답한다.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524305" y="8270748"/>
            <a:ext cx="416417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후기·자격·결과물이 가격의 근거가 된다.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334195" y="6889090"/>
            <a:ext cx="6126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Text 20"/>
          <p:cNvSpPr txBox="1"/>
          <p:nvPr/>
        </p:nvSpPr>
        <p:spPr>
          <a:xfrm>
            <a:off x="10062972" y="7070141"/>
            <a:ext cx="58603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‘다음 강의’의 동선이 자동으로 깔린다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9334195" y="7851038"/>
            <a:ext cx="798637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시그니처 강의 → 입문/실무/고도화 패키지 → 컨설팅·코칭으로 자연스럽게 확장.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334195" y="8270748"/>
            <a:ext cx="376184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포트폴리오가 ‘제품 카탈로그’ 역할.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2 포트폴리오 설계</a:t>
            </a:r>
            <a:endParaRPr lang="en-US" sz="13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 · 포트폴리오 설계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포트폴리오의 5장 구조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209544"/>
            <a:ext cx="226131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5장이면 충분하다.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705149"/>
            <a:ext cx="666963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늘어나면 읽지 않고, 더 줄어들면 신뢰가 안 잡힌다.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524305" y="4572000"/>
            <a:ext cx="2915107" cy="419069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1524305" y="4572000"/>
            <a:ext cx="2915107" cy="384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1733702" y="4876495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1733702" y="5391302"/>
            <a:ext cx="24963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 · 정체성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733702" y="5836615"/>
            <a:ext cx="2496312" cy="1543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한 문장 정체성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전문 사진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키워드 5개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연락 · 채널 링크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분량 ▸ 1장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05833" y="4572000"/>
            <a:ext cx="2915107" cy="419069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605833" y="4572000"/>
            <a:ext cx="2915107" cy="384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4816145" y="4876495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3600" dirty="0"/>
          </a:p>
        </p:txBody>
      </p:sp>
      <p:sp>
        <p:nvSpPr>
          <p:cNvPr id="18" name="Text 15"/>
          <p:cNvSpPr txBox="1"/>
          <p:nvPr/>
        </p:nvSpPr>
        <p:spPr>
          <a:xfrm>
            <a:off x="4816145" y="5391302"/>
            <a:ext cx="24963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전문분야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816145" y="5836615"/>
            <a:ext cx="2496312" cy="1543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분야 3~5개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각 분야 한 줄 설명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자격·근거 매칭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강의 가능 시간 범위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분량 ▸ 1장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688275" y="4572000"/>
            <a:ext cx="2915107" cy="419069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7688275" y="4572000"/>
            <a:ext cx="2915107" cy="384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7897673" y="4876495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3600" dirty="0"/>
          </a:p>
        </p:txBody>
      </p:sp>
      <p:sp>
        <p:nvSpPr>
          <p:cNvPr id="23" name="Text 20"/>
          <p:cNvSpPr txBox="1"/>
          <p:nvPr/>
        </p:nvSpPr>
        <p:spPr>
          <a:xfrm>
            <a:off x="7897673" y="5391302"/>
            <a:ext cx="24963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실적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897673" y="5836615"/>
            <a:ext cx="2496312" cy="1543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기관 · 대상 · 시간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주제 · 성과 5열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대표 강의 5개 강조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재의뢰 표시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분량 ▸ 1~2장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0770718" y="4572000"/>
            <a:ext cx="2915107" cy="419069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770718" y="4572000"/>
            <a:ext cx="2915107" cy="384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10980115" y="4876495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3600" dirty="0"/>
          </a:p>
        </p:txBody>
      </p:sp>
      <p:sp>
        <p:nvSpPr>
          <p:cNvPr id="28" name="Text 25"/>
          <p:cNvSpPr txBox="1"/>
          <p:nvPr/>
        </p:nvSpPr>
        <p:spPr>
          <a:xfrm>
            <a:off x="10980115" y="5391302"/>
            <a:ext cx="24963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 자산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10980115" y="5836615"/>
            <a:ext cx="2496312" cy="1543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교재 · 슬라이드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영상 · 칼럼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사이트 · GitHub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공개 자료 링크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분량 ▸ 1장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13853160" y="4572000"/>
            <a:ext cx="2915107" cy="4190695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14062558" y="5352898"/>
            <a:ext cx="24963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· 후기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14062558" y="4839005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3600" dirty="0"/>
          </a:p>
        </p:txBody>
      </p:sp>
      <p:sp>
        <p:nvSpPr>
          <p:cNvPr id="33" name="Text 30"/>
          <p:cNvSpPr txBox="1"/>
          <p:nvPr/>
        </p:nvSpPr>
        <p:spPr>
          <a:xfrm>
            <a:off x="14062558" y="5799125"/>
            <a:ext cx="2496312" cy="1543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만족도 수치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수강생 인용 3건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기관 평가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pPr algn="l" indent="0" marL="0">
              <a:buNone/>
            </a:pPr>
            <a:r>
              <a:rPr lang="en-US" sz="13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재의뢰율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분량 ▸ 1장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2 포트폴리오 설계</a:t>
            </a:r>
            <a:endParaRPr lang="en-US" sz="13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24305" y="4664354"/>
            <a:ext cx="15392095" cy="266730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24305" y="4664354"/>
            <a:ext cx="75895" cy="26673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 · 포트폴리오 설계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 / 70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페이지는 ‘강사의 한 문장’이다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3619195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 첫 장에 들어가야 하는 단 한 문장 — “나는 어떤 변화를 만드는 강사인가.”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2038198" y="4981651"/>
            <a:ext cx="404530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— 본 강사용 한 문장 (초안)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038198" y="5539435"/>
            <a:ext cx="1474378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“다수의 자격과 현장 경험을 가진 ‘앞서간 선생’으로,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2038198" y="6172200"/>
            <a:ext cx="14144854" cy="1495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학습자가 같은 시행착오를 반복하지 않도록 길을 안내한다.”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1524305" y="7619695"/>
            <a:ext cx="15240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‘한 문장’의 4조건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24305" y="8058607"/>
            <a:ext cx="36393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누구를 위한가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524305" y="8419795"/>
            <a:ext cx="36393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대상이 명확하다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524305" y="8668512"/>
            <a:ext cx="36393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‘직장인’, ‘구직자’, ‘교수자’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391302" y="8058607"/>
            <a:ext cx="36393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어떤 문제를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391302" y="8419795"/>
            <a:ext cx="36393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해결하려는 문제가 한 줄로 보인다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258300" y="8058607"/>
            <a:ext cx="36393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어떻게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9258300" y="8419795"/>
            <a:ext cx="36393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고유의 접근법이 드러난다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258300" y="8668512"/>
            <a:ext cx="36393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‘경험·실습 중심’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3125298" y="8058607"/>
            <a:ext cx="36393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어떤 변화로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3125298" y="8419795"/>
            <a:ext cx="36393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학습자에게 남는 결과가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3125298" y="8668512"/>
            <a:ext cx="36393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가능한 형태로 보인다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2 포트폴리오 설계</a:t>
            </a:r>
            <a:endParaRPr lang="en-US" sz="13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24305" y="6934810"/>
            <a:ext cx="15240305" cy="24003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 · 포트폴리오 설계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 / 70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정체성 문장 4-PART 공식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619195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[대상] + [문제] + [해결] + [성과] — 4칸을 채우면 한 문장이 완성된다.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524305" y="4572000"/>
            <a:ext cx="3685946" cy="2095805"/>
          </a:xfrm>
          <a:prstGeom prst="rect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733702" y="4800600"/>
            <a:ext cx="32671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 · 대상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733702" y="5171846"/>
            <a:ext cx="32671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누구를 돕는가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733702" y="5671109"/>
            <a:ext cx="32671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‘직장인 일반’ ✗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733702" y="5928055"/>
            <a:ext cx="32671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</a:t>
            </a:r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‘마케팅 5년 차 실무자’</a:t>
            </a:r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○. 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733702" y="6185002"/>
            <a:ext cx="32671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좁을수록 강하다.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376672" y="4572000"/>
            <a:ext cx="3685946" cy="2095805"/>
          </a:xfrm>
          <a:prstGeom prst="rect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5586070" y="4800600"/>
            <a:ext cx="32671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 · 문제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586070" y="5171846"/>
            <a:ext cx="32671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무엇이 막혔는가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5586070" y="5671109"/>
            <a:ext cx="32671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‘AI를 모른다’ ✗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586070" y="5928055"/>
            <a:ext cx="32671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</a:t>
            </a:r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‘AI 도구를 업무에 적용 못 한다’</a:t>
            </a:r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○.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9229954" y="4572000"/>
            <a:ext cx="3685946" cy="2095805"/>
          </a:xfrm>
          <a:prstGeom prst="rect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9439351" y="4800600"/>
            <a:ext cx="32671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 · 해결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439351" y="5171846"/>
            <a:ext cx="32671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푸는가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9439351" y="5671109"/>
            <a:ext cx="32671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‘이론 강의’ ✗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439351" y="5928055"/>
            <a:ext cx="32671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</a:t>
            </a:r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‘자기 업무로 작동하는 자동화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9439351" y="6185002"/>
            <a:ext cx="32671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1개 만들기’</a:t>
            </a:r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○.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13082321" y="4572000"/>
            <a:ext cx="3685946" cy="2095805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13273430" y="5152644"/>
            <a:ext cx="33055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무엇이 남는가</a:t>
            </a:r>
            <a:endParaRPr lang="en-US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13273430" y="4781398"/>
            <a:ext cx="33055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 · 성과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3273430" y="5651906"/>
            <a:ext cx="33055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‘만족도 4.8’ ✗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3273430" y="5908853"/>
            <a:ext cx="33055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</a:t>
            </a:r>
            <a:pPr algn="l" indent="0" marL="0">
              <a:buNone/>
            </a:pPr>
            <a:r>
              <a:rPr lang="en-US" sz="13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‘월요일에 적용 가능한 도구 1개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13273430" y="6166714"/>
            <a:ext cx="33055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+ 후속 코칭 1회’</a:t>
            </a:r>
            <a:pPr algn="l" indent="0" marL="0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○.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904695" y="7199071"/>
            <a:ext cx="14478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4-PART → 한 문장 완성 예시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1904695" y="7713878"/>
            <a:ext cx="14478610" cy="1200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“</a:t>
            </a:r>
            <a:pPr algn="l" indent="0" marL="0">
              <a:buNone/>
            </a:pPr>
            <a:r>
              <a:rPr lang="en-US" sz="21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마케팅 5년 차 실무자</a:t>
            </a:r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</a:t>
            </a:r>
            <a:pPr algn="l" indent="0" marL="0">
              <a:buNone/>
            </a:pPr>
            <a:r>
              <a:rPr lang="en-US" sz="21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도구를 업무에 적용하지 못해 야근하는 문제</a:t>
            </a:r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를,</a:t>
            </a:r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 업무로 작동하는 자동화 1개를 함께 만드는 6시간 워크숍</a:t>
            </a:r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풀어,</a:t>
            </a:r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월요일에 곧장 적용 가능한 도구와 후속 코칭 1회</a:t>
            </a:r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들고 가게 한다.” </a:t>
            </a:r>
            <a:endParaRPr lang="en-US" sz="2100" dirty="0"/>
          </a:p>
        </p:txBody>
      </p:sp>
      <p:sp>
        <p:nvSpPr>
          <p:cNvPr id="35" name="Text 32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2 포트폴리오 설계</a:t>
            </a:r>
            <a:endParaRPr lang="en-US" sz="1300" dirty="0"/>
          </a:p>
        </p:txBody>
      </p:sp>
      <p:sp>
        <p:nvSpPr>
          <p:cNvPr id="3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24305" y="4572000"/>
            <a:ext cx="4953305" cy="4572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 · 포트폴리오 설계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 / 70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전문분야는 3~5개로 좁혀라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108046"/>
            <a:ext cx="658002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‘무엇이든 강의 가능’은 ‘무엇도 깊지 않다’는 신호다.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3602736"/>
            <a:ext cx="473750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좁힐수록 단가와 신뢰가 함께 올라간다.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904695" y="4953305"/>
            <a:ext cx="4191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 분야 개수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904695" y="5391302"/>
            <a:ext cx="642366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spc="-7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3~5</a:t>
            </a:r>
            <a:pPr algn="l" indent="0" marL="0">
              <a:buNone/>
            </a:pPr>
            <a:r>
              <a:rPr lang="en-US" sz="3600" b="1" spc="-75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</a:t>
            </a:r>
            <a:endParaRPr lang="en-US" sz="15000" dirty="0"/>
          </a:p>
        </p:txBody>
      </p:sp>
      <p:sp>
        <p:nvSpPr>
          <p:cNvPr id="13" name="Text 10"/>
          <p:cNvSpPr txBox="1"/>
          <p:nvPr/>
        </p:nvSpPr>
        <p:spPr>
          <a:xfrm>
            <a:off x="1904695" y="7334402"/>
            <a:ext cx="41916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미만 ▸ 강의 의뢰의 다양성이 떨어진다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초과 ▸ ‘무엇이든 가능’ 신호, 신뢰 하락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0" y="4572000"/>
            <a:ext cx="9906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‘이 분야는 살리고, 이 분야는 뺄까?’ — 3가지 판단 기준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858000" y="5067605"/>
            <a:ext cx="990569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858000" y="5257800"/>
            <a:ext cx="99066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1 ▸ </a:t>
            </a:r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의뢰</a:t>
            </a:r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들어오는가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0" y="5648249"/>
            <a:ext cx="9906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2년 안에 같은 분야로 2회 이상 의뢰가 들어왔다면 ‘살리는 분야’.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0" y="5934456"/>
            <a:ext cx="9906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번도 의뢰가 없었다면 포트폴리오에서 뺀다 (역량은 부록으로).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858000" y="6391656"/>
            <a:ext cx="9905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6858000" y="6572707"/>
            <a:ext cx="99066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2 ▸ </a:t>
            </a:r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자신만의 사례</a:t>
            </a:r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3개 이상 있는가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6963156"/>
            <a:ext cx="9906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교재의 사례만 쓰는 분야는 누구나 할 수 있다.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0" y="7248449"/>
            <a:ext cx="9906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‘내가 직접 겪은 사례’를 3개 이상 들 수 있는 분야만 ‘대표 분야’로.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858000" y="7705649"/>
            <a:ext cx="9905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6858000" y="7886700"/>
            <a:ext cx="99066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3 ▸ </a:t>
            </a:r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자격·실적·콘텐츠</a:t>
            </a:r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일관되게 가리키는가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8277149"/>
            <a:ext cx="9906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자격은 A, 실적은 B, 콘텐츠는 C를 가리키면 분야가 흩어진다.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8563356"/>
            <a:ext cx="9906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증거가 같은 분야를 가리킬 때 ‘전문 분야’가 만들어진다.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2 포트폴리오 설계</a:t>
            </a:r>
            <a:endParaRPr lang="en-US" sz="1300" dirty="0"/>
          </a:p>
        </p:txBody>
      </p:sp>
      <p:sp>
        <p:nvSpPr>
          <p:cNvPr id="2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 · 포트폴리오 설계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분야 포지셔닝 — 5개 후보 영역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619195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의뢰 수요가 꾸준한 5개 영역(예시). 본인의 자격·경험과 매칭해 3개를 고른다.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524305" y="4572000"/>
            <a:ext cx="2915107" cy="419069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524305" y="4572000"/>
            <a:ext cx="2915107" cy="384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695298" y="4839005"/>
            <a:ext cx="2572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AREA 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695298" y="5181905"/>
            <a:ext cx="25722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AI·생성형 AI 실무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1695298" y="5878678"/>
            <a:ext cx="2572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 발주자</a:t>
            </a:r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기업 HRD 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695298" y="6393485"/>
            <a:ext cx="298917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주제</a:t>
            </a:r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프롬프트, 업무 자동화, 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695298" y="6650431"/>
            <a:ext cx="2572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사내 AI 도구 도입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695298" y="7164324"/>
            <a:ext cx="2572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매칭 자격</a:t>
            </a:r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데이터·AI 자격, 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695298" y="7422185"/>
            <a:ext cx="2572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실적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695298" y="7936078"/>
            <a:ext cx="2572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단가</a:t>
            </a:r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시간당 ★★★★ 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605833" y="4572000"/>
            <a:ext cx="2915107" cy="419069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605833" y="4572000"/>
            <a:ext cx="2915107" cy="384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4777740" y="4839005"/>
            <a:ext cx="2572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AREA 2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777740" y="5181905"/>
            <a:ext cx="25722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데이터·디지털</a:t>
            </a:r>
            <a:endParaRPr lang="en-US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4777740" y="5621731"/>
            <a:ext cx="25722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리터러시</a:t>
            </a:r>
            <a:endParaRPr lang="en-US" sz="2100" dirty="0"/>
          </a:p>
        </p:txBody>
      </p:sp>
      <p:sp>
        <p:nvSpPr>
          <p:cNvPr id="24" name="Text 21"/>
          <p:cNvSpPr txBox="1"/>
          <p:nvPr/>
        </p:nvSpPr>
        <p:spPr>
          <a:xfrm>
            <a:off x="4777740" y="6318504"/>
            <a:ext cx="2572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 발주자</a:t>
            </a:r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공공·평생교육 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777740" y="6833311"/>
            <a:ext cx="28803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주제</a:t>
            </a:r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엑셀·BI, 데이터 해석, 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777740" y="7090258"/>
            <a:ext cx="2572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자동화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4777740" y="7604150"/>
            <a:ext cx="2572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매칭 자격</a:t>
            </a:r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컴활·정처기·SQLD 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777740" y="8118958"/>
            <a:ext cx="2572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단가</a:t>
            </a:r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시간당 ★★★ 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688275" y="4572000"/>
            <a:ext cx="2915107" cy="419069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7688275" y="4572000"/>
            <a:ext cx="2915107" cy="384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7860182" y="4839005"/>
            <a:ext cx="2572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AREA 3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860182" y="5181905"/>
            <a:ext cx="25722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교수법·강사 양성</a:t>
            </a:r>
            <a:endParaRPr lang="en-US" sz="2100" dirty="0"/>
          </a:p>
        </p:txBody>
      </p:sp>
      <p:sp>
        <p:nvSpPr>
          <p:cNvPr id="33" name="Text 30"/>
          <p:cNvSpPr txBox="1"/>
          <p:nvPr/>
        </p:nvSpPr>
        <p:spPr>
          <a:xfrm>
            <a:off x="7860182" y="5878678"/>
            <a:ext cx="2572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 발주자</a:t>
            </a:r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대학·교육기관·HRD </a:t>
            </a:r>
            <a:pPr algn="l" indent="0" marL="0">
              <a:buNone/>
            </a:pP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7860182" y="6393485"/>
            <a:ext cx="292699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주제</a:t>
            </a:r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강의 설계, 평가 설계, 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7860182" y="6650431"/>
            <a:ext cx="2572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실습형 강의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7860182" y="7422185"/>
            <a:ext cx="2572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평생교육사, HRD·교수설계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7860182" y="7936078"/>
            <a:ext cx="2572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단가</a:t>
            </a:r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시간당 ★★★★ 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10770718" y="4572000"/>
            <a:ext cx="2915107" cy="419069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10770718" y="4572000"/>
            <a:ext cx="2915107" cy="384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10942625" y="4839005"/>
            <a:ext cx="2572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AREA 4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10942625" y="5181905"/>
            <a:ext cx="25722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직무역량·NCS</a:t>
            </a:r>
            <a:endParaRPr lang="en-US" sz="2100" dirty="0"/>
          </a:p>
        </p:txBody>
      </p:sp>
      <p:sp>
        <p:nvSpPr>
          <p:cNvPr id="42" name="Text 39"/>
          <p:cNvSpPr txBox="1"/>
          <p:nvPr/>
        </p:nvSpPr>
        <p:spPr>
          <a:xfrm>
            <a:off x="10942625" y="5878678"/>
            <a:ext cx="2572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 발주자</a:t>
            </a:r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공단·구직지원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10942625" y="6135624"/>
            <a:ext cx="2572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·기업 신입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10942625" y="6650431"/>
            <a:ext cx="298917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주제</a:t>
            </a:r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직무기술서, 보고·발표, 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10942625" y="6907378"/>
            <a:ext cx="2572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문제해결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10942625" y="7422185"/>
            <a:ext cx="277794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매칭 자격</a:t>
            </a:r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NCS·직무 관련 자격 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10942625" y="7936078"/>
            <a:ext cx="2572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단가</a:t>
            </a:r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시간당 ★★★ 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13853160" y="4572000"/>
            <a:ext cx="2915107" cy="4190695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49" name="Shape 46"/>
          <p:cNvSpPr/>
          <p:nvPr/>
        </p:nvSpPr>
        <p:spPr>
          <a:xfrm>
            <a:off x="13853160" y="4572000"/>
            <a:ext cx="2915107" cy="384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47"/>
          <p:cNvSpPr txBox="1"/>
          <p:nvPr/>
        </p:nvSpPr>
        <p:spPr>
          <a:xfrm>
            <a:off x="14024153" y="5181905"/>
            <a:ext cx="25722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진로·경력 설계</a:t>
            </a:r>
            <a:endParaRPr lang="en-US" sz="2100" dirty="0"/>
          </a:p>
        </p:txBody>
      </p:sp>
      <p:sp>
        <p:nvSpPr>
          <p:cNvPr id="51" name="Text 48"/>
          <p:cNvSpPr txBox="1"/>
          <p:nvPr/>
        </p:nvSpPr>
        <p:spPr>
          <a:xfrm>
            <a:off x="7860182" y="7164324"/>
            <a:ext cx="84216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매칭 자격</a:t>
            </a:r>
            <a:endParaRPr lang="en-US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14024153" y="4839005"/>
            <a:ext cx="2572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AREA 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14024153" y="5878678"/>
            <a:ext cx="288584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 발주자</a:t>
            </a:r>
            <a:pPr algn="l" indent="0" marL="0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대학·고용센터</a:t>
            </a:r>
            <a:pPr algn="l" indent="0" marL="0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·공공</a:t>
            </a:r>
            <a:endParaRPr lang="en-US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14024153" y="6393485"/>
            <a:ext cx="315376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주제</a:t>
            </a:r>
            <a:pPr algn="l" indent="0" marL="0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자격 활용법, 포트폴리오, </a:t>
            </a:r>
            <a:endParaRPr lang="en-US" sz="1300" dirty="0"/>
          </a:p>
        </p:txBody>
      </p:sp>
      <p:sp>
        <p:nvSpPr>
          <p:cNvPr id="55" name="Text 52"/>
          <p:cNvSpPr txBox="1"/>
          <p:nvPr/>
        </p:nvSpPr>
        <p:spPr>
          <a:xfrm>
            <a:off x="14024153" y="6650431"/>
            <a:ext cx="2572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전문가화</a:t>
            </a:r>
            <a:endParaRPr lang="en-US" sz="1300" dirty="0"/>
          </a:p>
        </p:txBody>
      </p:sp>
      <p:sp>
        <p:nvSpPr>
          <p:cNvPr id="56" name="Text 53"/>
          <p:cNvSpPr txBox="1"/>
          <p:nvPr/>
        </p:nvSpPr>
        <p:spPr>
          <a:xfrm>
            <a:off x="14024153" y="7164324"/>
            <a:ext cx="284469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매칭 자격</a:t>
            </a:r>
            <a:pPr algn="l" indent="0" marL="0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진로상담·직업상담사 </a:t>
            </a:r>
            <a:endParaRPr lang="en-US" sz="1300" dirty="0"/>
          </a:p>
        </p:txBody>
      </p:sp>
      <p:sp>
        <p:nvSpPr>
          <p:cNvPr id="57" name="Text 54"/>
          <p:cNvSpPr txBox="1"/>
          <p:nvPr/>
        </p:nvSpPr>
        <p:spPr>
          <a:xfrm>
            <a:off x="14024153" y="7679131"/>
            <a:ext cx="2572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단가</a:t>
            </a:r>
            <a:pPr algn="l" indent="0" marL="0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시간당 ★★★ </a:t>
            </a:r>
            <a:endParaRPr lang="en-US" sz="1300" dirty="0"/>
          </a:p>
        </p:txBody>
      </p:sp>
      <p:sp>
        <p:nvSpPr>
          <p:cNvPr id="58" name="Text 55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2 포트폴리오 설계</a:t>
            </a:r>
            <a:endParaRPr lang="en-US" sz="1300" dirty="0"/>
          </a:p>
        </p:txBody>
      </p:sp>
      <p:sp>
        <p:nvSpPr>
          <p:cNvPr id="5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 · 포트폴리오 설계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실적 정리법 — 5열 템플릿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619195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 · 대상 · 시간 · 주제 · 성과. 이 5열로 적으면 ‘무엇을 할 수 있는 강사’인지 한 줄에 보인다.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524305" y="5016398"/>
            <a:ext cx="247619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524305" y="4559198"/>
            <a:ext cx="24771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000500" y="5016398"/>
            <a:ext cx="190469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000500" y="4559198"/>
            <a:ext cx="19056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05195" y="5016398"/>
            <a:ext cx="95280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05195" y="4559198"/>
            <a:ext cx="952805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r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858000" y="5016398"/>
            <a:ext cx="495330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858000" y="4559198"/>
            <a:ext cx="4953305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1811305" y="5016398"/>
            <a:ext cx="4953305" cy="1920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11811305" y="4559198"/>
            <a:ext cx="4953305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(행동 변화·산출물)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524305" y="5561381"/>
            <a:ext cx="2476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1524305" y="5027371"/>
            <a:ext cx="2477110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5240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○○대학교 평생교육원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000500" y="5561381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4000500" y="5027371"/>
            <a:ext cx="1905610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평생학습자 28명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905195" y="5561381"/>
            <a:ext cx="952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5905195" y="5027371"/>
            <a:ext cx="952805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12h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858000" y="5561381"/>
            <a:ext cx="4953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6858000" y="5027371"/>
            <a:ext cx="4953305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자격증을 강의로 — 1인 강사 출발법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11811305" y="5561381"/>
            <a:ext cx="4953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11811305" y="5027371"/>
            <a:ext cx="4953305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수강생 6명이 첫 무료 특강 개설 / 만족도 4.7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1524305" y="6099962"/>
            <a:ext cx="2476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1524305" y="5565953"/>
            <a:ext cx="2477110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5240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○○고용센터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000500" y="6099962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4000500" y="5565953"/>
            <a:ext cx="1905610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구직자 35명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905195" y="6099962"/>
            <a:ext cx="952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5905195" y="5565953"/>
            <a:ext cx="952805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16h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858000" y="6099962"/>
            <a:ext cx="4953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6858000" y="5565953"/>
            <a:ext cx="4953305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자격증 활용 진로설계 — NCS 기반 직무 매칭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11811305" y="6099962"/>
            <a:ext cx="4953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11811305" y="5565953"/>
            <a:ext cx="4953305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진로카드 35매 / 종료 후 80% 취업·자격 추가 취득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1524305" y="6638544"/>
            <a:ext cx="2476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1524305" y="6104534"/>
            <a:ext cx="2477110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5240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○○기업 HRD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4000500" y="6638544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 txBox="1"/>
          <p:nvPr/>
        </p:nvSpPr>
        <p:spPr>
          <a:xfrm>
            <a:off x="4000500" y="6104534"/>
            <a:ext cx="1905610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직원 22명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5905195" y="6638544"/>
            <a:ext cx="952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 txBox="1"/>
          <p:nvPr/>
        </p:nvSpPr>
        <p:spPr>
          <a:xfrm>
            <a:off x="5905195" y="6104534"/>
            <a:ext cx="952805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8h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6858000" y="6638544"/>
            <a:ext cx="4953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 txBox="1"/>
          <p:nvPr/>
        </p:nvSpPr>
        <p:spPr>
          <a:xfrm>
            <a:off x="6858000" y="6104534"/>
            <a:ext cx="4953305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 업무 적용 — 보고·기획·자동화 실습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11811305" y="6638544"/>
            <a:ext cx="4953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Text 45"/>
          <p:cNvSpPr txBox="1"/>
          <p:nvPr/>
        </p:nvSpPr>
        <p:spPr>
          <a:xfrm>
            <a:off x="11811305" y="6104534"/>
            <a:ext cx="4953305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팀별 자동화 1건 / 다음 분기 동일 과정 재의뢰 ✓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1524305" y="7177126"/>
            <a:ext cx="2476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47"/>
          <p:cNvSpPr txBox="1"/>
          <p:nvPr/>
        </p:nvSpPr>
        <p:spPr>
          <a:xfrm>
            <a:off x="1524305" y="6643116"/>
            <a:ext cx="2477110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5240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○○ 직업전문학교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4000500" y="7177126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Text 49"/>
          <p:cNvSpPr txBox="1"/>
          <p:nvPr/>
        </p:nvSpPr>
        <p:spPr>
          <a:xfrm>
            <a:off x="4000500" y="6643116"/>
            <a:ext cx="1905610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 강사 12명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5905195" y="7177126"/>
            <a:ext cx="952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" name="Text 51"/>
          <p:cNvSpPr txBox="1"/>
          <p:nvPr/>
        </p:nvSpPr>
        <p:spPr>
          <a:xfrm>
            <a:off x="5905195" y="6643116"/>
            <a:ext cx="952805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20h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6858000" y="7177126"/>
            <a:ext cx="4953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53"/>
          <p:cNvSpPr txBox="1"/>
          <p:nvPr/>
        </p:nvSpPr>
        <p:spPr>
          <a:xfrm>
            <a:off x="6858000" y="6643116"/>
            <a:ext cx="4953305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실습형 강의 설계 — 평가까지 가는 강의안 만들기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11811305" y="7177126"/>
            <a:ext cx="4953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" name="Text 55"/>
          <p:cNvSpPr txBox="1"/>
          <p:nvPr/>
        </p:nvSpPr>
        <p:spPr>
          <a:xfrm>
            <a:off x="11811305" y="6643116"/>
            <a:ext cx="4953305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12명 전원 강의안 1개 완성 / 4명 외부 강의 데뷔</a:t>
            </a:r>
            <a:endParaRPr lang="en-US" sz="1400" dirty="0"/>
          </a:p>
        </p:txBody>
      </p:sp>
      <p:sp>
        <p:nvSpPr>
          <p:cNvPr id="59" name="Text 56"/>
          <p:cNvSpPr txBox="1"/>
          <p:nvPr/>
        </p:nvSpPr>
        <p:spPr>
          <a:xfrm>
            <a:off x="1524305" y="7181698"/>
            <a:ext cx="24771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○○ 시 평생학습관</a:t>
            </a:r>
            <a:endParaRPr lang="en-US" sz="1400" dirty="0"/>
          </a:p>
        </p:txBody>
      </p:sp>
      <p:sp>
        <p:nvSpPr>
          <p:cNvPr id="60" name="Text 57"/>
          <p:cNvSpPr txBox="1"/>
          <p:nvPr/>
        </p:nvSpPr>
        <p:spPr>
          <a:xfrm>
            <a:off x="5905195" y="7181698"/>
            <a:ext cx="9528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6h</a:t>
            </a:r>
            <a:endParaRPr lang="en-US" sz="1400" dirty="0"/>
          </a:p>
        </p:txBody>
      </p:sp>
      <p:sp>
        <p:nvSpPr>
          <p:cNvPr id="61" name="Text 58"/>
          <p:cNvSpPr txBox="1"/>
          <p:nvPr/>
        </p:nvSpPr>
        <p:spPr>
          <a:xfrm>
            <a:off x="6858000" y="7181698"/>
            <a:ext cx="4953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(본 강의)</a:t>
            </a:r>
            <a:endParaRPr lang="en-US" sz="1400" dirty="0"/>
          </a:p>
        </p:txBody>
      </p:sp>
      <p:sp>
        <p:nvSpPr>
          <p:cNvPr id="62" name="Text 59"/>
          <p:cNvSpPr txBox="1"/>
          <p:nvPr/>
        </p:nvSpPr>
        <p:spPr>
          <a:xfrm>
            <a:off x="11811305" y="7181698"/>
            <a:ext cx="4953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참가자 전원 5장 포트폴리오 초안 완성 / 후속 코칭 의뢰 12건</a:t>
            </a:r>
            <a:endParaRPr lang="en-US" sz="1400" dirty="0"/>
          </a:p>
        </p:txBody>
      </p:sp>
      <p:sp>
        <p:nvSpPr>
          <p:cNvPr id="63" name="Text 60"/>
          <p:cNvSpPr txBox="1"/>
          <p:nvPr/>
        </p:nvSpPr>
        <p:spPr>
          <a:xfrm>
            <a:off x="4153205" y="7315200"/>
            <a:ext cx="173461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시민 50 + 강사 8명</a:t>
            </a:r>
            <a:endParaRPr lang="en-US" sz="1400" dirty="0"/>
          </a:p>
        </p:txBody>
      </p:sp>
      <p:sp>
        <p:nvSpPr>
          <p:cNvPr id="64" name="Text 61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2 포트폴리오 설계</a:t>
            </a:r>
            <a:endParaRPr lang="en-US" sz="1300" dirty="0"/>
          </a:p>
        </p:txBody>
      </p:sp>
      <p:sp>
        <p:nvSpPr>
          <p:cNvPr id="6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477195" y="4572000"/>
            <a:ext cx="6286500" cy="4762195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 · 포트폴리오 설계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 / 70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강의 5개를 어떻게 고르는가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619195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5개의 기준 점수를 합산해 상위 5개를 ‘대표 강의’로 포트폴리오 본문에 배치한다.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4572000"/>
            <a:ext cx="8382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5점 척도 채점표 (각 항목 0~5점)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24305" y="5048402"/>
            <a:ext cx="4764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2171700" y="5077663"/>
            <a:ext cx="68013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 가능성 — 슬라이드 없이 5분 설명 가능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0" y="5048402"/>
            <a:ext cx="7626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5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1524305" y="5533949"/>
            <a:ext cx="4764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1524305" y="5657393"/>
            <a:ext cx="476402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2171700" y="5563210"/>
            <a:ext cx="68013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2171700" y="5686654"/>
            <a:ext cx="6801307" cy="2962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명확성 — 학습자가 무엇을 들고 가는지 한 줄로 표현 가능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144000" y="5533949"/>
            <a:ext cx="76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9144000" y="5657393"/>
            <a:ext cx="762610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5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1524305" y="6143854"/>
            <a:ext cx="4764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1524305" y="6267298"/>
            <a:ext cx="476402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2171700" y="6173114"/>
            <a:ext cx="68013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2171700" y="6296558"/>
            <a:ext cx="6801307" cy="2962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보유 — 슬라이드·교재·실습 자료가 정리되어 있음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9144000" y="6143854"/>
            <a:ext cx="76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9144000" y="6267298"/>
            <a:ext cx="762610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5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1524305" y="6752844"/>
            <a:ext cx="4764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1524305" y="6876288"/>
            <a:ext cx="476402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</a:t>
            </a:r>
            <a:endParaRPr lang="en-US" sz="1900" dirty="0"/>
          </a:p>
        </p:txBody>
      </p:sp>
      <p:sp>
        <p:nvSpPr>
          <p:cNvPr id="28" name="Shape 25"/>
          <p:cNvSpPr/>
          <p:nvPr/>
        </p:nvSpPr>
        <p:spPr>
          <a:xfrm>
            <a:off x="2171700" y="6783019"/>
            <a:ext cx="68013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2171700" y="6906463"/>
            <a:ext cx="6801307" cy="2962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재의뢰 신호 — 같은 기관·담당자 재의뢰 또는 추천 발생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144000" y="6752844"/>
            <a:ext cx="76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9144000" y="6876288"/>
            <a:ext cx="762610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5</a:t>
            </a:r>
            <a:endParaRPr lang="en-US" sz="1900" dirty="0"/>
          </a:p>
        </p:txBody>
      </p:sp>
      <p:sp>
        <p:nvSpPr>
          <p:cNvPr id="32" name="Shape 29"/>
          <p:cNvSpPr/>
          <p:nvPr/>
        </p:nvSpPr>
        <p:spPr>
          <a:xfrm>
            <a:off x="1524305" y="7362749"/>
            <a:ext cx="4764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1524305" y="7486193"/>
            <a:ext cx="476402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</a:t>
            </a:r>
            <a:endParaRPr lang="en-US" sz="1900" dirty="0"/>
          </a:p>
        </p:txBody>
      </p:sp>
      <p:sp>
        <p:nvSpPr>
          <p:cNvPr id="34" name="Shape 31"/>
          <p:cNvSpPr/>
          <p:nvPr/>
        </p:nvSpPr>
        <p:spPr>
          <a:xfrm>
            <a:off x="2171700" y="7392010"/>
            <a:ext cx="68013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2171700" y="7515454"/>
            <a:ext cx="6801307" cy="2962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차별성 — ‘이 주제는 본인만의 사례·관점’이 있음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9144000" y="7362749"/>
            <a:ext cx="76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9144000" y="7486193"/>
            <a:ext cx="762610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5</a:t>
            </a:r>
            <a:endParaRPr lang="en-US" sz="1900" dirty="0"/>
          </a:p>
        </p:txBody>
      </p:sp>
      <p:sp>
        <p:nvSpPr>
          <p:cNvPr id="38" name="Shape 35"/>
          <p:cNvSpPr/>
          <p:nvPr/>
        </p:nvSpPr>
        <p:spPr>
          <a:xfrm>
            <a:off x="1524305" y="8106156"/>
            <a:ext cx="838230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 txBox="1"/>
          <p:nvPr/>
        </p:nvSpPr>
        <p:spPr>
          <a:xfrm>
            <a:off x="1524305" y="8278063"/>
            <a:ext cx="8382305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0" rIns="152400" bIns="15240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합산 ≥ 18점 → 대표 강의 후보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10858500" y="8229600"/>
            <a:ext cx="5524805" cy="9144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 txBox="1"/>
          <p:nvPr/>
        </p:nvSpPr>
        <p:spPr>
          <a:xfrm>
            <a:off x="10858500" y="5600700"/>
            <a:ext cx="247162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강의명 (8자 이내 카피)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10858500" y="6001207"/>
            <a:ext cx="105430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대상 1줄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11735410" y="6001207"/>
            <a:ext cx="258683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“마케팅 5년 차 실무자”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10858500" y="6400800"/>
            <a:ext cx="155356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학습 결과 3줄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12158777" y="6400800"/>
            <a:ext cx="270479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손에 잡히는 산출물 중심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10858500" y="6801307"/>
            <a:ext cx="124175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운영 형식</a:t>
            </a:r>
            <a:endParaRPr lang="en-US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1797589" y="6801307"/>
            <a:ext cx="229514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시간/방식/적정 인원</a:t>
            </a:r>
            <a:endParaRPr lang="en-US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10858500" y="7200900"/>
            <a:ext cx="105430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사례 1개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11735410" y="7200900"/>
            <a:ext cx="290322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가장 인상적인 후기·산출물</a:t>
            </a:r>
            <a:endParaRPr lang="en-US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10858500" y="7601407"/>
            <a:ext cx="1190549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강사 한 줄</a:t>
            </a:r>
            <a:endParaRPr lang="en-US" sz="1500" dirty="0"/>
          </a:p>
        </p:txBody>
      </p:sp>
      <p:sp>
        <p:nvSpPr>
          <p:cNvPr id="51" name="Text 48"/>
          <p:cNvSpPr txBox="1"/>
          <p:nvPr/>
        </p:nvSpPr>
        <p:spPr>
          <a:xfrm>
            <a:off x="11853367" y="7601407"/>
            <a:ext cx="229148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왜 이 강의를 하는가</a:t>
            </a:r>
            <a:endParaRPr lang="en-US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10858500" y="8458200"/>
            <a:ext cx="48198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▸ A4 1장 / 5개 = 5장. 포트폴리오 본문의 핵심.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10858500" y="5009998"/>
            <a:ext cx="389443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강의 1장 카드 — 작성 항목</a:t>
            </a:r>
            <a:endParaRPr lang="en-US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2 포트폴리오 설계</a:t>
            </a:r>
            <a:endParaRPr lang="en-US" sz="1300" dirty="0"/>
          </a:p>
        </p:txBody>
      </p:sp>
      <p:sp>
        <p:nvSpPr>
          <p:cNvPr id="5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24305" y="4572000"/>
            <a:ext cx="7429500" cy="4762195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334195" y="4572000"/>
            <a:ext cx="7429500" cy="4762195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 · 포트폴리오 설계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 / 70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‘결과 중심’으로 사례를 다시 쓴다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3143707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강의도 ‘무엇을 했다’가 아니라 ‘무엇이 바뀌었다’로 쓰면 신뢰가 커진다.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904695" y="5000854"/>
            <a:ext cx="254751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✗ 활동 중심 (Before)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904695" y="5544007"/>
            <a:ext cx="276880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“직장인 22명 대상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904695" y="6115507"/>
            <a:ext cx="37627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강의 8시간 진행.”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1904695" y="6886346"/>
            <a:ext cx="124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026310" y="6886346"/>
            <a:ext cx="17913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동사가 ‘진행했다’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440887" y="6886346"/>
            <a:ext cx="90708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끝난다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904695" y="7267651"/>
            <a:ext cx="35058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학습자에게 무엇이 남았는지 불명확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904695" y="7648956"/>
            <a:ext cx="343723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다른 강사와의 차이가 보이지 않음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904695" y="8029346"/>
            <a:ext cx="359725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발주자가 ‘그래서?’ 라고 묻게 만듦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715500" y="5544007"/>
            <a:ext cx="37408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“직장인 22명이 8시간 후,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9715500" y="6115507"/>
            <a:ext cx="454914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각자 ‘자기 업무 자동화 1건’을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9715500" y="6687007"/>
            <a:ext cx="299008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완성해서 돌아갔다.”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9715500" y="5000854"/>
            <a:ext cx="240304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결과 중심 (After)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9715500" y="7457846"/>
            <a:ext cx="124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9837115" y="7457846"/>
            <a:ext cx="272582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동사가 ‘완성해서 돌아갔다’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9715500" y="7839151"/>
            <a:ext cx="314005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학습자에게 남은 산출물이 명확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715500" y="8220456"/>
            <a:ext cx="276057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강사의 설계 능력이 드러남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9715500" y="8600846"/>
            <a:ext cx="40773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다음 기관이 ‘그 강의 우리도’ 라고 말함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2 포트폴리오 설계</a:t>
            </a:r>
            <a:endParaRPr lang="en-US" sz="13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334195" y="4572000"/>
            <a:ext cx="7429500" cy="4762195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 · 포트폴리오 설계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 / 70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후기는 강사의 가장 강한 자산이다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209544"/>
            <a:ext cx="294711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3종 후기 × 수집 5단계.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3705149"/>
            <a:ext cx="533186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본인의 말보다 ‘남의 말’이 항상 더 강하다.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524305" y="4572000"/>
            <a:ext cx="7429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반드시 모아야 할 3종 후기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524305" y="5048402"/>
            <a:ext cx="7429500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1524305" y="5238598"/>
            <a:ext cx="7429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수강생 인용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524305" y="5667451"/>
            <a:ext cx="791779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학습자의 ‘체감 변화’ 한 문장 + 이름·소속·연도. 익명도 가능하나 소속·역할은 필수.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524305" y="6133795"/>
            <a:ext cx="74295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524305" y="6314846"/>
            <a:ext cx="7429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기관 평가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524305" y="6743700"/>
            <a:ext cx="74295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 코멘트, 만족도 수치, 기관 명의의 추천서. 가능하면 PDF로 보존.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1524305" y="7210044"/>
            <a:ext cx="74295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1524305" y="7391095"/>
            <a:ext cx="7429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재의뢰 신호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1524305" y="7819949"/>
            <a:ext cx="74295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‘다음 분기에도 부탁드립니다’ 메시지, 다른 기관 추천. </a:t>
            </a:r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3종 중 가장 강력</a:t>
            </a:r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9715500" y="4953305"/>
            <a:ext cx="6667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후기 수집 5단계 — 강의 종료 직후 24시간 안에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715500" y="5429707"/>
            <a:ext cx="4389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0306202" y="5848502"/>
            <a:ext cx="6077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한 줄 후기 작성 시간 의도적으로 확보 (구글 폼·종이)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9715500" y="6248095"/>
            <a:ext cx="4389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0306202" y="6667805"/>
            <a:ext cx="6077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강의 사진 1장 + 후기 발췌 3개 SNS·블로그 공유 (사전 동의)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9715500" y="7067398"/>
            <a:ext cx="4389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0306202" y="7487107"/>
            <a:ext cx="6077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기관 담당자에게 감사 메일 + ‘추가 의뢰 가능 여부’ 한 줄 질문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9715500" y="7886700"/>
            <a:ext cx="4389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0306202" y="8305495"/>
            <a:ext cx="6077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후기·산출물·사진을 묶어 포트폴리오에 사례 카드 1장 추가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9715500" y="8706002"/>
            <a:ext cx="4389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10306202" y="8706002"/>
            <a:ext cx="6077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1회</a:t>
            </a:r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누적 후기에서 ‘재의뢰율’·‘만족도 추이’ 수치 갱신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10306202" y="5429707"/>
            <a:ext cx="171358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종료 5분 전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306202" y="6248095"/>
            <a:ext cx="93543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당일 저녁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10306202" y="7067398"/>
            <a:ext cx="62362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2일 차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10306202" y="7886700"/>
            <a:ext cx="85953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1주일 내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2 포트폴리오 설계</a:t>
            </a:r>
            <a:endParaRPr lang="en-US" sz="1300" dirty="0"/>
          </a:p>
        </p:txBody>
      </p:sp>
      <p:sp>
        <p:nvSpPr>
          <p:cNvPr id="3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 · 포트폴리오 설계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자격증이 많을 때, 어떻게 정리할 것인가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209544"/>
            <a:ext cx="438089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‘전부 나열’은 신뢰를 떨어뜨린다.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705149"/>
            <a:ext cx="756117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분야별 묶음 + 대표 자격 + 강의 연결 — 3층 구조로 정리한다.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524305" y="5029200"/>
            <a:ext cx="2286000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524305" y="4572000"/>
            <a:ext cx="228600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묶음 (분야)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810305" y="5029200"/>
            <a:ext cx="5429707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3810305" y="4572000"/>
            <a:ext cx="5429707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자격 (포트폴리오 표면 노출)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239098" y="5029200"/>
            <a:ext cx="5429707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9239098" y="4572000"/>
            <a:ext cx="5429707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연결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4668805" y="5029200"/>
            <a:ext cx="2095805" cy="1920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14668805" y="4572000"/>
            <a:ext cx="2095805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r" indent="0" marL="0">
              <a:buNone/>
            </a:pPr>
            <a:r>
              <a:rPr lang="en-US" sz="1200" b="1" spc="12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묶음 내 보유 수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524305" y="5639105"/>
            <a:ext cx="2286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1524305" y="5048402"/>
            <a:ext cx="228600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· 데이터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3810305" y="5639105"/>
            <a:ext cx="5429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3810305" y="5048402"/>
            <a:ext cx="5429707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데이터분석 자격, AI 활용 관련 (국가공인)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9239098" y="5639105"/>
            <a:ext cx="5429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9239098" y="5048402"/>
            <a:ext cx="5429707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 업무 적용 · 데이터 리터러시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14668805" y="5639105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14668805" y="5048402"/>
            <a:ext cx="20958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15종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1524305" y="6238951"/>
            <a:ext cx="2286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1524305" y="5648249"/>
            <a:ext cx="228600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· HRD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3810305" y="6238951"/>
            <a:ext cx="5429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3810305" y="5648249"/>
            <a:ext cx="5429707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평생교육사, 직업능력개발훈련교사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9239098" y="6238951"/>
            <a:ext cx="5429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9239098" y="5648249"/>
            <a:ext cx="5429707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양성 · 교수법 · 평가 설계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14668805" y="6238951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14668805" y="5648249"/>
            <a:ext cx="20958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12종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1524305" y="6838798"/>
            <a:ext cx="2286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1524305" y="6248095"/>
            <a:ext cx="228600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진로 · 상담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3810305" y="6838798"/>
            <a:ext cx="5429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3810305" y="6248095"/>
            <a:ext cx="5429707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직업상담사 / 진로상담 관련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9239098" y="6838798"/>
            <a:ext cx="5429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 txBox="1"/>
          <p:nvPr/>
        </p:nvSpPr>
        <p:spPr>
          <a:xfrm>
            <a:off x="9239098" y="6248095"/>
            <a:ext cx="5429707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진로 설계 · 자격 활용 컨설팅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14668805" y="6838798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 txBox="1"/>
          <p:nvPr/>
        </p:nvSpPr>
        <p:spPr>
          <a:xfrm>
            <a:off x="14668805" y="6248095"/>
            <a:ext cx="20958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10종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1524305" y="7439558"/>
            <a:ext cx="2286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 txBox="1"/>
          <p:nvPr/>
        </p:nvSpPr>
        <p:spPr>
          <a:xfrm>
            <a:off x="1524305" y="6848856"/>
            <a:ext cx="228600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국가기술자격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3810305" y="7439558"/>
            <a:ext cx="5429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 txBox="1"/>
          <p:nvPr/>
        </p:nvSpPr>
        <p:spPr>
          <a:xfrm>
            <a:off x="3810305" y="6848856"/>
            <a:ext cx="5429707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정보처리·전산·사무자동화 등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9239098" y="7439558"/>
            <a:ext cx="5429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 txBox="1"/>
          <p:nvPr/>
        </p:nvSpPr>
        <p:spPr>
          <a:xfrm>
            <a:off x="9239098" y="6848856"/>
            <a:ext cx="5429707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도구 · 디지털 리터러시</a:t>
            </a:r>
            <a:endParaRPr lang="en-US" sz="1500" dirty="0"/>
          </a:p>
        </p:txBody>
      </p:sp>
      <p:sp>
        <p:nvSpPr>
          <p:cNvPr id="48" name="Shape 45"/>
          <p:cNvSpPr/>
          <p:nvPr/>
        </p:nvSpPr>
        <p:spPr>
          <a:xfrm>
            <a:off x="14668805" y="7439558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 txBox="1"/>
          <p:nvPr/>
        </p:nvSpPr>
        <p:spPr>
          <a:xfrm>
            <a:off x="14668805" y="6848856"/>
            <a:ext cx="20958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20종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1524305" y="8039405"/>
            <a:ext cx="2286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Text 48"/>
          <p:cNvSpPr txBox="1"/>
          <p:nvPr/>
        </p:nvSpPr>
        <p:spPr>
          <a:xfrm>
            <a:off x="1524305" y="7448702"/>
            <a:ext cx="228600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직무·소양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3810305" y="8039405"/>
            <a:ext cx="5429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0"/>
          <p:cNvSpPr txBox="1"/>
          <p:nvPr/>
        </p:nvSpPr>
        <p:spPr>
          <a:xfrm>
            <a:off x="3810305" y="7448702"/>
            <a:ext cx="5429707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서비스·CS·리더십 관련 민간자격</a:t>
            </a:r>
            <a:endParaRPr lang="en-US" sz="1500" dirty="0"/>
          </a:p>
        </p:txBody>
      </p:sp>
      <p:sp>
        <p:nvSpPr>
          <p:cNvPr id="54" name="Shape 51"/>
          <p:cNvSpPr/>
          <p:nvPr/>
        </p:nvSpPr>
        <p:spPr>
          <a:xfrm>
            <a:off x="9239098" y="8039405"/>
            <a:ext cx="54297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Text 52"/>
          <p:cNvSpPr txBox="1"/>
          <p:nvPr/>
        </p:nvSpPr>
        <p:spPr>
          <a:xfrm>
            <a:off x="9239098" y="7448702"/>
            <a:ext cx="5429707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직무 입문·신입 양성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14668805" y="8039405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Text 54"/>
          <p:cNvSpPr txBox="1"/>
          <p:nvPr/>
        </p:nvSpPr>
        <p:spPr>
          <a:xfrm>
            <a:off x="14668805" y="7448702"/>
            <a:ext cx="20958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25종</a:t>
            </a:r>
            <a:endParaRPr lang="en-US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1524305" y="8048549"/>
            <a:ext cx="22860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기타 · 자기개발</a:t>
            </a:r>
            <a:endParaRPr lang="en-US" sz="1500" dirty="0"/>
          </a:p>
        </p:txBody>
      </p:sp>
      <p:sp>
        <p:nvSpPr>
          <p:cNvPr id="59" name="Text 56"/>
          <p:cNvSpPr txBox="1"/>
          <p:nvPr/>
        </p:nvSpPr>
        <p:spPr>
          <a:xfrm>
            <a:off x="3810305" y="8048549"/>
            <a:ext cx="5429707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건강·취미·자기관리 영역 민간자격</a:t>
            </a:r>
            <a:endParaRPr lang="en-US" sz="1500" dirty="0"/>
          </a:p>
        </p:txBody>
      </p:sp>
      <p:sp>
        <p:nvSpPr>
          <p:cNvPr id="60" name="Text 57"/>
          <p:cNvSpPr txBox="1"/>
          <p:nvPr/>
        </p:nvSpPr>
        <p:spPr>
          <a:xfrm>
            <a:off x="14668805" y="8048549"/>
            <a:ext cx="20958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잔여</a:t>
            </a:r>
            <a:endParaRPr lang="en-US" sz="1500" dirty="0"/>
          </a:p>
        </p:txBody>
      </p:sp>
      <p:sp>
        <p:nvSpPr>
          <p:cNvPr id="61" name="Text 58"/>
          <p:cNvSpPr txBox="1"/>
          <p:nvPr/>
        </p:nvSpPr>
        <p:spPr>
          <a:xfrm>
            <a:off x="9391802" y="8201254"/>
            <a:ext cx="20098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 부록 처리</a:t>
            </a:r>
            <a:endParaRPr lang="en-US" sz="1500" dirty="0"/>
          </a:p>
        </p:txBody>
      </p:sp>
      <p:sp>
        <p:nvSpPr>
          <p:cNvPr id="62" name="Text 59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2 포트폴리오 설계 · 보유 수는 예시</a:t>
            </a:r>
            <a:endParaRPr lang="en-US" sz="1300" dirty="0"/>
          </a:p>
        </p:txBody>
      </p:sp>
      <p:sp>
        <p:nvSpPr>
          <p:cNvPr id="6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24305" y="8572500"/>
            <a:ext cx="15240305" cy="666598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 · 포트폴리오 설계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29 / 70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경험은 ‘STAR-R’로 정리한다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143707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Situation · Task · Action · Result · </a:t>
            </a:r>
            <a:pPr algn="l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Reuse</a:t>
            </a:r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일반 STAR에 ‘재사용’을 더한 강사 전용 프레임.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524305" y="4572000"/>
            <a:ext cx="2915107" cy="3238805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714500" y="4800600"/>
            <a:ext cx="2533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714500" y="5124298"/>
            <a:ext cx="25338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Situation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1714500" y="5542178"/>
            <a:ext cx="2533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714500" y="5847588"/>
            <a:ext cx="25338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언제·어디서·누구를 위해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714500" y="6104534"/>
            <a:ext cx="25338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진행했는가.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714500" y="6618427"/>
            <a:ext cx="25338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문단에 압축.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605833" y="4572000"/>
            <a:ext cx="2915107" cy="3238805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796942" y="4800600"/>
            <a:ext cx="2533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796942" y="5124298"/>
            <a:ext cx="25338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Task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4796942" y="5542178"/>
            <a:ext cx="2533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과제·목표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796942" y="5847588"/>
            <a:ext cx="25338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해결해야 했던 문제와 기관이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796942" y="6104534"/>
            <a:ext cx="25338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기대한 변화.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796942" y="6618427"/>
            <a:ext cx="25338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가능한 형태로.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688275" y="4572000"/>
            <a:ext cx="2915107" cy="3238805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7879385" y="4800600"/>
            <a:ext cx="2533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879385" y="5124298"/>
            <a:ext cx="25338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7879385" y="5542178"/>
            <a:ext cx="2533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한 일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879385" y="5847588"/>
            <a:ext cx="253380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참여자 전체가 아닌 ‘본인’의 역할·결정·설계 중심으로 3~5문장.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0770718" y="4572000"/>
            <a:ext cx="2915107" cy="3238805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10960913" y="4800600"/>
            <a:ext cx="2533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0960913" y="5124298"/>
            <a:ext cx="25338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Result</a:t>
            </a:r>
            <a:endParaRPr lang="en-US" sz="1900" dirty="0"/>
          </a:p>
        </p:txBody>
      </p:sp>
      <p:sp>
        <p:nvSpPr>
          <p:cNvPr id="32" name="Text 29"/>
          <p:cNvSpPr txBox="1"/>
          <p:nvPr/>
        </p:nvSpPr>
        <p:spPr>
          <a:xfrm>
            <a:off x="10960913" y="5542178"/>
            <a:ext cx="2533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0960913" y="5847588"/>
            <a:ext cx="25338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수치·산출물·재의뢰 등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10960913" y="6361481"/>
            <a:ext cx="25338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‘제3자가 검증 가능한’ 결과를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10960913" y="6618427"/>
            <a:ext cx="25338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적는다.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13853160" y="4572000"/>
            <a:ext cx="2915107" cy="3238805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14043355" y="5124298"/>
            <a:ext cx="25338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Reuse</a:t>
            </a:r>
            <a:endParaRPr lang="en-US" sz="1900" dirty="0"/>
          </a:p>
        </p:txBody>
      </p:sp>
      <p:sp>
        <p:nvSpPr>
          <p:cNvPr id="38" name="Text 35"/>
          <p:cNvSpPr txBox="1"/>
          <p:nvPr/>
        </p:nvSpPr>
        <p:spPr>
          <a:xfrm>
            <a:off x="14043355" y="5542178"/>
            <a:ext cx="2533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자산화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14043355" y="4800600"/>
            <a:ext cx="25338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R+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14043355" y="5847588"/>
            <a:ext cx="25338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프로젝트를 어떤 강의 모듈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14043355" y="6104534"/>
            <a:ext cx="25338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·사례로 ‘재사용’ 중인가.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14043355" y="6618427"/>
            <a:ext cx="25338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전용 항목.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1904695" y="8762695"/>
            <a:ext cx="14478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원칙 ▸ 프로젝트는 ‘참여 이력’이 아니라 ‘해결한 문제 + 강의 자산’으로 다시 쓴다.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2 포트폴리오 설계</a:t>
            </a:r>
            <a:endParaRPr lang="en-US" sz="1300" dirty="0"/>
          </a:p>
        </p:txBody>
      </p:sp>
      <p:sp>
        <p:nvSpPr>
          <p:cNvPr id="4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 · 포트폴리오 설계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강사의 콘텐츠 자산 6종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209544"/>
            <a:ext cx="548091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1번 = 콘텐츠 6종이 동시에 만들어진다.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705149"/>
            <a:ext cx="58073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매번 6종을 분류·보관하는 루틴이 곧 자산 축적.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524305" y="4572000"/>
            <a:ext cx="4981651" cy="221010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1524305" y="4572000"/>
            <a:ext cx="38405" cy="22101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1772107" y="4800600"/>
            <a:ext cx="4524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 1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772107" y="5152644"/>
            <a:ext cx="452445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교재 (Workbook)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1772107" y="5554980"/>
            <a:ext cx="4524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흐름 그대로의 종이 워크북.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655003" y="4572000"/>
            <a:ext cx="4981651" cy="221010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655003" y="4572000"/>
            <a:ext cx="38405" cy="22101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6902806" y="4800600"/>
            <a:ext cx="4524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 2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902806" y="5152644"/>
            <a:ext cx="452445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슬라이드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6902806" y="5554980"/>
            <a:ext cx="4524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버전 관리된 마스터 덱 + 기관 맞춤 분기판.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902806" y="5826557"/>
            <a:ext cx="4524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일부 슬라이드는 ‘공개판’으로 노출.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1785702" y="4572000"/>
            <a:ext cx="4981651" cy="221010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1785702" y="4572000"/>
            <a:ext cx="38405" cy="22101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12033504" y="4800600"/>
            <a:ext cx="4524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 3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2033504" y="5152644"/>
            <a:ext cx="452445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템플릿</a:t>
            </a:r>
            <a:endParaRPr lang="en-US" sz="2100" dirty="0"/>
          </a:p>
        </p:txBody>
      </p:sp>
      <p:sp>
        <p:nvSpPr>
          <p:cNvPr id="25" name="Text 22"/>
          <p:cNvSpPr txBox="1"/>
          <p:nvPr/>
        </p:nvSpPr>
        <p:spPr>
          <a:xfrm>
            <a:off x="12033504" y="5554980"/>
            <a:ext cx="4524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노션·구글 시트·캔바 템플릿.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2033504" y="5826557"/>
            <a:ext cx="496885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학습자가 ‘들고 가서 바로 쓸 수 있는’ 가장 강한 자산.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1524305" y="6933895"/>
            <a:ext cx="4981651" cy="221010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1524305" y="6933895"/>
            <a:ext cx="38405" cy="22101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1772107" y="7162495"/>
            <a:ext cx="4524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 4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772107" y="7515454"/>
            <a:ext cx="452445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· 강의 클립</a:t>
            </a:r>
            <a:endParaRPr lang="en-US" sz="2100" dirty="0"/>
          </a:p>
        </p:txBody>
      </p:sp>
      <p:sp>
        <p:nvSpPr>
          <p:cNvPr id="31" name="Text 28"/>
          <p:cNvSpPr txBox="1"/>
          <p:nvPr/>
        </p:nvSpPr>
        <p:spPr>
          <a:xfrm>
            <a:off x="1772107" y="7916875"/>
            <a:ext cx="4524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3~5분 핵심 클립. 유튜브·인스타 릴스.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1772107" y="8188452"/>
            <a:ext cx="4524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기관이 ‘이 강사 어떤 사람인지’ 가장 빠르게 확인.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655003" y="6933895"/>
            <a:ext cx="4981651" cy="221010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6655003" y="6933895"/>
            <a:ext cx="38405" cy="22101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6902806" y="7162495"/>
            <a:ext cx="4524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 5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6902806" y="7515454"/>
            <a:ext cx="452445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칼럼 · 블로그</a:t>
            </a:r>
            <a:endParaRPr lang="en-US" sz="2100" dirty="0"/>
          </a:p>
        </p:txBody>
      </p:sp>
      <p:sp>
        <p:nvSpPr>
          <p:cNvPr id="37" name="Text 34"/>
          <p:cNvSpPr txBox="1"/>
          <p:nvPr/>
        </p:nvSpPr>
        <p:spPr>
          <a:xfrm>
            <a:off x="6902806" y="7916875"/>
            <a:ext cx="4524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사례 4~6편 → 칼럼 1편.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6902806" y="8188452"/>
            <a:ext cx="4524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노출 + 사고의 깊이 증명.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11785702" y="6933895"/>
            <a:ext cx="4981651" cy="2210105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11995099" y="7515454"/>
            <a:ext cx="45628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 사이트</a:t>
            </a:r>
            <a:endParaRPr lang="en-US" sz="2100" dirty="0"/>
          </a:p>
        </p:txBody>
      </p:sp>
      <p:sp>
        <p:nvSpPr>
          <p:cNvPr id="41" name="Text 38"/>
          <p:cNvSpPr txBox="1"/>
          <p:nvPr/>
        </p:nvSpPr>
        <p:spPr>
          <a:xfrm>
            <a:off x="1772107" y="5826557"/>
            <a:ext cx="99395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 무료판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2718511" y="5826557"/>
            <a:ext cx="255209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인쇄용 유료판 분리 가능.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11995099" y="7162495"/>
            <a:ext cx="45628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 6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11995099" y="7916875"/>
            <a:ext cx="45628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 5종을 한 곳에 묶는 메타 자산.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11995099" y="8188452"/>
            <a:ext cx="45628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1개 + 단일 URL이 ‘강사 브랜드의 본거지’.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2 포트폴리오 설계</a:t>
            </a:r>
            <a:endParaRPr lang="en-US" sz="1300" dirty="0"/>
          </a:p>
        </p:txBody>
      </p:sp>
      <p:sp>
        <p:nvSpPr>
          <p:cNvPr id="4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 · 브랜딩 확장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31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포트폴리오를 ‘브랜드’로 확장한다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619195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 = 문서 (Document). 브랜드 = 한 사람이 일관되게 떠올리는 인상 (Impression).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524305" y="4572000"/>
            <a:ext cx="4705502" cy="2609698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752905" y="4839005"/>
            <a:ext cx="42483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 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752905" y="5210251"/>
            <a:ext cx="42483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정리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752905" y="5732374"/>
            <a:ext cx="42483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5장 포트폴리오 + 자격·실적·후기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752905" y="6027725"/>
            <a:ext cx="42483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‘있는 것을 정리’하는 단계.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752905" y="6617513"/>
            <a:ext cx="42483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</a:t>
            </a:r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PDF 1부 / 사이트 1개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223406" y="4572000"/>
            <a:ext cx="571500" cy="2610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6794906" y="4572000"/>
            <a:ext cx="4705502" cy="2609698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7023506" y="4839005"/>
            <a:ext cx="42483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 2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023506" y="5210251"/>
            <a:ext cx="42483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메시지 통일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7023506" y="5732374"/>
            <a:ext cx="42483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문장·키워드 5개·톤·컬러를 모든 채널에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023506" y="6027725"/>
            <a:ext cx="42483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적용. ‘어디서 봐도 같은 강사’ 만들기.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023506" y="6617513"/>
            <a:ext cx="42483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</a:t>
            </a:r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브랜드 가이드 1쪽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1493094" y="4572000"/>
            <a:ext cx="571500" cy="2610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12064594" y="4572000"/>
            <a:ext cx="4705502" cy="2609698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12293194" y="5210251"/>
            <a:ext cx="42483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축적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12293194" y="4839005"/>
            <a:ext cx="42483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 3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2293194" y="5732374"/>
            <a:ext cx="42483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메시지로 콘텐츠를 1~2년 꾸준히 쌓는다.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2293194" y="6027725"/>
            <a:ext cx="42483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검색·SNS·추천 동선이 자동으로 형성됨.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2293194" y="6617513"/>
            <a:ext cx="42483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</a:t>
            </a:r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‘이 주제 = 이 강사’ 연결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3 브랜딩 확장</a:t>
            </a:r>
            <a:endParaRPr lang="en-US" sz="13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 · 브랜딩 확장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브랜드의 3요소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143707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전문성 · 일관성 · 기억성 — 셋 중 하나라도 빠지면 ‘브랜드’가 아니라 그저 ‘강의 잘하는 사람’으로 남는다.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524305" y="4572000"/>
            <a:ext cx="4934102" cy="438180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524305" y="4572000"/>
            <a:ext cx="4934102" cy="57607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809598" y="4972507"/>
            <a:ext cx="43626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8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REQUIREMENT 1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809598" y="5381244"/>
            <a:ext cx="43626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전문성</a:t>
            </a:r>
            <a:endParaRPr lang="en-US" sz="3300" dirty="0"/>
          </a:p>
        </p:txBody>
      </p:sp>
      <p:sp>
        <p:nvSpPr>
          <p:cNvPr id="13" name="Text 10"/>
          <p:cNvSpPr txBox="1"/>
          <p:nvPr/>
        </p:nvSpPr>
        <p:spPr>
          <a:xfrm>
            <a:off x="1809598" y="5918911"/>
            <a:ext cx="43626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‘깊다’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809598" y="6452006"/>
            <a:ext cx="4362602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한 분야 </a:t>
            </a:r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3년 이상</a:t>
            </a:r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누적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그 분야의 </a:t>
            </a:r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자격·실적·결과물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동료가 “이 주제는 저 사람”이라고 부르는 정도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809598" y="7691933"/>
            <a:ext cx="43626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</a:t>
            </a:r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검색 1페이지 노출 여부 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680606" y="4572000"/>
            <a:ext cx="4934102" cy="438180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6680606" y="4572000"/>
            <a:ext cx="4934102" cy="57607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965899" y="4972507"/>
            <a:ext cx="43626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8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REQUIREMENT 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965899" y="5381244"/>
            <a:ext cx="43626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일관성</a:t>
            </a:r>
            <a:endParaRPr lang="en-US" sz="3300" dirty="0"/>
          </a:p>
        </p:txBody>
      </p:sp>
      <p:sp>
        <p:nvSpPr>
          <p:cNvPr id="20" name="Text 17"/>
          <p:cNvSpPr txBox="1"/>
          <p:nvPr/>
        </p:nvSpPr>
        <p:spPr>
          <a:xfrm>
            <a:off x="6965899" y="5918911"/>
            <a:ext cx="43626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‘어디서 봐도 같다’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965899" y="6452006"/>
            <a:ext cx="4362602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한 문장·키워드 5개의 </a:t>
            </a:r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채널 동일 적용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톤·컬러·서체의 </a:t>
            </a:r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기준</a:t>
            </a:r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통일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강의안에서도, SNS에서도 같은 사람으로 보임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965899" y="7691933"/>
            <a:ext cx="43626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</a:t>
            </a:r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3개 채널 동시 점검 시 같은 인상 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1835994" y="4572000"/>
            <a:ext cx="4934102" cy="4381805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12122201" y="5324551"/>
            <a:ext cx="43626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기억성</a:t>
            </a:r>
            <a:endParaRPr lang="en-US" sz="3300" dirty="0"/>
          </a:p>
        </p:txBody>
      </p:sp>
      <p:sp>
        <p:nvSpPr>
          <p:cNvPr id="25" name="Text 22"/>
          <p:cNvSpPr txBox="1"/>
          <p:nvPr/>
        </p:nvSpPr>
        <p:spPr>
          <a:xfrm>
            <a:off x="12122201" y="4914900"/>
            <a:ext cx="43626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80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REQUIREMENT 3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2122201" y="5861304"/>
            <a:ext cx="43626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‘떠오른다’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2122201" y="6395314"/>
            <a:ext cx="4362602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시그니처 강의명</a:t>
            </a:r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1개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단어 한 두 개 들으면 </a:t>
            </a:r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연상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추천 시 “그 강사 있잖아, 그…” 다음에 단어가 나옴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2122201" y="7635240"/>
            <a:ext cx="43626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</a:t>
            </a:r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</a:t>
            </a:r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신규 의뢰 중 ‘추천 경로’ 비율 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3 브랜딩 확장</a:t>
            </a:r>
            <a:endParaRPr lang="en-US" sz="13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24305" y="7048195"/>
            <a:ext cx="15316200" cy="2286000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24305" y="7048195"/>
            <a:ext cx="75895" cy="2286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 · 브랜딩 확장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 / 70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나를 한 문장으로 설명하기 — 3개의 슬롯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3318358"/>
            <a:ext cx="964143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‘[수식어] + [연결 대상] + [강사 유형]’ 슬롯을 채우면 한 문장이 만들어진다.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524305" y="3813048"/>
            <a:ext cx="34006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짧고 강해야 기억에 남는다.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1524305" y="4667098"/>
            <a:ext cx="4934102" cy="1895551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524305" y="4667098"/>
            <a:ext cx="4934102" cy="384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1752905" y="4972507"/>
            <a:ext cx="4476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SLOT A · 수식어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752905" y="5343754"/>
            <a:ext cx="44769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강사의 ‘방식’을 표현하는 형용사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752905" y="5716829"/>
            <a:ext cx="4476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예) 실전형 · 사례 중심 · 워크북 기반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752905" y="6002122"/>
            <a:ext cx="4476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진단부터 시작하는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680606" y="4667098"/>
            <a:ext cx="4934102" cy="1895551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680606" y="4667098"/>
            <a:ext cx="4934102" cy="384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6909206" y="4972507"/>
            <a:ext cx="4476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SLOT B · 연결 대상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909206" y="5343754"/>
            <a:ext cx="44769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강사가 ‘잇는’ 두 영역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909206" y="5716829"/>
            <a:ext cx="4476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예) AI ↔ 교육 · 자격 ↔ 직무 · 데이터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909206" y="6002122"/>
            <a:ext cx="4476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↔ 의사결정 · 이론 ↔ 현장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11835994" y="4667098"/>
            <a:ext cx="4934102" cy="1895551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12064594" y="5305349"/>
            <a:ext cx="44769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자신을 정의하는 직함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2064594" y="4934102"/>
            <a:ext cx="4476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SLOT C · 강사 유형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2064594" y="5678424"/>
            <a:ext cx="4476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예) 멘토형 · 퍼실리테이터형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2064594" y="5964631"/>
            <a:ext cx="44769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디자이너형 · 코치형 강사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2095805" y="7334402"/>
            <a:ext cx="14287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변환 예시 — 본 강사용 후보 3안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2095805" y="7744054"/>
            <a:ext cx="14287500" cy="1172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[안 1]</a:t>
            </a:r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“</a:t>
            </a:r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진단부터 시작하는</a:t>
            </a:r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자격을 직무로</a:t>
            </a:r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잇는 </a:t>
            </a:r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퍼실리테이터형 강사</a:t>
            </a:r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.”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[안 2]</a:t>
            </a:r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“</a:t>
            </a:r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중심으로</a:t>
            </a:r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AI와 교육</a:t>
            </a:r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잇는 </a:t>
            </a:r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실전형 강사</a:t>
            </a:r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.”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[안 3]</a:t>
            </a:r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“다수의</a:t>
            </a:r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자격을 강의로 풀어내는</a:t>
            </a:r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학습자의 다음 한 걸음</a:t>
            </a:r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설계하는 </a:t>
            </a:r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멘토형 강사</a:t>
            </a:r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.” 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3 브랜딩 확장</a:t>
            </a:r>
            <a:endParaRPr lang="en-US" sz="13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 · 브랜딩 확장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34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강사의 대표 키워드 5개를 정한다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055010"/>
            <a:ext cx="44705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노출 + 추천 시 떠오르는 단어.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550615"/>
            <a:ext cx="61347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너무 일반적이면 묻히고, 너무 좁으면 의뢰가 없다.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4476902"/>
            <a:ext cx="15240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키워드의 ‘동심원’ 구조 — 좁은 곳부터 넓은 곳으로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524305" y="5410505"/>
            <a:ext cx="76169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1524305" y="4953305"/>
            <a:ext cx="7626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레벨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286000" y="5410505"/>
            <a:ext cx="209580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2286000" y="4953305"/>
            <a:ext cx="2095805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81805" y="5410505"/>
            <a:ext cx="6191402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381805" y="4953305"/>
            <a:ext cx="61914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 예시 (본 강사용 가정)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0573207" y="5410505"/>
            <a:ext cx="6191402" cy="1920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10573207" y="4953305"/>
            <a:ext cx="61914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전략·노출 채널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524305" y="6201461"/>
            <a:ext cx="76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1524305" y="5429707"/>
            <a:ext cx="762610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2286000" y="6201461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2286000" y="5429707"/>
            <a:ext cx="2095805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시그니처 (가장 좁음)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381805" y="6201461"/>
            <a:ext cx="61914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4381805" y="5429707"/>
            <a:ext cx="6191402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자격증 활용 강사 양성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0573207" y="6201461"/>
            <a:ext cx="61914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10573207" y="5429707"/>
            <a:ext cx="6191402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시그니처 강의명·포트폴리오 표지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1524305" y="6982358"/>
            <a:ext cx="76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1524305" y="6210605"/>
            <a:ext cx="762610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2286000" y="6982358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2286000" y="6210605"/>
            <a:ext cx="2095805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전문분야 1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4381805" y="6982358"/>
            <a:ext cx="61914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4381805" y="6210605"/>
            <a:ext cx="6191402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설계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10573207" y="6982358"/>
            <a:ext cx="61914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10573207" y="6210605"/>
            <a:ext cx="6191402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블로그 카테고리, 칼럼 시리즈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1524305" y="7763256"/>
            <a:ext cx="76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1524305" y="6991502"/>
            <a:ext cx="762610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endParaRPr lang="en-US" sz="2200" dirty="0"/>
          </a:p>
        </p:txBody>
      </p:sp>
      <p:sp>
        <p:nvSpPr>
          <p:cNvPr id="37" name="Shape 34"/>
          <p:cNvSpPr/>
          <p:nvPr/>
        </p:nvSpPr>
        <p:spPr>
          <a:xfrm>
            <a:off x="2286000" y="7763256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2286000" y="6991502"/>
            <a:ext cx="2095805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전문분야 2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4381805" y="7763256"/>
            <a:ext cx="61914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4381805" y="6991502"/>
            <a:ext cx="6191402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 업무 적용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10573207" y="7763256"/>
            <a:ext cx="61914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 txBox="1"/>
          <p:nvPr/>
        </p:nvSpPr>
        <p:spPr>
          <a:xfrm>
            <a:off x="10573207" y="6991502"/>
            <a:ext cx="6191402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HRD 기관용 제안, 외부 강의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1524305" y="8544154"/>
            <a:ext cx="76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 txBox="1"/>
          <p:nvPr/>
        </p:nvSpPr>
        <p:spPr>
          <a:xfrm>
            <a:off x="1524305" y="7772400"/>
            <a:ext cx="762610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</a:t>
            </a:r>
            <a:endParaRPr lang="en-US" sz="2200" dirty="0"/>
          </a:p>
        </p:txBody>
      </p:sp>
      <p:sp>
        <p:nvSpPr>
          <p:cNvPr id="45" name="Shape 42"/>
          <p:cNvSpPr/>
          <p:nvPr/>
        </p:nvSpPr>
        <p:spPr>
          <a:xfrm>
            <a:off x="2286000" y="8544154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 txBox="1"/>
          <p:nvPr/>
        </p:nvSpPr>
        <p:spPr>
          <a:xfrm>
            <a:off x="2286000" y="7772400"/>
            <a:ext cx="2095805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메타 (강사 자신)</a:t>
            </a:r>
            <a:endParaRPr lang="en-US" sz="1500" dirty="0"/>
          </a:p>
        </p:txBody>
      </p:sp>
      <p:sp>
        <p:nvSpPr>
          <p:cNvPr id="47" name="Shape 44"/>
          <p:cNvSpPr/>
          <p:nvPr/>
        </p:nvSpPr>
        <p:spPr>
          <a:xfrm>
            <a:off x="4381805" y="8544154"/>
            <a:ext cx="61914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Text 45"/>
          <p:cNvSpPr txBox="1"/>
          <p:nvPr/>
        </p:nvSpPr>
        <p:spPr>
          <a:xfrm>
            <a:off x="4381805" y="7772400"/>
            <a:ext cx="6191402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실전형 멘토 강사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10573207" y="8544154"/>
            <a:ext cx="61914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47"/>
          <p:cNvSpPr txBox="1"/>
          <p:nvPr/>
        </p:nvSpPr>
        <p:spPr>
          <a:xfrm>
            <a:off x="10573207" y="7772400"/>
            <a:ext cx="6191402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소셜 프로필 · 한 줄 소개</a:t>
            </a:r>
            <a:endParaRPr lang="en-US" sz="1500" dirty="0"/>
          </a:p>
        </p:txBody>
      </p:sp>
      <p:sp>
        <p:nvSpPr>
          <p:cNvPr id="51" name="Text 48"/>
          <p:cNvSpPr txBox="1"/>
          <p:nvPr/>
        </p:nvSpPr>
        <p:spPr>
          <a:xfrm>
            <a:off x="1524305" y="8553298"/>
            <a:ext cx="7626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</a:t>
            </a:r>
            <a:endParaRPr lang="en-US" sz="2200" dirty="0"/>
          </a:p>
        </p:txBody>
      </p:sp>
      <p:sp>
        <p:nvSpPr>
          <p:cNvPr id="52" name="Text 49"/>
          <p:cNvSpPr txBox="1"/>
          <p:nvPr/>
        </p:nvSpPr>
        <p:spPr>
          <a:xfrm>
            <a:off x="2286000" y="8553298"/>
            <a:ext cx="2095805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메가 (가장 넓음)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4381805" y="8553298"/>
            <a:ext cx="6191402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평생교육 · 강사 교육</a:t>
            </a:r>
            <a:endParaRPr lang="en-US" sz="1500" dirty="0"/>
          </a:p>
        </p:txBody>
      </p:sp>
      <p:sp>
        <p:nvSpPr>
          <p:cNvPr id="54" name="Text 51"/>
          <p:cNvSpPr txBox="1"/>
          <p:nvPr/>
        </p:nvSpPr>
        <p:spPr>
          <a:xfrm>
            <a:off x="10573207" y="8553298"/>
            <a:ext cx="6191402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검색·SEO 일반 진입 채널</a:t>
            </a:r>
            <a:endParaRPr lang="en-US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3 브랜딩 확장</a:t>
            </a:r>
            <a:endParaRPr lang="en-US" sz="1300" dirty="0"/>
          </a:p>
        </p:txBody>
      </p:sp>
      <p:sp>
        <p:nvSpPr>
          <p:cNvPr id="5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 · 브랜딩 확장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제안서는 포트폴리오의 ‘번역본’이다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209544"/>
            <a:ext cx="74423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‘내 이야기’가 아니라 ‘기관이 얻을 이익’으로 번역해야 한다.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705149"/>
            <a:ext cx="307329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제안서 6항목 표준 구조.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524305" y="5029200"/>
            <a:ext cx="666598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524305" y="4572000"/>
            <a:ext cx="66751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190902" y="5029200"/>
            <a:ext cx="266730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2190902" y="4572000"/>
            <a:ext cx="2667305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제안서 항목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58207" y="5029200"/>
            <a:ext cx="5952744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4858207" y="4572000"/>
            <a:ext cx="5953658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 어디에서 가져오는가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0810951" y="5029200"/>
            <a:ext cx="5952744" cy="1920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10810951" y="4572000"/>
            <a:ext cx="5953658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 언어로 번역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524305" y="5601614"/>
            <a:ext cx="666598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1524305" y="5048402"/>
            <a:ext cx="667512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2190902" y="5601614"/>
            <a:ext cx="2667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2190902" y="5048402"/>
            <a:ext cx="2667305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개요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858207" y="5601614"/>
            <a:ext cx="5952744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4858207" y="5048402"/>
            <a:ext cx="5953658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 표지 · 한 문장 정체성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10810951" y="5601614"/>
            <a:ext cx="5952744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10810951" y="5048402"/>
            <a:ext cx="5953658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‘본 강의는 [기관 핵심 KPI]를 ○○로 해결합니다.’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1524305" y="6163056"/>
            <a:ext cx="666598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1524305" y="5609844"/>
            <a:ext cx="667512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2190902" y="6163056"/>
            <a:ext cx="2667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2190902" y="5609844"/>
            <a:ext cx="2667305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대상·전제 조건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4858207" y="6163056"/>
            <a:ext cx="5952744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4858207" y="5609844"/>
            <a:ext cx="5953658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전문분야 페이지 · 대상별 설계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10810951" y="6163056"/>
            <a:ext cx="5952744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10810951" y="5609844"/>
            <a:ext cx="5953658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‘[직원 N명, 직무 X] 대상에 최적, 사전 진단 5분 포함’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1524305" y="6725412"/>
            <a:ext cx="666598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1524305" y="6172200"/>
            <a:ext cx="667512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2190902" y="6725412"/>
            <a:ext cx="2667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2190902" y="6172200"/>
            <a:ext cx="2667305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결과 (Outcomes)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4858207" y="6725412"/>
            <a:ext cx="5952744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 txBox="1"/>
          <p:nvPr/>
        </p:nvSpPr>
        <p:spPr>
          <a:xfrm>
            <a:off x="4858207" y="6172200"/>
            <a:ext cx="5953658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강의 카드 · 결과 중심 사례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10810951" y="6725412"/>
            <a:ext cx="5952744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 txBox="1"/>
          <p:nvPr/>
        </p:nvSpPr>
        <p:spPr>
          <a:xfrm>
            <a:off x="10810951" y="6172200"/>
            <a:ext cx="5953658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‘종료 시점, 참가자 손에 ○○ 산출물 1개가 남습니다.’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1524305" y="7287768"/>
            <a:ext cx="666598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 txBox="1"/>
          <p:nvPr/>
        </p:nvSpPr>
        <p:spPr>
          <a:xfrm>
            <a:off x="1524305" y="6734556"/>
            <a:ext cx="667512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2190902" y="7287768"/>
            <a:ext cx="2667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 txBox="1"/>
          <p:nvPr/>
        </p:nvSpPr>
        <p:spPr>
          <a:xfrm>
            <a:off x="2190902" y="6734556"/>
            <a:ext cx="2667305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신뢰 근거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4858207" y="7287768"/>
            <a:ext cx="5952744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 txBox="1"/>
          <p:nvPr/>
        </p:nvSpPr>
        <p:spPr>
          <a:xfrm>
            <a:off x="4858207" y="6734556"/>
            <a:ext cx="5953658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자격·실적·후기 · 5종 증거</a:t>
            </a:r>
            <a:endParaRPr lang="en-US" sz="1500" dirty="0"/>
          </a:p>
        </p:txBody>
      </p:sp>
      <p:sp>
        <p:nvSpPr>
          <p:cNvPr id="48" name="Shape 45"/>
          <p:cNvSpPr/>
          <p:nvPr/>
        </p:nvSpPr>
        <p:spPr>
          <a:xfrm>
            <a:off x="10810951" y="7287768"/>
            <a:ext cx="5952744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 txBox="1"/>
          <p:nvPr/>
        </p:nvSpPr>
        <p:spPr>
          <a:xfrm>
            <a:off x="10810951" y="6734556"/>
            <a:ext cx="5953658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‘동일 주제 ○회 진행, 재의뢰율 ○○%’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1524305" y="7849210"/>
            <a:ext cx="666598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Text 48"/>
          <p:cNvSpPr txBox="1"/>
          <p:nvPr/>
        </p:nvSpPr>
        <p:spPr>
          <a:xfrm>
            <a:off x="1524305" y="7295998"/>
            <a:ext cx="667512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2190902" y="7849210"/>
            <a:ext cx="2667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0"/>
          <p:cNvSpPr txBox="1"/>
          <p:nvPr/>
        </p:nvSpPr>
        <p:spPr>
          <a:xfrm>
            <a:off x="2190902" y="7295998"/>
            <a:ext cx="2667305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운영안</a:t>
            </a:r>
            <a:endParaRPr lang="en-US" sz="1500" dirty="0"/>
          </a:p>
        </p:txBody>
      </p:sp>
      <p:sp>
        <p:nvSpPr>
          <p:cNvPr id="54" name="Shape 51"/>
          <p:cNvSpPr/>
          <p:nvPr/>
        </p:nvSpPr>
        <p:spPr>
          <a:xfrm>
            <a:off x="4858207" y="7849210"/>
            <a:ext cx="5952744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Text 52"/>
          <p:cNvSpPr txBox="1"/>
          <p:nvPr/>
        </p:nvSpPr>
        <p:spPr>
          <a:xfrm>
            <a:off x="4858207" y="7295998"/>
            <a:ext cx="5953658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강의 카드 · 모듈 구조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10810951" y="7849210"/>
            <a:ext cx="5952744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Text 54"/>
          <p:cNvSpPr txBox="1"/>
          <p:nvPr/>
        </p:nvSpPr>
        <p:spPr>
          <a:xfrm>
            <a:off x="10810951" y="7295998"/>
            <a:ext cx="5953658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‘N시간 × N회차, 사전·본 강의·사후 코칭’</a:t>
            </a:r>
            <a:endParaRPr lang="en-US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1524305" y="7858354"/>
            <a:ext cx="6675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500" dirty="0"/>
          </a:p>
        </p:txBody>
      </p:sp>
      <p:sp>
        <p:nvSpPr>
          <p:cNvPr id="59" name="Text 56"/>
          <p:cNvSpPr txBox="1"/>
          <p:nvPr/>
        </p:nvSpPr>
        <p:spPr>
          <a:xfrm>
            <a:off x="2190902" y="7858354"/>
            <a:ext cx="2667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 + 단가</a:t>
            </a:r>
            <a:endParaRPr lang="en-US" sz="1500" dirty="0"/>
          </a:p>
        </p:txBody>
      </p:sp>
      <p:sp>
        <p:nvSpPr>
          <p:cNvPr id="60" name="Text 57"/>
          <p:cNvSpPr txBox="1"/>
          <p:nvPr/>
        </p:nvSpPr>
        <p:spPr>
          <a:xfrm>
            <a:off x="4858207" y="7858354"/>
            <a:ext cx="59536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페이지 · 후속 모듈</a:t>
            </a:r>
            <a:endParaRPr lang="en-US" sz="1500" dirty="0"/>
          </a:p>
        </p:txBody>
      </p:sp>
      <p:sp>
        <p:nvSpPr>
          <p:cNvPr id="61" name="Text 58"/>
          <p:cNvSpPr txBox="1"/>
          <p:nvPr/>
        </p:nvSpPr>
        <p:spPr>
          <a:xfrm>
            <a:off x="10810951" y="7858354"/>
            <a:ext cx="59536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‘후속 코칭 1회 포함 시 ROI ○○% 증가 예상’</a:t>
            </a:r>
            <a:endParaRPr lang="en-US" sz="1500" dirty="0"/>
          </a:p>
        </p:txBody>
      </p:sp>
      <p:sp>
        <p:nvSpPr>
          <p:cNvPr id="62" name="Text 59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3 브랜딩 확장</a:t>
            </a:r>
            <a:endParaRPr lang="en-US" sz="1300" dirty="0"/>
          </a:p>
        </p:txBody>
      </p:sp>
      <p:sp>
        <p:nvSpPr>
          <p:cNvPr id="6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 · 브랜딩 확장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36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기관은 강사에게서 4가지를 본다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042209"/>
            <a:ext cx="675833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 담당자의 머릿속에는 항상 같은 4가지 질문이 돈다.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536899"/>
            <a:ext cx="48865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답을 포트폴리오가 미리 해줘야 한다.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524305" y="4381805"/>
            <a:ext cx="7534656" cy="2609698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790395" y="4667098"/>
            <a:ext cx="70015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QUESTION 1 · 신뢰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790395" y="5067605"/>
            <a:ext cx="70015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“이 사람, 약속을 지키는가?”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790395" y="5565953"/>
            <a:ext cx="70015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약속, 자료 전달, 사후 보고.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790395" y="5861304"/>
            <a:ext cx="70015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후기보다 ‘재의뢰 표시’가 가장 강한 신뢰 신호.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790395" y="6309360"/>
            <a:ext cx="7000646" cy="9144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790395" y="6452006"/>
            <a:ext cx="7001561" cy="2487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노출 채널 ▸ 후기·재의뢰 표·기관 평가 PDF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229954" y="4381805"/>
            <a:ext cx="7534656" cy="2609698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9496044" y="4667098"/>
            <a:ext cx="70015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QUESTION 2 · 안전성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9496044" y="5067605"/>
            <a:ext cx="70015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“보고에서 이 강사 이름을 써도 안전한가?”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9496044" y="5565953"/>
            <a:ext cx="70015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공공·기업은 ‘튀는 강사’보다 ‘말썽 없는 강사’를 선호.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9496044" y="5861304"/>
            <a:ext cx="70015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자격·기관 경력의 ‘공식 라인’이 곧 안전성.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9496044" y="6309360"/>
            <a:ext cx="7000646" cy="9144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9496044" y="6452006"/>
            <a:ext cx="7001561" cy="2487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노출 채널 ▸ 국가·국가공인 자격, 공공기관 강의 이력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1524305" y="7157009"/>
            <a:ext cx="7534656" cy="2609698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1790395" y="7442302"/>
            <a:ext cx="70015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QUESTION 3 · 적용 가능성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790395" y="7842809"/>
            <a:ext cx="70015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“우리 현장에서 작동하는가?”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1790395" y="8342071"/>
            <a:ext cx="70015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동종 기관·동종 직무 사례 1개가 가장 강력.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790395" y="8637422"/>
            <a:ext cx="70015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업계의 후기를 의도적으로 모은다.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1790395" y="9084564"/>
            <a:ext cx="7000646" cy="9144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1790395" y="9227210"/>
            <a:ext cx="7001561" cy="2487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노출 채널 ▸ 동종 기관 사례 카드 · 산출물 사진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9229954" y="7157009"/>
            <a:ext cx="7534656" cy="2609698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9496044" y="7842809"/>
            <a:ext cx="70015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“소통이 잘 되는가, 진행이 매끄러운가?”</a:t>
            </a:r>
            <a:endParaRPr lang="en-US" sz="2400" dirty="0"/>
          </a:p>
        </p:txBody>
      </p:sp>
      <p:sp>
        <p:nvSpPr>
          <p:cNvPr id="33" name="Shape 30"/>
          <p:cNvSpPr/>
          <p:nvPr/>
        </p:nvSpPr>
        <p:spPr>
          <a:xfrm>
            <a:off x="9496044" y="9084564"/>
            <a:ext cx="7000646" cy="9144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9496044" y="9227210"/>
            <a:ext cx="7001561" cy="2487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노출 채널 ▸ 응답 속도 · 사전 협의서 템플릿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9496044" y="7442302"/>
            <a:ext cx="70015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QUESTION 4 · 운영력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9496044" y="8342071"/>
            <a:ext cx="70015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의뢰가 결정되는 마지막 변수.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9496044" y="8637422"/>
            <a:ext cx="70015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응답 속도, 사전 협의 자료의 정돈도가 운영력의 신호.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3 브랜딩 확장</a:t>
            </a:r>
            <a:endParaRPr lang="en-US" sz="1300" dirty="0"/>
          </a:p>
        </p:txBody>
      </p:sp>
      <p:sp>
        <p:nvSpPr>
          <p:cNvPr id="3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477195" y="4572000"/>
            <a:ext cx="6286500" cy="4762195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 · 브랜딩 확장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37 / 70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 사진 + 소개문 — 강사의 ‘얼굴’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209544"/>
            <a:ext cx="672907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 담당자는 7초 안에 ‘부를지 말지’를 1차 결정한다.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3705149"/>
            <a:ext cx="441106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사진과 소개문이 그 7초를 책임진다.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524305" y="4572000"/>
            <a:ext cx="8382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 사진 체크리스트 (7항목)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524305" y="5048402"/>
            <a:ext cx="8382305" cy="2591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정면 또는 15° 측면, 어깨선 보이는 컷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단색 배경 (흰색·회색·짙은 남색)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셀카·여행 사진·단체 사진 ✗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강의 현장 사진은 ‘서브 컷’으로 별도 활용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의상 — 강의 직군에 맞는 톤 (포멀/세미포멀)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표정 — ‘웃음 30%, 진지함 70%’ 정도가 안전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</a:t>
            </a:r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2년에 1번</a:t>
            </a:r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최신화 — 오래된 사진은 신뢰 하락 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524305" y="7866583"/>
            <a:ext cx="8382305" cy="590702"/>
          </a:xfrm>
          <a:prstGeom prst="rect">
            <a:avLst/>
          </a:prstGeom>
          <a:solidFill>
            <a:srgbClr val="F8F9F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▸ 본 컷 1장 + 강의 현장 컷 1장 + 캐주얼 컷 1장 — 채널별 분리 사용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0858500" y="5896051"/>
            <a:ext cx="55248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정체성 + 시그니처 키워드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858500" y="6323076"/>
            <a:ext cx="5524805" cy="9144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0858500" y="6798564"/>
            <a:ext cx="55248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 영역 · 강의 방식 · 학습자 변화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858500" y="7225589"/>
            <a:ext cx="5524805" cy="9144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10858500" y="7701991"/>
            <a:ext cx="55248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자격 1~2개 · 누적 강의 수치 · 재의뢰 기관 수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0858500" y="4953305"/>
            <a:ext cx="5524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소개문 ‘3블록’ 구조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0858500" y="5562295"/>
            <a:ext cx="5524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BLOCK 1 · 한 줄 (15자)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858500" y="6465722"/>
            <a:ext cx="5524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BLOCK 2 · 3줄 (90자)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0858500" y="7368235"/>
            <a:ext cx="5524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BLOCK 3 · 신뢰 라인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0858500" y="8300009"/>
            <a:ext cx="5524805" cy="9144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10858500" y="8481060"/>
            <a:ext cx="5524805" cy="2761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0" rIns="177800" bIns="1778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길이 ▸ 5줄 이내. 길어지면 안 읽힌다.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3 브랜딩 확장</a:t>
            </a:r>
            <a:endParaRPr lang="en-US" sz="1300" dirty="0"/>
          </a:p>
        </p:txBody>
      </p:sp>
      <p:sp>
        <p:nvSpPr>
          <p:cNvPr id="2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 · 브랜딩 확장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 포트폴리오 — 4채널 분담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619195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채널만으로는 부족하고, 5개 이상은 관리 안 된다. 각 채널의 ‘역할’을 분담한다.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524305" y="4791456"/>
            <a:ext cx="190469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524305" y="4334256"/>
            <a:ext cx="19056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채널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29000" y="4791456"/>
            <a:ext cx="5715000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429000" y="4334256"/>
            <a:ext cx="571500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44000" y="4791456"/>
            <a:ext cx="5715000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9144000" y="4334256"/>
            <a:ext cx="571500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올리는 콘텐츠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4859000" y="4791456"/>
            <a:ext cx="1904695" cy="1920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4859000" y="4334256"/>
            <a:ext cx="19056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갱신 주기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524305" y="5896051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1524305" y="4809744"/>
            <a:ext cx="1905610" cy="914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5240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웹사이트</a:t>
            </a:r>
            <a:pPr algn="l" indent="0" marL="0">
              <a:buNone/>
            </a:pPr>
            <a:endParaRPr lang="en-US" sz="19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(본거지)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3429000" y="5896051"/>
            <a:ext cx="5715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3429000" y="4809744"/>
            <a:ext cx="5715000" cy="914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의사결정 페이지 — 의뢰자가 ‘마지막에’ 검색해서 들어오는 곳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144000" y="5896051"/>
            <a:ext cx="5715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9144000" y="4809744"/>
            <a:ext cx="5715000" cy="914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5장 포트폴리오·대표 강의 5개·후기 모음·자료실·강의 문의 폼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4859000" y="5896051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14859000" y="4809744"/>
            <a:ext cx="1905610" cy="914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1회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524305" y="6991502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1524305" y="5905195"/>
            <a:ext cx="1905610" cy="914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5240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</a:t>
            </a:r>
            <a:pPr algn="l" indent="0" marL="0">
              <a:buNone/>
            </a:pPr>
            <a:endParaRPr lang="en-US" sz="19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(작업장)</a:t>
            </a:r>
            <a:endParaRPr lang="en-US" sz="1900" dirty="0"/>
          </a:p>
        </p:txBody>
      </p:sp>
      <p:sp>
        <p:nvSpPr>
          <p:cNvPr id="27" name="Shape 24"/>
          <p:cNvSpPr/>
          <p:nvPr/>
        </p:nvSpPr>
        <p:spPr>
          <a:xfrm>
            <a:off x="3429000" y="6991502"/>
            <a:ext cx="5715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3429000" y="5905195"/>
            <a:ext cx="5715000" cy="914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실무용 포트폴리오 — 빠른 공유 링크 + 강의별 상세 자료실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9144000" y="6991502"/>
            <a:ext cx="5715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9144000" y="5905195"/>
            <a:ext cx="5715000" cy="914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강의별 상세 페이지·산출물 갤러리·사전 진단지·워크북 미리보기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14859000" y="6991502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1524305" y="8086954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1524305" y="7000646"/>
            <a:ext cx="1905610" cy="914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5240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블로그·뉴스레터</a:t>
            </a:r>
            <a:pPr algn="l" indent="0" marL="0">
              <a:buNone/>
            </a:pPr>
            <a:endParaRPr lang="en-US" sz="19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(깊이 증명)</a:t>
            </a:r>
            <a:endParaRPr lang="en-US" sz="1900" dirty="0"/>
          </a:p>
        </p:txBody>
      </p:sp>
      <p:sp>
        <p:nvSpPr>
          <p:cNvPr id="34" name="Shape 31"/>
          <p:cNvSpPr/>
          <p:nvPr/>
        </p:nvSpPr>
        <p:spPr>
          <a:xfrm>
            <a:off x="3429000" y="8086954"/>
            <a:ext cx="5715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3429000" y="7000646"/>
            <a:ext cx="5715000" cy="914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사고의 깊이 + 검색 노출 </a:t>
            </a:r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‘이 사람이 어떻게 생각하는지’ 가장 잘 보이는 곳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9144000" y="8086954"/>
            <a:ext cx="5715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9144000" y="7000646"/>
            <a:ext cx="5715000" cy="914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사례 칼럼 (월 1편) · 도구 리뷰 · 강의 트렌드 분석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14859000" y="8086954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 txBox="1"/>
          <p:nvPr/>
        </p:nvSpPr>
        <p:spPr>
          <a:xfrm>
            <a:off x="14859000" y="7000646"/>
            <a:ext cx="1905610" cy="914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1~2회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1524305" y="8096098"/>
            <a:ext cx="19056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LinkedIn · SNS </a:t>
            </a:r>
            <a:pPr algn="l" indent="0" marL="0">
              <a:buNone/>
            </a:pPr>
            <a:r>
              <a:rPr lang="en-US" sz="13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(노출·만남)</a:t>
            </a:r>
            <a:endParaRPr lang="en-US" sz="1900" dirty="0"/>
          </a:p>
        </p:txBody>
      </p:sp>
      <p:sp>
        <p:nvSpPr>
          <p:cNvPr id="41" name="Text 38"/>
          <p:cNvSpPr txBox="1"/>
          <p:nvPr/>
        </p:nvSpPr>
        <p:spPr>
          <a:xfrm>
            <a:off x="3429000" y="8096098"/>
            <a:ext cx="571500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의뢰자와의 ‘첫 만남’ — 기관 담당자가 가장 먼저 보는 곳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9144000" y="8096098"/>
            <a:ext cx="571500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현장 컷 · 후기 발췌 · 짧은 인사이트 글 · 칼럼 링크 공유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14859000" y="8096098"/>
            <a:ext cx="19056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 1~2회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15011705" y="6096305"/>
            <a:ext cx="201716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종료 후 1주일 내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3 브랜딩 확장</a:t>
            </a:r>
            <a:endParaRPr lang="en-US" sz="1300" dirty="0"/>
          </a:p>
        </p:txBody>
      </p:sp>
      <p:sp>
        <p:nvSpPr>
          <p:cNvPr id="4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 · 브랜딩 확장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39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 사이트 — 5개 메뉴 표준안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120847"/>
            <a:ext cx="503468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홈에서 시작해, 의뢰 문의 폼에서 끝난다.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616452"/>
            <a:ext cx="63724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사이트의 모든 페이지가 ‘문의’로 흐르도록 설계한다.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524305" y="4572000"/>
            <a:ext cx="2915107" cy="419069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1524305" y="4572000"/>
            <a:ext cx="2915107" cy="384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1695298" y="4839005"/>
            <a:ext cx="2572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MENU 01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695298" y="5181905"/>
            <a:ext cx="25722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소개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1695298" y="5621731"/>
            <a:ext cx="2572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문장 정체성 + 프로필 사진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695298" y="5886907"/>
            <a:ext cx="2572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+ 5줄 소개문 + 키워드 5개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695298" y="6323990"/>
            <a:ext cx="2572207" cy="9144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1695298" y="6466637"/>
            <a:ext cx="2572207" cy="2487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▸ ‘이 사람’ 정의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605833" y="4572000"/>
            <a:ext cx="2915107" cy="419069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4605833" y="4572000"/>
            <a:ext cx="2915107" cy="384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777740" y="4839005"/>
            <a:ext cx="2572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MENU 02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777740" y="5181905"/>
            <a:ext cx="25722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분야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4777740" y="5621731"/>
            <a:ext cx="2572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전문분야 3~5개 · 분야별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777740" y="5886907"/>
            <a:ext cx="2572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자격·실적 근거 · 대표 강의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777740" y="6152998"/>
            <a:ext cx="2572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카드 5장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777740" y="6590081"/>
            <a:ext cx="2572207" cy="9144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4777740" y="6732727"/>
            <a:ext cx="2572207" cy="2487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▸ ‘무엇을 하는가’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688275" y="4572000"/>
            <a:ext cx="2915107" cy="419069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7688275" y="4572000"/>
            <a:ext cx="2915107" cy="384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7860182" y="4839005"/>
            <a:ext cx="2572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MENU 03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7860182" y="5181905"/>
            <a:ext cx="25722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실적 · 후기</a:t>
            </a:r>
            <a:endParaRPr lang="en-US" sz="2100" dirty="0"/>
          </a:p>
        </p:txBody>
      </p:sp>
      <p:sp>
        <p:nvSpPr>
          <p:cNvPr id="31" name="Text 28"/>
          <p:cNvSpPr txBox="1"/>
          <p:nvPr/>
        </p:nvSpPr>
        <p:spPr>
          <a:xfrm>
            <a:off x="7860182" y="5621731"/>
            <a:ext cx="2572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3년 강의 실적 5열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860182" y="5886907"/>
            <a:ext cx="277794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수강생 인용 10건 · 기관 평가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7860182" y="6152998"/>
            <a:ext cx="2572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재의뢰 표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7860182" y="6590081"/>
            <a:ext cx="2572207" cy="9144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7860182" y="6732727"/>
            <a:ext cx="2572207" cy="2487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▸ ‘믿을 만한가’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10770718" y="4572000"/>
            <a:ext cx="2915107" cy="419069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0770718" y="4572000"/>
            <a:ext cx="2915107" cy="384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10942625" y="4839005"/>
            <a:ext cx="2572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MENU 04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10942625" y="5181905"/>
            <a:ext cx="25722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· 칼럼</a:t>
            </a:r>
            <a:endParaRPr lang="en-US" sz="2100" dirty="0"/>
          </a:p>
        </p:txBody>
      </p:sp>
      <p:sp>
        <p:nvSpPr>
          <p:cNvPr id="40" name="Text 37"/>
          <p:cNvSpPr txBox="1"/>
          <p:nvPr/>
        </p:nvSpPr>
        <p:spPr>
          <a:xfrm>
            <a:off x="10942625" y="5621731"/>
            <a:ext cx="2572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 가능한 슬라이드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10942625" y="5886907"/>
            <a:ext cx="2572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워크북 미리보기 · 강의 칼럼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10942625" y="6152998"/>
            <a:ext cx="2572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아카이브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10942625" y="6590081"/>
            <a:ext cx="2572207" cy="9144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 txBox="1"/>
          <p:nvPr/>
        </p:nvSpPr>
        <p:spPr>
          <a:xfrm>
            <a:off x="10942625" y="6732727"/>
            <a:ext cx="2572207" cy="2487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▸ ‘깊이가 있는가’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13853160" y="4572000"/>
            <a:ext cx="2915107" cy="4190695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46" name="Shape 43"/>
          <p:cNvSpPr/>
          <p:nvPr/>
        </p:nvSpPr>
        <p:spPr>
          <a:xfrm>
            <a:off x="13853160" y="4572000"/>
            <a:ext cx="2915107" cy="384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 txBox="1"/>
          <p:nvPr/>
        </p:nvSpPr>
        <p:spPr>
          <a:xfrm>
            <a:off x="14024153" y="5181905"/>
            <a:ext cx="25722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문의</a:t>
            </a:r>
            <a:endParaRPr lang="en-US" sz="2100" dirty="0"/>
          </a:p>
        </p:txBody>
      </p:sp>
      <p:sp>
        <p:nvSpPr>
          <p:cNvPr id="48" name="Shape 45"/>
          <p:cNvSpPr/>
          <p:nvPr/>
        </p:nvSpPr>
        <p:spPr>
          <a:xfrm>
            <a:off x="14024153" y="6590081"/>
            <a:ext cx="2572207" cy="9144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 txBox="1"/>
          <p:nvPr/>
        </p:nvSpPr>
        <p:spPr>
          <a:xfrm>
            <a:off x="14024153" y="6732727"/>
            <a:ext cx="2572207" cy="2487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▸ ‘다음 행동’ 유도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14024153" y="4839005"/>
            <a:ext cx="2572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MENU 05</a:t>
            </a:r>
            <a:endParaRPr lang="en-US" sz="1300" dirty="0"/>
          </a:p>
        </p:txBody>
      </p:sp>
      <p:sp>
        <p:nvSpPr>
          <p:cNvPr id="51" name="Text 48"/>
          <p:cNvSpPr txBox="1"/>
          <p:nvPr/>
        </p:nvSpPr>
        <p:spPr>
          <a:xfrm>
            <a:off x="14024153" y="5621731"/>
            <a:ext cx="2572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문의 폼 (기관·대상·기간</a:t>
            </a:r>
            <a:endParaRPr lang="en-US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14024153" y="5886907"/>
            <a:ext cx="2572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·예산·메모) · 응답 시간 표기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14024153" y="6152998"/>
            <a:ext cx="2572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다운로드 PDF 1부</a:t>
            </a:r>
            <a:endParaRPr lang="en-US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3 브랜딩 확장</a:t>
            </a:r>
            <a:endParaRPr lang="en-US" sz="1300" dirty="0"/>
          </a:p>
        </p:txBody>
      </p:sp>
      <p:sp>
        <p:nvSpPr>
          <p:cNvPr id="5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477195" y="4572000"/>
            <a:ext cx="6286500" cy="4762195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 · 브랜딩 확장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 / 70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자료가 곧 마케팅이다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209544"/>
            <a:ext cx="43214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‘공개 가능한 자료’를 분리해 둔다.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3705149"/>
            <a:ext cx="649132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의뢰는 ‘광고’가 아니라 ‘자료 한 장’에서 온다.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524305" y="4572000"/>
            <a:ext cx="8382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자료의 ‘공개 매트릭스’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524305" y="5514746"/>
            <a:ext cx="2800807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1524305" y="5048402"/>
            <a:ext cx="2800807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3970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종류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317797" y="5514746"/>
            <a:ext cx="2800807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4317797" y="5048402"/>
            <a:ext cx="2800807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14300" rIns="13970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 정도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112203" y="5514746"/>
            <a:ext cx="2800807" cy="1920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7112203" y="5048402"/>
            <a:ext cx="2800807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14300" rIns="13970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마케팅 효과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524305" y="6072530"/>
            <a:ext cx="28008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1524305" y="5529377"/>
            <a:ext cx="2800807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표지·목차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317797" y="6072530"/>
            <a:ext cx="28008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4317797" y="5529377"/>
            <a:ext cx="2800807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전면 공개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112203" y="6072530"/>
            <a:ext cx="28008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7112203" y="5529377"/>
            <a:ext cx="2800807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★★★★★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524305" y="6620256"/>
            <a:ext cx="28008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1524305" y="6077102"/>
            <a:ext cx="2800807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슬라이드 3~5장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317797" y="6620256"/>
            <a:ext cx="28008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4317797" y="6077102"/>
            <a:ext cx="2800807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샘플로 공개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112203" y="6620256"/>
            <a:ext cx="28008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7112203" y="6077102"/>
            <a:ext cx="2800807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★★★★★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524305" y="7167982"/>
            <a:ext cx="28008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1524305" y="6624828"/>
            <a:ext cx="2800807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템플릿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317797" y="7167982"/>
            <a:ext cx="28008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4317797" y="6624828"/>
            <a:ext cx="2800807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간이판 공개 / 본판 비공개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7112203" y="7167982"/>
            <a:ext cx="28008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7112203" y="6624828"/>
            <a:ext cx="2800807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★★★★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1524305" y="7715707"/>
            <a:ext cx="28008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1524305" y="7172554"/>
            <a:ext cx="2800807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영상 클립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4317797" y="7715707"/>
            <a:ext cx="28008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 txBox="1"/>
          <p:nvPr/>
        </p:nvSpPr>
        <p:spPr>
          <a:xfrm>
            <a:off x="4317797" y="7172554"/>
            <a:ext cx="2800807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3~5분 컷 공개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7112203" y="7715707"/>
            <a:ext cx="28008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 txBox="1"/>
          <p:nvPr/>
        </p:nvSpPr>
        <p:spPr>
          <a:xfrm>
            <a:off x="7112203" y="7172554"/>
            <a:ext cx="2800807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★★★★★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1524305" y="8263433"/>
            <a:ext cx="28008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 txBox="1"/>
          <p:nvPr/>
        </p:nvSpPr>
        <p:spPr>
          <a:xfrm>
            <a:off x="1524305" y="7720279"/>
            <a:ext cx="2800807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강의안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4317797" y="8263433"/>
            <a:ext cx="28008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 txBox="1"/>
          <p:nvPr/>
        </p:nvSpPr>
        <p:spPr>
          <a:xfrm>
            <a:off x="4317797" y="7720279"/>
            <a:ext cx="2800807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비공개 (의뢰 후 NDA)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7112203" y="8263433"/>
            <a:ext cx="2800807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 txBox="1"/>
          <p:nvPr/>
        </p:nvSpPr>
        <p:spPr>
          <a:xfrm>
            <a:off x="7112203" y="7720279"/>
            <a:ext cx="2800807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1524305" y="8268005"/>
            <a:ext cx="2800807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고객사 자료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4317797" y="8268005"/>
            <a:ext cx="2800807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 비공개 (NDA)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7112203" y="8268005"/>
            <a:ext cx="2800807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10858500" y="5619902"/>
            <a:ext cx="419526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‘이 강의는 무엇을 하는지’를</a:t>
            </a:r>
            <a:endParaRPr lang="en-US" sz="2200" dirty="0"/>
          </a:p>
        </p:txBody>
      </p:sp>
      <p:sp>
        <p:nvSpPr>
          <p:cNvPr id="52" name="Text 49"/>
          <p:cNvSpPr txBox="1"/>
          <p:nvPr/>
        </p:nvSpPr>
        <p:spPr>
          <a:xfrm>
            <a:off x="10858500" y="6191402"/>
            <a:ext cx="586039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의뢰자가 7초 안에 확인할 수 있게 한다.</a:t>
            </a:r>
            <a:endParaRPr lang="en-US" sz="2200" dirty="0"/>
          </a:p>
        </p:txBody>
      </p:sp>
      <p:sp>
        <p:nvSpPr>
          <p:cNvPr id="53" name="Text 50"/>
          <p:cNvSpPr txBox="1"/>
          <p:nvPr/>
        </p:nvSpPr>
        <p:spPr>
          <a:xfrm>
            <a:off x="10858500" y="5009998"/>
            <a:ext cx="35195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공개 자료를 두어야 하는가</a:t>
            </a:r>
            <a:endParaRPr lang="en-US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10858500" y="6953098"/>
            <a:ext cx="380573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비공개 100%면 ‘블라인드 강사’가 됨</a:t>
            </a:r>
            <a:endParaRPr lang="en-US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10858500" y="7353605"/>
            <a:ext cx="395935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일부만 공개해도 신뢰는 충분히 형성</a:t>
            </a:r>
            <a:endParaRPr lang="en-US" sz="1500" dirty="0"/>
          </a:p>
        </p:txBody>
      </p:sp>
      <p:sp>
        <p:nvSpPr>
          <p:cNvPr id="56" name="Text 53"/>
          <p:cNvSpPr txBox="1"/>
          <p:nvPr/>
        </p:nvSpPr>
        <p:spPr>
          <a:xfrm>
            <a:off x="10858500" y="7753198"/>
            <a:ext cx="4127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검색 노출은 대부분 ‘공개 자료’가 만든다</a:t>
            </a:r>
            <a:endParaRPr lang="en-US" sz="1500" dirty="0"/>
          </a:p>
        </p:txBody>
      </p:sp>
      <p:sp>
        <p:nvSpPr>
          <p:cNvPr id="57" name="Text 54"/>
          <p:cNvSpPr txBox="1"/>
          <p:nvPr/>
        </p:nvSpPr>
        <p:spPr>
          <a:xfrm>
            <a:off x="10858500" y="8153705"/>
            <a:ext cx="410382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자료의 디자인이 곧 강사의 디자인 감각</a:t>
            </a:r>
            <a:endParaRPr lang="en-US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3 브랜딩 확장</a:t>
            </a:r>
            <a:endParaRPr lang="en-US" sz="1300" dirty="0"/>
          </a:p>
        </p:txBody>
      </p:sp>
      <p:sp>
        <p:nvSpPr>
          <p:cNvPr id="5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24305" y="4572000"/>
            <a:ext cx="7429500" cy="4762195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334195" y="4572000"/>
            <a:ext cx="7429500" cy="4762195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 · 브랜딩 확장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41 / 70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강사에게는 ‘홍보’보다 ‘축적’이 강하다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3143707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3년 후의 강사 단가는 ‘얼마나 잘 알렸는가’가 아니라 ‘얼마나 쌓아두었는가’가 결정한다.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904695" y="5009998"/>
            <a:ext cx="232989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홍보 (Promotion)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904695" y="5600700"/>
            <a:ext cx="34070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일회성 광고·이벤트성 강의 소개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904695" y="6001207"/>
            <a:ext cx="24030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즉시 효과, 빠른 마감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904695" y="6400800"/>
            <a:ext cx="1335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031797" y="6400800"/>
            <a:ext cx="222473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광고비 멈추면 노출 0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904695" y="6801307"/>
            <a:ext cx="391180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같은 콘텐츠를 매번 새로 만들어야 함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904695" y="7200900"/>
            <a:ext cx="273862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강사 단가에 직접 반영 ✗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904695" y="7601407"/>
            <a:ext cx="1335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2031797" y="7601407"/>
            <a:ext cx="358902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▸ 강사형 비즈니스에는 비효율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715500" y="5009998"/>
            <a:ext cx="279715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축적 (Accumulation)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9715500" y="5609844"/>
            <a:ext cx="352775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강의 사례·칼럼·자료의 지속 적재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9715500" y="6030468"/>
            <a:ext cx="261427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초기 6개월은 효과 미미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715500" y="6450178"/>
            <a:ext cx="1335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9842602" y="6450178"/>
            <a:ext cx="303946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시간이 쌓이면 ‘찾아오는 의뢰’ 시작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9715500" y="6869887"/>
            <a:ext cx="395935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한 번 만든 콘텐츠가 오래 노출됨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9715500" y="7290511"/>
            <a:ext cx="274137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강사 단가에 직접 반영 ✓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715500" y="7710221"/>
            <a:ext cx="1335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9842602" y="7710221"/>
            <a:ext cx="371337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▸ 강사형 비즈니스의 표준 전략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3 브랜딩 확장</a:t>
            </a:r>
            <a:endParaRPr lang="en-US" sz="13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196121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 · 브랜딩 확장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576426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강사의 ‘주간 콘텐츠 루틴’ — 90분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2881274"/>
            <a:ext cx="313273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 1회 90분만 투자한다.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376879"/>
            <a:ext cx="549645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1년 후 칼럼 약 24편 + 사례 카드 약 50장이 쌓인다.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524305" y="4775911"/>
            <a:ext cx="190469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429000" y="4775911"/>
            <a:ext cx="590519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9334195" y="4775911"/>
            <a:ext cx="590519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5240305" y="4775911"/>
            <a:ext cx="1524305" cy="1920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1524305" y="5539435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3429000" y="5539435"/>
            <a:ext cx="5905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9334195" y="5539435"/>
            <a:ext cx="5905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5240305" y="5539435"/>
            <a:ext cx="1524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524305" y="6291986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3429000" y="6291986"/>
            <a:ext cx="5905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9334195" y="6291986"/>
            <a:ext cx="5905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5240305" y="6291986"/>
            <a:ext cx="1524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524305" y="7043623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3429000" y="7043623"/>
            <a:ext cx="5905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9334195" y="7043623"/>
            <a:ext cx="5905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5240305" y="7043623"/>
            <a:ext cx="1524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524305" y="7796174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3429000" y="7796174"/>
            <a:ext cx="5905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9334195" y="7796174"/>
            <a:ext cx="5905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15240305" y="7796174"/>
            <a:ext cx="1524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1524305" y="8777326"/>
            <a:ext cx="15240305" cy="761695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1695298" y="8948318"/>
            <a:ext cx="148974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주간 총 소요 시간 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90분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연간 누적 ▸ 칼럼 약 24편, 사례 카드 약 50장, SNS 게시물 약 50건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524305" y="4414723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요일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3581705" y="4414723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9486900" y="4414723"/>
            <a:ext cx="522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5802661" y="4414723"/>
            <a:ext cx="8156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2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소요 시간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1524305" y="5024628"/>
            <a:ext cx="21397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3581705" y="5024628"/>
            <a:ext cx="174924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지난주 강의 회고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9486900" y="5024628"/>
            <a:ext cx="4025189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메모 1개 + 학습자 질문 TOP 3 정리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16156534" y="5024628"/>
            <a:ext cx="46360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20분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1524305" y="5777179"/>
            <a:ext cx="21397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3581705" y="5777179"/>
            <a:ext cx="180502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→ 사례 카드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9486900" y="5777179"/>
            <a:ext cx="489569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상황·문제·시도·결과·교훈 5문단 = 사례 카드 1장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16156534" y="5777179"/>
            <a:ext cx="46360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25분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1524305" y="6528816"/>
            <a:ext cx="21397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3581705" y="6528816"/>
            <a:ext cx="222199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SNS · LinkedIn 공유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9486900" y="6528816"/>
            <a:ext cx="407913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카드 핵심 1문단 + 학습자 인용 1줄</a:t>
            </a:r>
            <a:endParaRPr lang="en-US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6156534" y="6528816"/>
            <a:ext cx="46360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10분</a:t>
            </a:r>
            <a:endParaRPr lang="en-US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1524305" y="7281367"/>
            <a:ext cx="21397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3581705" y="7281367"/>
            <a:ext cx="140817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업데이트</a:t>
            </a:r>
            <a:endParaRPr lang="en-US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9486900" y="7281367"/>
            <a:ext cx="3791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노션 강의별 페이지에 산출물 1개 추가</a:t>
            </a:r>
            <a:endParaRPr lang="en-US" sz="1500" dirty="0"/>
          </a:p>
        </p:txBody>
      </p:sp>
      <p:sp>
        <p:nvSpPr>
          <p:cNvPr id="51" name="Text 48"/>
          <p:cNvSpPr txBox="1"/>
          <p:nvPr/>
        </p:nvSpPr>
        <p:spPr>
          <a:xfrm>
            <a:off x="16156534" y="7281367"/>
            <a:ext cx="46360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15분</a:t>
            </a:r>
            <a:endParaRPr lang="en-US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1524305" y="8033918"/>
            <a:ext cx="21397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3581705" y="8033918"/>
            <a:ext cx="261335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칼럼 작성 (격주)</a:t>
            </a:r>
            <a:endParaRPr lang="en-US" sz="1500" dirty="0"/>
          </a:p>
        </p:txBody>
      </p:sp>
      <p:sp>
        <p:nvSpPr>
          <p:cNvPr id="54" name="Text 51"/>
          <p:cNvSpPr txBox="1"/>
          <p:nvPr/>
        </p:nvSpPr>
        <p:spPr>
          <a:xfrm>
            <a:off x="9486900" y="8033918"/>
            <a:ext cx="55723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카드 4~6장 → 칼럼 1편 (A4 1매) → 블로그/뉴스레터</a:t>
            </a:r>
            <a:endParaRPr lang="en-US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16156534" y="8033918"/>
            <a:ext cx="46360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20분</a:t>
            </a:r>
            <a:endParaRPr lang="en-US" sz="1500" dirty="0"/>
          </a:p>
        </p:txBody>
      </p:sp>
      <p:sp>
        <p:nvSpPr>
          <p:cNvPr id="56" name="Text 53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3 브랜딩 확장</a:t>
            </a:r>
            <a:endParaRPr lang="en-US" sz="1300" dirty="0"/>
          </a:p>
        </p:txBody>
      </p:sp>
      <p:sp>
        <p:nvSpPr>
          <p:cNvPr id="5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 · 브랜딩 확장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43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주제를 ‘상품’으로 다시 짠다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143707"/>
            <a:ext cx="15240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</a:t>
            </a:r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중심’ → ‘문제 중심’으로 재구성. 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705149"/>
            <a:ext cx="839327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콘텐츠가 ‘강의 상품’으로 바뀌면 단가와 의뢰 양 모두 달라진다.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524305" y="5029200"/>
            <a:ext cx="304769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524305" y="4572000"/>
            <a:ext cx="30486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 요소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0" y="5029200"/>
            <a:ext cx="6096305" cy="1920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4572000" y="4572000"/>
            <a:ext cx="6096305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중심 (Before)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668305" y="5029200"/>
            <a:ext cx="6096305" cy="1920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10668305" y="4572000"/>
            <a:ext cx="6096305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중심 (After)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524305" y="5639105"/>
            <a:ext cx="3047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1524305" y="5048402"/>
            <a:ext cx="304861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72000" y="5639105"/>
            <a:ext cx="6096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4572000" y="5048402"/>
            <a:ext cx="60963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‘AI 활용 기초’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10668305" y="5639105"/>
            <a:ext cx="6096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10668305" y="5048402"/>
            <a:ext cx="60963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‘월요일에 적용하는 AI 보고서 자동화 워크숍’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1524305" y="6238951"/>
            <a:ext cx="3047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1524305" y="5648249"/>
            <a:ext cx="304861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 약속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572000" y="6238951"/>
            <a:ext cx="6096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4572000" y="5648249"/>
            <a:ext cx="60963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‘AI를 알게 된다’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10668305" y="6238951"/>
            <a:ext cx="6096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10668305" y="5648249"/>
            <a:ext cx="60963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‘본인 업무용 AI 자동화 1건을 완성해서 돌아간다’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1524305" y="6838798"/>
            <a:ext cx="3047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1524305" y="6248095"/>
            <a:ext cx="304861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4572000" y="6838798"/>
            <a:ext cx="6096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4572000" y="6248095"/>
            <a:ext cx="60963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‘직장인 누구나’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10668305" y="6838798"/>
            <a:ext cx="6096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10668305" y="6248095"/>
            <a:ext cx="60963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‘보고서를 주 1회 이상 쓰는 실무자’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1524305" y="7439558"/>
            <a:ext cx="3047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1524305" y="6848856"/>
            <a:ext cx="304861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구성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4572000" y="7439558"/>
            <a:ext cx="6096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4572000" y="6848856"/>
            <a:ext cx="60963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‘8시간 강의’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10668305" y="7439558"/>
            <a:ext cx="6096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 txBox="1"/>
          <p:nvPr/>
        </p:nvSpPr>
        <p:spPr>
          <a:xfrm>
            <a:off x="10668305" y="6848856"/>
            <a:ext cx="60963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‘사전 진단 30분 + 6시간 워크숍 + 사후 코칭 1회’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1524305" y="8039405"/>
            <a:ext cx="3047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 txBox="1"/>
          <p:nvPr/>
        </p:nvSpPr>
        <p:spPr>
          <a:xfrm>
            <a:off x="1524305" y="7448702"/>
            <a:ext cx="304861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4572000" y="8039405"/>
            <a:ext cx="6096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 txBox="1"/>
          <p:nvPr/>
        </p:nvSpPr>
        <p:spPr>
          <a:xfrm>
            <a:off x="4572000" y="7448702"/>
            <a:ext cx="60963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‘없음 / PPT 제공’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10668305" y="8039405"/>
            <a:ext cx="6096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 txBox="1"/>
          <p:nvPr/>
        </p:nvSpPr>
        <p:spPr>
          <a:xfrm>
            <a:off x="10668305" y="7448702"/>
            <a:ext cx="60963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‘자기 업무용 자동화 1건 + 워크북 + 진단 결과지’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1524305" y="8639251"/>
            <a:ext cx="3047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 txBox="1"/>
          <p:nvPr/>
        </p:nvSpPr>
        <p:spPr>
          <a:xfrm>
            <a:off x="1524305" y="8048549"/>
            <a:ext cx="304861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가능성</a:t>
            </a:r>
            <a:endParaRPr lang="en-US" sz="1500" dirty="0"/>
          </a:p>
        </p:txBody>
      </p:sp>
      <p:sp>
        <p:nvSpPr>
          <p:cNvPr id="48" name="Shape 45"/>
          <p:cNvSpPr/>
          <p:nvPr/>
        </p:nvSpPr>
        <p:spPr>
          <a:xfrm>
            <a:off x="4572000" y="8639251"/>
            <a:ext cx="6096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 txBox="1"/>
          <p:nvPr/>
        </p:nvSpPr>
        <p:spPr>
          <a:xfrm>
            <a:off x="4572000" y="8048549"/>
            <a:ext cx="60963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‘만족도 점수’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10668305" y="8639251"/>
            <a:ext cx="6096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Text 48"/>
          <p:cNvSpPr txBox="1"/>
          <p:nvPr/>
        </p:nvSpPr>
        <p:spPr>
          <a:xfrm>
            <a:off x="10668305" y="8048549"/>
            <a:ext cx="60963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524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‘적용률 · 시간 절감 · 후속 사용률’</a:t>
            </a:r>
            <a:endParaRPr lang="en-US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1524305" y="8648395"/>
            <a:ext cx="304861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단가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4572000" y="8648395"/>
            <a:ext cx="60963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 표준 단가</a:t>
            </a:r>
            <a:endParaRPr lang="en-US" sz="1500" dirty="0"/>
          </a:p>
        </p:txBody>
      </p:sp>
      <p:sp>
        <p:nvSpPr>
          <p:cNvPr id="54" name="Text 51"/>
          <p:cNvSpPr txBox="1"/>
          <p:nvPr/>
        </p:nvSpPr>
        <p:spPr>
          <a:xfrm>
            <a:off x="10668305" y="8648395"/>
            <a:ext cx="60963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단가 + 진단·코칭 옵션 단가 (1.5~2배)</a:t>
            </a:r>
            <a:endParaRPr lang="en-US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3 브랜딩 확장</a:t>
            </a:r>
            <a:endParaRPr lang="en-US" sz="1300" dirty="0"/>
          </a:p>
        </p:txBody>
      </p:sp>
      <p:sp>
        <p:nvSpPr>
          <p:cNvPr id="5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 · 브랜딩 확장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44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상품 3단계 라인업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619195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입문 → 실무 → 고도화. 같은 학습자가 18개월 동안 ‘다시 부르는 동선’을 미리 설계한다.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524305" y="4572000"/>
            <a:ext cx="4934102" cy="438180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524305" y="4572000"/>
            <a:ext cx="4934102" cy="57607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80606" y="4572000"/>
            <a:ext cx="4934102" cy="438180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680606" y="4572000"/>
            <a:ext cx="4934102" cy="57607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1835994" y="4572000"/>
            <a:ext cx="4934102" cy="4381805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1790395" y="4981651"/>
            <a:ext cx="16102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TIER 1 · 입문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790395" y="5544007"/>
            <a:ext cx="266090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‘처음 만나는</a:t>
            </a:r>
            <a:endParaRPr lang="en-US" sz="2700" dirty="0"/>
          </a:p>
        </p:txBody>
      </p:sp>
      <p:sp>
        <p:nvSpPr>
          <p:cNvPr id="16" name="Text 13"/>
          <p:cNvSpPr txBox="1"/>
          <p:nvPr/>
        </p:nvSpPr>
        <p:spPr>
          <a:xfrm>
            <a:off x="1790395" y="6229807"/>
            <a:ext cx="15435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○○ 강의’</a:t>
            </a:r>
            <a:endParaRPr lang="en-US" sz="2700" dirty="0"/>
          </a:p>
        </p:txBody>
      </p:sp>
      <p:sp>
        <p:nvSpPr>
          <p:cNvPr id="17" name="Text 14"/>
          <p:cNvSpPr txBox="1"/>
          <p:nvPr/>
        </p:nvSpPr>
        <p:spPr>
          <a:xfrm>
            <a:off x="1790395" y="7039051"/>
            <a:ext cx="40690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2141525" y="7039051"/>
            <a:ext cx="186171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해당 분야 초보자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790395" y="7420356"/>
            <a:ext cx="40690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2141525" y="7420356"/>
            <a:ext cx="146944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2~4시간 단회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790395" y="7800746"/>
            <a:ext cx="40690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2141525" y="7800746"/>
            <a:ext cx="209763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흥미 + 한 가지 적용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790395" y="8182051"/>
            <a:ext cx="40690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단가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2141525" y="8182051"/>
            <a:ext cx="12701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표준 1.0배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790395" y="8563356"/>
            <a:ext cx="6099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전환율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2316175" y="8563356"/>
            <a:ext cx="230154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→ Tier 2 약 30~50%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946697" y="4981651"/>
            <a:ext cx="16102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TIER 2 · 실무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946697" y="5544007"/>
            <a:ext cx="354421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‘업무에 적용하는</a:t>
            </a:r>
            <a:endParaRPr lang="en-US" sz="2700" dirty="0"/>
          </a:p>
        </p:txBody>
      </p:sp>
      <p:sp>
        <p:nvSpPr>
          <p:cNvPr id="29" name="Text 26"/>
          <p:cNvSpPr txBox="1"/>
          <p:nvPr/>
        </p:nvSpPr>
        <p:spPr>
          <a:xfrm>
            <a:off x="6946697" y="6229807"/>
            <a:ext cx="20199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○○ 워크숍’</a:t>
            </a:r>
            <a:endParaRPr lang="en-US" sz="2700" dirty="0"/>
          </a:p>
        </p:txBody>
      </p:sp>
      <p:sp>
        <p:nvSpPr>
          <p:cNvPr id="30" name="Text 27"/>
          <p:cNvSpPr txBox="1"/>
          <p:nvPr/>
        </p:nvSpPr>
        <p:spPr>
          <a:xfrm>
            <a:off x="6946697" y="7039051"/>
            <a:ext cx="40690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297826" y="7039051"/>
            <a:ext cx="166512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실무 적용 단계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6946697" y="7420356"/>
            <a:ext cx="40690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7297826" y="7420356"/>
            <a:ext cx="198790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8~16시간 (2~3회)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6946697" y="7800746"/>
            <a:ext cx="40690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7297826" y="7800746"/>
            <a:ext cx="24963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자기 업무용 산출물 1건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6946697" y="8182051"/>
            <a:ext cx="40690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단가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7297826" y="8182051"/>
            <a:ext cx="172364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표준 1.3~1.5배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6946697" y="8563356"/>
            <a:ext cx="6099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전환율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472477" y="8563356"/>
            <a:ext cx="230154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→ Tier 3 약 10~20%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12102998" y="5486400"/>
            <a:ext cx="457840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‘조직 도입을 설계하는</a:t>
            </a:r>
            <a:endParaRPr lang="en-US" sz="2700" dirty="0"/>
          </a:p>
        </p:txBody>
      </p:sp>
      <p:sp>
        <p:nvSpPr>
          <p:cNvPr id="41" name="Text 38"/>
          <p:cNvSpPr txBox="1"/>
          <p:nvPr/>
        </p:nvSpPr>
        <p:spPr>
          <a:xfrm>
            <a:off x="12102998" y="6172200"/>
            <a:ext cx="20199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○○ 컨설팅’</a:t>
            </a:r>
            <a:endParaRPr lang="en-US" sz="2700" dirty="0"/>
          </a:p>
        </p:txBody>
      </p:sp>
      <p:sp>
        <p:nvSpPr>
          <p:cNvPr id="42" name="Text 39"/>
          <p:cNvSpPr txBox="1"/>
          <p:nvPr/>
        </p:nvSpPr>
        <p:spPr>
          <a:xfrm>
            <a:off x="12102998" y="4924044"/>
            <a:ext cx="183703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TIER 3 · 고도화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12102998" y="6981444"/>
            <a:ext cx="40690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12453214" y="6981444"/>
            <a:ext cx="186537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관리자·실무 리더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12102998" y="7362749"/>
            <a:ext cx="40690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12453214" y="7362749"/>
            <a:ext cx="184891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1~3개월 프로그램</a:t>
            </a:r>
            <a:endParaRPr lang="en-US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2102998" y="7744054"/>
            <a:ext cx="40690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</a:t>
            </a:r>
            <a:endParaRPr lang="en-US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12453214" y="7744054"/>
            <a:ext cx="2539289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조직 단위 적용·KPI 설계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12102998" y="8124444"/>
            <a:ext cx="40690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단가</a:t>
            </a:r>
            <a:endParaRPr lang="en-US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12453214" y="8124444"/>
            <a:ext cx="266456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표준 2~5배 (컨설팅 단가)</a:t>
            </a:r>
            <a:endParaRPr lang="en-US" sz="1500" dirty="0"/>
          </a:p>
        </p:txBody>
      </p:sp>
      <p:sp>
        <p:nvSpPr>
          <p:cNvPr id="51" name="Text 48"/>
          <p:cNvSpPr txBox="1"/>
          <p:nvPr/>
        </p:nvSpPr>
        <p:spPr>
          <a:xfrm>
            <a:off x="12102998" y="8505749"/>
            <a:ext cx="93543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의뢰</a:t>
            </a:r>
            <a:endParaRPr lang="en-US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12857378" y="8505749"/>
            <a:ext cx="189463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약 50% 분기 갱신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3 브랜딩 확장 · 전환율·반복 의뢰 비율은 목표 예시, 업종·강사별 편차 있음</a:t>
            </a:r>
            <a:endParaRPr lang="en-US" sz="1300" dirty="0"/>
          </a:p>
        </p:txBody>
      </p:sp>
      <p:sp>
        <p:nvSpPr>
          <p:cNvPr id="5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477195" y="4572000"/>
            <a:ext cx="6286500" cy="4762195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 · 브랜딩 확장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45 / 70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‘시그니처 강의’는 강사의 상징이다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094330"/>
            <a:ext cx="741212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‘이 사람 = 이 강의’가 자동 연상되는 단 한 개의 대표 과정.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3589934"/>
            <a:ext cx="773948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만드는 데 1~2년이 걸리지만, 그 후 모든 의뢰의 출발점이 된다.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524305" y="4572000"/>
            <a:ext cx="8382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시그니처 강의 4조건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524305" y="5048402"/>
            <a:ext cx="838230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1524305" y="5238598"/>
            <a:ext cx="83823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 1 ▸ </a:t>
            </a:r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의뢰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524305" y="5629046"/>
            <a:ext cx="8382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강의를 최근 1년 안에 </a:t>
            </a:r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5회 이상</a:t>
            </a:r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진행했고, 그중 2회 이상이 기관 재의뢰일 때.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524305" y="6086246"/>
            <a:ext cx="8382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524305" y="6267298"/>
            <a:ext cx="83823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 2 ▸ </a:t>
            </a:r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고유성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524305" y="6657746"/>
            <a:ext cx="8382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 주제 강의가 있더라도 ‘방식·사례·산출물’이 이 강사만의 형태일 때.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1524305" y="7114946"/>
            <a:ext cx="8382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1524305" y="7295998"/>
            <a:ext cx="83823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 3 ▸ </a:t>
            </a:r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기억되는 이름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524305" y="7686446"/>
            <a:ext cx="8382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15자 이내, 한 번 들으면 ‘무엇을 하는 강의’인지 짐작 가능한 카피.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1524305" y="8143646"/>
            <a:ext cx="8382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1524305" y="8324698"/>
            <a:ext cx="83823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 4 ▸ </a:t>
            </a:r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확장 가능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524305" y="8715146"/>
            <a:ext cx="8382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입문/실무/고도화로 자연스럽게 분기되거나, 후속 코칭·교재로 이어질 수 있을 때.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0858500" y="5429707"/>
            <a:ext cx="5524805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‘여러 자격을</a:t>
            </a:r>
            <a:pPr algn="l" indent="0" marL="0">
              <a:buNone/>
            </a:pP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1개의 강의로’</a:t>
            </a:r>
            <a:endParaRPr lang="en-US" sz="2500" dirty="0"/>
          </a:p>
        </p:txBody>
      </p:sp>
      <p:sp>
        <p:nvSpPr>
          <p:cNvPr id="25" name="Text 22"/>
          <p:cNvSpPr txBox="1"/>
          <p:nvPr/>
        </p:nvSpPr>
        <p:spPr>
          <a:xfrm>
            <a:off x="10858500" y="4953305"/>
            <a:ext cx="5524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강사 시그니처 후보 (초안)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0858500" y="6499555"/>
            <a:ext cx="55248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 약속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“보유 자격의 80%를 강의·코칭으로 전환해 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0858500" y="7109460"/>
            <a:ext cx="5524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강사 수익 라인을 만든다.”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0858500" y="7718450"/>
            <a:ext cx="5524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</a:t>
            </a:r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자격은 많지만 강사 활동이 정리되지 않은 분들 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0858500" y="8023860"/>
            <a:ext cx="5524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</a:t>
            </a:r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8시간 워크숍 + 사후 코칭 1회 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0858500" y="8328355"/>
            <a:ext cx="5524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</a:t>
            </a:r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5장 포트폴리오 + 시그니처 강의 1개 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3 브랜딩 확장</a:t>
            </a:r>
            <a:endParaRPr lang="en-US" sz="13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 · 미래전략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46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앞으로 5년, 강사 시장의 4가지 변화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111703"/>
            <a:ext cx="47722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· 자동화 · 온라인 · 프로젝트형 학습.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581705"/>
            <a:ext cx="643189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변화에 강사의 ‘대응 전략’이 한 줄로 따라붙는다.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524305" y="4572000"/>
            <a:ext cx="7534656" cy="2200046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1524305" y="4572000"/>
            <a:ext cx="57607" cy="220004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1848002" y="4858207"/>
            <a:ext cx="69439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SHIFT 1 · AI 생산성 도구의 일상화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848002" y="5229454"/>
            <a:ext cx="69439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‘이걸 누가 강의해야 해?’가 매주 등장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1848002" y="5705856"/>
            <a:ext cx="69439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대응</a:t>
            </a:r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AI를 ‘도구’가 아닌 ‘공동 진행자’로 두는 강의 설계. 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848002" y="6001207"/>
            <a:ext cx="69439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슬라이드보다 ‘실시간 도구 시연’ 비중 ↑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229954" y="4572000"/>
            <a:ext cx="7534656" cy="2200046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9229954" y="4572000"/>
            <a:ext cx="57607" cy="220004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9553651" y="4858207"/>
            <a:ext cx="69439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SHIFT 2 · 반복 업무 자동화 확산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9553651" y="5229454"/>
            <a:ext cx="69439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‘정보 전달형 강의’ 수요 급감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9553651" y="5705856"/>
            <a:ext cx="69439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대응</a:t>
            </a:r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‘정보’가 아닌 ‘판단·맥락·동기’ 중심으로 강의 재설계. 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9553651" y="6001207"/>
            <a:ext cx="69439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가능한 영역은 사전·사후 자료로 이전.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1524305" y="6943954"/>
            <a:ext cx="7534656" cy="2200046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524305" y="6943954"/>
            <a:ext cx="57607" cy="220004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1848002" y="7229246"/>
            <a:ext cx="69439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SHIFT 3 · 온라인·하이브리드 표준화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848002" y="7601407"/>
            <a:ext cx="69439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운영 = 학습 경험 디자인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1848002" y="8076895"/>
            <a:ext cx="69439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대응</a:t>
            </a:r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사전 진단, 본 강의, 사후 코칭의 ‘3단 묶음’으로 설계. 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848002" y="8372246"/>
            <a:ext cx="69439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강의 ✗ → ‘학습 여정’으로.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9229954" y="6943954"/>
            <a:ext cx="7534656" cy="2200046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9496044" y="7601407"/>
            <a:ext cx="70015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‘듣는 강의’의 지불 의향 ↓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9496044" y="7229246"/>
            <a:ext cx="70015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SHIFT 4 · 프로젝트형·실습형 학습 부상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9496044" y="8076895"/>
            <a:ext cx="70015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대응</a:t>
            </a:r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‘만드는 강의’ + ‘남는 산출물’이 표준. 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9496044" y="8372246"/>
            <a:ext cx="70015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강사는 ‘학습 경험 디자이너’로 정체성 이동.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4 미래전략</a:t>
            </a:r>
            <a:endParaRPr lang="en-US" sz="1300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 · 미래전략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47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시대 강사의 역할 — 3가지 재정의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619195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‘답’을 더 잘 줄수록, 강사는 ‘질문·판단·동기’를 더 잘 다뤄야 한다.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524305" y="4572000"/>
            <a:ext cx="4934102" cy="438180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524305" y="4572000"/>
            <a:ext cx="4934102" cy="57607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1772107" y="8076895"/>
            <a:ext cx="4438498" cy="9144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680606" y="4572000"/>
            <a:ext cx="4934102" cy="438180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680606" y="4572000"/>
            <a:ext cx="4934102" cy="57607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927494" y="8076895"/>
            <a:ext cx="4438498" cy="9144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11835994" y="4572000"/>
            <a:ext cx="4934102" cy="4381805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2083796" y="8020202"/>
            <a:ext cx="4438498" cy="9144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1772107" y="4962449"/>
            <a:ext cx="140634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REDEFINE 1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772107" y="5477256"/>
            <a:ext cx="182057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전달자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1772107" y="6086246"/>
            <a:ext cx="170901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큐레이터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1772107" y="6801307"/>
            <a:ext cx="261427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‘무엇을 다 가르치는가’ ✗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772107" y="7200900"/>
            <a:ext cx="407913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‘무엇을 빼고, 무엇을 깊이 다루는가’ ○.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772107" y="7601407"/>
            <a:ext cx="357530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시대의 강사는 ‘선택의 기술자’.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772107" y="8248802"/>
            <a:ext cx="250545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실천 ▸ 강의안 30% 삭제 연습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927494" y="4962449"/>
            <a:ext cx="140634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REDEFINE 2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927494" y="5477256"/>
            <a:ext cx="97566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강의자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6927494" y="6086246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학습 경험 설계자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6927494" y="6801307"/>
            <a:ext cx="278892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‘60분 동안 무엇을 말할까’ ✗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927494" y="7200900"/>
            <a:ext cx="4199839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‘60분 동안 학습자가 무엇을 경험할까’ ○.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927494" y="7601407"/>
            <a:ext cx="2485339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진행보다 ‘설계’가 본업.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927494" y="8248802"/>
            <a:ext cx="352867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실천 ▸ 강의안에 ‘활동’ 열을 강제 추가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2083796" y="5419649"/>
            <a:ext cx="97566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평가자</a:t>
            </a:r>
            <a:endParaRPr lang="en-US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12083796" y="6029554"/>
            <a:ext cx="223753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동행자·코치</a:t>
            </a:r>
            <a:endParaRPr lang="en-US" sz="2400" dirty="0"/>
          </a:p>
        </p:txBody>
      </p:sp>
      <p:sp>
        <p:nvSpPr>
          <p:cNvPr id="33" name="Text 30"/>
          <p:cNvSpPr txBox="1"/>
          <p:nvPr/>
        </p:nvSpPr>
        <p:spPr>
          <a:xfrm>
            <a:off x="12083796" y="8191195"/>
            <a:ext cx="374172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실천 ▸ 모든 강의에 ‘사후 코칭 1회’ 옵션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12083796" y="4905756"/>
            <a:ext cx="140634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REDEFINE 3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12083796" y="6743700"/>
            <a:ext cx="220004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‘점수 매기는 사람’ ✗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12083796" y="7144207"/>
            <a:ext cx="458388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‘학습자가 다음 한 걸음을 떼게 돕는 사람’ ○.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12083796" y="7543800"/>
            <a:ext cx="309524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후의 관계가 본업의 절반.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4 미래전략</a:t>
            </a:r>
            <a:endParaRPr lang="en-US" sz="1300" dirty="0"/>
          </a:p>
        </p:txBody>
      </p:sp>
      <p:sp>
        <p:nvSpPr>
          <p:cNvPr id="3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 · 미래전략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강사가 AI를 ‘도구’로 쓰는 4가지 영역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619195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준비 ~ 진행 ~ 사후의 모든 단계에서 AI는 ‘조수’ 역할. 강사의 시간을 줄이고 품질은 올린다.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524305" y="5016398"/>
            <a:ext cx="190469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524305" y="4559198"/>
            <a:ext cx="19056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29000" y="5016398"/>
            <a:ext cx="5715000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429000" y="4559198"/>
            <a:ext cx="571500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작업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44000" y="5016398"/>
            <a:ext cx="5715000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9144000" y="4559198"/>
            <a:ext cx="571500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 예시 (도구 예: ChatGPT · Claude · NotebookLM 등)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4859000" y="5016398"/>
            <a:ext cx="1904695" cy="1920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4859000" y="4559198"/>
            <a:ext cx="19056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r" indent="0" marL="0">
              <a:buNone/>
            </a:pPr>
            <a:r>
              <a:rPr lang="en-US" sz="1200" b="1" spc="12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절감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524305" y="5987491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1524305" y="5034686"/>
            <a:ext cx="1905610" cy="7635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90500" rIns="15240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준비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3429000" y="5987491"/>
            <a:ext cx="5715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3429000" y="5034686"/>
            <a:ext cx="5715000" cy="7635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905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수집 · 사례 정리 · 슬라이드 초안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144000" y="5987491"/>
            <a:ext cx="5715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9144000" y="5034686"/>
            <a:ext cx="5715000" cy="7635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905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사례·통계 정리, 학습자 사전 진단 설문 자동 생성, 슬라이드 1차 초안 생성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4859000" y="5987491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14859000" y="5034686"/>
            <a:ext cx="1905610" cy="7635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90500" rIns="15240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−60%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524305" y="6949440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1524305" y="5996635"/>
            <a:ext cx="1905610" cy="7635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90500" rIns="15240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중</a:t>
            </a:r>
            <a:endParaRPr lang="en-US" sz="1900" dirty="0"/>
          </a:p>
        </p:txBody>
      </p:sp>
      <p:sp>
        <p:nvSpPr>
          <p:cNvPr id="27" name="Shape 24"/>
          <p:cNvSpPr/>
          <p:nvPr/>
        </p:nvSpPr>
        <p:spPr>
          <a:xfrm>
            <a:off x="3429000" y="6949440"/>
            <a:ext cx="5715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3429000" y="5996635"/>
            <a:ext cx="5715000" cy="7635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905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시연 · 학습자 산출물 피드백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9144000" y="6949440"/>
            <a:ext cx="5715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9144000" y="5996635"/>
            <a:ext cx="5715000" cy="7635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905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학습자의 실제 업무 데이터로 즉석 자동화 시연, 산출물의 1차 피드백 AI 협업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14859000" y="6949440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14859000" y="5996635"/>
            <a:ext cx="1905610" cy="7635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90500" rIns="15240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−30%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1524305" y="7912303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1524305" y="6959498"/>
            <a:ext cx="1905610" cy="7635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90500" rIns="15240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사후 정리</a:t>
            </a:r>
            <a:endParaRPr lang="en-US" sz="1900" dirty="0"/>
          </a:p>
        </p:txBody>
      </p:sp>
      <p:sp>
        <p:nvSpPr>
          <p:cNvPr id="35" name="Shape 32"/>
          <p:cNvSpPr/>
          <p:nvPr/>
        </p:nvSpPr>
        <p:spPr>
          <a:xfrm>
            <a:off x="3429000" y="7912303"/>
            <a:ext cx="5715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3429000" y="6959498"/>
            <a:ext cx="5715000" cy="7635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905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노트화 · 사례 카드 · 칼럼 초안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9144000" y="7912303"/>
            <a:ext cx="5715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9144000" y="6959498"/>
            <a:ext cx="5715000" cy="7635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905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녹취 → 요약 · 사례 카드 자동 초안 · 칼럼 1차 원고 → 본인이 후 편집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14859000" y="7912303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14859000" y="6959498"/>
            <a:ext cx="1905610" cy="7635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90500" rIns="15240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−70%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524305" y="7921447"/>
            <a:ext cx="190561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</a:t>
            </a:r>
            <a:pPr algn="l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·마케팅</a:t>
            </a:r>
            <a:endParaRPr lang="en-US" sz="1900" dirty="0"/>
          </a:p>
        </p:txBody>
      </p:sp>
      <p:sp>
        <p:nvSpPr>
          <p:cNvPr id="42" name="Text 39"/>
          <p:cNvSpPr txBox="1"/>
          <p:nvPr/>
        </p:nvSpPr>
        <p:spPr>
          <a:xfrm>
            <a:off x="3429000" y="7921447"/>
            <a:ext cx="57150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소개문 · 제안서 · SNS 카피</a:t>
            </a:r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기관별 맞춤 제안서 1차 초안, SNS 카피 다안 비교, 소개문 톤 매트릭스 비교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9144000" y="7921447"/>
            <a:ext cx="57150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−50%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4 미래전략 · 시간 절감 폭은 예시값, 강사·도구 활용도에 따라 다름</a:t>
            </a:r>
            <a:endParaRPr lang="en-US" sz="1300" dirty="0"/>
          </a:p>
        </p:txBody>
      </p:sp>
      <p:sp>
        <p:nvSpPr>
          <p:cNvPr id="4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 · 미래전략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49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못 하는 강사의 5가지 역량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619195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전달은 대체된다. ‘맥락·해석·동기·관계·책임’은 대체되지 않는다.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524305" y="4559198"/>
            <a:ext cx="2915107" cy="419069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524305" y="4559198"/>
            <a:ext cx="2915107" cy="384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733702" y="4844491"/>
            <a:ext cx="24963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CAPABILITY 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733702" y="5187391"/>
            <a:ext cx="24963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 이해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1733702" y="5627218"/>
            <a:ext cx="249631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학습자·조직·산업의 상황을 단어가 아닌 행간으로 읽는 능력.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733702" y="6424574"/>
            <a:ext cx="24963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행간을 모른다.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05833" y="4559198"/>
            <a:ext cx="2915107" cy="419069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605833" y="4559198"/>
            <a:ext cx="2915107" cy="384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4816145" y="4844491"/>
            <a:ext cx="24963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CAPABILITY 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816145" y="5187391"/>
            <a:ext cx="24963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 해석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4816145" y="5627218"/>
            <a:ext cx="249631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본인의 실패·성공 경험에서 원칙을 뽑아내고, 학습자 사례와 연결하는 능력.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688275" y="4559198"/>
            <a:ext cx="2915107" cy="419069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7688275" y="4559198"/>
            <a:ext cx="2915107" cy="384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7897673" y="4844491"/>
            <a:ext cx="24963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CAPABILITY 3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897673" y="5187391"/>
            <a:ext cx="24963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동기 부여</a:t>
            </a:r>
            <a:endParaRPr lang="en-US" sz="2100" dirty="0"/>
          </a:p>
        </p:txBody>
      </p:sp>
      <p:sp>
        <p:nvSpPr>
          <p:cNvPr id="24" name="Text 21"/>
          <p:cNvSpPr txBox="1"/>
          <p:nvPr/>
        </p:nvSpPr>
        <p:spPr>
          <a:xfrm>
            <a:off x="7897673" y="5627218"/>
            <a:ext cx="249631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‘왜 지금 배워야 하는가’를 학습자의 개인적 이유와 연결해 ‘마음을 움직이는’ 능력.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0770718" y="4559198"/>
            <a:ext cx="2915107" cy="419069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770718" y="4559198"/>
            <a:ext cx="2915107" cy="384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10980115" y="4844491"/>
            <a:ext cx="24963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CAPABILITY 4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0980115" y="5187391"/>
            <a:ext cx="24963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 유지</a:t>
            </a:r>
            <a:endParaRPr lang="en-US" sz="2100" dirty="0"/>
          </a:p>
        </p:txBody>
      </p:sp>
      <p:sp>
        <p:nvSpPr>
          <p:cNvPr id="29" name="Text 26"/>
          <p:cNvSpPr txBox="1"/>
          <p:nvPr/>
        </p:nvSpPr>
        <p:spPr>
          <a:xfrm>
            <a:off x="10980115" y="5627218"/>
            <a:ext cx="298917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종료 후의 ‘안부·코칭·추천’.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0980115" y="6158484"/>
            <a:ext cx="249631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번의 관계가 5년의 의뢰로 이어지는 무형 자산.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13853160" y="4559198"/>
            <a:ext cx="2915107" cy="4190695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14062558" y="5148986"/>
            <a:ext cx="24963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책임</a:t>
            </a:r>
            <a:endParaRPr lang="en-US" sz="2100" dirty="0"/>
          </a:p>
        </p:txBody>
      </p:sp>
      <p:sp>
        <p:nvSpPr>
          <p:cNvPr id="33" name="Text 30"/>
          <p:cNvSpPr txBox="1"/>
          <p:nvPr/>
        </p:nvSpPr>
        <p:spPr>
          <a:xfrm>
            <a:off x="14062558" y="4806086"/>
            <a:ext cx="24963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CAPABILITY 5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14062558" y="5588813"/>
            <a:ext cx="249631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‘이 강의의 결과는 내가 책임진다’는 신호.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14062558" y="6386170"/>
            <a:ext cx="24963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결과를 책임지지 않는다.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14062558" y="6652260"/>
            <a:ext cx="24963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강사만의 영역.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4 미래전략</a:t>
            </a:r>
            <a:endParaRPr lang="en-US" sz="1300" dirty="0"/>
          </a:p>
        </p:txBody>
      </p:sp>
      <p:sp>
        <p:nvSpPr>
          <p:cNvPr id="3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24305" y="4506163"/>
            <a:ext cx="4733849" cy="4572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665976" y="4506163"/>
            <a:ext cx="7429500" cy="4533595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 · 미래전략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 / 70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실습형 강의의 새로운 표준 비율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3143707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60분 동안 학습자가 ‘듣기·만들기·피드백받기’에 몇 분을 쓰는가가 강의의 품질을 결정한다.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990649" y="4887468"/>
            <a:ext cx="38862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60분 강의의 ‘권장 비율’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038551" y="5363870"/>
            <a:ext cx="283921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설명 · 듣기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개념·맥락·핵심 사례 전달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990649" y="6174943"/>
            <a:ext cx="857707" cy="9144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3038551" y="6136538"/>
            <a:ext cx="2838298" cy="9144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1990649" y="7327087"/>
            <a:ext cx="857707" cy="9144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3038551" y="7289597"/>
            <a:ext cx="2838298" cy="9144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1990649" y="5492801"/>
            <a:ext cx="8485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30%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1990649" y="6460236"/>
            <a:ext cx="8485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50%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3038551" y="6375197"/>
            <a:ext cx="254111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 만들기 · 실습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3038551" y="6822338"/>
            <a:ext cx="264078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또는 팀별 산출물 제작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990649" y="7613294"/>
            <a:ext cx="8485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20%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3038551" y="7527341"/>
            <a:ext cx="166420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피드백 · 공유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3038551" y="7975397"/>
            <a:ext cx="307147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코멘트 + 학습자 상호 발표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039051" y="5468112"/>
            <a:ext cx="4014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‘만들기 50%’의 핵심 효과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7039051" y="4849063"/>
            <a:ext cx="177027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이 비율인가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039051" y="6239866"/>
            <a:ext cx="200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239305" y="6239866"/>
            <a:ext cx="592805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 손에 ‘산출물’이 남는다 → 만족도와 적용률 동시 상승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039051" y="6639458"/>
            <a:ext cx="200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7239305" y="6639458"/>
            <a:ext cx="472744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강사가 ‘설계자’임이 드러난다 → 단가 근거 형성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7039051" y="7039966"/>
            <a:ext cx="200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239305" y="7039966"/>
            <a:ext cx="43434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대체 불가한 ‘맥락 피드백’이 일어난다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7039051" y="7439558"/>
            <a:ext cx="200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7239305" y="7439558"/>
            <a:ext cx="511149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 간 네트워킹이 자연 발생 → 강사 추천망 확장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4 미래전략 · 비율은 권장값, 대상에 따라 조정</a:t>
            </a:r>
            <a:endParaRPr lang="en-US" sz="13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 · 미래전략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51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기반 강의 설계 — 5단계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619195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‘결과물이 남는 강의’는 우연이 아니다. 5단계 설계 → 강의 시간 내 산출물 1건이 만들어진다.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524305" y="4572000"/>
            <a:ext cx="2943454" cy="4095598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695298" y="4800600"/>
            <a:ext cx="26005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695298" y="5124298"/>
            <a:ext cx="26005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산출물 정의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1695298" y="5789066"/>
            <a:ext cx="2600554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종료 시점에 학습자 손에 무엇이 있어야 하는가.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695298" y="6586423"/>
            <a:ext cx="26005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 1개</a:t>
            </a:r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정의.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98518" y="4572000"/>
            <a:ext cx="2943454" cy="4095598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4770425" y="4800600"/>
            <a:ext cx="26005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770425" y="5124298"/>
            <a:ext cx="26005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역설계 (Backward)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4770425" y="5789066"/>
            <a:ext cx="2600554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산출물에서 거꾸로 빼며 ‘반드시 알아야 할 개념·도구’만 추린다.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770425" y="6586423"/>
            <a:ext cx="26005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나머지는 자료로 이전.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673645" y="4572000"/>
            <a:ext cx="2943454" cy="4095598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7844638" y="4800600"/>
            <a:ext cx="26005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844638" y="5124298"/>
            <a:ext cx="26005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 → 분기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7844638" y="5789066"/>
            <a:ext cx="2600554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진단 5분으로 학습자를 2~3그룹으로 나눈다.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844638" y="6586423"/>
            <a:ext cx="28858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안에서 ‘맞춤 경로’가 작동.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10747858" y="4572000"/>
            <a:ext cx="2943454" cy="4095598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10919765" y="4800600"/>
            <a:ext cx="26005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04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0919765" y="5124298"/>
            <a:ext cx="26005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+ 즉시 피드백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10919765" y="5789066"/>
            <a:ext cx="2600554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30분 단위로 ‘실습 → 피드백 → 보완’ 사이클.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0919765" y="6586423"/>
            <a:ext cx="2600554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강사가 한 명씩 ‘잠깐’ 봐주는 시간 확보.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3822985" y="4572000"/>
            <a:ext cx="2943454" cy="4095598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13993978" y="5124298"/>
            <a:ext cx="26005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 + 후속</a:t>
            </a:r>
            <a:endParaRPr lang="en-US" sz="1900" dirty="0"/>
          </a:p>
        </p:txBody>
      </p:sp>
      <p:sp>
        <p:nvSpPr>
          <p:cNvPr id="31" name="Text 28"/>
          <p:cNvSpPr txBox="1"/>
          <p:nvPr/>
        </p:nvSpPr>
        <p:spPr>
          <a:xfrm>
            <a:off x="13993978" y="4800600"/>
            <a:ext cx="26005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05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13993978" y="5789066"/>
            <a:ext cx="26005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전체 공유 (5분/팀).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3993978" y="6320333"/>
            <a:ext cx="2600554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사후 코칭 1회로 ‘월요일 적용’까지 책임진다.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4 미래전략</a:t>
            </a:r>
            <a:endParaRPr lang="en-US" sz="13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8959291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 · 미래전략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52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6599103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실서비스 기반 강의 — ‘진짜 도구로 진짜 결과를’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054096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가짜 예제·연습 데이터의 시대는 끝났다. 학습자는 ‘자기 데이터·실제 도구’로 작동하는 결과를 원한다.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524305" y="4006901"/>
            <a:ext cx="7534656" cy="2533802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524305" y="4006901"/>
            <a:ext cx="57607" cy="253380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9229954" y="4006901"/>
            <a:ext cx="7534656" cy="2533802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9229954" y="4006901"/>
            <a:ext cx="57607" cy="253380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524305" y="6711696"/>
            <a:ext cx="7534656" cy="2533802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1524305" y="6711696"/>
            <a:ext cx="57607" cy="253380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9229954" y="6711696"/>
            <a:ext cx="7534656" cy="2533802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828800" y="4320540"/>
            <a:ext cx="12573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ELEMENT 1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828800" y="4835347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도구 사용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828800" y="5530291"/>
            <a:ext cx="66294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강의용 ‘가상 도구’ ✗ → ChatGPT · Claude · Notion · Make · n8n 등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828800" y="5930798"/>
            <a:ext cx="49917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학습자가 강의 후에도 계속 쓸 도구를 그대로 사용.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534449" y="4320540"/>
            <a:ext cx="12573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ELEMENT 2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9534449" y="4835347"/>
            <a:ext cx="298734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 데이터로 실습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9534449" y="5530291"/>
            <a:ext cx="383956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교재의 가상 데이터 ✗ → 사전에 안내된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534449" y="5930798"/>
            <a:ext cx="460766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 업무 자료·문서·메일·보고서로 직접 실습.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828800" y="7026250"/>
            <a:ext cx="12573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ELEMENT 3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828800" y="7540142"/>
            <a:ext cx="2350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 사이트·앱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1828800" y="8236001"/>
            <a:ext cx="491947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강사가 운영하는 ‘공개 샘플 사이트·앱’으로 시연.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828800" y="8635594"/>
            <a:ext cx="599937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학습자도 강의 후 그 사이트에 자기 결과물을 올려볼 수 있다.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9477756" y="7540142"/>
            <a:ext cx="182057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진짜 결과물</a:t>
            </a:r>
            <a:endParaRPr lang="en-US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9477756" y="7026250"/>
            <a:ext cx="12573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ELEMENT 4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9477756" y="8236001"/>
            <a:ext cx="782360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끝난 직후 학습자가 ‘이거 월요일에 그대로 쓸 수 있겠다’고 말하는 결과물.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9477756" y="8635594"/>
            <a:ext cx="338328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만족도가 아니라 ‘적용률’이 KPI.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4 미래전략</a:t>
            </a:r>
            <a:endParaRPr lang="en-US" sz="1300" dirty="0"/>
          </a:p>
        </p:txBody>
      </p:sp>
      <p:sp>
        <p:nvSpPr>
          <p:cNvPr id="3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 · 미래전략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53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강사는 ‘학습 경험 디자이너’다 — 4축 설계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237890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흐름 · 활동 · 피드백 · 성취 — 강의 1회 설계 시 반드시 다루어야 할 4개의 디자인 축.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524305" y="5029200"/>
            <a:ext cx="190469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524305" y="4572000"/>
            <a:ext cx="19056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축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29000" y="5029200"/>
            <a:ext cx="5143500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429000" y="4572000"/>
            <a:ext cx="514350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질문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572500" y="5029200"/>
            <a:ext cx="5143500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572500" y="4572000"/>
            <a:ext cx="514350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도구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3716000" y="5029200"/>
            <a:ext cx="3047695" cy="1920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3716000" y="4572000"/>
            <a:ext cx="30486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기준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524305" y="6077102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1524305" y="5048402"/>
            <a:ext cx="1905610" cy="8010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228600" rIns="15240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흐름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3429000" y="6077102"/>
            <a:ext cx="51435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3429000" y="5048402"/>
            <a:ext cx="5143500" cy="8010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286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60분이 어떻게 흘러가는가? 지루한 구간은 어디인가?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572500" y="6077102"/>
            <a:ext cx="51435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8572500" y="5048402"/>
            <a:ext cx="5143500" cy="8010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286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블록 6분할 (10분 × 6) · 에너지 곡선 · 휴식 배치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3716000" y="6077102"/>
            <a:ext cx="3047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13716000" y="5048402"/>
            <a:ext cx="3048610" cy="8010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286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15분 이상 듣기만 하는 구간이 없는가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524305" y="6943954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1524305" y="6086246"/>
            <a:ext cx="1905610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228600" rIns="15240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3429000" y="6943954"/>
            <a:ext cx="51435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3429000" y="6086246"/>
            <a:ext cx="5143500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286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학습자가 손·머리·입을 쓰는가?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8572500" y="6943954"/>
            <a:ext cx="51435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8572500" y="6086246"/>
            <a:ext cx="5143500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286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워크북 · 페어 토론 · 즉석 시연 · 갤러리워크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13716000" y="6943954"/>
            <a:ext cx="3047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13716000" y="6086246"/>
            <a:ext cx="3048610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286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 비중 50% 이상 확보되는가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1524305" y="7981798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1524305" y="6953098"/>
            <a:ext cx="1905610" cy="8010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228600" rIns="15240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피드백</a:t>
            </a:r>
            <a:endParaRPr lang="en-US" sz="2100" dirty="0"/>
          </a:p>
        </p:txBody>
      </p:sp>
      <p:sp>
        <p:nvSpPr>
          <p:cNvPr id="35" name="Shape 32"/>
          <p:cNvSpPr/>
          <p:nvPr/>
        </p:nvSpPr>
        <p:spPr>
          <a:xfrm>
            <a:off x="3429000" y="7981798"/>
            <a:ext cx="51435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3429000" y="6953098"/>
            <a:ext cx="5143500" cy="8010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286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학습자가 자기 결과를 ‘평가받는’ 순간이 있는가?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8572500" y="7981798"/>
            <a:ext cx="51435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8572500" y="6953098"/>
            <a:ext cx="5143500" cy="8010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286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1:1 코멘트 · 학습자 상호 피드백 · 체크리스트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13716000" y="7981798"/>
            <a:ext cx="3047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13716000" y="6953098"/>
            <a:ext cx="3048610" cy="8010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286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참여자당 1회 이상 피드백을 받는가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524305" y="7991856"/>
            <a:ext cx="190561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성취</a:t>
            </a:r>
            <a:endParaRPr lang="en-US" sz="2100" dirty="0"/>
          </a:p>
        </p:txBody>
      </p:sp>
      <p:sp>
        <p:nvSpPr>
          <p:cNvPr id="42" name="Text 39"/>
          <p:cNvSpPr txBox="1"/>
          <p:nvPr/>
        </p:nvSpPr>
        <p:spPr>
          <a:xfrm>
            <a:off x="3429000" y="7991856"/>
            <a:ext cx="51435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끝에 무엇이 손에 남는가?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8572500" y="7991856"/>
            <a:ext cx="51435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· 체크리스트 · 다음 행동 계획 1장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13716000" y="7991856"/>
            <a:ext cx="304861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‘이거 들고 가요!’라고 말할 수 있는가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4 미래전략</a:t>
            </a:r>
            <a:endParaRPr lang="en-US" sz="1300" dirty="0"/>
          </a:p>
        </p:txBody>
      </p:sp>
      <p:sp>
        <p:nvSpPr>
          <p:cNvPr id="4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 · 미래전략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54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학습자별 맞춤 — 4분류 ‘진입 분기’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143707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진단 5분으로 학습자를 4그룹으로 나누고, 각자 다른 ‘시작점’에서 출발하게 한다.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524305" y="4572000"/>
            <a:ext cx="3685946" cy="438180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524305" y="4572000"/>
            <a:ext cx="3685946" cy="384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733702" y="4858207"/>
            <a:ext cx="32671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GROUP 01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733702" y="5296205"/>
            <a:ext cx="32671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초보자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733702" y="5757977"/>
            <a:ext cx="32671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 만나는 분야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733702" y="6195974"/>
            <a:ext cx="3267151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진입 방식 · ‘큰 그림’부터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활동 · 단순 1회 실습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강사 개입 · 단계마다 안내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산출물 · 시도 결과 1장 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376672" y="4572000"/>
            <a:ext cx="3685946" cy="438180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376672" y="4572000"/>
            <a:ext cx="3685946" cy="384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5586070" y="4858207"/>
            <a:ext cx="32671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GROUP 02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586070" y="5296205"/>
            <a:ext cx="32671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실무자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5586070" y="5757977"/>
            <a:ext cx="32671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적용 단계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586070" y="6195974"/>
            <a:ext cx="3267151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진입 방식 · 자기 업무로 시작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활동 · 자기 자료로 실습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강사 개입 · 1:1 코멘트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산출물 · 업무 적용 1건 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229954" y="4572000"/>
            <a:ext cx="3685946" cy="438180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9229954" y="4572000"/>
            <a:ext cx="3685946" cy="3840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9439351" y="4858207"/>
            <a:ext cx="32671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GROUP 03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439351" y="5296205"/>
            <a:ext cx="32671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9439351" y="5757977"/>
            <a:ext cx="32671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단계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9439351" y="6195974"/>
            <a:ext cx="3267151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진입 방식 · 사례·수치부터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활동 · 시나리오 의사결정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강사 개입 · 압축적 토론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산출물 · 조직 도입안 1장 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13082321" y="4572000"/>
            <a:ext cx="3685946" cy="4381805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13291718" y="5257800"/>
            <a:ext cx="32671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교수자·강사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13291718" y="4819802"/>
            <a:ext cx="32671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GROUP 04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3291718" y="5719572"/>
            <a:ext cx="32671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‘다시 가르치는’ 단계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3291718" y="6157570"/>
            <a:ext cx="3267151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진입 방식 · 메타 설계부터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활동 · 강의안 설계 실습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강사 개입 · 교수법 코칭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산출물 · 자기 강의안 1개 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4 미래전략</a:t>
            </a:r>
            <a:endParaRPr lang="en-US" sz="1300" dirty="0"/>
          </a:p>
        </p:txBody>
      </p:sp>
      <p:sp>
        <p:nvSpPr>
          <p:cNvPr id="3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 · 미래전략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55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종료 ≠ 학습 종료 — 후속 4종 도구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619195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종료 후 D+0, D+7, D+30 — 3개 시점에 학습자에게 도달하는 4종 도구.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524305" y="4791456"/>
            <a:ext cx="190469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524305" y="4334256"/>
            <a:ext cx="19056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시점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29000" y="4791456"/>
            <a:ext cx="5715000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429000" y="4334256"/>
            <a:ext cx="571500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44000" y="4791456"/>
            <a:ext cx="5715000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9144000" y="4334256"/>
            <a:ext cx="571500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4859000" y="4791456"/>
            <a:ext cx="1904695" cy="1920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4859000" y="4334256"/>
            <a:ext cx="19056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524305" y="5915254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1524305" y="4809744"/>
            <a:ext cx="1905610" cy="8961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15900" tIns="215900" rIns="1524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D+0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직후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3429000" y="5915254"/>
            <a:ext cx="5715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3429000" y="4809744"/>
            <a:ext cx="5715000" cy="8961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159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체크리스트 1장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144000" y="5915254"/>
            <a:ext cx="5715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9144000" y="4809744"/>
            <a:ext cx="5715000" cy="8961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159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‘이번 주 안에 해야 할 7가지’ — 강의 직후 1장으로 압축, 종이로 손에 들려보낸다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4859000" y="5915254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14859000" y="4809744"/>
            <a:ext cx="1905610" cy="8961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159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즉각적 행동 유발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524305" y="7029907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1524305" y="5924398"/>
            <a:ext cx="1905610" cy="8961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15900" tIns="215900" rIns="1524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D+0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직후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3429000" y="7029907"/>
            <a:ext cx="5715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3429000" y="5924398"/>
            <a:ext cx="5715000" cy="8961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159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갤러리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9144000" y="7029907"/>
            <a:ext cx="5715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9144000" y="5924398"/>
            <a:ext cx="5715000" cy="8961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159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중 만들어진 산출물의 사진·링크를 노션 페이지에 정리해서 전체 공유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14859000" y="7029907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14859000" y="5924398"/>
            <a:ext cx="1905610" cy="8961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159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동기 유지 · 상호 학습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1524305" y="8144561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1524305" y="7039051"/>
            <a:ext cx="1905610" cy="8961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15900" tIns="215900" rIns="1524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D+7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1주일 후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3429000" y="8144561"/>
            <a:ext cx="5715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3429000" y="7039051"/>
            <a:ext cx="5715000" cy="8961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159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후속 메일·뉴스레터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9144000" y="8144561"/>
            <a:ext cx="5715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9144000" y="7039051"/>
            <a:ext cx="5715000" cy="8961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159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‘이번 주 적용 결과 어떠셨나요?’ + 사례 1개 + 보너스 자료 1건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14859000" y="8144561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14859000" y="7039051"/>
            <a:ext cx="1905610" cy="8961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159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 지속 · 후기 수집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524305" y="8153705"/>
            <a:ext cx="190561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D+30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달 후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3429000" y="8153705"/>
            <a:ext cx="571500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후속 코칭 1회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9144000" y="8153705"/>
            <a:ext cx="571500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30분 1:1 또는 그룹 — 학습자 적용 사례 점검 + 다음 단계 안내. </a:t>
            </a:r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유료 옵션화 가능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14859000" y="8153705"/>
            <a:ext cx="190561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재의뢰·다음 상품 전환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4 미래전략</a:t>
            </a:r>
            <a:endParaRPr lang="en-US" sz="1300" dirty="0"/>
          </a:p>
        </p:txBody>
      </p:sp>
      <p:sp>
        <p:nvSpPr>
          <p:cNvPr id="4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 · 미래전략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56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강사의 미래 수익 5채널 분포 모델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129991"/>
            <a:ext cx="354878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단일 채널 의존을 깬다.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625596"/>
            <a:ext cx="830366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5채널 + 권장 비중 + 안정성으로 본인의 수익 포트폴리오를 설계한다.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524305" y="5029200"/>
            <a:ext cx="190469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524305" y="4572000"/>
            <a:ext cx="19056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채널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29000" y="5029200"/>
            <a:ext cx="533369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3429000" y="4572000"/>
            <a:ext cx="53346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62695" y="5029200"/>
            <a:ext cx="133319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762695" y="4572000"/>
            <a:ext cx="13341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비중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0096805" y="5029200"/>
            <a:ext cx="133319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10096805" y="4572000"/>
            <a:ext cx="13341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현금 회전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1430000" y="5029200"/>
            <a:ext cx="5333695" cy="1920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11430000" y="4572000"/>
            <a:ext cx="53346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포인트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524305" y="5734202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1524305" y="5048402"/>
            <a:ext cx="1905610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524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수입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3429000" y="5734202"/>
            <a:ext cx="5333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3429000" y="5048402"/>
            <a:ext cx="5334610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강의·워크숍 진행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8762695" y="5734202"/>
            <a:ext cx="1333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8762695" y="5048402"/>
            <a:ext cx="1334110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40~50%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10096805" y="5734202"/>
            <a:ext cx="1333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10096805" y="5048402"/>
            <a:ext cx="1334110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11430000" y="5734202"/>
            <a:ext cx="5333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11430000" y="5048402"/>
            <a:ext cx="5334610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단가는 ‘재의뢰율’로 지킨다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1524305" y="6429146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1524305" y="5743346"/>
            <a:ext cx="1905610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524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컨설팅·코칭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3429000" y="6429146"/>
            <a:ext cx="5333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3429000" y="5743346"/>
            <a:ext cx="5334610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도입·1:1 코칭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8762695" y="6429146"/>
            <a:ext cx="1333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8762695" y="5743346"/>
            <a:ext cx="1334110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20~25%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10096805" y="6429146"/>
            <a:ext cx="1333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10096805" y="5743346"/>
            <a:ext cx="1334110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단위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11430000" y="6429146"/>
            <a:ext cx="5333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 txBox="1"/>
          <p:nvPr/>
        </p:nvSpPr>
        <p:spPr>
          <a:xfrm>
            <a:off x="11430000" y="5743346"/>
            <a:ext cx="5334610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→ 컨설팅 자연 전환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1524305" y="7125005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 txBox="1"/>
          <p:nvPr/>
        </p:nvSpPr>
        <p:spPr>
          <a:xfrm>
            <a:off x="1524305" y="6439205"/>
            <a:ext cx="1905610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524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교재·도서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3429000" y="7125005"/>
            <a:ext cx="5333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 txBox="1"/>
          <p:nvPr/>
        </p:nvSpPr>
        <p:spPr>
          <a:xfrm>
            <a:off x="3429000" y="6439205"/>
            <a:ext cx="5334610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자체 교재·출판물·인쇄판매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8762695" y="7125005"/>
            <a:ext cx="1333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 txBox="1"/>
          <p:nvPr/>
        </p:nvSpPr>
        <p:spPr>
          <a:xfrm>
            <a:off x="8762695" y="6439205"/>
            <a:ext cx="1334110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10%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10096805" y="7125005"/>
            <a:ext cx="1333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 txBox="1"/>
          <p:nvPr/>
        </p:nvSpPr>
        <p:spPr>
          <a:xfrm>
            <a:off x="10096805" y="6439205"/>
            <a:ext cx="1334110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단위</a:t>
            </a:r>
            <a:endParaRPr lang="en-US" sz="1500" dirty="0"/>
          </a:p>
        </p:txBody>
      </p:sp>
      <p:sp>
        <p:nvSpPr>
          <p:cNvPr id="48" name="Shape 45"/>
          <p:cNvSpPr/>
          <p:nvPr/>
        </p:nvSpPr>
        <p:spPr>
          <a:xfrm>
            <a:off x="11430000" y="7125005"/>
            <a:ext cx="5333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 txBox="1"/>
          <p:nvPr/>
        </p:nvSpPr>
        <p:spPr>
          <a:xfrm>
            <a:off x="11430000" y="6439205"/>
            <a:ext cx="5334610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‘책 = 명함’ 효과까지 고려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1524305" y="7819949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Text 48"/>
          <p:cNvSpPr txBox="1"/>
          <p:nvPr/>
        </p:nvSpPr>
        <p:spPr>
          <a:xfrm>
            <a:off x="1524305" y="7134149"/>
            <a:ext cx="1905610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524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 콘텐츠</a:t>
            </a:r>
            <a:endParaRPr lang="en-US" sz="1800" dirty="0"/>
          </a:p>
        </p:txBody>
      </p:sp>
      <p:sp>
        <p:nvSpPr>
          <p:cNvPr id="52" name="Shape 49"/>
          <p:cNvSpPr/>
          <p:nvPr/>
        </p:nvSpPr>
        <p:spPr>
          <a:xfrm>
            <a:off x="3429000" y="7819949"/>
            <a:ext cx="5333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0"/>
          <p:cNvSpPr txBox="1"/>
          <p:nvPr/>
        </p:nvSpPr>
        <p:spPr>
          <a:xfrm>
            <a:off x="3429000" y="7134149"/>
            <a:ext cx="5334610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온라인 강의·템플릿·뉴스레터 유료</a:t>
            </a:r>
            <a:endParaRPr lang="en-US" sz="1500" dirty="0"/>
          </a:p>
        </p:txBody>
      </p:sp>
      <p:sp>
        <p:nvSpPr>
          <p:cNvPr id="54" name="Shape 51"/>
          <p:cNvSpPr/>
          <p:nvPr/>
        </p:nvSpPr>
        <p:spPr>
          <a:xfrm>
            <a:off x="8762695" y="7819949"/>
            <a:ext cx="1333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Text 52"/>
          <p:cNvSpPr txBox="1"/>
          <p:nvPr/>
        </p:nvSpPr>
        <p:spPr>
          <a:xfrm>
            <a:off x="8762695" y="7134149"/>
            <a:ext cx="1334110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10~15%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10096805" y="7819949"/>
            <a:ext cx="1333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Text 54"/>
          <p:cNvSpPr txBox="1"/>
          <p:nvPr/>
        </p:nvSpPr>
        <p:spPr>
          <a:xfrm>
            <a:off x="10096805" y="7134149"/>
            <a:ext cx="1334110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정기</a:t>
            </a:r>
            <a:endParaRPr lang="en-US" sz="1500" dirty="0"/>
          </a:p>
        </p:txBody>
      </p:sp>
      <p:sp>
        <p:nvSpPr>
          <p:cNvPr id="58" name="Shape 55"/>
          <p:cNvSpPr/>
          <p:nvPr/>
        </p:nvSpPr>
        <p:spPr>
          <a:xfrm>
            <a:off x="11430000" y="7819949"/>
            <a:ext cx="5333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" name="Text 56"/>
          <p:cNvSpPr txBox="1"/>
          <p:nvPr/>
        </p:nvSpPr>
        <p:spPr>
          <a:xfrm>
            <a:off x="11430000" y="7134149"/>
            <a:ext cx="5334610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유일하게 ‘자는 동안 작동’하는 채널</a:t>
            </a:r>
            <a:endParaRPr lang="en-US" sz="1500" dirty="0"/>
          </a:p>
        </p:txBody>
      </p:sp>
      <p:sp>
        <p:nvSpPr>
          <p:cNvPr id="60" name="Text 57"/>
          <p:cNvSpPr txBox="1"/>
          <p:nvPr/>
        </p:nvSpPr>
        <p:spPr>
          <a:xfrm>
            <a:off x="1524305" y="7830007"/>
            <a:ext cx="1905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플랫폼·제휴</a:t>
            </a:r>
            <a:endParaRPr lang="en-US" sz="1800" dirty="0"/>
          </a:p>
        </p:txBody>
      </p:sp>
      <p:sp>
        <p:nvSpPr>
          <p:cNvPr id="61" name="Text 58"/>
          <p:cNvSpPr txBox="1"/>
          <p:nvPr/>
        </p:nvSpPr>
        <p:spPr>
          <a:xfrm>
            <a:off x="3429000" y="7830007"/>
            <a:ext cx="5334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플랫폼 · 강사 매칭 · 광고</a:t>
            </a:r>
            <a:endParaRPr lang="en-US" sz="1500" dirty="0"/>
          </a:p>
        </p:txBody>
      </p:sp>
      <p:sp>
        <p:nvSpPr>
          <p:cNvPr id="62" name="Text 59"/>
          <p:cNvSpPr txBox="1"/>
          <p:nvPr/>
        </p:nvSpPr>
        <p:spPr>
          <a:xfrm>
            <a:off x="8762695" y="7830007"/>
            <a:ext cx="13341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5~10%</a:t>
            </a:r>
            <a:endParaRPr lang="en-US" sz="1500" dirty="0"/>
          </a:p>
        </p:txBody>
      </p:sp>
      <p:sp>
        <p:nvSpPr>
          <p:cNvPr id="63" name="Text 60"/>
          <p:cNvSpPr txBox="1"/>
          <p:nvPr/>
        </p:nvSpPr>
        <p:spPr>
          <a:xfrm>
            <a:off x="10096805" y="7830007"/>
            <a:ext cx="13341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불규칙</a:t>
            </a:r>
            <a:endParaRPr lang="en-US" sz="1500" dirty="0"/>
          </a:p>
        </p:txBody>
      </p:sp>
      <p:sp>
        <p:nvSpPr>
          <p:cNvPr id="64" name="Text 61"/>
          <p:cNvSpPr txBox="1"/>
          <p:nvPr/>
        </p:nvSpPr>
        <p:spPr>
          <a:xfrm>
            <a:off x="11430000" y="7830007"/>
            <a:ext cx="5334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의존 ✗, 노출 채널로만 활용</a:t>
            </a:r>
            <a:endParaRPr lang="en-US" sz="1500" dirty="0"/>
          </a:p>
        </p:txBody>
      </p:sp>
      <p:sp>
        <p:nvSpPr>
          <p:cNvPr id="65" name="Text 62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4 미래전략 · 비중은 권장값, 분야별 편차 존재</a:t>
            </a:r>
            <a:endParaRPr lang="en-US" sz="1300" dirty="0"/>
          </a:p>
        </p:txBody>
      </p:sp>
      <p:sp>
        <p:nvSpPr>
          <p:cNvPr id="6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 · 미래전략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57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1회성 강의 → ‘12개월 관계 모델’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638398"/>
            <a:ext cx="15240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점이 선이 되는 방식으로 강의를 ‘프로그램화’한다</a:t>
            </a:r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209544"/>
            <a:ext cx="469635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강의 = 12개월 학습 여정의 ‘1개 점’.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524305" y="4572000"/>
            <a:ext cx="3685946" cy="438180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1524305" y="4572000"/>
            <a:ext cx="3685946" cy="57607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5376672" y="4572000"/>
            <a:ext cx="3685946" cy="438180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5376672" y="4572000"/>
            <a:ext cx="3685946" cy="57607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9229954" y="4572000"/>
            <a:ext cx="3685946" cy="438180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9229954" y="4572000"/>
            <a:ext cx="3685946" cy="57607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3082321" y="4572000"/>
            <a:ext cx="3685946" cy="4381805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1733702" y="4943246"/>
            <a:ext cx="9336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MONTH 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733702" y="5437022"/>
            <a:ext cx="10250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강의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1733702" y="6101791"/>
            <a:ext cx="206563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시그니처 강의 8시간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733702" y="6481267"/>
            <a:ext cx="248259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산출물 1건 + 체크리스트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733702" y="6861658"/>
            <a:ext cx="247802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사후 코칭 1회 옵션 안내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733702" y="7521854"/>
            <a:ext cx="88879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시간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2450592" y="7521854"/>
            <a:ext cx="44257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8h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586070" y="4943246"/>
            <a:ext cx="11814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MONTH 2~3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586070" y="5437022"/>
            <a:ext cx="130850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후속 코칭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5586070" y="6101791"/>
            <a:ext cx="23244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30분 1:1 또는 그룹 코칭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586070" y="6481267"/>
            <a:ext cx="277703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적용 결과 점검 · 다음 단계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586070" y="6861658"/>
            <a:ext cx="157459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추가 사례 학습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586070" y="7521854"/>
            <a:ext cx="88879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시간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302959" y="7521854"/>
            <a:ext cx="74249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월 2h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439351" y="4943246"/>
            <a:ext cx="11814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MONTH 4~6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9439351" y="5437022"/>
            <a:ext cx="113751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커뮤니티</a:t>
            </a:r>
            <a:endParaRPr lang="en-US" sz="2100" dirty="0"/>
          </a:p>
        </p:txBody>
      </p:sp>
      <p:sp>
        <p:nvSpPr>
          <p:cNvPr id="33" name="Text 30"/>
          <p:cNvSpPr txBox="1"/>
          <p:nvPr/>
        </p:nvSpPr>
        <p:spPr>
          <a:xfrm>
            <a:off x="9439351" y="6101791"/>
            <a:ext cx="206563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동기·이전 기수 모임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9439351" y="6481267"/>
            <a:ext cx="20610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월간 사례 공유 세션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9439351" y="6861658"/>
            <a:ext cx="19485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학습자 간 네트워킹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9439351" y="7521854"/>
            <a:ext cx="88879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시간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10156241" y="7521854"/>
            <a:ext cx="74249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월 1h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13291718" y="5379415"/>
            <a:ext cx="159288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고도화 과정</a:t>
            </a:r>
            <a:endParaRPr lang="en-US" sz="2100" dirty="0"/>
          </a:p>
        </p:txBody>
      </p:sp>
      <p:sp>
        <p:nvSpPr>
          <p:cNvPr id="39" name="Text 36"/>
          <p:cNvSpPr txBox="1"/>
          <p:nvPr/>
        </p:nvSpPr>
        <p:spPr>
          <a:xfrm>
            <a:off x="13291718" y="4886554"/>
            <a:ext cx="1305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MONTH 7~12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13291718" y="6044184"/>
            <a:ext cx="23582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Tier 3 컨설팅·강사 양성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13291718" y="6424574"/>
            <a:ext cx="29617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다음 기수 강의에 ‘보조’ 참여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13291718" y="6804050"/>
            <a:ext cx="267187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본인 사례 → 강사 콘텐츠로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13291718" y="7465162"/>
            <a:ext cx="88879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시간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14008608" y="7465162"/>
            <a:ext cx="92263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분기 4h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4 미래전략</a:t>
            </a:r>
            <a:endParaRPr lang="en-US" sz="1300" dirty="0"/>
          </a:p>
        </p:txBody>
      </p:sp>
      <p:sp>
        <p:nvSpPr>
          <p:cNvPr id="4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 · 미래전략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58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강사의 평판 — 4영역 운영 원칙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029407"/>
            <a:ext cx="533186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강사의 평판은 ‘만든다’가 아니라 ‘쌓는다’.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524098"/>
            <a:ext cx="503468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 강의·매 응대가 평판 통장의 적립이다.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524305" y="4334256"/>
            <a:ext cx="7534656" cy="2542946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1524305" y="4334256"/>
            <a:ext cx="57607" cy="254294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1828800" y="4600346"/>
            <a:ext cx="6982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AREA 1 · 약속 준수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828800" y="4972507"/>
            <a:ext cx="69823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‘시간·일정·전달물’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1828800" y="5429707"/>
            <a:ext cx="6982358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기준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강의 5분 전 도착, 1분도 늦지 않음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사전 제출물·자료 D-day 24h 전 송부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사후 보고는 종료 후 1주일 내 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9229954" y="4334256"/>
            <a:ext cx="7534656" cy="2542946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9229954" y="4334256"/>
            <a:ext cx="57607" cy="254294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9534449" y="4600346"/>
            <a:ext cx="6982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AREA 2 · 자료 품질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534449" y="4972507"/>
            <a:ext cx="69823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‘오타·인용·출처’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9534449" y="5429707"/>
            <a:ext cx="6982358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기준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슬라이드·교재의 오타 0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출처 표기 누락 없음 (저작권 사고 0)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기관 로고·CI 사용 사전 합의 필수 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1524305" y="7048195"/>
            <a:ext cx="7534656" cy="2542946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524305" y="7048195"/>
            <a:ext cx="57607" cy="254294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1828800" y="7315200"/>
            <a:ext cx="6982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AREA 3 · 커뮤니케이션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828800" y="7686446"/>
            <a:ext cx="69823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‘응답·말투·기록’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1828800" y="8143646"/>
            <a:ext cx="6982358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기준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문의 응답 24시간 이내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메신저보다 이메일로 ‘기록 가능’하게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기관 내부자에게도 학습자 응대 톤 유지 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9229954" y="7048195"/>
            <a:ext cx="7534656" cy="2542946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9477756" y="7686446"/>
            <a:ext cx="70390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‘비밀·정치·험담’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9477756" y="7315200"/>
            <a:ext cx="70390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AREA 4 · 윤리·관계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9477756" y="8143646"/>
            <a:ext cx="7039051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기준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기관·학습자 정보의 사외 발설 ✗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정치·종교·민감 주제의 사적 의견 ✗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다른 강사·기관 험담 ✗ — 단 한 번이 끝 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4 미래전략</a:t>
            </a:r>
            <a:endParaRPr lang="en-US" sz="13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 · 미래전략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59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성장 전략 — 4L 모델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143707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Learn · Log · Lab · Lead — 매주 이 4가지를 같은 비중으로 도는 것이 강사의 성장 곡선이다.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524305" y="3967582"/>
            <a:ext cx="3685946" cy="438180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524305" y="3967582"/>
            <a:ext cx="3685946" cy="57607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752905" y="4291279"/>
            <a:ext cx="32296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LEARN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752905" y="4767682"/>
            <a:ext cx="32296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배운다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752905" y="5229454"/>
            <a:ext cx="3229661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 1회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새 도구·논문·강의 1건 학습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동료 강사의 강의 1회 참관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본인 분야 외 1편 흡수 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376672" y="3967582"/>
            <a:ext cx="3685946" cy="438180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5376672" y="3967582"/>
            <a:ext cx="3685946" cy="57607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605272" y="4291279"/>
            <a:ext cx="32296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605272" y="4767682"/>
            <a:ext cx="32296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기록한다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5605272" y="5229454"/>
            <a:ext cx="3229661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 1회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강의 회고 메모 1편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사례 카드 1장 (STAR-R)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칼럼 초안 1편 (격주) 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229954" y="3967582"/>
            <a:ext cx="3685946" cy="438180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9229954" y="3967582"/>
            <a:ext cx="3685946" cy="57607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9458554" y="4291279"/>
            <a:ext cx="32296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LAB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9458554" y="4767682"/>
            <a:ext cx="32296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실험한다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9458554" y="5229454"/>
            <a:ext cx="3229661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1회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새 강의 모듈 시범 1회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새 도구 강의에 도입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신규 대상군 강의 1회 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3082321" y="3967582"/>
            <a:ext cx="3685946" cy="4381805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13310921" y="4710074"/>
            <a:ext cx="32296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이끈다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13310921" y="4233672"/>
            <a:ext cx="32296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LEAD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3310921" y="5171846"/>
            <a:ext cx="3229661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1회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강사 커뮤니티·스터디 운영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후배 강사 1:1 멘토링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외부 발표·기고로 영향력 확장 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4 미래전략</a:t>
            </a:r>
            <a:endParaRPr lang="en-US" sz="13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 · 미래전략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앞으로 5년, 강사에게 필요한 역량 지도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014777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기본기 · 도구 · 데이터 · 콘텐츠 · 비즈니스 — 5개 축. 현재 수준을 진단하고 90일 단위로 1축씩 보완한다.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524305" y="4357116"/>
            <a:ext cx="209580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524305" y="3899916"/>
            <a:ext cx="2095805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역량 축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19195" y="4357116"/>
            <a:ext cx="552480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619195" y="3899916"/>
            <a:ext cx="5524805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능력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44000" y="4357116"/>
            <a:ext cx="552480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9144000" y="3899916"/>
            <a:ext cx="5524805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90일 학습 과제 (예시)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4668805" y="4357116"/>
            <a:ext cx="2095805" cy="1920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4668805" y="3899916"/>
            <a:ext cx="2095805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지표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524305" y="5290718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1524305" y="4376318"/>
            <a:ext cx="2095805" cy="7434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524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기본기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3619195" y="5290718"/>
            <a:ext cx="5524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3619195" y="4376318"/>
            <a:ext cx="5524805" cy="7434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설계 · 교수법 · 발성·전달력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144000" y="5290718"/>
            <a:ext cx="5524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9144000" y="4376318"/>
            <a:ext cx="5524805" cy="7434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설계 워크북 1권 완독 + 강의안 1개 재설계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4668805" y="5290718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14668805" y="4376318"/>
            <a:ext cx="2095805" cy="7434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 만족도 · 재의뢰율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524305" y="6214262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1524305" y="5299862"/>
            <a:ext cx="2095805" cy="7434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524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3619195" y="6214262"/>
            <a:ext cx="5524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3619195" y="5299862"/>
            <a:ext cx="5524805" cy="7434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· 자동화 · 협업 도구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9144000" y="6214262"/>
            <a:ext cx="5524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9144000" y="5299862"/>
            <a:ext cx="5524805" cy="7434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1개의 새 도구 강의에 도입 — 90일 3개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14668805" y="6214262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14668805" y="5299862"/>
            <a:ext cx="2095805" cy="7434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준비 시간 절감 %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1524305" y="7138721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1524305" y="6224321"/>
            <a:ext cx="2095805" cy="7434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524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3619195" y="7138721"/>
            <a:ext cx="5524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3619195" y="6224321"/>
            <a:ext cx="5524805" cy="7434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 데이터 해석 · 강의 개선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9144000" y="7138721"/>
            <a:ext cx="5524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9144000" y="6224321"/>
            <a:ext cx="5524805" cy="7434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 설문 → 결과 분석 → 강의 개선 사이클 1회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14668805" y="7138721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14668805" y="6224321"/>
            <a:ext cx="2095805" cy="7434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후 적용률·만족도 추이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1524305" y="8062265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 txBox="1"/>
          <p:nvPr/>
        </p:nvSpPr>
        <p:spPr>
          <a:xfrm>
            <a:off x="1524305" y="7147865"/>
            <a:ext cx="2095805" cy="7434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524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</a:t>
            </a:r>
            <a:endParaRPr lang="en-US" sz="1800" dirty="0"/>
          </a:p>
        </p:txBody>
      </p:sp>
      <p:sp>
        <p:nvSpPr>
          <p:cNvPr id="43" name="Shape 40"/>
          <p:cNvSpPr/>
          <p:nvPr/>
        </p:nvSpPr>
        <p:spPr>
          <a:xfrm>
            <a:off x="3619195" y="8062265"/>
            <a:ext cx="5524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 txBox="1"/>
          <p:nvPr/>
        </p:nvSpPr>
        <p:spPr>
          <a:xfrm>
            <a:off x="3619195" y="7147865"/>
            <a:ext cx="5524805" cy="7434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카드 · 칼럼 · 영상화 능력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9144000" y="8062265"/>
            <a:ext cx="5524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 txBox="1"/>
          <p:nvPr/>
        </p:nvSpPr>
        <p:spPr>
          <a:xfrm>
            <a:off x="9144000" y="7147865"/>
            <a:ext cx="5524805" cy="7434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카드 12장 + 칼럼 6편 + 영상 클립 3편</a:t>
            </a:r>
            <a:endParaRPr lang="en-US" sz="1500" dirty="0"/>
          </a:p>
        </p:txBody>
      </p:sp>
      <p:sp>
        <p:nvSpPr>
          <p:cNvPr id="47" name="Shape 44"/>
          <p:cNvSpPr/>
          <p:nvPr/>
        </p:nvSpPr>
        <p:spPr>
          <a:xfrm>
            <a:off x="14668805" y="8062265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Text 45"/>
          <p:cNvSpPr txBox="1"/>
          <p:nvPr/>
        </p:nvSpPr>
        <p:spPr>
          <a:xfrm>
            <a:off x="14668805" y="7147865"/>
            <a:ext cx="2095805" cy="7434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노출·신규 의뢰 채널 수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1524305" y="8071409"/>
            <a:ext cx="20958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</a:t>
            </a:r>
            <a:endParaRPr lang="en-US" sz="1800" dirty="0"/>
          </a:p>
        </p:txBody>
      </p:sp>
      <p:sp>
        <p:nvSpPr>
          <p:cNvPr id="50" name="Text 47"/>
          <p:cNvSpPr txBox="1"/>
          <p:nvPr/>
        </p:nvSpPr>
        <p:spPr>
          <a:xfrm>
            <a:off x="3619195" y="8071409"/>
            <a:ext cx="55248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제안서 · 단가 · 수익 구조</a:t>
            </a:r>
            <a:endParaRPr lang="en-US" sz="1500" dirty="0"/>
          </a:p>
        </p:txBody>
      </p:sp>
      <p:sp>
        <p:nvSpPr>
          <p:cNvPr id="51" name="Text 48"/>
          <p:cNvSpPr txBox="1"/>
          <p:nvPr/>
        </p:nvSpPr>
        <p:spPr>
          <a:xfrm>
            <a:off x="9144000" y="8071409"/>
            <a:ext cx="55248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제안서 템플릿 갱신 + 단가표 재설계 + 신규 채널 1개</a:t>
            </a:r>
            <a:endParaRPr lang="en-US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14668805" y="8071409"/>
            <a:ext cx="20958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시간당 단가 · 수익 다각화율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PART 4 미래전략</a:t>
            </a:r>
            <a:endParaRPr lang="en-US" sz="1300" dirty="0"/>
          </a:p>
        </p:txBody>
      </p:sp>
      <p:sp>
        <p:nvSpPr>
          <p:cNvPr id="5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24305" y="4572000"/>
            <a:ext cx="9905695" cy="4762195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811305" y="4572000"/>
            <a:ext cx="4953305" cy="4762195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PRACTICE · 01 OF 06 · 5분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61 / 70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1904695"/>
            <a:ext cx="152403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spc="-112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1 · 나의 강사 정체성 한 문장</a:t>
            </a:r>
            <a:endParaRPr lang="en-US" sz="45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3001975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21번 슬라이드의 4-PART 공식(대상+문제+해결+성과)을 활용해 본인의 정체성 문장을 작성한다.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904695" y="4953305"/>
            <a:ext cx="9144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 양식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904695" y="5400446"/>
            <a:ext cx="9144000" cy="3124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“</a:t>
            </a:r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[대상 — 누구를]</a:t>
            </a:r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[문제 — 어떤 막힘을]</a:t>
            </a:r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을,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[해결 — 어떤 방식으로]</a:t>
            </a:r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풀어,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[성과 — 무엇이 남게]</a:t>
            </a:r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한다.” 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081174" y="5514746"/>
            <a:ext cx="138348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[대상 — 누구를]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962302" y="6402629"/>
            <a:ext cx="189189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[문제 — 어떤 막힘을]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962302" y="7290511"/>
            <a:ext cx="206928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[해결 — 어떤 방식으로]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962302" y="8177479"/>
            <a:ext cx="189189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[성과 — 무엇이 남게]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2191695" y="4953305"/>
            <a:ext cx="4191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 팁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191695" y="5400446"/>
            <a:ext cx="4191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대상은 ‘직장인’이 아니라 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2191695" y="5724144"/>
            <a:ext cx="4191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‘마케팅 5년 차 실무자’처럼 좁힐 것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2191695" y="6372454"/>
            <a:ext cx="4191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문제는 ‘추상’이 아니라 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2191695" y="6696151"/>
            <a:ext cx="4191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‘월요일 업무 장면’으로 적을 것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191695" y="7343546"/>
            <a:ext cx="4191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해결은 ‘방법론 이름’이 아니라 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2191695" y="7667244"/>
            <a:ext cx="4191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‘체감 동사’로 적을 것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2191695" y="8315554"/>
            <a:ext cx="4191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성과는 ‘만족도’가 아니라 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2191695" y="8639251"/>
            <a:ext cx="4191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‘손에 남는 것’으로 적을 것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실습 1</a:t>
            </a:r>
            <a:endParaRPr lang="en-US" sz="13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PRACTICE · 02 OF 06 · 5분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62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spc="-112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2 · 나의 전문분야 5개 정리</a:t>
            </a:r>
            <a:endParaRPr lang="en-US" sz="45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209544"/>
            <a:ext cx="649132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22번의 ‘좁히는 기준 3가지’로 본인 분야를 점검한다.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705149"/>
            <a:ext cx="494599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표에 채우고, 빠질 분야는 부록으로.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524305" y="4868266"/>
            <a:ext cx="76169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524305" y="4411066"/>
            <a:ext cx="7626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286000" y="4868266"/>
            <a:ext cx="361919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2286000" y="4411066"/>
            <a:ext cx="36201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분야명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05195" y="4868266"/>
            <a:ext cx="361919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905195" y="4411066"/>
            <a:ext cx="36201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의뢰 여부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525305" y="4868266"/>
            <a:ext cx="361919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9525305" y="4411066"/>
            <a:ext cx="36201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자신만의 사례 3개?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3144500" y="4868266"/>
            <a:ext cx="3619195" cy="1920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13144500" y="4411066"/>
            <a:ext cx="36201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자격·실적·콘텐츠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524305" y="5678424"/>
            <a:ext cx="76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1524305" y="4887468"/>
            <a:ext cx="762610" cy="5815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15900" tIns="215900" rIns="15240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2286000" y="5678424"/>
            <a:ext cx="3619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5905195" y="5678424"/>
            <a:ext cx="3619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9525305" y="5678424"/>
            <a:ext cx="3619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3144500" y="5678424"/>
            <a:ext cx="3619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524305" y="6478524"/>
            <a:ext cx="76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1524305" y="5687568"/>
            <a:ext cx="762610" cy="5815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15900" tIns="215900" rIns="15240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900" dirty="0"/>
          </a:p>
        </p:txBody>
      </p:sp>
      <p:sp>
        <p:nvSpPr>
          <p:cNvPr id="28" name="Shape 25"/>
          <p:cNvSpPr/>
          <p:nvPr/>
        </p:nvSpPr>
        <p:spPr>
          <a:xfrm>
            <a:off x="2286000" y="6478524"/>
            <a:ext cx="3619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5905195" y="6478524"/>
            <a:ext cx="3619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9525305" y="6478524"/>
            <a:ext cx="3619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13144500" y="6478524"/>
            <a:ext cx="3619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1524305" y="7278624"/>
            <a:ext cx="76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1524305" y="6487668"/>
            <a:ext cx="762610" cy="5815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15900" tIns="215900" rIns="15240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900" dirty="0"/>
          </a:p>
        </p:txBody>
      </p:sp>
      <p:sp>
        <p:nvSpPr>
          <p:cNvPr id="34" name="Shape 31"/>
          <p:cNvSpPr/>
          <p:nvPr/>
        </p:nvSpPr>
        <p:spPr>
          <a:xfrm>
            <a:off x="2286000" y="7278624"/>
            <a:ext cx="3619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5905195" y="7278624"/>
            <a:ext cx="3619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9525305" y="7278624"/>
            <a:ext cx="3619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3144500" y="7278624"/>
            <a:ext cx="3619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1524305" y="8078724"/>
            <a:ext cx="76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 txBox="1"/>
          <p:nvPr/>
        </p:nvSpPr>
        <p:spPr>
          <a:xfrm>
            <a:off x="1524305" y="7287768"/>
            <a:ext cx="762610" cy="5815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15900" tIns="215900" rIns="15240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900" dirty="0"/>
          </a:p>
        </p:txBody>
      </p:sp>
      <p:sp>
        <p:nvSpPr>
          <p:cNvPr id="40" name="Shape 37"/>
          <p:cNvSpPr/>
          <p:nvPr/>
        </p:nvSpPr>
        <p:spPr>
          <a:xfrm>
            <a:off x="2286000" y="8078724"/>
            <a:ext cx="3619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5905195" y="8078724"/>
            <a:ext cx="3619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9525305" y="8078724"/>
            <a:ext cx="3619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13144500" y="8078724"/>
            <a:ext cx="3619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 txBox="1"/>
          <p:nvPr/>
        </p:nvSpPr>
        <p:spPr>
          <a:xfrm>
            <a:off x="1524305" y="8087868"/>
            <a:ext cx="76261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900" dirty="0"/>
          </a:p>
        </p:txBody>
      </p:sp>
      <p:sp>
        <p:nvSpPr>
          <p:cNvPr id="45" name="Text 42"/>
          <p:cNvSpPr txBox="1"/>
          <p:nvPr/>
        </p:nvSpPr>
        <p:spPr>
          <a:xfrm>
            <a:off x="2438705" y="5096866"/>
            <a:ext cx="260969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______________________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6057900" y="5096866"/>
            <a:ext cx="90891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예/아니오</a:t>
            </a:r>
            <a:endParaRPr lang="en-US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9677095" y="5096866"/>
            <a:ext cx="90891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예/아니오</a:t>
            </a:r>
            <a:endParaRPr lang="en-US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13297205" y="5096866"/>
            <a:ext cx="260969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______________________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2438705" y="5896966"/>
            <a:ext cx="260969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______________________</a:t>
            </a:r>
            <a:endParaRPr lang="en-US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6057900" y="5896966"/>
            <a:ext cx="90891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예/아니오</a:t>
            </a:r>
            <a:endParaRPr lang="en-US" sz="1500" dirty="0"/>
          </a:p>
        </p:txBody>
      </p:sp>
      <p:sp>
        <p:nvSpPr>
          <p:cNvPr id="51" name="Text 48"/>
          <p:cNvSpPr txBox="1"/>
          <p:nvPr/>
        </p:nvSpPr>
        <p:spPr>
          <a:xfrm>
            <a:off x="9677095" y="5896966"/>
            <a:ext cx="90891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예/아니오</a:t>
            </a:r>
            <a:endParaRPr lang="en-US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13297205" y="5896966"/>
            <a:ext cx="260969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______________________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2438705" y="6697066"/>
            <a:ext cx="260969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______________________</a:t>
            </a:r>
            <a:endParaRPr lang="en-US" sz="1500" dirty="0"/>
          </a:p>
        </p:txBody>
      </p:sp>
      <p:sp>
        <p:nvSpPr>
          <p:cNvPr id="54" name="Text 51"/>
          <p:cNvSpPr txBox="1"/>
          <p:nvPr/>
        </p:nvSpPr>
        <p:spPr>
          <a:xfrm>
            <a:off x="6057900" y="6697066"/>
            <a:ext cx="90891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예/아니오</a:t>
            </a:r>
            <a:endParaRPr lang="en-US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9677095" y="6697066"/>
            <a:ext cx="90891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예/아니오</a:t>
            </a:r>
            <a:endParaRPr lang="en-US" sz="1500" dirty="0"/>
          </a:p>
        </p:txBody>
      </p:sp>
      <p:sp>
        <p:nvSpPr>
          <p:cNvPr id="56" name="Text 53"/>
          <p:cNvSpPr txBox="1"/>
          <p:nvPr/>
        </p:nvSpPr>
        <p:spPr>
          <a:xfrm>
            <a:off x="13297205" y="6697066"/>
            <a:ext cx="260969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______________________</a:t>
            </a:r>
            <a:endParaRPr lang="en-US" sz="1500" dirty="0"/>
          </a:p>
        </p:txBody>
      </p:sp>
      <p:sp>
        <p:nvSpPr>
          <p:cNvPr id="57" name="Text 54"/>
          <p:cNvSpPr txBox="1"/>
          <p:nvPr/>
        </p:nvSpPr>
        <p:spPr>
          <a:xfrm>
            <a:off x="2438705" y="7497166"/>
            <a:ext cx="260969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______________________</a:t>
            </a:r>
            <a:endParaRPr lang="en-US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6057900" y="7497166"/>
            <a:ext cx="90891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예/아니오</a:t>
            </a:r>
            <a:endParaRPr lang="en-US" sz="1500" dirty="0"/>
          </a:p>
        </p:txBody>
      </p:sp>
      <p:sp>
        <p:nvSpPr>
          <p:cNvPr id="59" name="Text 56"/>
          <p:cNvSpPr txBox="1"/>
          <p:nvPr/>
        </p:nvSpPr>
        <p:spPr>
          <a:xfrm>
            <a:off x="9677095" y="7497166"/>
            <a:ext cx="90891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예/아니오</a:t>
            </a:r>
            <a:endParaRPr lang="en-US" sz="1500" dirty="0"/>
          </a:p>
        </p:txBody>
      </p:sp>
      <p:sp>
        <p:nvSpPr>
          <p:cNvPr id="60" name="Text 57"/>
          <p:cNvSpPr txBox="1"/>
          <p:nvPr/>
        </p:nvSpPr>
        <p:spPr>
          <a:xfrm>
            <a:off x="13297205" y="7497166"/>
            <a:ext cx="260969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______________________</a:t>
            </a:r>
            <a:endParaRPr lang="en-US" sz="1500" dirty="0"/>
          </a:p>
        </p:txBody>
      </p:sp>
      <p:sp>
        <p:nvSpPr>
          <p:cNvPr id="61" name="Text 58"/>
          <p:cNvSpPr txBox="1"/>
          <p:nvPr/>
        </p:nvSpPr>
        <p:spPr>
          <a:xfrm>
            <a:off x="2438705" y="8297266"/>
            <a:ext cx="260969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______________________</a:t>
            </a:r>
            <a:endParaRPr lang="en-US" sz="1500" dirty="0"/>
          </a:p>
        </p:txBody>
      </p:sp>
      <p:sp>
        <p:nvSpPr>
          <p:cNvPr id="62" name="Text 59"/>
          <p:cNvSpPr txBox="1"/>
          <p:nvPr/>
        </p:nvSpPr>
        <p:spPr>
          <a:xfrm>
            <a:off x="6057900" y="8297266"/>
            <a:ext cx="90891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예/아니오</a:t>
            </a:r>
            <a:endParaRPr lang="en-US" sz="1500" dirty="0"/>
          </a:p>
        </p:txBody>
      </p:sp>
      <p:sp>
        <p:nvSpPr>
          <p:cNvPr id="63" name="Text 60"/>
          <p:cNvSpPr txBox="1"/>
          <p:nvPr/>
        </p:nvSpPr>
        <p:spPr>
          <a:xfrm>
            <a:off x="9677095" y="8297266"/>
            <a:ext cx="90891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예/아니오</a:t>
            </a:r>
            <a:endParaRPr lang="en-US" sz="1500" dirty="0"/>
          </a:p>
        </p:txBody>
      </p:sp>
      <p:sp>
        <p:nvSpPr>
          <p:cNvPr id="64" name="Text 61"/>
          <p:cNvSpPr txBox="1"/>
          <p:nvPr/>
        </p:nvSpPr>
        <p:spPr>
          <a:xfrm>
            <a:off x="13297205" y="8297266"/>
            <a:ext cx="260969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______________________</a:t>
            </a:r>
            <a:endParaRPr lang="en-US" sz="1500" dirty="0"/>
          </a:p>
        </p:txBody>
      </p:sp>
      <p:sp>
        <p:nvSpPr>
          <p:cNvPr id="65" name="Text 62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실습 2</a:t>
            </a:r>
            <a:endParaRPr lang="en-US" sz="1300" dirty="0"/>
          </a:p>
        </p:txBody>
      </p:sp>
      <p:sp>
        <p:nvSpPr>
          <p:cNvPr id="6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PRACTICE · 03 OF 06 · 7분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63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spc="-112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3 · 대표 강의 3개 카드 작성</a:t>
            </a:r>
            <a:endParaRPr lang="en-US" sz="45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014777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25번의 5점 척도로 채점하고, 합산 점수 상위 3개를 골라 6항목 카드로 정리한다.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524305" y="3927348"/>
            <a:ext cx="4972507" cy="438180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524305" y="3927348"/>
            <a:ext cx="4972507" cy="57607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733702" y="4213555"/>
            <a:ext cx="45537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CARD 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733702" y="4651553"/>
            <a:ext cx="4553712" cy="2610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강의명</a:t>
            </a:r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▸ </a:t>
            </a:r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</a:t>
            </a:r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▸ </a:t>
            </a:r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결과 (3줄)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________________________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________________________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________________________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시간·형식</a:t>
            </a:r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▸ </a:t>
            </a:r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사례</a:t>
            </a:r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▸ </a:t>
            </a:r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한 줄</a:t>
            </a:r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▸ </a:t>
            </a:r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661404" y="3927348"/>
            <a:ext cx="4972507" cy="438180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661404" y="3927348"/>
            <a:ext cx="4972507" cy="57607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6870802" y="4213555"/>
            <a:ext cx="45537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CARD 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870802" y="4651553"/>
            <a:ext cx="4553712" cy="2610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강의명</a:t>
            </a:r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▸ </a:t>
            </a:r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</a:t>
            </a:r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▸ </a:t>
            </a:r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결과 (3줄)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________________________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________________________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________________________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시간·형식</a:t>
            </a:r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▸ </a:t>
            </a:r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사례</a:t>
            </a:r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▸ </a:t>
            </a:r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한 줄</a:t>
            </a:r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▸ </a:t>
            </a:r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1798503" y="3927348"/>
            <a:ext cx="4972507" cy="438180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1798503" y="3927348"/>
            <a:ext cx="4972507" cy="57607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12007901" y="4213555"/>
            <a:ext cx="45537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CARD 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2007901" y="4651553"/>
            <a:ext cx="4553712" cy="2610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강의명</a:t>
            </a:r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▸ </a:t>
            </a:r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</a:t>
            </a:r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▸ </a:t>
            </a:r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결과 (3줄)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________________________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________________________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________________________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시간·형식</a:t>
            </a:r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▸ </a:t>
            </a:r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사례</a:t>
            </a:r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▸ </a:t>
            </a:r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한 줄</a:t>
            </a:r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▸ </a:t>
            </a:r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실습 3</a:t>
            </a:r>
            <a:endParaRPr lang="en-US" sz="1300" dirty="0"/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PRACTICE · 04 OF 06 · 5분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64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spc="-112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4 · 자격 ↔ 강의 연결 워크시트</a:t>
            </a:r>
            <a:endParaRPr lang="en-US" sz="45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094330"/>
            <a:ext cx="58073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28번의 분야별 묶음 표를 본인 자격으로 채운다.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589934"/>
            <a:ext cx="533186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묶음당 대표 자격 1~2개만 표면에 노출한다.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524305" y="5029200"/>
            <a:ext cx="76169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524305" y="4572000"/>
            <a:ext cx="7626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286000" y="5029200"/>
            <a:ext cx="209580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2286000" y="4572000"/>
            <a:ext cx="2095805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분야 묶음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81805" y="5029200"/>
            <a:ext cx="4134002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4381805" y="4572000"/>
            <a:ext cx="41340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보유 자격증 (모두 적기)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509406" y="5029200"/>
            <a:ext cx="4134002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509406" y="4572000"/>
            <a:ext cx="41340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자격 1~2개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2636094" y="5029200"/>
            <a:ext cx="4134002" cy="1920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12636094" y="4572000"/>
            <a:ext cx="41340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연결되는 강의 주제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524305" y="5848502"/>
            <a:ext cx="76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1524305" y="5048402"/>
            <a:ext cx="762610" cy="5724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228600" rIns="1524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2286000" y="5848502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4381805" y="5848502"/>
            <a:ext cx="41340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8509406" y="5848502"/>
            <a:ext cx="41340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2636094" y="5848502"/>
            <a:ext cx="41340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524305" y="6657746"/>
            <a:ext cx="76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1524305" y="5857646"/>
            <a:ext cx="762610" cy="5724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228600" rIns="1524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2286000" y="6657746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4381805" y="6657746"/>
            <a:ext cx="41340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8509406" y="6657746"/>
            <a:ext cx="41340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12636094" y="6657746"/>
            <a:ext cx="41340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1524305" y="7467905"/>
            <a:ext cx="76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1524305" y="6667805"/>
            <a:ext cx="762610" cy="5724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228600" rIns="1524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2286000" y="7467905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4381805" y="7467905"/>
            <a:ext cx="41340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8509406" y="7467905"/>
            <a:ext cx="41340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2636094" y="7467905"/>
            <a:ext cx="41340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1524305" y="8277149"/>
            <a:ext cx="761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 txBox="1"/>
          <p:nvPr/>
        </p:nvSpPr>
        <p:spPr>
          <a:xfrm>
            <a:off x="1524305" y="7477049"/>
            <a:ext cx="762610" cy="5724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228600" rIns="1524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2286000" y="8277149"/>
            <a:ext cx="2095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4381805" y="8277149"/>
            <a:ext cx="41340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8509406" y="8277149"/>
            <a:ext cx="41340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12636094" y="8277149"/>
            <a:ext cx="41340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 txBox="1"/>
          <p:nvPr/>
        </p:nvSpPr>
        <p:spPr>
          <a:xfrm>
            <a:off x="1524305" y="8287207"/>
            <a:ext cx="7626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800" dirty="0"/>
          </a:p>
        </p:txBody>
      </p:sp>
      <p:sp>
        <p:nvSpPr>
          <p:cNvPr id="45" name="Text 42"/>
          <p:cNvSpPr txBox="1"/>
          <p:nvPr/>
        </p:nvSpPr>
        <p:spPr>
          <a:xfrm>
            <a:off x="2438705" y="5277002"/>
            <a:ext cx="94914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533595" y="5277002"/>
            <a:ext cx="189738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</a:t>
            </a:r>
            <a:endParaRPr lang="en-US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8661197" y="5277002"/>
            <a:ext cx="177942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</a:t>
            </a:r>
            <a:endParaRPr lang="en-US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12788798" y="5277002"/>
            <a:ext cx="189738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2438705" y="6086246"/>
            <a:ext cx="94914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</a:t>
            </a:r>
            <a:endParaRPr lang="en-US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4533595" y="6086246"/>
            <a:ext cx="189738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</a:t>
            </a:r>
            <a:endParaRPr lang="en-US" sz="1500" dirty="0"/>
          </a:p>
        </p:txBody>
      </p:sp>
      <p:sp>
        <p:nvSpPr>
          <p:cNvPr id="51" name="Text 48"/>
          <p:cNvSpPr txBox="1"/>
          <p:nvPr/>
        </p:nvSpPr>
        <p:spPr>
          <a:xfrm>
            <a:off x="8661197" y="6086246"/>
            <a:ext cx="177942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</a:t>
            </a:r>
            <a:endParaRPr lang="en-US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12788798" y="6086246"/>
            <a:ext cx="189738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2438705" y="6896405"/>
            <a:ext cx="94914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</a:t>
            </a:r>
            <a:endParaRPr lang="en-US" sz="1500" dirty="0"/>
          </a:p>
        </p:txBody>
      </p:sp>
      <p:sp>
        <p:nvSpPr>
          <p:cNvPr id="54" name="Text 51"/>
          <p:cNvSpPr txBox="1"/>
          <p:nvPr/>
        </p:nvSpPr>
        <p:spPr>
          <a:xfrm>
            <a:off x="4533595" y="6896405"/>
            <a:ext cx="189738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</a:t>
            </a:r>
            <a:endParaRPr lang="en-US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8661197" y="6896405"/>
            <a:ext cx="177942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</a:t>
            </a:r>
            <a:endParaRPr lang="en-US" sz="1500" dirty="0"/>
          </a:p>
        </p:txBody>
      </p:sp>
      <p:sp>
        <p:nvSpPr>
          <p:cNvPr id="56" name="Text 53"/>
          <p:cNvSpPr txBox="1"/>
          <p:nvPr/>
        </p:nvSpPr>
        <p:spPr>
          <a:xfrm>
            <a:off x="12788798" y="6896405"/>
            <a:ext cx="189738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</a:t>
            </a:r>
            <a:endParaRPr lang="en-US" sz="1500" dirty="0"/>
          </a:p>
        </p:txBody>
      </p:sp>
      <p:sp>
        <p:nvSpPr>
          <p:cNvPr id="57" name="Text 54"/>
          <p:cNvSpPr txBox="1"/>
          <p:nvPr/>
        </p:nvSpPr>
        <p:spPr>
          <a:xfrm>
            <a:off x="2438705" y="7705649"/>
            <a:ext cx="94914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</a:t>
            </a:r>
            <a:endParaRPr lang="en-US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4533595" y="7705649"/>
            <a:ext cx="189738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</a:t>
            </a:r>
            <a:endParaRPr lang="en-US" sz="1500" dirty="0"/>
          </a:p>
        </p:txBody>
      </p:sp>
      <p:sp>
        <p:nvSpPr>
          <p:cNvPr id="59" name="Text 56"/>
          <p:cNvSpPr txBox="1"/>
          <p:nvPr/>
        </p:nvSpPr>
        <p:spPr>
          <a:xfrm>
            <a:off x="8661197" y="7705649"/>
            <a:ext cx="177942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</a:t>
            </a:r>
            <a:endParaRPr lang="en-US" sz="1500" dirty="0"/>
          </a:p>
        </p:txBody>
      </p:sp>
      <p:sp>
        <p:nvSpPr>
          <p:cNvPr id="60" name="Text 57"/>
          <p:cNvSpPr txBox="1"/>
          <p:nvPr/>
        </p:nvSpPr>
        <p:spPr>
          <a:xfrm>
            <a:off x="12788798" y="7705649"/>
            <a:ext cx="189738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</a:t>
            </a:r>
            <a:endParaRPr lang="en-US" sz="1500" dirty="0"/>
          </a:p>
        </p:txBody>
      </p:sp>
      <p:sp>
        <p:nvSpPr>
          <p:cNvPr id="61" name="Text 58"/>
          <p:cNvSpPr txBox="1"/>
          <p:nvPr/>
        </p:nvSpPr>
        <p:spPr>
          <a:xfrm>
            <a:off x="2438705" y="8515807"/>
            <a:ext cx="94914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</a:t>
            </a:r>
            <a:endParaRPr lang="en-US" sz="1500" dirty="0"/>
          </a:p>
        </p:txBody>
      </p:sp>
      <p:sp>
        <p:nvSpPr>
          <p:cNvPr id="62" name="Text 59"/>
          <p:cNvSpPr txBox="1"/>
          <p:nvPr/>
        </p:nvSpPr>
        <p:spPr>
          <a:xfrm>
            <a:off x="4533595" y="8515807"/>
            <a:ext cx="189738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</a:t>
            </a:r>
            <a:endParaRPr lang="en-US" sz="1500" dirty="0"/>
          </a:p>
        </p:txBody>
      </p:sp>
      <p:sp>
        <p:nvSpPr>
          <p:cNvPr id="63" name="Text 60"/>
          <p:cNvSpPr txBox="1"/>
          <p:nvPr/>
        </p:nvSpPr>
        <p:spPr>
          <a:xfrm>
            <a:off x="8661197" y="8515807"/>
            <a:ext cx="177942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</a:t>
            </a:r>
            <a:endParaRPr lang="en-US" sz="1500" dirty="0"/>
          </a:p>
        </p:txBody>
      </p:sp>
      <p:sp>
        <p:nvSpPr>
          <p:cNvPr id="64" name="Text 61"/>
          <p:cNvSpPr txBox="1"/>
          <p:nvPr/>
        </p:nvSpPr>
        <p:spPr>
          <a:xfrm>
            <a:off x="12788798" y="8515807"/>
            <a:ext cx="189738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</a:t>
            </a:r>
            <a:endParaRPr lang="en-US" sz="1500" dirty="0"/>
          </a:p>
        </p:txBody>
      </p:sp>
      <p:sp>
        <p:nvSpPr>
          <p:cNvPr id="65" name="Text 62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실습 4</a:t>
            </a:r>
            <a:endParaRPr lang="en-US" sz="1300" dirty="0"/>
          </a:p>
        </p:txBody>
      </p:sp>
      <p:sp>
        <p:nvSpPr>
          <p:cNvPr id="6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PRACTICE · 05 OF 06 · 5분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65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spc="-112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5 · 나의 포트폴리오 5장 목차 초안</a:t>
            </a:r>
            <a:endParaRPr lang="en-US" sz="45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143707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19번의 5장 구조 위에, 본인의 실습 1~4 결과를 ‘페이지별 목차’로 묶는다.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524305" y="4383634"/>
            <a:ext cx="95280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524305" y="3926434"/>
            <a:ext cx="952805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476195" y="4383634"/>
            <a:ext cx="190469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2476195" y="3926434"/>
            <a:ext cx="19056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81805" y="4383634"/>
            <a:ext cx="6191402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381805" y="3926434"/>
            <a:ext cx="61914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소제목 (강사가 직접 작성)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0573207" y="4383634"/>
            <a:ext cx="6191402" cy="1920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0573207" y="3926434"/>
            <a:ext cx="619140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원천 (오늘 실습 결과물)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524305" y="5336438"/>
            <a:ext cx="952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1524305" y="4402836"/>
            <a:ext cx="952805" cy="7251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15900" tIns="215900" rIns="15240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P.1</a:t>
            </a:r>
            <a:endParaRPr lang="en-US" sz="2700" dirty="0"/>
          </a:p>
        </p:txBody>
      </p:sp>
      <p:sp>
        <p:nvSpPr>
          <p:cNvPr id="19" name="Shape 16"/>
          <p:cNvSpPr/>
          <p:nvPr/>
        </p:nvSpPr>
        <p:spPr>
          <a:xfrm>
            <a:off x="2476195" y="5336438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2476195" y="4402836"/>
            <a:ext cx="1905610" cy="7251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159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프로필·정체성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381805" y="5336438"/>
            <a:ext cx="61914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573207" y="5336438"/>
            <a:ext cx="61914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10573207" y="4402836"/>
            <a:ext cx="6191402" cy="7251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159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1 정체성 문장 + 키워드 5개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1524305" y="6279185"/>
            <a:ext cx="952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1524305" y="5345582"/>
            <a:ext cx="952805" cy="7251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15900" tIns="215900" rIns="15240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P.2</a:t>
            </a:r>
            <a:endParaRPr lang="en-US" sz="2700" dirty="0"/>
          </a:p>
        </p:txBody>
      </p:sp>
      <p:sp>
        <p:nvSpPr>
          <p:cNvPr id="26" name="Shape 23"/>
          <p:cNvSpPr/>
          <p:nvPr/>
        </p:nvSpPr>
        <p:spPr>
          <a:xfrm>
            <a:off x="2476195" y="6279185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2476195" y="5345582"/>
            <a:ext cx="1905610" cy="7251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159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전문분야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4381805" y="6279185"/>
            <a:ext cx="61914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10573207" y="6279185"/>
            <a:ext cx="61914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10573207" y="5345582"/>
            <a:ext cx="6191402" cy="7251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159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2 전문분야 5개 + 실습 4 자격 연결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1524305" y="7221931"/>
            <a:ext cx="952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1524305" y="6288329"/>
            <a:ext cx="952805" cy="7251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15900" tIns="215900" rIns="15240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P.3</a:t>
            </a:r>
            <a:endParaRPr lang="en-US" sz="2700" dirty="0"/>
          </a:p>
        </p:txBody>
      </p:sp>
      <p:sp>
        <p:nvSpPr>
          <p:cNvPr id="33" name="Shape 30"/>
          <p:cNvSpPr/>
          <p:nvPr/>
        </p:nvSpPr>
        <p:spPr>
          <a:xfrm>
            <a:off x="2476195" y="7221931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2476195" y="6288329"/>
            <a:ext cx="1905610" cy="7251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159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실적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4381805" y="7221931"/>
            <a:ext cx="61914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10573207" y="7221931"/>
            <a:ext cx="61914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10573207" y="6288329"/>
            <a:ext cx="6191402" cy="7251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159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3 대표 강의 3개 + 5열 실적표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1524305" y="8164678"/>
            <a:ext cx="9528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 txBox="1"/>
          <p:nvPr/>
        </p:nvSpPr>
        <p:spPr>
          <a:xfrm>
            <a:off x="1524305" y="7231075"/>
            <a:ext cx="952805" cy="7251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15900" tIns="215900" rIns="15240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P.4</a:t>
            </a:r>
            <a:endParaRPr lang="en-US" sz="2700" dirty="0"/>
          </a:p>
        </p:txBody>
      </p:sp>
      <p:sp>
        <p:nvSpPr>
          <p:cNvPr id="40" name="Shape 37"/>
          <p:cNvSpPr/>
          <p:nvPr/>
        </p:nvSpPr>
        <p:spPr>
          <a:xfrm>
            <a:off x="2476195" y="8164678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 txBox="1"/>
          <p:nvPr/>
        </p:nvSpPr>
        <p:spPr>
          <a:xfrm>
            <a:off x="2476195" y="7231075"/>
            <a:ext cx="1905610" cy="7251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159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 자산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4381805" y="8164678"/>
            <a:ext cx="61914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10573207" y="8164678"/>
            <a:ext cx="6191402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 txBox="1"/>
          <p:nvPr/>
        </p:nvSpPr>
        <p:spPr>
          <a:xfrm>
            <a:off x="10573207" y="7231075"/>
            <a:ext cx="6191402" cy="7251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15900" rIns="152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교재·슬라이드·영상·칼럼 링크 모음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1524305" y="8174736"/>
            <a:ext cx="952805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P.5</a:t>
            </a:r>
            <a:endParaRPr lang="en-US" sz="2700" dirty="0"/>
          </a:p>
        </p:txBody>
      </p:sp>
      <p:sp>
        <p:nvSpPr>
          <p:cNvPr id="46" name="Text 43"/>
          <p:cNvSpPr txBox="1"/>
          <p:nvPr/>
        </p:nvSpPr>
        <p:spPr>
          <a:xfrm>
            <a:off x="2476195" y="8174736"/>
            <a:ext cx="1905610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성과·후기</a:t>
            </a:r>
            <a:endParaRPr lang="en-US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73207" y="8174736"/>
            <a:ext cx="6191402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수강생 인용 3건 + 재의뢰 표 + KPI</a:t>
            </a:r>
            <a:endParaRPr lang="en-US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4533595" y="4612234"/>
            <a:ext cx="37719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________________________________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4533595" y="5554980"/>
            <a:ext cx="37719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________________________________</a:t>
            </a:r>
            <a:endParaRPr lang="en-US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4533595" y="6497726"/>
            <a:ext cx="37719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________________________________</a:t>
            </a:r>
            <a:endParaRPr lang="en-US" sz="1500" dirty="0"/>
          </a:p>
        </p:txBody>
      </p:sp>
      <p:sp>
        <p:nvSpPr>
          <p:cNvPr id="51" name="Text 48"/>
          <p:cNvSpPr txBox="1"/>
          <p:nvPr/>
        </p:nvSpPr>
        <p:spPr>
          <a:xfrm>
            <a:off x="4533595" y="7441387"/>
            <a:ext cx="37719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________________________________</a:t>
            </a:r>
            <a:endParaRPr lang="en-US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4533595" y="8384134"/>
            <a:ext cx="37719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________________________________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실습 5</a:t>
            </a:r>
            <a:endParaRPr lang="en-US" sz="1300" dirty="0"/>
          </a:p>
        </p:txBody>
      </p:sp>
      <p:sp>
        <p:nvSpPr>
          <p:cNvPr id="5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PRACTICE · 06 OF 06 · 5분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66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904695"/>
            <a:ext cx="152403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spc="-112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6 · 90일 미래전략 3축</a:t>
            </a:r>
            <a:endParaRPr lang="en-US" sz="45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3041294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브랜딩 · 콘텐츠 · AI — 3축에서 90일 안에 ‘반드시 할 1가지’를 정한다. 더 많이 적지 않는다.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524305" y="3993185"/>
            <a:ext cx="4934102" cy="438180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524305" y="3993185"/>
            <a:ext cx="4934102" cy="57607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752905" y="4317797"/>
            <a:ext cx="4476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AXIS 1 · 브랜딩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752905" y="4689043"/>
            <a:ext cx="44769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90일 안에 할 1가지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1752905" y="5160874"/>
            <a:ext cx="4476902" cy="2610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</a:t>
            </a:r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사이트 1페이지 공개 / 키워드 5개 확정 / 한 문장 정체성 SNS 갱신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나의 1가지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</a:t>
            </a:r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680606" y="3993185"/>
            <a:ext cx="4934102" cy="438180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680606" y="3993185"/>
            <a:ext cx="4934102" cy="57607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909206" y="4317797"/>
            <a:ext cx="4476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AXIS 2 · 콘텐츠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909206" y="4689043"/>
            <a:ext cx="44769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90일 안에 할 1가지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6909206" y="5160874"/>
            <a:ext cx="4476902" cy="2610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</a:t>
            </a:r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사례 카드 6장 / 칼럼 3편 / 강의 클립 1편 / 워크북 1권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나의 1가지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</a:t>
            </a:r>
            <a:pPr algn="l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1835994" y="3993185"/>
            <a:ext cx="4934102" cy="4381805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12064594" y="4631436"/>
            <a:ext cx="44769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90일 안에 할 1가지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12064594" y="4260190"/>
            <a:ext cx="4476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AXIS 3 · AI 활용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064594" y="5104181"/>
            <a:ext cx="4476902" cy="2610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</a:t>
            </a:r>
            <a:pPr algn="l" indent="0" marL="0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강의 준비 자동화 · 사례 카드 AI 초안 · 진단 설문 AI 분석 도입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나의 1가지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_______________________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</a:t>
            </a:r>
            <a:pPr algn="l" indent="0" marL="0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buNone/>
            </a:pPr>
            <a:r>
              <a:rPr lang="en-US" sz="14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_______________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실습 6</a:t>
            </a:r>
            <a:endParaRPr lang="en-US" sz="1300" dirty="0"/>
          </a:p>
        </p:txBody>
      </p:sp>
      <p:sp>
        <p:nvSpPr>
          <p:cNvPr id="2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477195" y="4572000"/>
            <a:ext cx="6286500" cy="4762195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CLOSING · 01 OF 04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67 / 70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강사의 포트폴리오는 ‘살아 있는 문서’다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143707"/>
            <a:ext cx="1524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 만들고 끝나는 문서가 아니라, 매 강의 후 ‘성장 기록’이 추가되는 살아 있는 문서다.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4572000"/>
            <a:ext cx="8382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65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 갱신 사이클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24305" y="5048402"/>
            <a:ext cx="13341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후 1주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086100" y="5048402"/>
            <a:ext cx="68205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카드 1장 추가 + 후기 발췌 1건 추가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524305" y="5514746"/>
            <a:ext cx="1333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1524305" y="5657393"/>
            <a:ext cx="1334110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매월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086100" y="5514746"/>
            <a:ext cx="68195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3086100" y="5657393"/>
            <a:ext cx="6820510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실적 표 갱신 · 칼럼 1~2편 추가 · SNS 짧은 글 4~8건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524305" y="6124651"/>
            <a:ext cx="1333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1524305" y="6267298"/>
            <a:ext cx="1334110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3086100" y="6124651"/>
            <a:ext cx="68195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3086100" y="6267298"/>
            <a:ext cx="6820510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5장 점검 · 대표 강의 재선정 · 키워드·정체성 문장 재점검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524305" y="6734556"/>
            <a:ext cx="13331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1524305" y="6877202"/>
            <a:ext cx="1334110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3086100" y="6734556"/>
            <a:ext cx="68195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3086100" y="6877202"/>
            <a:ext cx="6820510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 사진 갱신 · 사이트 디자인 점검 · 시그니처 강의 갱신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0858500" y="5829300"/>
            <a:ext cx="55248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-22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살아 있지 않은 포트폴리오는,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10858500" y="6439205"/>
            <a:ext cx="55248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-22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살아 있지 않은 강사로 보인다.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10858500" y="5143500"/>
            <a:ext cx="5524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</a:t>
            </a:r>
            <a:endParaRPr lang="en-US" sz="6000" dirty="0"/>
          </a:p>
        </p:txBody>
      </p:sp>
      <p:sp>
        <p:nvSpPr>
          <p:cNvPr id="28" name="Text 25"/>
          <p:cNvSpPr txBox="1"/>
          <p:nvPr/>
        </p:nvSpPr>
        <p:spPr>
          <a:xfrm>
            <a:off x="10858500" y="7105802"/>
            <a:ext cx="5524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본 강의의 핵심 원칙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CLOSING</a:t>
            </a:r>
            <a:endParaRPr lang="en-US" sz="13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24305" y="4572000"/>
            <a:ext cx="9982505" cy="4762195"/>
          </a:xfrm>
          <a:prstGeom prst="rect">
            <a:avLst/>
          </a:prstGeom>
          <a:solidFill>
            <a:srgbClr val="F8F9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24305" y="4572000"/>
            <a:ext cx="75895" cy="476219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CLOSING · 02 OF 04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68 / 70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1904695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강사는 ‘누군가의 시간을 앞당기는 사람’이다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3132734"/>
            <a:ext cx="378653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실패를 줄이고, 길을 안내한다.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524305" y="3627425"/>
            <a:ext cx="337047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그것이 강사의 진짜 KPI다.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2038198" y="5458054"/>
            <a:ext cx="734263" cy="1657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</a:t>
            </a:r>
            <a:endParaRPr lang="en-US" sz="9000" dirty="0"/>
          </a:p>
        </p:txBody>
      </p:sp>
      <p:sp>
        <p:nvSpPr>
          <p:cNvPr id="13" name="Text 10"/>
          <p:cNvSpPr txBox="1"/>
          <p:nvPr/>
        </p:nvSpPr>
        <p:spPr>
          <a:xfrm>
            <a:off x="2763317" y="6344107"/>
            <a:ext cx="29407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-45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1시간이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4915814" y="6344107"/>
            <a:ext cx="522122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-45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학습자의 1년을 줄인다.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2038198" y="7248449"/>
            <a:ext cx="316839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-45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그것이 강사가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4309567" y="7248449"/>
            <a:ext cx="47777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-45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받는 보수의 정체다.”</a:t>
            </a:r>
            <a:endParaRPr lang="en-US" sz="3000" dirty="0"/>
          </a:p>
        </p:txBody>
      </p:sp>
      <p:sp>
        <p:nvSpPr>
          <p:cNvPr id="17" name="Shape 14"/>
          <p:cNvSpPr/>
          <p:nvPr/>
        </p:nvSpPr>
        <p:spPr>
          <a:xfrm>
            <a:off x="11811305" y="5124298"/>
            <a:ext cx="495330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1811305" y="6524244"/>
            <a:ext cx="4953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1811305" y="7915046"/>
            <a:ext cx="495330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11811305" y="4619549"/>
            <a:ext cx="3491179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‘시간을 앞당긴다’의 3가지 의미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1811305" y="5333695"/>
            <a:ext cx="167243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실패의 시간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1811305" y="5838444"/>
            <a:ext cx="410017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학습자가 혼자 겪었을 시행착오의 시간을 줄인다.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1811305" y="6724498"/>
            <a:ext cx="167243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결정의 시간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1811305" y="7229246"/>
            <a:ext cx="414131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‘무엇을 할까’ 망설였을 결정의 시간을 단축한다.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1811305" y="8115300"/>
            <a:ext cx="167243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도착의 시간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1811305" y="8620049"/>
            <a:ext cx="440832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학습자가 ‘되고 싶은 사람’이 되는 시점을 앞당긴다.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CLOSING</a:t>
            </a:r>
            <a:endParaRPr lang="en-US" sz="1300" dirty="0"/>
          </a:p>
        </p:txBody>
      </p:sp>
      <p:sp>
        <p:nvSpPr>
          <p:cNvPr id="2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c7630f86157f7e58a7e3279abafecfa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525305"/>
            <a:ext cx="1524030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4305" y="952805"/>
            <a:ext cx="1428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97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CLOSING · 03 OF 04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237915" y="952805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69 / 70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1610258"/>
            <a:ext cx="1524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2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오늘부터 시작할 7일 실행계획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2756916"/>
            <a:ext cx="40837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일주일 안에 끝낼 수 있는 7가지.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3252521"/>
            <a:ext cx="55696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많이 적지 않고, 매일 1가지씩만 처리한다.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524305" y="4420210"/>
            <a:ext cx="1143000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524305" y="3963010"/>
            <a:ext cx="114300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일차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667305" y="4420210"/>
            <a:ext cx="2286000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2667305" y="3963010"/>
            <a:ext cx="228600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953305" y="4420210"/>
            <a:ext cx="9905695" cy="1920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4953305" y="3963010"/>
            <a:ext cx="99066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구체적으로 무엇을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4859000" y="4420210"/>
            <a:ext cx="1904695" cy="1920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14859000" y="3963010"/>
            <a:ext cx="19056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39700" rIns="152400" bIns="0" rtlCol="0" anchor="ctr"/>
          <a:lstStyle/>
          <a:p>
            <a:pPr algn="r" indent="0" marL="0">
              <a:buNone/>
            </a:pPr>
            <a:r>
              <a:rPr lang="en-US" sz="1200" b="1" spc="120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소요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524305" y="5107838"/>
            <a:ext cx="1143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1524305" y="4431182"/>
            <a:ext cx="1143000" cy="5047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524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2667305" y="5107838"/>
            <a:ext cx="2286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2667305" y="4431182"/>
            <a:ext cx="2286000" cy="5047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정체성 확정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953305" y="5107838"/>
            <a:ext cx="9905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4953305" y="4431182"/>
            <a:ext cx="9906610" cy="5047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실습 1의 한 문장을 다듬어 ‘최종본’으로 확정. SNS 프로필·이메일 서명에 반영.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14859000" y="5107838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14859000" y="4431182"/>
            <a:ext cx="1905610" cy="5047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30분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1524305" y="5791810"/>
            <a:ext cx="1143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1524305" y="5115154"/>
            <a:ext cx="1143000" cy="5047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524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2667305" y="5791810"/>
            <a:ext cx="2286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2667305" y="5115154"/>
            <a:ext cx="2286000" cy="5047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 사진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953305" y="5791810"/>
            <a:ext cx="9905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4953305" y="5115154"/>
            <a:ext cx="9906610" cy="5047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37번 체크리스트 7항목 점검. 미달이면 일정 잡기 (사진관 또는 셀프).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14859000" y="5791810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14859000" y="5115154"/>
            <a:ext cx="1905610" cy="5047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20분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1524305" y="6475781"/>
            <a:ext cx="1143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1524305" y="5799125"/>
            <a:ext cx="1143000" cy="5047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524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3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2667305" y="6475781"/>
            <a:ext cx="2286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2667305" y="5799125"/>
            <a:ext cx="2286000" cy="5047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실적 5열 표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4953305" y="6475781"/>
            <a:ext cx="9905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 txBox="1"/>
          <p:nvPr/>
        </p:nvSpPr>
        <p:spPr>
          <a:xfrm>
            <a:off x="4953305" y="5799125"/>
            <a:ext cx="9906610" cy="5047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3년 강의를 기관 · 대상 · 시간 · 주제 · 성과의 5열로 정리. 엑셀/노션 1개로.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14859000" y="6475781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 txBox="1"/>
          <p:nvPr/>
        </p:nvSpPr>
        <p:spPr>
          <a:xfrm>
            <a:off x="14859000" y="5799125"/>
            <a:ext cx="1905610" cy="5047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60분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1524305" y="7159752"/>
            <a:ext cx="1143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 txBox="1"/>
          <p:nvPr/>
        </p:nvSpPr>
        <p:spPr>
          <a:xfrm>
            <a:off x="1524305" y="6483096"/>
            <a:ext cx="1143000" cy="5047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524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4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2667305" y="7159752"/>
            <a:ext cx="2286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 txBox="1"/>
          <p:nvPr/>
        </p:nvSpPr>
        <p:spPr>
          <a:xfrm>
            <a:off x="2667305" y="6483096"/>
            <a:ext cx="2286000" cy="5047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정리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4953305" y="7159752"/>
            <a:ext cx="9905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 txBox="1"/>
          <p:nvPr/>
        </p:nvSpPr>
        <p:spPr>
          <a:xfrm>
            <a:off x="4953305" y="6483096"/>
            <a:ext cx="9906610" cy="5047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 6종 자산 점검 (30번). 공개 가능한 슬라이드 3장을 미리 분리 저장.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14859000" y="7159752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 txBox="1"/>
          <p:nvPr/>
        </p:nvSpPr>
        <p:spPr>
          <a:xfrm>
            <a:off x="14859000" y="6483096"/>
            <a:ext cx="1905610" cy="5047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45분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1524305" y="7843723"/>
            <a:ext cx="1143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Text 48"/>
          <p:cNvSpPr txBox="1"/>
          <p:nvPr/>
        </p:nvSpPr>
        <p:spPr>
          <a:xfrm>
            <a:off x="1524305" y="7167067"/>
            <a:ext cx="1143000" cy="5047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524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5</a:t>
            </a:r>
            <a:endParaRPr lang="en-US" sz="1800" dirty="0"/>
          </a:p>
        </p:txBody>
      </p:sp>
      <p:sp>
        <p:nvSpPr>
          <p:cNvPr id="52" name="Shape 49"/>
          <p:cNvSpPr/>
          <p:nvPr/>
        </p:nvSpPr>
        <p:spPr>
          <a:xfrm>
            <a:off x="2667305" y="7843723"/>
            <a:ext cx="2286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0"/>
          <p:cNvSpPr txBox="1"/>
          <p:nvPr/>
        </p:nvSpPr>
        <p:spPr>
          <a:xfrm>
            <a:off x="2667305" y="7167067"/>
            <a:ext cx="2286000" cy="5047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후기 수집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4953305" y="7843723"/>
            <a:ext cx="9905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Text 52"/>
          <p:cNvSpPr txBox="1"/>
          <p:nvPr/>
        </p:nvSpPr>
        <p:spPr>
          <a:xfrm>
            <a:off x="4953305" y="7167067"/>
            <a:ext cx="9906610" cy="5047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강의 3건의 담당자·수강생에게 한 줄 후기를 요청하는 메시지 발송.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14859000" y="7843723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Text 54"/>
          <p:cNvSpPr txBox="1"/>
          <p:nvPr/>
        </p:nvSpPr>
        <p:spPr>
          <a:xfrm>
            <a:off x="14859000" y="7167067"/>
            <a:ext cx="1905610" cy="5047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30분</a:t>
            </a:r>
            <a:endParaRPr lang="en-US" sz="1300" dirty="0"/>
          </a:p>
        </p:txBody>
      </p:sp>
      <p:sp>
        <p:nvSpPr>
          <p:cNvPr id="58" name="Shape 55"/>
          <p:cNvSpPr/>
          <p:nvPr/>
        </p:nvSpPr>
        <p:spPr>
          <a:xfrm>
            <a:off x="1524305" y="8527694"/>
            <a:ext cx="1143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" name="Text 56"/>
          <p:cNvSpPr txBox="1"/>
          <p:nvPr/>
        </p:nvSpPr>
        <p:spPr>
          <a:xfrm>
            <a:off x="1524305" y="7851038"/>
            <a:ext cx="1143000" cy="5047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524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6</a:t>
            </a:r>
            <a:endParaRPr lang="en-US" sz="1800" dirty="0"/>
          </a:p>
        </p:txBody>
      </p:sp>
      <p:sp>
        <p:nvSpPr>
          <p:cNvPr id="60" name="Shape 57"/>
          <p:cNvSpPr/>
          <p:nvPr/>
        </p:nvSpPr>
        <p:spPr>
          <a:xfrm>
            <a:off x="2667305" y="8527694"/>
            <a:ext cx="2286000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Text 58"/>
          <p:cNvSpPr txBox="1"/>
          <p:nvPr/>
        </p:nvSpPr>
        <p:spPr>
          <a:xfrm>
            <a:off x="2667305" y="7851038"/>
            <a:ext cx="2286000" cy="5047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 채널</a:t>
            </a:r>
            <a:endParaRPr lang="en-US" sz="1300" dirty="0"/>
          </a:p>
        </p:txBody>
      </p:sp>
      <p:sp>
        <p:nvSpPr>
          <p:cNvPr id="62" name="Shape 59"/>
          <p:cNvSpPr/>
          <p:nvPr/>
        </p:nvSpPr>
        <p:spPr>
          <a:xfrm>
            <a:off x="4953305" y="8527694"/>
            <a:ext cx="9905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3" name="Text 60"/>
          <p:cNvSpPr txBox="1"/>
          <p:nvPr/>
        </p:nvSpPr>
        <p:spPr>
          <a:xfrm>
            <a:off x="4953305" y="7851038"/>
            <a:ext cx="9906610" cy="5047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노션 1페이지로 ‘미니 포트폴리오’ 만들기 — 5장 구조 그대로, 1시간 안에.</a:t>
            </a:r>
            <a:endParaRPr lang="en-US" sz="1300" dirty="0"/>
          </a:p>
        </p:txBody>
      </p:sp>
      <p:sp>
        <p:nvSpPr>
          <p:cNvPr id="64" name="Shape 61"/>
          <p:cNvSpPr/>
          <p:nvPr/>
        </p:nvSpPr>
        <p:spPr>
          <a:xfrm>
            <a:off x="14859000" y="8527694"/>
            <a:ext cx="1904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Text 62"/>
          <p:cNvSpPr txBox="1"/>
          <p:nvPr/>
        </p:nvSpPr>
        <p:spPr>
          <a:xfrm>
            <a:off x="14859000" y="7851038"/>
            <a:ext cx="1905610" cy="5047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77800" rIns="15240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60분</a:t>
            </a:r>
            <a:endParaRPr lang="en-US" sz="1300" dirty="0"/>
          </a:p>
        </p:txBody>
      </p:sp>
      <p:sp>
        <p:nvSpPr>
          <p:cNvPr id="66" name="Text 63"/>
          <p:cNvSpPr txBox="1"/>
          <p:nvPr/>
        </p:nvSpPr>
        <p:spPr>
          <a:xfrm>
            <a:off x="1524305" y="8535010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7</a:t>
            </a:r>
            <a:endParaRPr lang="en-US" sz="1800" dirty="0"/>
          </a:p>
        </p:txBody>
      </p:sp>
      <p:sp>
        <p:nvSpPr>
          <p:cNvPr id="67" name="Text 64"/>
          <p:cNvSpPr txBox="1"/>
          <p:nvPr/>
        </p:nvSpPr>
        <p:spPr>
          <a:xfrm>
            <a:off x="2667305" y="8535010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 + 알림</a:t>
            </a:r>
            <a:endParaRPr lang="en-US" sz="1300" dirty="0"/>
          </a:p>
        </p:txBody>
      </p:sp>
      <p:sp>
        <p:nvSpPr>
          <p:cNvPr id="68" name="Text 65"/>
          <p:cNvSpPr txBox="1"/>
          <p:nvPr/>
        </p:nvSpPr>
        <p:spPr>
          <a:xfrm>
            <a:off x="4953305" y="8535010"/>
            <a:ext cx="99066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노션 링크를 LinkedIn·이메일 서명에 추가. 가까운 동료 3명에게 피드백 요청.</a:t>
            </a:r>
            <a:endParaRPr lang="en-US" sz="1300" dirty="0"/>
          </a:p>
        </p:txBody>
      </p:sp>
      <p:sp>
        <p:nvSpPr>
          <p:cNvPr id="69" name="Text 66"/>
          <p:cNvSpPr txBox="1"/>
          <p:nvPr/>
        </p:nvSpPr>
        <p:spPr>
          <a:xfrm>
            <a:off x="14859000" y="8535010"/>
            <a:ext cx="19056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20분</a:t>
            </a:r>
            <a:endParaRPr lang="en-US" sz="1300" dirty="0"/>
          </a:p>
        </p:txBody>
      </p:sp>
      <p:sp>
        <p:nvSpPr>
          <p:cNvPr id="70" name="Text 67"/>
          <p:cNvSpPr txBox="1"/>
          <p:nvPr/>
        </p:nvSpPr>
        <p:spPr>
          <a:xfrm>
            <a:off x="1524305" y="9715500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CLOSING · 총 소요 약 4시간 30분 / 7일 분산</a:t>
            </a:r>
            <a:endParaRPr lang="en-US" sz="1300" dirty="0"/>
          </a:p>
        </p:txBody>
      </p:sp>
      <p:sp>
        <p:nvSpPr>
          <p:cNvPr id="7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0"/>
            <a:ext cx="228600" cy="10287000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gen-dedup-32632fd3bace44a46384d92b94c27275.png">    </p:cNvPr>
          <p:cNvPicPr>
            <a:picLocks noChangeAspect="1"/>
          </p:cNvPicPr>
          <p:nvPr/>
        </p:nvPicPr>
        <p:blipFill>
          <a:blip r:embed="rId2"/>
          <a:srcRect l="0" r="0" t="-399" b="-399"/>
          <a:stretch/>
        </p:blipFill>
        <p:spPr>
          <a:xfrm>
            <a:off x="1524305" y="8762695"/>
            <a:ext cx="15240305" cy="192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24305" y="1333195"/>
            <a:ext cx="15240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363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CLOSING MESSAGE · 04 OF 04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3105302"/>
            <a:ext cx="7143293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-252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강사의 미래는</a:t>
            </a:r>
            <a:endParaRPr lang="en-US" sz="72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4934102"/>
            <a:ext cx="10813694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-252" kern="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기록하고 나누는 사람</a:t>
            </a:r>
            <a:endParaRPr lang="en-US" sz="7200" dirty="0"/>
          </a:p>
        </p:txBody>
      </p:sp>
      <p:sp>
        <p:nvSpPr>
          <p:cNvPr id="9" name="Text 6"/>
          <p:cNvSpPr txBox="1"/>
          <p:nvPr/>
        </p:nvSpPr>
        <p:spPr>
          <a:xfrm>
            <a:off x="9255557" y="4934102"/>
            <a:ext cx="2344522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-252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에게</a:t>
            </a:r>
            <a:endParaRPr lang="en-US" sz="7200" dirty="0"/>
          </a:p>
        </p:txBody>
      </p:sp>
      <p:sp>
        <p:nvSpPr>
          <p:cNvPr id="10" name="Text 7"/>
          <p:cNvSpPr txBox="1"/>
          <p:nvPr/>
        </p:nvSpPr>
        <p:spPr>
          <a:xfrm>
            <a:off x="11098073" y="4934102"/>
            <a:ext cx="4007815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-252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열린다.</a:t>
            </a:r>
            <a:endParaRPr lang="en-US" sz="7200" dirty="0"/>
          </a:p>
        </p:txBody>
      </p:sp>
      <p:sp>
        <p:nvSpPr>
          <p:cNvPr id="11" name="Text 8"/>
          <p:cNvSpPr txBox="1"/>
          <p:nvPr/>
        </p:nvSpPr>
        <p:spPr>
          <a:xfrm>
            <a:off x="1524305" y="7134149"/>
            <a:ext cx="691469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spc="-24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만든 5장 포트폴리오 초안과 90일 계획이,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333488" y="7134149"/>
            <a:ext cx="76032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spc="-24" kern="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앞으로 5년의 강사 경력을 다시 그리게 될 것입니다.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524305" y="9048902"/>
            <a:ext cx="76206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감사합니다.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0" y="9144000"/>
            <a:ext cx="7620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포트폴리오 구축과 미래전략 · 2시간 · 70 슬라이드</a:t>
            </a:r>
            <a:endParaRPr lang="en-US" sz="1600" dirty="0"/>
          </a:p>
        </p:txBody>
      </p:sp>
      <p:sp>
        <p:nvSpPr>
          <p:cNvPr id="1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홍문원, useful-ai.dreamitbiz.com, CC BY-NC-ND 4.0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 (CC BY-NC-ND 4.0)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발행 홍문원(洪文院, 출판사 신고번호 제2026-000026호). 이애본이 2026년 대학·기관 강의 현장에서 쓴 강의안을 전자출판용으로 다시 묶은 것입니다. ISBN: 등록 후 기재.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이 자료는 크리에이티브 커먼즈 저작자표시-비영리-변경금지 4.0 국제(CC BY-NC-ND 4.0) 라이선스를 따릅니다. creativecommons.org/licenses/by-nc-nd/4.0/deed.ko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저작자 표시(BY): 출처를 밝히면 그대로 복사해 수업·강의·자습에 쓸 수 있습니다. 비영리(NC): 유료 강의·판매·광고 수익 목적에는 쓸 수 없습니다. 변경금지(ND): 내용을 고치거나 잘라 재조합해 배포할 수 없습니다.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라이선스 범위 밖의 이용(영리·변형·2차 저작)은 먼저 문의해 주세요.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 · 발행 홍문원(洪文院) · CC BY-NC-ND 4.0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2026-06-03T12:03:51Z</dcterms:created>
  <dcterms:modified xsi:type="dcterms:W3CDTF">2026-06-03T12:03:51Z</dcterms:modified>
</cp:coreProperties>
</file>