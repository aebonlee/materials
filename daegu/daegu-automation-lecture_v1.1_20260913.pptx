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notesMasterIdLst>
    <p:notesMasterId r:id="rId9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863840" y="-1463040"/>
            <a:ext cx="5852160" cy="5852160"/>
          </a:xfrm>
          <a:prstGeom prst="roundRect">
            <a:avLst>
              <a:gd name="adj" fmla="val 7813"/>
            </a:avLst>
          </a:prstGeom>
          <a:solidFill>
            <a:srgbClr val="0F3161"/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326880" y="3108960"/>
            <a:ext cx="4754880" cy="4754880"/>
          </a:xfrm>
          <a:prstGeom prst="roundRect">
            <a:avLst>
              <a:gd name="adj" fmla="val 9615"/>
            </a:avLst>
          </a:prstGeom>
          <a:solidFill>
            <a:srgbClr val="0F3556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692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대구광역시 공무원 AI 실무 교육 · 1일 8시간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314553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E3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 하나를 골라 버튼 하나로 도는 도구 만들기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3767328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코딩을 배우는 과정이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아닙니다.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매주 반복하는 업무를 AI에게 말로 설명해 자동화 도구로 만들고, 부서에 적용할 계획서까지 완성하는 하루짜리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882896"/>
            <a:ext cx="2231136" cy="438912"/>
          </a:xfrm>
          <a:prstGeom prst="roundRect">
            <a:avLst>
              <a:gd name="adj" fmla="val 18750"/>
            </a:avLst>
          </a:prstGeom>
          <a:solidFill>
            <a:srgbClr val="14395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88289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~ 8교시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62656" y="4882896"/>
            <a:ext cx="2231136" cy="438912"/>
          </a:xfrm>
          <a:prstGeom prst="roundRect">
            <a:avLst>
              <a:gd name="adj" fmla="val 18750"/>
            </a:avLst>
          </a:prstGeom>
          <a:solidFill>
            <a:srgbClr val="1439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54096" y="488289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· 코딩 지식 불필요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58384" y="4882896"/>
            <a:ext cx="2231136" cy="438912"/>
          </a:xfrm>
          <a:prstGeom prst="roundRect">
            <a:avLst>
              <a:gd name="adj" fmla="val 18750"/>
            </a:avLst>
          </a:prstGeom>
          <a:solidFill>
            <a:srgbClr val="143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449824" y="488289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7종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9436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정동엽 (직업학박사) · DreamIT Biz   |   교안 v1.1 · 2026-09-13   |   온라인 교재 daegu.dreamitbiz.com/automation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교안은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책이 아니라 따라 하는 순서표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순서를 그대로 짚어가며 손을 움직이면 하루가 끝날 때 도구가 완성됩니다. 아래 네 가지 표시만 알아 두시면 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782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단계 배지 — 지금 몇 번째인지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3525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왼쪽 위의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지금 위치입니다.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순서대로만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하세요. 건너뛰면 뒤에서 막힙니다.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13380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화면 그림의 남색 번호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187700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위의 남색 번호는 오른쪽 설명의 같은 번호와 짝입니다.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번호를 찾아 그 자리를 누르면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48532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748532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8765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13258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끝의 이 상자를 통과해야 다음으로 갑니다.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못 하면 넘어가지 마세요.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004308"/>
            <a:ext cx="5336896" cy="869442"/>
          </a:xfrm>
          <a:prstGeom prst="roundRect">
            <a:avLst>
              <a:gd name="adj" fmla="val 5259"/>
            </a:avLst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512318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복사해서 쓰는 프롬프트 — 그대로 긁어서 붙여넣습니다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" y="5397500"/>
            <a:ext cx="4879696" cy="448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코드와 설치 방법을 단계별로 알려줘.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색으로 구분되는 안내 상자 네 가지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7872" y="1755648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4" name="Shape 22"/>
          <p:cNvSpPr/>
          <p:nvPr/>
        </p:nvSpPr>
        <p:spPr>
          <a:xfrm>
            <a:off x="6287872" y="1755648"/>
            <a:ext cx="50292" cy="1109472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25" name="Text 23"/>
          <p:cNvSpPr/>
          <p:nvPr/>
        </p:nvSpPr>
        <p:spPr>
          <a:xfrm>
            <a:off x="6507328" y="188366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 이 화면이 안 나오면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07328" y="213969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예상과 다른 화면이 떴을 때 할 일. 가장 많이 멈추는 자리마다 붙였습니다.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87872" y="3011424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7872" y="3011424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313944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07328" y="339547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 되돌릴 수 없는 것 — 반드시 읽고 넘어가세요.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87872" y="4050792"/>
            <a:ext cx="5336896" cy="893064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32" name="Shape 30"/>
          <p:cNvSpPr/>
          <p:nvPr/>
        </p:nvSpPr>
        <p:spPr>
          <a:xfrm>
            <a:off x="6287872" y="4050792"/>
            <a:ext cx="50292" cy="893064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33" name="Text 31"/>
          <p:cNvSpPr/>
          <p:nvPr/>
        </p:nvSpPr>
        <p:spPr>
          <a:xfrm>
            <a:off x="6507328" y="417880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도움말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07328" y="4434840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몰라도 되지만 알면 이해가 빨라지는 배경 설명.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87872" y="5090160"/>
            <a:ext cx="5336896" cy="893064"/>
          </a:xfrm>
          <a:prstGeom prst="rect">
            <a:avLst/>
          </a:prstGeom>
          <a:solidFill>
            <a:srgbClr val="D3E2F8"/>
          </a:solidFill>
          <a:ln/>
        </p:spPr>
      </p:sp>
      <p:sp>
        <p:nvSpPr>
          <p:cNvPr id="36" name="Shape 34"/>
          <p:cNvSpPr/>
          <p:nvPr/>
        </p:nvSpPr>
        <p:spPr>
          <a:xfrm>
            <a:off x="6287872" y="5090160"/>
            <a:ext cx="50292" cy="893064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37" name="Text 35"/>
          <p:cNvSpPr/>
          <p:nvPr/>
        </p:nvSpPr>
        <p:spPr>
          <a:xfrm>
            <a:off x="6507328" y="521817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용어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07328" y="5474208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말을 그 자리에서 풀어 줍니다.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시간표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9시에 앉아서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들고 퇴근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하루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1373076"/>
                <a:gridCol w="2883460"/>
                <a:gridCol w="4348074"/>
                <a:gridCol w="2453229"/>
              </a:tblGrid>
              <a:tr h="3388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 · 교과목명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학습 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09:00~10:00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 · 바이브코딩과 행정업무 자동화 이해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설명한 업무 흐름이 실행 가능한 도구가 되는 방식 이해 / 자동화 가능 업무 사례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(강의·실습)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10:00~11:00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 · 자동화 대상 업무 선정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반복·비효율 업무 1개 선정, 입력자료·처리과정·출력결과·검토 기준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11:00~12:00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 · 업무흐름 및 화면구성 설계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입력값·버튼·처리절차·결과 화면 설계, AI에게 전달할 요구사항 명세서 작성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설계서 및 프롬프트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8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12:00~13:00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13:00~14:00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 · 자동화 코드·템플릿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ChatGPT/Claude로 Apps Script·함수·프롬프트 생성, 실제 시트에 적용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자동화 템플릿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14:00~15:00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5교시 · 자동화 도구 구현 및 테스트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실행·자동 분류·요약문 생성 테스트, 오류 수정 프롬프트, 재실행 루틴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 가능한 자동화 도구 초안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15:00~16:00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6교시 · 보안·오류 대응 및 개선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개인정보·보안·저작권·내부자료 입력 제한 기준, 담당자 검토 절차 설계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· 보안 유의사항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16:00~17:00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7교시 · 부서 적용계획 작성 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실행계획 작성, 적용 업무·사용 대상·예상 절감시간·확산 가능성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적용계획서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388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17:00~18:00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8교시 · 부서 적용계획 작성 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경진대회·혁신과제 발전 아이디어, 결과물 공유 및 강사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적용계획서(최종) 및 개선사항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결과물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하루가 끝나면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남는 것 네 가지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763847" cy="914400"/>
        </p:xfrm>
        <a:graphic>
          <a:graphicData uri="http://schemas.openxmlformats.org/drawingml/2006/table">
            <a:tbl>
              <a:tblPr/>
              <a:tblGrid>
                <a:gridCol w="457448"/>
                <a:gridCol w="2378731"/>
                <a:gridCol w="292766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자동화할지 부서에 설명할 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설계서 + 프롬프트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다른 업무를 자동화할 때 그대로 재사용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작동하는 자동화 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내일부터 실제 업무에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+ 적용계획서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확산 · 혁신과제 제출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843655"/>
            <a:ext cx="5763847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843655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971671"/>
            <a:ext cx="5288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셋보다 넷째가 오래 갑니다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227703"/>
            <a:ext cx="5288359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만들었는데 계획서가 없으면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바뀌는 순간 아무도 못 씁니다.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14823" y="1481328"/>
            <a:ext cx="4909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전 준비 — 지금 확인하세요</a:t>
            </a:r>
            <a:endParaRPr lang="en-US" sz="11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14823" y="1755648"/>
          <a:ext cx="4909944" cy="914400"/>
        </p:xfrm>
        <a:graphic>
          <a:graphicData uri="http://schemas.openxmlformats.org/drawingml/2006/table">
            <a:tbl>
              <a:tblPr/>
              <a:tblGrid>
                <a:gridCol w="1603247"/>
                <a:gridCol w="330669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 계정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로그인이 되는지 미리 확인 (개인 계정도 무방)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크롬(Chrome) 브라우저 권장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또는 Claude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계정으로도 실습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 자료 1건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반복하는 업무의 엑셀 파일 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714823" y="4307840"/>
            <a:ext cx="4909944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714823" y="430784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9" name="Text 15"/>
          <p:cNvSpPr/>
          <p:nvPr/>
        </p:nvSpPr>
        <p:spPr>
          <a:xfrm>
            <a:off x="6934279" y="4435856"/>
            <a:ext cx="4434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개인정보는 반드시 지우고 오세요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934279" y="4691888"/>
            <a:ext cx="44344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김철수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연락처는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010-0000-0000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바꾸면 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실습에는 아무 지장이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시간은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줄기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이어집니다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11057839" cy="289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교시의 산출물이 다음 교시의 재료입니다. 그래서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교시를 대충 넘기면 그 뒤가 전부 흐려집니다.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6058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201545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5424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340911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4790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18" name="Text 16"/>
          <p:cNvSpPr/>
          <p:nvPr/>
        </p:nvSpPr>
        <p:spPr>
          <a:xfrm>
            <a:off x="480277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4156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619643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3522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22" name="Text 20"/>
          <p:cNvSpPr/>
          <p:nvPr/>
        </p:nvSpPr>
        <p:spPr>
          <a:xfrm>
            <a:off x="759009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28887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24" name="Text 22"/>
          <p:cNvSpPr/>
          <p:nvPr/>
        </p:nvSpPr>
        <p:spPr>
          <a:xfrm>
            <a:off x="8983751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적용계획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322547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7411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공유·개선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21610"/>
          <a:ext cx="11057839" cy="914400"/>
        </p:xfrm>
        <a:graphic>
          <a:graphicData uri="http://schemas.openxmlformats.org/drawingml/2006/table">
            <a:tbl>
              <a:tblPr/>
              <a:tblGrid>
                <a:gridCol w="1088743"/>
                <a:gridCol w="4165624"/>
                <a:gridCol w="5803472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들어가는 재료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산출물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 — 구글 계정과 브라우저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따라해 본 경험 · 자동화 후보 업무 메모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반복 업무 후보 3개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 (아홉 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 정의서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줄 요구사항 명세서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 명세서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자동화 템플릿 (시트에서 도는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 템플릿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 가능한 자동화 도구 초안 (예외까지 견딤)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초안 + 실제 업무 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· 보안 유의사항 · 사용 설명서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지금까지 전부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적용계획서 (여덟 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 + 동료 피드백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 최종본 · 개선사항 · 3주 계획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방식인가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잘 아는 사람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만듭니다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104185"/>
                <a:gridCol w="2024340"/>
                <a:gridCol w="220837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개발자에게 요청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담당자가 직접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문서 작성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설명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얼마나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주 ~ 몇 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분 ~ 몇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고칠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요청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자리에서 다시 말함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3505200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부서 업무의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상황을 개발자는 모릅니다. 담당자는 압니다.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차이가 이 방식의 전부입니다.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그렇게 하고 있는 공무원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87872" y="1755648"/>
            <a:ext cx="5336896" cy="75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광진구 류승인 주무관은 현직 공무원 신분으로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이상의 실무 도구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만들어 공개하고 있습니다. 법령 검색, 통계 조회, 한글 문서 변환, 주소 표준화 같은 것들입니다.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87872" y="2586990"/>
            <a:ext cx="5336896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7872" y="2586990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16" name="Text 13"/>
          <p:cNvSpPr/>
          <p:nvPr/>
        </p:nvSpPr>
        <p:spPr>
          <a:xfrm>
            <a:off x="6507328" y="27150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처음부터 12개를 만든 것이 아닙니다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07328" y="2971038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30분씩 잡아먹는 일 하나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시작했습니다. 오늘 우리가 하는 것도 그것입니다. 이 과정 마지막 절에서 그 도구들을 직접 써 봅니다.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87872" y="405917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6"/>
          <p:cNvSpPr/>
          <p:nvPr/>
        </p:nvSpPr>
        <p:spPr>
          <a:xfrm>
            <a:off x="6287872" y="405917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7"/>
          <p:cNvSpPr/>
          <p:nvPr/>
        </p:nvSpPr>
        <p:spPr>
          <a:xfrm>
            <a:off x="6507328" y="418719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오늘의 약속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07328" y="444322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프로그래밍을 몰라도 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나오는 순서를 그대로 따라 하시면 되고, 막히면 그 자리에서 손을 드세요.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09:00 ~ 10:00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바이브코딩과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이해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설명한 업무 흐름이 어떻게 실행 가능한 도구가 되는지 이해한다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(다음 시간부터 만들기 시작합니다)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바이브코딩이 무엇을 바꿨나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자동화하기 좋은 업무 · 아닌 업무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0~6 · 5분 만에 첫 자동화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결과물 미리보기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한 줄도 쓰지 않고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자동화를 한 번 통과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설명한 업무 흐름이 어떻게 실행 가능한 도구가 되는지 이해한다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따라하기 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(2교시부터 만들기 시작)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25분 · 준비물은 구글 계정과 브라우저뿐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실제 업무 파일로 하지 마세요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데이터로 만든 연습용 시트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로만 합니다. 실제 자료는 4교시에서 개인정보를 지운 뒤에 씁니다.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결과물 미리보기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212931"/>
                <a:gridCol w="4123965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자동화할지 정한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정의서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화면과 순서를 그린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+ AI에게 줄 프롬프트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4~5교시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도는 자동화 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· 보안 유의사항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7~8교시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적용계획서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87872" y="4349496"/>
            <a:ext cx="5336896" cy="893064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7872" y="4349496"/>
            <a:ext cx="50292" cy="893064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447751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지금은 이해만 하면 됩니다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07328" y="473354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만드는지 알고 시작해야 중간에 길을 잃지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후보 찾기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중에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업무가 있는지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97732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자동화하기 좋은 업무 — 대구시 부서 실제 사례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5977323" cy="914400"/>
        </p:xfrm>
        <a:graphic>
          <a:graphicData uri="http://schemas.openxmlformats.org/drawingml/2006/table">
            <a:tbl>
              <a:tblPr/>
              <a:tblGrid>
                <a:gridCol w="3297833"/>
                <a:gridCol w="1391273"/>
                <a:gridCol w="1288216"/>
              </a:tblGrid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걸리는 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신청자 명단 정리 (여러 시트 합치고 중복 제거)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 ~ 1시간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1회, 5초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분류 (유형별 · 소관 부서별)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1~2분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일괄, 10초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 실적 취합 (제출 파일 모으기)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1회, 10초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안내문 생성 (명단에서 개인별 안내문)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일괄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집행률 계산 + 요약표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1회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정리 (규칙에 맞게 일괄 변경)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928299" y="1481328"/>
            <a:ext cx="46964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맞지 않는 업무 — 솔직하게 말씀드립니다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8299" y="1755648"/>
          <a:ext cx="4696468" cy="914400"/>
        </p:xfrm>
        <a:graphic>
          <a:graphicData uri="http://schemas.openxmlformats.org/drawingml/2006/table">
            <a:tbl>
              <a:tblPr/>
              <a:tblGrid>
                <a:gridCol w="1977460"/>
                <a:gridCol w="271900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이런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1년에 한두 번 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만드는 시간이 더 듭니다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판단이 달라지는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없으면 자동화가 안 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결재 · 승인 자체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책임지는 절차입니다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핵심인 원본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AI에 올릴 수 없습니다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928299" y="3928110"/>
            <a:ext cx="4696468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928299" y="3928110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2"/>
          <p:cNvSpPr/>
          <p:nvPr/>
        </p:nvSpPr>
        <p:spPr>
          <a:xfrm>
            <a:off x="7147755" y="4056126"/>
            <a:ext cx="42209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오늘 대상으로 고르지 마세요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147755" y="4312158"/>
            <a:ext cx="422098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넷에 해당하면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후보로 바꾸는 편이 빠릅니다.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· 한눈에 보기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통과하면 첫 자동화가 끝납니다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11057839" cy="289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설치하지 않습니다. 비용도 들지 않습니다. 그림의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남색 번호가 STEP 번호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0362"/>
          <a:ext cx="11057839" cy="914400"/>
        </p:xfrm>
        <a:graphic>
          <a:graphicData uri="http://schemas.openxmlformats.org/drawingml/2006/table">
            <a:tbl>
              <a:tblPr/>
              <a:tblGrid>
                <a:gridCol w="711323"/>
                <a:gridCol w="4009275"/>
                <a:gridCol w="1293315"/>
                <a:gridCol w="504392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걸리는 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연습용 시트 만들기 (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sheets.new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1행 제목 · 2~4행 데이터 · 탭 이름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흐름을 네 문장으로 적기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칸이 하나도 안 비어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말고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부터 물어보기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코드가 아니라 번호 목록이 나온다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되물음에 답하고 코드 받기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으로 시작하는 코드 한 덩어리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Script에 붙여넣고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로그에 "실행이 완료됨"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확인 · 오류면 그대로 전달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부서별집계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표가 생겼다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업무를 대입해 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시간에 고를 후보를 메모했다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4953762"/>
            <a:ext cx="11057839" cy="893064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953762"/>
            <a:ext cx="50292" cy="893064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081778"/>
            <a:ext cx="10582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준비물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" y="5337810"/>
            <a:ext cx="10582351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계정, 브라우저(크롬 권장). 그게 전부입니다.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연습용 시트를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6370689" cy="3813889"/>
          </a:xfrm>
          <a:prstGeom prst="roundRect">
            <a:avLst>
              <a:gd name="adj" fmla="val 11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google-she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297537" cy="37407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248513" y="1481328"/>
            <a:ext cx="4376254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7522833" y="1636776"/>
            <a:ext cx="38276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22833" y="1865376"/>
            <a:ext cx="3827614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자동화가 걸려 넘어지지 않는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 표 한 장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만든다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48513" y="276860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7248513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2561" y="2754884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주소창에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sheets.new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입력해 빈 시트를 엽니다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48513" y="337489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7248513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32561" y="3361182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1행에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접수번호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항목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금액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입력합니다 —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1행이 제목 행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248513" y="398119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7248513" y="39811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32561" y="3967480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2~4행에 연습용 값을 세 줄 넣습니다 (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2026-0142 / 복지정책과 / 경로당 보수 / 12000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48513" y="458749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7" name="Text 24"/>
          <p:cNvSpPr/>
          <p:nvPr/>
        </p:nvSpPr>
        <p:spPr>
          <a:xfrm>
            <a:off x="7248513" y="458749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32561" y="4573778"/>
            <a:ext cx="399220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아래쪽 시트 탭 이름을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바꿉니다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248513" y="4957826"/>
            <a:ext cx="4376254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Shape 27"/>
          <p:cNvSpPr/>
          <p:nvPr/>
        </p:nvSpPr>
        <p:spPr>
          <a:xfrm>
            <a:off x="7248513" y="495782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Text 28"/>
          <p:cNvSpPr/>
          <p:nvPr/>
        </p:nvSpPr>
        <p:spPr>
          <a:xfrm>
            <a:off x="7467969" y="5085842"/>
            <a:ext cx="39007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67969" y="5341874"/>
            <a:ext cx="390076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1행에 제목이 있고, 2~4행에 데이터가 있고, 탭 이름이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면 준비 완료입니다.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 · 왜 이렇게 만드나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자동화를 깨뜨리는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피하면 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952523"/>
                <a:gridCol w="3384373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말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행으로 표를 나누기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표가 어디서 끝나는지 프로그램이 못 찾는다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병합된 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한 칸에만 있고 나머지는 빈칸으로 읽힌다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중간에 소계 행 넣기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소계를 데이터로 세어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두 배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529584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52958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65760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91363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아래로 쭉 훑어 위 세 가지가 없으면 통과입니다.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7872" y="1481328"/>
            <a:ext cx="5336896" cy="1325880"/>
          </a:xfrm>
          <a:prstGeom prst="rect">
            <a:avLst/>
          </a:prstGeom>
          <a:solidFill>
            <a:srgbClr val="D3E2F8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7872" y="1481328"/>
            <a:ext cx="50292" cy="1325880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17" name="Text 14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1행 제목이 왜 그렇게 중요한가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7328" y="1865376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1행에 적은 열 이름이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AI에게 주는 항목 이름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금액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이라 적었으면 프롬프트에도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금액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이라고 씁니다. 다르게 쓰면 AI가 다른 열을 잡습니다.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87872" y="2953512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2953512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308152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탭 이름 짓는 법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333756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띄어쓰기 없이 짧게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이름을 프롬프트에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하나까지 똑같이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흐름을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문장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적습니다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137430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5887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58879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전체에서 가장 중요합니다.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칸을 종이나 메모장에 채웁니다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137430" cy="914400"/>
        </p:xfrm>
        <a:graphic>
          <a:graphicData uri="http://schemas.openxmlformats.org/drawingml/2006/table">
            <a:tbl>
              <a:tblPr/>
              <a:tblGrid>
                <a:gridCol w="1138394"/>
                <a:gridCol w="1831330"/>
                <a:gridCol w="316770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실습의 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입력으로 들어오나?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시트의 표 (접수번호 · 부서 · 항목 · 금액)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그걸로 무엇을 하나?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부서별로 묶어서 건수와 금액 합계를 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어디에 어떤 모양으로?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시트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부서별집계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에 부서 · 건수 · 합계 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담당자가 무엇을 확인하나?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원본과 맞는지, 부서 이름이 빠지지 않았는지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88406" y="1481328"/>
            <a:ext cx="4536361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88406" y="1481328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307862" y="160934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07862" y="1865376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칸이 다 채워졌나요?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칸이라도 비면 AI는 그 부분을 자기 마음대로 정합니다.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비어 있으면 다시 채우세요.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8406" y="2953512"/>
            <a:ext cx="4536361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1" name="Shape 18"/>
          <p:cNvSpPr/>
          <p:nvPr/>
        </p:nvSpPr>
        <p:spPr>
          <a:xfrm>
            <a:off x="7088406" y="2953512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2" name="Text 19"/>
          <p:cNvSpPr/>
          <p:nvPr/>
        </p:nvSpPr>
        <p:spPr>
          <a:xfrm>
            <a:off x="7307862" y="3081528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이 네 문장은 오늘 계속 씁니다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07862" y="3337560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정의서, 3교시 명세서, 4교시 코드 요청이 전부 이 네 칸에서 나옵니다. 다음에 다른 업무를 자동화할 때도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이 네 칸을 적으세요.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88406" y="4425696"/>
            <a:ext cx="4536361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7088406" y="4425696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6" name="Text 23"/>
          <p:cNvSpPr/>
          <p:nvPr/>
        </p:nvSpPr>
        <p:spPr>
          <a:xfrm>
            <a:off x="7307862" y="4553712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가장 흔한 실수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07862" y="4809744"/>
            <a:ext cx="406087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"사람이 볼 것"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비워 두는 것입니다. 이 칸이 없으면 "AI가 만든 거라 못 믿겠다"로 끝납니다.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말고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"구조"부터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물어봅니다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870585" cy="2477643"/>
          </a:xfrm>
          <a:prstGeom prst="roundRect">
            <a:avLst>
              <a:gd name="adj" fmla="val 18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또는 Claude 에 붙여넣기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5413385" cy="20570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구글 스프레드시트로 행정 업무를 자동화하려는 공무원이야. 코딩은 못 해.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들어오는 것 — "신청접수" 시트의 표. 1행이 제목 행이고 열은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접수번호(A) / 부서(B) / 항목(C) / 금액(D) 이야.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하는 일 —    부서별로 묶어서 건수와 금액 합계를 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나오는 것 —  새 시트 "부서별집계"에 부서 / 건수 / 합계 표로.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사람이 볼 것 — 합계가 원본과 맞는지.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아직 코드는 쓰지 마.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네가 이해한 처리 순서를 번호 목록으로 5단계 이내로 먼저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빠뜨린 조건이 있으면 그것도 질문해 줘.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105275"/>
            <a:ext cx="5870585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4105275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233291"/>
            <a:ext cx="539509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왜 구조부터 보나요?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489323"/>
            <a:ext cx="5395097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잡으면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고칩니다. 코드를 받은 뒤 발견하면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21561" y="1481328"/>
            <a:ext cx="480320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881" y="1636776"/>
            <a:ext cx="425456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95881" y="1865376"/>
            <a:ext cx="425456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코드를 시키지 않습니다.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이해한 게 맞는지 확인합니다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1561" y="2754884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21561" y="275488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7041017" y="288290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1017" y="3138932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목록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나와야 합니다. 아래 같은 되물음이 오면 좋은 신호입니다.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21561" y="4010660"/>
            <a:ext cx="4803206" cy="1192784"/>
          </a:xfrm>
          <a:prstGeom prst="roundRect">
            <a:avLst>
              <a:gd name="adj" fmla="val 3833"/>
            </a:avLst>
          </a:prstGeom>
          <a:solidFill>
            <a:srgbClr val="0B2447"/>
          </a:solidFill>
          <a:ln/>
        </p:spPr>
      </p:sp>
      <p:sp>
        <p:nvSpPr>
          <p:cNvPr id="27" name="Text 25"/>
          <p:cNvSpPr/>
          <p:nvPr/>
        </p:nvSpPr>
        <p:spPr>
          <a:xfrm>
            <a:off x="7050161" y="4129532"/>
            <a:ext cx="43460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이렇게 되물으면 정상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50161" y="4403852"/>
            <a:ext cx="4346006" cy="772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확인이 필요한 것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금액이 비어 있는 행은 0으로 볼까요, 건너뛸까요?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"부서별집계" 시트가 이미 있으면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덮어쓸까요, 새로 만들까요?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답하고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받습니다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답한 뒤, 붙여넣고 바로 실행되는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코드 한 덩어리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받는다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답하면서 코드 요청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1번 — 금액이 비어 있으면 0으로 계산해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2번 — 이미 있으면 내용을 지우고 다시 채워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이제 Google Apps Script 코드를 만들어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붙여넣고 바로 실행되는 완성된 코드로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줄 위에 이게 무슨 일을 하는지 한글 주석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함수 이름은 부서별집계_만들기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664075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664075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792091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5048123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부서별집계_만들기() {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시작하는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한 덩어리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나오면 성공입니다.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답변에서 이런 게 보이면 정상입니다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109935"/>
                <a:gridCol w="3226960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 onOpen() {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메뉴를 만드는 부분 — 있어야 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 어떤이름() {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작업을 하는 부분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 한국어 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주석 — 컴퓨터는 무시하고 사람만 읽습니다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287872" y="3374644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287872" y="337464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6" name="Text 23"/>
          <p:cNvSpPr/>
          <p:nvPr/>
        </p:nvSpPr>
        <p:spPr>
          <a:xfrm>
            <a:off x="6507328" y="35026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코드를 이해할 필요는 없습니다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07328" y="375869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글자도 고치지 마세요.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고쳐야 할 곳이 있으면 손으로 고치지 말고 AI에게 다시 시킵니다.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87872" y="4630420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9" name="Shape 26"/>
          <p:cNvSpPr/>
          <p:nvPr/>
        </p:nvSpPr>
        <p:spPr>
          <a:xfrm>
            <a:off x="6287872" y="4630420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30" name="Text 27"/>
          <p:cNvSpPr/>
          <p:nvPr/>
        </p:nvSpPr>
        <p:spPr>
          <a:xfrm>
            <a:off x="6507328" y="47584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어느 AI를 쓸까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507328" y="50144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실습에서는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를 권합니다.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코드를 통째로 주고, 오류 설명이 친절합니다. ChatGPT도 무료 계정으로 충분히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붙여넣고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6370689" cy="3902054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apps-scr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297537" cy="382890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248513" y="1481328"/>
            <a:ext cx="4376254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7522833" y="1636776"/>
            <a:ext cx="38276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22833" y="1865376"/>
            <a:ext cx="3827614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코드를 시트에 붙여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한 번 돌린다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48513" y="276860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7248513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2561" y="2754884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상단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[확장 프로그램] → [Apps Script]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누릅니다 (새 탭이 열립니다)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48513" y="337489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7248513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32561" y="3361182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편집기에 있던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myFunction() {}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지우고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받은 코드를 붙여넣습니다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248513" y="398119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7248513" y="39811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32561" y="3967480"/>
            <a:ext cx="399220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(💾 또는 Ctrl+S) 을 누릅니다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48513" y="436524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7" name="Text 24"/>
          <p:cNvSpPr/>
          <p:nvPr/>
        </p:nvSpPr>
        <p:spPr>
          <a:xfrm>
            <a:off x="7248513" y="43652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32561" y="4351528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드롭다운에서 함수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부서별집계_만들기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고르고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[▶ 실행]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248513" y="4957826"/>
            <a:ext cx="4376254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Shape 27"/>
          <p:cNvSpPr/>
          <p:nvPr/>
        </p:nvSpPr>
        <p:spPr>
          <a:xfrm>
            <a:off x="7248513" y="495782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Text 28"/>
          <p:cNvSpPr/>
          <p:nvPr/>
        </p:nvSpPr>
        <p:spPr>
          <a:xfrm>
            <a:off x="7467969" y="5085842"/>
            <a:ext cx="39007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67969" y="5341874"/>
            <a:ext cx="390076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아래쪽 실행 로그에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"실행이 완료됨"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보이면 성공입니다.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가장 많이 멈추는 자리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요청 창이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무섭게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나오는데요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정상입니다. 구글은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만든 스크립트가 내 시트를 건드려도 되는지"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매번 묻습니다. 첫 실행 때 한 번만 하면 됩니다.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78228"/>
          <a:ext cx="5336896" cy="914400"/>
        </p:xfrm>
        <a:graphic>
          <a:graphicData uri="http://schemas.openxmlformats.org/drawingml/2006/table">
            <a:tbl>
              <a:tblPr/>
              <a:tblGrid>
                <a:gridCol w="2784467"/>
                <a:gridCol w="2552428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나오는 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눌러야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앱은 Google에서 확인하지 않았습니다"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[고급]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[(프로젝트명)(으)로 이동]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"○○에 대한 액세스 권한 요청"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[허용]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3556508"/>
            <a:ext cx="5336896" cy="1109472"/>
          </a:xfrm>
          <a:prstGeom prst="rect">
            <a:avLst/>
          </a:prstGeom>
          <a:solidFill>
            <a:srgbClr val="D3E2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3556508"/>
            <a:ext cx="50292" cy="1109472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6845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왜 "확인되지 않았습니다" 라고 나오나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" y="39405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구글이 검수한 정식 배포 앱이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방금 만든 스크립트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때문입니다. 위험해서 뜨는 경고가 아닙니다.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 스크립트는 어디까지 도나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계정의 내 시트 안에서만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돕니다. 시트 데이터가 외부로 나가지 않습니다.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7872" y="2737104"/>
            <a:ext cx="5336896" cy="1975104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7872" y="2737104"/>
            <a:ext cx="50292" cy="1975104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22" name="Text 19"/>
          <p:cNvSpPr/>
          <p:nvPr/>
        </p:nvSpPr>
        <p:spPr>
          <a:xfrm>
            <a:off x="6507328" y="286512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 이 화면이 안 나오면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07328" y="3121152"/>
            <a:ext cx="48614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창이 아예 안 뜨고 아무 일도 없다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저장(💾)을 안 한 것입니다. 저장 후 다시 실행하세요.
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메뉴가 안 생긴다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시트 탭에서 브라우저 새로고침(F5). 10초 기다렸다 한 번 더.
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오류 줄이 나온다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정상적인 과정입니다. 다음 STEP 으로 가세요.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확인합니다 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오류는 실패가 아닙니다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055100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시트로 돌아가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탭이 새로 생겼는지 본다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603740" cy="914400"/>
        </p:xfrm>
        <a:graphic>
          <a:graphicData uri="http://schemas.openxmlformats.org/drawingml/2006/table">
            <a:tbl>
              <a:tblPr/>
              <a:tblGrid>
                <a:gridCol w="2417300"/>
                <a:gridCol w="1318527"/>
                <a:gridCol w="1867913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· 건수 · 합계 표가 생김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6으로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빨간 오류 줄이 나옴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정상적인 과정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 방법으로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표는 생겼는데 숫자가 이상함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누락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1의 네 칸을 다시 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329303"/>
            <a:ext cx="5603740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32930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457319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오류는 정식 절차입니다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4713351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문장을 그대로 붙여넣는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방식의 정상적인 진행입니다. 두세 번 주고받으면 대부분 해결됩니다.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났을 때 — 고치려 하지 마세요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54716" y="1755648"/>
            <a:ext cx="5070051" cy="1226820"/>
          </a:xfrm>
          <a:prstGeom prst="roundRect">
            <a:avLst>
              <a:gd name="adj" fmla="val 3727"/>
            </a:avLst>
          </a:prstGeom>
          <a:solidFill>
            <a:srgbClr val="0B2447"/>
          </a:solidFill>
          <a:ln/>
        </p:spPr>
      </p:sp>
      <p:sp>
        <p:nvSpPr>
          <p:cNvPr id="22" name="Text 19"/>
          <p:cNvSpPr/>
          <p:nvPr/>
        </p:nvSpPr>
        <p:spPr>
          <a:xfrm>
            <a:off x="6783316" y="1874520"/>
            <a:ext cx="46128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문장을 그대로 복사해 붙여넣기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783316" y="2148840"/>
            <a:ext cx="4612851" cy="806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실행했더니 이런 오류가 났어. 무슨 뜻이고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어떻게 고치면 되는지 고친 코드 전체로 다시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(오류 문장을 그대로 붙여넣기)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54716" y="3128772"/>
            <a:ext cx="5070051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554716" y="3128772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6" name="Text 23"/>
          <p:cNvSpPr/>
          <p:nvPr/>
        </p:nvSpPr>
        <p:spPr>
          <a:xfrm>
            <a:off x="6774172" y="3256788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요약하지 말고 그대로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774172" y="3512820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번호와 오류 이름이 해결의 열쇠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첫 줄만 복사하면 AI가 어디인지 모릅니다. 빨간 글씨 전체를 드래그하세요.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54716" y="4384548"/>
            <a:ext cx="5070051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54716" y="438454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Text 27"/>
          <p:cNvSpPr/>
          <p:nvPr/>
        </p:nvSpPr>
        <p:spPr>
          <a:xfrm>
            <a:off x="6774172" y="4512564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774172" y="4768596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코드를 다시 붙여넣기 → 저장 → 실행. 이 고리를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고쳐질 때까지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돕니다.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업무를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대입해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137430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5887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58879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통과한 흐름에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넣어 본다 — 다음 시간에 고를 후보를 지금 찾는다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137430" cy="914400"/>
        </p:xfrm>
        <a:graphic>
          <a:graphicData uri="http://schemas.openxmlformats.org/drawingml/2006/table">
            <a:tbl>
              <a:tblPr/>
              <a:tblGrid>
                <a:gridCol w="1305836"/>
                <a:gridCol w="1828171"/>
                <a:gridCol w="2263449"/>
                <a:gridCol w="73997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신청자 명단 정리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부서가 낸 신청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제거 · 정렬된 한 개 명단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분류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접수 목록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유형별로 나뉘고 담당과가 붙은 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취합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 월간 실적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· 항목별 집계표와 전월 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안내문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대상자 명단 + 안내문 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대상자별로 이름 · 일자가 채워진 안내문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88406" y="1481328"/>
            <a:ext cx="4536361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88406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307862" y="160934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07862" y="1865376"/>
            <a:ext cx="406087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 하나에 내 업무가 걸리나요?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다음 시간에 고를 후보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지금 메모해 두세요.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8406" y="2737104"/>
            <a:ext cx="4536361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Shape 18"/>
          <p:cNvSpPr/>
          <p:nvPr/>
        </p:nvSpPr>
        <p:spPr>
          <a:xfrm>
            <a:off x="7088406" y="2737104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Text 19"/>
          <p:cNvSpPr/>
          <p:nvPr/>
        </p:nvSpPr>
        <p:spPr>
          <a:xfrm>
            <a:off x="7307862" y="2865120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방금 무슨 일이 일어났나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07862" y="3121152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줄도 쓰지 않았습니다.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문장으로 설명하고, 구조를 확인하고, 받은 것을 붙여넣고 실행했을 뿐입니다.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88406" y="4209288"/>
            <a:ext cx="4536361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5" name="Shape 22"/>
          <p:cNvSpPr/>
          <p:nvPr/>
        </p:nvSpPr>
        <p:spPr>
          <a:xfrm>
            <a:off x="7088406" y="4209288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6" name="Text 23"/>
          <p:cNvSpPr/>
          <p:nvPr/>
        </p:nvSpPr>
        <p:spPr>
          <a:xfrm>
            <a:off x="7307862" y="433730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이 방향의 끝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07862" y="4593336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광진구 류승인 주무관은 같은 방식으로 시작해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이상의 도구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만들어 공개했습니다. 처음부터 12개가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30분씩 잡아먹는 일 하나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부터였습니다.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11:00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대상 업무 선정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또는 부서 업무 중 반복·비효율 업무 1개를 골라 정의한다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대상 업무 정의서 (아홉 칸)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3개 적기 · 점수로 하나 고르기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 · 아홉 칸 · 입력 · 처리 과정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4~6 · 검토 기준 · 개인정보 · 전후 비교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AI에게 정의서 검토시키기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종일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업무 하나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붙잡습니다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반복·비효율 업무 1개를 골라 정의한다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40분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133344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13334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2613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욕심내지 마세요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51739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명확한 것이 끝까지 갑니다.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크게 벌이면 오후에 못 끝냅니다.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38912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66928" y="438912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45171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여기가 정확하면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86384" y="47731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거의 자동으로 굴러갑니다. 반대로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대충 적으면 오후 내내 헤맵니다.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후보 3개 적기 (5분)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287872" y="17556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종이나 시트에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매주 반복하는 일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3개를 적습니다. 아래 질문에 걸리는 것을 찾으세요.</a:t>
            </a:r>
            <a:endParaRPr lang="en-US" sz="12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316480"/>
          <a:ext cx="5336896" cy="914400"/>
        </p:xfrm>
        <a:graphic>
          <a:graphicData uri="http://schemas.openxmlformats.org/drawingml/2006/table">
            <a:tbl>
              <a:tblPr/>
              <a:tblGrid>
                <a:gridCol w="2490551"/>
                <a:gridCol w="284634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매주·매월 똑같이 반복하는가?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실적 취합, 월간 집행 현황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엑셀을 열어 손으로 옮기는가?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부서 제출 파일 합치기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정해져 있는가?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"A열이 비면 제외", "○○과 것만"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하다가 자주 틀리는가?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복사·붙여넣기 하다 행이 밀림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하나만 고르기 (5분)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가장 높은 것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오늘의 대상으로 정합니다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6137430" cy="914400"/>
        </p:xfrm>
        <a:graphic>
          <a:graphicData uri="http://schemas.openxmlformats.org/drawingml/2006/table">
            <a:tbl>
              <a:tblPr/>
              <a:tblGrid>
                <a:gridCol w="1682844"/>
                <a:gridCol w="1484862"/>
                <a:gridCol w="1583853"/>
                <a:gridCol w="138587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주기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걸리는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 ~ 1시간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 미만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명확성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딱 정해짐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대체로 정해짐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그때그때 다름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처리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6137430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566194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 항목이 1점이면 오늘 대상에서 빼세요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5661942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후보로 바꿉니다.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오후에 가서 바꾸면 하루를 버립니다.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8406" y="1481328"/>
            <a:ext cx="453636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고른 예 / 잘못 고른 예</a:t>
            </a:r>
            <a:endParaRPr lang="en-US" sz="115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8406" y="1755648"/>
          <a:ext cx="4536361" cy="914400"/>
        </p:xfrm>
        <a:graphic>
          <a:graphicData uri="http://schemas.openxmlformats.org/drawingml/2006/table">
            <a:tbl>
              <a:tblPr/>
              <a:tblGrid>
                <a:gridCol w="708806"/>
                <a:gridCol w="2173673"/>
                <a:gridCol w="1653882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6개 팀 제출 시트 합치고 중복 제거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· 규칙 명확 · 시간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접수 내용을 유형별로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규칙화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명단에서 개인별 안내문 일괄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양식 고정, 반복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편성 방향 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민원인에게 최종 답변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책임이 따르는 결재 행위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인사 자료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원본 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 칸짜리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업무 하나를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한 장으로 확정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336896" cy="914400"/>
        </p:xfrm>
        <a:graphic>
          <a:graphicData uri="http://schemas.openxmlformats.org/drawingml/2006/table">
            <a:tbl>
              <a:tblPr/>
              <a:tblGrid>
                <a:gridCol w="2320389"/>
                <a:gridCol w="3016506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적을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업무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얼마나 자주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한 번에 걸리는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들어오는 자료(입력)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처리 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나오는 결과(출력)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담당자 검토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 자동화 후 예상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예시 — 이 정도 구체성이면 통과</a:t>
            </a:r>
            <a:endParaRPr lang="en-US" sz="11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334224"/>
                <a:gridCol w="4002672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업무명 · 주기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부서별 실적 취합 / 매주 금요일 / 약 90분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팀 제출 시트 6개 (팀명/항목/건수/비고)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6개 파일 열기 ② 한 시트에 복사 ③ 중복 행 삭제 ④ 팀별 합계 ⑤ 요약표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건수 합계표 + 전주 대비 증감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 총합과 일치하는지, 누락 팀 없는지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팀이 양식을 다르게 제출, 값이 빈 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287872" y="4523232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5"/>
          <p:cNvSpPr/>
          <p:nvPr/>
        </p:nvSpPr>
        <p:spPr>
          <a:xfrm>
            <a:off x="6287872" y="4523232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6"/>
          <p:cNvSpPr/>
          <p:nvPr/>
        </p:nvSpPr>
        <p:spPr>
          <a:xfrm>
            <a:off x="6507328" y="46512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07328" y="4907280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표가 만들어졌으면 다음으로. 오른쪽 칸은 지금 비워 둡니다.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들어오는 자료를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구체적으로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870585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32194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321945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대충 적는 칸.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"엑셀 파일"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이라고만 쓰면 안 된다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870585" cy="914400"/>
        </p:xfrm>
        <a:graphic>
          <a:graphicData uri="http://schemas.openxmlformats.org/drawingml/2006/table">
            <a:tbl>
              <a:tblPr/>
              <a:tblGrid>
                <a:gridCol w="1417038"/>
                <a:gridCol w="1214604"/>
                <a:gridCol w="323894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적어야 할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형태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엑셀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.xlsx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파일 3개 (과별 1개씩)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 오나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 5일까지 메일로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과당 30~80행, 합계 약 200행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이름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 / 부서 / 항목 / 금액 / 처리상태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서식이 같은가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다름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과마다 열 순서가 제각각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821561" y="1481328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821561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041017" y="1609344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41017" y="1865376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하나도 빠짐없이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적었나요? 열 이름이 곧 AI에게 줄 항목 이름입니다.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21561" y="2737104"/>
            <a:ext cx="480320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6821561" y="273710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2" name="Text 19"/>
          <p:cNvSpPr/>
          <p:nvPr/>
        </p:nvSpPr>
        <p:spPr>
          <a:xfrm>
            <a:off x="7041017" y="286512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열 이름 하나가 틀리면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041017" y="3121152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열을 잡습니다.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시트에 적힌 글자를 그대로 옮겨 적으세요 — 띄어쓰기와 괄호까지.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21561" y="3992880"/>
            <a:ext cx="4803206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5" name="Shape 22"/>
          <p:cNvSpPr/>
          <p:nvPr/>
        </p:nvSpPr>
        <p:spPr>
          <a:xfrm>
            <a:off x="6821561" y="3992880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6" name="Text 23"/>
          <p:cNvSpPr/>
          <p:nvPr/>
        </p:nvSpPr>
        <p:spPr>
          <a:xfrm>
            <a:off x="7041017" y="4120896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서식이 제각각이어도 됩니다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041017" y="4376928"/>
            <a:ext cx="432771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"과마다 열 순서가 다르다"는 사실을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적어 두기만 하면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그것까지 처리하는 코드를 만듭니다. 숨기면 못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처리 과정을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번호로 쪼갭니다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05510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머릿속으로 하던 일을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줄에 하나씩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번호로 적는다. "정리한다" 같은 뭉뚱그린 표현은 쪼갠다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603740" cy="1941576"/>
          </a:xfrm>
          <a:prstGeom prst="roundRect">
            <a:avLst>
              <a:gd name="adj" fmla="val 2355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51465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예 — 이렇게 적습니다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5146540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과별 파일 3개를 연다.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열 순서를 접수번호 / 부서 / 항목 / 금액 / 처리상태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로 통일한다.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세 파일의 데이터를 한 시트 아래로 이어 붙인다.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접수번호가 같은 행이 있으면 나중 것만 남긴다.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부서별로 묶어 건수와 금액 합계를 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금액이 비어 있는 행은 0으로 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결과를 "부서별집계" 시트에 표로 넣는다.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842764"/>
            <a:ext cx="5603740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842764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970780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예외 처리가 없는 정의서는 반쪽입니다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5226812"/>
            <a:ext cx="5128252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업무가 막히는 곳은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예외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54716" y="1481328"/>
            <a:ext cx="5070051" cy="869442"/>
          </a:xfrm>
          <a:prstGeom prst="roundRect">
            <a:avLst>
              <a:gd name="adj" fmla="val 5259"/>
            </a:avLst>
          </a:prstGeom>
          <a:solidFill>
            <a:srgbClr val="0B2447"/>
          </a:solidFill>
          <a:ln/>
        </p:spPr>
      </p:sp>
      <p:sp>
        <p:nvSpPr>
          <p:cNvPr id="23" name="Text 21"/>
          <p:cNvSpPr/>
          <p:nvPr/>
        </p:nvSpPr>
        <p:spPr>
          <a:xfrm>
            <a:off x="6783316" y="1600200"/>
            <a:ext cx="46128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예 — 이러면 AI가 마음대로 정합니다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3316" y="1874520"/>
            <a:ext cx="4612851" cy="448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파일들을 정리해서 합친다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보고서를 만든다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54716" y="2497074"/>
            <a:ext cx="5070051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54716" y="249707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74172" y="2625090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74172" y="2881122"/>
            <a:ext cx="4594563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세 가지를 점검하세요.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3536442"/>
          <a:ext cx="5070051" cy="914400"/>
        </p:xfrm>
        <a:graphic>
          <a:graphicData uri="http://schemas.openxmlformats.org/drawingml/2006/table">
            <a:tbl>
              <a:tblPr/>
              <a:tblGrid>
                <a:gridCol w="2107774"/>
                <a:gridCol w="2962277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줄에 동작이 하나뿐인가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"합치고 정리한다" 는 두 줄로 쪼갠다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처리가 들어 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값·중복·오타를 어떻게 할지 (위의 4·6번)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순서를 바꾸면 결과가 달라지나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그렇다면 순서가 맞게 적힌 것이다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담당자 검토 기준 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자주 빠지는 칸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자동화의 결과를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무엇을 보고 믿을지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정한다. 이게 없으면 "AI가 만든 거라 못 믿겠다"로 끝난다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584198"/>
          </a:xfrm>
          <a:prstGeom prst="roundRect">
            <a:avLst>
              <a:gd name="adj" fmla="val 2886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적습니다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16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검토 기준 (예)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합계 행의 총액이 원본 세 파일의 총액과 같은가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 행 개수가 원본 행 수에서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중복 제거분을 뺀 수와 같은가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부서 이름이 5개 과 모두 나왔는가 (빠진 과가 없는가)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[확인 필요] 로 표시된 항목이 몇 건인가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기준은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확인 가능한 문장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합니다. "잘 됐는지 본다"는 기준이 아닙니다.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737104"/>
          <a:ext cx="5336896" cy="914400"/>
        </p:xfrm>
        <a:graphic>
          <a:graphicData uri="http://schemas.openxmlformats.org/drawingml/2006/table">
            <a:tbl>
              <a:tblPr/>
              <a:tblGrid>
                <a:gridCol w="2304569"/>
                <a:gridCol w="303232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기준이 아닌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기준인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됐는지 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합계 = 원본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=SUM()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게 없나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5곳이 모두 나왔는가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이상하면 다시 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건수가 0건인가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287872" y="4356100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287872" y="4356100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5" name="Text 22"/>
          <p:cNvSpPr/>
          <p:nvPr/>
        </p:nvSpPr>
        <p:spPr>
          <a:xfrm>
            <a:off x="6507328" y="44841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왜 숫자여야 하나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07328" y="47401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봐도 같은 판정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나옵니다. 담당자가 바뀌어도 검토 결과가 흔들리지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개인정보를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055100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업무를 오늘 대상으로 삼아도 되는지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결정한다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603740" cy="914400"/>
        </p:xfrm>
        <a:graphic>
          <a:graphicData uri="http://schemas.openxmlformats.org/drawingml/2006/table">
            <a:tbl>
              <a:tblPr/>
              <a:tblGrid>
                <a:gridCol w="1449243"/>
                <a:gridCol w="2222173"/>
                <a:gridCol w="193232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이름·연락처·고유번호가 아예 없다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진행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처리 후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이름은 있지만 없어도 일이 된다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열을 A·B·C로 바꾼 뒤 진행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업무는 부적합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업무의 본질이다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업무로 바꾼다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709033"/>
            <a:ext cx="5603740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70903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837049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5093081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번째에 해당하면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업무를 바꾸세요.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오후에 가서 바꾸면 하루를 버립니다.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처리해도 결과는 똑같습니다</a:t>
            </a:r>
            <a:endParaRPr lang="en-US" sz="115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1755648"/>
          <a:ext cx="5070051" cy="914400"/>
        </p:xfrm>
        <a:graphic>
          <a:graphicData uri="http://schemas.openxmlformats.org/drawingml/2006/table">
            <a:tbl>
              <a:tblPr/>
              <a:tblGrid>
                <a:gridCol w="2028020"/>
                <a:gridCol w="1802685"/>
                <a:gridCol w="123934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홍길동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민원인A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010-1234-5678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(열 삭제)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대구시 ○○구 ○○동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○○구 (구 단위만)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554716" y="3374644"/>
            <a:ext cx="5070051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3" name="Shape 19"/>
          <p:cNvSpPr/>
          <p:nvPr/>
        </p:nvSpPr>
        <p:spPr>
          <a:xfrm>
            <a:off x="6554716" y="3374644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4" name="Text 20"/>
          <p:cNvSpPr/>
          <p:nvPr/>
        </p:nvSpPr>
        <p:spPr>
          <a:xfrm>
            <a:off x="6774172" y="3502660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실무 요령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774172" y="3758692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시트에서 이름 열을 선택하고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로 바꾸는 데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됩니다. 원본은 따로 두고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복사본에서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/ 후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비교합니다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절감 시간을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뽑는다. 7교시 적용계획서와 혁신과제 제출에 그대로 쓴다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1429526"/>
                <a:gridCol w="1429526"/>
                <a:gridCol w="247784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후 (예상)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 (실행 1분 + 검토 4분)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가능성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 중 행 누락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규칙대로 처리 — 대신 규칙이 틀리면 전부 틀림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사람이 할 수 있나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인수인계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버튼만 누르면 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기대효과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85분 × 4주 =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약 5.7시간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87872" y="1481328"/>
            <a:ext cx="5336896" cy="1941576"/>
          </a:xfrm>
          <a:prstGeom prst="roundRect">
            <a:avLst>
              <a:gd name="adj" fmla="val 2355"/>
            </a:avLst>
          </a:prstGeom>
          <a:solidFill>
            <a:srgbClr val="0B2447"/>
          </a:solidFill>
          <a:ln/>
        </p:spPr>
      </p:sp>
      <p:sp>
        <p:nvSpPr>
          <p:cNvPr id="17" name="Text 14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계산합니다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16472" y="1874520"/>
            <a:ext cx="4879696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전 — 월 1회 × 3시간 = 연 36시간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후 — 월 1회 × 20분(붙여넣기 + 검토) = 연 4시간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절감 —      연 32시간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줄어드는 오류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복사·붙여넣기 중 행이 밀리는 실수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과별 열 순서를 잘못 맞춘 실수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중복 접수건을 두 번 센 실수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87872" y="356920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356920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36972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39532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단위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계산하세요. "월 3시간"은 작아 보이지만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 36시간"은 결재선을 설득합니다.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정의서를 검토시킵니다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2298954"/>
          </a:xfrm>
          <a:prstGeom prst="roundRect">
            <a:avLst>
              <a:gd name="adj" fmla="val 1989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51465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또는 Claude 에 붙여넣기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5146540" cy="18783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작성한 자동화 대상 업무 정의서야.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도구를 만들기에 정보가 충분한지 검토해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빠진 정보가 있으면 무엇을 더 물어봐야 하는지 목록으로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처리 과정 중 애매해서 사람마다 다르게 해석할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문장이 있으면 지적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예외 상황(빈 값·중복·오타) 처리가 빠진 곳이 있으면 지적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정의서 ---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(위에서 채운 아홉 칸을 붙여넣기)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926586"/>
            <a:ext cx="5603740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92658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054602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310634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지적받은 항목을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정의서에 반영해 고칩니다.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보통 2~3개가 나옵니다.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자동화 대상 업무 정의서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1755648"/>
          <a:ext cx="5070051" cy="914400"/>
        </p:xfrm>
        <a:graphic>
          <a:graphicData uri="http://schemas.openxmlformats.org/drawingml/2006/table">
            <a:tbl>
              <a:tblPr/>
              <a:tblGrid>
                <a:gridCol w="373583"/>
                <a:gridCol w="4696468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아홉 칸이 모두 채워졌다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자료의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이름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빠짐없이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과정이 한 줄에 동작 하나로 번호가 매겨졌다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값 · 중복 · 오타 처리가 들어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기준이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숫자로 확인 가능한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문장이다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판정이 끝났다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절감 시간이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단위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계산됐다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검토 지적사항을 반영했다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554716" y="5118354"/>
            <a:ext cx="5070051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2" name="Shape 19"/>
          <p:cNvSpPr/>
          <p:nvPr/>
        </p:nvSpPr>
        <p:spPr>
          <a:xfrm>
            <a:off x="6554716" y="511835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Text 20"/>
          <p:cNvSpPr/>
          <p:nvPr/>
        </p:nvSpPr>
        <p:spPr>
          <a:xfrm>
            <a:off x="6774172" y="5246370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8개가 다 채워지면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774172" y="5502402"/>
            <a:ext cx="4594563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저장해 두세요 — 3·4교시에서 계속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11:00 ~ 12:00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업무흐름 및 화면구성 설계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입력값·버튼·처리절차·결과 화면을 설계하고, AI에게 줄 요구사항 명세서를 쓴다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설계서 + AI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이루는 네 부분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도구 화면 익히기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1~5 · 입력 · 실행 · 처리 · 결과 설계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6~7 · 명세서로 합치고 검토받기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가장 중요한 시간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8132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여기가 좋으면 오후가 편합니다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설계서가 좋으면 4교시에 AI가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 줍니다. 설계서가 부실하면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내내 고칩니다.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이 네 부분으로 이뤄집니다</a:t>
            </a:r>
            <a:endParaRPr lang="en-US" sz="11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923693"/>
                <a:gridCol w="1744754"/>
                <a:gridCol w="266844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업무에서는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무엇이 들어오나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'원본' 시트, A열 팀명 / B열 항목 / C열 건수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누르면 시작되나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메뉴에 '실적 취합' 항목 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무슨 순서로 도나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→ 중복 제거 → 팀별 합계 → 정렬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무엇이 남나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'요약' 시트에 팀별 합계표, 완료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말을 컴퓨터가 할 수 있는 말로</a:t>
            </a:r>
            <a:endParaRPr lang="en-US" sz="115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703265"/>
                <a:gridCol w="3633631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컴퓨터가 할 수 있는 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"대충 정리해서"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 기준으로 오름차순 정렬하고"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"중복은 빼고"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"A열+B열이 같은 행은 첫 번째만 남기고"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"빈 건 제외"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"C열이 비었거나 0인 행은 제외하고"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"합쳐서"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 값이 같은 행끼리 C열을 더해서"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"보기 좋게"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"제목 행은 굵게, 숫자는 천 단위 쉼표로"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287872" y="4101846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287872" y="4101846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0" name="Text 16"/>
          <p:cNvSpPr/>
          <p:nvPr/>
        </p:nvSpPr>
        <p:spPr>
          <a:xfrm>
            <a:off x="6507328" y="422986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이 번역이 설계의 전부입니다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07328" y="448589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정의서의 처리과정을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칸의 말투로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쓰면 그것이 설계서입니다.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① 네 가지 도구 화면 익히기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설계서를 쓰기 전에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화면에서 도는지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12351"/>
                <a:gridCol w="1924782"/>
                <a:gridCol w="2099762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쓰나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Sheets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담는 그릇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모든 자동화의 출발점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일을 하는 부분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· 정리 · 문서 생성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받아오는 입구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사람에게서 자료를 모을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노코드 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조건에 따라 자동으로 잇는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손 없이 계속 돌려야 할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429768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29768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442569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넷을 다 쓸 필요는 없습니다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68172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행정 업무는 Sheets + Apps Script 둘로 끝납니다.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폼과 노코드는 필요할 때만 붙입니다.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업무에는 무엇이 필요한가 — 2교시 정의서를 펴고 대 보세요</a:t>
            </a:r>
            <a:endParaRPr lang="en-US" sz="115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722906"/>
                <a:gridCol w="261399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정의서의 "들어오는 자료"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시트에 직접 붙여넣는다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Sheets + Apps Script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사람이 제출한다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웹폼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Sheets + Apps Script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시각마다 저절로 돌아야 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노코드 도구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(또는 Apps Script 트리거)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조건에 따라 다른 사람에게 알림이 가야 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노코드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87872" y="4060190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7872" y="4060190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41882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07328" y="4444238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고른 조합을 다음 실습의 설계서에 적습니다.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Sheets 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담는 그릇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6370689" cy="3813889"/>
          </a:xfrm>
          <a:prstGeom prst="roundRect">
            <a:avLst>
              <a:gd name="adj" fmla="val 11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google-she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297537" cy="37407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248513" y="1481328"/>
            <a:ext cx="4376254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7522833" y="1636776"/>
            <a:ext cx="38276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22833" y="1865376"/>
            <a:ext cx="3827614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자동화가 걸려 넘어지지 않는 표를 만든다 — 규칙은 셋뿐이다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48513" y="276860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7248513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2561" y="2754884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1행을 제목 행으로.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여기 적은 열 이름이 그대로 AI에게 주는 항목 이름이 됩니다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48513" y="337489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7248513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32561" y="3361182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시트에는 표를 하나만.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빈 행·병합 셀·중간 소계 행이 있으면 자동화가 깨집니다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248513" y="398119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7248513" y="39811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32561" y="3967480"/>
            <a:ext cx="3992206" cy="721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탭 이름을 띄어쓰기 없이 짧게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이름을 프롬프트에 그대로 씁니다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48513" y="4799203"/>
            <a:ext cx="4376254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Shape 24"/>
          <p:cNvSpPr/>
          <p:nvPr/>
        </p:nvSpPr>
        <p:spPr>
          <a:xfrm>
            <a:off x="7248513" y="479920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Text 25"/>
          <p:cNvSpPr/>
          <p:nvPr/>
        </p:nvSpPr>
        <p:spPr>
          <a:xfrm>
            <a:off x="7467969" y="4927219"/>
            <a:ext cx="39007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67969" y="5183251"/>
            <a:ext cx="390076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[확장 프로그램] → [Apps Script]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눌러 다음 화면이 열리면 준비 완료입니다.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 Script 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일을 하는 부분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480226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apps-scr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40707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코드를 붙여넣고 실행한다 — 코드를 이해할 필요는 없다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76860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754884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있던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myFunction() {}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지우고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받은 코드를 붙여넣습니다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337489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3361182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드롭다운에서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고르고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[▶ 실행]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75894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75894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745230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실행에만 권한 창 —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[고급] → [프로젝트로 이동] → [허용]</a:t>
            </a:r>
            <a:endParaRPr lang="en-US" sz="12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4351528"/>
          <a:ext cx="5070051" cy="914400"/>
        </p:xfrm>
        <a:graphic>
          <a:graphicData uri="http://schemas.openxmlformats.org/drawingml/2006/table">
            <a:tbl>
              <a:tblPr/>
              <a:tblGrid>
                <a:gridCol w="1796980"/>
                <a:gridCol w="1219379"/>
                <a:gridCol w="2053691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실행이 완료됨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시트에서 결과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빨간 오류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AI에게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아무것도 안 나옴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후 다시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웹폼 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받아오는 입구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693168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web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62001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메일로 파일을 받아 손으로 옮기던 일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없앤다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53415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534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520442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이름을 시트 열 이름과 똑같이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맞춥니다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291820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291820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2904490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유형을 정확히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고릅니다 (아래 표)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30225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30225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288538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[응답] 탭 → 스프레드시트 아이콘</a:t>
            </a:r>
            <a:endParaRPr lang="en-US" sz="12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3672586"/>
          <a:ext cx="5070051" cy="914400"/>
        </p:xfrm>
        <a:graphic>
          <a:graphicData uri="http://schemas.openxmlformats.org/drawingml/2006/table">
            <a:tbl>
              <a:tblPr/>
              <a:tblGrid>
                <a:gridCol w="1094670"/>
                <a:gridCol w="1440355"/>
                <a:gridCol w="253502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받을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고를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드롭다운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"복지정책과"·"복지 정책과"가 섞인다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글자가 섞이면 합계가 안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9/5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9월 5일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섞인다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단답형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빠지면 중복 제거가 안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노코드 도구 —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따라 자동으로 잇기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861280"/>
          </a:xfrm>
          <a:prstGeom prst="roundRect">
            <a:avLst>
              <a:gd name="adj" fmla="val 1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nocod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788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"○○하면 △△한다"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사람 손 없이 계속 돌린다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53415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534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520442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트리거는 하나만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폼 제출 / 특정 시각 / 파일 추가 / 행 추가 중 하나. 둘이 필요하면 흐름을 나눕니다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314045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3140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3126740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조건도 되도록 하나만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셋을 넘으면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판단할 일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74675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74675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733038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 전에 반드시 시험 실행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554716" y="4117086"/>
            <a:ext cx="5070051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6554716" y="4117086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8" name="Text 25"/>
          <p:cNvSpPr/>
          <p:nvPr/>
        </p:nvSpPr>
        <p:spPr>
          <a:xfrm>
            <a:off x="6774172" y="4245102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가장 위험한 단계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774172" y="4501134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켜는 순간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메일이 나갑니다.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받는 사람을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메일로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바꾸고 가짜 1건으로 돌린 뒤, 확인하고 되돌립니다.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4교시에 받는 코드의 품질은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쓴 명세서의 품질과 정확히 같다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1624273"/>
                <a:gridCol w="3712623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덩어리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적나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입력값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무엇을 어디에 넣는가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버튼 ·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실행시키는가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처리 절차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안에서 무슨 일이 순서대로 일어나는가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결과 화면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어디에 어떤 모양으로 나오는가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778756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778756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9067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516280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덩어리가 만들어졌으면 하나씩 채웁니다.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① 입력값을 표로 적습니다</a:t>
            </a:r>
            <a:endParaRPr lang="en-US" sz="115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381207"/>
                <a:gridCol w="1034704"/>
                <a:gridCol w="1688202"/>
                <a:gridCol w="707956"/>
                <a:gridCol w="1524827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비어 있으면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(2026-0000)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행은 건너뜀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(5개 과 중)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(천원)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0으로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접수/검토중/완료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287872" y="4002786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" name="Shape 19"/>
          <p:cNvSpPr/>
          <p:nvPr/>
        </p:nvSpPr>
        <p:spPr>
          <a:xfrm>
            <a:off x="6287872" y="4002786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4" name="Text 20"/>
          <p:cNvSpPr/>
          <p:nvPr/>
        </p:nvSpPr>
        <p:spPr>
          <a:xfrm>
            <a:off x="6507328" y="413080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"비어 있으면" 칸이 이 표의 핵심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507328" y="438683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칸이 비면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마음대로 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실행 방법을 정합니다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어떻게 이 도구를 돌릴지 정한다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336896" cy="914400"/>
        </p:xfrm>
        <a:graphic>
          <a:graphicData uri="http://schemas.openxmlformats.org/drawingml/2006/table">
            <a:tbl>
              <a:tblPr/>
              <a:tblGrid>
                <a:gridCol w="1455517"/>
                <a:gridCol w="2048505"/>
                <a:gridCol w="183287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고르나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메뉴 버튼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상단에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자동화 ▾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메뉴가 생기고 거기서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 또는 우리 팀이 쓸 때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(권장)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편집기를 열어 ▶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 혼자 쓸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트리거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 1일 9시에 저절로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없어도 돌아야 할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 제출 트리거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폼이 제출될 때마다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사람이 제출할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82498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82498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95300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520903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처음이라면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메뉴 버튼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고르세요. 동료에게 넘기기 가장 쉽습니다.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③ 처리 절차를 옮겨 적습니다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87872" y="1755648"/>
            <a:ext cx="5336896" cy="1941576"/>
          </a:xfrm>
          <a:prstGeom prst="roundRect">
            <a:avLst>
              <a:gd name="adj" fmla="val 2355"/>
            </a:avLst>
          </a:prstGeom>
          <a:solidFill>
            <a:srgbClr val="0B2447"/>
          </a:solidFill>
          <a:ln/>
        </p:spPr>
      </p:sp>
      <p:sp>
        <p:nvSpPr>
          <p:cNvPr id="22" name="Text 19"/>
          <p:cNvSpPr/>
          <p:nvPr/>
        </p:nvSpPr>
        <p:spPr>
          <a:xfrm>
            <a:off x="6516472" y="187452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⑤번을 가져오되 화면 이름을 붙입니다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16472" y="2148840"/>
            <a:ext cx="4879696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"신청접수" 시트에서 1행을 제외한 전체를 읽는다.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접수번호(A)가 비어 있는 행은 건너뛴다.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접수번호가 중복이면 아래쪽(나중) 행만 남긴다.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금액(D)이 비어 있으면 0으로 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부서(B)별로 묶어 건수와 금액 합계를 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부서(B)가 비어 있는 행은 "[확인 필요]" 부서로 묶는다.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"부서별집계" 시트를 비우고 결과를 다시 채운다.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마지막 행에 전체 합계 행을 넣는다.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87872" y="38435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Shape 22"/>
          <p:cNvSpPr/>
          <p:nvPr/>
        </p:nvSpPr>
        <p:spPr>
          <a:xfrm>
            <a:off x="6287872" y="38435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Text 23"/>
          <p:cNvSpPr/>
          <p:nvPr/>
        </p:nvSpPr>
        <p:spPr>
          <a:xfrm>
            <a:off x="6507328" y="39715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07328" y="42275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줄에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시트의 어느 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인지가 들어 있나요?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부서별로 묶는다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부서(B)별로 묶는다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결과 화면을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표의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이름과 순서까지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미리 정한다 — 여기까지 적어야 4교시에 다시 안 고친다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889483"/>
                <a:gridCol w="1778965"/>
                <a:gridCol w="1111853"/>
                <a:gridCol w="1556595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합계(천원)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복지정책과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42,300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512,400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737481"/>
            <a:ext cx="5336896" cy="1192784"/>
          </a:xfrm>
          <a:prstGeom prst="roundRect">
            <a:avLst>
              <a:gd name="adj" fmla="val 3833"/>
            </a:avLst>
          </a:prstGeom>
          <a:solidFill>
            <a:srgbClr val="0B2447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" y="4856353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적을 것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95528" y="5130673"/>
            <a:ext cx="4879696" cy="772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위치 — "부서별집계" 시트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(없으면 새로 만들고, 있으면 내용을 비우고 다시 채움)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서식 —       1행은 굵게, 금액 열은 천 단위 쉼표,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마지막 합계 행은 굵게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명세서를 AI에게 검토시킵니다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87872" y="1755648"/>
            <a:ext cx="5336896" cy="1048131"/>
          </a:xfrm>
          <a:prstGeom prst="roundRect">
            <a:avLst>
              <a:gd name="adj" fmla="val 4362"/>
            </a:avLst>
          </a:prstGeom>
          <a:solidFill>
            <a:srgbClr val="0B2447"/>
          </a:solidFill>
          <a:ln/>
        </p:spPr>
      </p:sp>
      <p:sp>
        <p:nvSpPr>
          <p:cNvPr id="21" name="Text 18"/>
          <p:cNvSpPr/>
          <p:nvPr/>
        </p:nvSpPr>
        <p:spPr>
          <a:xfrm>
            <a:off x="6516472" y="187452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코드를 시키지 말고 한 번 걸러냅니다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16472" y="2148840"/>
            <a:ext cx="4879696" cy="627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 요구사항 명세서로 코드를 만들기 전에,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애매하거나 빠진 조건이 있으면 질문 목록으로 먼저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질문이 없으면 "질문 없음"이라고만 답해 줘.</a:t>
            </a:r>
            <a:endParaRPr lang="en-US" sz="105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950083"/>
          <a:ext cx="5336896" cy="914400"/>
        </p:xfrm>
        <a:graphic>
          <a:graphicData uri="http://schemas.openxmlformats.org/drawingml/2006/table">
            <a:tbl>
              <a:tblPr/>
              <a:tblGrid>
                <a:gridCol w="1265449"/>
                <a:gridCol w="2640938"/>
                <a:gridCol w="1430508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2~3개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명세서가 구체적이라 진짜 빈틈만 짚었다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답해 주고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"질문 없음"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충분하다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10개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아직 성글다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2~5를 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덩어리를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명세서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합칩니다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3915664"/>
          </a:xfrm>
          <a:prstGeom prst="roundRect">
            <a:avLst>
              <a:gd name="adj" fmla="val 1168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명세서 ① — 입력과 처리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349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구글 스프레드시트로 업무를 자동화하려는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공무원이야. 코딩은 못 해.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설계대로 Google Apps Script 코드를 만들어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[입력]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이름: 신청접수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- 1행은 제목 행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열: A 접수번호(문자·필수) / B 부서(문자·필수)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 C 항목(문자·필수) / D 금액(숫자·선택)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 E 처리상태(문자·선택)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[처리 절차]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1행을 제외한 전체 데이터를 읽는다.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A열이 비어 있는 행은 건너뛴다.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A열이 중복이면 나중 행만 남긴다.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D열이 비어 있으면 0으로 본다.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B열별로 묶어 건수와 D열 합계를 낸다.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B열이 비면 "[확인 필요]" 부서로 묶는다.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"부서별집계" 시트를 비우고 결과를 채운다.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마지막에 전체 합계 행을 넣는다.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87872" y="1481328"/>
            <a:ext cx="5336896" cy="3064764"/>
          </a:xfrm>
          <a:prstGeom prst="roundRect">
            <a:avLst>
              <a:gd name="adj" fmla="val 1492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명세서 ② — 결과 · 실행 · 안전장치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16472" y="1874520"/>
            <a:ext cx="4879696" cy="2644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[결과]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이름: 부서별집계 (없으면 새로 만들기)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열: 부서 / 건수 / 합계(천원)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- 1행 굵게, 금액은 천 단위 쉼표, 합계 행 굵게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[실행 방법]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상단에 "자동화" 메뉴를 만들고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그 안에 "부서별 집계" 항목을 넣어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[지켜 줄 것]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붙여넣고 바로 실행되는 완성된 코드로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줄 위에 무슨 일을 하는지 한글 주석을 달아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"신청접수" 시트는 절대 수정하지 마.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내가 알려주지 않은 조건은 임의로 정하지 말고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먼저 물어봐 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7872" y="469239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7872" y="469239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482041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507644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[지켜 줄 것]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줄은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업무든 그대로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씁니다. 특히 마지막 두 줄이 사고를 막습니다.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명세서가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이유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완성 점검표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요소 — 하나라도 빠지면 이렇게 됩니다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490551"/>
                <a:gridCol w="2846344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생기는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("Apps Script 전문가야")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일반적인 설명만 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수준 ("코딩을 모르니")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개발자용 설명이 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"어느 열인가요?" 되물음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순서가 뒤바뀜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엉뚱한 곳에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편집기에서만 돌아감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화면이 그대로 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날조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규칙을 지어냄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설계서 및 요구사항 명세서</a:t>
            </a:r>
            <a:endParaRPr lang="en-US" sz="115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· 탭 이름이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실제와 똑같이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· B · C 문자와 이름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함께 적었다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열의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"비어 있으면"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처리가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절차가 번호로, 한 줄에 동작 하나로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표의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이름과 순서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방법(메뉴 · 버튼 · 트리거)이 정해졌다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[지켜 줄 것]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네 줄이 들어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검토 질문에 답해 반영했다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287872" y="5118354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287872" y="511835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2"/>
          <p:cNvSpPr/>
          <p:nvPr/>
        </p:nvSpPr>
        <p:spPr>
          <a:xfrm>
            <a:off x="6507328" y="524637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8개가 채워지면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07328" y="550240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 및 프롬프트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4교시에 그대로 붙여넣으면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 ~ 14:00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코드 · 템플릿 생성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또는 Claude로 Apps Script를 생성하고 실제 시트에 적용한다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자동화 템플릿 (시트에서 도는 코드)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 · 명세서를 넣고 코드 받기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4~6 · 시트에 적용하고 확인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기능 세 가지로 넓히기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유형별 프롬프트 예제 4종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명세서를 넣고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받아 돌립니다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Script를 생성하고 실제 시트에 적용한다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 요구사항 명세서, 구글 계정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자동화 템플릿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50520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50520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코드는 한 줄도 직접 쓰지 않습니다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명세서를 건네고 → 되물음에 답하고 → 받은 것을 붙여넣습니다. 그것이 전부입니다.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AI를 열까</a:t>
            </a:r>
            <a:endParaRPr lang="en-US" sz="115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034704"/>
                <a:gridCol w="1470369"/>
                <a:gridCol w="2831822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claude.ai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코드를 통째로 주고 오류 설명이 친절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chatgpt.com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계정으로도 충분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87872" y="320090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7872" y="320090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33289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개인정보는 넣지 않습니다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07328" y="35849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아니라 구조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(시트 이름 · 열 구성)만 알려 줍니다. 실제 데이터를 붙여넣을 필요가 전혀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명세서를 붙여넣고,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코드보다 먼저 질문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516786" cy="3916357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code-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443634" cy="384320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94610" y="1481328"/>
            <a:ext cx="5230158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668930" y="1636776"/>
            <a:ext cx="46815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68930" y="1865376"/>
            <a:ext cx="4681518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새 대화를 열고 3교시 명세서 전체를 붙여넣은 뒤, 코드가 아니라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받는다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94610" y="2754884"/>
            <a:ext cx="5230158" cy="1226820"/>
          </a:xfrm>
          <a:prstGeom prst="roundRect">
            <a:avLst>
              <a:gd name="adj" fmla="val 3727"/>
            </a:avLst>
          </a:prstGeom>
          <a:solidFill>
            <a:srgbClr val="0B2447"/>
          </a:solidFill>
          <a:ln/>
        </p:spPr>
      </p:sp>
      <p:sp>
        <p:nvSpPr>
          <p:cNvPr id="18" name="Text 15"/>
          <p:cNvSpPr/>
          <p:nvPr/>
        </p:nvSpPr>
        <p:spPr>
          <a:xfrm>
            <a:off x="6623210" y="2873756"/>
            <a:ext cx="477295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 뒤에 이어서 보냅니다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23210" y="3148076"/>
            <a:ext cx="4772958" cy="806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 명세서로 코드를 만들기 전에,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애매하거나 빠진 조건이 있으면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 목록으로 먼저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질문이 없으면 "질문 없음"이라고만 답해 줘.</a:t>
            </a:r>
            <a:endParaRPr lang="en-US" sz="10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4610" y="4128008"/>
          <a:ext cx="5230158" cy="914400"/>
        </p:xfrm>
        <a:graphic>
          <a:graphicData uri="http://schemas.openxmlformats.org/drawingml/2006/table">
            <a:tbl>
              <a:tblPr/>
              <a:tblGrid>
                <a:gridCol w="1337947"/>
                <a:gridCol w="1337947"/>
                <a:gridCol w="2554263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2~3개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"질문 없음"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충분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STEP 3으로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10개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성글다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3교시로 돌아가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다시 채운다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2·3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답하고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받습니다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69442"/>
          </a:xfrm>
          <a:prstGeom prst="roundRect">
            <a:avLst>
              <a:gd name="adj" fmla="val 5259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되물음에 답합니다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448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1번 — 있으면 내용을 지우고 다시 채워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2번 — 0으로 계산해 줘.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49707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49707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2509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288112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답한 내용을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명세서에도 적어 두세요.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달에 다시 만들 때 같은 질문을 안 받습니다.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752850"/>
            <a:ext cx="5336896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752850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88086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첫 결과가 마음에 안 들면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6384" y="4136898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 쓰지 마세요.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"방금 준 코드에서 아래만 고쳐 줘. 나머지는 그대로 두고 전체 코드를 다시 보여 줘." 라고 이어서 말하면 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7872" y="1481328"/>
            <a:ext cx="5336896" cy="1941576"/>
          </a:xfrm>
          <a:prstGeom prst="roundRect">
            <a:avLst>
              <a:gd name="adj" fmla="val 2355"/>
            </a:avLst>
          </a:prstGeom>
          <a:solidFill>
            <a:srgbClr val="0B2447"/>
          </a:solidFill>
          <a:ln/>
        </p:spPr>
      </p:sp>
      <p:sp>
        <p:nvSpPr>
          <p:cNvPr id="24" name="Text 22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코드를 받습니다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6472" y="1874520"/>
            <a:ext cx="4879696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이제 Google Apps Script 코드를 만들어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붙여넣고 바로 실행되는 완성된 코드로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줄 위에 무슨 일을 하는지 한글 주석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함수 이름은 부서별집계_만들기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"신청접수" 시트는 절대 수정하지 마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상단에 "자동화" 메뉴를 만들고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그 안에 실행 항목을 넣어 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87872" y="356920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Shape 25"/>
          <p:cNvSpPr/>
          <p:nvPr/>
        </p:nvSpPr>
        <p:spPr>
          <a:xfrm>
            <a:off x="6287872" y="356920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07328" y="36972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07328" y="39532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으로 시작하는 코드가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나오면 성공. 코드를 이해할 필요는 없습니다.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글자도 고치지 마세요.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4~6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 붙여넣고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메뉴에서 실행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211247"/>
          </a:xfrm>
          <a:prstGeom prst="roundRect">
            <a:avLst>
              <a:gd name="adj" fmla="val 1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sheet-a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1380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동료가 코드를 몰라도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메뉴만 누르면 되는 상태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만든다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76860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754884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시트에서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[확장 프로그램] → [Apps Script]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315264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3152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3138932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 내용을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지우고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받은 코드를 붙여넣기 →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(💾)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75894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75894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745230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시트로 돌아가 브라우저를 새로고침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(F5)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554716" y="414299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7" name="Text 24"/>
          <p:cNvSpPr/>
          <p:nvPr/>
        </p:nvSpPr>
        <p:spPr>
          <a:xfrm>
            <a:off x="6554716" y="414299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938764" y="4129278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[자동화] → [부서별 집계 실행]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실행에만 권한 창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554716" y="4513326"/>
            <a:ext cx="5070051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30" name="Shape 27"/>
          <p:cNvSpPr/>
          <p:nvPr/>
        </p:nvSpPr>
        <p:spPr>
          <a:xfrm>
            <a:off x="6554716" y="4513326"/>
            <a:ext cx="50292" cy="1109472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31" name="Text 28"/>
          <p:cNvSpPr/>
          <p:nvPr/>
        </p:nvSpPr>
        <p:spPr>
          <a:xfrm>
            <a:off x="6774172" y="4641342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 `자동화` 메뉴가 안 생기면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774172" y="4897374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저장을 안 했거나 ② 새로고침을 안 한 것입니다. 10초 기다렸다 F5를 한 번 더 누르세요.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확인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둘 다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92234"/>
                <a:gridCol w="3944662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봐야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부서별집계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탭이 새로 생기고 표가 채워졌다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탭의 내용이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하나도 바뀌지 않았다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행 합계가 원본을 더한 값과 같다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133344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13334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2613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원본 확인을 빠뜨리지 마세요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51739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잘 나와도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건드렸다면 그 도구는 못 씁니다.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원본은 언제나 사본을 두고 돌리세요.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모두 통과하면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"도구"가 된 순간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이제 동료도 코드를 몰라도 메뉴만 누르면 됩니다.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7872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되물으면 — 좋은 신호입니다</a:t>
            </a:r>
            <a:endParaRPr lang="en-US" sz="115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2134758"/>
                <a:gridCol w="3202137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묻는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답하는 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"시트 이름이 뭔가요?"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탭 이름 그대로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"제목 행이 몇 행인가요?"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"1행이 제목, 2행부터 데이터"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"중복 판단 기준은?"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"A열과 B열이 모두 같으면 중복"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"결과를 어디에 쓸까요?"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"'요약' 시트 A1부터, 기존 내용은 지우고"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넓혀 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하나가 돌았다면, 같은 방식으로 기능을 덧붙인다 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새 요청으로, 하나씩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703324"/>
          </a:xfrm>
          <a:prstGeom prst="roundRect">
            <a:avLst>
              <a:gd name="adj" fmla="val 2684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신청자 명단 정리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282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"자동화" 메뉴에 "명단 정리" 항목을 추가해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"신청접수" 시트에서 접수번호가 중복이면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나중 행만 남긴다.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접수번호가 비어 있는 행은 제외한다.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부서 → 접수번호 순으로 정렬한다.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"정리명단" 시트에 넣는다. 원본은 수정하지 마.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604512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604512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73252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498856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행 수보다 결과 행 수가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적거나 같아야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정상입니다. 많아졌다면 중복 제거가 반대로 된 것입니다.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87872" y="1481328"/>
            <a:ext cx="5336896" cy="1873504"/>
          </a:xfrm>
          <a:prstGeom prst="roundRect">
            <a:avLst>
              <a:gd name="adj" fmla="val 2440"/>
            </a:avLst>
          </a:prstGeom>
          <a:solidFill>
            <a:srgbClr val="0B2447"/>
          </a:solidFill>
          <a:ln/>
        </p:spPr>
      </p:sp>
      <p:sp>
        <p:nvSpPr>
          <p:cNvPr id="23" name="Text 21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 분류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16472" y="1874520"/>
            <a:ext cx="4879696" cy="145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"자동화" 메뉴에 "금액대 분류" 항목을 추가해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금액이 10,000천원 이상이면 "대규모",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3,000 이상 10,000 미만이면 "중규모",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그 미만이면 "소규모"로 분류한다.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금액이 비어 있으면 "확인필요"로 분류한다.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"분류결과" 시트에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접수번호·부서·금액·구분 네 열로 넣는다.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87872" y="350113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87872" y="350113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07328" y="362915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07328" y="388518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경계값을 직접 확인하세요.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정확히 10,000인 행이 "대규모"로 갔는지. 경계에서 틀리는 일이 가장 잦습니다.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세 번째 기능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지어내지 않는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보고문 만들기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보고 문장 생성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"자동화" 메뉴에 "보고문 만들기" 항목을 추가해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"부서별집계" 시트의 숫자를 읽어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보고용 문장 한 문단을 만든다.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문장에는 총 건수, 총 금액, 가장 많은 부서만 넣는다.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시트에 없는 숫자는 절대 만들어 넣지 마.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"보고문" 시트 A1 칸에 넣는다.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390519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390519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518535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3774567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나온 문장의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숫자가 집계표에 있는 숫자인지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눈으로 대조합니다. 없는 숫자가 하나라도 있으면 그 기능은 쓰지 마세요.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1차 자동화 템플릿</a:t>
            </a:r>
            <a:endParaRPr lang="en-US" sz="11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444741"/>
                <a:gridCol w="489215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상단에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자동화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메뉴가 생겼다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메뉴에서 실행하면 결과 탭이 채워진다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시트가 수정되지 않았다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· 행 개수를 원본과 대조했다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예제 3가지 중 최소 1개를 더 붙였다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받은 코드를 별도 문서에도 보관했다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되물음에 답한 내용을 명세서에 반영했다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287872" y="482904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482904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495706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7개가 채워지면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521309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자동화 템플릿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5교시에서 이걸 본격적으로 시험합니다.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유형별 프롬프트 예제 ①②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업무가 여기 있으면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가져다 쓰세요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3098800"/>
          </a:xfrm>
          <a:prstGeom prst="roundRect">
            <a:avLst>
              <a:gd name="adj" fmla="val 1475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신청자 명단 정리 (여러 시트 합치고 중복 제거)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267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'1팀', '2팀', '3팀' 시트에 같은 양식의 신청자 명단이 있어.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성명, B열 소속, C열 신청일, D열 연락처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세 시트의 데이터를 하나로 합친다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A열(성명)과 B열(소속)이 모두 같은 행은 첫 번째만 남긴다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C열(신청일) 오름차순으로 정렬한다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'통합명단' 시트에 결과를 쓴다 (기존 내용 지우고)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완료되면 "총 O명, 중복 O건 제거" 알림을 띄운다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'명단 통합' 메뉴를 만들어 실행되게 해줘.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안 적은 규칙은 만들지 마.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4726432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726432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8544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바꿀 곳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511048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이름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1팀 2팀 3팀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내 탭 이름으로,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문자와 이름을 함께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것으로. 나머지는 그대로 둡니다.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7872" y="1481328"/>
            <a:ext cx="5336896" cy="3098800"/>
          </a:xfrm>
          <a:prstGeom prst="roundRect">
            <a:avLst>
              <a:gd name="adj" fmla="val 1475"/>
            </a:avLst>
          </a:prstGeom>
          <a:solidFill>
            <a:srgbClr val="0B2447"/>
          </a:solidFill>
          <a:ln/>
        </p:spPr>
      </p:sp>
      <p:sp>
        <p:nvSpPr>
          <p:cNvPr id="18" name="Text 16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민원 분류 (유형 · 소관 부서 자동 지정)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6472" y="1874520"/>
            <a:ext cx="4879696" cy="267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'민원'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접수일, B열 민원내용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B열 내용에 아래 단어가 들어가면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C열에 유형, D열에 소관을 자동으로 채워줘.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가로등, 도로, 포트홀 → 시설물 유지보수 / 도로과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주차, 단속, 견인    → 단속 이의 / 교통과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지원금, 신청, 자격  → 제도 문의 / 해당 사업부서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공원, 벤치, 화단    → 시설물 유지보수 / 공원녹지과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어디에도 해당하지 않으면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C열에 '분류 필요', D열에 '확인 필요'라고 써줘.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'민원 분류' 메뉴를 만들어줘.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87872" y="4726432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7872" y="4726432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8544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 주의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7328" y="511048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원문에 민원인 이름·연락처가 있으면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열을 지운 사본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작업하세요. 분류는 내용만 있으면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유형별 프롬프트 예제 ③④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이름과 열 구성만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것으로 바꾸면 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2937129"/>
          </a:xfrm>
          <a:prstGeom prst="roundRect">
            <a:avLst>
              <a:gd name="adj" fmla="val 1557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명단에서 개인별 안내문 일괄 생성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2516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'명단'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성명, B열 교육과정, C열 일시, D열 장소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양식으로 개인별 안내문을 만들어 E열에 넣어줘.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"○○○ 님, 안녕하십니까. 신청하신 [교육과정] 교육이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[일시] [장소]에서 진행됩니다.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참석에 착오 없으시기 바랍니다."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대괄호 부분은 각 행의 값으로 바꾼다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값이 빈 행은 건너뛴다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상단 메뉴에 '안내문 생성' 메뉴를 만든다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4564761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564761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69277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확인할 것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494880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빈 행에서 이상한 문장이 안 나오는지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[성명] 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대괄호가 그대로 남았다면 치환이 안 된 것입니다.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7872" y="1481328"/>
            <a:ext cx="5336896" cy="2937129"/>
          </a:xfrm>
          <a:prstGeom prst="roundRect">
            <a:avLst>
              <a:gd name="adj" fmla="val 1557"/>
            </a:avLst>
          </a:prstGeom>
          <a:solidFill>
            <a:srgbClr val="0B2447"/>
          </a:solidFill>
          <a:ln/>
        </p:spPr>
      </p:sp>
      <p:sp>
        <p:nvSpPr>
          <p:cNvPr id="18" name="Text 16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집행률 계산 + 조건부 서식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6472" y="1874520"/>
            <a:ext cx="4879696" cy="2516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'집행현황'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부서명, B열 예산액, C열 집행액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D열에 집행률(C/B)을 백분율로 계산해 넣는다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(소수점 1자리)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집행률 90% 초과면 해당 행 D칸을 빨강,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50% 미만이면 노랑으로 칠한다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B열이 0이거나 비어 있으면 D열에 '계산 불가'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'요약' 시트에 전체 평균 집행률과 부서 수를 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상단 메뉴에 '집행률 계산' 메뉴를 만든다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87872" y="4564761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7872" y="4564761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69277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경계값을 꼭 시험하세요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7328" y="494880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90.0% 인 행, 정확히 50.0% 인 행이 어느 쪽으로 갔는지 눈으로 확인합니다.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 ~ 15:00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구현 및 테스트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테스트하고, 오류를 AI에게 보내 고치는 루틴을 익힌다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가능한 자동화 도구 초안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 · 하나씩 실행 · 오류 대응 루프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오류가 없어도 결과 대조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예외 6가지를 일부러 넣기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동료에게 넘길 수 있게 다듬기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도구를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괴롭혀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기능을 테스트하고 오류를 AI에게 보내 고치는 루틴을 익힌다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4교시에서 만든 1차 템플릿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 가능한 자동화 도구 초안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오류는 실패가 아닙니다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메시지를 AI에게 그대로 보내는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시간의 핵심 기술입니다.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테스트 5가지 — 내 도구에 해당하는 것만</a:t>
            </a:r>
            <a:endParaRPr lang="en-US" sz="115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401702"/>
                <a:gridCol w="1721579"/>
                <a:gridCol w="3213615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버튼(메뉴)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메뉴를 눌렀을 때 도는가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규칙대로 값이 채워지는가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요약문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문장이 제대로 만들어지는가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· 서식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형식이 지정한 대로인가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안내문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값 행에서 이상한 문장이 안 나오는가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세 단계만 반복합니다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143203" cy="3500506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error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070051" cy="342735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21027" y="1481328"/>
            <a:ext cx="5603740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295347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95347" y="1865376"/>
            <a:ext cx="5055100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문장을 통째로 전달해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고쳐질 때까지 돈다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21027" y="253415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8" name="Text 15"/>
          <p:cNvSpPr/>
          <p:nvPr/>
        </p:nvSpPr>
        <p:spPr>
          <a:xfrm>
            <a:off x="6021027" y="2534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5075" y="2520442"/>
            <a:ext cx="52196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 돌리지 마세요.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어느 기능이 틀렸는지 못 찾습니다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21027" y="291820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1" name="Text 18"/>
          <p:cNvSpPr/>
          <p:nvPr/>
        </p:nvSpPr>
        <p:spPr>
          <a:xfrm>
            <a:off x="6021027" y="291820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5075" y="2904490"/>
            <a:ext cx="52196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빨간 글씨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드래그해 복사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021027" y="330225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1"/>
          <p:cNvSpPr/>
          <p:nvPr/>
        </p:nvSpPr>
        <p:spPr>
          <a:xfrm>
            <a:off x="6021027" y="330225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5075" y="3288538"/>
            <a:ext cx="52196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"전체를 다시 줘"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꼭 넣습니다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021027" y="3672586"/>
            <a:ext cx="5603740" cy="1048131"/>
          </a:xfrm>
          <a:prstGeom prst="roundRect">
            <a:avLst>
              <a:gd name="adj" fmla="val 4362"/>
            </a:avLst>
          </a:prstGeom>
          <a:solidFill>
            <a:srgbClr val="0B2447"/>
          </a:solidFill>
          <a:ln/>
        </p:spPr>
      </p:sp>
      <p:sp>
        <p:nvSpPr>
          <p:cNvPr id="27" name="Text 24"/>
          <p:cNvSpPr/>
          <p:nvPr/>
        </p:nvSpPr>
        <p:spPr>
          <a:xfrm>
            <a:off x="6249627" y="3791458"/>
            <a:ext cx="51465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프롬프트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49627" y="4065778"/>
            <a:ext cx="5146540" cy="627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실행했더니 이런 오류가 났어. 무슨 뜻이고 어떻게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고치면 되는지 알려 주고, 고친 코드 전체를 다시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(오류 문장 그대로 붙여넣기)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21027" y="4867021"/>
            <a:ext cx="5603740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Shape 27"/>
          <p:cNvSpPr/>
          <p:nvPr/>
        </p:nvSpPr>
        <p:spPr>
          <a:xfrm>
            <a:off x="6021027" y="4867021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Text 28"/>
          <p:cNvSpPr/>
          <p:nvPr/>
        </p:nvSpPr>
        <p:spPr>
          <a:xfrm>
            <a:off x="6240483" y="4995037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240483" y="5251069"/>
            <a:ext cx="5128252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붙여넣고 → 저장 → 실행.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두세 번이면 끝납니다.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오류 사전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나오는 오류와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원인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2001336"/>
                <a:gridCol w="1429526"/>
                <a:gridCol w="1906034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693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시트를 찾을 수 없습니다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getSheetByName(...) is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탭 이름이 코드와 다름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이름을 코드와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똑같이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(공백·괄호 주의)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권한이 필요합니다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실행 승인을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 → 프로젝트로 이동 →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693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메뉴가 안 생김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onOpen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이 없거나 새로고침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F5 새로고침, 그래도 없으면 "onOpen 함수를 추가해줘"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Cannot read properties of undefined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 · 빈 칸을 계산에 넣음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"빈 값은 건너뛰게 해줘" 라고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778965"/>
                <a:gridCol w="1383640"/>
                <a:gridCol w="2174291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엉뚱한 열에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번호를 다르게 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"A열이 1번, D열이 4번" 이라고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숫자가 문자로 계산됨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값이 텍스트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"숫자로 변환한 뒤 계산해줘"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실행은 되는데 아무 일도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시작 행이 다름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"1행이 제목, 2행부터 데이터" 다시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시간 초과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너무 많음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"한 번에 처리할 행 수를 나눠서"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87872" y="4074795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6287872" y="4074795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4" name="Text 10"/>
          <p:cNvSpPr/>
          <p:nvPr/>
        </p:nvSpPr>
        <p:spPr>
          <a:xfrm>
            <a:off x="6507328" y="4202811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다섯 번을 넘어가면 손을 드세요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07328" y="4458843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오류가 다섯 번 반복되면 코드가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 잘못됐을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없어도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대조합니다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안 났다고 맞는 게 아니다.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조용히 틀린 결과가 가장 위험하다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1276214"/>
                <a:gridCol w="4060681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개수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행 수 = 원본 행 수 − 제외한 행 수 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합계 = 원본 금액 열의 합인가 (원본에서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=SUM()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으로 직접 계산)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과가 모두 나왔는가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정확히 10,000인 행이 어느 구분으로 갔는가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중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어긋나면 그 기능은 아직 못 씁니다.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어긋난 내용을 그대로 AI에게 알려 고칩니다.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7872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문구로 원인을 짐작하는 법</a:t>
            </a:r>
            <a:endParaRPr lang="en-US" sz="1150" dirty="0"/>
          </a:p>
        </p:txBody>
      </p:sp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1633744"/>
                <a:gridCol w="1524827"/>
                <a:gridCol w="2178325"/>
              </a:tblGrid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문구에 보이는 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대개 이런 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답하면 빨리 끝난다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getSheetByName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이름이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"시트 이름은 정확히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야"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NaN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칸에 문자가 섞였다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"숫자가 아닌 값은 0으로 처리해 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 of range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length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없거나 행이 모자란다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"0건일 때도 오류 없이 끝나게 해 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상황을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넣어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 — 이 실습의 핵심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404275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8556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855635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자료에는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예외가 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연습 시트를 복사해 아래를 하나씩 넣고 돌려 본다</a:t>
            </a:r>
            <a:endParaRPr lang="en-US" sz="13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404275" cy="914400"/>
        </p:xfrm>
        <a:graphic>
          <a:graphicData uri="http://schemas.openxmlformats.org/drawingml/2006/table">
            <a:tbl>
              <a:tblPr/>
              <a:tblGrid>
                <a:gridCol w="331256"/>
                <a:gridCol w="1877115"/>
                <a:gridCol w="2318789"/>
                <a:gridCol w="187711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넣어 볼 예외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기대하는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건너뛰고 계속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거기서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2건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규칙대로 하나만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세어 합계가 늘어남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칸에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"미정"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0으로 보거나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오류로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(제목 행만)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"처리할 자료가 없습니다"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행이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조금 느려도 끝까지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중간에 끊김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이름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 차이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부서로 묶이거나 따로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조용히 둘로 나뉨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355251" y="1481328"/>
            <a:ext cx="426951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355251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574707" y="1609344"/>
            <a:ext cx="37940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74707" y="1865376"/>
            <a:ext cx="379402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동작이 나온 항목은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AI에게 알립니다.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55251" y="2737104"/>
            <a:ext cx="4269516" cy="1022604"/>
          </a:xfrm>
          <a:prstGeom prst="roundRect">
            <a:avLst>
              <a:gd name="adj" fmla="val 4471"/>
            </a:avLst>
          </a:prstGeom>
          <a:solidFill>
            <a:srgbClr val="0B2447"/>
          </a:solidFill>
          <a:ln/>
        </p:spPr>
      </p:sp>
      <p:sp>
        <p:nvSpPr>
          <p:cNvPr id="21" name="Text 18"/>
          <p:cNvSpPr/>
          <p:nvPr/>
        </p:nvSpPr>
        <p:spPr>
          <a:xfrm>
            <a:off x="7583851" y="2855976"/>
            <a:ext cx="38123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알립니다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583851" y="3130296"/>
            <a:ext cx="3812316" cy="601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빈 행이 중간에 있으면 거기서 멈춰.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빈 행은 건너뛰고 계속 처리하도록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고친 코드 전체를 다시 줘.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55251" y="3906012"/>
            <a:ext cx="4269516" cy="13258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7355251" y="3906012"/>
            <a:ext cx="50292" cy="13258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5" name="Text 22"/>
          <p:cNvSpPr/>
          <p:nvPr/>
        </p:nvSpPr>
        <p:spPr>
          <a:xfrm>
            <a:off x="7574707" y="4034028"/>
            <a:ext cx="37940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6번은 반드시 시험하세요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74707" y="4290060"/>
            <a:ext cx="379402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띄어쓰기 차이(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복지정책과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복지 정책과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)는 실제 부서 취합에서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자주 사고가 나는 곳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넘길 수 있게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다듬습니다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없을 때도 도구가 돌아가게 만든다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520442"/>
            <a:ext cx="5336896" cy="1226820"/>
          </a:xfrm>
          <a:prstGeom prst="roundRect">
            <a:avLst>
              <a:gd name="adj" fmla="val 3727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639314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설명 만들기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2913634"/>
            <a:ext cx="4879696" cy="806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도구를 처음 쓰는 동료가 읽고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그대로 따라 할 수 있게 사용 설명을 5줄 이내로 만들어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어디에 붙여넣고, 무엇을 누르고, 결과를 어디서 보고,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무엇을 확인해야 하는지 순서로.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89356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89356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02158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427761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5줄을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시트의 새 탭(`사용법`)에 붙여 넣으세요.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도구와 설명이 같은 파일에 있어야 인수인계가 됩니다.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실행을 더 편하게 — 시트 위에 버튼 붙이기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7872" y="176936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4" name="Text 22"/>
          <p:cNvSpPr/>
          <p:nvPr/>
        </p:nvSpPr>
        <p:spPr>
          <a:xfrm>
            <a:off x="6287872" y="17693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1920" y="1755648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상단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[삽입] → [그림]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87872" y="2153412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7" name="Text 25"/>
          <p:cNvSpPr/>
          <p:nvPr/>
        </p:nvSpPr>
        <p:spPr>
          <a:xfrm>
            <a:off x="6287872" y="21534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1920" y="2139696"/>
            <a:ext cx="4952848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도형으로 사각형을 그리고 안에 "실적 취합" 이라고 씁니다 →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닫기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87872" y="275971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30" name="Text 28"/>
          <p:cNvSpPr/>
          <p:nvPr/>
        </p:nvSpPr>
        <p:spPr>
          <a:xfrm>
            <a:off x="6287872" y="275971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71920" y="2745994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 놓인 그림을 클릭 → 오른쪽 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⋮ → [스크립트 할당]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87872" y="314375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33" name="Text 31"/>
          <p:cNvSpPr/>
          <p:nvPr/>
        </p:nvSpPr>
        <p:spPr>
          <a:xfrm>
            <a:off x="6287872" y="31437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1920" y="3130042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이름(예: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실적취합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 입력 → 확인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87872" y="3514090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87872" y="3514090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37" name="Text 35"/>
          <p:cNvSpPr/>
          <p:nvPr/>
        </p:nvSpPr>
        <p:spPr>
          <a:xfrm>
            <a:off x="6507328" y="36421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메뉴보다 버튼이 낫습니다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07328" y="389813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컴퓨터에 익숙하지 않은 동료에게 넘길 때는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보이는 버튼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훨씬 낫습니다.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가능한 자동화 도구 초안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기능을 하나씩 실행해 봤다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오류가 났을 때 문장 전체를 복사해 해결했다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개수 · 합계를 원본과 대조했다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경계값을 직접 확인했다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50520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50520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7개가 채워지면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가능한 자동화 도구 초안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6교시에서 보안과 검토 절차를 붙입니다.</a:t>
            </a:r>
            <a:endParaRPr lang="en-US" sz="1200" dirty="0"/>
          </a:p>
        </p:txBody>
      </p:sp>
      <p:graphicFrame>
        <p:nvGraphicFramePr>
          <p:cNvPr id="1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6가지를 넣어 돌려 봤다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동작을 고쳐 다시 시험했다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사용법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5줄 설명을 넣었다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연속 실행해도 결과가 중복되지 않는다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287872" y="3505200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7" name="Shape 13"/>
          <p:cNvSpPr/>
          <p:nvPr/>
        </p:nvSpPr>
        <p:spPr>
          <a:xfrm>
            <a:off x="6287872" y="3505200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18" name="Text 14"/>
          <p:cNvSpPr/>
          <p:nvPr/>
        </p:nvSpPr>
        <p:spPr>
          <a:xfrm>
            <a:off x="6507328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여기까지 오면 오늘 목표는 달성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07328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시간은 이 도구를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안전하게, 남에게 넘길 수 있게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다듬는 데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15:00 ~ 16:00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오류 대응 및 개선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개인정보·보안·저작권 기준을 점검하고, 담당자 검토 절차와 사용 안내문을 만든다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체크리스트 + 보안 유의사항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1~4 · 입력 자료 보안 판정 세 관문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검토 항목을 숫자로 만들기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사용 안내문 한 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체크리스트 완성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도는 것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공공업무에 쓸 수 있는 것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개인정보·보안·저작권 기준 점검, 검토 절차와 안내문 작성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5교시 도구 초안,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업무 자료 1건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+ 보안 유의사항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지금까지는 연습용 가짜 자료였습니다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실제 자료를 넣기 전에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세 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통과시킵니다.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가장 중요한 구분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7872" y="1755648"/>
            <a:ext cx="5336896" cy="1542288"/>
          </a:xfrm>
          <a:prstGeom prst="rect">
            <a:avLst/>
          </a:prstGeom>
          <a:solidFill>
            <a:srgbClr val="D3E2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7872" y="1755648"/>
            <a:ext cx="50292" cy="1542288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18" name="Text 15"/>
          <p:cNvSpPr/>
          <p:nvPr/>
        </p:nvSpPr>
        <p:spPr>
          <a:xfrm>
            <a:off x="6507328" y="188366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Apps Script 코드 vs AI 대화창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07328" y="2139696"/>
            <a:ext cx="4861408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 Script 코드는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구글 계정 안에서만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돕니다. 시트 데이터가 외부로 나가지 않습니다.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것은 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ChatGPT·Claude 창에 자료를 붙여넣는 순간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7872" y="344424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7872" y="344424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Text 19"/>
          <p:cNvSpPr/>
          <p:nvPr/>
        </p:nvSpPr>
        <p:spPr>
          <a:xfrm>
            <a:off x="6507328" y="357225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그래서 이렇게 합니다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07328" y="382828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만들 때는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아니라 구조만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알려 줍니다 — 시트 이름과 열 구성. 실제 값은 한 줄도 필요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제한 기준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자료를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AI에 넣어도 되나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603740" cy="914400"/>
        </p:xfrm>
        <a:graphic>
          <a:graphicData uri="http://schemas.openxmlformats.org/drawingml/2006/table">
            <a:tbl>
              <a:tblPr/>
              <a:tblGrid>
                <a:gridCol w="2663164"/>
                <a:gridCol w="1276099"/>
                <a:gridCol w="166447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AI 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공개된 통계 · 법령 · 보도자료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내부 집계 (개인 식별 불가)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연락처 · 주소가 든 명단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· 더미로 바꾼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 · 계좌 · 카드번호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절대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자체를 삭제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대외비 · 내부 검토 중 문서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요약만, 원문은 금지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인사 · 징계 · 심의 자료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절대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대상에서 제외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 3분 만에 하기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54716" y="1755648"/>
            <a:ext cx="5070051" cy="1362964"/>
          </a:xfrm>
          <a:prstGeom prst="roundRect">
            <a:avLst>
              <a:gd name="adj" fmla="val 3354"/>
            </a:avLst>
          </a:prstGeom>
          <a:solidFill>
            <a:srgbClr val="0B2447"/>
          </a:solidFill>
          <a:ln/>
        </p:spPr>
      </p:sp>
      <p:sp>
        <p:nvSpPr>
          <p:cNvPr id="13" name="Text 10"/>
          <p:cNvSpPr/>
          <p:nvPr/>
        </p:nvSpPr>
        <p:spPr>
          <a:xfrm>
            <a:off x="6783316" y="1874520"/>
            <a:ext cx="46128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 프롬프트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83316" y="2148840"/>
            <a:ext cx="4612851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'명단' 시트의 A열 성명을 '민원인1', '민원인2'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순서로 바꾸고, D열 연락처를 전부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'010-0000-0000' 으로 바꾸는 Apps Script를 만들어줘.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원본은 그대로 두고 '가명명단' 시트에 결과를 써줘.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'가명 처리' 메뉴를 만들어줘.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54716" y="3264916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· 내부자료 기준</a:t>
            </a:r>
            <a:endParaRPr lang="en-US" sz="1150" dirty="0"/>
          </a:p>
        </p:txBody>
      </p:sp>
      <p:graphicFrame>
        <p:nvGraphicFramePr>
          <p:cNvPr id="1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3539236"/>
          <a:ext cx="5070051" cy="914400"/>
        </p:xfrm>
        <a:graphic>
          <a:graphicData uri="http://schemas.openxmlformats.org/drawingml/2006/table">
            <a:tbl>
              <a:tblPr/>
              <a:tblGrid>
                <a:gridCol w="2419797"/>
                <a:gridCol w="2650254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만든 코드를 부서에서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만든 이미지를 홍보물에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실존 인물·상표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다른 부서에 공유한다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오히려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외부에 공개한다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협의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내부 규정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판정과 검토 절차 설계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자료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판정 — 관문 세 개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143203" cy="3743869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security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070051" cy="367071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21027" y="1481328"/>
            <a:ext cx="5603740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295347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95347" y="1865376"/>
            <a:ext cx="505510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파일을 열고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이름을 하나씩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보며 세 관문을 통과시킨다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21027" y="2754884"/>
            <a:ext cx="5603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첫 관문 · 고유식별정보</a:t>
            </a:r>
            <a:endParaRPr lang="en-US" sz="115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21027" y="3029204"/>
          <a:ext cx="5603740" cy="914400"/>
        </p:xfrm>
        <a:graphic>
          <a:graphicData uri="http://schemas.openxmlformats.org/drawingml/2006/table">
            <a:tbl>
              <a:tblPr/>
              <a:tblGrid>
                <a:gridCol w="1949127"/>
                <a:gridCol w="3654613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있는데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업무에 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열을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삭제한 복사본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진행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업무의 본질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대상에서 뺀다.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다른 업무로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021027" y="4582160"/>
            <a:ext cx="5603740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" name="Shape 16"/>
          <p:cNvSpPr/>
          <p:nvPr/>
        </p:nvSpPr>
        <p:spPr>
          <a:xfrm>
            <a:off x="6021027" y="458216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1" name="Text 17"/>
          <p:cNvSpPr/>
          <p:nvPr/>
        </p:nvSpPr>
        <p:spPr>
          <a:xfrm>
            <a:off x="6240483" y="4710176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고유식별정보는 가명 처리로도 안 됩니다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240483" y="4966208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· 외국인등록번호 · 운전면허번호 · 여권번호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지우거나, 못 지우면 멈춥니다.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2~4 · 나머지 두 관문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처리로 되는 것 /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판단하지 않을 것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둘째 관문 · 이름 · 연락처 · 주소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17556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대부분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처리로 해결됩니다.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집계 결과는 하나도 달라지지 않습니다.</a:t>
            </a:r>
            <a:endParaRPr lang="en-US" sz="12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16480"/>
          <a:ext cx="5336896" cy="914400"/>
        </p:xfrm>
        <a:graphic>
          <a:graphicData uri="http://schemas.openxmlformats.org/drawingml/2006/table">
            <a:tbl>
              <a:tblPr/>
              <a:tblGrid>
                <a:gridCol w="2109935"/>
                <a:gridCol w="1861708"/>
                <a:gridCol w="1365252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홍길동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민원인A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010-1234-5678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(열 삭제)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대구시 ○○구 ○○동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○○구 (구 단위만)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393547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393547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406349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" y="431952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따로 두고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복사본에서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작업하세요. 이름 열을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로 바꾸는 데 1분이면 됩니다.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셋째 관문 · 대외비 · 직무상 비밀</a:t>
            </a:r>
            <a:endParaRPr lang="en-US" sz="1150" dirty="0"/>
          </a:p>
        </p:txBody>
      </p:sp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900487"/>
                <a:gridCol w="2436409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자료이거나 내부 통계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대외비 표시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미공개 감사자료, 진행 중 수사·심의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AI를 쓰지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애매하다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상급자에게 묻는다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혼자 판단하지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287872" y="3704844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6"/>
          <p:cNvSpPr/>
          <p:nvPr/>
        </p:nvSpPr>
        <p:spPr>
          <a:xfrm>
            <a:off x="6287872" y="370484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7"/>
          <p:cNvSpPr/>
          <p:nvPr/>
        </p:nvSpPr>
        <p:spPr>
          <a:xfrm>
            <a:off x="6507328" y="38328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07328" y="408889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애매할 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결정하지 않는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관문의 전부입니다.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87872" y="4744212"/>
            <a:ext cx="5336896" cy="1109472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4" name="Shape 20"/>
          <p:cNvSpPr/>
          <p:nvPr/>
        </p:nvSpPr>
        <p:spPr>
          <a:xfrm>
            <a:off x="6287872" y="4744212"/>
            <a:ext cx="50292" cy="1109472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5" name="Text 21"/>
          <p:cNvSpPr/>
          <p:nvPr/>
        </p:nvSpPr>
        <p:spPr>
          <a:xfrm>
            <a:off x="6507328" y="487222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STEP 4 · 기관 지침 확인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07328" y="512826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기관에 생성형 AI 이용 지침이 있으면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지침이 이 문서보다 우선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없다면 위 세 관문을 기준으로 삼습니다.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판정과 검토 절차 설계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항목을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낸 결과를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무엇을 보고 통과시킬지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873504"/>
          </a:xfrm>
          <a:prstGeom prst="roundRect">
            <a:avLst>
              <a:gd name="adj" fmla="val 2440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항목 만들기 프롬프트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45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만든 자동화 도구야.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(도구가 하는 일과 결과 형태를 3~4줄로 설명)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결과를 담당자가 검토할 때 볼 항목을 만들어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각 항목은 숫자로 맞는지 틀리는지 판정할 수 있어야 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"잘 됐는지 본다" 같은 애매한 표현은 쓰지 마.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3분 안에 끝낼 수 있는 분량으로, 5개 이내.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각 항목마다 틀렸을 때 무엇을 해야 하는지 함께 써 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7872" y="1481328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7872" y="1481328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1865376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형태가 나오면 성공입니다.</a:t>
            </a:r>
            <a:endParaRPr lang="en-US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520696"/>
          <a:ext cx="5336896" cy="914400"/>
        </p:xfrm>
        <a:graphic>
          <a:graphicData uri="http://schemas.openxmlformats.org/drawingml/2006/table">
            <a:tbl>
              <a:tblPr/>
              <a:tblGrid>
                <a:gridCol w="1415911"/>
                <a:gridCol w="2069408"/>
                <a:gridCol w="1851576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틀렸을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행 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행 수 − 제외 행 수와 같다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규칙을 다시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금액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금액 열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=SUM()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값과 같다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쓰지 말고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담당자에게 알림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과가 모두 나온다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과의 원본 자료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건수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0건이거나 목록으로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과에 회신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287872" y="4940808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4" name="Shape 21"/>
          <p:cNvSpPr/>
          <p:nvPr/>
        </p:nvSpPr>
        <p:spPr>
          <a:xfrm>
            <a:off x="6287872" y="4940808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Text 22"/>
          <p:cNvSpPr/>
          <p:nvPr/>
        </p:nvSpPr>
        <p:spPr>
          <a:xfrm>
            <a:off x="6507328" y="50688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총합 대조가 가장 강력한 검증입니다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07328" y="5324856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합계와 도구 결과 합계가 다르면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어딘가 빠진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기능을 도구에 넣기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총합을 대조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만듭니다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2120265"/>
          </a:xfrm>
          <a:prstGeom prst="roundRect">
            <a:avLst>
              <a:gd name="adj" fmla="val 2156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기능 추가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16996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결과가 맞는지 확인할 수 있게,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실행이 끝나면 아래를 함께 알려주도록 고쳐줘.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데이터 행 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제외된 행 수와 그 이유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금액 총합과 결과 금액 총합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(둘이 다르면 경고 표시)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고친 전체 코드를 다시 보여줘.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47897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747897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875913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4131945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끝날 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"총 3개 과, 26건 / 원본 총합 26건"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두 숫자가 함께 나오면 성공입니다.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검토 절차 — 사람이 볼 지점 4개</a:t>
            </a:r>
            <a:endParaRPr lang="en-US" sz="115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210430"/>
                <a:gridCol w="825293"/>
                <a:gridCol w="330117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자료가 최신인가, 빠진 팀이 없는가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직후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총합과 결과 총합이 일치하는가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활용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이상한 값(음수 · 0 · 과다)이 없는가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 발송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결과에 남지 않았는가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287872" y="3696970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369697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382498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자동화의 가장 큰 위험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408101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"AI가 만들었으니 맞겠지"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 사람이 볼 지점을 미리 정해 두는 것이 그 위험을 막습니다.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판정과 검토 절차 설계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안내문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없을 때 동료가 이 도구를 쓸 수 있게 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520442"/>
            <a:ext cx="5336896" cy="2384044"/>
          </a:xfrm>
          <a:prstGeom prst="roundRect">
            <a:avLst>
              <a:gd name="adj" fmla="val 1918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639314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안내문 프롬프트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2913634"/>
            <a:ext cx="4879696" cy="1963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도구를 처음 쓰는 동료를 위한 안내문을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장으로 만들어 줘. 아래 순서로, 각 항목은 세 줄 이내로.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이 도구가 하는 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쓰기 전에 반드시 지울 정보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실행 방법 (어디를 눌러 어디서 결과를 보는지)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결과를 믿기 전에 확인할 것 (위 검토 항목)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오류가 났을 때 할 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담당자가 바뀌면 누구에게 물어볼지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행정 문서 어투로, 어려운 용어는 괄호로 풀어 써 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5079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05079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51788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543483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안내문은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사용법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탭에, 검토 항목 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검토표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탭에.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설명 · 검토표가 한 파일 안에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있어야 인수인계가 됩니다.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체크리스트 — 도구와 함께 보관합니다</a:t>
            </a:r>
            <a:endParaRPr lang="en-US" sz="11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556595"/>
                <a:gridCol w="2223707"/>
                <a:gridCol w="155659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그래도 안 되면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메뉴가 안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새로고침(F5)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창이 뜬다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 → 프로젝트로 이동 →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비어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시트에 데이터가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원본과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 · 이상한 값이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중단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후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두 번 겹쳤다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시트를 지우고 재실행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창이 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 전체를 캡처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캡처와 함께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유의사항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6가지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완성 점검표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함께 배포하는 보안 유의사항</a:t>
            </a:r>
            <a:endParaRPr lang="en-US" sz="115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지킬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든 원본을 ChatGPT · Claude 창에 붙여넣지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수정이 필요하면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아니라 구조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AI에게 말한다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대외 발송하기 전 개인정보가 남지 않았는지 확인한다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파일은 항상 사본을 두고 도구를 돌린다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원본과 다르면 즉시 사용을 멈추고 담당자에게 알린다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공유할 때 사용 설명서를 함께 준다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점검표 — 오류 대응 체크리스트 및 보안 유의사항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자료에서 고유식별정보 유무를 확인했다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연락처를 가명 처리하거나 열을 삭제했다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대외비 여부를 판정했다 (애매하면 물었다)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기관의 AI 이용 지침을 확인했다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항목이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숫자로 판정 가능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검토 항목에 "틀렸을 때 할 일"이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안내문을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사용법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넣었다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검토표를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검토표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넣었다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원본이 아닌 복사본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 작업했다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287872" y="511683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287872" y="511683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1"/>
          <p:cNvSpPr/>
          <p:nvPr/>
        </p:nvSpPr>
        <p:spPr>
          <a:xfrm>
            <a:off x="6507328" y="524484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한 줄 요약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07328" y="550087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넣지 말 것을 넣지 않고, 나온 것을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숫자로 확인하면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대부분의 사고는 막힙니다.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 ~ 17:00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적용계획 작성 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도구를 부서 업무에 적용하기 위한 실행계획을 작성한다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적용계획서 (여덟 칸)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1~2 · 여덟 칸 양식 · ①~④ 숫자로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3~4 · 검토 절차 · 개인정보 · 확산 · 인수인계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AI에게 계획서 검토시키기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확산 아이디어 뽑아 두기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서랍에만 남으면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하루가 아깝습니다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만든 도구를 부서 업무에 적용하는 실행계획을 작성한다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지금까지 만든 도구와 검토표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적용계획서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계획서가 없으면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바뀌는 순간 아무도 못 씁니다.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부서에 퍼뜨리는 계획까지 써야 오늘이 끝납니다.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도입 장벽과 대응 — 미리 답을 준비해 두세요</a:t>
            </a:r>
            <a:endParaRPr lang="en-US" sz="1150" dirty="0"/>
          </a:p>
        </p:txBody>
      </p:sp>
      <p:graphicFrame>
        <p:nvGraphicFramePr>
          <p:cNvPr id="1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890151"/>
                <a:gridCol w="344674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"잘못되면 누가 책임지나"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검토 절차 4단계를 보여줍니다. 총합 대조로 오류를 잡습니다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"AI에 자료 올려도 되나"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데이터는 외부로 안 나갑니다. AI에는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구조만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알려줬음을 설명합니다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"나는 못 쓸 것 같은데"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하나입니다. A4 한 장 설명서를 함께 줍니다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"지금도 잘 되는데"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85분, 월 5.7시간이라는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말합니다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"만든 사람이 가면 어떡하나"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프롬프트와 설계서를 함께 보관합니다. 다시 만들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칸짜리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그대로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410048" cy="3638198"/>
          </a:xfrm>
          <a:prstGeom prst="roundRect">
            <a:avLst>
              <a:gd name="adj" fmla="val 12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plan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336896" cy="356504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87872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562192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62192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것을 실제 업무에 넣는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쓴다</a:t>
            </a:r>
            <a:endParaRPr lang="en-US" sz="13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520442"/>
          <a:ext cx="5336896" cy="914400"/>
        </p:xfrm>
        <a:graphic>
          <a:graphicData uri="http://schemas.openxmlformats.org/drawingml/2006/table">
            <a:tbl>
              <a:tblPr/>
              <a:tblGrid>
                <a:gridCol w="1778965"/>
                <a:gridCol w="355793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적나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적용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업무에 쓰나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사용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쓰나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적용 시점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언제부터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예상 절감시간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2교시에서 계산한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검토 절차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개인정보 처리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정보를 어떻게 처리했나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확산 가능성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데도 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인수인계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어디에 남기나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①~④ 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숫자로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137430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5887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58879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"많이 줄어듦" 은 결재가 안 납니다.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결재선이 읽는 것은 숫자입니다</a:t>
            </a:r>
            <a:endParaRPr lang="en-US" sz="13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137430" cy="914400"/>
        </p:xfrm>
        <a:graphic>
          <a:graphicData uri="http://schemas.openxmlformats.org/drawingml/2006/table">
            <a:tbl>
              <a:tblPr/>
              <a:tblGrid>
                <a:gridCol w="1292091"/>
                <a:gridCol w="1399765"/>
                <a:gridCol w="3445575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적용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취합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부서별 실적 취합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(매월 5~10일)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사용 대상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기획예산과 실적 담당 3명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2차로 5개 과 확대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적용 시점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곧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10월 정기 취합부터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예상 절감시간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많이 줄어듦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3시간 → 20분 ·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32시간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88406" y="1481328"/>
            <a:ext cx="4536361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88406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307862" y="160934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07862" y="1865376"/>
            <a:ext cx="406087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단위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환산하세요. "월 3시간"은 작아 보이지만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 32시간"은 설득이 됩니다.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8406" y="2737104"/>
            <a:ext cx="4536361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1" name="Shape 18"/>
          <p:cNvSpPr/>
          <p:nvPr/>
        </p:nvSpPr>
        <p:spPr>
          <a:xfrm>
            <a:off x="7088406" y="2737104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2" name="Text 19"/>
          <p:cNvSpPr/>
          <p:nvPr/>
        </p:nvSpPr>
        <p:spPr>
          <a:xfrm>
            <a:off x="7307862" y="2865120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숫자를 못 만들겠으면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07862" y="3121152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정의서의 "현재 소요시간"과 "주기"를 곱하면 됩니다. 실측값이 없으면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한 번을 재 보고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적으세요 — 추정이면 추정이라고 적습니다.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⑤⑥ —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결재선이 가장 먼저 보는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칸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검토 절차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검토 절차 (예)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담당자가 [자동화] 메뉴로 실행한다.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"검토표" 탭의 4개 항목을 대조한다.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(행 개수 · 총 금액 · 부서 개수 · 확인필요 건수)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4개가 모두 통과하면 팀장에게 보고한다.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하나라도 어긋나면 결과를 쓰지 않고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원본을 재확인한다.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390519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390519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518535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3774567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절차는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이름이 아니라 역할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적습니다. "김○○ 주무관"이 아니라 "실적 담당자". 사람이 바뀌어도 문서가 살아남습니다.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7872" y="1481328"/>
            <a:ext cx="5336896" cy="1405509"/>
          </a:xfrm>
          <a:prstGeom prst="roundRect">
            <a:avLst>
              <a:gd name="adj" fmla="val 3253"/>
            </a:avLst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개인정보 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6472" y="1874520"/>
            <a:ext cx="4879696" cy="984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 개인정보 처리 (예)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고유식별정보 없음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이름 열은 삭제한 복사본으로 처리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파일은 부서 공유 폴더에만 보관하고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외부에 올리지 않음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87872" y="3033141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87872" y="3033141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07328" y="316115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 두 칸이 결재를 통과시킵니다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341718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"누가 무엇을 보고 통과시키는가"와 "개인정보를 어떻게 다뤘는가" — 결재권자가 가장 먼저 묻는 두 가지입니다.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⑦⑧ — 도구를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살리는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칸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870585" cy="914400"/>
        </p:xfrm>
        <a:graphic>
          <a:graphicData uri="http://schemas.openxmlformats.org/drawingml/2006/table">
            <a:tbl>
              <a:tblPr/>
              <a:tblGrid>
                <a:gridCol w="1194017"/>
                <a:gridCol w="1492522"/>
                <a:gridCol w="318404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적나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확산 가능성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구조의 다른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「월간 민원 통계」도 열 이름만 바꾸면 그대로 적용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인수인계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어디에 남기나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명세서 · 사용법 · 검토표를 부서 공유 폴더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/자동화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에 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3116453"/>
            <a:ext cx="5870585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311645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244469"/>
            <a:ext cx="539509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" y="3500501"/>
            <a:ext cx="5395097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경진대회 출품이나 혁신리더 과제의 핵심 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이기도 합니다. "우리 과에서만 쓰는 것"과 "다른 과도 쓸 수 있는 것"은 평가가 다릅니다.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21561" y="1481328"/>
            <a:ext cx="48032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가능성 따져보기 — 네 방향</a:t>
            </a:r>
            <a:endParaRPr lang="en-US" sz="1150" dirty="0"/>
          </a:p>
        </p:txBody>
      </p:sp>
      <p:graphicFrame>
        <p:nvGraphicFramePr>
          <p:cNvPr id="1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755648"/>
          <a:ext cx="4803206" cy="914400"/>
        </p:xfrm>
        <a:graphic>
          <a:graphicData uri="http://schemas.openxmlformats.org/drawingml/2006/table">
            <a:tbl>
              <a:tblPr/>
              <a:tblGrid>
                <a:gridCol w="1898942"/>
                <a:gridCol w="2904264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방향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부서 다른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→ 월간 · 분기 집계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부서 같은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과의 제출자료 취합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대상만 바꾸기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→ 예산 집행 → 민원 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앞뒤로 잇기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취합 → 요약문 생성 → 보고서 초안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821561" y="3696970"/>
            <a:ext cx="4803206" cy="893064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0" name="Shape 16"/>
          <p:cNvSpPr/>
          <p:nvPr/>
        </p:nvSpPr>
        <p:spPr>
          <a:xfrm>
            <a:off x="6821561" y="3696970"/>
            <a:ext cx="50292" cy="893064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1" name="Text 17"/>
          <p:cNvSpPr/>
          <p:nvPr/>
        </p:nvSpPr>
        <p:spPr>
          <a:xfrm>
            <a:off x="7041017" y="3824986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여기서 혁신과제 아이디어가 나옵니다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041017" y="4081018"/>
            <a:ext cx="432771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도구가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군데에 더 쓰일 수 있는지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세어 보세요.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5·6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계획서를 검토시키고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확산 아이디어를 뽑습니다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2384044"/>
          </a:xfrm>
          <a:prstGeom prst="roundRect">
            <a:avLst>
              <a:gd name="adj" fmla="val 1918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계획서 검토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1963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작성한 자동화 도구 적용계획서야.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결재선에 올리기 전에 검토해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숫자로 쓰지 않아 애매한 표현이 있으면 지적해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결재권자가 물어볼 만한 질문 3가지를 예상해서 알려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개인정보·보안 관점에서 빠진 것이 있으면 알려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내용을 대신 써 주지는 말고, 지적만 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계획서 ---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(여덟 칸 붙여넣기)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01167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401167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13969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39572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3가지에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답할 수 있는지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스스로 확인합니다. 답이 막히는 질문이 있으면 그 칸을 더 채웁니다.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7872" y="1481328"/>
            <a:ext cx="5336896" cy="1703324"/>
          </a:xfrm>
          <a:prstGeom prst="roundRect">
            <a:avLst>
              <a:gd name="adj" fmla="val 2684"/>
            </a:avLst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확산 아이디어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6472" y="1874520"/>
            <a:ext cx="4879696" cy="1282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도구를 바탕으로 발전시킬 수 있는 아이디어를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3가지 알려 줘. 각각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무엇을 더하는지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 어느 부서에 도움이 되는지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만드는 데 얼마나 걸릴지 순서로.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도구에서 조금만 더하면 되는 것 위주로.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87872" y="3330956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87872" y="3330956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07328" y="34589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3715004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"조금만 더하면 되는 것"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핵심입니다. 크게 벌이면 8교시 안에 못 끝냅니다. 나온 3가지를 계획서 아래에 메모해 두었다가 8교시에서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적용계획서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여덟 칸이 모두 채워졌다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①~④가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적혔다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절감시간이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단위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환산됐다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절차가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적혔다 (사람 이름 아님)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처리 방식이 구체적이다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가능성에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업무 이름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적혔다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인수인계 보관 위치가 적혔다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검토 지적사항을 반영했다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아이디어 3가지를 메모해 뒀다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87872" y="350520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Shape 9"/>
          <p:cNvSpPr/>
          <p:nvPr/>
        </p:nvSpPr>
        <p:spPr>
          <a:xfrm>
            <a:off x="6287872" y="350520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0"/>
          <p:cNvSpPr/>
          <p:nvPr/>
        </p:nvSpPr>
        <p:spPr>
          <a:xfrm>
            <a:off x="6507328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9개가 채워지면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07328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적용계획서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8교시에서 동료에게 시연하고 피드백을 반영해 최종본을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~ 18:00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적용계획 작성 ②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 아이디어 · 공유 · 피드백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경진대회·혁신과제로 발전 가능한 아이디어를 도출하고, 결과물을 공유해 피드백을 받는다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적용계획서(최종) 및 개선사항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3분 발표 준비 (절반이 시연)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2~3 · 질문 받아 적기 · 피드백 셋으로 나누기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오늘 되는 개선 3개만 고치기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계획서 최종본 · 3주 계획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혁신과제로 키우기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경진대회 출품작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될 수 있나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930366"/>
                <a:gridCol w="3406529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심사에서 보는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도구는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문제인가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90분씩 쓰던 일 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실측값이 있음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효과가 숫자로 나오나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5.7시간, 연 68시간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남이 따라 할 수 있나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프롬프트와 설계서가 있어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확산성이 있나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구조의 업무 ○곳에 적용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지속되나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바뀌어도 설명서로 인계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82752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82752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95554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오늘 만든 산출물이 그대로 심사 자료입니다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21157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 · 설계서 · 도구 · 검토표 · 계획서 — 다섯 가지가 다 있습니다.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7872" y="1481328"/>
            <a:ext cx="5336896" cy="2894584"/>
          </a:xfrm>
          <a:prstGeom prst="roundRect">
            <a:avLst>
              <a:gd name="adj" fmla="val 1580"/>
            </a:avLst>
          </a:prstGeom>
          <a:solidFill>
            <a:srgbClr val="0B244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혁신과제 검토 프롬프트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16472" y="1874520"/>
            <a:ext cx="4879696" cy="247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공공부문 업무혁신 경진대회 심사위원이야.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만든 행정업무 자동화 도구와 적용계획이야.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(도구 설명 + 적용계획서 붙여넣기)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혁신과제로 제출한다면 어떤 점이 강점이고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어떤 점이 약한지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심사위원이 물어볼 만한 질문 5가지와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준비할 답변을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효과를 더 설득력 있게 보여주려면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어떤 수치를 추가로 모아야 하는지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제목을 3개 제안해줘.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적지 않은 성과를 지어내지 마.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시연 · 피드백 · 최종본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발표를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비율로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4983096" cy="3785070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share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4909944" cy="371191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60920" y="1481328"/>
            <a:ext cx="5763847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135240" y="1636776"/>
            <a:ext cx="52152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35240" y="1865376"/>
            <a:ext cx="5215207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것을 동료 앞에서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 보인다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말로만 설명하면 전달되지 않는다</a:t>
            </a:r>
            <a:endParaRPr lang="en-US" sz="13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60920" y="2754884"/>
          <a:ext cx="5763847" cy="914400"/>
        </p:xfrm>
        <a:graphic>
          <a:graphicData uri="http://schemas.openxmlformats.org/drawingml/2006/table">
            <a:tbl>
              <a:tblPr/>
              <a:tblGrid>
                <a:gridCol w="840561"/>
                <a:gridCol w="2881924"/>
                <a:gridCol w="204136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말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업무가 왜 불편했나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배경 설명을 길게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돌려 보이기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(화면 공유)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얼마나 줄었나 (숫자)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"편해졌습니다" 같은 감상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무엇을 할까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될 계획 나열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5860920" y="4696206"/>
            <a:ext cx="5763847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5"/>
          <p:cNvSpPr/>
          <p:nvPr/>
        </p:nvSpPr>
        <p:spPr>
          <a:xfrm>
            <a:off x="5860920" y="4696206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6"/>
          <p:cNvSpPr/>
          <p:nvPr/>
        </p:nvSpPr>
        <p:spPr>
          <a:xfrm>
            <a:off x="6080376" y="4824222"/>
            <a:ext cx="5288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080376" y="5080254"/>
            <a:ext cx="5288359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절반이 시연입니다.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버튼을 누르는 장면을 반드시 보여주세요.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2~3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받아 적고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피드백은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셋으로 나눕니다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동료 질문을 그대로 받아 적습니다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17556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과 자료는 열이 다른데 되나요?"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질문이 가장 값집니다. 확산할 때 실제로 부딪힐 문제이기 때문입니다.</a:t>
            </a:r>
            <a:endParaRPr lang="en-US" sz="12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16480"/>
          <a:ext cx="5336896" cy="914400"/>
        </p:xfrm>
        <a:graphic>
          <a:graphicData uri="http://schemas.openxmlformats.org/drawingml/2006/table">
            <a:tbl>
              <a:tblPr/>
              <a:tblGrid>
                <a:gridCol w="2964942"/>
                <a:gridCol w="2371954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물어볼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"이거 우리 과에도 쓸 수 있을까요?"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가능성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"설명서만 보고 쓸 수 있겠어요?"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인계 가능성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"여기서 뭐가 틀릴 것 같아요?"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못 본 예외 발견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390245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390245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40304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" y="428650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방어하지 말고 그대로 적으세요.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"그건 안 됩니다"라고 답하기 전에 메모부터 합니다.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강사 피드백을 셋으로 나눠 적습니다</a:t>
            </a:r>
            <a:endParaRPr lang="en-US" sz="1150" dirty="0"/>
          </a:p>
        </p:txBody>
      </p:sp>
      <p:graphicFrame>
        <p:nvGraphicFramePr>
          <p:cNvPr id="1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508253"/>
                <a:gridCol w="3828642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안 고치면 실제 업무에서 사고가 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둘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있으면 좋지만 없어도 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· 발전 단계에서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287872" y="340766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6"/>
          <p:cNvSpPr/>
          <p:nvPr/>
        </p:nvSpPr>
        <p:spPr>
          <a:xfrm>
            <a:off x="6287872" y="340766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7"/>
          <p:cNvSpPr/>
          <p:nvPr/>
        </p:nvSpPr>
        <p:spPr>
          <a:xfrm>
            <a:off x="6507328" y="353568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07328" y="379171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칸으로 나누지 않으면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고쳐야 할 것처럼 보여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아무것도 못 끝냅니다.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87872" y="4663440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오늘 안에 되는 개선 3개만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287872" y="4937760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것을 정했으면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오류 루프와 같은 방식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고칩니다 — 요청 → 코드 전체 받기 → 붙여넣기 → 실행 → 확인.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4·5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시연 · 피드백 · 최종본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고치고, 계획서를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최종본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개선 3개 고르기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 도구에 대해 받은 피드백 목록이야.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남은 시간 40분 안에 고칠 수 있는 것 3개를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골라 주고, 각각 어떤 순서로 고쳐야 하는지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나머지는 "다음에 할 것"으로 따로 묶어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피드백 ---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(받아 적은 것 붙여넣기)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390519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390519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518535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3774567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뒤에는 반드시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`검토표` 탭의 항목을 다시 돌려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이전에 되던 것이 깨지지 않았는지 봅니다.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적용계획서에 두 칸을 덧붙입니다</a:t>
            </a:r>
            <a:endParaRPr lang="en-US" sz="115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508253"/>
                <a:gridCol w="3828642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적을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 개선사항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고친 3가지와 그 이유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 다음 3주 계획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1주차: 내 업무에 실제 적용 / 2주차: 팀 내 1명에게 전달 / 3주차: 다음에 할 것 중 1개 착수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287872" y="3200908"/>
            <a:ext cx="5336896" cy="1022604"/>
          </a:xfrm>
          <a:prstGeom prst="roundRect">
            <a:avLst>
              <a:gd name="adj" fmla="val 4471"/>
            </a:avLst>
          </a:prstGeom>
          <a:solidFill>
            <a:srgbClr val="0B2447"/>
          </a:solidFill>
          <a:ln/>
        </p:spPr>
      </p:sp>
      <p:sp>
        <p:nvSpPr>
          <p:cNvPr id="22" name="Text 19"/>
          <p:cNvSpPr/>
          <p:nvPr/>
        </p:nvSpPr>
        <p:spPr>
          <a:xfrm>
            <a:off x="6516472" y="331978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아이디어 중 하나를 한 줄로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16472" y="3594100"/>
            <a:ext cx="4879696" cy="601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[발전 방향] 「월간 민원 통계」에 같은 구조를 적용해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5개 과가 공용으로 쓰는 취합 도구로 확장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— 경진대회 출품 후보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산출물 총정리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부서 공유 폴더에 함께 보관합니다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3712623"/>
                <a:gridCol w="1624273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 만들었나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· 요구사항 명세서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파일 (코드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사용법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검토표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4~6교시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 최종본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7~8교시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개선사항 · 다음 3주 계획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877056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877056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40050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따로 흩어 두면 소용없습니다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26110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폴더에 함께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있어야 담당자가 바뀌어도 이어집니다.</a:t>
            </a:r>
            <a:endParaRPr lang="en-US" sz="1200" dirty="0"/>
          </a:p>
        </p:txBody>
      </p:sp>
      <p:graphicFrame>
        <p:nvGraphicFramePr>
          <p:cNvPr id="1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점검표 — 적용계획서 최종본 및 개선사항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 발표에서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도구를 돌려 보였다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동료 질문을 받아 적었다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피드백을 고칠 것 / 둘 것 / 다음 것 셋으로 나눴다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개선 3개를 골라 실제로 고쳤다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고친 뒤 검토표를 다시 돌렸다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계획서에 ⑨ 개선사항을 추가했다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계획서에 ⑩ 다음 3주 계획을 추가했다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 방향 한 줄을 정리했다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 가지 산출물을 공유 폴더에 함께 보관했다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실행계획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정착시킵니다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2120265"/>
          </a:xfrm>
          <a:prstGeom prst="roundRect">
            <a:avLst>
              <a:gd name="adj" fmla="val 2156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실행계획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16996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 배운 행정업무 자동화를 실제 업무에 정착시키기 위한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3주 실행계획을 주차별 목표·할 일·점검 항목 표로 만들어줘.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상황: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만든 도구: (도구명과 하는 일)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적용 부서: (부서명, 사용 인원)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주당 가용 시간: 2시간 정도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현실적으로 지킬 수 있는 분량으로 짜줘.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47897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747897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875913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오늘 가져가는 것 최종 점검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4131945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정의서(2교시) · 설계서와 프롬프트(3교시) ·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도구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(4~5교시) · 체크리스트와 보안 유의사항(6교시) · 사용 설명서(6교시) · 적용계획서(7교시) · 개선사항과 3주 계획(8교시)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멈추지 않으려면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87872" y="175564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 하나로 끝내지 마세요.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하나 더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만들면 됩니다. 프롬프트 틀은 이미 있습니다.</a:t>
            </a:r>
            <a:endParaRPr lang="en-US" sz="13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352548"/>
          <a:ext cx="5336896" cy="914400"/>
        </p:xfrm>
        <a:graphic>
          <a:graphicData uri="http://schemas.openxmlformats.org/drawingml/2006/table">
            <a:tbl>
              <a:tblPr/>
              <a:tblGrid>
                <a:gridCol w="2446077"/>
                <a:gridCol w="289081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류승인 주무관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여러분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불편 하나에서 시작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업무 하나 선정 (2교시)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도구로 만듦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제작 (3~5교시)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남이 쓸 수 있게 공개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설명서 + 부서 배포 (6~7교시)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12개로 쌓임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주에 하나 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87872" y="4335145"/>
            <a:ext cx="5336896" cy="1542288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7872" y="4335145"/>
            <a:ext cx="50292" cy="1542288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2" name="Text 19"/>
          <p:cNvSpPr/>
          <p:nvPr/>
        </p:nvSpPr>
        <p:spPr>
          <a:xfrm>
            <a:off x="6507328" y="4463161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마지막 한 마디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07328" y="4719193"/>
            <a:ext cx="4861408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도구보다 중요한 것은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"말로 설명하면 도구가 된다"는 경험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다음에 막힐 때, 개발자를 찾기 전에 먼저 네 문장으로 적어 보세요 — 들어오는 것 / 하는 일 / 나오는 것 / 사람이 확인할 것.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F31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부서별 적용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부서 업무로 골라 쓰기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프롬프트를 내 시트·열·규칙에 맞게 고쳐 그대로 돌린다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업무로 바꾼 프롬프트와 돌아가는 도구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1~2 · 사례 고르기 · 열 대조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3~5 · 네 군데만 바꾸고 실행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6~7 · 내 규칙 덧붙이고 사례로 등록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6종 · 류승인 주무관 도구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부록을 쓰는 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새로 쓰지 마세요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75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사례집에는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붙어 있습니다. 다만 시트 이름도 열 구성도 내 것과 다릅니다. 이 부록은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차이를 메우는 절차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31267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31267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44068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사례를 고쳐 쓰는 것이 훨씬 빠릅니다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" y="269671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사례에 이미 들어 있는 안전장치 — 중복 처리 · 총합 검증 ·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 적은 규칙은 만들지 마"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를 그대로 물려받습니다.</a:t>
            </a:r>
            <a:endParaRPr lang="en-US" sz="12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68446"/>
          <a:ext cx="5336896" cy="914400"/>
        </p:xfrm>
        <a:graphic>
          <a:graphicData uri="http://schemas.openxmlformats.org/drawingml/2006/table">
            <a:tbl>
              <a:tblPr/>
              <a:tblGrid>
                <a:gridCol w="1067379"/>
                <a:gridCol w="426951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부서의 실제 반복 업무 자료 1건 (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지운 복사본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업무로 바꾼 프롬프트와 돌아가는 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2교시에 고를 업무가 떠오르지 않으면 여기서 찾으세요</a:t>
            </a:r>
            <a:endParaRPr lang="en-US" sz="1150" dirty="0"/>
          </a:p>
        </p:txBody>
      </p:sp>
      <p:graphicFrame>
        <p:nvGraphicFramePr>
          <p:cNvPr id="1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151095"/>
                <a:gridCol w="3139350"/>
                <a:gridCol w="1046450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자동화되는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총무 · 서무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제출자료 취합 / 물품 대장 정리 / 출장·연가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30~90분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담당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유형 분류 / 민원 통계 / 반복 민원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1~3분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· 회계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집행률 계산 / 예산 대비 실적 / 정산 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30~60분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· 공보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개인별 안내문 / 채널별 문구 변환 / 홍보 실적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3~20분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· 인재개발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 신청자 정리 / 이수 현황 / 만족도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40~60분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 · 건축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결과 정리 / 인허가 진행 현황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30~50분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1·2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 · 사례를 내 업무로 바꿔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이름이 아니라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222454"/>
          </a:xfrm>
          <a:prstGeom prst="roundRect">
            <a:avLst>
              <a:gd name="adj" fmla="val 14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case-p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14930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민원 담당이니 민원 사례"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고르지 않는다 — 다른 과 사례가 더 맞는 일이 흔하다</a:t>
            </a:r>
            <a:endParaRPr lang="en-US" sz="13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2754884"/>
          <a:ext cx="5070051" cy="914400"/>
        </p:xfrm>
        <a:graphic>
          <a:graphicData uri="http://schemas.openxmlformats.org/drawingml/2006/table">
            <a:tbl>
              <a:tblPr/>
              <a:tblGrid>
                <a:gridCol w="1931448"/>
                <a:gridCol w="313860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업무는?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들어오는 자료의 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한 장 / 여러 파일 / 폼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일의 종류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합치기 / 분류 / 계산 / 글 만들기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정해져 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"이럴 땐 이렇게" 를 말로 쓸 수 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554716" y="4522470"/>
            <a:ext cx="5070051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554716" y="4522470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20" name="Text 16"/>
          <p:cNvSpPr/>
          <p:nvPr/>
        </p:nvSpPr>
        <p:spPr>
          <a:xfrm>
            <a:off x="6774172" y="4650486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예를 들면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74172" y="4906518"/>
            <a:ext cx="459456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담당의 "수강 신청 정리"는 자료 모양·하는 일이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총무의 "팀별 제출자료 취합"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 같습니다. 그 사례를 가져오면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열 대조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사례의 프롬프트를 열어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이름을 대조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81328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1865376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프롬프트에 적힌 열이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자료에 실제로 있는지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봅니다.</a:t>
            </a:r>
            <a:endParaRPr lang="en-US" sz="12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696"/>
          <a:ext cx="5336896" cy="914400"/>
        </p:xfrm>
        <a:graphic>
          <a:graphicData uri="http://schemas.openxmlformats.org/drawingml/2006/table">
            <a:tbl>
              <a:tblPr/>
              <a:tblGrid>
                <a:gridCol w="2112521"/>
                <a:gridCol w="1556595"/>
                <a:gridCol w="166778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이름만 다르고 다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좋은 경우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STEP 3으로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자료에 없는 열이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규칙을 빼면 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3에서 해당 줄 삭제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사례에 없는 열이 내게 더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나중에 덧붙인다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6에서 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 이상이 안 맞는다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사례를 잘못 골랐다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1로 돌아간다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7" name="Text 14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절감시간이 큰 사례를 고르지 마세요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가장 명확한 사례가 끝까지 갑니다.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크고 복잡한 것부터 손대면 오늘 안에 못 끝냅니다.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7872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보내기 전에 스스로 읽어봅니다</a:t>
            </a:r>
            <a:endParaRPr lang="en-US" sz="1150" dirty="0"/>
          </a:p>
        </p:txBody>
      </p:sp>
      <p:graphicFrame>
        <p:nvGraphicFramePr>
          <p:cNvPr id="1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1423172"/>
                <a:gridCol w="391372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파일의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이름과 글자 하나까지 같은가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문자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가 실제 시트의 그 열인가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흔적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사례의 원래 단어(팀명·제출일 등)가 안 남아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시트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없을 때 새로 만들라는 문장이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 · 사례를 내 업무로 바꿔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군데만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바꿉니다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603508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/Volumes/aebon - 데이터/dreamit-web/01-edu-sites/daegu/ppt/assets/auto-case-ada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5303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프롬프트를 메모장에 붙여넣고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네 곳만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고친다</a:t>
            </a:r>
            <a:endParaRPr lang="en-US" sz="13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2754884"/>
          <a:ext cx="5070051" cy="914400"/>
        </p:xfrm>
        <a:graphic>
          <a:graphicData uri="http://schemas.openxmlformats.org/drawingml/2006/table">
            <a:tbl>
              <a:tblPr/>
              <a:tblGrid>
                <a:gridCol w="345685"/>
                <a:gridCol w="1728426"/>
                <a:gridCol w="299593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바꿀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(총무 → 예산 담당)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'제출자료'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'월간실적'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문자와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 팀명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 과명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기준을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A열+B열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'요약'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'부서별집계'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554716" y="4654931"/>
            <a:ext cx="5070051" cy="154228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Shape 15"/>
          <p:cNvSpPr/>
          <p:nvPr/>
        </p:nvSpPr>
        <p:spPr>
          <a:xfrm>
            <a:off x="6554716" y="4654931"/>
            <a:ext cx="50292" cy="154228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0" name="Text 16"/>
          <p:cNvSpPr/>
          <p:nvPr/>
        </p:nvSpPr>
        <p:spPr>
          <a:xfrm>
            <a:off x="6774172" y="4782947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두 가지를 꼭 지키세요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74172" y="5038979"/>
            <a:ext cx="4594563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열은 문자와 이름을 함께 바꿉니다.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이름만 바꾸면 AI가 엉뚱한 열을 잡습니다.
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문장은 손대지 않습니다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안 적은 규칙은 만들지 마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반드시 남깁니다.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2E52E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5~7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 · 사례를 내 업무로 바꿔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보내고 실행한 뒤, </a:t>
            </a:r>
            <a:pPr indent="0" marL="0">
              <a:buNone/>
            </a:pPr>
            <a:r>
              <a:rPr lang="en-US" sz="2500" b="1" dirty="0">
                <a:solidFill>
                  <a:srgbClr val="2E5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규칙을 하나씩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덧붙입니다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2E52E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4교시와 같은 순서로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176936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7693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0976" y="1755648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되물음이 오면 답한다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153412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1534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0976" y="2139696"/>
            <a:ext cx="4952848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코드를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[확장 프로그램] → [Apps Script]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 붙여넣고 저장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275971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75971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" y="2745994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새로고침 → 새로 생긴 메뉴에서 실행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314375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1437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976" y="3130042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탭과 원본 탭을 둘 다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3514090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514090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36421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3898138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프롬프트에는 대개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총합 검증 알림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들어 있습니다.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3개 과, 26건 / 원본 총합 26건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숫자가 같은지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87872" y="1481328"/>
            <a:ext cx="5336896" cy="1405509"/>
          </a:xfrm>
          <a:prstGeom prst="roundRect">
            <a:avLst>
              <a:gd name="adj" fmla="val 3253"/>
            </a:avLst>
          </a:prstGeom>
          <a:solidFill>
            <a:srgbClr val="0B2447"/>
          </a:solidFill>
          <a:ln/>
        </p:spPr>
      </p:sp>
      <p:sp>
        <p:nvSpPr>
          <p:cNvPr id="30" name="Text 28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사례에 없던 내 규칙 덧붙이기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16472" y="1874520"/>
            <a:ext cx="4879696" cy="984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코드에 아래 규칙 하나만 추가해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나머지 동작은 그대로 두고, 고친 코드 전체를 다시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금액이 10,000천원을 넘는 행은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비고 열에 "검토대상" 이라고 표시한다.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87872" y="3033141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287872" y="3033141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6507328" y="316115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07328" y="341718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하나를 추가할 때마다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실행해 총합이 그대로인지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봅니다. 규칙을 추가하다 집계가 틀어지는 일이 자주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부서 사례집에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고친 프롬프트를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공유 문서에 사례 형식으로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남깁니다. 다음 사람이 또 처음부터 하지 않게 됩니다.</a:t>
            </a:r>
            <a:endParaRPr lang="en-US" sz="13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78228"/>
          <a:ext cx="5336896" cy="914400"/>
        </p:xfrm>
        <a:graphic>
          <a:graphicData uri="http://schemas.openxmlformats.org/drawingml/2006/table">
            <a:tbl>
              <a:tblPr/>
              <a:tblGrid>
                <a:gridCol w="1276214"/>
                <a:gridCol w="4060681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부서별 실적 취합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사례집 「총무·서무 · 팀별 제출자료 취합」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시트명, 열 이름 4개, 중복 기준, 결과 시트명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과명 / B 항목 / C 건수 / D 금액 / E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(바꾼 전체 프롬프트 붙여넣기)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 이름 띄어쓰기가 섞이면 따로 집계됨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Shape 10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1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칸이 핵심입니다. 내가 겪은 함정을 적어 두면 다음 사람이 안 넘어집니다.</a:t>
            </a:r>
            <a:endParaRPr lang="en-US" sz="1200" dirty="0"/>
          </a:p>
        </p:txBody>
      </p:sp>
      <p:graphicFrame>
        <p:nvGraphicFramePr>
          <p:cNvPr id="1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737104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점검표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부서가 아니라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모양 · 하는 일 · 규칙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사례를 골랐다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사례의 열이 내 자료에 있는지 대조했다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군데(시트명 · 열 · 규칙 · 결과 위치)만 바꿨다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문자와 이름을 함께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바꿨다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내가 안 적은 규칙은 만들지 마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문장을 남겼다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총합 검증 숫자 두 개가 같았다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시트가 수정되지 않았다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규칙은 하나씩 넣고 매번 다시 확인했다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공유 문서에 사례로 등록했다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① 총무 · 서무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제출자료 취합 —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60~90분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3405124"/>
          </a:xfrm>
          <a:prstGeom prst="roundRect">
            <a:avLst>
              <a:gd name="adj" fmla="val 1343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98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'제출자료' 시트: 1행 제목, 2행부터 데이터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팀명, B열 항목, C열 건수, D열 제출일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C열이 비었거나 0인 행은 제외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A열+B열이 같은 행은 첫 번째만 남김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A열(팀명) 기준으로 C열 합계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합계 큰 순 정렬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'요약' 시트에 결과 작성 (기존 내용 지우고),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A1 '팀명' B1 '건수합계' 굵게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완료 시 "총 O개 팀, O건 / 원본 총합 O건" 알림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(총합이 다르면 경고)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'자료 취합' 을 추가해줘.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안 적은 규칙은 만들지 마.</a:t>
            </a:r>
            <a:endParaRPr lang="en-US" sz="10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328546"/>
                <a:gridCol w="2452701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제출자료 취합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시트 합치기 + 중복 제거 + 팀별 합계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60~90분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물품 대장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· 정렬 · 재고 부족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출장 · 연가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· 개인별 집계표 자동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207639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207639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335655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 사례가 기본형입니다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591687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6번의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총합 검증 알림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사례의 핵심 안전장치입니다. 다른 사례로 바꿔 쓸 때도 이 줄은 반드시 남기세요.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② 민원 담당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유형 분류 —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1~2분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3064764"/>
          </a:xfrm>
          <a:prstGeom prst="roundRect">
            <a:avLst>
              <a:gd name="adj" fmla="val 1492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644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'민원' 시트: 1행 제목, 2행부터 데이터, A열 접수일, B열 민원내용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B열에 아래 단어가 있으면 C열에 유형, D열에 소관을 채워줘.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가로등, 도로, 포트홀, 보도블럭 → 시설물 유지보수 / 도로과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주차, 단속, 견인, 과태료      → 단속 이의 / 교통과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지원금, 신청, 자격, 대상      → 제도 문의 / 해당 사업부서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공원, 벤치, 화단, 가로수      → 시설물 유지보수 / 공원녹지과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소음, 악취, 폐기물            → 생활환경 / 환경과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어디에도 없으면 C열 '분류 필요', D열 '확인 필요'.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여러 개에 걸리면 먼저 나온 규칙을 적용하고 E열에 '중복해당' 표시.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'민원 분류' 를 추가해줘.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226350"/>
                <a:gridCol w="2554897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유형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키워드로 유형 · 소관 부서 자동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1~2분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· 유형별 건수와 추이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민원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유형별 답변 초안 일괄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207639"/>
            <a:ext cx="480320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207639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335655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591687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원문에 민원인 이름·연락처가 있으면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열을 지운 사본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작업하세요. 분류는 내용만 있으면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③ 예산 · 회계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집행률 계산 —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60분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2894584"/>
          </a:xfrm>
          <a:prstGeom prst="roundRect">
            <a:avLst>
              <a:gd name="adj" fmla="val 1580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47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'집행현황' 시트: 1행 제목, 2행부터 데이터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부서명, B열 예산액, C열 집행액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D열에 집행률(C/B)을 백분율 소수점 1자리로 계산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집행률 90% 초과면 D칸 배경 빨강, 50% 미만이면 노랑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B열이 0이거나 비면 D열에 '계산 불가'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'요약' 시트에 전체 평균 집행률, 부서 수,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90% 초과 부서 목록, 50% 미만 부서 목록 작성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완료 시 "부서 O곳 / 평균 집행률 O%" 알림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'집행률 계산' 을 추가해줘.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226350"/>
                <a:gridCol w="2554897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집행률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 집행률 + 색상 표시 +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대비 실적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비교표와 증감 자동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합계와 총액 대조, 불일치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034284"/>
            <a:ext cx="4803206" cy="1325880"/>
          </a:xfrm>
          <a:prstGeom prst="rect">
            <a:avLst/>
          </a:prstGeom>
          <a:solidFill>
            <a:srgbClr val="EDF0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034284"/>
            <a:ext cx="50292" cy="1325880"/>
          </a:xfrm>
          <a:prstGeom prst="rect">
            <a:avLst/>
          </a:prstGeom>
          <a:solidFill>
            <a:srgbClr val="1936A9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16230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경계값을 꼭 시험하세요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418332"/>
            <a:ext cx="432771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90.0% 인 행, 정확히 50.0% 인 행이 어느 쪽으로 갔는지 눈으로 확인합니다.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93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경계에서 틀리는 일이 가장 잦습니다.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④ 홍보 · 공보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개인별 안내문 생성 —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3분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2894584"/>
          </a:xfrm>
          <a:prstGeom prst="roundRect">
            <a:avLst>
              <a:gd name="adj" fmla="val 1580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47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'명단' 시트: 1행 제목, 2행부터 데이터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성명, B열 교육과정, C열 일시, D열 장소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E열에 아래 양식으로 개인별 안내문을 만들어줘.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"[성명] 님, 안녕하십니까. 신청하신 [교육과정] 교육이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[일시] [장소]에서 진행됩니다.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참석에 착오 없으시기 바랍니다."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대괄호는 각 행 값으로 치환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A~D 중 하나라도 비면 그 행은 건너뛰고 E열에 '자료 부족' 표시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상단 메뉴에 '안내문 생성' 추가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7D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328546"/>
                <a:gridCol w="2452701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개인별 안내문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명단에서 일괄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 문구 변환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보도자료 → 인스타 · 카카오 · 블로그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20분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실적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 게시 건수 · 반응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380994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38099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50901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위에 없는 업무라도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765042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규칙 → 출력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정해져 있으면 같은 방식으로 됩니다. 3교시 프롬프트 틀에 내 업무를 넣으면 그만입니다.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· 이 방향의 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류승인 주무관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직접 써보기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75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도구가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갈 수 있는지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확인합니다. 광진구 류승인 주무관이 현직 공무원 신분으로 만들어 공개한 도구들입니다.</a:t>
            </a:r>
            <a:endParaRPr lang="en-US" sz="13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12670"/>
          <a:ext cx="5336896" cy="914400"/>
        </p:xfrm>
        <a:graphic>
          <a:graphicData uri="http://schemas.openxmlformats.org/drawingml/2006/table">
            <a:tbl>
              <a:tblPr/>
              <a:tblGrid>
                <a:gridCol w="1494331"/>
                <a:gridCol w="1707807"/>
                <a:gridCol w="2134758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주소 표준화 (3분)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gjdong.vercel.app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제각각인 주소를 표준주소로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법령 비교 (3분)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lexdiff.gomdori.app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전후 조문을 자동 대조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프로젝트 12종 (2분)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chris.gomdori.app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12개를 한눈에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4261866"/>
            <a:ext cx="5336896" cy="1325880"/>
          </a:xfrm>
          <a:prstGeom prst="rect">
            <a:avLst/>
          </a:prstGeom>
          <a:solidFill>
            <a:srgbClr val="D3E2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261866"/>
            <a:ext cx="50292" cy="1325880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438988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접속 상태 안내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" y="4645914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상태는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2026-08-26 기준으로 직접 확인한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공개 서비스라 바뀔 수 있으니, 안 열리면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github.com/chrisryugj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에서 최신 상태를 확인하세요.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도구가 어떤 업무 불편에서 나왔나</a:t>
            </a:r>
            <a:endParaRPr lang="en-US" sz="1150" dirty="0"/>
          </a:p>
        </p:txBody>
      </p:sp>
      <p:graphicFrame>
        <p:nvGraphicFramePr>
          <p:cNvPr id="1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703265"/>
                <a:gridCol w="3633631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출발한 불편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korean-law-mcp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 · 판례 · 자치법규를 사이트마다 따로 찾아야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korean-stats-mcp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 수치를 KOSIS에서 직접 뒤져야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kordoc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 공문서를 AI가 읽지 못함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gjdong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서식 주소가 제각각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lexdiff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전후 법령 비교를 눈으로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Docufinder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예전 문서를 파일명으로만 찾음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287872" y="4589272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5"/>
          <p:cNvSpPr/>
          <p:nvPr/>
        </p:nvSpPr>
        <p:spPr>
          <a:xfrm>
            <a:off x="6287872" y="4589272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6"/>
          <p:cNvSpPr/>
          <p:nvPr/>
        </p:nvSpPr>
        <p:spPr>
          <a:xfrm>
            <a:off x="6507328" y="471728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07328" y="4973320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볼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도구들도 "매번 손으로 고친다"는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불편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출발했습니다. 오늘 여러분이 고른 업무와 같은 크기입니다.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(선택 · 15분)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연결하기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109472"/>
          </a:xfrm>
          <a:prstGeom prst="rect">
            <a:avLst/>
          </a:prstGeom>
          <a:solidFill>
            <a:srgbClr val="D3E2F8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81328"/>
            <a:ext cx="50292" cy="1109472"/>
          </a:xfrm>
          <a:prstGeom prst="rect">
            <a:avLst/>
          </a:prstGeom>
          <a:solidFill>
            <a:srgbClr val="0F3161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MCP 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도구를 붙여주는 규격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연결하면 Claude가 법제처·KOSIS를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3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조회해서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답합니다.</a:t>
            </a:r>
            <a:endParaRPr lang="en-US" sz="12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37104"/>
          <a:ext cx="5336896" cy="914400"/>
        </p:xfrm>
        <a:graphic>
          <a:graphicData uri="http://schemas.openxmlformats.org/drawingml/2006/table">
            <a:tbl>
              <a:tblPr/>
              <a:tblGrid>
                <a:gridCol w="1067379"/>
                <a:gridCol w="2727747"/>
                <a:gridCol w="154177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mcp.gomdori.app/law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mcp.gomdori.app/stats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mcp.gomdori.app/patent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mcp.gomdori.app/archhub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학교알리미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mcp.gomdori.app/school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데스크톱 앱에서 연결하는 법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7872" y="1769364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17" name="Text 14"/>
          <p:cNvSpPr/>
          <p:nvPr/>
        </p:nvSpPr>
        <p:spPr>
          <a:xfrm>
            <a:off x="6287872" y="17693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71920" y="1755648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데스크톱 앱을 엽니다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87872" y="2153412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0" name="Text 17"/>
          <p:cNvSpPr/>
          <p:nvPr/>
        </p:nvSpPr>
        <p:spPr>
          <a:xfrm>
            <a:off x="6287872" y="21534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71920" y="2139696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설정(Settings) → 커넥터(Connectors)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87872" y="2537460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3" name="Text 20"/>
          <p:cNvSpPr/>
          <p:nvPr/>
        </p:nvSpPr>
        <p:spPr>
          <a:xfrm>
            <a:off x="6287872" y="25374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71920" y="2523744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커넥터 추가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87872" y="2921508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6" name="Text 23"/>
          <p:cNvSpPr/>
          <p:nvPr/>
        </p:nvSpPr>
        <p:spPr>
          <a:xfrm>
            <a:off x="6287872" y="29215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671920" y="2907792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법령 검색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주소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https://mcp.gomdori.app/law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87872" y="3305556"/>
            <a:ext cx="256032" cy="256032"/>
          </a:xfrm>
          <a:prstGeom prst="ellipse">
            <a:avLst/>
          </a:prstGeom>
          <a:solidFill>
            <a:srgbClr val="2E52E0"/>
          </a:solidFill>
          <a:ln/>
        </p:spPr>
      </p:sp>
      <p:sp>
        <p:nvSpPr>
          <p:cNvPr id="29" name="Text 26"/>
          <p:cNvSpPr/>
          <p:nvPr/>
        </p:nvSpPr>
        <p:spPr>
          <a:xfrm>
            <a:off x="6287872" y="33055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671920" y="3291840"/>
            <a:ext cx="4952848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물어봅니다 — "지방공무원 복무규정에서 연가 관련 조문을 원문과 함께 알려줘"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287872" y="389813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6287872" y="389813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3" name="Text 30"/>
          <p:cNvSpPr/>
          <p:nvPr/>
        </p:nvSpPr>
        <p:spPr>
          <a:xfrm>
            <a:off x="6507328" y="402615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업무 자료 주의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507328" y="428218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외부 서버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개인정보나 대외비를 넣지 마세요. 공개 데이터 조회에만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12개를 만든 사람은 </a:t>
            </a:r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B2447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B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30분씩 잡아먹는 일 하나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부터입니다. 오늘 그 하나를 만들었습니다</a:t>
            </a:r>
            <a:endParaRPr lang="en-US" sz="13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2446077"/>
                <a:gridCol w="2890818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류승인 주무관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여러분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불편 하나에서 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업무 하나 선정 (2교시)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도구로 만듦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제작 (3~5교시)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남이 쓸 수 있게 공개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설명서 + 부서 배포 (6~7교시)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12개로 쌓임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주에 하나 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이후 참고할 곳</a:t>
            </a:r>
            <a:endParaRPr lang="en-US" sz="1150" dirty="0"/>
          </a:p>
        </p:txBody>
      </p:sp>
      <p:graphicFrame>
        <p:nvGraphicFramePr>
          <p:cNvPr id="1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505073"/>
                <a:gridCol w="2831822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교안의 온라인 판 (계속 갱신)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daegu.dreamitbiz.com/automation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그림 따라하기 · 구글 시트 자동화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daegu.dreamitbiz.com/setup/apps-script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그림 따라하기 · 공공데이터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daegu.dreamitbiz.com/setup/mcp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기초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daegu.dreamitbiz.com/prompt-eval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C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류승인 주무관 도구 모음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4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chris.gomdori.app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287872" y="4597146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3"/>
          <p:cNvSpPr/>
          <p:nvPr/>
        </p:nvSpPr>
        <p:spPr>
          <a:xfrm>
            <a:off x="6287872" y="4597146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4"/>
          <p:cNvSpPr/>
          <p:nvPr/>
        </p:nvSpPr>
        <p:spPr>
          <a:xfrm>
            <a:off x="6507328" y="472516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마지막 한 마디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07328" y="4981194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도구보다 중요한 것은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"말로 설명하면 도구가 된다"는 경험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다음에 막힐 때 먼저 네 문장으로 적어 보세요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들어오는 것 / 하는 일 / 나오는 것 / 사람이 확인할 것.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>DreamIT Biz · 직업미래연구소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행정업무 자동화 — 바이브코딩으로 만드는 업무 도구 (1~8교시)</dc:title>
  <dc:subject>대구광역시 공무원 AI 실무 교육 · 따라하기 강의교안</dc:subject>
  <dc:creator>정동엽</dc:creator>
  <cp:lastModifiedBy>정동엽</cp:lastModifiedBy>
  <cp:revision>1</cp:revision>
  <dcterms:created xsi:type="dcterms:W3CDTF">2026-09-13T08:36:06Z</dcterms:created>
  <dcterms:modified xsi:type="dcterms:W3CDTF">2026-09-13T08:36:06Z</dcterms:modified>
</cp:coreProperties>
</file>