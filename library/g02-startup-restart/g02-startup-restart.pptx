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308" r:id="rId59"/>
    <p:sldId id="309" r:id="rId60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10" r:id="rId6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973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Relationship Id="rId5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Relationship Id="rId5" Type="http://schemas.openxmlformats.org/officeDocument/2006/relationships/image" Target="../media/image3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26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Relationship Id="rId10" Type="http://schemas.openxmlformats.org/officeDocument/2006/relationships/image" Target="../media/image4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Relationship Id="rId4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jpg"/><Relationship Id="rId4" Type="http://schemas.openxmlformats.org/officeDocument/2006/relationships/image" Target="../media/image49.jpg"/><Relationship Id="rId5" Type="http://schemas.openxmlformats.org/officeDocument/2006/relationships/image" Target="../media/image47.jpg"/><Relationship Id="rId6" Type="http://schemas.openxmlformats.org/officeDocument/2006/relationships/image" Target="../media/image4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jpg"/><Relationship Id="rId4" Type="http://schemas.openxmlformats.org/officeDocument/2006/relationships/image" Target="../media/image5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48.jpg"/><Relationship Id="rId8" Type="http://schemas.openxmlformats.org/officeDocument/2006/relationships/image" Target="../media/image46.jpg"/><Relationship Id="rId9" Type="http://schemas.openxmlformats.org/officeDocument/2006/relationships/image" Target="../media/image5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jpg"/><Relationship Id="rId4" Type="http://schemas.openxmlformats.org/officeDocument/2006/relationships/image" Target="../media/image55.jpg"/><Relationship Id="rId5" Type="http://schemas.openxmlformats.org/officeDocument/2006/relationships/image" Target="../media/image5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jpg"/><Relationship Id="rId4" Type="http://schemas.openxmlformats.org/officeDocument/2006/relationships/image" Target="../media/image5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Relationship Id="rId4" Type="http://schemas.openxmlformats.org/officeDocument/2006/relationships/image" Target="../media/image5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Relationship Id="rId5" Type="http://schemas.openxmlformats.org/officeDocument/2006/relationships/image" Target="../media/image62.jpg"/><Relationship Id="rId6" Type="http://schemas.openxmlformats.org/officeDocument/2006/relationships/image" Target="../media/image6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jpg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54.jpg"/><Relationship Id="rId6" Type="http://schemas.openxmlformats.org/officeDocument/2006/relationships/image" Target="../media/image66.jpg"/><Relationship Id="rId7" Type="http://schemas.openxmlformats.org/officeDocument/2006/relationships/image" Target="../media/image4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jpg"/><Relationship Id="rId3" Type="http://schemas.openxmlformats.org/officeDocument/2006/relationships/image" Target="../media/image67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3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6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jpg"/><Relationship Id="rId3" Type="http://schemas.openxmlformats.org/officeDocument/2006/relationships/image" Target="../media/image4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69.jpg"/><Relationship Id="rId6" Type="http://schemas.openxmlformats.org/officeDocument/2006/relationships/image" Target="../media/image6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6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Relationship Id="rId4" Type="http://schemas.openxmlformats.org/officeDocument/2006/relationships/image" Target="../media/image7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jpg"/><Relationship Id="rId3" Type="http://schemas.openxmlformats.org/officeDocument/2006/relationships/image" Target="../media/image75.jpg"/><Relationship Id="rId4" Type="http://schemas.openxmlformats.org/officeDocument/2006/relationships/image" Target="../media/image7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3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Relationship Id="rId3" Type="http://schemas.openxmlformats.org/officeDocument/2006/relationships/image" Target="../media/image77.png"/><Relationship Id="rId4" Type="http://schemas.openxmlformats.org/officeDocument/2006/relationships/image" Target="../media/image32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jpg"/><Relationship Id="rId3" Type="http://schemas.openxmlformats.org/officeDocument/2006/relationships/image" Target="../media/image78.jpg"/><Relationship Id="rId4" Type="http://schemas.openxmlformats.org/officeDocument/2006/relationships/image" Target="../media/image79.jpg"/><Relationship Id="rId5" Type="http://schemas.openxmlformats.org/officeDocument/2006/relationships/image" Target="../media/image80.jpg"/><Relationship Id="rId6" Type="http://schemas.openxmlformats.org/officeDocument/2006/relationships/image" Target="../media/image48.jpg"/><Relationship Id="rId7" Type="http://schemas.openxmlformats.org/officeDocument/2006/relationships/image" Target="../media/image46.jpg"/><Relationship Id="rId8" Type="http://schemas.openxmlformats.org/officeDocument/2006/relationships/image" Target="../media/image8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58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82.jpg"/><Relationship Id="rId4" Type="http://schemas.openxmlformats.org/officeDocument/2006/relationships/image" Target="../media/image83.jpg"/><Relationship Id="rId5" Type="http://schemas.openxmlformats.org/officeDocument/2006/relationships/image" Target="../media/image84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5.png"/><Relationship Id="rId3" Type="http://schemas.openxmlformats.org/officeDocument/2006/relationships/image" Target="../media/image8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2191695" y="0"/>
            <a:ext cx="6096305" cy="10287000"/>
          </a:xfrm>
          <a:prstGeom prst="rect">
            <a:avLst/>
          </a:prstGeom>
          <a:solidFill>
            <a:srgbClr val="E26A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230099" y="4723790"/>
            <a:ext cx="6096305" cy="914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81404" y="1027785"/>
            <a:ext cx="571500" cy="192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943099" y="913485"/>
            <a:ext cx="8572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600" dirty="0">
                <a:solidFill>
                  <a:srgbClr val="F2C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Startup &amp; Restart · 4-Hour Course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1181404" y="1580997"/>
            <a:ext cx="104781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kern="0" spc="225" dirty="0">
                <a:solidFill>
                  <a:srgbClr val="FFFFFF">
                    <a:alpha val="6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예비창업자 · 초기창업자 · 재도약 사업자</a:t>
            </a:r>
            <a:endParaRPr lang="en-US" sz="2500" dirty="0"/>
          </a:p>
        </p:txBody>
      </p:sp>
      <p:sp>
        <p:nvSpPr>
          <p:cNvPr id="11" name="Text 6"/>
          <p:cNvSpPr txBox="1"/>
          <p:nvPr/>
        </p:nvSpPr>
        <p:spPr>
          <a:xfrm>
            <a:off x="1162202" y="2819095"/>
            <a:ext cx="11430000" cy="215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100" b="1" kern="0" spc="-675" dirty="0">
                <a:solidFill>
                  <a:srgbClr val="F4ECD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창업과</a:t>
            </a:r>
            <a:endParaRPr lang="en-US" sz="14100" dirty="0"/>
          </a:p>
        </p:txBody>
      </p:sp>
      <p:sp>
        <p:nvSpPr>
          <p:cNvPr id="12" name="Text 7"/>
          <p:cNvSpPr txBox="1"/>
          <p:nvPr/>
        </p:nvSpPr>
        <p:spPr>
          <a:xfrm>
            <a:off x="1162202" y="5009997"/>
            <a:ext cx="11430000" cy="215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100" b="1" kern="0" spc="-675" dirty="0">
                <a:solidFill>
                  <a:srgbClr val="F2C25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재도약</a:t>
            </a:r>
            <a:endParaRPr lang="en-US" sz="14100" dirty="0"/>
          </a:p>
        </p:txBody>
      </p:sp>
      <p:sp>
        <p:nvSpPr>
          <p:cNvPr id="13" name="Text 8"/>
          <p:cNvSpPr txBox="1"/>
          <p:nvPr/>
        </p:nvSpPr>
        <p:spPr>
          <a:xfrm>
            <a:off x="1200606" y="7219188"/>
            <a:ext cx="104781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i="1" kern="0" spc="-37" dirty="0">
                <a:solidFill>
                  <a:srgbClr val="F4ECDD">
                    <a:alpha val="78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From </a:t>
            </a:r>
            <a:r>
              <a:rPr lang="en-US" sz="3100" i="1" kern="0" spc="-37" dirty="0">
                <a:solidFill>
                  <a:srgbClr val="F2C25B">
                    <a:alpha val="78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First Step</a:t>
            </a:r>
            <a:r>
              <a:rPr lang="en-US" sz="3100" i="1" kern="0" spc="-37" dirty="0">
                <a:solidFill>
                  <a:srgbClr val="F4ECDD">
                    <a:alpha val="78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to </a:t>
            </a:r>
            <a:r>
              <a:rPr lang="en-US" sz="3100" i="1" kern="0" spc="-37" dirty="0">
                <a:solidFill>
                  <a:srgbClr val="F2C25B">
                    <a:alpha val="78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Second Wind</a:t>
            </a:r>
            <a:endParaRPr lang="en-US" sz="3100" dirty="0"/>
          </a:p>
        </p:txBody>
      </p:sp>
      <p:sp>
        <p:nvSpPr>
          <p:cNvPr id="14" name="Text 9"/>
          <p:cNvSpPr txBox="1"/>
          <p:nvPr/>
        </p:nvSpPr>
        <p:spPr>
          <a:xfrm>
            <a:off x="1200606" y="7753197"/>
            <a:ext cx="10478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kern="0" spc="75" dirty="0">
                <a:solidFill>
                  <a:srgbClr val="F4ECDD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4시간 압축 실전 워크숍 · 강의 30% · 워크숍 70%</a:t>
            </a:r>
            <a:endParaRPr lang="en-US" sz="2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81404" y="8743492"/>
            <a:ext cx="10477195" cy="91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1404" y="8952890"/>
            <a:ext cx="2857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kern="0" spc="300" dirty="0" err="1">
                <a:solidFill>
                  <a:srgbClr val="F4ECDD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1181404" y="9239097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 err="1">
                <a:solidFill>
                  <a:srgbClr val="F4ECDD"/>
                </a:solidFill>
                <a:latin typeface="Pretendard" pitchFamily="34" charset="0"/>
              </a:rPr>
              <a:t>드림아이티비즈(DreamIT Biz) 대표 · Ph.D.</a:t>
            </a:r>
            <a:r>
              <a:rPr lang="ko-KR" altLang="en-US" sz="2400" b="1" dirty="0">
                <a:solidFill>
                  <a:srgbClr val="F4ECDD"/>
                </a:solidFill>
                <a:latin typeface="Pretendard" pitchFamily="34" charset="0"/>
              </a:rPr>
              <a:t/>
            </a:r>
            <a:r>
              <a:rPr lang="en-US" altLang="ko-KR" sz="2400" b="1" dirty="0">
                <a:solidFill>
                  <a:srgbClr val="F4ECDD"/>
                </a:solidFill>
                <a:latin typeface="Pretendard" pitchFamily="34" charset="0"/>
              </a:rPr>
              <a:t/>
            </a:r>
            <a:r>
              <a:rPr lang="en-US" altLang="ko-KR" sz="2400" b="1" dirty="0" err="1">
                <a:solidFill>
                  <a:srgbClr val="F4ECDD"/>
                </a:solidFill>
                <a:latin typeface="Pretendard" pitchFamily="34" charset="0"/>
              </a:rPr>
              <a:t/>
            </a:r>
            <a:r>
              <a:rPr lang="en-US" altLang="ko-KR" sz="2400" b="1" dirty="0">
                <a:solidFill>
                  <a:srgbClr val="F4ECDD"/>
                </a:solidFill>
                <a:latin typeface="Pretendard" pitchFamily="34" charset="0"/>
              </a:rPr>
              <a:t> </a:t>
            </a:r>
            <a:r>
              <a:rPr lang="ko-KR" altLang="en-US" sz="2400" b="1" dirty="0">
                <a:solidFill>
                  <a:srgbClr val="F4ECDD"/>
                </a:solidFill>
                <a:latin typeface="Pretendard" pitchFamily="34" charset="0"/>
              </a:rPr>
              <a:t>이애본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7086599" y="8952890"/>
            <a:ext cx="2857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kern="0" spc="300" dirty="0">
                <a:solidFill>
                  <a:srgbClr val="F4ECDD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086599" y="9239097"/>
            <a:ext cx="3620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4EC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Course Deck v1.0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12801599" y="913485"/>
            <a:ext cx="5143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450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Course Outline</a:t>
            </a:r>
            <a:endParaRPr lang="en-US" sz="2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2801599" y="1370685"/>
            <a:ext cx="457200" cy="192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599" y="1484985"/>
            <a:ext cx="51435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r>
              <a:rPr lang="ko-KR" altLang="en-US" sz="51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일 </a:t>
            </a:r>
            <a:r>
              <a:rPr lang="en-US" sz="51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4교시</a:t>
            </a:r>
            <a:endParaRPr lang="en-US" sz="5100" dirty="0"/>
          </a:p>
        </p:txBody>
      </p:sp>
      <p:sp>
        <p:nvSpPr>
          <p:cNvPr id="23" name="Text 16"/>
          <p:cNvSpPr txBox="1"/>
          <p:nvPr/>
        </p:nvSpPr>
        <p:spPr>
          <a:xfrm>
            <a:off x="12801599" y="2513685"/>
            <a:ext cx="5143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38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240분 · 10분 휴식 ×3</a:t>
            </a:r>
            <a:endParaRPr lang="en-US" sz="2800" dirty="0"/>
          </a:p>
        </p:txBody>
      </p:sp>
      <p:sp>
        <p:nvSpPr>
          <p:cNvPr id="24" name="Text 17"/>
          <p:cNvSpPr txBox="1"/>
          <p:nvPr/>
        </p:nvSpPr>
        <p:spPr>
          <a:xfrm>
            <a:off x="12801599" y="3199485"/>
            <a:ext cx="5143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창업 마인드셋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12801599" y="3561588"/>
            <a:ext cx="5143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아이템 발굴 · MVP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12801599" y="3923690"/>
            <a:ext cx="5143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마케팅 · 브랜딩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12801599" y="4285792"/>
            <a:ext cx="5143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사업전환 · 재도약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12801599" y="5295290"/>
            <a:ext cx="2286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25" dirty="0">
                <a:solidFill>
                  <a:srgbClr val="FFFFFF">
                    <a:alpha val="6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Audience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12801599" y="5599785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 / 초기 / 재도약</a:t>
            </a:r>
            <a:endParaRPr lang="en-US" sz="2500" dirty="0"/>
          </a:p>
        </p:txBody>
      </p:sp>
      <p:sp>
        <p:nvSpPr>
          <p:cNvPr id="30" name="Text 23"/>
          <p:cNvSpPr txBox="1"/>
          <p:nvPr/>
        </p:nvSpPr>
        <p:spPr>
          <a:xfrm>
            <a:off x="12801599" y="6628485"/>
            <a:ext cx="2286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225" dirty="0">
                <a:solidFill>
                  <a:srgbClr val="FFFFFF">
                    <a:alpha val="6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12801599" y="6933895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실전 70%</a:t>
            </a:r>
            <a:endParaRPr lang="en-US" sz="2500" dirty="0"/>
          </a:p>
        </p:txBody>
      </p:sp>
      <p:sp>
        <p:nvSpPr>
          <p:cNvPr id="32" name="Text 25"/>
          <p:cNvSpPr txBox="1"/>
          <p:nvPr/>
        </p:nvSpPr>
        <p:spPr>
          <a:xfrm>
            <a:off x="16802099" y="9239097"/>
            <a:ext cx="1143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kern="0" spc="3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52</a:t>
            </a:r>
            <a:endParaRPr lang="en-US" sz="21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1143000" y="7239305"/>
            <a:ext cx="16002000" cy="20958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2094" b="-2094"/>
          <a:stretch/>
        </p:blipFill>
        <p:spPr>
          <a:xfrm>
            <a:off x="6476695" y="7524598"/>
            <a:ext cx="9144" cy="15243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t="-2094" b="-2094"/>
          <a:stretch/>
        </p:blipFill>
        <p:spPr>
          <a:xfrm>
            <a:off x="11811305" y="7524598"/>
            <a:ext cx="9144" cy="15243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76169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Welcome · 02 / 52</a:t>
            </a:r>
            <a:endParaRPr lang="en-US" sz="160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1047902"/>
            <a:ext cx="266730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0" b="1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18000" dirty="0"/>
          </a:p>
        </p:txBody>
      </p:sp>
      <p:sp>
        <p:nvSpPr>
          <p:cNvPr id="10" name="Text 4"/>
          <p:cNvSpPr txBox="1"/>
          <p:nvPr/>
        </p:nvSpPr>
        <p:spPr>
          <a:xfrm>
            <a:off x="2857500" y="2286000"/>
            <a:ext cx="14287500" cy="19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창업은 한 번의 결심이 아니라,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매일의 의사결정</a:t>
            </a:r>
            <a:r>
              <a:rPr lang="en-US" sz="54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 </a:t>
            </a:r>
            <a:endParaRPr lang="en-US" sz="5400" dirty="0"/>
          </a:p>
        </p:txBody>
      </p:sp>
      <p:sp>
        <p:nvSpPr>
          <p:cNvPr id="11" name="Text 5"/>
          <p:cNvSpPr txBox="1"/>
          <p:nvPr/>
        </p:nvSpPr>
        <p:spPr>
          <a:xfrm>
            <a:off x="2857500" y="4953305"/>
            <a:ext cx="13335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 4시간은 </a:t>
            </a:r>
            <a:r>
              <a:rPr lang="en-US" sz="25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정답을 외우는 시간</a:t>
            </a:r>
            <a:r>
              <a:rPr lang="en-US" sz="25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아니라,</a:t>
            </a:r>
            <a:endParaRPr lang="en-US" sz="2500" dirty="0"/>
          </a:p>
          <a:p>
            <a:pPr marL="0" indent="0" algn="l">
              <a:buNone/>
            </a:pPr>
            <a:r>
              <a:rPr lang="en-US" sz="25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여러분의 사업을 다시 한 번 객관적으로 점검하고, 다음 90일을 설계하는 시간입니다. </a:t>
            </a:r>
            <a:endParaRPr lang="en-US" sz="2500" dirty="0"/>
          </a:p>
        </p:txBody>
      </p:sp>
      <p:sp>
        <p:nvSpPr>
          <p:cNvPr id="12" name="Text 6"/>
          <p:cNvSpPr txBox="1"/>
          <p:nvPr/>
        </p:nvSpPr>
        <p:spPr>
          <a:xfrm>
            <a:off x="1524305" y="7524598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솔직하게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1524305" y="7830007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 사업의 진짜 문제를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피하지 않고 마주합니다 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6858000" y="7524598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직접 해본다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6858000" y="7830007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워크시트에 손으로 적고,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분과 서로 피드백합니다 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12191695" y="7524598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가지고 간다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2191695" y="7830007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 채운 워크시트가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사업 점검표가 됩니다 </a:t>
            </a:r>
            <a:endParaRPr lang="en-US" sz="2200" dirty="0"/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333695" y="1143000"/>
            <a:ext cx="12268505" cy="1904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333695" y="1143000"/>
            <a:ext cx="75895" cy="1904695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33695" y="3238805"/>
            <a:ext cx="12268505" cy="1904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33695" y="3238805"/>
            <a:ext cx="75895" cy="1904695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333695" y="5333695"/>
            <a:ext cx="12268505" cy="1904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333695" y="5333695"/>
            <a:ext cx="75895" cy="1904695"/>
          </a:xfrm>
          <a:prstGeom prst="rect">
            <a:avLst/>
          </a:prstGeom>
          <a:solidFill>
            <a:srgbClr val="D8A93B"/>
          </a:solidFill>
          <a:ln w="12700">
            <a:solidFill>
              <a:srgbClr val="D8A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33695" y="7429500"/>
            <a:ext cx="12268505" cy="1904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333695" y="7429500"/>
            <a:ext cx="75895" cy="1904695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61695" y="1143000"/>
            <a:ext cx="571500" cy="2834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61695" y="1333195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Course Overview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904695"/>
            <a:ext cx="3238805" cy="175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오늘의</a:t>
            </a:r>
            <a:endParaRPr lang="en-US" sz="5100" dirty="0"/>
          </a:p>
          <a:p>
            <a:pPr marL="0" indent="0" algn="l">
              <a:buNone/>
            </a:pPr>
            <a:r>
              <a:rPr lang="en-US" sz="51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4시간 </a:t>
            </a:r>
            <a:endParaRPr lang="en-US" sz="51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4000500"/>
            <a:ext cx="3238805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 교시는 </a:t>
            </a:r>
            <a:r>
              <a:rPr lang="en-US" sz="21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 18분 </a:t>
            </a:r>
          </a:p>
          <a:p>
            <a:pPr marL="0" indent="0" algn="l">
              <a:buNone/>
            </a:pPr>
            <a:r>
              <a:rPr lang="en-US" sz="21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워크숍 35분 </a:t>
            </a:r>
          </a:p>
          <a:p>
            <a:pPr marL="0" indent="0" algn="l">
              <a:buNone/>
            </a:pPr>
            <a:r>
              <a:rPr lang="en-US" sz="21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공유 7분</a:t>
            </a: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구성됩니다. 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876269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52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1410005"/>
            <a:ext cx="1143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1695298"/>
            <a:ext cx="61091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창업 마인드셋과 시장 이해</a:t>
            </a:r>
            <a:endParaRPr lang="en-US" sz="3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2247595"/>
            <a:ext cx="1093165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창업 생태계 · K-Startup 현황 · 창업가 마인드셋 7요소 · 생존율 데이터 · 자가진단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6192195" y="1695298"/>
            <a:ext cx="1143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kern="0" spc="-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60′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715000" y="3504895"/>
            <a:ext cx="1143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3791102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아이템 발굴과 MVP 검증</a:t>
            </a:r>
            <a:endParaRPr lang="en-US" sz="31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4343400"/>
            <a:ext cx="10478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발견 · 페르소나 · 린 캔버스 9블록 · MVP 5가지 유형 · PMF 시그널 · TIPS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16192195" y="3791102"/>
            <a:ext cx="1143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kern="0" spc="-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60′</a:t>
            </a:r>
            <a:endParaRPr lang="en-US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5600700"/>
            <a:ext cx="1143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715000" y="5886907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마케팅과 브랜딩 실전</a:t>
            </a:r>
            <a:endParaRPr lang="en-US" sz="3100" dirty="0"/>
          </a:p>
        </p:txBody>
      </p:sp>
      <p:sp>
        <p:nvSpPr>
          <p:cNvPr id="30" name="Text 27"/>
          <p:cNvSpPr txBox="1"/>
          <p:nvPr/>
        </p:nvSpPr>
        <p:spPr>
          <a:xfrm>
            <a:off x="5715000" y="6439205"/>
            <a:ext cx="10478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4요소 · 네이밍 · 퍼널 · SNS 채널 매트릭스 · 그로스해킹 AARRR · 사례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16192195" y="5886907"/>
            <a:ext cx="1143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kern="0" spc="-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60′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5715000" y="7696505"/>
            <a:ext cx="1143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715000" y="7981798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위기관리와 사업 재도약</a:t>
            </a:r>
            <a:endParaRPr lang="en-US" sz="3100" dirty="0"/>
          </a:p>
        </p:txBody>
      </p:sp>
      <p:sp>
        <p:nvSpPr>
          <p:cNvPr id="35" name="Text 32"/>
          <p:cNvSpPr txBox="1"/>
          <p:nvPr/>
        </p:nvSpPr>
        <p:spPr>
          <a:xfrm>
            <a:off x="5715000" y="8534095"/>
            <a:ext cx="10478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신호 · 라이프사이클 · 피벗 10가지 · 구조조정 프레임 · 재도약 자금조달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16192195" y="7981798"/>
            <a:ext cx="1143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60′</a:t>
            </a:r>
            <a:endParaRPr lang="en-US" sz="30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43000" y="3619195"/>
            <a:ext cx="8096098" cy="2667305"/>
          </a:xfrm>
          <a:prstGeom prst="rect">
            <a:avLst/>
          </a:prstGeom>
          <a:solidFill>
            <a:srgbClr val="FD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430207" y="3619195"/>
            <a:ext cx="8096098" cy="2667305"/>
          </a:xfrm>
          <a:prstGeom prst="rect">
            <a:avLst/>
          </a:prstGeom>
          <a:solidFill>
            <a:srgbClr val="E8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6476695"/>
            <a:ext cx="8096098" cy="2667305"/>
          </a:xfrm>
          <a:prstGeom prst="rect">
            <a:avLst/>
          </a:prstGeom>
          <a:solidFill>
            <a:srgbClr val="FBF3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6476695"/>
            <a:ext cx="8096098" cy="2667305"/>
          </a:xfrm>
          <a:prstGeom prst="rect">
            <a:avLst/>
          </a:prstGeom>
          <a:solidFill>
            <a:srgbClr val="E7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2072" b="-2072"/>
          <a:stretch/>
        </p:blipFill>
        <p:spPr>
          <a:xfrm>
            <a:off x="2667305" y="4095598"/>
            <a:ext cx="9144" cy="190469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t="-2072" b="-2072"/>
          <a:stretch/>
        </p:blipFill>
        <p:spPr>
          <a:xfrm>
            <a:off x="10953598" y="4095598"/>
            <a:ext cx="9144" cy="190469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 t="-2072" b="-2072"/>
          <a:stretch/>
        </p:blipFill>
        <p:spPr>
          <a:xfrm>
            <a:off x="2667305" y="6953098"/>
            <a:ext cx="9144" cy="190469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rcRect t="-2072" b="-2072"/>
          <a:stretch/>
        </p:blipFill>
        <p:spPr>
          <a:xfrm>
            <a:off x="10953598" y="6953098"/>
            <a:ext cx="9144" cy="190469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857707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Objectives · 04 / 52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1238098"/>
            <a:ext cx="16193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오늘 끝나면, </a:t>
            </a:r>
            <a:r>
              <a:rPr lang="en-US" sz="5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다음을 할 수 있게 됩니다</a:t>
            </a:r>
            <a:endParaRPr lang="en-US" sz="58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2667305"/>
            <a:ext cx="1428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Bloom's </a:t>
            </a:r>
            <a:r>
              <a:rPr lang="en-US" sz="2200" dirty="0" err="1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Taxonomy의</a:t>
            </a:r>
            <a:r>
              <a:rPr lang="en-US" sz="22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en-US" sz="2200" b="1" dirty="0" err="1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</a:t>
            </a:r>
            <a:r>
              <a:rPr lang="en-US" sz="22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적용 → 분석</a:t>
            </a:r>
            <a:r>
              <a:rPr lang="en-US" sz="22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단계까지 도달하도록 설계되었습니다. 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1524305" y="3905402"/>
            <a:ext cx="1334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5800" dirty="0"/>
          </a:p>
        </p:txBody>
      </p:sp>
      <p:sp>
        <p:nvSpPr>
          <p:cNvPr id="16" name="Text 10"/>
          <p:cNvSpPr txBox="1"/>
          <p:nvPr/>
        </p:nvSpPr>
        <p:spPr>
          <a:xfrm>
            <a:off x="2971800" y="3981298"/>
            <a:ext cx="6096305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 사업의 현재 위치를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객관적 지표로 진단한다 </a:t>
            </a:r>
            <a:endParaRPr lang="en-US" sz="2800" dirty="0"/>
          </a:p>
        </p:txBody>
      </p:sp>
      <p:sp>
        <p:nvSpPr>
          <p:cNvPr id="17" name="Text 11"/>
          <p:cNvSpPr txBox="1"/>
          <p:nvPr/>
        </p:nvSpPr>
        <p:spPr>
          <a:xfrm>
            <a:off x="2971800" y="5143500"/>
            <a:ext cx="6096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창업 단계별 마일스톤, 생존율 데이터, 한국 창업 생태계 지원제도 매핑을 통해 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좌표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명확히 합니다. 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9810598" y="3905402"/>
            <a:ext cx="1334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5800" dirty="0"/>
          </a:p>
        </p:txBody>
      </p:sp>
      <p:sp>
        <p:nvSpPr>
          <p:cNvPr id="19" name="Text 13"/>
          <p:cNvSpPr txBox="1"/>
          <p:nvPr/>
        </p:nvSpPr>
        <p:spPr>
          <a:xfrm>
            <a:off x="11259007" y="3981298"/>
            <a:ext cx="6096305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아이템과 고객 가설을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린 캔버스 1장으로 정리한다 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11259007" y="5143500"/>
            <a:ext cx="6096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문제 → 고객 → 가치 제안 → MVP의 흐름으로 한 페이지에 응축하고, 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위험한 가설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식별합니다. 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1524305" y="6762902"/>
            <a:ext cx="1334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5800" dirty="0"/>
          </a:p>
        </p:txBody>
      </p:sp>
      <p:sp>
        <p:nvSpPr>
          <p:cNvPr id="22" name="Text 16"/>
          <p:cNvSpPr txBox="1"/>
          <p:nvPr/>
        </p:nvSpPr>
        <p:spPr>
          <a:xfrm>
            <a:off x="2971800" y="6838798"/>
            <a:ext cx="6096305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저예산으로 실행 가능한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채널 전략을 짠다 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2971800" y="8001000"/>
            <a:ext cx="6096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AARRR 깔때기, SNS 채널 매트릭스, 콘텐츠·바이럴 원칙을 활용해 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실행안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만듭니다. 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9810598" y="6762902"/>
            <a:ext cx="1334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5800" dirty="0"/>
          </a:p>
        </p:txBody>
      </p:sp>
      <p:sp>
        <p:nvSpPr>
          <p:cNvPr id="25" name="Text 19"/>
          <p:cNvSpPr txBox="1"/>
          <p:nvPr/>
        </p:nvSpPr>
        <p:spPr>
          <a:xfrm>
            <a:off x="11259007" y="6838798"/>
            <a:ext cx="6096305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위기 신호를 읽고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피벗·재도약을 설계한다 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11259007" y="8001000"/>
            <a:ext cx="6096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8가지 위기 신호 체크리스트와 10가지 피벗 </a:t>
            </a:r>
            <a:r>
              <a:rPr lang="en-US" sz="1900" dirty="0" err="1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유형으로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900" b="1" dirty="0" err="1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90일 의사결정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윤곽을 잡습니다. </a:t>
            </a:r>
            <a:endParaRPr lang="en-US" sz="19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43000" y="3619195"/>
            <a:ext cx="8096098" cy="57726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3619195"/>
            <a:ext cx="8096098" cy="57607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430207" y="3619195"/>
            <a:ext cx="8096098" cy="57726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30207" y="3619195"/>
            <a:ext cx="8096098" cy="57607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143000" y="857707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Self-Diagnosis · 05 / 52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238098"/>
            <a:ext cx="16193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시작 전 </a:t>
            </a:r>
            <a:r>
              <a:rPr lang="en-US" sz="5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3분 자가진단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86507"/>
            <a:ext cx="6445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항목에 솔직하게 ✓ 표시하세요. 점수보다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15354" y="2686507"/>
            <a:ext cx="21451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비어있는 항목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483803" y="2686507"/>
            <a:ext cx="52020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오늘의 핵심 학습 포인트입니다.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24305" y="4000500"/>
            <a:ext cx="7334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· 예비 / 초기 창업자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24305" y="4286707"/>
            <a:ext cx="7334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당신의 출발선 점검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1523392" y="5277002"/>
            <a:ext cx="733440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고객의 문제를 한 문장으로 설명할 수 있다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타깃 고객 한 명의 이름·나이·하루 일과를 안다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경쟁자 3곳 이상을 직접 사용해 봤다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6개월 운영 자금이 통장에 있다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실패해도 다시 시도할 의지·환경이 있다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K-Startup·중기부 지원사업 1개 이상을 안다 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9810598" y="4000500"/>
            <a:ext cx="7334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· 재도약 사업자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810598" y="4286707"/>
            <a:ext cx="7334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재도약 신호 점검</a:t>
            </a:r>
            <a:endParaRPr lang="en-US" sz="3100" dirty="0"/>
          </a:p>
        </p:txBody>
      </p:sp>
      <p:sp>
        <p:nvSpPr>
          <p:cNvPr id="18" name="Text 16"/>
          <p:cNvSpPr txBox="1"/>
          <p:nvPr/>
        </p:nvSpPr>
        <p:spPr>
          <a:xfrm>
            <a:off x="9809685" y="5277002"/>
            <a:ext cx="733440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최근 12개월 매출이 정체 또는 하락이다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핵심 고객층의 이탈이 눈에 보인다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매출 1위 상품/서비스가 3년 이상 같다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운영비 대비 영업이익률이 5% 이하다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'사업을 접을지' 진지하게 고민한 적 있다</a:t>
            </a:r>
            <a:endParaRPr lang="en-US" sz="2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1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재도약 자금조달 옵션을 알아본 적이 없다 </a:t>
            </a:r>
            <a:endParaRPr lang="en-US" sz="2100" dirty="0"/>
          </a:p>
        </p:txBody>
      </p:sp>
      <p:sp>
        <p:nvSpPr>
          <p:cNvPr id="1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85D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525305" y="0"/>
            <a:ext cx="11049610" cy="1028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00" b="1" kern="0" spc="-3000" dirty="0">
                <a:solidFill>
                  <a:srgbClr val="FFFFFF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8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524305"/>
            <a:ext cx="5715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 1 · 60 minutes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095805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kern="0" spc="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마인드셋과 시장 이해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123798" y="3619195"/>
            <a:ext cx="16193110" cy="2800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3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왜 우리는</a:t>
            </a:r>
            <a:endParaRPr lang="en-US" sz="10500" dirty="0"/>
          </a:p>
          <a:p>
            <a:pPr marL="0" indent="0" algn="l">
              <a:buNone/>
            </a:pPr>
            <a:r>
              <a:rPr lang="en-US" sz="10500" b="1" kern="0" spc="-300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지금</a:t>
            </a:r>
            <a:r>
              <a:rPr lang="en-US" sz="10500" b="1" kern="0" spc="-3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창업하는가 </a:t>
            </a:r>
            <a:endParaRPr lang="en-US" sz="10500" dirty="0"/>
          </a:p>
        </p:txBody>
      </p:sp>
      <p:sp>
        <p:nvSpPr>
          <p:cNvPr id="9" name="Shape 6"/>
          <p:cNvSpPr/>
          <p:nvPr/>
        </p:nvSpPr>
        <p:spPr>
          <a:xfrm>
            <a:off x="12191695" y="7239305"/>
            <a:ext cx="5181905" cy="209580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2191695" y="7239305"/>
            <a:ext cx="38405" cy="2095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7524598"/>
            <a:ext cx="1047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kern="0" spc="15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Modules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905902"/>
            <a:ext cx="104781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01 한국 창업 생태계 · 02 마인드셋 7요소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03 생존율과 실패 구조 · 04 사례 · 워크숍 · 정리 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2573000" y="7524598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573000" y="7830007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한국 창업 생태계의 좌표를 읽고,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창업가 마인드셋 7요소로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나의 준비도를 자가 점검한다 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7195800" y="1333195"/>
            <a:ext cx="9020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52</a:t>
            </a:r>
            <a:endParaRPr lang="en-US" sz="160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1143000" y="3047695"/>
            <a:ext cx="3905402" cy="55248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5333695" y="3047695"/>
            <a:ext cx="3905402" cy="55248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9525305" y="3047695"/>
            <a:ext cx="3905402" cy="55248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13716000" y="3047695"/>
            <a:ext cx="3905402" cy="552480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143000" y="3047695"/>
            <a:ext cx="3905402" cy="7589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524305" y="4858207"/>
            <a:ext cx="571500" cy="9144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7"/>
          <a:srcRect l="-203" r="-203"/>
          <a:stretch/>
        </p:blipFill>
        <p:spPr>
          <a:xfrm>
            <a:off x="5333695" y="3047695"/>
            <a:ext cx="3905402" cy="75895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5715000" y="4858207"/>
            <a:ext cx="571500" cy="9144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8"/>
          <a:srcRect l="-203" r="-203"/>
          <a:stretch/>
        </p:blipFill>
        <p:spPr>
          <a:xfrm>
            <a:off x="9525305" y="3047695"/>
            <a:ext cx="3905402" cy="75895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905695" y="4858207"/>
            <a:ext cx="571500" cy="9144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9"/>
          <a:srcRect l="-203" r="-203"/>
          <a:stretch/>
        </p:blipFill>
        <p:spPr>
          <a:xfrm>
            <a:off x="13716000" y="3047695"/>
            <a:ext cx="3905402" cy="75895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4097305" y="4858207"/>
            <a:ext cx="571500" cy="9144"/>
          </a:xfrm>
          <a:prstGeom prst="rect">
            <a:avLst/>
          </a:prstGeom>
        </p:spPr>
      </p:pic>
      <p:sp>
        <p:nvSpPr>
          <p:cNvPr id="17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 · Module 01</a:t>
            </a:r>
            <a:endParaRPr lang="en-US" sz="1600" dirty="0"/>
          </a:p>
        </p:txBody>
      </p:sp>
      <p:sp>
        <p:nvSpPr>
          <p:cNvPr id="18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한국 창업 생태계 한눈에 보기</a:t>
            </a:r>
            <a:endParaRPr lang="en-US" sz="4800" dirty="0"/>
          </a:p>
        </p:txBody>
      </p:sp>
      <p:sp>
        <p:nvSpPr>
          <p:cNvPr id="19" name="Text 4"/>
          <p:cNvSpPr txBox="1"/>
          <p:nvPr/>
        </p:nvSpPr>
        <p:spPr>
          <a:xfrm>
            <a:off x="1143000" y="1904695"/>
            <a:ext cx="1428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예비창업자부터 재도약 단계까지, 어떤 기관과 제도를 활용할 수 있는지 단계별로 정리합니다.</a:t>
            </a:r>
            <a:endParaRPr lang="en-US" sz="2200" dirty="0"/>
          </a:p>
        </p:txBody>
      </p:sp>
      <p:sp>
        <p:nvSpPr>
          <p:cNvPr id="20" name="Text 5"/>
          <p:cNvSpPr txBox="1"/>
          <p:nvPr/>
        </p:nvSpPr>
        <p:spPr>
          <a:xfrm>
            <a:off x="1524305" y="3429000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01</a:t>
            </a:r>
            <a:endParaRPr lang="en-US" sz="1600" dirty="0"/>
          </a:p>
        </p:txBody>
      </p:sp>
      <p:sp>
        <p:nvSpPr>
          <p:cNvPr id="21" name="Text 6"/>
          <p:cNvSpPr txBox="1"/>
          <p:nvPr/>
        </p:nvSpPr>
        <p:spPr>
          <a:xfrm>
            <a:off x="1524305" y="3733495"/>
            <a:ext cx="3143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예비창업</a:t>
            </a:r>
            <a:endParaRPr lang="en-US" sz="3100" dirty="0"/>
          </a:p>
        </p:txBody>
      </p:sp>
      <p:sp>
        <p:nvSpPr>
          <p:cNvPr id="22" name="Text 7"/>
          <p:cNvSpPr txBox="1"/>
          <p:nvPr/>
        </p:nvSpPr>
        <p:spPr>
          <a:xfrm>
            <a:off x="1524305" y="4438498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 → 사업화</a:t>
            </a:r>
            <a:endParaRPr lang="en-US" sz="1700" dirty="0"/>
          </a:p>
        </p:txBody>
      </p:sp>
      <p:sp>
        <p:nvSpPr>
          <p:cNvPr id="23" name="Text 8"/>
          <p:cNvSpPr txBox="1"/>
          <p:nvPr/>
        </p:nvSpPr>
        <p:spPr>
          <a:xfrm>
            <a:off x="1524305" y="5048402"/>
            <a:ext cx="3143707" cy="317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예비창업패키지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1억원 · 중기부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청년창업사관학교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사업화 자금 + 교육·코칭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K-Startup 종합포털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공고 · 신청</a:t>
            </a:r>
            <a:endParaRPr lang="en-US" sz="1900" dirty="0"/>
          </a:p>
        </p:txBody>
      </p:sp>
      <p:sp>
        <p:nvSpPr>
          <p:cNvPr id="24" name="Text 9"/>
          <p:cNvSpPr txBox="1"/>
          <p:nvPr/>
        </p:nvSpPr>
        <p:spPr>
          <a:xfrm>
            <a:off x="5715000" y="3429000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02</a:t>
            </a:r>
            <a:endParaRPr lang="en-US" sz="1600" dirty="0"/>
          </a:p>
        </p:txBody>
      </p:sp>
      <p:sp>
        <p:nvSpPr>
          <p:cNvPr id="25" name="Text 10"/>
          <p:cNvSpPr txBox="1"/>
          <p:nvPr/>
        </p:nvSpPr>
        <p:spPr>
          <a:xfrm>
            <a:off x="5715000" y="3733495"/>
            <a:ext cx="3143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초기 (1~3년)</a:t>
            </a:r>
            <a:endParaRPr lang="en-US" sz="3100" dirty="0"/>
          </a:p>
        </p:txBody>
      </p:sp>
      <p:sp>
        <p:nvSpPr>
          <p:cNvPr id="26" name="Text 11"/>
          <p:cNvSpPr txBox="1"/>
          <p:nvPr/>
        </p:nvSpPr>
        <p:spPr>
          <a:xfrm>
            <a:off x="5715000" y="4438498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PMF 탐색 → 검증</a:t>
            </a:r>
            <a:endParaRPr lang="en-US" sz="1700" dirty="0"/>
          </a:p>
        </p:txBody>
      </p:sp>
      <p:sp>
        <p:nvSpPr>
          <p:cNvPr id="27" name="Text 12"/>
          <p:cNvSpPr txBox="1"/>
          <p:nvPr/>
        </p:nvSpPr>
        <p:spPr>
          <a:xfrm>
            <a:off x="5715000" y="5048402"/>
            <a:ext cx="3143707" cy="317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TIPS 프로그램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R&amp;D 2년 최대 5억(2025) · 민관매칭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팁스(Pre-TIPS)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초기단계 진입 트랙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창업기획자(액셀러레이터)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시드~프리A 투자</a:t>
            </a:r>
            <a:endParaRPr lang="en-US" sz="1900" dirty="0"/>
          </a:p>
        </p:txBody>
      </p:sp>
      <p:sp>
        <p:nvSpPr>
          <p:cNvPr id="28" name="Text 13"/>
          <p:cNvSpPr txBox="1"/>
          <p:nvPr/>
        </p:nvSpPr>
        <p:spPr>
          <a:xfrm>
            <a:off x="9905695" y="3429000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03</a:t>
            </a:r>
            <a:endParaRPr lang="en-US" sz="1600" dirty="0"/>
          </a:p>
        </p:txBody>
      </p:sp>
      <p:sp>
        <p:nvSpPr>
          <p:cNvPr id="29" name="Text 14"/>
          <p:cNvSpPr txBox="1"/>
          <p:nvPr/>
        </p:nvSpPr>
        <p:spPr>
          <a:xfrm>
            <a:off x="9905695" y="3733495"/>
            <a:ext cx="3143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성장 (3~7년)</a:t>
            </a:r>
            <a:endParaRPr lang="en-US" sz="3100" dirty="0"/>
          </a:p>
        </p:txBody>
      </p:sp>
      <p:sp>
        <p:nvSpPr>
          <p:cNvPr id="30" name="Text 15"/>
          <p:cNvSpPr txBox="1"/>
          <p:nvPr/>
        </p:nvSpPr>
        <p:spPr>
          <a:xfrm>
            <a:off x="9905695" y="4438498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스케일업</a:t>
            </a:r>
            <a:endParaRPr lang="en-US" sz="1700" dirty="0"/>
          </a:p>
        </p:txBody>
      </p:sp>
      <p:sp>
        <p:nvSpPr>
          <p:cNvPr id="31" name="Text 16"/>
          <p:cNvSpPr txBox="1"/>
          <p:nvPr/>
        </p:nvSpPr>
        <p:spPr>
          <a:xfrm>
            <a:off x="9905695" y="4867351"/>
            <a:ext cx="3143707" cy="3572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스케일업 팁스(Scale-up TIPS)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15억 · 후속 R&amp;D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벤처투자(VC) 시리즈A~B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자본 본격 유입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수출지원(KOTRA·중진공)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시장 진출</a:t>
            </a:r>
            <a:endParaRPr lang="en-US" sz="1900" dirty="0"/>
          </a:p>
        </p:txBody>
      </p:sp>
      <p:sp>
        <p:nvSpPr>
          <p:cNvPr id="32" name="Text 17"/>
          <p:cNvSpPr txBox="1"/>
          <p:nvPr/>
        </p:nvSpPr>
        <p:spPr>
          <a:xfrm>
            <a:off x="14097305" y="3429000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04</a:t>
            </a:r>
            <a:endParaRPr lang="en-US" sz="1600" dirty="0"/>
          </a:p>
        </p:txBody>
      </p:sp>
      <p:sp>
        <p:nvSpPr>
          <p:cNvPr id="33" name="Text 18"/>
          <p:cNvSpPr txBox="1"/>
          <p:nvPr/>
        </p:nvSpPr>
        <p:spPr>
          <a:xfrm>
            <a:off x="14097305" y="3733495"/>
            <a:ext cx="3143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재도약</a:t>
            </a:r>
            <a:endParaRPr lang="en-US" sz="3100" dirty="0"/>
          </a:p>
        </p:txBody>
      </p:sp>
      <p:sp>
        <p:nvSpPr>
          <p:cNvPr id="34" name="Text 19"/>
          <p:cNvSpPr txBox="1"/>
          <p:nvPr/>
        </p:nvSpPr>
        <p:spPr>
          <a:xfrm>
            <a:off x="14097305" y="4438498"/>
            <a:ext cx="3143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→ 전환 → 재성장</a:t>
            </a:r>
            <a:endParaRPr lang="en-US" sz="1700" dirty="0"/>
          </a:p>
        </p:txBody>
      </p:sp>
      <p:sp>
        <p:nvSpPr>
          <p:cNvPr id="35" name="Text 20"/>
          <p:cNvSpPr txBox="1"/>
          <p:nvPr/>
        </p:nvSpPr>
        <p:spPr>
          <a:xfrm>
            <a:off x="14097305" y="5048402"/>
            <a:ext cx="3143707" cy="317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재도전 성공패키지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중기부·창진원 · 최대 1억원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재창업자금(중진공)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정책자금 · 저리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경영정상화·구조개선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소진공 컨설팅</a:t>
            </a:r>
            <a:endParaRPr lang="en-US" sz="1900" dirty="0"/>
          </a:p>
        </p:txBody>
      </p:sp>
      <p:sp>
        <p:nvSpPr>
          <p:cNvPr id="36" name="Text 21"/>
          <p:cNvSpPr txBox="1"/>
          <p:nvPr/>
        </p:nvSpPr>
        <p:spPr>
          <a:xfrm>
            <a:off x="1143000" y="8953805"/>
            <a:ext cx="1619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K-Startup 종합포털 / 중소벤처기업부 · 중소벤처기업진흥공단 / 소상공인시장진흥공단 (2025 공고 기준 · 매년 바뀌니 최신 공고 확인)</a:t>
            </a:r>
            <a:endParaRPr lang="en-US" sz="1600" dirty="0"/>
          </a:p>
        </p:txBody>
      </p:sp>
      <p:sp>
        <p:nvSpPr>
          <p:cNvPr id="37" name="Text 22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52</a:t>
            </a:r>
            <a:endParaRPr lang="en-US" sz="15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4000500" cy="2857500"/>
          </a:xfrm>
          <a:prstGeom prst="rect">
            <a:avLst/>
          </a:prstGeom>
          <a:solidFill>
            <a:srgbClr val="FD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333695" y="3143707"/>
            <a:ext cx="4000500" cy="2857500"/>
          </a:xfrm>
          <a:prstGeom prst="rect">
            <a:avLst/>
          </a:prstGeom>
          <a:solidFill>
            <a:srgbClr val="E8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525305" y="3143707"/>
            <a:ext cx="4000500" cy="2857500"/>
          </a:xfrm>
          <a:prstGeom prst="rect">
            <a:avLst/>
          </a:prstGeom>
          <a:solidFill>
            <a:srgbClr val="FBF3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3716000" y="3143707"/>
            <a:ext cx="3619195" cy="2857500"/>
          </a:xfrm>
          <a:prstGeom prst="rect">
            <a:avLst/>
          </a:prstGeom>
          <a:solidFill>
            <a:srgbClr val="E7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6476695"/>
            <a:ext cx="16192195" cy="1904695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 · 데이터 브리프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숫자로 보는 한국 창업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019910"/>
            <a:ext cx="1428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"감"이 아니라 "지표"로 시장을 읽어야 합니다. 의사결정의 출발점은 항상 데이터입니다.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3524098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Firms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3905402"/>
            <a:ext cx="3238805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92.2만</a:t>
            </a:r>
            <a:endParaRPr lang="en-US" sz="7200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5143500"/>
            <a:ext cx="32388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2024년 국내 신생기업 수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(국가데이터처 기업생멸통계 잠정) 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3524098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 Programs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905402"/>
            <a:ext cx="3238805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429</a:t>
            </a:r>
            <a:endParaRPr lang="en-US" sz="72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5143500"/>
            <a:ext cx="32388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2025년 창업지원사업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통합공고 사업 수 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905695" y="3524098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Public Budget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905695" y="3905402"/>
            <a:ext cx="3591763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3.3조원</a:t>
            </a:r>
            <a:endParaRPr lang="en-US" sz="7200" dirty="0"/>
          </a:p>
        </p:txBody>
      </p:sp>
      <p:sp>
        <p:nvSpPr>
          <p:cNvPr id="21" name="Text 18"/>
          <p:cNvSpPr txBox="1"/>
          <p:nvPr/>
        </p:nvSpPr>
        <p:spPr>
          <a:xfrm>
            <a:off x="9905695" y="5143500"/>
            <a:ext cx="32388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2025년 정부·지자체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창업지원 예산 (3조 2,940억원) 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4097305" y="3524098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Birth Rate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4097305" y="3905402"/>
            <a:ext cx="285750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12.1%</a:t>
            </a:r>
            <a:endParaRPr lang="en-US" sz="7200" dirty="0"/>
          </a:p>
        </p:txBody>
      </p:sp>
      <p:sp>
        <p:nvSpPr>
          <p:cNvPr id="24" name="Text 21"/>
          <p:cNvSpPr txBox="1"/>
          <p:nvPr/>
        </p:nvSpPr>
        <p:spPr>
          <a:xfrm>
            <a:off x="14097305" y="5143500"/>
            <a:ext cx="2857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2024년 신생률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(2011년 작성 이래 최저) 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524305" y="6762902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Insight · 시사점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7048195"/>
            <a:ext cx="1622785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"기회는 많지만, </a:t>
            </a:r>
            <a:r>
              <a:rPr lang="en-US" sz="3000" b="1" kern="0" spc="-75" dirty="0">
                <a:solidFill>
                  <a:srgbClr val="E8B54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선택과 집중</a:t>
            </a:r>
            <a:r>
              <a:rPr lang="en-US" sz="30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없다면 그저 바쁘기만 한 창업자가 됩니다." 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5" y="7905902"/>
            <a:ext cx="15621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429개 사업 모두를 보지 마세요. 내 단계와 산업에 맞는 3~5개만 깊게 보고 신청하는 것이 정답입니다.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8953805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국가데이터처 「2024년 기업생멸행정통계(잠정)」(2025.10) / 중소벤처기업부 「2025년 창업지원사업 통합공고」(2024.12)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52</a:t>
            </a:r>
            <a:endParaRPr lang="en-US" sz="15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143000" y="2952598"/>
            <a:ext cx="4000500" cy="271485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5333695" y="2952598"/>
            <a:ext cx="4000500" cy="271485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9525305" y="2952598"/>
            <a:ext cx="4000500" cy="271485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8" b="-8"/>
          <a:stretch/>
        </p:blipFill>
        <p:spPr>
          <a:xfrm>
            <a:off x="13716000" y="2952598"/>
            <a:ext cx="3619195" cy="271485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3238805" y="5905195"/>
            <a:ext cx="4000500" cy="271485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7429500" y="5905195"/>
            <a:ext cx="4000500" cy="2714854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11620195" y="5905195"/>
            <a:ext cx="4000500" cy="2714854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 · Module 02 · 마인드셋</a:t>
            </a:r>
            <a:endParaRPr lang="en-US" sz="1600" dirty="0"/>
          </a:p>
        </p:txBody>
      </p:sp>
      <p:sp>
        <p:nvSpPr>
          <p:cNvPr id="13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창업가 마인드셋 </a:t>
            </a:r>
            <a:r>
              <a:rPr lang="en-US" sz="4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7가지 핵심 요소</a:t>
            </a:r>
            <a:endParaRPr lang="en-US" sz="4800" dirty="0"/>
          </a:p>
        </p:txBody>
      </p:sp>
      <p:sp>
        <p:nvSpPr>
          <p:cNvPr id="14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Carol Dweck의 Growth Mindset, Saras Sarasvathy의 Effectuation 이론을 기반으로 재구성한 7요소.</a:t>
            </a:r>
            <a:endParaRPr lang="en-US" sz="2100" dirty="0"/>
          </a:p>
        </p:txBody>
      </p:sp>
      <p:sp>
        <p:nvSpPr>
          <p:cNvPr id="15" name="Text 5"/>
          <p:cNvSpPr txBox="1"/>
          <p:nvPr/>
        </p:nvSpPr>
        <p:spPr>
          <a:xfrm>
            <a:off x="1524305" y="3238805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000" dirty="0"/>
          </a:p>
        </p:txBody>
      </p:sp>
      <p:sp>
        <p:nvSpPr>
          <p:cNvPr id="16" name="Text 6"/>
          <p:cNvSpPr txBox="1"/>
          <p:nvPr/>
        </p:nvSpPr>
        <p:spPr>
          <a:xfrm>
            <a:off x="2286915" y="3348657"/>
            <a:ext cx="342168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오너십 (Ownership)</a:t>
            </a:r>
            <a:endParaRPr lang="en-US" sz="2500" dirty="0"/>
          </a:p>
        </p:txBody>
      </p:sp>
      <p:sp>
        <p:nvSpPr>
          <p:cNvPr id="17" name="Text 7"/>
          <p:cNvSpPr txBox="1"/>
          <p:nvPr/>
        </p:nvSpPr>
        <p:spPr>
          <a:xfrm>
            <a:off x="1618487" y="4392400"/>
            <a:ext cx="3238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"환경 탓"을 끊는다. </a:t>
            </a:r>
          </a:p>
          <a:p>
            <a:pPr marL="0" indent="0" algn="l">
              <a:buNone/>
            </a:pPr>
            <a:endParaRPr lang="en-US" dirty="0">
              <a:solidFill>
                <a:srgbClr val="5C544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buNone/>
            </a:pPr>
            <a:r>
              <a:rPr lang="en-US" sz="1800" dirty="0" err="1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결과의</a:t>
            </a: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책임을 끝까지 내가 진다는 자세.</a:t>
            </a:r>
            <a:endParaRPr lang="en-US" sz="1800" dirty="0"/>
          </a:p>
        </p:txBody>
      </p:sp>
      <p:sp>
        <p:nvSpPr>
          <p:cNvPr id="18" name="Text 8"/>
          <p:cNvSpPr txBox="1"/>
          <p:nvPr/>
        </p:nvSpPr>
        <p:spPr>
          <a:xfrm>
            <a:off x="5715000" y="3238805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000" dirty="0"/>
          </a:p>
        </p:txBody>
      </p:sp>
      <p:sp>
        <p:nvSpPr>
          <p:cNvPr id="19" name="Text 9"/>
          <p:cNvSpPr txBox="1"/>
          <p:nvPr/>
        </p:nvSpPr>
        <p:spPr>
          <a:xfrm>
            <a:off x="6477610" y="3348657"/>
            <a:ext cx="32388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</a:t>
            </a: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500" b="1" kern="0" spc="-37" dirty="0" err="1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민첩성</a:t>
            </a:r>
            <a:endParaRPr lang="en-US" sz="2500" b="1" kern="0" spc="-37" dirty="0">
              <a:solidFill>
                <a:srgbClr val="1A2B4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(Learning Agility)</a:t>
            </a:r>
            <a:endParaRPr lang="en-US" sz="2500" dirty="0"/>
          </a:p>
        </p:txBody>
      </p:sp>
      <p:sp>
        <p:nvSpPr>
          <p:cNvPr id="20" name="Text 10"/>
          <p:cNvSpPr txBox="1"/>
          <p:nvPr/>
        </p:nvSpPr>
        <p:spPr>
          <a:xfrm>
            <a:off x="5810097" y="4353582"/>
            <a:ext cx="3238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"이미 안다"가 </a:t>
            </a:r>
            <a:r>
              <a:rPr lang="en-US" sz="1800" dirty="0" err="1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아니라</a:t>
            </a: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"어떻게 더 빨리 배우지"를 묻는 사람.</a:t>
            </a:r>
            <a:endParaRPr lang="en-US" sz="1800" dirty="0"/>
          </a:p>
        </p:txBody>
      </p:sp>
      <p:sp>
        <p:nvSpPr>
          <p:cNvPr id="21" name="Text 11"/>
          <p:cNvSpPr txBox="1"/>
          <p:nvPr/>
        </p:nvSpPr>
        <p:spPr>
          <a:xfrm>
            <a:off x="9905695" y="3238805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Text 12"/>
          <p:cNvSpPr txBox="1"/>
          <p:nvPr/>
        </p:nvSpPr>
        <p:spPr>
          <a:xfrm>
            <a:off x="10668305" y="3348657"/>
            <a:ext cx="32388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</a:t>
            </a:r>
            <a:r>
              <a:rPr lang="en-US" sz="2500" b="1" kern="0" spc="-37" dirty="0" err="1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편향</a:t>
            </a: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(Bias for Action)</a:t>
            </a:r>
            <a:endParaRPr lang="en-US" sz="2500" dirty="0"/>
          </a:p>
        </p:txBody>
      </p:sp>
      <p:sp>
        <p:nvSpPr>
          <p:cNvPr id="23" name="Text 13"/>
          <p:cNvSpPr txBox="1"/>
          <p:nvPr/>
        </p:nvSpPr>
        <p:spPr>
          <a:xfrm>
            <a:off x="10000792" y="4305576"/>
            <a:ext cx="3238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완벽한 계획보다 작은 실행. 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 안에 행동 1개를 만든다.</a:t>
            </a:r>
            <a:endParaRPr lang="en-US" sz="1800" dirty="0"/>
          </a:p>
        </p:txBody>
      </p:sp>
      <p:sp>
        <p:nvSpPr>
          <p:cNvPr id="24" name="Text 14"/>
          <p:cNvSpPr txBox="1"/>
          <p:nvPr/>
        </p:nvSpPr>
        <p:spPr>
          <a:xfrm>
            <a:off x="14097305" y="3238805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000" dirty="0"/>
          </a:p>
        </p:txBody>
      </p:sp>
      <p:sp>
        <p:nvSpPr>
          <p:cNvPr id="25" name="Text 15"/>
          <p:cNvSpPr txBox="1"/>
          <p:nvPr/>
        </p:nvSpPr>
        <p:spPr>
          <a:xfrm>
            <a:off x="14859915" y="3348657"/>
            <a:ext cx="28575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회복탄력성 (Resilience)</a:t>
            </a:r>
            <a:endParaRPr lang="en-US" sz="2500" dirty="0"/>
          </a:p>
        </p:txBody>
      </p:sp>
      <p:sp>
        <p:nvSpPr>
          <p:cNvPr id="26" name="Text 16"/>
          <p:cNvSpPr txBox="1"/>
          <p:nvPr/>
        </p:nvSpPr>
        <p:spPr>
          <a:xfrm>
            <a:off x="14102949" y="4310025"/>
            <a:ext cx="28575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실패를 데이터로 전환하는 능력. 다시 일어나는 속도가 곧 경쟁력.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3619195" y="6191402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4000" dirty="0"/>
          </a:p>
        </p:txBody>
      </p:sp>
      <p:sp>
        <p:nvSpPr>
          <p:cNvPr id="28" name="Text 18"/>
          <p:cNvSpPr txBox="1"/>
          <p:nvPr/>
        </p:nvSpPr>
        <p:spPr>
          <a:xfrm>
            <a:off x="3619195" y="6953098"/>
            <a:ext cx="32388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강박 (Customer Obsession)</a:t>
            </a:r>
            <a:endParaRPr lang="en-US" sz="2500" dirty="0"/>
          </a:p>
        </p:txBody>
      </p:sp>
      <p:sp>
        <p:nvSpPr>
          <p:cNvPr id="29" name="Text 19"/>
          <p:cNvSpPr txBox="1"/>
          <p:nvPr/>
        </p:nvSpPr>
        <p:spPr>
          <a:xfrm>
            <a:off x="3619195" y="7796631"/>
            <a:ext cx="3238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아이디어보다 고객의 진짜 문제를 더 사랑하는 자세.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7810805" y="6191402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4000" dirty="0"/>
          </a:p>
        </p:txBody>
      </p:sp>
      <p:sp>
        <p:nvSpPr>
          <p:cNvPr id="31" name="Text 21"/>
          <p:cNvSpPr txBox="1"/>
          <p:nvPr/>
        </p:nvSpPr>
        <p:spPr>
          <a:xfrm>
            <a:off x="7810805" y="6953098"/>
            <a:ext cx="32388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감당가능한 손실 (Affordable Loss)</a:t>
            </a:r>
            <a:endParaRPr lang="en-US" sz="2500" dirty="0"/>
          </a:p>
        </p:txBody>
      </p:sp>
      <p:sp>
        <p:nvSpPr>
          <p:cNvPr id="32" name="Text 22"/>
          <p:cNvSpPr txBox="1"/>
          <p:nvPr/>
        </p:nvSpPr>
        <p:spPr>
          <a:xfrm>
            <a:off x="7810805" y="7796631"/>
            <a:ext cx="3238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"잃어도 되는 만큼"을 미리 정의해 베팅한다 (Effectuation).</a:t>
            </a:r>
            <a:endParaRPr lang="en-US" sz="1800" dirty="0"/>
          </a:p>
        </p:txBody>
      </p:sp>
      <p:sp>
        <p:nvSpPr>
          <p:cNvPr id="33" name="Text 23"/>
          <p:cNvSpPr txBox="1"/>
          <p:nvPr/>
        </p:nvSpPr>
        <p:spPr>
          <a:xfrm>
            <a:off x="12001500" y="6191402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4000" dirty="0"/>
          </a:p>
        </p:txBody>
      </p:sp>
      <p:sp>
        <p:nvSpPr>
          <p:cNvPr id="34" name="Text 24"/>
          <p:cNvSpPr txBox="1"/>
          <p:nvPr/>
        </p:nvSpPr>
        <p:spPr>
          <a:xfrm>
            <a:off x="12001500" y="6953098"/>
            <a:ext cx="3238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레버리지</a:t>
            </a:r>
            <a:endParaRPr lang="en-US" sz="2500" dirty="0"/>
          </a:p>
        </p:txBody>
      </p:sp>
      <p:sp>
        <p:nvSpPr>
          <p:cNvPr id="35" name="Text 25"/>
          <p:cNvSpPr txBox="1"/>
          <p:nvPr/>
        </p:nvSpPr>
        <p:spPr>
          <a:xfrm>
            <a:off x="12001500" y="7796631"/>
            <a:ext cx="3238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다 하지 않는다. 도움받는 능력 = 창업자의 핵심 역량.</a:t>
            </a:r>
            <a:endParaRPr lang="en-US" sz="1800" dirty="0"/>
          </a:p>
        </p:txBody>
      </p:sp>
      <p:sp>
        <p:nvSpPr>
          <p:cNvPr id="36" name="Text 26"/>
          <p:cNvSpPr txBox="1"/>
          <p:nvPr/>
        </p:nvSpPr>
        <p:spPr>
          <a:xfrm>
            <a:off x="1143000" y="8953805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Carol Dweck, "Mindset" (2006) · Saras Sarasvathy, "Effectuation" (2001)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52</a:t>
            </a:r>
            <a:endParaRPr lang="en-US" sz="15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1143000" y="2857500"/>
            <a:ext cx="11239805" cy="5715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763195" y="2857500"/>
            <a:ext cx="4572000" cy="5715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2857500" y="4238244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2857500" y="4905756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2857500" y="5572354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2857500" y="6238951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857500" y="6905549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3144500" y="5524805"/>
            <a:ext cx="571500" cy="192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57500" y="4238244"/>
            <a:ext cx="5266944" cy="304495"/>
          </a:xfrm>
          <a:prstGeom prst="rect">
            <a:avLst/>
          </a:prstGeom>
          <a:solidFill>
            <a:srgbClr val="E85D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2857500" y="4905756"/>
            <a:ext cx="4257446" cy="304495"/>
          </a:xfrm>
          <a:prstGeom prst="rect">
            <a:avLst/>
          </a:prstGeom>
          <a:solidFill>
            <a:srgbClr val="E85D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2857500" y="5572354"/>
            <a:ext cx="3562502" cy="304495"/>
          </a:xfrm>
          <a:prstGeom prst="rect">
            <a:avLst/>
          </a:prstGeom>
          <a:solidFill>
            <a:srgbClr val="E85D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2857500" y="6238951"/>
            <a:ext cx="3038551" cy="304495"/>
          </a:xfrm>
          <a:prstGeom prst="rect">
            <a:avLst/>
          </a:prstGeom>
          <a:solidFill>
            <a:srgbClr val="E85D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2857500" y="6905549"/>
            <a:ext cx="2676449" cy="304495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 · Module 03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한국 창업기업 </a:t>
            </a:r>
            <a:r>
              <a:rPr lang="en-US" sz="4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5년 생존율</a:t>
            </a:r>
            <a:endParaRPr lang="en-US" sz="480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신생기업의 5년 생존율은 약 36%. 5년 안에 약 3곳 중 2곳이 문을 닫습니다.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1524305" y="3238805"/>
            <a:ext cx="10478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Year-by-Year Survival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524305" y="3524098"/>
            <a:ext cx="10478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100개 기업이 5년 후 남는 비율</a:t>
            </a:r>
            <a:endParaRPr lang="en-US" sz="2800" dirty="0"/>
          </a:p>
        </p:txBody>
      </p:sp>
      <p:sp>
        <p:nvSpPr>
          <p:cNvPr id="24" name="Text 18"/>
          <p:cNvSpPr txBox="1"/>
          <p:nvPr/>
        </p:nvSpPr>
        <p:spPr>
          <a:xfrm>
            <a:off x="1524305" y="4286707"/>
            <a:ext cx="1143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차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11144707" y="4286707"/>
            <a:ext cx="1334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64.4%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1524305" y="4953305"/>
            <a:ext cx="1143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 차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11144707" y="4953305"/>
            <a:ext cx="1334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1524305" y="5619902"/>
            <a:ext cx="1143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차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11144707" y="5619902"/>
            <a:ext cx="1334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1900" dirty="0"/>
          </a:p>
        </p:txBody>
      </p:sp>
      <p:sp>
        <p:nvSpPr>
          <p:cNvPr id="30" name="Text 24"/>
          <p:cNvSpPr txBox="1"/>
          <p:nvPr/>
        </p:nvSpPr>
        <p:spPr>
          <a:xfrm>
            <a:off x="1524305" y="6286500"/>
            <a:ext cx="1143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4년 차</a:t>
            </a:r>
            <a:endParaRPr lang="en-US" sz="1900" dirty="0"/>
          </a:p>
        </p:txBody>
      </p:sp>
      <p:sp>
        <p:nvSpPr>
          <p:cNvPr id="31" name="Text 25"/>
          <p:cNvSpPr txBox="1"/>
          <p:nvPr/>
        </p:nvSpPr>
        <p:spPr>
          <a:xfrm>
            <a:off x="11144707" y="6286500"/>
            <a:ext cx="1334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–</a:t>
            </a:r>
            <a:endParaRPr lang="en-US" sz="1900" dirty="0"/>
          </a:p>
        </p:txBody>
      </p:sp>
      <p:sp>
        <p:nvSpPr>
          <p:cNvPr id="32" name="Text 26"/>
          <p:cNvSpPr txBox="1"/>
          <p:nvPr/>
        </p:nvSpPr>
        <p:spPr>
          <a:xfrm>
            <a:off x="1524305" y="6953098"/>
            <a:ext cx="1143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 차</a:t>
            </a:r>
            <a:endParaRPr lang="en-US" sz="1900" dirty="0"/>
          </a:p>
        </p:txBody>
      </p:sp>
      <p:sp>
        <p:nvSpPr>
          <p:cNvPr id="33" name="Text 27"/>
          <p:cNvSpPr txBox="1"/>
          <p:nvPr/>
        </p:nvSpPr>
        <p:spPr>
          <a:xfrm>
            <a:off x="11144707" y="6953098"/>
            <a:ext cx="1334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36.4%</a:t>
            </a:r>
            <a:endParaRPr lang="en-US" sz="1900" dirty="0"/>
          </a:p>
        </p:txBody>
      </p:sp>
      <p:sp>
        <p:nvSpPr>
          <p:cNvPr id="35" name="Text 29"/>
          <p:cNvSpPr txBox="1"/>
          <p:nvPr/>
        </p:nvSpPr>
        <p:spPr>
          <a:xfrm>
            <a:off x="1524305" y="8001000"/>
            <a:ext cx="10478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8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국가데이터처 「2024년 기업생멸행정통계(잠정)」(2025.10) — 1년은 2022년, 5년은 2018년 신생기업 기준. 2~4년 값은 KOSIS 에서 확인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13144500" y="3238805"/>
            <a:ext cx="3810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What?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3144500" y="3619195"/>
            <a:ext cx="3810305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112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이건 비관이 아닌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kern="0" spc="-112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'정상' 수치입니다. </a:t>
            </a:r>
            <a:endParaRPr lang="en-US" sz="3400" dirty="0"/>
          </a:p>
        </p:txBody>
      </p:sp>
      <p:sp>
        <p:nvSpPr>
          <p:cNvPr id="38" name="Text 32"/>
          <p:cNvSpPr txBox="1"/>
          <p:nvPr/>
        </p:nvSpPr>
        <p:spPr>
          <a:xfrm>
            <a:off x="13144500" y="5810098"/>
            <a:ext cx="3810305" cy="253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중요한 건 "내가 살아남는 36%에 들어가기 위해 무엇을 다르게 할 것인가"입니다.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생존 = 학습 속도 × 자원관리 × 고객 집착</a:t>
            </a:r>
            <a:endParaRPr lang="en-US" sz="1900" dirty="0"/>
          </a:p>
        </p:txBody>
      </p:sp>
      <p:sp>
        <p:nvSpPr>
          <p:cNvPr id="39" name="Text 33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52</a:t>
            </a:r>
            <a:endParaRPr lang="en-US" sz="15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143707"/>
            <a:ext cx="57607" cy="1028700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4381805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4381805"/>
            <a:ext cx="57607" cy="1028700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5619902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5619902"/>
            <a:ext cx="57607" cy="1028700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6858000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6858000"/>
            <a:ext cx="57607" cy="1028700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8096098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8096098"/>
            <a:ext cx="57607" cy="1028700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 · Module 03 · Failure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스타트업이 망하는 </a:t>
            </a:r>
            <a:r>
              <a:rPr lang="en-US" sz="4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5가지 결정적 이유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048256"/>
            <a:ext cx="1769729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CB Insights가 스타트업 실패 회고록 101건을 분석한 공통 패턴. 비율의 합이 100%를 넘는 이유는 한 회사가 여러 사유를 동시에 갖기 때문입니다.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3381451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2667305" y="3448202"/>
            <a:ext cx="4953305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수요 부재 (No Market Need)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2667305" y="3786611"/>
            <a:ext cx="786082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"만들고 싶은 것"을 만들었지만, 사는 사람이 없었다 — 가장 흔한 1순위 사유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5811805" y="3448202"/>
            <a:ext cx="1334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00" b="1" kern="0" spc="-75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42%</a:t>
            </a:r>
            <a:endParaRPr lang="en-US" sz="3100" dirty="0"/>
          </a:p>
        </p:txBody>
      </p:sp>
      <p:sp>
        <p:nvSpPr>
          <p:cNvPr id="22" name="Text 19"/>
          <p:cNvSpPr txBox="1"/>
          <p:nvPr/>
        </p:nvSpPr>
        <p:spPr>
          <a:xfrm>
            <a:off x="1524305" y="4619549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2667305" y="4553712"/>
            <a:ext cx="5715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고갈 (Ran Out of Cash)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2667305" y="5067605"/>
            <a:ext cx="104781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런웨이(생존 가능 기간) 계산 실패. 매출 곡선보다 비용 곡선이 더 빨랐다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5811805" y="4686300"/>
            <a:ext cx="1334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00" b="1" kern="0" spc="-75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29%</a:t>
            </a:r>
            <a:endParaRPr lang="en-US" sz="31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5857646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000" dirty="0"/>
          </a:p>
        </p:txBody>
      </p:sp>
      <p:sp>
        <p:nvSpPr>
          <p:cNvPr id="27" name="Text 24"/>
          <p:cNvSpPr txBox="1"/>
          <p:nvPr/>
        </p:nvSpPr>
        <p:spPr>
          <a:xfrm>
            <a:off x="2667305" y="5791810"/>
            <a:ext cx="5715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실패 (Wrong Team)</a:t>
            </a:r>
            <a:endParaRPr lang="en-US" sz="2700" dirty="0"/>
          </a:p>
        </p:txBody>
      </p:sp>
      <p:sp>
        <p:nvSpPr>
          <p:cNvPr id="28" name="Text 25"/>
          <p:cNvSpPr txBox="1"/>
          <p:nvPr/>
        </p:nvSpPr>
        <p:spPr>
          <a:xfrm>
            <a:off x="2667305" y="6305702"/>
            <a:ext cx="104781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공동창업자 갈등, 핵심 역량 공백, 친한 사람과 시작했다는 이유 하나로 모인 팀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5811805" y="5924398"/>
            <a:ext cx="1334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00" b="1" kern="0" spc="-75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23%</a:t>
            </a:r>
            <a:endParaRPr lang="en-US" sz="3100" dirty="0"/>
          </a:p>
        </p:txBody>
      </p:sp>
      <p:sp>
        <p:nvSpPr>
          <p:cNvPr id="30" name="Text 27"/>
          <p:cNvSpPr txBox="1"/>
          <p:nvPr/>
        </p:nvSpPr>
        <p:spPr>
          <a:xfrm>
            <a:off x="1524305" y="7095744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000" dirty="0"/>
          </a:p>
        </p:txBody>
      </p:sp>
      <p:sp>
        <p:nvSpPr>
          <p:cNvPr id="31" name="Text 28"/>
          <p:cNvSpPr txBox="1"/>
          <p:nvPr/>
        </p:nvSpPr>
        <p:spPr>
          <a:xfrm>
            <a:off x="2667305" y="7029907"/>
            <a:ext cx="6667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경쟁자에 추월 (Got Outcompeted)</a:t>
            </a:r>
            <a:endParaRPr lang="en-US" sz="2700" dirty="0"/>
          </a:p>
        </p:txBody>
      </p:sp>
      <p:sp>
        <p:nvSpPr>
          <p:cNvPr id="32" name="Text 29"/>
          <p:cNvSpPr txBox="1"/>
          <p:nvPr/>
        </p:nvSpPr>
        <p:spPr>
          <a:xfrm>
            <a:off x="2667305" y="7543800"/>
            <a:ext cx="104781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빠른 경쟁자, 더 자본력 있는 후발주자에게 시장 점유율을 내준 케이스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5811805" y="7162495"/>
            <a:ext cx="1334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00" b="1" kern="0" spc="-75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19%</a:t>
            </a:r>
            <a:endParaRPr lang="en-US" sz="3100" dirty="0"/>
          </a:p>
        </p:txBody>
      </p:sp>
      <p:sp>
        <p:nvSpPr>
          <p:cNvPr id="34" name="Text 31"/>
          <p:cNvSpPr txBox="1"/>
          <p:nvPr/>
        </p:nvSpPr>
        <p:spPr>
          <a:xfrm>
            <a:off x="1524305" y="8334756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4000" dirty="0"/>
          </a:p>
        </p:txBody>
      </p:sp>
      <p:sp>
        <p:nvSpPr>
          <p:cNvPr id="35" name="Text 32"/>
          <p:cNvSpPr txBox="1"/>
          <p:nvPr/>
        </p:nvSpPr>
        <p:spPr>
          <a:xfrm>
            <a:off x="2667305" y="8268919"/>
            <a:ext cx="6667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가격·비즈니스모델 오류 (Pricing/BM)</a:t>
            </a:r>
            <a:endParaRPr lang="en-US" sz="2700" dirty="0"/>
          </a:p>
        </p:txBody>
      </p:sp>
      <p:sp>
        <p:nvSpPr>
          <p:cNvPr id="36" name="Text 33"/>
          <p:cNvSpPr txBox="1"/>
          <p:nvPr/>
        </p:nvSpPr>
        <p:spPr>
          <a:xfrm>
            <a:off x="2667305" y="8781898"/>
            <a:ext cx="104781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 계산 누락, 단위경제(Unit Economics) 미확보 — "팔수록 손해"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5811805" y="8401507"/>
            <a:ext cx="1334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00" b="1" kern="0" spc="-75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18%</a:t>
            </a:r>
            <a:endParaRPr lang="en-US" sz="3100" dirty="0"/>
          </a:p>
        </p:txBody>
      </p:sp>
      <p:sp>
        <p:nvSpPr>
          <p:cNvPr id="38" name="Text 35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52</a:t>
            </a:r>
            <a:endParaRPr lang="en-US" sz="15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1143000" y="2952598"/>
            <a:ext cx="16192195" cy="6096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2952598"/>
            <a:ext cx="16192195" cy="857707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4667098"/>
            <a:ext cx="15430500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5524805"/>
            <a:ext cx="15430500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6381598"/>
            <a:ext cx="15430500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7239305"/>
            <a:ext cx="15430500" cy="91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8096098"/>
            <a:ext cx="15430500" cy="9144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 · 개념 정리</a:t>
            </a:r>
            <a:endParaRPr lang="en-US" sz="1600" dirty="0"/>
          </a:p>
        </p:txBody>
      </p:sp>
      <p:sp>
        <p:nvSpPr>
          <p:cNvPr id="13" name="Text 4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스타트업 vs 생활창업(SMB) </a:t>
            </a:r>
            <a:endParaRPr lang="en-US" sz="4800" dirty="0"/>
          </a:p>
        </p:txBody>
      </p:sp>
      <p:sp>
        <p:nvSpPr>
          <p:cNvPr id="14" name="Text 5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어느 쪽이 좋은 게 아닙니다.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자원·기질·목표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맞는 길을 의식적으로 선택해야 합니다. </a:t>
            </a:r>
            <a:endParaRPr lang="en-US" sz="2100" dirty="0"/>
          </a:p>
        </p:txBody>
      </p:sp>
      <p:sp>
        <p:nvSpPr>
          <p:cNvPr id="15" name="Text 6"/>
          <p:cNvSpPr txBox="1"/>
          <p:nvPr/>
        </p:nvSpPr>
        <p:spPr>
          <a:xfrm>
            <a:off x="1524305" y="3238805"/>
            <a:ext cx="3620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800" dirty="0"/>
          </a:p>
        </p:txBody>
      </p:sp>
      <p:sp>
        <p:nvSpPr>
          <p:cNvPr id="16" name="Text 7"/>
          <p:cNvSpPr txBox="1"/>
          <p:nvPr/>
        </p:nvSpPr>
        <p:spPr>
          <a:xfrm>
            <a:off x="6286500" y="3161995"/>
            <a:ext cx="5143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스타트업 (Scalable)</a:t>
            </a:r>
            <a:endParaRPr lang="en-US" sz="3000" dirty="0"/>
          </a:p>
        </p:txBody>
      </p:sp>
      <p:sp>
        <p:nvSpPr>
          <p:cNvPr id="17" name="Text 8"/>
          <p:cNvSpPr txBox="1"/>
          <p:nvPr/>
        </p:nvSpPr>
        <p:spPr>
          <a:xfrm>
            <a:off x="11811305" y="3161995"/>
            <a:ext cx="5143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생활창업 / SMB</a:t>
            </a:r>
            <a:endParaRPr lang="en-US" sz="3000" dirty="0"/>
          </a:p>
        </p:txBody>
      </p:sp>
      <p:sp>
        <p:nvSpPr>
          <p:cNvPr id="18" name="Text 9"/>
          <p:cNvSpPr txBox="1"/>
          <p:nvPr/>
        </p:nvSpPr>
        <p:spPr>
          <a:xfrm>
            <a:off x="1524305" y="4095598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목표</a:t>
            </a:r>
            <a:endParaRPr lang="en-US" sz="1900" dirty="0"/>
          </a:p>
        </p:txBody>
      </p:sp>
      <p:sp>
        <p:nvSpPr>
          <p:cNvPr id="19" name="Text 10"/>
          <p:cNvSpPr txBox="1"/>
          <p:nvPr/>
        </p:nvSpPr>
        <p:spPr>
          <a:xfrm>
            <a:off x="6286500" y="4095598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급격한 성장과 시장 점유 → Exit</a:t>
            </a:r>
            <a:endParaRPr lang="en-US" sz="1900" dirty="0"/>
          </a:p>
        </p:txBody>
      </p:sp>
      <p:sp>
        <p:nvSpPr>
          <p:cNvPr id="20" name="Text 11"/>
          <p:cNvSpPr txBox="1"/>
          <p:nvPr/>
        </p:nvSpPr>
        <p:spPr>
          <a:xfrm>
            <a:off x="11811305" y="4095598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현금흐름과 라이프스타일</a:t>
            </a:r>
            <a:endParaRPr lang="en-US" sz="1900" dirty="0"/>
          </a:p>
        </p:txBody>
      </p:sp>
      <p:sp>
        <p:nvSpPr>
          <p:cNvPr id="21" name="Text 12"/>
          <p:cNvSpPr txBox="1"/>
          <p:nvPr/>
        </p:nvSpPr>
        <p:spPr>
          <a:xfrm>
            <a:off x="1524305" y="4953305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</a:t>
            </a:r>
            <a:endParaRPr lang="en-US" sz="1900" dirty="0"/>
          </a:p>
        </p:txBody>
      </p:sp>
      <p:sp>
        <p:nvSpPr>
          <p:cNvPr id="22" name="Text 13"/>
          <p:cNvSpPr txBox="1"/>
          <p:nvPr/>
        </p:nvSpPr>
        <p:spPr>
          <a:xfrm>
            <a:off x="6286500" y="4953305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VC·엔젤 투자, TIPS, 엑셀러레이터</a:t>
            </a:r>
            <a:endParaRPr lang="en-US" sz="1900" dirty="0"/>
          </a:p>
        </p:txBody>
      </p:sp>
      <p:sp>
        <p:nvSpPr>
          <p:cNvPr id="23" name="Text 14"/>
          <p:cNvSpPr txBox="1"/>
          <p:nvPr/>
        </p:nvSpPr>
        <p:spPr>
          <a:xfrm>
            <a:off x="11811305" y="4953305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자기자본, 정책자금(소진공·신보), 가족</a:t>
            </a:r>
            <a:endParaRPr lang="en-US" sz="1900" dirty="0"/>
          </a:p>
        </p:txBody>
      </p:sp>
      <p:sp>
        <p:nvSpPr>
          <p:cNvPr id="24" name="Text 15"/>
          <p:cNvSpPr txBox="1"/>
          <p:nvPr/>
        </p:nvSpPr>
        <p:spPr>
          <a:xfrm>
            <a:off x="1524305" y="5810098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검증 지표</a:t>
            </a:r>
            <a:endParaRPr lang="en-US" sz="1900" dirty="0"/>
          </a:p>
        </p:txBody>
      </p:sp>
      <p:sp>
        <p:nvSpPr>
          <p:cNvPr id="25" name="Text 16"/>
          <p:cNvSpPr txBox="1"/>
          <p:nvPr/>
        </p:nvSpPr>
        <p:spPr>
          <a:xfrm>
            <a:off x="6286500" y="5810098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PMF, MAU, 리텐션, LTV/CAC</a:t>
            </a:r>
            <a:endParaRPr lang="en-US" sz="1900" dirty="0"/>
          </a:p>
        </p:txBody>
      </p:sp>
      <p:sp>
        <p:nvSpPr>
          <p:cNvPr id="26" name="Text 17"/>
          <p:cNvSpPr txBox="1"/>
          <p:nvPr/>
        </p:nvSpPr>
        <p:spPr>
          <a:xfrm>
            <a:off x="11811305" y="5810098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매출, 영업이익률, 객단가, 재방문율</a:t>
            </a:r>
            <a:endParaRPr lang="en-US" sz="1900" dirty="0"/>
          </a:p>
        </p:txBody>
      </p:sp>
      <p:sp>
        <p:nvSpPr>
          <p:cNvPr id="27" name="Text 18"/>
          <p:cNvSpPr txBox="1"/>
          <p:nvPr/>
        </p:nvSpPr>
        <p:spPr>
          <a:xfrm>
            <a:off x="1524305" y="6667805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방식</a:t>
            </a:r>
            <a:endParaRPr lang="en-US" sz="1900" dirty="0"/>
          </a:p>
        </p:txBody>
      </p:sp>
      <p:sp>
        <p:nvSpPr>
          <p:cNvPr id="28" name="Text 19"/>
          <p:cNvSpPr txBox="1"/>
          <p:nvPr/>
        </p:nvSpPr>
        <p:spPr>
          <a:xfrm>
            <a:off x="6286500" y="6667805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복제 비용 ≈ 0 (S/W·플랫폼)</a:t>
            </a:r>
            <a:endParaRPr lang="en-US" sz="1900" dirty="0"/>
          </a:p>
        </p:txBody>
      </p:sp>
      <p:sp>
        <p:nvSpPr>
          <p:cNvPr id="29" name="Text 20"/>
          <p:cNvSpPr txBox="1"/>
          <p:nvPr/>
        </p:nvSpPr>
        <p:spPr>
          <a:xfrm>
            <a:off x="11811305" y="6667805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매장·인력 추가 → 선형 확장</a:t>
            </a:r>
            <a:endParaRPr lang="en-US" sz="1900" dirty="0"/>
          </a:p>
        </p:txBody>
      </p:sp>
      <p:sp>
        <p:nvSpPr>
          <p:cNvPr id="30" name="Text 21"/>
          <p:cNvSpPr txBox="1"/>
          <p:nvPr/>
        </p:nvSpPr>
        <p:spPr>
          <a:xfrm>
            <a:off x="1524305" y="7524598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프로파일</a:t>
            </a:r>
            <a:endParaRPr lang="en-US" sz="1900" dirty="0"/>
          </a:p>
        </p:txBody>
      </p:sp>
      <p:sp>
        <p:nvSpPr>
          <p:cNvPr id="31" name="Text 22"/>
          <p:cNvSpPr txBox="1"/>
          <p:nvPr/>
        </p:nvSpPr>
        <p:spPr>
          <a:xfrm>
            <a:off x="6286500" y="7524598"/>
            <a:ext cx="53154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 risk · High return (Power Law)</a:t>
            </a:r>
            <a:endParaRPr lang="en-US" sz="1900" dirty="0"/>
          </a:p>
        </p:txBody>
      </p:sp>
      <p:sp>
        <p:nvSpPr>
          <p:cNvPr id="32" name="Text 23"/>
          <p:cNvSpPr txBox="1"/>
          <p:nvPr/>
        </p:nvSpPr>
        <p:spPr>
          <a:xfrm>
            <a:off x="11811305" y="7524598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리스크 · 안정적 수익 (정규분포)</a:t>
            </a:r>
            <a:endParaRPr lang="en-US" sz="1900" dirty="0"/>
          </a:p>
        </p:txBody>
      </p:sp>
      <p:sp>
        <p:nvSpPr>
          <p:cNvPr id="33" name="Text 24"/>
          <p:cNvSpPr txBox="1"/>
          <p:nvPr/>
        </p:nvSpPr>
        <p:spPr>
          <a:xfrm>
            <a:off x="1524305" y="8382305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적합한 기질</a:t>
            </a:r>
            <a:endParaRPr lang="en-US" sz="1900" dirty="0"/>
          </a:p>
        </p:txBody>
      </p:sp>
      <p:sp>
        <p:nvSpPr>
          <p:cNvPr id="34" name="Text 25"/>
          <p:cNvSpPr txBox="1"/>
          <p:nvPr/>
        </p:nvSpPr>
        <p:spPr>
          <a:xfrm>
            <a:off x="6286500" y="8382305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불확실성을 즐기는 변화 추구형</a:t>
            </a:r>
            <a:endParaRPr lang="en-US" sz="1900" dirty="0"/>
          </a:p>
        </p:txBody>
      </p:sp>
      <p:sp>
        <p:nvSpPr>
          <p:cNvPr id="35" name="Text 26"/>
          <p:cNvSpPr txBox="1"/>
          <p:nvPr/>
        </p:nvSpPr>
        <p:spPr>
          <a:xfrm>
            <a:off x="11811305" y="8382305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꾸준함과 운영 디테일에 강한 사람</a:t>
            </a:r>
            <a:endParaRPr lang="en-US" sz="1900" dirty="0"/>
          </a:p>
        </p:txBody>
      </p:sp>
      <p:sp>
        <p:nvSpPr>
          <p:cNvPr id="36" name="Text 27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52</a:t>
            </a:r>
            <a:endParaRPr lang="en-US" sz="15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239305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7905902" y="3619195"/>
            <a:ext cx="9525305" cy="1524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7905902" y="5333695"/>
            <a:ext cx="9525305" cy="1524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7905902" y="7048195"/>
            <a:ext cx="9525305" cy="15243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5905195"/>
            <a:ext cx="571500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1524305"/>
            <a:ext cx="5334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 A · 1교시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2286000"/>
            <a:ext cx="533461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배달의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민족 </a:t>
            </a:r>
            <a:endParaRPr lang="en-US" sz="66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4572000"/>
            <a:ext cx="5334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"디자이너 한 명이</a:t>
            </a:r>
            <a:endParaRPr lang="en-US" sz="2100" dirty="0"/>
          </a:p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전단지를 모아 시작했다" 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6191402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6458407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2010년 · 김봉진</a:t>
            </a:r>
            <a:endParaRPr lang="en-US" sz="22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704819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인수가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7315200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4.7조 원 (2019, DH)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7905902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8172907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· O2O · B2C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7905902" y="1333195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we learn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905902" y="1714500"/>
            <a:ext cx="95253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문제 정의는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12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현장</a:t>
            </a: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 있었다 </a:t>
            </a:r>
            <a:endParaRPr lang="en-US" sz="4000" dirty="0"/>
          </a:p>
        </p:txBody>
      </p:sp>
      <p:sp>
        <p:nvSpPr>
          <p:cNvPr id="21" name="Text 14"/>
          <p:cNvSpPr txBox="1"/>
          <p:nvPr/>
        </p:nvSpPr>
        <p:spPr>
          <a:xfrm>
            <a:off x="8287207" y="3829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9144000" y="3886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수십만 장의 전단지 = 1차 데이터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9144000" y="4238244"/>
            <a:ext cx="8001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"전단지 보관함이 두꺼운 사람"이 누구인지를 발견. 사용자의 진짜 행동에서 출발한 아이템.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287207" y="55440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18"/>
          <p:cNvSpPr txBox="1"/>
          <p:nvPr/>
        </p:nvSpPr>
        <p:spPr>
          <a:xfrm>
            <a:off x="9144000" y="56007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"기술" 이전에 "브랜드"로 차별화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9144000" y="5952744"/>
            <a:ext cx="8001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경쟁자가 "더 빠른 배달"을 외칠 때, "우리는 민족이었어" 식의 유머·B급 감성으로 인지를 장악.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8287207" y="7258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9144000" y="7315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"디자이너 출신 창업자"의 강점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9144000" y="766724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Effectuation 이론대로 — 가진 자원(디자인 감각·관찰력)에서 출발한 출발.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905902" y="8906256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우아한형제들 공식 기업 소개 / Delivery Hero 인수 공시 (2019)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52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048695" y="0"/>
            <a:ext cx="7239305" cy="10287000"/>
          </a:xfrm>
          <a:prstGeom prst="rect">
            <a:avLst/>
          </a:prstGeom>
          <a:solidFill>
            <a:srgbClr val="2D7D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1143000" y="3619195"/>
            <a:ext cx="9525305" cy="1524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1143000" y="5333695"/>
            <a:ext cx="9525305" cy="1524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1143000" y="7048195"/>
            <a:ext cx="9525305" cy="15243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811305" y="4953305"/>
            <a:ext cx="571500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1811305" y="1333195"/>
            <a:ext cx="571500" cy="28346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811305" y="1524305"/>
            <a:ext cx="5334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 B · 1교시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11811305" y="2286000"/>
            <a:ext cx="5334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오늘의집</a:t>
            </a:r>
            <a:endParaRPr lang="en-US" sz="6600" dirty="0"/>
          </a:p>
        </p:txBody>
      </p:sp>
      <p:sp>
        <p:nvSpPr>
          <p:cNvPr id="12" name="Text 5"/>
          <p:cNvSpPr txBox="1"/>
          <p:nvPr/>
        </p:nvSpPr>
        <p:spPr>
          <a:xfrm>
            <a:off x="11811305" y="3619195"/>
            <a:ext cx="5334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"콘텐츠로 시작해</a:t>
            </a:r>
            <a:endParaRPr lang="en-US" sz="2100" dirty="0"/>
          </a:p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커머스로 도착했다" 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11811305" y="52385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1811305" y="55056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2014년 · 이승재 (버킷플레이스)</a:t>
            </a:r>
            <a:endParaRPr lang="en-US" sz="2200" dirty="0"/>
          </a:p>
        </p:txBody>
      </p:sp>
      <p:sp>
        <p:nvSpPr>
          <p:cNvPr id="15" name="Text 8"/>
          <p:cNvSpPr txBox="1"/>
          <p:nvPr/>
        </p:nvSpPr>
        <p:spPr>
          <a:xfrm>
            <a:off x="11811305" y="609630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유니콘 진입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1811305" y="6362395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2022년 · 기업가치 2조원+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11305" y="69530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1811305" y="72201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홈인테리어 · 콘텐츠커머스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1333195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we learn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1714500"/>
            <a:ext cx="95253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12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PMF</a:t>
            </a: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는 한 번에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오지 않았다 </a:t>
            </a:r>
            <a:endParaRPr lang="en-US" sz="4000" dirty="0"/>
          </a:p>
        </p:txBody>
      </p:sp>
      <p:sp>
        <p:nvSpPr>
          <p:cNvPr id="21" name="Text 14"/>
          <p:cNvSpPr txBox="1"/>
          <p:nvPr/>
        </p:nvSpPr>
        <p:spPr>
          <a:xfrm>
            <a:off x="1524305" y="3829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2381098" y="3886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인테리어 사진 SNS → 커뮤니티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2381098" y="4238244"/>
            <a:ext cx="8001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초기에는 사진 모으는 앱. 거래 기능 없이 사용자가 모이고 머무는 이유부터 만들었다.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1524305" y="55440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18"/>
          <p:cNvSpPr txBox="1"/>
          <p:nvPr/>
        </p:nvSpPr>
        <p:spPr>
          <a:xfrm>
            <a:off x="2381098" y="56007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"이거 어디서 샀나요?" — 진짜 신호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2381098" y="5952744"/>
            <a:ext cx="8001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사용자의 댓글이 곧 PMF 시그널이었다. 댓글을 보고 커머스 기능을 붙이는 결정을 내림.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524305" y="7258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2381098" y="7315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→ 커머스 → 시공 플랫폼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2381098" y="7667244"/>
            <a:ext cx="8449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단계 검증되면 다음을 붙이는 단계적 확장. 한 번에 다 만들지 않는다.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143000" y="8906256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버킷플레이스 공식 기업 소개 / 시리즈 D 투자 공시 (2022)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52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00" cy="10287000"/>
          </a:xfrm>
          <a:prstGeom prst="rect">
            <a:avLst/>
          </a:prstGeom>
          <a:solidFill>
            <a:srgbClr val="FD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143500" y="1143000"/>
            <a:ext cx="12382805" cy="8001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524805" y="2361895"/>
            <a:ext cx="11620195" cy="914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524805" y="2857500"/>
            <a:ext cx="116201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524805" y="3238805"/>
            <a:ext cx="11620195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5524805" y="4743907"/>
            <a:ext cx="5524805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5524805" y="5124298"/>
            <a:ext cx="5524805" cy="91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1620195" y="4743907"/>
            <a:ext cx="5524805" cy="9144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11620195" y="5124298"/>
            <a:ext cx="5524805" cy="9144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524805" y="6553505"/>
            <a:ext cx="11620195" cy="9144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524805" y="6933895"/>
            <a:ext cx="11620195" cy="9144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524805" y="8268005"/>
            <a:ext cx="11620195" cy="9144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524805" y="8648395"/>
            <a:ext cx="11620195" cy="914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761695" y="1143000"/>
            <a:ext cx="571500" cy="28346"/>
          </a:xfrm>
          <a:prstGeom prst="rect">
            <a:avLst/>
          </a:prstGeom>
        </p:spPr>
      </p:pic>
      <p:sp>
        <p:nvSpPr>
          <p:cNvPr id="18" name="Text 3"/>
          <p:cNvSpPr txBox="1"/>
          <p:nvPr/>
        </p:nvSpPr>
        <p:spPr>
          <a:xfrm>
            <a:off x="761695" y="1333195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· 25 min</a:t>
            </a:r>
            <a:endParaRPr lang="en-US" sz="1600" dirty="0"/>
          </a:p>
        </p:txBody>
      </p:sp>
      <p:sp>
        <p:nvSpPr>
          <p:cNvPr id="19" name="Text 4"/>
          <p:cNvSpPr txBox="1"/>
          <p:nvPr/>
        </p:nvSpPr>
        <p:spPr>
          <a:xfrm>
            <a:off x="761695" y="1904695"/>
            <a:ext cx="36201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워크시트 #1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나의 출발선</a:t>
            </a:r>
            <a:endParaRPr lang="en-US" sz="4500" dirty="0"/>
          </a:p>
        </p:txBody>
      </p:sp>
      <p:sp>
        <p:nvSpPr>
          <p:cNvPr id="20" name="Text 5"/>
          <p:cNvSpPr txBox="1"/>
          <p:nvPr/>
        </p:nvSpPr>
        <p:spPr>
          <a:xfrm>
            <a:off x="761695" y="4572000"/>
            <a:ext cx="3238805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개인 작성 15분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짝꿍과 공유 10분.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정답이 아니라 솔직함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핵심입니다. </a:t>
            </a:r>
            <a:endParaRPr lang="en-US" sz="1900" dirty="0"/>
          </a:p>
        </p:txBody>
      </p:sp>
      <p:sp>
        <p:nvSpPr>
          <p:cNvPr id="21" name="Text 6"/>
          <p:cNvSpPr txBox="1"/>
          <p:nvPr/>
        </p:nvSpPr>
        <p:spPr>
          <a:xfrm>
            <a:off x="761695" y="87626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52</a:t>
            </a:r>
            <a:endParaRPr lang="en-US" sz="1500" dirty="0"/>
          </a:p>
        </p:txBody>
      </p:sp>
      <p:sp>
        <p:nvSpPr>
          <p:cNvPr id="22" name="Text 7"/>
          <p:cNvSpPr txBox="1"/>
          <p:nvPr/>
        </p:nvSpPr>
        <p:spPr>
          <a:xfrm>
            <a:off x="5524805" y="1524305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 · 한 문장</a:t>
            </a:r>
            <a:endParaRPr lang="en-US" sz="1600" dirty="0"/>
          </a:p>
        </p:txBody>
      </p:sp>
      <p:sp>
        <p:nvSpPr>
          <p:cNvPr id="23" name="Text 8"/>
          <p:cNvSpPr txBox="1"/>
          <p:nvPr/>
        </p:nvSpPr>
        <p:spPr>
          <a:xfrm>
            <a:off x="5524805" y="1790395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사업(또는 사업 아이디어)을 한 문장으로 설명하면?</a:t>
            </a:r>
            <a:endParaRPr lang="en-US" sz="2400" dirty="0"/>
          </a:p>
        </p:txBody>
      </p:sp>
      <p:sp>
        <p:nvSpPr>
          <p:cNvPr id="24" name="Text 9"/>
          <p:cNvSpPr txBox="1"/>
          <p:nvPr/>
        </p:nvSpPr>
        <p:spPr>
          <a:xfrm>
            <a:off x="5524805" y="2514600"/>
            <a:ext cx="11621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"[ 누구 ]에게 [ 어떤 문제 ]를 [ 어떤 방식 ]으로 해결합니다."</a:t>
            </a:r>
            <a:endParaRPr lang="en-US" sz="1800" dirty="0"/>
          </a:p>
        </p:txBody>
      </p:sp>
      <p:sp>
        <p:nvSpPr>
          <p:cNvPr id="25" name="Text 10"/>
          <p:cNvSpPr txBox="1"/>
          <p:nvPr/>
        </p:nvSpPr>
        <p:spPr>
          <a:xfrm>
            <a:off x="5524805" y="3619195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 · 마인드셋 7요소</a:t>
            </a:r>
            <a:endParaRPr lang="en-US" sz="1600" dirty="0"/>
          </a:p>
        </p:txBody>
      </p:sp>
      <p:sp>
        <p:nvSpPr>
          <p:cNvPr id="26" name="Text 11"/>
          <p:cNvSpPr txBox="1"/>
          <p:nvPr/>
        </p:nvSpPr>
        <p:spPr>
          <a:xfrm>
            <a:off x="5524805" y="3886200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7요소 중 나의 강점 2개와 약점 2개는?</a:t>
            </a:r>
            <a:endParaRPr lang="en-US" sz="2400" dirty="0"/>
          </a:p>
        </p:txBody>
      </p:sp>
      <p:sp>
        <p:nvSpPr>
          <p:cNvPr id="27" name="Text 12"/>
          <p:cNvSpPr txBox="1"/>
          <p:nvPr/>
        </p:nvSpPr>
        <p:spPr>
          <a:xfrm>
            <a:off x="5524805" y="4381805"/>
            <a:ext cx="5715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강점</a:t>
            </a:r>
            <a:endParaRPr lang="en-US" sz="1800" dirty="0"/>
          </a:p>
        </p:txBody>
      </p:sp>
      <p:sp>
        <p:nvSpPr>
          <p:cNvPr id="28" name="Text 13"/>
          <p:cNvSpPr txBox="1"/>
          <p:nvPr/>
        </p:nvSpPr>
        <p:spPr>
          <a:xfrm>
            <a:off x="11620195" y="4381805"/>
            <a:ext cx="5715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약점</a:t>
            </a:r>
            <a:endParaRPr lang="en-US" sz="1800" dirty="0"/>
          </a:p>
        </p:txBody>
      </p:sp>
      <p:sp>
        <p:nvSpPr>
          <p:cNvPr id="29" name="Text 14"/>
          <p:cNvSpPr txBox="1"/>
          <p:nvPr/>
        </p:nvSpPr>
        <p:spPr>
          <a:xfrm>
            <a:off x="5524805" y="5715000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 · 감당가능한 손실</a:t>
            </a:r>
            <a:endParaRPr lang="en-US" sz="1600" dirty="0"/>
          </a:p>
        </p:txBody>
      </p:sp>
      <p:sp>
        <p:nvSpPr>
          <p:cNvPr id="30" name="Text 15"/>
          <p:cNvSpPr txBox="1"/>
          <p:nvPr/>
        </p:nvSpPr>
        <p:spPr>
          <a:xfrm>
            <a:off x="5524805" y="5982005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잃어도 되는 시간/돈/관계의 한계선은?</a:t>
            </a:r>
            <a:endParaRPr lang="en-US" sz="2400" dirty="0"/>
          </a:p>
        </p:txBody>
      </p:sp>
      <p:sp>
        <p:nvSpPr>
          <p:cNvPr id="31" name="Text 16"/>
          <p:cNvSpPr txBox="1"/>
          <p:nvPr/>
        </p:nvSpPr>
        <p:spPr>
          <a:xfrm>
            <a:off x="5524805" y="7429500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 · 다음 7일</a:t>
            </a:r>
            <a:endParaRPr lang="en-US" sz="1600" dirty="0"/>
          </a:p>
        </p:txBody>
      </p:sp>
      <p:sp>
        <p:nvSpPr>
          <p:cNvPr id="32" name="Text 17"/>
          <p:cNvSpPr txBox="1"/>
          <p:nvPr/>
        </p:nvSpPr>
        <p:spPr>
          <a:xfrm>
            <a:off x="5524805" y="7696505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안에 내가 만날 잠재 고객 3명의 이름은?</a:t>
            </a:r>
            <a:endParaRPr lang="en-US" sz="24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3238805"/>
            <a:ext cx="5333695" cy="53336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805" y="3238805"/>
            <a:ext cx="5333695" cy="53336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91695" y="3238805"/>
            <a:ext cx="5333695" cy="533369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l="-198" r="-198"/>
          <a:stretch/>
        </p:blipFill>
        <p:spPr>
          <a:xfrm>
            <a:off x="1143000" y="3238805"/>
            <a:ext cx="5333695" cy="7589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524305" y="5143500"/>
            <a:ext cx="571500" cy="19202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rcRect l="-198" r="-198"/>
          <a:stretch/>
        </p:blipFill>
        <p:spPr>
          <a:xfrm>
            <a:off x="6667805" y="3238805"/>
            <a:ext cx="5333695" cy="7589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7048195" y="5143500"/>
            <a:ext cx="571500" cy="19202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9"/>
          <a:srcRect l="-198" r="-198"/>
          <a:stretch/>
        </p:blipFill>
        <p:spPr>
          <a:xfrm>
            <a:off x="12191695" y="3238805"/>
            <a:ext cx="5333695" cy="75895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2573000" y="5143500"/>
            <a:ext cx="571500" cy="19202"/>
          </a:xfrm>
          <a:prstGeom prst="rect">
            <a:avLst/>
          </a:prstGeom>
        </p:spPr>
      </p:pic>
      <p:sp>
        <p:nvSpPr>
          <p:cNvPr id="14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Discussion · 7 min</a:t>
            </a:r>
            <a:endParaRPr lang="en-US" sz="1600" dirty="0"/>
          </a:p>
        </p:txBody>
      </p:sp>
      <p:sp>
        <p:nvSpPr>
          <p:cNvPr id="15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조별 공유 · </a:t>
            </a:r>
            <a:r>
              <a:rPr lang="en-US" sz="4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3가지 질문</a:t>
            </a:r>
            <a:endParaRPr lang="en-US" sz="4800" dirty="0"/>
          </a:p>
        </p:txBody>
      </p:sp>
      <p:sp>
        <p:nvSpPr>
          <p:cNvPr id="16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4명 1조 · 한 사람당 약 100초씩 발표 → 다른 분이 1가지 질문하기. 진행자가 시간을 알려드립니다.</a:t>
            </a:r>
            <a:endParaRPr lang="en-US" sz="2100" dirty="0"/>
          </a:p>
        </p:txBody>
      </p:sp>
      <p:sp>
        <p:nvSpPr>
          <p:cNvPr id="17" name="Text 5"/>
          <p:cNvSpPr txBox="1"/>
          <p:nvPr/>
        </p:nvSpPr>
        <p:spPr>
          <a:xfrm>
            <a:off x="1524305" y="3619195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kern="0" spc="-225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Q1</a:t>
            </a:r>
            <a:endParaRPr lang="en-US" sz="9000" dirty="0"/>
          </a:p>
        </p:txBody>
      </p:sp>
      <p:sp>
        <p:nvSpPr>
          <p:cNvPr id="18" name="Text 6"/>
          <p:cNvSpPr txBox="1"/>
          <p:nvPr/>
        </p:nvSpPr>
        <p:spPr>
          <a:xfrm>
            <a:off x="1524305" y="5429707"/>
            <a:ext cx="457200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 사업의 한 문장 </a:t>
            </a:r>
            <a:r>
              <a:rPr lang="en-US" sz="3000" b="1" kern="0" spc="-75" dirty="0" err="1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설명을</a:t>
            </a: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000" b="1" kern="0" spc="-75" dirty="0" err="1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들은</a:t>
            </a: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짝꿍의 첫 반응은?</a:t>
            </a:r>
            <a:endParaRPr lang="en-US" sz="3000" dirty="0"/>
          </a:p>
        </p:txBody>
      </p:sp>
      <p:sp>
        <p:nvSpPr>
          <p:cNvPr id="19" name="Text 7"/>
          <p:cNvSpPr txBox="1"/>
          <p:nvPr/>
        </p:nvSpPr>
        <p:spPr>
          <a:xfrm>
            <a:off x="1524305" y="7239305"/>
            <a:ext cx="457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"이해됐다 / 못 알아듣겠다 / 더 듣고 싶다" 셋 중 어느 쪽이었나요?</a:t>
            </a:r>
            <a:endParaRPr lang="en-US" sz="1800" dirty="0"/>
          </a:p>
        </p:txBody>
      </p:sp>
      <p:sp>
        <p:nvSpPr>
          <p:cNvPr id="20" name="Text 8"/>
          <p:cNvSpPr txBox="1"/>
          <p:nvPr/>
        </p:nvSpPr>
        <p:spPr>
          <a:xfrm>
            <a:off x="7048195" y="3619195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kern="0" spc="-225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Q2</a:t>
            </a:r>
            <a:endParaRPr lang="en-US" sz="9000" dirty="0"/>
          </a:p>
        </p:txBody>
      </p:sp>
      <p:sp>
        <p:nvSpPr>
          <p:cNvPr id="21" name="Text 9"/>
          <p:cNvSpPr txBox="1"/>
          <p:nvPr/>
        </p:nvSpPr>
        <p:spPr>
          <a:xfrm>
            <a:off x="7048195" y="5429707"/>
            <a:ext cx="457200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내가 가장 </a:t>
            </a:r>
            <a:r>
              <a:rPr lang="en-US" sz="3000" b="1" kern="0" spc="-75" dirty="0" err="1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두려워하는</a:t>
            </a: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000" b="1" kern="0" spc="-75" dirty="0" err="1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실패</a:t>
            </a: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시나리오 1가지는?</a:t>
            </a:r>
            <a:endParaRPr lang="en-US" sz="3000" dirty="0"/>
          </a:p>
        </p:txBody>
      </p:sp>
      <p:sp>
        <p:nvSpPr>
          <p:cNvPr id="22" name="Text 10"/>
          <p:cNvSpPr txBox="1"/>
          <p:nvPr/>
        </p:nvSpPr>
        <p:spPr>
          <a:xfrm>
            <a:off x="7048195" y="7239305"/>
            <a:ext cx="457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구체적일수록 좋습니다. 두려움의 정체를 말로 꺼낼수록 작아집니다.</a:t>
            </a:r>
            <a:endParaRPr lang="en-US" sz="1800" dirty="0"/>
          </a:p>
        </p:txBody>
      </p:sp>
      <p:sp>
        <p:nvSpPr>
          <p:cNvPr id="23" name="Text 11"/>
          <p:cNvSpPr txBox="1"/>
          <p:nvPr/>
        </p:nvSpPr>
        <p:spPr>
          <a:xfrm>
            <a:off x="12573000" y="3619195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kern="0" spc="-22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Q3</a:t>
            </a:r>
            <a:endParaRPr lang="en-US" sz="9000" dirty="0"/>
          </a:p>
        </p:txBody>
      </p:sp>
      <p:sp>
        <p:nvSpPr>
          <p:cNvPr id="24" name="Text 12"/>
          <p:cNvSpPr txBox="1"/>
          <p:nvPr/>
        </p:nvSpPr>
        <p:spPr>
          <a:xfrm>
            <a:off x="12573000" y="5429707"/>
            <a:ext cx="457200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 나가서 </a:t>
            </a:r>
            <a:r>
              <a:rPr lang="en-US" sz="3000" b="1" kern="0" spc="-75" dirty="0" err="1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만날</a:t>
            </a: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첫 잠재 고객 한 </a:t>
            </a:r>
            <a:r>
              <a:rPr lang="en-US" sz="3000" b="1" kern="0" spc="-75" dirty="0" err="1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명은</a:t>
            </a: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000" b="1" kern="0" spc="-75" dirty="0" err="1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누구인가</a:t>
            </a: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?</a:t>
            </a:r>
            <a:endParaRPr lang="en-US" sz="3000" dirty="0"/>
          </a:p>
        </p:txBody>
      </p:sp>
      <p:sp>
        <p:nvSpPr>
          <p:cNvPr id="25" name="Text 13"/>
          <p:cNvSpPr txBox="1"/>
          <p:nvPr/>
        </p:nvSpPr>
        <p:spPr>
          <a:xfrm>
            <a:off x="12573000" y="7239305"/>
            <a:ext cx="457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이름과 연락 방법을 적습니다. "마케팅 타깃"이 아니라 "실제 사람"이 되어야 합니다.</a:t>
            </a:r>
            <a:endParaRPr lang="en-US" sz="1800" dirty="0"/>
          </a:p>
        </p:txBody>
      </p:sp>
      <p:sp>
        <p:nvSpPr>
          <p:cNvPr id="26" name="Text 1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52</a:t>
            </a:r>
            <a:endParaRPr lang="en-US" sz="15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0287000" y="0"/>
            <a:ext cx="8456371" cy="742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0" b="1" kern="0" spc="-1875" dirty="0">
                <a:solidFill>
                  <a:srgbClr val="E85D2C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5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4572000"/>
            <a:ext cx="16192195" cy="914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6191402"/>
            <a:ext cx="16192195" cy="914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7810805"/>
            <a:ext cx="161921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152430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 1 · Recap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286000"/>
            <a:ext cx="123828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1교시 핵심 3가지</a:t>
            </a:r>
            <a:endParaRPr lang="en-US" sz="72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4953305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500" dirty="0"/>
          </a:p>
        </p:txBody>
      </p:sp>
      <p:sp>
        <p:nvSpPr>
          <p:cNvPr id="12" name="Text 6"/>
          <p:cNvSpPr txBox="1"/>
          <p:nvPr/>
        </p:nvSpPr>
        <p:spPr>
          <a:xfrm>
            <a:off x="2286000" y="5009998"/>
            <a:ext cx="10478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창업가는 기질이 아닌 </a:t>
            </a:r>
            <a:r>
              <a:rPr lang="en-US" sz="3100" b="1" kern="0" spc="-75" dirty="0">
                <a:solidFill>
                  <a:srgbClr val="E8B54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 가능한 역량</a:t>
            </a: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이다 </a:t>
            </a:r>
            <a:endParaRPr lang="en-US" sz="3100" dirty="0"/>
          </a:p>
        </p:txBody>
      </p:sp>
      <p:sp>
        <p:nvSpPr>
          <p:cNvPr id="13" name="Text 7"/>
          <p:cNvSpPr txBox="1"/>
          <p:nvPr/>
        </p:nvSpPr>
        <p:spPr>
          <a:xfrm>
            <a:off x="2286000" y="5544007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7요소 모두 학습·훈련으로 강화 가능. 약점은 알고만 있어도 절반은 보완된다.</a:t>
            </a:r>
            <a:endParaRPr lang="en-US" sz="19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6572707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500" dirty="0"/>
          </a:p>
        </p:txBody>
      </p:sp>
      <p:sp>
        <p:nvSpPr>
          <p:cNvPr id="15" name="Text 9"/>
          <p:cNvSpPr txBox="1"/>
          <p:nvPr/>
        </p:nvSpPr>
        <p:spPr>
          <a:xfrm>
            <a:off x="2286000" y="6629400"/>
            <a:ext cx="1428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한국 창업 생태계는 </a:t>
            </a:r>
            <a:r>
              <a:rPr lang="en-US" sz="3100" b="1" kern="0" spc="-75" dirty="0">
                <a:solidFill>
                  <a:srgbClr val="E8B54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단계별 지렛대</a:t>
            </a: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제공한다 </a:t>
            </a:r>
            <a:endParaRPr lang="en-US" sz="3100" dirty="0"/>
          </a:p>
        </p:txBody>
      </p:sp>
      <p:sp>
        <p:nvSpPr>
          <p:cNvPr id="16" name="Text 10"/>
          <p:cNvSpPr txBox="1"/>
          <p:nvPr/>
        </p:nvSpPr>
        <p:spPr>
          <a:xfrm>
            <a:off x="2286000" y="7162495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예비→초기→성장→재도약, 각 단계마다 정책자금·R&amp;D·VC·재창업 지원이 다르게 작동한다.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8191195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500" dirty="0"/>
          </a:p>
        </p:txBody>
      </p:sp>
      <p:sp>
        <p:nvSpPr>
          <p:cNvPr id="18" name="Text 12"/>
          <p:cNvSpPr txBox="1"/>
          <p:nvPr/>
        </p:nvSpPr>
        <p:spPr>
          <a:xfrm>
            <a:off x="2286000" y="8248802"/>
            <a:ext cx="1428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실패의 1순위는 </a:t>
            </a:r>
            <a:r>
              <a:rPr lang="en-US" sz="3100" b="1" kern="0" spc="-75" dirty="0">
                <a:solidFill>
                  <a:srgbClr val="E8B54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"수요 없음"</a:t>
            </a: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이다 </a:t>
            </a:r>
            <a:endParaRPr lang="en-US" sz="3100" dirty="0"/>
          </a:p>
        </p:txBody>
      </p:sp>
      <p:sp>
        <p:nvSpPr>
          <p:cNvPr id="19" name="Text 13"/>
          <p:cNvSpPr txBox="1"/>
          <p:nvPr/>
        </p:nvSpPr>
        <p:spPr>
          <a:xfrm>
            <a:off x="2286000" y="8781898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제품이 아니라 고객을 검증한다 → 2교시 린 캔버스와 MVP의 출발점이다.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6763695" y="1333195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52</a:t>
            </a:r>
            <a:endParaRPr lang="en-US" sz="15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D7D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525305" y="0"/>
            <a:ext cx="11049610" cy="1028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00" b="1" kern="0" spc="-3000" dirty="0">
                <a:solidFill>
                  <a:srgbClr val="FFFFFF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8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524305"/>
            <a:ext cx="5715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 2 · 60 minutes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095805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kern="0" spc="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아이템 발굴과 MVP 검증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123798" y="3619195"/>
            <a:ext cx="16193110" cy="2800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3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팔리는 아이템은</a:t>
            </a:r>
            <a:endParaRPr lang="en-US" sz="10500" dirty="0"/>
          </a:p>
          <a:p>
            <a:pPr marL="0" indent="0" algn="l">
              <a:buNone/>
            </a:pPr>
            <a:r>
              <a:rPr lang="en-US" sz="10500" b="1" kern="0" spc="-300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발견</a:t>
            </a:r>
            <a:r>
              <a:rPr lang="en-US" sz="10500" b="1" kern="0" spc="-3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하는 것이다 </a:t>
            </a:r>
            <a:endParaRPr lang="en-US" sz="10500" dirty="0"/>
          </a:p>
        </p:txBody>
      </p:sp>
      <p:sp>
        <p:nvSpPr>
          <p:cNvPr id="9" name="Shape 6"/>
          <p:cNvSpPr/>
          <p:nvPr/>
        </p:nvSpPr>
        <p:spPr>
          <a:xfrm>
            <a:off x="12191695" y="7239305"/>
            <a:ext cx="5181905" cy="209580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2191695" y="7239305"/>
            <a:ext cx="38405" cy="2095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7524598"/>
            <a:ext cx="1047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kern="0" spc="15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Modules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905902"/>
            <a:ext cx="104781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01 문제 발견 · 페르소나 · 02 린 캔버스 9블록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03 MVP 5가지 유형 · 04 PMF 시그널 · TIPS · 워크숍 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2573000" y="7524598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573000" y="7830007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문제→고객→가치 가설을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린 캔버스 1장으로 압축하고,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위험한 가설을 식별한다 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967200" y="1333195"/>
            <a:ext cx="11306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52</a:t>
            </a:r>
            <a:endParaRPr lang="en-US" sz="160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269005" cy="1619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143707"/>
            <a:ext cx="75895" cy="1619402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4953305"/>
            <a:ext cx="16269005" cy="1619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4953305"/>
            <a:ext cx="75895" cy="1619402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6762902"/>
            <a:ext cx="16269005" cy="1619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6762902"/>
            <a:ext cx="75895" cy="1619402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Module 01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좋은 문제를 찾는 </a:t>
            </a:r>
            <a:r>
              <a:rPr lang="en-US" sz="48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3-Layer Filter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좋은 사업의 출발점은 좋은 답이 아니라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문제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다음 3가지 필터를 통과해야 합니다. 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3429000"/>
            <a:ext cx="15243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5800" dirty="0"/>
          </a:p>
        </p:txBody>
      </p:sp>
      <p:sp>
        <p:nvSpPr>
          <p:cNvPr id="15" name="Text 12"/>
          <p:cNvSpPr txBox="1"/>
          <p:nvPr/>
        </p:nvSpPr>
        <p:spPr>
          <a:xfrm>
            <a:off x="3238805" y="3448202"/>
            <a:ext cx="4953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Painful — 진짜 아픈가?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3238805" y="3924605"/>
            <a:ext cx="1333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"있으면 좋겠다(Nice to have)"가 아니라 "지금 없으면 큰일(Must have)"인가? 비타민 vs 진통제 테스트.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5238598"/>
            <a:ext cx="15243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5800" dirty="0"/>
          </a:p>
        </p:txBody>
      </p:sp>
      <p:sp>
        <p:nvSpPr>
          <p:cNvPr id="18" name="Text 15"/>
          <p:cNvSpPr txBox="1"/>
          <p:nvPr/>
        </p:nvSpPr>
        <p:spPr>
          <a:xfrm>
            <a:off x="3238805" y="5257800"/>
            <a:ext cx="5715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Frequent — 자주 일어나는가?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3238805" y="5734202"/>
            <a:ext cx="1333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1년에 한두 번이 아닌, 주/월 단위 반복 문제인가? 빈도가 곧 시장의 크기와 재구매율을 결정한다.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5" y="7048195"/>
            <a:ext cx="15243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5800" dirty="0"/>
          </a:p>
        </p:txBody>
      </p:sp>
      <p:sp>
        <p:nvSpPr>
          <p:cNvPr id="21" name="Text 18"/>
          <p:cNvSpPr txBox="1"/>
          <p:nvPr/>
        </p:nvSpPr>
        <p:spPr>
          <a:xfrm>
            <a:off x="3238805" y="7067398"/>
            <a:ext cx="668975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Payable — 돈을 낼 의향이 있는가?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3238805" y="7543800"/>
            <a:ext cx="1333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"공짜라면 쓰겠다"는 신호 무시. 선결제·예약·대기명단처럼 돈/시간을 미리 거는 행동이 진짜 신호다.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8906256"/>
            <a:ext cx="1619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 출처: Y Combinator의 "Make something people want" + Marc Andreessen의 PMF 정의 재구성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52</a:t>
            </a:r>
            <a:endParaRPr lang="en-US" sz="15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1143000" y="3047695"/>
            <a:ext cx="8096098" cy="6286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9430207" y="3047695"/>
            <a:ext cx="8096098" cy="62865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1143000" y="3047695"/>
            <a:ext cx="8096098" cy="7589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524305" y="4953305"/>
            <a:ext cx="571500" cy="914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9430207" y="3047695"/>
            <a:ext cx="8096098" cy="7589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 l="-2083" r="-2083"/>
          <a:stretch/>
        </p:blipFill>
        <p:spPr>
          <a:xfrm>
            <a:off x="9810598" y="4953305"/>
            <a:ext cx="571500" cy="9144"/>
          </a:xfrm>
          <a:prstGeom prst="rect">
            <a:avLst/>
          </a:prstGeom>
        </p:spPr>
      </p:pic>
      <p:sp>
        <p:nvSpPr>
          <p:cNvPr id="11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Module 01</a:t>
            </a:r>
            <a:endParaRPr lang="en-US" sz="1600" dirty="0"/>
          </a:p>
        </p:txBody>
      </p:sp>
      <p:sp>
        <p:nvSpPr>
          <p:cNvPr id="12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"타깃" 말고 </a:t>
            </a:r>
            <a:r>
              <a:rPr lang="en-US" sz="48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사람</a:t>
            </a: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그리세요 </a:t>
            </a:r>
            <a:endParaRPr lang="en-US" sz="4800" dirty="0"/>
          </a:p>
        </p:txBody>
      </p:sp>
      <p:sp>
        <p:nvSpPr>
          <p:cNvPr id="13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"30~40대 직장인 여성"은 페르소나가 아닙니다. 진짜 페르소나는 이름·하루·고민이 있는 한 명입니다.</a:t>
            </a:r>
            <a:endParaRPr lang="en-US" sz="2100" dirty="0"/>
          </a:p>
        </p:txBody>
      </p:sp>
      <p:sp>
        <p:nvSpPr>
          <p:cNvPr id="14" name="Text 5"/>
          <p:cNvSpPr txBox="1"/>
          <p:nvPr/>
        </p:nvSpPr>
        <p:spPr>
          <a:xfrm>
            <a:off x="1524305" y="3429000"/>
            <a:ext cx="7429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좋은 페르소나 — Persona "지영"</a:t>
            </a:r>
            <a:endParaRPr lang="en-US" sz="1600" dirty="0"/>
          </a:p>
        </p:txBody>
      </p:sp>
      <p:sp>
        <p:nvSpPr>
          <p:cNvPr id="15" name="Text 6"/>
          <p:cNvSpPr txBox="1"/>
          <p:nvPr/>
        </p:nvSpPr>
        <p:spPr>
          <a:xfrm>
            <a:off x="1524305" y="3810305"/>
            <a:ext cx="7429500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34세 · 워킹맘 · 송파구 거주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외식업 운영 4년 차 </a:t>
            </a:r>
            <a:endParaRPr lang="en-US" sz="3000" dirty="0"/>
          </a:p>
        </p:txBody>
      </p:sp>
      <p:sp>
        <p:nvSpPr>
          <p:cNvPr id="16" name="Text 7"/>
          <p:cNvSpPr txBox="1"/>
          <p:nvPr/>
        </p:nvSpPr>
        <p:spPr>
          <a:xfrm>
            <a:off x="1524305" y="5477332"/>
            <a:ext cx="7429500" cy="236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하루:</a:t>
            </a:r>
            <a:r>
              <a:rPr lang="en-US" sz="19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7시 기상 → 매장 오픈 → 주문·재고 → 어린이집 픽업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고민:</a:t>
            </a:r>
            <a:r>
              <a:rPr lang="en-US" sz="19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매출 정체 + 직원 1명 퇴사 임박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채널:</a:t>
            </a:r>
            <a:r>
              <a:rPr lang="en-US" sz="19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자영업 카페·인스타·유튜브 자기계발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예산:</a:t>
            </a:r>
            <a:r>
              <a:rPr lang="en-US" sz="19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월 30만원 이하 도구만 결제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시 비용:</a:t>
            </a:r>
            <a:r>
              <a:rPr lang="en-US" sz="19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가족 신뢰·8천만원 대출 </a:t>
            </a:r>
            <a:endParaRPr lang="en-US" sz="1900" dirty="0"/>
          </a:p>
        </p:txBody>
      </p:sp>
      <p:sp>
        <p:nvSpPr>
          <p:cNvPr id="17" name="Text 8"/>
          <p:cNvSpPr txBox="1"/>
          <p:nvPr/>
        </p:nvSpPr>
        <p:spPr>
          <a:xfrm>
            <a:off x="9810598" y="3429000"/>
            <a:ext cx="7429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무의미한 페르소나</a:t>
            </a:r>
            <a:endParaRPr lang="en-US" sz="1600" dirty="0"/>
          </a:p>
        </p:txBody>
      </p:sp>
      <p:sp>
        <p:nvSpPr>
          <p:cNvPr id="18" name="Text 9"/>
          <p:cNvSpPr txBox="1"/>
          <p:nvPr/>
        </p:nvSpPr>
        <p:spPr>
          <a:xfrm>
            <a:off x="9810598" y="3810305"/>
            <a:ext cx="7429500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97907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"30~40대 자영업자"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kern="0" spc="-75" dirty="0">
                <a:solidFill>
                  <a:srgbClr val="97907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"바쁜 직장인" </a:t>
            </a:r>
            <a:endParaRPr lang="en-US" sz="3000" dirty="0"/>
          </a:p>
        </p:txBody>
      </p:sp>
      <p:sp>
        <p:nvSpPr>
          <p:cNvPr id="19" name="Text 10"/>
          <p:cNvSpPr txBox="1"/>
          <p:nvPr/>
        </p:nvSpPr>
        <p:spPr>
          <a:xfrm>
            <a:off x="9810598" y="5477332"/>
            <a:ext cx="7429500" cy="282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무의미한가: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누가 그 사람의 실제 이름을 떠올릴 수 없다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같은 라벨 안에 너무 다른 행동·소득·문제가 섞여 있다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"어디서 만날 수 있는지"가 정해지지 않는다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마케팅 메시지의 '톤'이 결정되지 않는다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가설을 검증할 표본을 모을 수 없다 </a:t>
            </a:r>
            <a:endParaRPr lang="en-US" sz="1900" dirty="0"/>
          </a:p>
        </p:txBody>
      </p:sp>
      <p:sp>
        <p:nvSpPr>
          <p:cNvPr id="20" name="Text 11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52</a:t>
            </a:r>
            <a:endParaRPr lang="en-US" sz="15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286000"/>
            <a:ext cx="3258007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381805" y="2286000"/>
            <a:ext cx="3258007" cy="2018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381805" y="4286707"/>
            <a:ext cx="3258007" cy="2018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9695" y="2286000"/>
            <a:ext cx="3238805" cy="40005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0858500" y="2286000"/>
            <a:ext cx="3258007" cy="2018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858500" y="4286707"/>
            <a:ext cx="3258007" cy="2018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4097305" y="2286000"/>
            <a:ext cx="3258007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6476695"/>
            <a:ext cx="8115300" cy="1923898"/>
          </a:xfrm>
          <a:prstGeom prst="rect">
            <a:avLst/>
          </a:prstGeom>
          <a:solidFill>
            <a:srgbClr val="FDF1E8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239098" y="6476695"/>
            <a:ext cx="8115300" cy="1923898"/>
          </a:xfrm>
          <a:prstGeom prst="rect">
            <a:avLst/>
          </a:prstGeom>
          <a:solidFill>
            <a:srgbClr val="E8F2EC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143000" y="571500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Module 02 · The Lean Canvas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952805"/>
            <a:ext cx="14287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린 캔버스 — 한 장의 사업가설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762049"/>
            <a:ext cx="16193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Ash Maurya가 BMC를 스타트업용으로 재설계 (2010). 9개 블록을 작성 순서(①~⑨)대로 채웁니다.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Problem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2667305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2971800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상위 3가지 고객 문제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대안(Existing Alternatives): 고객이 지금 쓰고 있는 임시방편 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Solution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2667305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2971800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문제별로 가장 단순한 해결책 1~3개. 기능이 아닌 결과를 적는다.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457700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Key Metrics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4667098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972507"/>
            <a:ext cx="2857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AARRR 깔때기 중 가장 중요한 1~2개. 매주 추적할 숫자.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810805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UVP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810805" y="2667305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독보적 가치 제안</a:t>
            </a:r>
            <a:endParaRPr lang="en-US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7810805" y="2971800"/>
            <a:ext cx="2857500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문장으로 "왜 우리를 사야 하는가"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E2B0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High-Concept Pitch: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"X for Y"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(예: 자영업자를 위한 채널톡) 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1048695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Unfair Advantage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048695" y="2667305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경쟁우위</a:t>
            </a:r>
            <a:endParaRPr lang="en-US" sz="2100" dirty="0"/>
          </a:p>
        </p:txBody>
      </p:sp>
      <p:sp>
        <p:nvSpPr>
          <p:cNvPr id="31" name="Text 28"/>
          <p:cNvSpPr txBox="1"/>
          <p:nvPr/>
        </p:nvSpPr>
        <p:spPr>
          <a:xfrm>
            <a:off x="11048695" y="2971800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돈으로 못 사고 카피 못 하는 것 (전문지식·네트워크·데이터·커뮤니티).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1048695" y="4457700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Channels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1048695" y="4667098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11048695" y="4972507"/>
            <a:ext cx="2857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고객을 만나는 경로 (검색·SNS·오프라인·바이럴 등).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4287500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Customer Segments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4287500" y="2667305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세그먼트</a:t>
            </a:r>
            <a:endParaRPr lang="en-US" sz="2100" dirty="0"/>
          </a:p>
        </p:txBody>
      </p:sp>
      <p:sp>
        <p:nvSpPr>
          <p:cNvPr id="37" name="Text 34"/>
          <p:cNvSpPr txBox="1"/>
          <p:nvPr/>
        </p:nvSpPr>
        <p:spPr>
          <a:xfrm>
            <a:off x="14287500" y="2971800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고객 + 얼리어답터(Early Adopters): 첫 100명을 누구로 모을지 명시.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333195" y="6648602"/>
            <a:ext cx="7620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Cost Structure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6858000"/>
            <a:ext cx="7620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구조</a:t>
            </a:r>
            <a:endParaRPr lang="en-US" sz="21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7162495"/>
            <a:ext cx="7620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고정비(인건·임대·도구) + 변동비(원재료·광고비). 첫 12개월 누적 예상.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9430207" y="6648602"/>
            <a:ext cx="7620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Revenue Streams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9430207" y="6858000"/>
            <a:ext cx="7620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</a:t>
            </a:r>
            <a:endParaRPr lang="en-US" sz="2100" dirty="0"/>
          </a:p>
        </p:txBody>
      </p:sp>
      <p:sp>
        <p:nvSpPr>
          <p:cNvPr id="43" name="Text 40"/>
          <p:cNvSpPr txBox="1"/>
          <p:nvPr/>
        </p:nvSpPr>
        <p:spPr>
          <a:xfrm>
            <a:off x="9430207" y="7162495"/>
            <a:ext cx="7620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구조 + 객단가(ARPU) + 결제 빈도. 1년 차 가설치.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8667598"/>
            <a:ext cx="16193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순서 ① 문제 → ② 고객 → ③ UVP → ④ 솔루션 → ⑤ 채널 → ⑥ 수익 → ⑦ 비용 → ⑧ 지표 → ⑨ 경쟁우위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143000" y="9001354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Ash Maurya, "Running Lean" (O'Reilly, 2012) · The Lean Canvas (leanstack.com)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52</a:t>
            </a:r>
            <a:endParaRPr lang="en-US" sz="15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286000"/>
            <a:ext cx="3258007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381805" y="2286000"/>
            <a:ext cx="3258007" cy="2018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381805" y="4286707"/>
            <a:ext cx="3258007" cy="2018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9695" y="2286000"/>
            <a:ext cx="3238805" cy="40005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0858500" y="2286000"/>
            <a:ext cx="3258007" cy="2018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858500" y="4286707"/>
            <a:ext cx="3258007" cy="2018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4097305" y="2286000"/>
            <a:ext cx="3258007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6476695"/>
            <a:ext cx="8115300" cy="1923898"/>
          </a:xfrm>
          <a:prstGeom prst="rect">
            <a:avLst/>
          </a:prstGeom>
          <a:solidFill>
            <a:srgbClr val="FDF1E8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239098" y="6476695"/>
            <a:ext cx="8115300" cy="1923898"/>
          </a:xfrm>
          <a:prstGeom prst="rect">
            <a:avLst/>
          </a:prstGeom>
          <a:solidFill>
            <a:srgbClr val="E8F2EC"/>
          </a:solidFill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8667598"/>
            <a:ext cx="16192195" cy="476402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작성 예시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952805"/>
            <a:ext cx="14287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예시: </a:t>
            </a:r>
            <a:r>
              <a:rPr lang="en-US" sz="42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"동네 자영업자 회계 도우미"</a:t>
            </a:r>
            <a:endParaRPr lang="en-US" sz="42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1762049"/>
            <a:ext cx="16193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예비창업 아이디어. "어떻게 채워야 하는지"를 보여드립니다.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Problem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2704795"/>
            <a:ext cx="2857500" cy="335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1. 매일 영수증·매입세금계산서 수기 입력에 1시간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2. 세무사 비용 부담 (월 22만원+)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3. 자료 분실로 부가세 신고 때 추가 비용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대안: 엑셀, 전화 세무사, 종이 영수증함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Solution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2704795"/>
            <a:ext cx="2857500" cy="186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1. 영수증 사진 1장 → AI 자동 입력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2. 카드 매출 자동 연동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3. 신고 1주 전 알림 + 세무사 매칭 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457700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Key Metrics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705502"/>
            <a:ext cx="285750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주 1회 이상 사용한 사장님 수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영수증 자동인식 정확도(%)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유료 전환율(트라이얼 → 결제) 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810805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UVP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810805" y="2857500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"사진 한 장이면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회계 끝" 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7810805" y="4000500"/>
            <a:ext cx="2857500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영세 자영업 사장님을 위한 채널톡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E2B0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High-Concept Pitch: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"세무사 + 가계부 = 한 앱" 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048695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Unfair Advantage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048695" y="2704795"/>
            <a:ext cx="28575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창업자가 자영업 7년 운영 경험 + 세무사 공동창업자 + 자영업 카페 1만 멤버 운영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1048695" y="4457700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Channels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048695" y="4705502"/>
            <a:ext cx="28575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자영업 네이버 카페 (직접)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인스타·유튜브 사장님 채널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상권 오프라인 미팅 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14287500" y="24579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Customer Segments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4287500" y="2704795"/>
            <a:ext cx="285750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타깃:</a:t>
            </a: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직원 5인 이하 외식·소매 자영업 사장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얼리어답터:</a:t>
            </a: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자영업 카페 활동, 30~40대, 스마트폰 능숙 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1333195" y="6648602"/>
            <a:ext cx="7620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Cost Structure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333195" y="6896405"/>
            <a:ext cx="76206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개발자 2인 인건비 1.4억 / 12개월 · OCR API 사용료 월 50만원 · 마케팅 월 100만원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차 누적: 약 1.85억원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9430207" y="6648602"/>
            <a:ext cx="7620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Revenue Streams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9430207" y="6896405"/>
            <a:ext cx="76206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구독 모델 월 9,900원 · 세무사 매칭 수수료 건당 5만원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차 가설: 유료 사장님 1,500명 × 9,900 = 월 1,485만원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1524305" y="8762695"/>
            <a:ext cx="1581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38" dirty="0">
                <a:solidFill>
                  <a:srgbClr val="E8B5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⚑ 가장 위험한 가설:</a:t>
            </a:r>
            <a:r>
              <a:rPr lang="en-US" sz="1900" b="1" kern="0" spc="38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"사장님이 영수증을 하루 안에 사진 찍어 올리는 행동"이 정말 일어나는가? — MVP로 먼저 검증 </a:t>
            </a:r>
            <a:endParaRPr lang="en-US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52</a:t>
            </a:r>
            <a:endParaRPr lang="en-US" sz="15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143000" y="3143707"/>
            <a:ext cx="8096098" cy="55248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9430207" y="3143707"/>
            <a:ext cx="8096098" cy="55248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1143000" y="3143707"/>
            <a:ext cx="8096098" cy="7589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524305" y="7239305"/>
            <a:ext cx="7429500" cy="761695"/>
          </a:xfrm>
          <a:prstGeom prst="rect">
            <a:avLst/>
          </a:prstGeom>
          <a:solidFill>
            <a:srgbClr val="FD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9430207" y="3143707"/>
            <a:ext cx="8096098" cy="758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9810598" y="7239305"/>
            <a:ext cx="7429500" cy="761695"/>
          </a:xfrm>
          <a:prstGeom prst="rect">
            <a:avLst/>
          </a:prstGeom>
          <a:solidFill>
            <a:srgbClr val="E8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4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Module 03 · MVP</a:t>
            </a:r>
            <a:endParaRPr lang="en-US" sz="16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MVP는 </a:t>
            </a:r>
            <a:r>
              <a:rPr lang="en-US" sz="48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"덜 만든 제품"</a:t>
            </a: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아니다 </a:t>
            </a:r>
            <a:endParaRPr lang="en-US" sz="48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Eric Ries(2011): "Minimum Viable Product =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적은 노력으로 학습을 최대화하는 제품 버전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 </a:t>
            </a:r>
            <a:endParaRPr lang="en-US" sz="2100" dirty="0"/>
          </a:p>
        </p:txBody>
      </p:sp>
      <p:sp>
        <p:nvSpPr>
          <p:cNvPr id="14" name="Text 7"/>
          <p:cNvSpPr txBox="1"/>
          <p:nvPr/>
        </p:nvSpPr>
        <p:spPr>
          <a:xfrm>
            <a:off x="1524305" y="3524098"/>
            <a:ext cx="7429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흔한 오해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1524305" y="3829507"/>
            <a:ext cx="7429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"기능을 줄인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완성도 낮은 제품" </a:t>
            </a:r>
            <a:endParaRPr lang="en-US" sz="3100" dirty="0"/>
          </a:p>
        </p:txBody>
      </p:sp>
      <p:sp>
        <p:nvSpPr>
          <p:cNvPr id="16" name="Text 9"/>
          <p:cNvSpPr txBox="1"/>
          <p:nvPr/>
        </p:nvSpPr>
        <p:spPr>
          <a:xfrm>
            <a:off x="1524305" y="5333695"/>
            <a:ext cx="7429500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바퀴 → 차축 → 차체 → 자동차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 단계가 </a:t>
            </a: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"고객에게 줄 수 없는 미완성"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돈을 받을 수도, 의견을 들을 수도 없다. </a:t>
            </a:r>
            <a:endParaRPr lang="en-US" sz="1900" dirty="0"/>
          </a:p>
        </p:txBody>
      </p:sp>
      <p:sp>
        <p:nvSpPr>
          <p:cNvPr id="17" name="Text 10"/>
          <p:cNvSpPr txBox="1"/>
          <p:nvPr/>
        </p:nvSpPr>
        <p:spPr>
          <a:xfrm>
            <a:off x="1714500" y="7487107"/>
            <a:ext cx="7049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결과: 출시할 때까지 아무도 사용하지 않음</a:t>
            </a:r>
            <a:endParaRPr lang="en-US" sz="1900" dirty="0"/>
          </a:p>
        </p:txBody>
      </p:sp>
      <p:sp>
        <p:nvSpPr>
          <p:cNvPr id="18" name="Text 11"/>
          <p:cNvSpPr txBox="1"/>
          <p:nvPr/>
        </p:nvSpPr>
        <p:spPr>
          <a:xfrm>
            <a:off x="9810598" y="3524098"/>
            <a:ext cx="7429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올바른 정의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9810598" y="3829507"/>
            <a:ext cx="7429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"지금 바로 쓸 수 있는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가장 작은 가치" </a:t>
            </a:r>
            <a:endParaRPr lang="en-US" sz="3100" dirty="0"/>
          </a:p>
        </p:txBody>
      </p:sp>
      <p:sp>
        <p:nvSpPr>
          <p:cNvPr id="20" name="Text 13"/>
          <p:cNvSpPr txBox="1"/>
          <p:nvPr/>
        </p:nvSpPr>
        <p:spPr>
          <a:xfrm>
            <a:off x="9810598" y="5333695"/>
            <a:ext cx="7429500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스케이트보드 → 킥보드 → 자전거 → 자동차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 단계가 </a:t>
            </a: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"이미 이동(=가치)을 만들고 있다"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 단계마다 사용자·피드백·매출이 발생한다. 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10001707" y="7487107"/>
            <a:ext cx="7049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결과: 첫날부터 학습이 시작됨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9001354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Henrik Kniberg, "Making sense of MVP" (2016) · Eric Ries, "The Lean Startup" (2011)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52</a:t>
            </a:r>
            <a:endParaRPr lang="en-US" sz="15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143000" y="3143707"/>
            <a:ext cx="5143500" cy="271485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6572707" y="3143707"/>
            <a:ext cx="5143500" cy="271485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2001500" y="3143707"/>
            <a:ext cx="5143500" cy="271485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3619195" y="6096305"/>
            <a:ext cx="5143500" cy="271485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9048902" y="6096305"/>
            <a:ext cx="5143500" cy="2714854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MVP Types</a:t>
            </a:r>
            <a:endParaRPr lang="en-US" sz="1600" dirty="0"/>
          </a:p>
        </p:txBody>
      </p:sp>
      <p:sp>
        <p:nvSpPr>
          <p:cNvPr id="11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개발 없이도 가능한 </a:t>
            </a:r>
            <a:r>
              <a:rPr lang="en-US" sz="48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5가지 MVP</a:t>
            </a:r>
            <a:endParaRPr lang="en-US" sz="480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"코딩부터 시작"은 가장 비싼 MVP. 더 빨리·더 싸게 가설을 검증하는 5가지 방법.</a:t>
            </a:r>
            <a:endParaRPr lang="en-US" sz="2100" dirty="0"/>
          </a:p>
        </p:txBody>
      </p:sp>
      <p:sp>
        <p:nvSpPr>
          <p:cNvPr id="13" name="Text 5"/>
          <p:cNvSpPr txBox="1"/>
          <p:nvPr/>
        </p:nvSpPr>
        <p:spPr>
          <a:xfrm>
            <a:off x="1524305" y="3429000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000" dirty="0"/>
          </a:p>
        </p:txBody>
      </p:sp>
      <p:sp>
        <p:nvSpPr>
          <p:cNvPr id="14" name="Text 6"/>
          <p:cNvSpPr txBox="1"/>
          <p:nvPr/>
        </p:nvSpPr>
        <p:spPr>
          <a:xfrm>
            <a:off x="1524305" y="4190695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랜딩페이지 MVP</a:t>
            </a:r>
            <a:endParaRPr lang="en-US" sz="2400" dirty="0"/>
          </a:p>
        </p:txBody>
      </p:sp>
      <p:sp>
        <p:nvSpPr>
          <p:cNvPr id="15" name="Text 7"/>
          <p:cNvSpPr txBox="1"/>
          <p:nvPr/>
        </p:nvSpPr>
        <p:spPr>
          <a:xfrm>
            <a:off x="1524305" y="4552798"/>
            <a:ext cx="4381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웹사이트 한 페이지 + 사전예약 폼.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"이메일을 남길 정도로 원하는가" 측정. 노션·웍스·Webflow로 1일 안에 가능. </a:t>
            </a:r>
            <a:endParaRPr lang="en-US" sz="1800" dirty="0"/>
          </a:p>
        </p:txBody>
      </p:sp>
      <p:sp>
        <p:nvSpPr>
          <p:cNvPr id="16" name="Text 8"/>
          <p:cNvSpPr txBox="1"/>
          <p:nvPr/>
        </p:nvSpPr>
        <p:spPr>
          <a:xfrm>
            <a:off x="6953098" y="3429000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Text 9"/>
          <p:cNvSpPr txBox="1"/>
          <p:nvPr/>
        </p:nvSpPr>
        <p:spPr>
          <a:xfrm>
            <a:off x="6953098" y="4190695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설명영상 MVP (Explainer)</a:t>
            </a:r>
            <a:endParaRPr lang="en-US" sz="2400" dirty="0"/>
          </a:p>
        </p:txBody>
      </p:sp>
      <p:sp>
        <p:nvSpPr>
          <p:cNvPr id="18" name="Text 10"/>
          <p:cNvSpPr txBox="1"/>
          <p:nvPr/>
        </p:nvSpPr>
        <p:spPr>
          <a:xfrm>
            <a:off x="6953098" y="4552798"/>
            <a:ext cx="4381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사용 흐름을 90초 영상으로 보여준다. Dropbox 초기 사례. 영상만 보고 가입할 사람을 찾는다.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12382805" y="3429000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2"/>
          <p:cNvSpPr txBox="1"/>
          <p:nvPr/>
        </p:nvSpPr>
        <p:spPr>
          <a:xfrm>
            <a:off x="12382805" y="4190695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컨시어지 MVP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12382805" y="4552798"/>
            <a:ext cx="4381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대신 "사람이 직접" 서비스를 제공한다. 자동화 전, 진짜 가치 흐름을 손으로 검증.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4000500" y="6381598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000" dirty="0"/>
          </a:p>
        </p:txBody>
      </p:sp>
      <p:sp>
        <p:nvSpPr>
          <p:cNvPr id="23" name="Text 15"/>
          <p:cNvSpPr txBox="1"/>
          <p:nvPr/>
        </p:nvSpPr>
        <p:spPr>
          <a:xfrm>
            <a:off x="4000500" y="7144207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오즈의 마법사 MVP</a:t>
            </a:r>
            <a:endParaRPr lang="en-US" sz="2400" dirty="0"/>
          </a:p>
        </p:txBody>
      </p:sp>
      <p:sp>
        <p:nvSpPr>
          <p:cNvPr id="24" name="Text 16"/>
          <p:cNvSpPr txBox="1"/>
          <p:nvPr/>
        </p:nvSpPr>
        <p:spPr>
          <a:xfrm>
            <a:off x="4000500" y="7505395"/>
            <a:ext cx="4381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UI는 자동처럼 보이지만, 뒤에서는 사람이 수동 처리. Zappos 초기, 동네 매장에서 신발 직배송.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9430207" y="6381598"/>
            <a:ext cx="762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4000" dirty="0"/>
          </a:p>
        </p:txBody>
      </p:sp>
      <p:sp>
        <p:nvSpPr>
          <p:cNvPr id="26" name="Text 18"/>
          <p:cNvSpPr txBox="1"/>
          <p:nvPr/>
        </p:nvSpPr>
        <p:spPr>
          <a:xfrm>
            <a:off x="9430207" y="7144207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크라우드펀딩 MVP</a:t>
            </a:r>
            <a:endParaRPr lang="en-US" sz="2400" dirty="0"/>
          </a:p>
        </p:txBody>
      </p:sp>
      <p:sp>
        <p:nvSpPr>
          <p:cNvPr id="27" name="Text 19"/>
          <p:cNvSpPr txBox="1"/>
          <p:nvPr/>
        </p:nvSpPr>
        <p:spPr>
          <a:xfrm>
            <a:off x="9430207" y="7505395"/>
            <a:ext cx="4381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텀블벅·와디즈에 제품 콘셉트 등록 → "선결제"라는 가장 강한 신호로 수요 검증.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1143000" y="9001354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Eric Ries (2011) / Steve Blank · The Customer Development Manifesto / 와디즈·텀블벅 운영 사례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52</a:t>
            </a:r>
            <a:endParaRPr lang="en-US" sz="15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1143000" y="3238805"/>
            <a:ext cx="3619195" cy="520110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9" b="-9"/>
          <a:stretch/>
        </p:blipFill>
        <p:spPr>
          <a:xfrm>
            <a:off x="5143500" y="3238805"/>
            <a:ext cx="3619195" cy="520110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9144000" y="3238805"/>
            <a:ext cx="3619195" cy="5201107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3144500" y="3238805"/>
            <a:ext cx="4190695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524305" y="5238598"/>
            <a:ext cx="571500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rcRect l="-2083" r="-2083"/>
          <a:stretch/>
        </p:blipFill>
        <p:spPr>
          <a:xfrm>
            <a:off x="5524805" y="5238598"/>
            <a:ext cx="571500" cy="91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9525305" y="5238598"/>
            <a:ext cx="571500" cy="9144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3525805" y="5715000"/>
            <a:ext cx="571500" cy="9144"/>
          </a:xfrm>
          <a:prstGeom prst="rect">
            <a:avLst/>
          </a:prstGeom>
        </p:spPr>
      </p:pic>
      <p:sp>
        <p:nvSpPr>
          <p:cNvPr id="13" name="Text 3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Build–Measure–Learn</a:t>
            </a:r>
            <a:endParaRPr lang="en-US" sz="1600" dirty="0"/>
          </a:p>
        </p:txBody>
      </p:sp>
      <p:sp>
        <p:nvSpPr>
          <p:cNvPr id="14" name="Text 4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가설검증 </a:t>
            </a:r>
            <a:r>
              <a:rPr lang="en-US" sz="48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사이클</a:t>
            </a:r>
            <a:endParaRPr lang="en-US" sz="4800" dirty="0"/>
          </a:p>
        </p:txBody>
      </p:sp>
      <p:sp>
        <p:nvSpPr>
          <p:cNvPr id="15" name="Text 5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사이클을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안에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도는 것이 핵심. 사이클이 길어질수록 학습 비용은 기하급수로 증가합니다. </a:t>
            </a:r>
            <a:endParaRPr lang="en-US" sz="2100" dirty="0"/>
          </a:p>
        </p:txBody>
      </p:sp>
      <p:sp>
        <p:nvSpPr>
          <p:cNvPr id="16" name="Text 6"/>
          <p:cNvSpPr txBox="1"/>
          <p:nvPr/>
        </p:nvSpPr>
        <p:spPr>
          <a:xfrm>
            <a:off x="1524305" y="3619195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 · Day 1</a:t>
            </a:r>
            <a:endParaRPr lang="en-US" sz="1600" dirty="0"/>
          </a:p>
        </p:txBody>
      </p:sp>
      <p:sp>
        <p:nvSpPr>
          <p:cNvPr id="17" name="Text 7"/>
          <p:cNvSpPr txBox="1"/>
          <p:nvPr/>
        </p:nvSpPr>
        <p:spPr>
          <a:xfrm>
            <a:off x="1524305" y="3924605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가설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(Hypothesis) </a:t>
            </a:r>
            <a:endParaRPr lang="en-US" sz="3100" dirty="0"/>
          </a:p>
        </p:txBody>
      </p:sp>
      <p:sp>
        <p:nvSpPr>
          <p:cNvPr id="18" name="Text 8"/>
          <p:cNvSpPr txBox="1"/>
          <p:nvPr/>
        </p:nvSpPr>
        <p:spPr>
          <a:xfrm>
            <a:off x="1524305" y="5524805"/>
            <a:ext cx="2857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"[누구]가 [이 가치]를 [이 가격에] 살 것이다"</a:t>
            </a:r>
            <a:endParaRPr lang="en-US" sz="1900" dirty="0"/>
          </a:p>
        </p:txBody>
      </p:sp>
      <p:sp>
        <p:nvSpPr>
          <p:cNvPr id="19" name="Text 9"/>
          <p:cNvSpPr txBox="1"/>
          <p:nvPr/>
        </p:nvSpPr>
        <p:spPr>
          <a:xfrm>
            <a:off x="1524305" y="6476695"/>
            <a:ext cx="285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검증할 한 가지를 </a:t>
            </a: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가능한 문장</a:t>
            </a: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으로. "고객의 30%가 영수증을 매일 1번 이상 올린다." </a:t>
            </a:r>
            <a:endParaRPr lang="en-US" sz="1800" dirty="0"/>
          </a:p>
        </p:txBody>
      </p:sp>
      <p:sp>
        <p:nvSpPr>
          <p:cNvPr id="20" name="Text 10"/>
          <p:cNvSpPr txBox="1"/>
          <p:nvPr/>
        </p:nvSpPr>
        <p:spPr>
          <a:xfrm>
            <a:off x="5524805" y="3619195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 · Day 2~5</a:t>
            </a:r>
            <a:endParaRPr lang="en-US" sz="1600" dirty="0"/>
          </a:p>
        </p:txBody>
      </p:sp>
      <p:sp>
        <p:nvSpPr>
          <p:cNvPr id="21" name="Text 11"/>
          <p:cNvSpPr txBox="1"/>
          <p:nvPr/>
        </p:nvSpPr>
        <p:spPr>
          <a:xfrm>
            <a:off x="5524805" y="3924605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실험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(Build) </a:t>
            </a:r>
            <a:endParaRPr lang="en-US" sz="3100" dirty="0"/>
          </a:p>
        </p:txBody>
      </p:sp>
      <p:sp>
        <p:nvSpPr>
          <p:cNvPr id="22" name="Text 12"/>
          <p:cNvSpPr txBox="1"/>
          <p:nvPr/>
        </p:nvSpPr>
        <p:spPr>
          <a:xfrm>
            <a:off x="5524805" y="5524805"/>
            <a:ext cx="2857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가벼운 MVP 1개 만들기</a:t>
            </a:r>
            <a:endParaRPr lang="en-US" sz="1900" dirty="0"/>
          </a:p>
        </p:txBody>
      </p:sp>
      <p:sp>
        <p:nvSpPr>
          <p:cNvPr id="23" name="Text 13"/>
          <p:cNvSpPr txBox="1"/>
          <p:nvPr/>
        </p:nvSpPr>
        <p:spPr>
          <a:xfrm>
            <a:off x="5524805" y="6476695"/>
            <a:ext cx="28575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랜딩·영상·컨시어지 중 하나. </a:t>
            </a: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"3일 이내 끝"</a:t>
            </a: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원칙. 못 끝낸다면 더 작게 쪼갠다. </a:t>
            </a:r>
            <a:endParaRPr lang="en-US" sz="1800" dirty="0"/>
          </a:p>
        </p:txBody>
      </p:sp>
      <p:sp>
        <p:nvSpPr>
          <p:cNvPr id="24" name="Text 14"/>
          <p:cNvSpPr txBox="1"/>
          <p:nvPr/>
        </p:nvSpPr>
        <p:spPr>
          <a:xfrm>
            <a:off x="9525305" y="3619195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 · Day 6~10</a:t>
            </a:r>
            <a:endParaRPr lang="en-US" sz="1600" dirty="0"/>
          </a:p>
        </p:txBody>
      </p:sp>
      <p:sp>
        <p:nvSpPr>
          <p:cNvPr id="25" name="Text 15"/>
          <p:cNvSpPr txBox="1"/>
          <p:nvPr/>
        </p:nvSpPr>
        <p:spPr>
          <a:xfrm>
            <a:off x="9525305" y="3924605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측정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(Measure) </a:t>
            </a:r>
            <a:endParaRPr lang="en-US" sz="3100" dirty="0"/>
          </a:p>
        </p:txBody>
      </p:sp>
      <p:sp>
        <p:nvSpPr>
          <p:cNvPr id="26" name="Text 16"/>
          <p:cNvSpPr txBox="1"/>
          <p:nvPr/>
        </p:nvSpPr>
        <p:spPr>
          <a:xfrm>
            <a:off x="9525305" y="5524805"/>
            <a:ext cx="2857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+ 인터뷰 5명</a:t>
            </a:r>
            <a:endParaRPr lang="en-US" sz="1900" dirty="0"/>
          </a:p>
        </p:txBody>
      </p:sp>
      <p:sp>
        <p:nvSpPr>
          <p:cNvPr id="27" name="Text 17"/>
          <p:cNvSpPr txBox="1"/>
          <p:nvPr/>
        </p:nvSpPr>
        <p:spPr>
          <a:xfrm>
            <a:off x="9525305" y="6476695"/>
            <a:ext cx="28575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클릭률·전환율·체류시간 같은 </a:t>
            </a: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지표</a:t>
            </a: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함께, "왜 이렇게 행동했는지"를 사용자 인터뷰로 보완. </a:t>
            </a:r>
            <a:endParaRPr lang="en-US" sz="1800" dirty="0"/>
          </a:p>
        </p:txBody>
      </p:sp>
      <p:sp>
        <p:nvSpPr>
          <p:cNvPr id="28" name="Text 18"/>
          <p:cNvSpPr txBox="1"/>
          <p:nvPr/>
        </p:nvSpPr>
        <p:spPr>
          <a:xfrm>
            <a:off x="13525805" y="3619195"/>
            <a:ext cx="3429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 · Day 11~14</a:t>
            </a:r>
            <a:endParaRPr lang="en-US" sz="1600" dirty="0"/>
          </a:p>
        </p:txBody>
      </p:sp>
      <p:sp>
        <p:nvSpPr>
          <p:cNvPr id="29" name="Text 19"/>
          <p:cNvSpPr txBox="1"/>
          <p:nvPr/>
        </p:nvSpPr>
        <p:spPr>
          <a:xfrm>
            <a:off x="13525805" y="3924605"/>
            <a:ext cx="34290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결정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(Pivot or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Persevere) </a:t>
            </a:r>
            <a:endParaRPr lang="en-US" sz="3100" dirty="0"/>
          </a:p>
        </p:txBody>
      </p:sp>
      <p:sp>
        <p:nvSpPr>
          <p:cNvPr id="30" name="Text 20"/>
          <p:cNvSpPr txBox="1"/>
          <p:nvPr/>
        </p:nvSpPr>
        <p:spPr>
          <a:xfrm>
            <a:off x="13525805" y="6001207"/>
            <a:ext cx="446410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2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유지 / 가설 수정 / 방향 전환</a:t>
            </a:r>
            <a:endParaRPr lang="en-US" sz="1900" dirty="0"/>
          </a:p>
        </p:txBody>
      </p:sp>
      <p:sp>
        <p:nvSpPr>
          <p:cNvPr id="31" name="Text 21"/>
          <p:cNvSpPr txBox="1"/>
          <p:nvPr/>
        </p:nvSpPr>
        <p:spPr>
          <a:xfrm>
            <a:off x="13525805" y="6953098"/>
            <a:ext cx="3429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"그냥 더 해보자"는 금지. </a:t>
            </a:r>
            <a:r>
              <a:rPr lang="en-US" sz="1800" b="1" dirty="0">
                <a:solidFill>
                  <a:srgbClr val="FFE2B0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사전에 정한 합격선</a:t>
            </a: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기준으로 결정. 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1143000" y="8906256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 출처: Eric Ries, "The Lean Startup" — Build-Measure-Learn loop (2011)</a:t>
            </a:r>
            <a:endParaRPr lang="en-US" sz="1500" dirty="0"/>
          </a:p>
        </p:txBody>
      </p:sp>
      <p:sp>
        <p:nvSpPr>
          <p:cNvPr id="33" name="Text 23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52</a:t>
            </a:r>
            <a:endParaRPr lang="en-US" sz="15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249802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143707"/>
            <a:ext cx="57607" cy="11430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4381805"/>
            <a:ext cx="16249802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4381805"/>
            <a:ext cx="57607" cy="11430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5619902"/>
            <a:ext cx="16249802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5619902"/>
            <a:ext cx="57607" cy="11430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6858000"/>
            <a:ext cx="16249802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6858000"/>
            <a:ext cx="57607" cy="11430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8096098"/>
            <a:ext cx="16249802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8096098"/>
            <a:ext cx="57607" cy="1143000"/>
          </a:xfrm>
          <a:prstGeom prst="rect">
            <a:avLst/>
          </a:prstGeom>
          <a:solidFill>
            <a:srgbClr val="2D7D5F"/>
          </a:solidFill>
          <a:ln w="12700">
            <a:solidFill>
              <a:srgbClr val="2D7D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Module 04 · PMF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PMF가 왔다는 </a:t>
            </a:r>
            <a:r>
              <a:rPr lang="en-US" sz="48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5가지 신호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 Andreessen: "PMF는 느낄 수 있다 — 모든 게 갑자기 작동하기 시작한다." 객관 신호로 정리하면 다음과 같습니다.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3381451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2667305" y="3448202"/>
            <a:ext cx="95253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Sean Ellis Test 40% 이상</a:t>
            </a:r>
            <a:endParaRPr lang="en-US" sz="2500" dirty="0"/>
          </a:p>
        </p:txBody>
      </p:sp>
      <p:sp>
        <p:nvSpPr>
          <p:cNvPr id="20" name="Text 17"/>
          <p:cNvSpPr txBox="1"/>
          <p:nvPr/>
        </p:nvSpPr>
        <p:spPr>
          <a:xfrm>
            <a:off x="2667305" y="3829507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제품 없으면 매우 실망"이라 답한 사용자 비율 ≥ 40%. PMF의 가장 잘 알려진 정량 기준.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524305" y="4619549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2667305" y="4686300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리텐션 곡선의 평탄화 (Smile Curve)</a:t>
            </a:r>
            <a:endParaRPr lang="en-US" sz="2500" dirty="0"/>
          </a:p>
        </p:txBody>
      </p:sp>
      <p:sp>
        <p:nvSpPr>
          <p:cNvPr id="23" name="Text 20"/>
          <p:cNvSpPr txBox="1"/>
          <p:nvPr/>
        </p:nvSpPr>
        <p:spPr>
          <a:xfrm>
            <a:off x="2667305" y="5067605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Day7·Day30 잔존율이 떨어지지 않고 일정 비율 이상에서 평탄해진다 = 핵심 사용자 발견.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524305" y="5857646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2667305" y="5924398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유기적 입소문 (Organic Word-of-Mouth)</a:t>
            </a:r>
            <a:endParaRPr lang="en-US" sz="2500" dirty="0"/>
          </a:p>
        </p:txBody>
      </p:sp>
      <p:sp>
        <p:nvSpPr>
          <p:cNvPr id="26" name="Text 23"/>
          <p:cNvSpPr txBox="1"/>
          <p:nvPr/>
        </p:nvSpPr>
        <p:spPr>
          <a:xfrm>
            <a:off x="2667305" y="6305702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없이도 신규 가입의 30% 이상이 추천·검색·소셜에서 유입. NPS·재방문이 함께 따라온다.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5" y="7095744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2667305" y="7162495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"팔지 말라" 한다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2667305" y="7543800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"이거 없어지면 안 되는데" 메시지가 자발적으로 들어온다. 가격을 올려도 이탈이 적다.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524305" y="8334756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4000" dirty="0"/>
          </a:p>
        </p:txBody>
      </p:sp>
      <p:sp>
        <p:nvSpPr>
          <p:cNvPr id="31" name="Text 28"/>
          <p:cNvSpPr txBox="1"/>
          <p:nvPr/>
        </p:nvSpPr>
        <p:spPr>
          <a:xfrm>
            <a:off x="2667305" y="8401507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LTV / CAC ≥ 3</a:t>
            </a:r>
            <a:endParaRPr lang="en-US" sz="2500" dirty="0"/>
          </a:p>
        </p:txBody>
      </p:sp>
      <p:sp>
        <p:nvSpPr>
          <p:cNvPr id="32" name="Text 29"/>
          <p:cNvSpPr txBox="1"/>
          <p:nvPr/>
        </p:nvSpPr>
        <p:spPr>
          <a:xfrm>
            <a:off x="2667305" y="8781898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1명 평생가치(LTV) ≥ 획득비용(CAC)의 3배. 이 비율이 1 미만이면 팔수록 손해.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52</a:t>
            </a:r>
            <a:endParaRPr lang="en-US" sz="15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143000" y="3143707"/>
            <a:ext cx="16192195" cy="55248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3143707"/>
            <a:ext cx="16192195" cy="666598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4934102"/>
            <a:ext cx="156206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5962802"/>
            <a:ext cx="15620695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6991502"/>
            <a:ext cx="15620695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8020202"/>
            <a:ext cx="15620695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 · Korean Funding Programs</a:t>
            </a:r>
            <a:endParaRPr lang="en-US" sz="160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952805"/>
            <a:ext cx="1428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이 단계엔 </a:t>
            </a:r>
            <a:r>
              <a:rPr lang="en-US" sz="45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지원사업</a:t>
            </a: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노리세요 </a:t>
            </a:r>
            <a:endParaRPr lang="en-US" sz="4500" dirty="0"/>
          </a:p>
        </p:txBody>
      </p:sp>
      <p:sp>
        <p:nvSpPr>
          <p:cNvPr id="13" name="Text 5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K-Startup 종합포털·중기부·중진공의 핵심 트랙. 단계가 안 맞는 사업에 신청하면 시간 낭비입니다.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524305" y="3353105"/>
            <a:ext cx="2667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</a:t>
            </a:r>
            <a:endParaRPr lang="en-US" sz="1600" dirty="0"/>
          </a:p>
        </p:txBody>
      </p:sp>
      <p:sp>
        <p:nvSpPr>
          <p:cNvPr id="15" name="Text 7"/>
          <p:cNvSpPr txBox="1"/>
          <p:nvPr/>
        </p:nvSpPr>
        <p:spPr>
          <a:xfrm>
            <a:off x="4572000" y="33531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단계</a:t>
            </a:r>
            <a:endParaRPr lang="en-US" sz="1600" dirty="0"/>
          </a:p>
        </p:txBody>
      </p:sp>
      <p:sp>
        <p:nvSpPr>
          <p:cNvPr id="16" name="Text 8"/>
          <p:cNvSpPr txBox="1"/>
          <p:nvPr/>
        </p:nvSpPr>
        <p:spPr>
          <a:xfrm>
            <a:off x="6858000" y="3353105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규모</a:t>
            </a:r>
            <a:endParaRPr lang="en-US" sz="1600" dirty="0"/>
          </a:p>
        </p:txBody>
      </p:sp>
      <p:sp>
        <p:nvSpPr>
          <p:cNvPr id="17" name="Text 9"/>
          <p:cNvSpPr txBox="1"/>
          <p:nvPr/>
        </p:nvSpPr>
        <p:spPr>
          <a:xfrm>
            <a:off x="9525305" y="3353105"/>
            <a:ext cx="2667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자격</a:t>
            </a:r>
            <a:endParaRPr lang="en-US" sz="1600" dirty="0"/>
          </a:p>
        </p:txBody>
      </p:sp>
      <p:sp>
        <p:nvSpPr>
          <p:cNvPr id="18" name="Text 10"/>
          <p:cNvSpPr txBox="1"/>
          <p:nvPr/>
        </p:nvSpPr>
        <p:spPr>
          <a:xfrm>
            <a:off x="12573000" y="3353105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포인트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1524305" y="4095598"/>
            <a:ext cx="2857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예비창업패키지</a:t>
            </a:r>
            <a:endParaRPr lang="en-US" sz="2100" dirty="0"/>
          </a:p>
        </p:txBody>
      </p:sp>
      <p:sp>
        <p:nvSpPr>
          <p:cNvPr id="20" name="Text 12"/>
          <p:cNvSpPr txBox="1"/>
          <p:nvPr/>
        </p:nvSpPr>
        <p:spPr>
          <a:xfrm>
            <a:off x="1524305" y="4401007"/>
            <a:ext cx="285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중기부 · 창진원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0" y="4095598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예비창업</a:t>
            </a:r>
            <a:endParaRPr lang="en-US" sz="1900" dirty="0"/>
          </a:p>
        </p:txBody>
      </p:sp>
      <p:sp>
        <p:nvSpPr>
          <p:cNvPr id="22" name="Text 14"/>
          <p:cNvSpPr txBox="1"/>
          <p:nvPr/>
        </p:nvSpPr>
        <p:spPr>
          <a:xfrm>
            <a:off x="6858000" y="4095598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1억원</a:t>
            </a:r>
            <a:endParaRPr lang="en-US" sz="1900" dirty="0"/>
          </a:p>
        </p:txBody>
      </p:sp>
      <p:sp>
        <p:nvSpPr>
          <p:cNvPr id="23" name="Text 15"/>
          <p:cNvSpPr txBox="1"/>
          <p:nvPr/>
        </p:nvSpPr>
        <p:spPr>
          <a:xfrm>
            <a:off x="6858000" y="4401007"/>
            <a:ext cx="2286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50백만 내외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9525305" y="4095598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사업자등록 이력 無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폐업 후 재도전 가능 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12573000" y="4095598"/>
            <a:ext cx="56226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사업화 자금 + 멘토링 + 교육. </a:t>
            </a:r>
            <a:r>
              <a:rPr lang="en-US" sz="18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진입 1순위</a:t>
            </a: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524305" y="5143500"/>
            <a:ext cx="2857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</a:t>
            </a:r>
            <a:endParaRPr lang="en-US" sz="2100" dirty="0"/>
          </a:p>
        </p:txBody>
      </p:sp>
      <p:sp>
        <p:nvSpPr>
          <p:cNvPr id="27" name="Text 19"/>
          <p:cNvSpPr txBox="1"/>
          <p:nvPr/>
        </p:nvSpPr>
        <p:spPr>
          <a:xfrm>
            <a:off x="1524305" y="5447995"/>
            <a:ext cx="285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중기부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0" y="5143500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3년 이내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6858000" y="5143500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1억원</a:t>
            </a:r>
            <a:endParaRPr lang="en-US" sz="1900" dirty="0"/>
          </a:p>
        </p:txBody>
      </p:sp>
      <p:sp>
        <p:nvSpPr>
          <p:cNvPr id="30" name="Text 22"/>
          <p:cNvSpPr txBox="1"/>
          <p:nvPr/>
        </p:nvSpPr>
        <p:spPr>
          <a:xfrm>
            <a:off x="9525305" y="5143500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3년 이내 (예비 졸업 후 트랙)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12573000" y="5143500"/>
            <a:ext cx="5128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PMF 검증 단계 자금 보강용. 매출 실적 가점.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1524305" y="6172200"/>
            <a:ext cx="2857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TIPS</a:t>
            </a:r>
            <a:endParaRPr lang="en-US" sz="2100" dirty="0"/>
          </a:p>
        </p:txBody>
      </p:sp>
      <p:sp>
        <p:nvSpPr>
          <p:cNvPr id="33" name="Text 25"/>
          <p:cNvSpPr txBox="1"/>
          <p:nvPr/>
        </p:nvSpPr>
        <p:spPr>
          <a:xfrm>
            <a:off x="1524305" y="6476695"/>
            <a:ext cx="285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민간투자주도 R&amp;D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0" y="6172200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(Pre-A)</a:t>
            </a:r>
            <a:endParaRPr lang="en-US" sz="19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0" y="6172200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5억원(2025)</a:t>
            </a:r>
            <a:endParaRPr lang="en-US" sz="1900" dirty="0"/>
          </a:p>
        </p:txBody>
      </p:sp>
      <p:sp>
        <p:nvSpPr>
          <p:cNvPr id="36" name="Text 28"/>
          <p:cNvSpPr txBox="1"/>
          <p:nvPr/>
        </p:nvSpPr>
        <p:spPr>
          <a:xfrm>
            <a:off x="6858000" y="6476695"/>
            <a:ext cx="2286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R&amp;D + 사업화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9525305" y="6172200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TIPS 운영사 추천 + 1억 이상 민간투자 유치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12573000" y="6172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"운영사 컨택"이 신청보다 먼저. 액셀과 동시에 노린다.</a:t>
            </a:r>
            <a:endParaRPr lang="en-US" sz="1800" dirty="0"/>
          </a:p>
        </p:txBody>
      </p:sp>
      <p:sp>
        <p:nvSpPr>
          <p:cNvPr id="39" name="Text 31"/>
          <p:cNvSpPr txBox="1"/>
          <p:nvPr/>
        </p:nvSpPr>
        <p:spPr>
          <a:xfrm>
            <a:off x="1524305" y="7200900"/>
            <a:ext cx="2857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창업도약패키지</a:t>
            </a:r>
            <a:endParaRPr lang="en-US" sz="2100" dirty="0"/>
          </a:p>
        </p:txBody>
      </p:sp>
      <p:sp>
        <p:nvSpPr>
          <p:cNvPr id="40" name="Text 32"/>
          <p:cNvSpPr txBox="1"/>
          <p:nvPr/>
        </p:nvSpPr>
        <p:spPr>
          <a:xfrm>
            <a:off x="1524305" y="7505395"/>
            <a:ext cx="285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중기부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4572000" y="7200900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3~7년</a:t>
            </a:r>
            <a:endParaRPr lang="en-US" sz="1900" dirty="0"/>
          </a:p>
        </p:txBody>
      </p:sp>
      <p:sp>
        <p:nvSpPr>
          <p:cNvPr id="42" name="Text 34"/>
          <p:cNvSpPr txBox="1"/>
          <p:nvPr/>
        </p:nvSpPr>
        <p:spPr>
          <a:xfrm>
            <a:off x="6858000" y="7200900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3억원</a:t>
            </a:r>
            <a:endParaRPr lang="en-US" sz="1900" dirty="0"/>
          </a:p>
        </p:txBody>
      </p:sp>
      <p:sp>
        <p:nvSpPr>
          <p:cNvPr id="43" name="Text 35"/>
          <p:cNvSpPr txBox="1"/>
          <p:nvPr/>
        </p:nvSpPr>
        <p:spPr>
          <a:xfrm>
            <a:off x="9525305" y="7200900"/>
            <a:ext cx="2667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3~7년 + 매출 발생</a:t>
            </a:r>
            <a:endParaRPr lang="en-US" sz="1800" dirty="0"/>
          </a:p>
        </p:txBody>
      </p:sp>
      <p:sp>
        <p:nvSpPr>
          <p:cNvPr id="44" name="Text 36"/>
          <p:cNvSpPr txBox="1"/>
          <p:nvPr/>
        </p:nvSpPr>
        <p:spPr>
          <a:xfrm>
            <a:off x="12573000" y="7200900"/>
            <a:ext cx="55129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데스밸리 통과용. 매출 + 시장 확장 계획이 핵심.</a:t>
            </a:r>
            <a:endParaRPr lang="en-US" sz="1800" dirty="0"/>
          </a:p>
        </p:txBody>
      </p:sp>
      <p:sp>
        <p:nvSpPr>
          <p:cNvPr id="45" name="Text 37"/>
          <p:cNvSpPr txBox="1"/>
          <p:nvPr/>
        </p:nvSpPr>
        <p:spPr>
          <a:xfrm>
            <a:off x="1524305" y="8229600"/>
            <a:ext cx="2857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재도전 성공패키지</a:t>
            </a:r>
            <a:endParaRPr lang="en-US" sz="2100" dirty="0"/>
          </a:p>
        </p:txBody>
      </p:sp>
      <p:sp>
        <p:nvSpPr>
          <p:cNvPr id="46" name="Text 38"/>
          <p:cNvSpPr txBox="1"/>
          <p:nvPr/>
        </p:nvSpPr>
        <p:spPr>
          <a:xfrm>
            <a:off x="1524305" y="8534095"/>
            <a:ext cx="285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중기부·창진원</a:t>
            </a:r>
            <a:endParaRPr lang="en-US" sz="1600" dirty="0"/>
          </a:p>
        </p:txBody>
      </p:sp>
      <p:sp>
        <p:nvSpPr>
          <p:cNvPr id="47" name="Text 39"/>
          <p:cNvSpPr txBox="1"/>
          <p:nvPr/>
        </p:nvSpPr>
        <p:spPr>
          <a:xfrm>
            <a:off x="4572000" y="8229600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재도약</a:t>
            </a:r>
            <a:endParaRPr lang="en-US" sz="1900" dirty="0"/>
          </a:p>
        </p:txBody>
      </p:sp>
      <p:sp>
        <p:nvSpPr>
          <p:cNvPr id="48" name="Text 40"/>
          <p:cNvSpPr txBox="1"/>
          <p:nvPr/>
        </p:nvSpPr>
        <p:spPr>
          <a:xfrm>
            <a:off x="6858000" y="8229600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1억원</a:t>
            </a:r>
            <a:endParaRPr lang="en-US" sz="1900" dirty="0"/>
          </a:p>
        </p:txBody>
      </p:sp>
      <p:sp>
        <p:nvSpPr>
          <p:cNvPr id="49" name="Text 41"/>
          <p:cNvSpPr txBox="1"/>
          <p:nvPr/>
        </p:nvSpPr>
        <p:spPr>
          <a:xfrm>
            <a:off x="9525305" y="8229600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예비재창업자 또는 재창업 7년 이내</a:t>
            </a:r>
            <a:endParaRPr lang="en-US" sz="1800" dirty="0"/>
          </a:p>
        </p:txBody>
      </p:sp>
      <p:sp>
        <p:nvSpPr>
          <p:cNvPr id="50" name="Text 42"/>
          <p:cNvSpPr txBox="1"/>
          <p:nvPr/>
        </p:nvSpPr>
        <p:spPr>
          <a:xfrm>
            <a:off x="12573000" y="8229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회고 → 학습 증명이 신청서의 핵심.</a:t>
            </a:r>
            <a:endParaRPr lang="en-US" sz="1800" dirty="0"/>
          </a:p>
        </p:txBody>
      </p:sp>
      <p:sp>
        <p:nvSpPr>
          <p:cNvPr id="51" name="Text 43"/>
          <p:cNvSpPr txBox="1"/>
          <p:nvPr/>
        </p:nvSpPr>
        <p:spPr>
          <a:xfrm>
            <a:off x="1143000" y="8906256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K-Startup 종합포털 / 중소벤처기업부 / 중소벤처기업진흥공단 — 매년 공고문 기준 변경, 신청 전 최신 공고 확인 필수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52</a:t>
            </a:r>
            <a:endParaRPr lang="en-US" sz="1500" dirty="0"/>
          </a:p>
        </p:txBody>
      </p:sp>
      <p:sp>
        <p:nvSpPr>
          <p:cNvPr id="5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00" cy="10287000"/>
          </a:xfrm>
          <a:prstGeom prst="rect">
            <a:avLst/>
          </a:prstGeom>
          <a:solidFill>
            <a:srgbClr val="E8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143500" y="1143000"/>
            <a:ext cx="12382805" cy="8001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24805" y="2476195"/>
            <a:ext cx="5734202" cy="3066898"/>
          </a:xfrm>
          <a:prstGeom prst="rect">
            <a:avLst/>
          </a:prstGeom>
          <a:noFill/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0" y="2476195"/>
            <a:ext cx="5734202" cy="3066898"/>
          </a:xfrm>
          <a:prstGeom prst="rect">
            <a:avLst/>
          </a:prstGeom>
          <a:noFill/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524805" y="5715000"/>
            <a:ext cx="5734202" cy="3066898"/>
          </a:xfrm>
          <a:prstGeom prst="rect">
            <a:avLst/>
          </a:prstGeom>
          <a:noFill/>
          <a:ln w="12700">
            <a:solidFill>
              <a:srgbClr val="DDD5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0" y="5715000"/>
            <a:ext cx="5753405" cy="3086100"/>
          </a:xfrm>
          <a:prstGeom prst="rect">
            <a:avLst/>
          </a:prstGeom>
          <a:solidFill>
            <a:srgbClr val="FDF1E8"/>
          </a:solidFill>
          <a:ln w="25400">
            <a:solidFill>
              <a:srgbClr val="E85D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61695" y="1143000"/>
            <a:ext cx="571500" cy="283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1695" y="1333195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· 30 min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1904695"/>
            <a:ext cx="36201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워크시트 #2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5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린 캔버스</a:t>
            </a: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작성 </a:t>
            </a:r>
            <a:endParaRPr lang="en-US" sz="45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4572000"/>
            <a:ext cx="3238805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개인 작성 22분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가설 1개 발표 8분.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완벽보다 구체적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적는 것이 중요합니다. 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61695" y="87626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52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524805" y="1524305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 Lean Canvas — 4핵심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524805" y="1790395"/>
            <a:ext cx="116211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"전체 9블록은 못 채워도, 이 4가지는 반드시"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66730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Problem · 문제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0" y="2933395"/>
            <a:ext cx="5334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고객이 가장 자주 불평하는 3가지는?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5715000" y="3429000"/>
            <a:ext cx="5334610" cy="175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1. ____________________________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2. ____________________________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3. ____________________________ 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11620195" y="266730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Customer · 첫 100명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1620195" y="2933395"/>
            <a:ext cx="5334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 한 명을 묘사 (이름·하루·상황)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11620195" y="3429000"/>
            <a:ext cx="533461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이름: ______________________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나이/직업: __________________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하루의 한 장면: ______________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가장 큰 고민: ________________ 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0" y="590519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UVP · 한 문장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715000" y="6172200"/>
            <a:ext cx="5334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고객을 위한 "X for Y" 한 문장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6667805"/>
            <a:ext cx="5334610" cy="186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예: "자영업자를 위한 채널톡"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 답: ________________________________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___________________________________ 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11620195" y="590519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⚑ 가장 위험한 가설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1620195" y="6172200"/>
            <a:ext cx="5334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틀리면 사업이 안 된다 — 1개만!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11620195" y="6667805"/>
            <a:ext cx="5334610" cy="186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"[ 가설 ]이 사실이 아니라면, 이 사업은 작동하지 않는다."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 답: ________________________________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 방법(MVP 유형): ________________ </a:t>
            </a:r>
            <a:endParaRPr lang="en-US" sz="17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0287000" y="0"/>
            <a:ext cx="8456371" cy="742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0" b="1" kern="0" spc="-1875" dirty="0">
                <a:solidFill>
                  <a:srgbClr val="2D7D5F">
                    <a:alpha val="16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5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4572000"/>
            <a:ext cx="16192195" cy="914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6191402"/>
            <a:ext cx="16192195" cy="914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7810805"/>
            <a:ext cx="161921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152430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 2 · Recap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286000"/>
            <a:ext cx="123828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2교시 핵심 3가지</a:t>
            </a:r>
            <a:endParaRPr lang="en-US" sz="72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4953305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500" dirty="0"/>
          </a:p>
        </p:txBody>
      </p:sp>
      <p:sp>
        <p:nvSpPr>
          <p:cNvPr id="12" name="Text 6"/>
          <p:cNvSpPr txBox="1"/>
          <p:nvPr/>
        </p:nvSpPr>
        <p:spPr>
          <a:xfrm>
            <a:off x="2286000" y="5009998"/>
            <a:ext cx="1428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좋은 사업의 출발점은 좋은 답이 아닌 </a:t>
            </a:r>
            <a:r>
              <a:rPr lang="en-US" sz="3100" b="1" kern="0" spc="-75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문제</a:t>
            </a:r>
            <a:endParaRPr lang="en-US" sz="3100" dirty="0"/>
          </a:p>
        </p:txBody>
      </p:sp>
      <p:sp>
        <p:nvSpPr>
          <p:cNvPr id="13" name="Text 7"/>
          <p:cNvSpPr txBox="1"/>
          <p:nvPr/>
        </p:nvSpPr>
        <p:spPr>
          <a:xfrm>
            <a:off x="2286000" y="5544007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Painful · Frequent · Payable 3-Filter를 통과한 문제만 사업이 된다.</a:t>
            </a:r>
            <a:endParaRPr lang="en-US" sz="19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6572707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500" dirty="0"/>
          </a:p>
        </p:txBody>
      </p:sp>
      <p:sp>
        <p:nvSpPr>
          <p:cNvPr id="15" name="Text 9"/>
          <p:cNvSpPr txBox="1"/>
          <p:nvPr/>
        </p:nvSpPr>
        <p:spPr>
          <a:xfrm>
            <a:off x="2286000" y="6629400"/>
            <a:ext cx="1428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MVP는 "덜 만든 것"이 아니라 </a:t>
            </a:r>
            <a:r>
              <a:rPr lang="en-US" sz="3100" b="1" kern="0" spc="-75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"가장 작은 가치"</a:t>
            </a:r>
            <a:endParaRPr lang="en-US" sz="3100" dirty="0"/>
          </a:p>
        </p:txBody>
      </p:sp>
      <p:sp>
        <p:nvSpPr>
          <p:cNvPr id="16" name="Text 10"/>
          <p:cNvSpPr txBox="1"/>
          <p:nvPr/>
        </p:nvSpPr>
        <p:spPr>
          <a:xfrm>
            <a:off x="2286000" y="7162495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랜딩·영상·컨시어지·오즈의 마법사·크라우드펀딩 — 코딩 없이 가설을 검증하는 5가지 길.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8191195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500" dirty="0"/>
          </a:p>
        </p:txBody>
      </p:sp>
      <p:sp>
        <p:nvSpPr>
          <p:cNvPr id="18" name="Text 12"/>
          <p:cNvSpPr txBox="1"/>
          <p:nvPr/>
        </p:nvSpPr>
        <p:spPr>
          <a:xfrm>
            <a:off x="2286000" y="8248802"/>
            <a:ext cx="1428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한 사이클 </a:t>
            </a:r>
            <a:r>
              <a:rPr lang="en-US" sz="3100" b="1" kern="0" spc="-75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2주</a:t>
            </a: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넘기지 마라 </a:t>
            </a:r>
            <a:endParaRPr lang="en-US" sz="3100" dirty="0"/>
          </a:p>
        </p:txBody>
      </p:sp>
      <p:sp>
        <p:nvSpPr>
          <p:cNvPr id="19" name="Text 13"/>
          <p:cNvSpPr txBox="1"/>
          <p:nvPr/>
        </p:nvSpPr>
        <p:spPr>
          <a:xfrm>
            <a:off x="2286000" y="8781898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Build–Measure–Learn → 가설 / 실험 / 측정 / 결정. 길어지면 학습 비용이 폭발한다.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6763695" y="1333195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52</a:t>
            </a:r>
            <a:endParaRPr lang="en-US" sz="15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8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525305" y="0"/>
            <a:ext cx="11049610" cy="1028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00" b="1" kern="0" spc="-3000" dirty="0">
                <a:solidFill>
                  <a:srgbClr val="FFFFFF">
                    <a:alpha val="16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8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524305"/>
            <a:ext cx="5715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45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 3 · 60 minutes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095805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kern="0" spc="75" dirty="0">
                <a:solidFill>
                  <a:srgbClr val="1A2B4A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마케팅과 브랜딩 실전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123798" y="3619195"/>
            <a:ext cx="16193110" cy="2800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3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예산이 작을수록</a:t>
            </a:r>
            <a:endParaRPr lang="en-US" sz="10500" dirty="0"/>
          </a:p>
          <a:p>
            <a:pPr marL="0" indent="0" algn="l">
              <a:buNone/>
            </a:pPr>
            <a:r>
              <a:rPr lang="en-US" sz="10500" b="1" kern="0" spc="-3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메시지</a:t>
            </a:r>
            <a:r>
              <a:rPr lang="en-US" sz="10500" b="1" kern="0" spc="-3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커야 한다 </a:t>
            </a:r>
            <a:endParaRPr lang="en-US" sz="10500" dirty="0"/>
          </a:p>
        </p:txBody>
      </p:sp>
      <p:sp>
        <p:nvSpPr>
          <p:cNvPr id="9" name="Shape 6"/>
          <p:cNvSpPr/>
          <p:nvPr/>
        </p:nvSpPr>
        <p:spPr>
          <a:xfrm>
            <a:off x="12191695" y="7239305"/>
            <a:ext cx="5181905" cy="2095805"/>
          </a:xfrm>
          <a:prstGeom prst="rect">
            <a:avLst/>
          </a:prstGeom>
          <a:solidFill>
            <a:srgbClr val="1A2B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2191695" y="7239305"/>
            <a:ext cx="38405" cy="2095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7524598"/>
            <a:ext cx="1047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kern="0" spc="150" dirty="0">
                <a:solidFill>
                  <a:srgbClr val="1A2B4A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Modules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905902"/>
            <a:ext cx="104781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01 브랜드 정체성 · 네이밍 · 02 마케팅 퍼널 · 채널 매트릭스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03 콘텐츠·바이럴 · AARRR · 04 사례 · 워크숍 · 정리 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2573000" y="7524598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573000" y="7830007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브랜드 4요소·AARRR 깔때기로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저예산 마케팅 채널 전략을 짜고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이번 달 실행안을 만든다 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7335195" y="1333195"/>
            <a:ext cx="762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225" dirty="0">
                <a:solidFill>
                  <a:srgbClr val="1A2B4A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52</a:t>
            </a:r>
            <a:endParaRPr lang="en-US" sz="160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143000" y="3143707"/>
            <a:ext cx="8001000" cy="280995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9334195" y="3143707"/>
            <a:ext cx="8001000" cy="2809951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1143000" y="6096305"/>
            <a:ext cx="8001000" cy="2809951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9334195" y="6096305"/>
            <a:ext cx="8001000" cy="2809951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 · Module 01 · Brand</a:t>
            </a:r>
            <a:endParaRPr lang="en-US" sz="16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브랜드 정체성 </a:t>
            </a:r>
            <a:r>
              <a:rPr lang="en-US" sz="4800" b="1" kern="0" spc="-15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4요소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= 로고가 아닙니다. 다음 4가지 질문에 한 문장으로 답할 수 있어야 합니다.</a:t>
            </a:r>
            <a:endParaRPr lang="en-US" sz="2100" dirty="0"/>
          </a:p>
        </p:txBody>
      </p:sp>
      <p:sp>
        <p:nvSpPr>
          <p:cNvPr id="12" name="Text 5"/>
          <p:cNvSpPr txBox="1"/>
          <p:nvPr/>
        </p:nvSpPr>
        <p:spPr>
          <a:xfrm>
            <a:off x="1524305" y="3429000"/>
            <a:ext cx="7239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WHY — 존재 이유</a:t>
            </a:r>
            <a:endParaRPr lang="en-US" sz="1600" dirty="0"/>
          </a:p>
        </p:txBody>
      </p:sp>
      <p:sp>
        <p:nvSpPr>
          <p:cNvPr id="13" name="Text 6"/>
          <p:cNvSpPr txBox="1"/>
          <p:nvPr/>
        </p:nvSpPr>
        <p:spPr>
          <a:xfrm>
            <a:off x="1524305" y="3733495"/>
            <a:ext cx="7239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우리가 </a:t>
            </a:r>
            <a:r>
              <a:rPr lang="en-US" sz="3100" b="1" kern="0" spc="-75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없으면 안 되는 이유</a:t>
            </a:r>
            <a:endParaRPr lang="en-US" sz="3100" dirty="0"/>
          </a:p>
        </p:txBody>
      </p:sp>
      <p:sp>
        <p:nvSpPr>
          <p:cNvPr id="14" name="Text 7"/>
          <p:cNvSpPr txBox="1"/>
          <p:nvPr/>
        </p:nvSpPr>
        <p:spPr>
          <a:xfrm>
            <a:off x="1524305" y="4552798"/>
            <a:ext cx="72393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Simon Sinek "Start with Why". 제품·서비스가 아닌 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믿음과 미션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말한다.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예: "동네 자영업자가 회계 때문에 잠 못 자지 않게." </a:t>
            </a:r>
            <a:endParaRPr lang="en-US" sz="1900" dirty="0"/>
          </a:p>
        </p:txBody>
      </p:sp>
      <p:sp>
        <p:nvSpPr>
          <p:cNvPr id="15" name="Text 8"/>
          <p:cNvSpPr txBox="1"/>
          <p:nvPr/>
        </p:nvSpPr>
        <p:spPr>
          <a:xfrm>
            <a:off x="9715500" y="3429000"/>
            <a:ext cx="7239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WHO — 페르소나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9715500" y="3733495"/>
            <a:ext cx="7239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누구를 위한 브랜드인가</a:t>
            </a:r>
            <a:endParaRPr lang="en-US" sz="3100" dirty="0"/>
          </a:p>
        </p:txBody>
      </p:sp>
      <p:sp>
        <p:nvSpPr>
          <p:cNvPr id="17" name="Text 10"/>
          <p:cNvSpPr txBox="1"/>
          <p:nvPr/>
        </p:nvSpPr>
        <p:spPr>
          <a:xfrm>
            <a:off x="9715500" y="4552798"/>
            <a:ext cx="7239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얼리어답터 + 핵심 페르소나. 모두를 위한 브랜드는 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아무도 위하지 않는 브랜드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된다. </a:t>
            </a:r>
            <a:endParaRPr lang="en-US" sz="1900" dirty="0"/>
          </a:p>
        </p:txBody>
      </p:sp>
      <p:sp>
        <p:nvSpPr>
          <p:cNvPr id="18" name="Text 11"/>
          <p:cNvSpPr txBox="1"/>
          <p:nvPr/>
        </p:nvSpPr>
        <p:spPr>
          <a:xfrm>
            <a:off x="1524305" y="6381598"/>
            <a:ext cx="7239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HOW — 톤 &amp; 매너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1524305" y="6687007"/>
            <a:ext cx="7239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 말하는가</a:t>
            </a:r>
            <a:endParaRPr lang="en-US" sz="3100" dirty="0"/>
          </a:p>
        </p:txBody>
      </p:sp>
      <p:sp>
        <p:nvSpPr>
          <p:cNvPr id="20" name="Text 13"/>
          <p:cNvSpPr txBox="1"/>
          <p:nvPr/>
        </p:nvSpPr>
        <p:spPr>
          <a:xfrm>
            <a:off x="1524305" y="7505395"/>
            <a:ext cx="7239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친구처럼 / 전문가처럼 / 동지처럼 / 멘토처럼. 한 문장으로 정의 → 모든 카피·고객응대에 일관 적용.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9715500" y="6381598"/>
            <a:ext cx="7239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WHAT — 약속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9715500" y="6687007"/>
            <a:ext cx="7239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무엇을 약속하는가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715500" y="7505395"/>
            <a:ext cx="7239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매번 일관되게 지킬 1가지. </a:t>
            </a:r>
            <a:r>
              <a:rPr lang="en-US" sz="19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"이걸 못 지키면 우리 브랜드가 아니다"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기준선. 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9001354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 출처: Simon Sinek "Start with Why" (2009) · Marty Neumeier "The Brand Gap" (2003)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52</a:t>
            </a:r>
            <a:endParaRPr lang="en-US" sz="15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143707"/>
            <a:ext cx="57607" cy="1028700"/>
          </a:xfrm>
          <a:prstGeom prst="rect">
            <a:avLst/>
          </a:prstGeom>
          <a:solidFill>
            <a:srgbClr val="D8A93B"/>
          </a:solidFill>
          <a:ln w="12700">
            <a:solidFill>
              <a:srgbClr val="D8A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4381805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4381805"/>
            <a:ext cx="57607" cy="1028700"/>
          </a:xfrm>
          <a:prstGeom prst="rect">
            <a:avLst/>
          </a:prstGeom>
          <a:solidFill>
            <a:srgbClr val="D8A93B"/>
          </a:solidFill>
          <a:ln w="12700">
            <a:solidFill>
              <a:srgbClr val="D8A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5619902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5619902"/>
            <a:ext cx="57607" cy="1028700"/>
          </a:xfrm>
          <a:prstGeom prst="rect">
            <a:avLst/>
          </a:prstGeom>
          <a:solidFill>
            <a:srgbClr val="D8A93B"/>
          </a:solidFill>
          <a:ln w="12700">
            <a:solidFill>
              <a:srgbClr val="D8A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6858000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6858000"/>
            <a:ext cx="57607" cy="1028700"/>
          </a:xfrm>
          <a:prstGeom prst="rect">
            <a:avLst/>
          </a:prstGeom>
          <a:solidFill>
            <a:srgbClr val="D8A93B"/>
          </a:solidFill>
          <a:ln w="12700">
            <a:solidFill>
              <a:srgbClr val="D8A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8096098"/>
            <a:ext cx="16249802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8096098"/>
            <a:ext cx="57607" cy="1028700"/>
          </a:xfrm>
          <a:prstGeom prst="rect">
            <a:avLst/>
          </a:prstGeom>
          <a:solidFill>
            <a:srgbClr val="D8A93B"/>
          </a:solidFill>
          <a:ln w="12700">
            <a:solidFill>
              <a:srgbClr val="D8A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 · Naming · BX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네이밍 통과 </a:t>
            </a:r>
            <a:r>
              <a:rPr lang="en-US" sz="4800" b="1" kern="0" spc="-15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5가지 체크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좋은 이름 ≠ 멋진 이름.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외워지고, 검색되고, 갈등 없이 쓸 수 있는 이름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좋은 이름입니다. 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3381451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2667305" y="3448202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듣고 따라 쓸 수 있는가 (Spell Test)</a:t>
            </a:r>
            <a:endParaRPr lang="en-US" sz="2500" dirty="0"/>
          </a:p>
        </p:txBody>
      </p:sp>
      <p:sp>
        <p:nvSpPr>
          <p:cNvPr id="20" name="Text 17"/>
          <p:cNvSpPr txBox="1"/>
          <p:nvPr/>
        </p:nvSpPr>
        <p:spPr>
          <a:xfrm>
            <a:off x="2667305" y="3829507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전화로 불러줬을 때 상대가 받아 적을 수 있어야 함. 영문·한글 표기가 흔들리면 검색이 안 된다.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524305" y="4619549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2667305" y="4686300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상표 충돌 + 도메인 + 핸들 (Conflict Test)</a:t>
            </a:r>
            <a:endParaRPr lang="en-US" sz="2500" dirty="0"/>
          </a:p>
        </p:txBody>
      </p:sp>
      <p:sp>
        <p:nvSpPr>
          <p:cNvPr id="23" name="Text 20"/>
          <p:cNvSpPr txBox="1"/>
          <p:nvPr/>
        </p:nvSpPr>
        <p:spPr>
          <a:xfrm>
            <a:off x="2667305" y="5067605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KIPRIS 상표 검색 / .com·.kr 도메인 / 인스타·X 핸들. 셋 중 하나만 막혀도 향후 비용 폭증.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524305" y="5857646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2667305" y="5924398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연상 (Category Cue)</a:t>
            </a:r>
            <a:endParaRPr lang="en-US" sz="2500" dirty="0"/>
          </a:p>
        </p:txBody>
      </p:sp>
      <p:sp>
        <p:nvSpPr>
          <p:cNvPr id="26" name="Text 23"/>
          <p:cNvSpPr txBox="1"/>
          <p:nvPr/>
        </p:nvSpPr>
        <p:spPr>
          <a:xfrm>
            <a:off x="2667305" y="6305702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이름만 보고 무슨 카테고리인지 60% 이상 추정 가능하면 광고비를 크게 아낀다 (예: "오늘의집").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5" y="7095744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2667305" y="7162495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확장성 (Stretch Test)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2667305" y="7543800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후 아이템·시장이 확장되어도 그대로 쓸 수 있는가? 너무 좁은 이름은 피벗을 가로막는다.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524305" y="8334756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4000" dirty="0"/>
          </a:p>
        </p:txBody>
      </p:sp>
      <p:sp>
        <p:nvSpPr>
          <p:cNvPr id="31" name="Text 28"/>
          <p:cNvSpPr txBox="1"/>
          <p:nvPr/>
        </p:nvSpPr>
        <p:spPr>
          <a:xfrm>
            <a:off x="2667305" y="8401507"/>
            <a:ext cx="1428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문화·언어 안전성 (Negative Test)</a:t>
            </a:r>
            <a:endParaRPr lang="en-US" sz="2500" dirty="0"/>
          </a:p>
        </p:txBody>
      </p:sp>
      <p:sp>
        <p:nvSpPr>
          <p:cNvPr id="32" name="Text 29"/>
          <p:cNvSpPr txBox="1"/>
          <p:nvPr/>
        </p:nvSpPr>
        <p:spPr>
          <a:xfrm>
            <a:off x="2667305" y="8781898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부정적 의미·동음이의·해외 출시 시 발음 문제. 한국어 자모만으로 30분 만에 다 점검 가능.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52</a:t>
            </a:r>
            <a:endParaRPr lang="en-US" sz="15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1143000" y="3143707"/>
            <a:ext cx="3238805" cy="46478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4572000" y="3143707"/>
            <a:ext cx="3238805" cy="46478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8001000" y="3143707"/>
            <a:ext cx="3238805" cy="464789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11430000" y="3143707"/>
            <a:ext cx="3238805" cy="464789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14859000" y="3143707"/>
            <a:ext cx="2476195" cy="45720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4324198"/>
            <a:ext cx="571500" cy="9144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4953305" y="4324198"/>
            <a:ext cx="571500" cy="9144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8382305" y="4324198"/>
            <a:ext cx="571500" cy="9144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811305" y="4324198"/>
            <a:ext cx="571500" cy="9144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6"/>
          <a:srcRect l="-195" r="-195"/>
          <a:stretch/>
        </p:blipFill>
        <p:spPr>
          <a:xfrm>
            <a:off x="14859000" y="3143707"/>
            <a:ext cx="2476195" cy="75895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5240305" y="4324198"/>
            <a:ext cx="571500" cy="9144"/>
          </a:xfrm>
          <a:prstGeom prst="rect">
            <a:avLst/>
          </a:prstGeom>
        </p:spPr>
      </p:pic>
      <p:sp>
        <p:nvSpPr>
          <p:cNvPr id="16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 · Module 02 · Funnel</a:t>
            </a:r>
            <a:endParaRPr lang="en-US" sz="1600" dirty="0"/>
          </a:p>
        </p:txBody>
      </p:sp>
      <p:sp>
        <p:nvSpPr>
          <p:cNvPr id="17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디지털 마케팅 </a:t>
            </a:r>
            <a:r>
              <a:rPr lang="en-US" sz="4800" b="1" kern="0" spc="-15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5단계 퍼널</a:t>
            </a:r>
            <a:endParaRPr lang="en-US" sz="4800" dirty="0"/>
          </a:p>
        </p:txBody>
      </p:sp>
      <p:sp>
        <p:nvSpPr>
          <p:cNvPr id="18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"어디가 새는지"를 알면 광고비를 줄일 수 있습니다. 단계별 전환율을 매주 측정하세요.</a:t>
            </a:r>
            <a:endParaRPr lang="en-US" sz="2100" dirty="0"/>
          </a:p>
        </p:txBody>
      </p:sp>
      <p:sp>
        <p:nvSpPr>
          <p:cNvPr id="19" name="Text 5"/>
          <p:cNvSpPr txBox="1"/>
          <p:nvPr/>
        </p:nvSpPr>
        <p:spPr>
          <a:xfrm>
            <a:off x="1524305" y="3429000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REACH</a:t>
            </a:r>
            <a:endParaRPr lang="en-US" sz="1500" dirty="0"/>
          </a:p>
        </p:txBody>
      </p:sp>
      <p:sp>
        <p:nvSpPr>
          <p:cNvPr id="20" name="Text 6"/>
          <p:cNvSpPr txBox="1"/>
          <p:nvPr/>
        </p:nvSpPr>
        <p:spPr>
          <a:xfrm>
            <a:off x="1524305" y="3733495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인지</a:t>
            </a:r>
            <a:endParaRPr lang="en-US" sz="3100" dirty="0"/>
          </a:p>
        </p:txBody>
      </p:sp>
      <p:sp>
        <p:nvSpPr>
          <p:cNvPr id="21" name="Text 7"/>
          <p:cNvSpPr txBox="1"/>
          <p:nvPr/>
        </p:nvSpPr>
        <p:spPr>
          <a:xfrm>
            <a:off x="1524305" y="4515307"/>
            <a:ext cx="2477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 많은 사람이 우리를 만났나</a:t>
            </a:r>
            <a:endParaRPr lang="en-US" sz="1800" dirty="0"/>
          </a:p>
        </p:txBody>
      </p:sp>
      <p:sp>
        <p:nvSpPr>
          <p:cNvPr id="22" name="Text 8"/>
          <p:cNvSpPr txBox="1"/>
          <p:nvPr/>
        </p:nvSpPr>
        <p:spPr>
          <a:xfrm>
            <a:off x="1524305" y="53336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600" dirty="0"/>
          </a:p>
        </p:txBody>
      </p:sp>
      <p:sp>
        <p:nvSpPr>
          <p:cNvPr id="23" name="Text 9"/>
          <p:cNvSpPr txBox="1"/>
          <p:nvPr/>
        </p:nvSpPr>
        <p:spPr>
          <a:xfrm>
            <a:off x="1524305" y="5581498"/>
            <a:ext cx="247711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노출수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도달자수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팔로워 </a:t>
            </a:r>
            <a:endParaRPr lang="en-US" sz="1700" dirty="0"/>
          </a:p>
        </p:txBody>
      </p:sp>
      <p:sp>
        <p:nvSpPr>
          <p:cNvPr id="24" name="Text 10"/>
          <p:cNvSpPr txBox="1"/>
          <p:nvPr/>
        </p:nvSpPr>
        <p:spPr>
          <a:xfrm>
            <a:off x="1524305" y="6762902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1600" dirty="0"/>
          </a:p>
        </p:txBody>
      </p:sp>
      <p:sp>
        <p:nvSpPr>
          <p:cNvPr id="25" name="Text 11"/>
          <p:cNvSpPr txBox="1"/>
          <p:nvPr/>
        </p:nvSpPr>
        <p:spPr>
          <a:xfrm>
            <a:off x="1524305" y="7010705"/>
            <a:ext cx="24771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SNS / SEO / PR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노출 </a:t>
            </a:r>
            <a:endParaRPr lang="en-US" sz="1700" dirty="0"/>
          </a:p>
        </p:txBody>
      </p:sp>
      <p:sp>
        <p:nvSpPr>
          <p:cNvPr id="26" name="Text 12"/>
          <p:cNvSpPr txBox="1"/>
          <p:nvPr/>
        </p:nvSpPr>
        <p:spPr>
          <a:xfrm>
            <a:off x="4953305" y="3429000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INTEREST</a:t>
            </a:r>
            <a:endParaRPr lang="en-US" sz="1500" dirty="0"/>
          </a:p>
        </p:txBody>
      </p:sp>
      <p:sp>
        <p:nvSpPr>
          <p:cNvPr id="27" name="Text 13"/>
          <p:cNvSpPr txBox="1"/>
          <p:nvPr/>
        </p:nvSpPr>
        <p:spPr>
          <a:xfrm>
            <a:off x="4953305" y="3733495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관심</a:t>
            </a:r>
            <a:endParaRPr lang="en-US" sz="3100" dirty="0"/>
          </a:p>
        </p:txBody>
      </p:sp>
      <p:sp>
        <p:nvSpPr>
          <p:cNvPr id="28" name="Text 14"/>
          <p:cNvSpPr txBox="1"/>
          <p:nvPr/>
        </p:nvSpPr>
        <p:spPr>
          <a:xfrm>
            <a:off x="4953305" y="4515307"/>
            <a:ext cx="2477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클릭하고 머무는 사람의 비율</a:t>
            </a:r>
            <a:endParaRPr lang="en-US" sz="1800" dirty="0"/>
          </a:p>
        </p:txBody>
      </p:sp>
      <p:sp>
        <p:nvSpPr>
          <p:cNvPr id="29" name="Text 15"/>
          <p:cNvSpPr txBox="1"/>
          <p:nvPr/>
        </p:nvSpPr>
        <p:spPr>
          <a:xfrm>
            <a:off x="4953305" y="53336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600" dirty="0"/>
          </a:p>
        </p:txBody>
      </p:sp>
      <p:sp>
        <p:nvSpPr>
          <p:cNvPr id="30" name="Text 16"/>
          <p:cNvSpPr txBox="1"/>
          <p:nvPr/>
        </p:nvSpPr>
        <p:spPr>
          <a:xfrm>
            <a:off x="4953305" y="5581498"/>
            <a:ext cx="247711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CTR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체류시간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스크롤 깊이 </a:t>
            </a:r>
            <a:endParaRPr lang="en-US" sz="1700" dirty="0"/>
          </a:p>
        </p:txBody>
      </p:sp>
      <p:sp>
        <p:nvSpPr>
          <p:cNvPr id="31" name="Text 17"/>
          <p:cNvSpPr txBox="1"/>
          <p:nvPr/>
        </p:nvSpPr>
        <p:spPr>
          <a:xfrm>
            <a:off x="4953305" y="6762902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1600" dirty="0"/>
          </a:p>
        </p:txBody>
      </p:sp>
      <p:sp>
        <p:nvSpPr>
          <p:cNvPr id="32" name="Text 18"/>
          <p:cNvSpPr txBox="1"/>
          <p:nvPr/>
        </p:nvSpPr>
        <p:spPr>
          <a:xfrm>
            <a:off x="4953305" y="7010705"/>
            <a:ext cx="24771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랜딩페이지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블로그·뉴스레터 </a:t>
            </a:r>
            <a:endParaRPr lang="en-US" sz="1700" dirty="0"/>
          </a:p>
        </p:txBody>
      </p:sp>
      <p:sp>
        <p:nvSpPr>
          <p:cNvPr id="33" name="Text 19"/>
          <p:cNvSpPr txBox="1"/>
          <p:nvPr/>
        </p:nvSpPr>
        <p:spPr>
          <a:xfrm>
            <a:off x="8382305" y="3429000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TRIAL</a:t>
            </a:r>
            <a:endParaRPr lang="en-US" sz="1500" dirty="0"/>
          </a:p>
        </p:txBody>
      </p:sp>
      <p:sp>
        <p:nvSpPr>
          <p:cNvPr id="34" name="Text 20"/>
          <p:cNvSpPr txBox="1"/>
          <p:nvPr/>
        </p:nvSpPr>
        <p:spPr>
          <a:xfrm>
            <a:off x="8382305" y="3733495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체험</a:t>
            </a:r>
            <a:endParaRPr lang="en-US" sz="3100" dirty="0"/>
          </a:p>
        </p:txBody>
      </p:sp>
      <p:sp>
        <p:nvSpPr>
          <p:cNvPr id="35" name="Text 21"/>
          <p:cNvSpPr txBox="1"/>
          <p:nvPr/>
        </p:nvSpPr>
        <p:spPr>
          <a:xfrm>
            <a:off x="8382305" y="4515307"/>
            <a:ext cx="279897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써본 사람의 비율</a:t>
            </a:r>
            <a:endParaRPr lang="en-US" sz="1800" dirty="0"/>
          </a:p>
        </p:txBody>
      </p:sp>
      <p:sp>
        <p:nvSpPr>
          <p:cNvPr id="36" name="Text 22"/>
          <p:cNvSpPr txBox="1"/>
          <p:nvPr/>
        </p:nvSpPr>
        <p:spPr>
          <a:xfrm>
            <a:off x="8382305" y="53336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600" dirty="0"/>
          </a:p>
        </p:txBody>
      </p:sp>
      <p:sp>
        <p:nvSpPr>
          <p:cNvPr id="37" name="Text 23"/>
          <p:cNvSpPr txBox="1"/>
          <p:nvPr/>
        </p:nvSpPr>
        <p:spPr>
          <a:xfrm>
            <a:off x="8382305" y="5581498"/>
            <a:ext cx="247711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가입률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담기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신청 </a:t>
            </a:r>
            <a:endParaRPr lang="en-US" sz="1700" dirty="0"/>
          </a:p>
        </p:txBody>
      </p:sp>
      <p:sp>
        <p:nvSpPr>
          <p:cNvPr id="38" name="Text 24"/>
          <p:cNvSpPr txBox="1"/>
          <p:nvPr/>
        </p:nvSpPr>
        <p:spPr>
          <a:xfrm>
            <a:off x="8382305" y="6762902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1600" dirty="0"/>
          </a:p>
        </p:txBody>
      </p:sp>
      <p:sp>
        <p:nvSpPr>
          <p:cNvPr id="39" name="Text 25"/>
          <p:cNvSpPr txBox="1"/>
          <p:nvPr/>
        </p:nvSpPr>
        <p:spPr>
          <a:xfrm>
            <a:off x="8382305" y="7010705"/>
            <a:ext cx="24771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무료 트라이얼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쿠폰 / 첫구매할인 </a:t>
            </a:r>
            <a:endParaRPr lang="en-US" sz="1700" dirty="0"/>
          </a:p>
        </p:txBody>
      </p:sp>
      <p:sp>
        <p:nvSpPr>
          <p:cNvPr id="40" name="Text 26"/>
          <p:cNvSpPr txBox="1"/>
          <p:nvPr/>
        </p:nvSpPr>
        <p:spPr>
          <a:xfrm>
            <a:off x="11811305" y="3429000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BUY</a:t>
            </a:r>
            <a:endParaRPr lang="en-US" sz="1500" dirty="0"/>
          </a:p>
        </p:txBody>
      </p:sp>
      <p:sp>
        <p:nvSpPr>
          <p:cNvPr id="41" name="Text 27"/>
          <p:cNvSpPr txBox="1"/>
          <p:nvPr/>
        </p:nvSpPr>
        <p:spPr>
          <a:xfrm>
            <a:off x="11811305" y="3733495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구매</a:t>
            </a:r>
            <a:endParaRPr lang="en-US" sz="3100" dirty="0"/>
          </a:p>
        </p:txBody>
      </p:sp>
      <p:sp>
        <p:nvSpPr>
          <p:cNvPr id="42" name="Text 28"/>
          <p:cNvSpPr txBox="1"/>
          <p:nvPr/>
        </p:nvSpPr>
        <p:spPr>
          <a:xfrm>
            <a:off x="11811305" y="4515307"/>
            <a:ext cx="28840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결제한 사람 비율</a:t>
            </a:r>
            <a:endParaRPr lang="en-US" sz="1800" dirty="0"/>
          </a:p>
        </p:txBody>
      </p:sp>
      <p:sp>
        <p:nvSpPr>
          <p:cNvPr id="43" name="Text 29"/>
          <p:cNvSpPr txBox="1"/>
          <p:nvPr/>
        </p:nvSpPr>
        <p:spPr>
          <a:xfrm>
            <a:off x="11811305" y="53336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600" dirty="0"/>
          </a:p>
        </p:txBody>
      </p:sp>
      <p:sp>
        <p:nvSpPr>
          <p:cNvPr id="44" name="Text 30"/>
          <p:cNvSpPr txBox="1"/>
          <p:nvPr/>
        </p:nvSpPr>
        <p:spPr>
          <a:xfrm>
            <a:off x="11811305" y="5581498"/>
            <a:ext cx="247711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결제 전환율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객단가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이탈률 </a:t>
            </a:r>
            <a:endParaRPr lang="en-US" sz="1700" dirty="0"/>
          </a:p>
        </p:txBody>
      </p:sp>
      <p:sp>
        <p:nvSpPr>
          <p:cNvPr id="45" name="Text 31"/>
          <p:cNvSpPr txBox="1"/>
          <p:nvPr/>
        </p:nvSpPr>
        <p:spPr>
          <a:xfrm>
            <a:off x="11811305" y="6762902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1600" dirty="0"/>
          </a:p>
        </p:txBody>
      </p:sp>
      <p:sp>
        <p:nvSpPr>
          <p:cNvPr id="46" name="Text 32"/>
          <p:cNvSpPr txBox="1"/>
          <p:nvPr/>
        </p:nvSpPr>
        <p:spPr>
          <a:xfrm>
            <a:off x="11811305" y="7010705"/>
            <a:ext cx="24771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결제 페이지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리타깃 광고 </a:t>
            </a:r>
            <a:endParaRPr lang="en-US" sz="1700" dirty="0"/>
          </a:p>
        </p:txBody>
      </p:sp>
      <p:sp>
        <p:nvSpPr>
          <p:cNvPr id="47" name="Text 33"/>
          <p:cNvSpPr txBox="1"/>
          <p:nvPr/>
        </p:nvSpPr>
        <p:spPr>
          <a:xfrm>
            <a:off x="15240305" y="3429000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LOYALTY</a:t>
            </a:r>
            <a:endParaRPr lang="en-US" sz="1500" dirty="0"/>
          </a:p>
        </p:txBody>
      </p:sp>
      <p:sp>
        <p:nvSpPr>
          <p:cNvPr id="48" name="Text 34"/>
          <p:cNvSpPr txBox="1"/>
          <p:nvPr/>
        </p:nvSpPr>
        <p:spPr>
          <a:xfrm>
            <a:off x="15240305" y="3733495"/>
            <a:ext cx="1905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충성</a:t>
            </a:r>
            <a:endParaRPr lang="en-US" sz="3100" dirty="0"/>
          </a:p>
        </p:txBody>
      </p:sp>
      <p:sp>
        <p:nvSpPr>
          <p:cNvPr id="49" name="Text 35"/>
          <p:cNvSpPr txBox="1"/>
          <p:nvPr/>
        </p:nvSpPr>
        <p:spPr>
          <a:xfrm>
            <a:off x="15240305" y="4515307"/>
            <a:ext cx="1905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재구매·추천하는 비율</a:t>
            </a:r>
            <a:endParaRPr lang="en-US" sz="1800" dirty="0"/>
          </a:p>
        </p:txBody>
      </p:sp>
      <p:sp>
        <p:nvSpPr>
          <p:cNvPr id="50" name="Text 36"/>
          <p:cNvSpPr txBox="1"/>
          <p:nvPr/>
        </p:nvSpPr>
        <p:spPr>
          <a:xfrm>
            <a:off x="15240305" y="53336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600" dirty="0"/>
          </a:p>
        </p:txBody>
      </p:sp>
      <p:sp>
        <p:nvSpPr>
          <p:cNvPr id="51" name="Text 37"/>
          <p:cNvSpPr txBox="1"/>
          <p:nvPr/>
        </p:nvSpPr>
        <p:spPr>
          <a:xfrm>
            <a:off x="15240305" y="5581498"/>
            <a:ext cx="190561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재구매율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가입수 </a:t>
            </a:r>
            <a:endParaRPr lang="en-US" sz="1700" dirty="0"/>
          </a:p>
        </p:txBody>
      </p:sp>
      <p:sp>
        <p:nvSpPr>
          <p:cNvPr id="52" name="Text 38"/>
          <p:cNvSpPr txBox="1"/>
          <p:nvPr/>
        </p:nvSpPr>
        <p:spPr>
          <a:xfrm>
            <a:off x="15240305" y="6762902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1600" dirty="0"/>
          </a:p>
        </p:txBody>
      </p:sp>
      <p:sp>
        <p:nvSpPr>
          <p:cNvPr id="53" name="Text 39"/>
          <p:cNvSpPr txBox="1"/>
          <p:nvPr/>
        </p:nvSpPr>
        <p:spPr>
          <a:xfrm>
            <a:off x="15240305" y="7010705"/>
            <a:ext cx="19056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멤버십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커뮤니티 </a:t>
            </a:r>
            <a:endParaRPr lang="en-US" sz="1700" dirty="0"/>
          </a:p>
        </p:txBody>
      </p:sp>
      <p:sp>
        <p:nvSpPr>
          <p:cNvPr id="54" name="Text 40"/>
          <p:cNvSpPr txBox="1"/>
          <p:nvPr/>
        </p:nvSpPr>
        <p:spPr>
          <a:xfrm>
            <a:off x="1143000" y="8382305"/>
            <a:ext cx="16193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가장 큰 누수 단계가 곧 </a:t>
            </a: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"이번 달 마케팅 우선순위"</a:t>
            </a: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</a:t>
            </a:r>
            <a:endParaRPr lang="en-US" sz="1900" dirty="0"/>
          </a:p>
        </p:txBody>
      </p:sp>
      <p:sp>
        <p:nvSpPr>
          <p:cNvPr id="55" name="Text 41"/>
          <p:cNvSpPr txBox="1"/>
          <p:nvPr/>
        </p:nvSpPr>
        <p:spPr>
          <a:xfrm>
            <a:off x="1143000" y="8906256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AIDA / AARRR 모델 재구성 — Dave McClure (500 Startups, 2007)</a:t>
            </a:r>
            <a:endParaRPr lang="en-US" sz="1500" dirty="0"/>
          </a:p>
        </p:txBody>
      </p:sp>
      <p:sp>
        <p:nvSpPr>
          <p:cNvPr id="56" name="Text 42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52</a:t>
            </a:r>
            <a:endParaRPr lang="en-US" sz="1500" dirty="0"/>
          </a:p>
        </p:txBody>
      </p:sp>
      <p:sp>
        <p:nvSpPr>
          <p:cNvPr id="5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1143000" y="3143707"/>
            <a:ext cx="16192195" cy="55248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3143707"/>
            <a:ext cx="16192195" cy="5715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4515307"/>
            <a:ext cx="156206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5277002"/>
            <a:ext cx="15620695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6038698"/>
            <a:ext cx="15620695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6801307"/>
            <a:ext cx="15620695" cy="91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7563002"/>
            <a:ext cx="15620695" cy="9144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 · Channel Matrix</a:t>
            </a:r>
            <a:endParaRPr lang="en-US" sz="1600" dirty="0"/>
          </a:p>
        </p:txBody>
      </p:sp>
      <p:sp>
        <p:nvSpPr>
          <p:cNvPr id="13" name="Text 4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어느 채널부터 </a:t>
            </a:r>
            <a:r>
              <a:rPr lang="en-US" sz="4800" b="1" kern="0" spc="-15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시작</a:t>
            </a: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해야 할까 </a:t>
            </a:r>
            <a:endParaRPr lang="en-US" sz="4800" dirty="0"/>
          </a:p>
        </p:txBody>
      </p:sp>
      <p:sp>
        <p:nvSpPr>
          <p:cNvPr id="14" name="Text 5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시장 주요 채널 6개의 적합 단계·콘텐츠 형식·예상 비용을 한 장에 정리.</a:t>
            </a:r>
            <a:endParaRPr lang="en-US" sz="2100" dirty="0"/>
          </a:p>
        </p:txBody>
      </p:sp>
      <p:sp>
        <p:nvSpPr>
          <p:cNvPr id="15" name="Text 6"/>
          <p:cNvSpPr txBox="1"/>
          <p:nvPr/>
        </p:nvSpPr>
        <p:spPr>
          <a:xfrm>
            <a:off x="1524305" y="3314700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3810305" y="3314700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적합 단계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6096305" y="3314700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콘텐츠</a:t>
            </a:r>
            <a:endParaRPr lang="en-US" sz="1500" dirty="0"/>
          </a:p>
        </p:txBody>
      </p:sp>
      <p:sp>
        <p:nvSpPr>
          <p:cNvPr id="18" name="Text 9"/>
          <p:cNvSpPr txBox="1"/>
          <p:nvPr/>
        </p:nvSpPr>
        <p:spPr>
          <a:xfrm>
            <a:off x="9144000" y="3314700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비용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11430000" y="3314700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시점</a:t>
            </a:r>
            <a:endParaRPr lang="en-US" sz="1500" dirty="0"/>
          </a:p>
        </p:txBody>
      </p:sp>
      <p:sp>
        <p:nvSpPr>
          <p:cNvPr id="20" name="Text 11"/>
          <p:cNvSpPr txBox="1"/>
          <p:nvPr/>
        </p:nvSpPr>
        <p:spPr>
          <a:xfrm>
            <a:off x="13716000" y="3314700"/>
            <a:ext cx="3429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페르소나</a:t>
            </a:r>
            <a:endParaRPr lang="en-US" sz="1500" dirty="0"/>
          </a:p>
        </p:txBody>
      </p:sp>
      <p:sp>
        <p:nvSpPr>
          <p:cNvPr id="21" name="Text 12"/>
          <p:cNvSpPr txBox="1"/>
          <p:nvPr/>
        </p:nvSpPr>
        <p:spPr>
          <a:xfrm>
            <a:off x="1524305" y="3952951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Instagram</a:t>
            </a:r>
            <a:endParaRPr lang="en-US" sz="2100" dirty="0"/>
          </a:p>
        </p:txBody>
      </p:sp>
      <p:sp>
        <p:nvSpPr>
          <p:cNvPr id="22" name="Text 13"/>
          <p:cNvSpPr txBox="1"/>
          <p:nvPr/>
        </p:nvSpPr>
        <p:spPr>
          <a:xfrm>
            <a:off x="3810305" y="3981298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 + 충성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6096305" y="3981298"/>
            <a:ext cx="2667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릴스 / 카드뉴스 / 사용자 후기</a:t>
            </a:r>
            <a:endParaRPr lang="en-US" sz="1800" dirty="0"/>
          </a:p>
        </p:txBody>
      </p:sp>
      <p:sp>
        <p:nvSpPr>
          <p:cNvPr id="24" name="Text 15"/>
          <p:cNvSpPr txBox="1"/>
          <p:nvPr/>
        </p:nvSpPr>
        <p:spPr>
          <a:xfrm>
            <a:off x="9144000" y="3981298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~ 월 30만</a:t>
            </a:r>
            <a:endParaRPr lang="en-US" sz="1800" dirty="0"/>
          </a:p>
        </p:txBody>
      </p:sp>
      <p:sp>
        <p:nvSpPr>
          <p:cNvPr id="25" name="Text 16"/>
          <p:cNvSpPr txBox="1"/>
          <p:nvPr/>
        </p:nvSpPr>
        <p:spPr>
          <a:xfrm>
            <a:off x="11430000" y="3981298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1~3개월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13716000" y="3981298"/>
            <a:ext cx="359816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20~40대 여성·라이프스타일·B2C</a:t>
            </a:r>
            <a:endParaRPr lang="en-US" sz="1800" dirty="0"/>
          </a:p>
        </p:txBody>
      </p:sp>
      <p:sp>
        <p:nvSpPr>
          <p:cNvPr id="27" name="Text 18"/>
          <p:cNvSpPr txBox="1"/>
          <p:nvPr/>
        </p:nvSpPr>
        <p:spPr>
          <a:xfrm>
            <a:off x="1524305" y="4714646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YouTube</a:t>
            </a:r>
            <a:endParaRPr lang="en-US" sz="2100" dirty="0"/>
          </a:p>
        </p:txBody>
      </p:sp>
      <p:sp>
        <p:nvSpPr>
          <p:cNvPr id="28" name="Text 19"/>
          <p:cNvSpPr txBox="1"/>
          <p:nvPr/>
        </p:nvSpPr>
        <p:spPr>
          <a:xfrm>
            <a:off x="3810305" y="4743907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 + 관심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6096305" y="4743907"/>
            <a:ext cx="2667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Shorts / 튜토리얼 / 비하인드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9144000" y="4743907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(시간 비용)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11430000" y="4743907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3~6개월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13716000" y="4743907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설명이 필요한 제품·교육·전문성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1524305" y="5477256"/>
            <a:ext cx="263072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블로그·카페</a:t>
            </a:r>
            <a:endParaRPr lang="en-US" sz="2100" dirty="0"/>
          </a:p>
        </p:txBody>
      </p:sp>
      <p:sp>
        <p:nvSpPr>
          <p:cNvPr id="34" name="Text 25"/>
          <p:cNvSpPr txBox="1"/>
          <p:nvPr/>
        </p:nvSpPr>
        <p:spPr>
          <a:xfrm>
            <a:off x="3810305" y="5505602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+ 체험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6096305" y="5505602"/>
            <a:ext cx="3124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 글 / 후기 / 고객 Q&amp;A</a:t>
            </a:r>
            <a:endParaRPr lang="en-US" sz="1800" dirty="0"/>
          </a:p>
        </p:txBody>
      </p:sp>
      <p:sp>
        <p:nvSpPr>
          <p:cNvPr id="36" name="Text 27"/>
          <p:cNvSpPr txBox="1"/>
          <p:nvPr/>
        </p:nvSpPr>
        <p:spPr>
          <a:xfrm>
            <a:off x="9144000" y="5505602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5505602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3~6개월</a:t>
            </a:r>
            <a:endParaRPr lang="en-US" sz="1800" dirty="0"/>
          </a:p>
        </p:txBody>
      </p:sp>
      <p:sp>
        <p:nvSpPr>
          <p:cNvPr id="38" name="Text 29"/>
          <p:cNvSpPr txBox="1"/>
          <p:nvPr/>
        </p:nvSpPr>
        <p:spPr>
          <a:xfrm>
            <a:off x="13716000" y="5505602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의존 카테고리·로컬 사업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1524305" y="6238951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</a:t>
            </a:r>
            <a:endParaRPr lang="en-US" sz="2100" dirty="0"/>
          </a:p>
        </p:txBody>
      </p:sp>
      <p:sp>
        <p:nvSpPr>
          <p:cNvPr id="40" name="Text 31"/>
          <p:cNvSpPr txBox="1"/>
          <p:nvPr/>
        </p:nvSpPr>
        <p:spPr>
          <a:xfrm>
            <a:off x="3810305" y="6267298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+ 충성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6096305" y="6267298"/>
            <a:ext cx="301477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알림톡 / 쿠폰 / 1:1 상담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9144000" y="6267298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과금</a:t>
            </a:r>
            <a:endParaRPr lang="en-US" sz="1800" dirty="0"/>
          </a:p>
        </p:txBody>
      </p:sp>
      <p:sp>
        <p:nvSpPr>
          <p:cNvPr id="43" name="Text 34"/>
          <p:cNvSpPr txBox="1"/>
          <p:nvPr/>
        </p:nvSpPr>
        <p:spPr>
          <a:xfrm>
            <a:off x="11430000" y="6267298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</a:t>
            </a:r>
            <a:endParaRPr lang="en-US" sz="1800" dirty="0"/>
          </a:p>
        </p:txBody>
      </p:sp>
      <p:sp>
        <p:nvSpPr>
          <p:cNvPr id="44" name="Text 35"/>
          <p:cNvSpPr txBox="1"/>
          <p:nvPr/>
        </p:nvSpPr>
        <p:spPr>
          <a:xfrm>
            <a:off x="13716000" y="6267298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후 락인·로컬·자영업</a:t>
            </a:r>
            <a:endParaRPr lang="en-US" sz="1800" dirty="0"/>
          </a:p>
        </p:txBody>
      </p:sp>
      <p:sp>
        <p:nvSpPr>
          <p:cNvPr id="45" name="Text 36"/>
          <p:cNvSpPr txBox="1"/>
          <p:nvPr/>
        </p:nvSpPr>
        <p:spPr>
          <a:xfrm>
            <a:off x="1524305" y="7000646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Threads / X</a:t>
            </a:r>
            <a:endParaRPr lang="en-US" sz="2100" dirty="0"/>
          </a:p>
        </p:txBody>
      </p:sp>
      <p:sp>
        <p:nvSpPr>
          <p:cNvPr id="46" name="Text 37"/>
          <p:cNvSpPr txBox="1"/>
          <p:nvPr/>
        </p:nvSpPr>
        <p:spPr>
          <a:xfrm>
            <a:off x="3810305" y="7029907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</a:t>
            </a:r>
            <a:endParaRPr lang="en-US" sz="1800" dirty="0"/>
          </a:p>
        </p:txBody>
      </p:sp>
      <p:sp>
        <p:nvSpPr>
          <p:cNvPr id="47" name="Text 38"/>
          <p:cNvSpPr txBox="1"/>
          <p:nvPr/>
        </p:nvSpPr>
        <p:spPr>
          <a:xfrm>
            <a:off x="6096305" y="7029907"/>
            <a:ext cx="2667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일지 / 인사이트 / 짧은 후기</a:t>
            </a:r>
            <a:endParaRPr lang="en-US" sz="1800" dirty="0"/>
          </a:p>
        </p:txBody>
      </p:sp>
      <p:sp>
        <p:nvSpPr>
          <p:cNvPr id="48" name="Text 39"/>
          <p:cNvSpPr txBox="1"/>
          <p:nvPr/>
        </p:nvSpPr>
        <p:spPr>
          <a:xfrm>
            <a:off x="9144000" y="7029907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</a:t>
            </a:r>
            <a:endParaRPr lang="en-US" sz="1800" dirty="0"/>
          </a:p>
        </p:txBody>
      </p:sp>
      <p:sp>
        <p:nvSpPr>
          <p:cNvPr id="49" name="Text 40"/>
          <p:cNvSpPr txBox="1"/>
          <p:nvPr/>
        </p:nvSpPr>
        <p:spPr>
          <a:xfrm>
            <a:off x="11430000" y="7029907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1~6개월</a:t>
            </a:r>
            <a:endParaRPr lang="en-US" sz="1800" dirty="0"/>
          </a:p>
        </p:txBody>
      </p:sp>
      <p:sp>
        <p:nvSpPr>
          <p:cNvPr id="50" name="Text 41"/>
          <p:cNvSpPr txBox="1"/>
          <p:nvPr/>
        </p:nvSpPr>
        <p:spPr>
          <a:xfrm>
            <a:off x="13716000" y="7029907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SaaS·창업가 커뮤니티·IT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1524305" y="7763256"/>
            <a:ext cx="22860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네이버·구글 검색광고</a:t>
            </a:r>
            <a:endParaRPr lang="en-US" sz="2100" dirty="0"/>
          </a:p>
        </p:txBody>
      </p:sp>
      <p:sp>
        <p:nvSpPr>
          <p:cNvPr id="52" name="Text 43"/>
          <p:cNvSpPr txBox="1"/>
          <p:nvPr/>
        </p:nvSpPr>
        <p:spPr>
          <a:xfrm>
            <a:off x="3810305" y="7791602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+ 구매</a:t>
            </a:r>
            <a:endParaRPr lang="en-US" sz="1800" dirty="0"/>
          </a:p>
        </p:txBody>
      </p:sp>
      <p:sp>
        <p:nvSpPr>
          <p:cNvPr id="53" name="Text 44"/>
          <p:cNvSpPr txBox="1"/>
          <p:nvPr/>
        </p:nvSpPr>
        <p:spPr>
          <a:xfrm>
            <a:off x="6096305" y="7791602"/>
            <a:ext cx="2667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의도 키워드 매칭</a:t>
            </a:r>
            <a:endParaRPr lang="en-US" sz="1800" dirty="0"/>
          </a:p>
        </p:txBody>
      </p:sp>
      <p:sp>
        <p:nvSpPr>
          <p:cNvPr id="54" name="Text 45"/>
          <p:cNvSpPr txBox="1"/>
          <p:nvPr/>
        </p:nvSpPr>
        <p:spPr>
          <a:xfrm>
            <a:off x="9144000" y="7791602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30만~ 무한</a:t>
            </a:r>
            <a:endParaRPr lang="en-US" sz="1800" dirty="0"/>
          </a:p>
        </p:txBody>
      </p:sp>
      <p:sp>
        <p:nvSpPr>
          <p:cNvPr id="55" name="Text 46"/>
          <p:cNvSpPr txBox="1"/>
          <p:nvPr/>
        </p:nvSpPr>
        <p:spPr>
          <a:xfrm>
            <a:off x="11430000" y="7791602"/>
            <a:ext cx="1905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</a:t>
            </a:r>
            <a:endParaRPr lang="en-US" sz="1800" dirty="0"/>
          </a:p>
        </p:txBody>
      </p:sp>
      <p:sp>
        <p:nvSpPr>
          <p:cNvPr id="56" name="Text 47"/>
          <p:cNvSpPr txBox="1"/>
          <p:nvPr/>
        </p:nvSpPr>
        <p:spPr>
          <a:xfrm>
            <a:off x="13716000" y="7791602"/>
            <a:ext cx="3429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의도가 명확한 카테고리</a:t>
            </a:r>
            <a:endParaRPr lang="en-US" sz="1800" dirty="0"/>
          </a:p>
        </p:txBody>
      </p:sp>
      <p:sp>
        <p:nvSpPr>
          <p:cNvPr id="57" name="Text 48"/>
          <p:cNvSpPr txBox="1"/>
          <p:nvPr/>
        </p:nvSpPr>
        <p:spPr>
          <a:xfrm>
            <a:off x="1143000" y="8906256"/>
            <a:ext cx="1619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원칙: 첫 6개월 동안은 </a:t>
            </a:r>
            <a:r>
              <a:rPr lang="en-US" sz="1600" b="1" kern="0" spc="38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채널만</a:t>
            </a:r>
            <a:r>
              <a:rPr lang="en-US" sz="1600" b="1" kern="0" spc="38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골라 깊게. 모든 채널을 동시에 운영하면 모두 망친다. </a:t>
            </a:r>
            <a:endParaRPr lang="en-US" sz="1600" dirty="0"/>
          </a:p>
        </p:txBody>
      </p:sp>
      <p:sp>
        <p:nvSpPr>
          <p:cNvPr id="58" name="Text 49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52</a:t>
            </a:r>
            <a:endParaRPr lang="en-US" sz="1500" dirty="0"/>
          </a:p>
        </p:txBody>
      </p:sp>
      <p:sp>
        <p:nvSpPr>
          <p:cNvPr id="5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1143000" y="3143707"/>
            <a:ext cx="5333695" cy="271485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6667805" y="3143707"/>
            <a:ext cx="5333695" cy="271485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12191695" y="3143707"/>
            <a:ext cx="5333695" cy="271485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1143000" y="6096305"/>
            <a:ext cx="5333695" cy="271485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6667805" y="6096305"/>
            <a:ext cx="5333695" cy="271485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12191695" y="6096305"/>
            <a:ext cx="5333695" cy="2714854"/>
          </a:xfrm>
          <a:prstGeom prst="rect">
            <a:avLst/>
          </a:prstGeom>
        </p:spPr>
      </p:pic>
      <p:sp>
        <p:nvSpPr>
          <p:cNvPr id="11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 · Content · STEPPS</a:t>
            </a:r>
            <a:endParaRPr lang="en-US" sz="1600" dirty="0"/>
          </a:p>
        </p:txBody>
      </p:sp>
      <p:sp>
        <p:nvSpPr>
          <p:cNvPr id="12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공유되는 콘텐츠의 </a:t>
            </a:r>
            <a:r>
              <a:rPr lang="en-US" sz="4800" b="1" kern="0" spc="-15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6요소 (STEPPS)</a:t>
            </a:r>
            <a:endParaRPr lang="en-US" sz="4800" dirty="0"/>
          </a:p>
        </p:txBody>
      </p:sp>
      <p:sp>
        <p:nvSpPr>
          <p:cNvPr id="13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Wharton의 Jonah Berger 교수가 정리한 입소문 6요소.</a:t>
            </a:r>
            <a:endParaRPr lang="en-US" sz="2100" dirty="0"/>
          </a:p>
        </p:txBody>
      </p:sp>
      <p:sp>
        <p:nvSpPr>
          <p:cNvPr id="14" name="Text 5"/>
          <p:cNvSpPr txBox="1"/>
          <p:nvPr/>
        </p:nvSpPr>
        <p:spPr>
          <a:xfrm>
            <a:off x="1524305" y="3448202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</a:t>
            </a:r>
            <a:endParaRPr lang="en-US" sz="3700" dirty="0"/>
          </a:p>
        </p:txBody>
      </p:sp>
      <p:sp>
        <p:nvSpPr>
          <p:cNvPr id="15" name="Text 6"/>
          <p:cNvSpPr txBox="1"/>
          <p:nvPr/>
        </p:nvSpPr>
        <p:spPr>
          <a:xfrm>
            <a:off x="1524305" y="4172407"/>
            <a:ext cx="510783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Social Currency · 사회적 화폐</a:t>
            </a:r>
            <a:endParaRPr lang="en-US" sz="2400" dirty="0"/>
          </a:p>
        </p:txBody>
      </p:sp>
      <p:sp>
        <p:nvSpPr>
          <p:cNvPr id="16" name="Text 7"/>
          <p:cNvSpPr txBox="1"/>
          <p:nvPr/>
        </p:nvSpPr>
        <p:spPr>
          <a:xfrm>
            <a:off x="1524305" y="4552798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공유하면 내가 똑똑·세련·앞서가는 사람으로 보이는가?</a:t>
            </a:r>
            <a:endParaRPr lang="en-US" sz="1800" dirty="0"/>
          </a:p>
        </p:txBody>
      </p:sp>
      <p:sp>
        <p:nvSpPr>
          <p:cNvPr id="17" name="Text 8"/>
          <p:cNvSpPr txBox="1"/>
          <p:nvPr/>
        </p:nvSpPr>
        <p:spPr>
          <a:xfrm>
            <a:off x="7048195" y="3448202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</a:t>
            </a:r>
            <a:endParaRPr lang="en-US" sz="3700" dirty="0"/>
          </a:p>
        </p:txBody>
      </p:sp>
      <p:sp>
        <p:nvSpPr>
          <p:cNvPr id="18" name="Text 9"/>
          <p:cNvSpPr txBox="1"/>
          <p:nvPr/>
        </p:nvSpPr>
        <p:spPr>
          <a:xfrm>
            <a:off x="7048195" y="4172407"/>
            <a:ext cx="4572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Triggers · 트리거</a:t>
            </a:r>
            <a:endParaRPr lang="en-US" sz="2400" dirty="0"/>
          </a:p>
        </p:txBody>
      </p:sp>
      <p:sp>
        <p:nvSpPr>
          <p:cNvPr id="19" name="Text 10"/>
          <p:cNvSpPr txBox="1"/>
          <p:nvPr/>
        </p:nvSpPr>
        <p:spPr>
          <a:xfrm>
            <a:off x="7048195" y="4552798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일상의 어떤 순간이 우리 브랜드를 떠올리게 하는가?</a:t>
            </a:r>
            <a:endParaRPr lang="en-US" sz="1800" dirty="0"/>
          </a:p>
        </p:txBody>
      </p:sp>
      <p:sp>
        <p:nvSpPr>
          <p:cNvPr id="20" name="Text 11"/>
          <p:cNvSpPr txBox="1"/>
          <p:nvPr/>
        </p:nvSpPr>
        <p:spPr>
          <a:xfrm>
            <a:off x="12573000" y="3448202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</a:t>
            </a:r>
            <a:endParaRPr lang="en-US" sz="3700" dirty="0"/>
          </a:p>
        </p:txBody>
      </p:sp>
      <p:sp>
        <p:nvSpPr>
          <p:cNvPr id="21" name="Text 12"/>
          <p:cNvSpPr txBox="1"/>
          <p:nvPr/>
        </p:nvSpPr>
        <p:spPr>
          <a:xfrm>
            <a:off x="12573000" y="4172407"/>
            <a:ext cx="4572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Emotion · 감정</a:t>
            </a:r>
            <a:endParaRPr lang="en-US" sz="2400" dirty="0"/>
          </a:p>
        </p:txBody>
      </p:sp>
      <p:sp>
        <p:nvSpPr>
          <p:cNvPr id="22" name="Text 13"/>
          <p:cNvSpPr txBox="1"/>
          <p:nvPr/>
        </p:nvSpPr>
        <p:spPr>
          <a:xfrm>
            <a:off x="12573000" y="4552798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각성도 높은 감정 (놀람·분노·경탄)이 들어 있는가?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1524305" y="6400800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</a:t>
            </a:r>
            <a:endParaRPr lang="en-US" sz="3700" dirty="0"/>
          </a:p>
        </p:txBody>
      </p:sp>
      <p:sp>
        <p:nvSpPr>
          <p:cNvPr id="24" name="Text 15"/>
          <p:cNvSpPr txBox="1"/>
          <p:nvPr/>
        </p:nvSpPr>
        <p:spPr>
          <a:xfrm>
            <a:off x="1524305" y="7125005"/>
            <a:ext cx="4572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Public · 가시성</a:t>
            </a:r>
            <a:endParaRPr lang="en-US" sz="2400" dirty="0"/>
          </a:p>
        </p:txBody>
      </p:sp>
      <p:sp>
        <p:nvSpPr>
          <p:cNvPr id="25" name="Text 16"/>
          <p:cNvSpPr txBox="1"/>
          <p:nvPr/>
        </p:nvSpPr>
        <p:spPr>
          <a:xfrm>
            <a:off x="1524305" y="7505395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남들이 우리 사용 모습을 알아볼 수 있는 외관 신호가 있는가?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7048195" y="6400800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</a:t>
            </a:r>
            <a:endParaRPr lang="en-US" sz="3700" dirty="0"/>
          </a:p>
        </p:txBody>
      </p:sp>
      <p:sp>
        <p:nvSpPr>
          <p:cNvPr id="27" name="Text 18"/>
          <p:cNvSpPr txBox="1"/>
          <p:nvPr/>
        </p:nvSpPr>
        <p:spPr>
          <a:xfrm>
            <a:off x="7048195" y="7125005"/>
            <a:ext cx="48097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Practical Value · 실용 가치</a:t>
            </a:r>
            <a:endParaRPr lang="en-US" sz="2400" dirty="0"/>
          </a:p>
        </p:txBody>
      </p:sp>
      <p:sp>
        <p:nvSpPr>
          <p:cNvPr id="28" name="Text 19"/>
          <p:cNvSpPr txBox="1"/>
          <p:nvPr/>
        </p:nvSpPr>
        <p:spPr>
          <a:xfrm>
            <a:off x="7048195" y="7505395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"이거 쓰면 돈·시간 아낀다"는 정보가 들어 있는가?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12573000" y="6400800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</a:t>
            </a:r>
            <a:endParaRPr lang="en-US" sz="3700" dirty="0"/>
          </a:p>
        </p:txBody>
      </p:sp>
      <p:sp>
        <p:nvSpPr>
          <p:cNvPr id="30" name="Text 21"/>
          <p:cNvSpPr txBox="1"/>
          <p:nvPr/>
        </p:nvSpPr>
        <p:spPr>
          <a:xfrm>
            <a:off x="12573000" y="7125005"/>
            <a:ext cx="4572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Stories · 이야기</a:t>
            </a:r>
            <a:endParaRPr lang="en-US" sz="2400" dirty="0"/>
          </a:p>
        </p:txBody>
      </p:sp>
      <p:sp>
        <p:nvSpPr>
          <p:cNvPr id="31" name="Text 22"/>
          <p:cNvSpPr txBox="1"/>
          <p:nvPr/>
        </p:nvSpPr>
        <p:spPr>
          <a:xfrm>
            <a:off x="12573000" y="7505395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제품·서비스가 자연스럽게 녹아있는 트로이 목마 스토리인가?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1143000" y="9001354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Jonah Berger, "Contagious: Why Things Catch On" (2013, Simon &amp; Schuster)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52</a:t>
            </a:r>
            <a:endParaRPr lang="en-US" sz="15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1143000" y="3143707"/>
            <a:ext cx="16192195" cy="55248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29500" y="3619195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4429354"/>
            <a:ext cx="15620695" cy="914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429500" y="4809744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5619902"/>
            <a:ext cx="15620695" cy="91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429500" y="6001207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6810451"/>
            <a:ext cx="15620695" cy="914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429500" y="7191756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8001000"/>
            <a:ext cx="15620695" cy="9144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7429500" y="8382305"/>
            <a:ext cx="8096098" cy="30449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7"/>
          <p:cNvSpPr/>
          <p:nvPr/>
        </p:nvSpPr>
        <p:spPr>
          <a:xfrm>
            <a:off x="7429500" y="3619195"/>
            <a:ext cx="8096098" cy="304495"/>
          </a:xfrm>
          <a:prstGeom prst="rect">
            <a:avLst/>
          </a:prstGeom>
          <a:solidFill>
            <a:srgbClr val="D8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7429500" y="4809744"/>
            <a:ext cx="3238805" cy="304495"/>
          </a:xfrm>
          <a:prstGeom prst="rect">
            <a:avLst/>
          </a:prstGeom>
          <a:solidFill>
            <a:srgbClr val="D8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7429500" y="6001207"/>
            <a:ext cx="1143000" cy="304495"/>
          </a:xfrm>
          <a:prstGeom prst="rect">
            <a:avLst/>
          </a:prstGeom>
          <a:solidFill>
            <a:srgbClr val="E85D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7429500" y="7191756"/>
            <a:ext cx="571500" cy="304495"/>
          </a:xfrm>
          <a:prstGeom prst="rect">
            <a:avLst/>
          </a:prstGeom>
          <a:solidFill>
            <a:srgbClr val="2D7D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429500" y="8382305"/>
            <a:ext cx="228600" cy="304495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 · Module 03 · AARRR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952805"/>
            <a:ext cx="16193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그로스해킹 </a:t>
            </a:r>
            <a:r>
              <a:rPr lang="en-US" sz="4800" b="1" kern="0" spc="-15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AARRR 깔때기</a:t>
            </a:r>
            <a:endParaRPr lang="en-US" sz="480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Dave McClure(2007) "Pirate Metrics". 5개 단계 중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누수 1곳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곧 다음 90일의 우선순위입니다. 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1524305" y="3429000"/>
            <a:ext cx="1334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904695" y="3429000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Acquisition · 획득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1524305" y="3715207"/>
            <a:ext cx="5715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 우리를 알게 되는가</a:t>
            </a:r>
            <a:endParaRPr lang="en-US" sz="2800" dirty="0"/>
          </a:p>
        </p:txBody>
      </p:sp>
      <p:sp>
        <p:nvSpPr>
          <p:cNvPr id="26" name="Text 18"/>
          <p:cNvSpPr txBox="1"/>
          <p:nvPr/>
        </p:nvSpPr>
        <p:spPr>
          <a:xfrm>
            <a:off x="15620695" y="3676802"/>
            <a:ext cx="1524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10,000명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1524305" y="4048049"/>
            <a:ext cx="5715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KPI: 채널별 도달·클릭·CPA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4619549"/>
            <a:ext cx="1334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1904695" y="4619549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Activation · 활성화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1524305" y="4905756"/>
            <a:ext cx="5715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"아하!"를 경험하게 한다</a:t>
            </a:r>
            <a:endParaRPr lang="en-US" sz="2800" dirty="0"/>
          </a:p>
        </p:txBody>
      </p:sp>
      <p:sp>
        <p:nvSpPr>
          <p:cNvPr id="31" name="Text 23"/>
          <p:cNvSpPr txBox="1"/>
          <p:nvPr/>
        </p:nvSpPr>
        <p:spPr>
          <a:xfrm>
            <a:off x="15620695" y="4867351"/>
            <a:ext cx="1524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4,000명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1524305" y="5238598"/>
            <a:ext cx="5715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KPI: 가입률·첫 행동 완료율 · "Aha Moment"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1524305" y="5810098"/>
            <a:ext cx="1334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1904695" y="5810098"/>
            <a:ext cx="3238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Retention · 잔존 ⚑ Bottleneck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1524305" y="6096305"/>
            <a:ext cx="5715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다시 돌아오는 사람</a:t>
            </a:r>
            <a:endParaRPr lang="en-US" sz="2800" dirty="0"/>
          </a:p>
        </p:txBody>
      </p:sp>
      <p:sp>
        <p:nvSpPr>
          <p:cNvPr id="36" name="Text 28"/>
          <p:cNvSpPr txBox="1"/>
          <p:nvPr/>
        </p:nvSpPr>
        <p:spPr>
          <a:xfrm>
            <a:off x="15620695" y="6057900"/>
            <a:ext cx="1524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1,400명</a:t>
            </a:r>
            <a:endParaRPr lang="en-US" sz="1900" dirty="0"/>
          </a:p>
        </p:txBody>
      </p:sp>
      <p:sp>
        <p:nvSpPr>
          <p:cNvPr id="37" name="Text 29"/>
          <p:cNvSpPr txBox="1"/>
          <p:nvPr/>
        </p:nvSpPr>
        <p:spPr>
          <a:xfrm>
            <a:off x="1524305" y="6429146"/>
            <a:ext cx="5715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KPI: D7·D30 잔존율, 코호트 분석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1524305" y="7000646"/>
            <a:ext cx="1334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1904695" y="7000646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Revenue · 매출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1524305" y="7286854"/>
            <a:ext cx="5715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돈을 낸다</a:t>
            </a:r>
            <a:endParaRPr lang="en-US" sz="2800" dirty="0"/>
          </a:p>
        </p:txBody>
      </p:sp>
      <p:sp>
        <p:nvSpPr>
          <p:cNvPr id="41" name="Text 33"/>
          <p:cNvSpPr txBox="1"/>
          <p:nvPr/>
        </p:nvSpPr>
        <p:spPr>
          <a:xfrm>
            <a:off x="15620695" y="7248449"/>
            <a:ext cx="1524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700명</a:t>
            </a:r>
            <a:endParaRPr lang="en-US" sz="1900" dirty="0"/>
          </a:p>
        </p:txBody>
      </p:sp>
      <p:sp>
        <p:nvSpPr>
          <p:cNvPr id="42" name="Text 34"/>
          <p:cNvSpPr txBox="1"/>
          <p:nvPr/>
        </p:nvSpPr>
        <p:spPr>
          <a:xfrm>
            <a:off x="1524305" y="7619695"/>
            <a:ext cx="5715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KPI: ARPU · 결제 전환율 · LTV</a:t>
            </a:r>
            <a:endParaRPr lang="en-US" sz="1700" dirty="0"/>
          </a:p>
        </p:txBody>
      </p:sp>
      <p:sp>
        <p:nvSpPr>
          <p:cNvPr id="43" name="Text 35"/>
          <p:cNvSpPr txBox="1"/>
          <p:nvPr/>
        </p:nvSpPr>
        <p:spPr>
          <a:xfrm>
            <a:off x="1524305" y="8191195"/>
            <a:ext cx="1334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</a:t>
            </a:r>
            <a:endParaRPr lang="en-US" sz="1600" dirty="0"/>
          </a:p>
        </p:txBody>
      </p:sp>
      <p:sp>
        <p:nvSpPr>
          <p:cNvPr id="44" name="Text 36"/>
          <p:cNvSpPr txBox="1"/>
          <p:nvPr/>
        </p:nvSpPr>
        <p:spPr>
          <a:xfrm>
            <a:off x="1904695" y="8191195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Referral · 추천</a:t>
            </a:r>
            <a:endParaRPr lang="en-US" sz="1600" dirty="0"/>
          </a:p>
        </p:txBody>
      </p:sp>
      <p:sp>
        <p:nvSpPr>
          <p:cNvPr id="45" name="Text 37"/>
          <p:cNvSpPr txBox="1"/>
          <p:nvPr/>
        </p:nvSpPr>
        <p:spPr>
          <a:xfrm>
            <a:off x="1524305" y="8477402"/>
            <a:ext cx="5715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스스로 친구를 데려온다</a:t>
            </a:r>
            <a:endParaRPr lang="en-US" sz="2800" dirty="0"/>
          </a:p>
        </p:txBody>
      </p:sp>
      <p:sp>
        <p:nvSpPr>
          <p:cNvPr id="46" name="Text 38"/>
          <p:cNvSpPr txBox="1"/>
          <p:nvPr/>
        </p:nvSpPr>
        <p:spPr>
          <a:xfrm>
            <a:off x="15620695" y="8438998"/>
            <a:ext cx="1524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140명</a:t>
            </a:r>
            <a:endParaRPr lang="en-US" sz="1900" dirty="0"/>
          </a:p>
        </p:txBody>
      </p:sp>
      <p:sp>
        <p:nvSpPr>
          <p:cNvPr id="47" name="Text 39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52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239305" cy="10287000"/>
          </a:xfrm>
          <a:prstGeom prst="rect">
            <a:avLst/>
          </a:prstGeom>
          <a:solidFill>
            <a:srgbClr val="5B2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7905902" y="3619195"/>
            <a:ext cx="9525305" cy="1524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7905902" y="5333695"/>
            <a:ext cx="9525305" cy="1524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7905902" y="7048195"/>
            <a:ext cx="9525305" cy="15243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4953305"/>
            <a:ext cx="571500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1524305"/>
            <a:ext cx="5334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 C · 3교시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2286000"/>
            <a:ext cx="5334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마켓컬리</a:t>
            </a:r>
            <a:endParaRPr lang="en-US" sz="66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3619195"/>
            <a:ext cx="5334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"새벽배송 = 마켓컬리"</a:t>
            </a:r>
            <a:endParaRPr lang="en-US" sz="2100" dirty="0"/>
          </a:p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카테고리 자체를 만들었다 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52385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/ 운영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55056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2014년 · 김슬아 (컬리)</a:t>
            </a:r>
            <a:endParaRPr lang="en-US" sz="22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609630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시작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6362395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2015년 · 샛별배송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69530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72201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식품 · 새벽배송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7905902" y="1333195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&amp; Growth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905902" y="1714500"/>
            <a:ext cx="9525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한 단어를 </a:t>
            </a:r>
            <a:r>
              <a:rPr lang="en-US" sz="4000" b="1" kern="0" spc="-112" dirty="0">
                <a:solidFill>
                  <a:srgbClr val="5B2A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선점</a:t>
            </a: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한다 </a:t>
            </a:r>
            <a:endParaRPr lang="en-US" sz="4000" dirty="0"/>
          </a:p>
        </p:txBody>
      </p:sp>
      <p:sp>
        <p:nvSpPr>
          <p:cNvPr id="21" name="Text 14"/>
          <p:cNvSpPr txBox="1"/>
          <p:nvPr/>
        </p:nvSpPr>
        <p:spPr>
          <a:xfrm>
            <a:off x="8287207" y="3829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5B2A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9144000" y="3886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"샛별배송"이라는 단어를 직접 만들었다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9144000" y="4238244"/>
            <a:ext cx="92775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"새벽배송 1위"가 아니라 "샛별배송"이라는 고유 명칭으로 카테고리 자체를 정의.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287207" y="55440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5B2A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18"/>
          <p:cNvSpPr txBox="1"/>
          <p:nvPr/>
        </p:nvSpPr>
        <p:spPr>
          <a:xfrm>
            <a:off x="9144000" y="56007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큐레이션 = 일관된 브랜드 약속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9144000" y="5952744"/>
            <a:ext cx="92491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"내가 직접 먹어보고 안 좋으면 안 판다." 사는 이유 = 컬리가 골랐기 때문이다.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8287207" y="7258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5B2A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9144000" y="7315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코드 — 가장 강력한 그로스 채널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9144000" y="766724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적립금 추천 코드 + 첫 구매 100원딜 = AARRR 마지막 R(Referral)을 시스템화.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905902" y="8906256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컬리 공식 기업 소개 / 언론 인터뷰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52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048695" y="0"/>
            <a:ext cx="7239305" cy="10287000"/>
          </a:xfrm>
          <a:prstGeom prst="rect">
            <a:avLst/>
          </a:prstGeom>
          <a:solidFill>
            <a:srgbClr val="1F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1143000" y="3619195"/>
            <a:ext cx="9525305" cy="1524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1143000" y="5333695"/>
            <a:ext cx="9525305" cy="1524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1143000" y="7048195"/>
            <a:ext cx="9525305" cy="15243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811305" y="4953305"/>
            <a:ext cx="571500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1811305" y="1333195"/>
            <a:ext cx="571500" cy="28346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811305" y="1524305"/>
            <a:ext cx="5334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 D · 3교시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11811305" y="2286000"/>
            <a:ext cx="5334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무신사</a:t>
            </a:r>
            <a:endParaRPr lang="en-US" sz="6600" dirty="0"/>
          </a:p>
        </p:txBody>
      </p:sp>
      <p:sp>
        <p:nvSpPr>
          <p:cNvPr id="12" name="Text 5"/>
          <p:cNvSpPr txBox="1"/>
          <p:nvPr/>
        </p:nvSpPr>
        <p:spPr>
          <a:xfrm>
            <a:off x="11811305" y="3619195"/>
            <a:ext cx="5334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"무진장 신발 사진 많은 곳"</a:t>
            </a:r>
            <a:endParaRPr lang="en-US" sz="2100" dirty="0"/>
          </a:p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커뮤니티가 커머스가 됐다 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11811305" y="52385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1811305" y="55056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2003년 · 조만호 (커뮤니티)</a:t>
            </a:r>
            <a:endParaRPr lang="en-US" sz="2200" dirty="0"/>
          </a:p>
        </p:txBody>
      </p:sp>
      <p:sp>
        <p:nvSpPr>
          <p:cNvPr id="15" name="Text 8"/>
          <p:cNvSpPr txBox="1"/>
          <p:nvPr/>
        </p:nvSpPr>
        <p:spPr>
          <a:xfrm>
            <a:off x="11811305" y="609630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유니콘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1811305" y="6362395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2019년 · 기업가치 2.2조원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11305" y="69530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1811305" y="72201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패션 커뮤니티 → 커머스 → 브랜드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1333195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we learn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1714500"/>
            <a:ext cx="95253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12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팬덤</a:t>
            </a: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만들어진 후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커머스가 따라왔다 </a:t>
            </a:r>
            <a:endParaRPr lang="en-US" sz="4000" dirty="0"/>
          </a:p>
        </p:txBody>
      </p:sp>
      <p:sp>
        <p:nvSpPr>
          <p:cNvPr id="21" name="Text 14"/>
          <p:cNvSpPr txBox="1"/>
          <p:nvPr/>
        </p:nvSpPr>
        <p:spPr>
          <a:xfrm>
            <a:off x="1524305" y="3829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2381098" y="3886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16년의 커뮤니티 운영 = "Unfair Advantage"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2381098" y="4238244"/>
            <a:ext cx="8992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프리챌 동호회 시절부터 모은 신뢰. 후발주자가 광고비로 카피할 수 없는 자산.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1524305" y="55440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18"/>
          <p:cNvSpPr txBox="1"/>
          <p:nvPr/>
        </p:nvSpPr>
        <p:spPr>
          <a:xfrm>
            <a:off x="2381098" y="56007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"무진장 신발 사진" — 어원이 곧 브랜드 자산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2381098" y="5952744"/>
            <a:ext cx="8849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줄임말이 사용자가 만든 친근한 정체성으로 작동. 광고 없이 검색량을 키운다.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524305" y="7258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2381098" y="7315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무신사 스탠다드 — 기획PB로 브랜드 락인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2381098" y="7667244"/>
            <a:ext cx="8677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플랫폼이 직접 브랜드를 만들어 마진·로열티 확보. 커머스 → 브랜드로 진화.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143000" y="8906256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무신사 공식 기업 소개 / 시리즈 투자 공시 / 언론 인터뷰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52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1143000" y="3143707"/>
            <a:ext cx="8096098" cy="55248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430207" y="3143707"/>
            <a:ext cx="8096098" cy="552480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 · Self-Check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952805"/>
            <a:ext cx="16193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저예산 마케팅 </a:t>
            </a:r>
            <a:r>
              <a:rPr lang="en-US" sz="4800" b="1" kern="0" spc="-15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자가진단</a:t>
            </a: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12 </a:t>
            </a:r>
            <a:endParaRPr lang="en-US" sz="48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≥ 9개 → 광고비를 늘려도 OK · 체크 ≤ 5개 → 채널 지출 줄이고 기본기를 먼저</a:t>
            </a:r>
            <a:endParaRPr lang="en-US" sz="2100" dirty="0"/>
          </a:p>
        </p:txBody>
      </p:sp>
      <p:sp>
        <p:nvSpPr>
          <p:cNvPr id="10" name="Text 5"/>
          <p:cNvSpPr txBox="1"/>
          <p:nvPr/>
        </p:nvSpPr>
        <p:spPr>
          <a:xfrm>
            <a:off x="1524305" y="3448202"/>
            <a:ext cx="7334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· 메시지 &amp; 자산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3733495"/>
            <a:ext cx="73344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공짜로 다질 수 있는 6가지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4334256"/>
            <a:ext cx="7334402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UVP를 한 문장으로 누구나 외운다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랜딩페이지 첫 화면 3초 안에 가치가 보인다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FAQ 10개·주문 동선·환불 정책이 정리됐다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후기/리뷰 이미지가 5개 이상 있다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사장님(창업자) 본인 얼굴·목소리 콘텐츠가 있다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브랜드 컬러·로고·서체 가이드 1장이 있다 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9810598" y="3448202"/>
            <a:ext cx="7334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· 채널 &amp; 측정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9810598" y="3733495"/>
            <a:ext cx="73344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돈 쓰기 전 다질 6가지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9810598" y="4334256"/>
            <a:ext cx="7334402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집중 채널 2개를 선택했다 (3개 이상 NO)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주간 노출·CTR·전환을 1장에 본다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매주 콘텐츠 1개 이상을 발행한다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한 달 안에 10명 이상 고객 인터뷰를 했다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재구매 / 추천을 유도하는 한 가지 장치가 있다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F1A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CAC와 LTV를 대략이라도 추정해 봤다 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8906256"/>
            <a:ext cx="1619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kern="0" spc="38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광고비를 더 쓰는 결정</a:t>
            </a:r>
            <a:r>
              <a:rPr lang="en-US" sz="1600" b="1" kern="0" spc="38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 이 12개를 모두 채운 후에 내려도 늦지 않다. 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52</a:t>
            </a:r>
            <a:endParaRPr lang="en-US" sz="1500" dirty="0"/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00" cy="10287000"/>
          </a:xfrm>
          <a:prstGeom prst="rect">
            <a:avLst/>
          </a:prstGeom>
          <a:solidFill>
            <a:srgbClr val="FBF3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5143500" y="1143000"/>
            <a:ext cx="12382805" cy="8001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2361895"/>
            <a:ext cx="11620195" cy="914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3886200"/>
            <a:ext cx="116201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4267505"/>
            <a:ext cx="11620195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5524805" y="5505602"/>
            <a:ext cx="5524805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11620195" y="5505602"/>
            <a:ext cx="5524805" cy="91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5524805" y="5886907"/>
            <a:ext cx="5524805" cy="9144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11620195" y="5886907"/>
            <a:ext cx="5524805" cy="9144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7125005"/>
            <a:ext cx="11620195" cy="9144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5524805" y="7524598"/>
            <a:ext cx="11658600" cy="1333195"/>
          </a:xfrm>
          <a:prstGeom prst="rect">
            <a:avLst/>
          </a:prstGeom>
          <a:solidFill>
            <a:srgbClr val="FDF1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4"/>
          <p:cNvSpPr/>
          <p:nvPr/>
        </p:nvSpPr>
        <p:spPr>
          <a:xfrm>
            <a:off x="5524805" y="7524598"/>
            <a:ext cx="38405" cy="1333195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rcRect l="-2083" r="-2083"/>
          <a:stretch/>
        </p:blipFill>
        <p:spPr>
          <a:xfrm>
            <a:off x="5810098" y="8553298"/>
            <a:ext cx="11048695" cy="9144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761695" y="1143000"/>
            <a:ext cx="571500" cy="28346"/>
          </a:xfrm>
          <a:prstGeom prst="rect">
            <a:avLst/>
          </a:prstGeom>
        </p:spPr>
      </p:pic>
      <p:sp>
        <p:nvSpPr>
          <p:cNvPr id="18" name="Text 5"/>
          <p:cNvSpPr txBox="1"/>
          <p:nvPr/>
        </p:nvSpPr>
        <p:spPr>
          <a:xfrm>
            <a:off x="761695" y="1333195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· 25 min</a:t>
            </a:r>
            <a:endParaRPr lang="en-US" sz="1600" dirty="0"/>
          </a:p>
        </p:txBody>
      </p:sp>
      <p:sp>
        <p:nvSpPr>
          <p:cNvPr id="19" name="Text 6"/>
          <p:cNvSpPr txBox="1"/>
          <p:nvPr/>
        </p:nvSpPr>
        <p:spPr>
          <a:xfrm>
            <a:off x="761695" y="1904695"/>
            <a:ext cx="362011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워크시트 #3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5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이번 달</a:t>
            </a: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마케팅 1장 </a:t>
            </a:r>
            <a:endParaRPr lang="en-US" sz="4500" dirty="0"/>
          </a:p>
        </p:txBody>
      </p:sp>
      <p:sp>
        <p:nvSpPr>
          <p:cNvPr id="20" name="Text 7"/>
          <p:cNvSpPr txBox="1"/>
          <p:nvPr/>
        </p:nvSpPr>
        <p:spPr>
          <a:xfrm>
            <a:off x="761695" y="4572000"/>
            <a:ext cx="3238805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개인 작성 18분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짝꿍과 채널 결정 7분.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"30일 안에 실행 가능"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안만 적습니다. </a:t>
            </a:r>
            <a:endParaRPr lang="en-US" sz="1900" dirty="0"/>
          </a:p>
        </p:txBody>
      </p:sp>
      <p:sp>
        <p:nvSpPr>
          <p:cNvPr id="21" name="Text 8"/>
          <p:cNvSpPr txBox="1"/>
          <p:nvPr/>
        </p:nvSpPr>
        <p:spPr>
          <a:xfrm>
            <a:off x="761695" y="87626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52</a:t>
            </a:r>
            <a:endParaRPr lang="en-US" sz="1500" dirty="0"/>
          </a:p>
        </p:txBody>
      </p:sp>
      <p:sp>
        <p:nvSpPr>
          <p:cNvPr id="22" name="Text 9"/>
          <p:cNvSpPr txBox="1"/>
          <p:nvPr/>
        </p:nvSpPr>
        <p:spPr>
          <a:xfrm>
            <a:off x="5524805" y="1524305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· Funnel 진단</a:t>
            </a:r>
            <a:endParaRPr lang="en-US" sz="1600" dirty="0"/>
          </a:p>
        </p:txBody>
      </p:sp>
      <p:sp>
        <p:nvSpPr>
          <p:cNvPr id="23" name="Text 10"/>
          <p:cNvSpPr txBox="1"/>
          <p:nvPr/>
        </p:nvSpPr>
        <p:spPr>
          <a:xfrm>
            <a:off x="5524805" y="1790395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AARRR 5단계 중 가장 큰 누수 1개는?</a:t>
            </a:r>
            <a:endParaRPr lang="en-US" sz="2400" dirty="0"/>
          </a:p>
        </p:txBody>
      </p:sp>
      <p:sp>
        <p:nvSpPr>
          <p:cNvPr id="24" name="Text 11"/>
          <p:cNvSpPr txBox="1"/>
          <p:nvPr/>
        </p:nvSpPr>
        <p:spPr>
          <a:xfrm>
            <a:off x="5524805" y="2514600"/>
            <a:ext cx="11621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Acquisition □ Activation □ Retention □ Revenue □ Referral</a:t>
            </a:r>
            <a:endParaRPr lang="en-US" sz="1800" dirty="0"/>
          </a:p>
        </p:txBody>
      </p:sp>
      <p:sp>
        <p:nvSpPr>
          <p:cNvPr id="25" name="Text 12"/>
          <p:cNvSpPr txBox="1"/>
          <p:nvPr/>
        </p:nvSpPr>
        <p:spPr>
          <a:xfrm>
            <a:off x="5524805" y="3047695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· 채널 선택</a:t>
            </a:r>
            <a:endParaRPr lang="en-US" sz="1600" dirty="0"/>
          </a:p>
        </p:txBody>
      </p:sp>
      <p:sp>
        <p:nvSpPr>
          <p:cNvPr id="26" name="Text 13"/>
          <p:cNvSpPr txBox="1"/>
          <p:nvPr/>
        </p:nvSpPr>
        <p:spPr>
          <a:xfrm>
            <a:off x="5524805" y="3314700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집중할 채널 2개와 그 이유는?</a:t>
            </a:r>
            <a:endParaRPr lang="en-US" sz="2400" dirty="0"/>
          </a:p>
        </p:txBody>
      </p:sp>
      <p:sp>
        <p:nvSpPr>
          <p:cNvPr id="27" name="Text 14"/>
          <p:cNvSpPr txBox="1"/>
          <p:nvPr/>
        </p:nvSpPr>
        <p:spPr>
          <a:xfrm>
            <a:off x="5524805" y="4667098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· 콘텐츠 4개</a:t>
            </a:r>
            <a:endParaRPr lang="en-US" sz="1600" dirty="0"/>
          </a:p>
        </p:txBody>
      </p:sp>
      <p:sp>
        <p:nvSpPr>
          <p:cNvPr id="28" name="Text 15"/>
          <p:cNvSpPr txBox="1"/>
          <p:nvPr/>
        </p:nvSpPr>
        <p:spPr>
          <a:xfrm>
            <a:off x="5524805" y="4934102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발행할 콘텐츠 4개의 제목 (주 1개)</a:t>
            </a:r>
            <a:endParaRPr lang="en-US" sz="2400" dirty="0"/>
          </a:p>
        </p:txBody>
      </p:sp>
      <p:sp>
        <p:nvSpPr>
          <p:cNvPr id="29" name="Text 16"/>
          <p:cNvSpPr txBox="1"/>
          <p:nvPr/>
        </p:nvSpPr>
        <p:spPr>
          <a:xfrm>
            <a:off x="5524805" y="6286500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· 측정 지표 1개</a:t>
            </a:r>
            <a:endParaRPr lang="en-US" sz="1600" dirty="0"/>
          </a:p>
        </p:txBody>
      </p:sp>
      <p:sp>
        <p:nvSpPr>
          <p:cNvPr id="30" name="Text 17"/>
          <p:cNvSpPr txBox="1"/>
          <p:nvPr/>
        </p:nvSpPr>
        <p:spPr>
          <a:xfrm>
            <a:off x="5524805" y="6553505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월요일 9시에 확인할 단 하나의 숫자는?</a:t>
            </a:r>
            <a:endParaRPr lang="en-US" sz="2400" dirty="0"/>
          </a:p>
        </p:txBody>
      </p:sp>
      <p:sp>
        <p:nvSpPr>
          <p:cNvPr id="31" name="Text 18"/>
          <p:cNvSpPr txBox="1"/>
          <p:nvPr/>
        </p:nvSpPr>
        <p:spPr>
          <a:xfrm>
            <a:off x="5810098" y="7715707"/>
            <a:ext cx="11239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⚑ 약속</a:t>
            </a:r>
            <a:endParaRPr lang="en-US" sz="1600" dirty="0"/>
          </a:p>
        </p:txBody>
      </p:sp>
      <p:sp>
        <p:nvSpPr>
          <p:cNvPr id="32" name="Text 19"/>
          <p:cNvSpPr txBox="1"/>
          <p:nvPr/>
        </p:nvSpPr>
        <p:spPr>
          <a:xfrm>
            <a:off x="5810098" y="7981798"/>
            <a:ext cx="11239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저녁 ___시까지, 위 1번 단계를 개선할 ___ 1가지를 실행한다."</a:t>
            </a:r>
            <a:endParaRPr lang="en-US" sz="22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0287000" y="0"/>
            <a:ext cx="8456371" cy="742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0" b="1" kern="0" spc="-1875" dirty="0">
                <a:solidFill>
                  <a:srgbClr val="D8A93B">
                    <a:alpha val="18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5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4572000"/>
            <a:ext cx="16192195" cy="914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6191402"/>
            <a:ext cx="16192195" cy="914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7810805"/>
            <a:ext cx="161921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152430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 3 · Recap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286000"/>
            <a:ext cx="123828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3교시 핵심 3가지</a:t>
            </a:r>
            <a:endParaRPr lang="en-US" sz="72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4953305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500" dirty="0"/>
          </a:p>
        </p:txBody>
      </p:sp>
      <p:sp>
        <p:nvSpPr>
          <p:cNvPr id="12" name="Text 6"/>
          <p:cNvSpPr txBox="1"/>
          <p:nvPr/>
        </p:nvSpPr>
        <p:spPr>
          <a:xfrm>
            <a:off x="2286000" y="5009998"/>
            <a:ext cx="1428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브랜드 = WHY · WHO · HOW · </a:t>
            </a:r>
            <a:r>
              <a:rPr lang="en-US" sz="3100" b="1" kern="0" spc="-75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WHAT</a:t>
            </a:r>
            <a:endParaRPr lang="en-US" sz="3100" dirty="0"/>
          </a:p>
        </p:txBody>
      </p:sp>
      <p:sp>
        <p:nvSpPr>
          <p:cNvPr id="13" name="Text 7"/>
          <p:cNvSpPr txBox="1"/>
          <p:nvPr/>
        </p:nvSpPr>
        <p:spPr>
          <a:xfrm>
            <a:off x="2286000" y="5544007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로고가 아니라 4가지 질문에 한 문장으로 답할 수 있는가의 문제.</a:t>
            </a:r>
            <a:endParaRPr lang="en-US" sz="19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6572707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500" dirty="0"/>
          </a:p>
        </p:txBody>
      </p:sp>
      <p:sp>
        <p:nvSpPr>
          <p:cNvPr id="15" name="Text 9"/>
          <p:cNvSpPr txBox="1"/>
          <p:nvPr/>
        </p:nvSpPr>
        <p:spPr>
          <a:xfrm>
            <a:off x="2286000" y="6629400"/>
            <a:ext cx="1428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채널은 </a:t>
            </a:r>
            <a:r>
              <a:rPr lang="en-US" sz="3100" b="1" kern="0" spc="-75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2개</a:t>
            </a: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 — 모두를 하면 모두를 망친다 </a:t>
            </a:r>
            <a:endParaRPr lang="en-US" sz="3100" dirty="0"/>
          </a:p>
        </p:txBody>
      </p:sp>
      <p:sp>
        <p:nvSpPr>
          <p:cNvPr id="16" name="Text 10"/>
          <p:cNvSpPr txBox="1"/>
          <p:nvPr/>
        </p:nvSpPr>
        <p:spPr>
          <a:xfrm>
            <a:off x="2286000" y="7162495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페르소나·단계·예산에 맞는 채널을 골라 깊게. 6개월 후에야 채널을 늘릴지 결정한다.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8191195"/>
            <a:ext cx="762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500" dirty="0"/>
          </a:p>
        </p:txBody>
      </p:sp>
      <p:sp>
        <p:nvSpPr>
          <p:cNvPr id="18" name="Text 12"/>
          <p:cNvSpPr txBox="1"/>
          <p:nvPr/>
        </p:nvSpPr>
        <p:spPr>
          <a:xfrm>
            <a:off x="2286000" y="8248802"/>
            <a:ext cx="14287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AARRR 중 </a:t>
            </a:r>
            <a:r>
              <a:rPr lang="en-US" sz="3100" b="1" kern="0" spc="-75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가장 큰 누수</a:t>
            </a: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우선순위 </a:t>
            </a:r>
            <a:endParaRPr lang="en-US" sz="3100" dirty="0"/>
          </a:p>
        </p:txBody>
      </p:sp>
      <p:sp>
        <p:nvSpPr>
          <p:cNvPr id="19" name="Text 13"/>
          <p:cNvSpPr txBox="1"/>
          <p:nvPr/>
        </p:nvSpPr>
        <p:spPr>
          <a:xfrm>
            <a:off x="2286000" y="8781898"/>
            <a:ext cx="1428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단계를 채울수록 ROI 극대화. 광고비는 누수가 막힌 다음에 더 쓴다.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6763695" y="1333195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52</a:t>
            </a:r>
            <a:endParaRPr lang="en-US" sz="15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525305" y="0"/>
            <a:ext cx="11049610" cy="1028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500" b="1" kern="0" spc="-3000" dirty="0">
                <a:solidFill>
                  <a:srgbClr val="FFFFFF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8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524305"/>
            <a:ext cx="5715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45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 4 · 60 minutes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095805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kern="0" spc="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위기관리와 사업 재도약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123798" y="3619195"/>
            <a:ext cx="16193110" cy="2800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3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끝이 아니라</a:t>
            </a:r>
            <a:endParaRPr lang="en-US" sz="10500" dirty="0"/>
          </a:p>
          <a:p>
            <a:pPr marL="0" indent="0" algn="l">
              <a:buNone/>
            </a:pPr>
            <a:r>
              <a:rPr lang="en-US" sz="10500" b="1" kern="0" spc="-300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전환</a:t>
            </a:r>
            <a:r>
              <a:rPr lang="en-US" sz="10500" b="1" kern="0" spc="-3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 </a:t>
            </a:r>
            <a:endParaRPr lang="en-US" sz="10500" dirty="0"/>
          </a:p>
        </p:txBody>
      </p:sp>
      <p:sp>
        <p:nvSpPr>
          <p:cNvPr id="9" name="Shape 6"/>
          <p:cNvSpPr/>
          <p:nvPr/>
        </p:nvSpPr>
        <p:spPr>
          <a:xfrm>
            <a:off x="12191695" y="7239305"/>
            <a:ext cx="5181905" cy="209580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2191695" y="7239305"/>
            <a:ext cx="38405" cy="2095805"/>
          </a:xfrm>
          <a:prstGeom prst="rect">
            <a:avLst/>
          </a:prstGeom>
          <a:solidFill>
            <a:srgbClr val="E85D2C"/>
          </a:solidFill>
          <a:ln w="12700">
            <a:solidFill>
              <a:srgbClr val="E85D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7524598"/>
            <a:ext cx="1047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kern="0" spc="1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Modules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905902"/>
            <a:ext cx="104781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01 위기 신호 · 라이프사이클 · 02 피벗 10유형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03 사례 · 구조조정 · 04 재도약 자금조달 · 워크숍 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2573000" y="7524598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573000" y="7830007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위기 신호 8개와 피벗 10유형으로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재도약 의사결정을 설계하고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다음 90일의 윤곽을 잡는다 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7145000" y="1333195"/>
            <a:ext cx="952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52</a:t>
            </a:r>
            <a:endParaRPr lang="en-US" sz="160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1143000" y="3143707"/>
            <a:ext cx="3905402" cy="271485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5238598" y="3143707"/>
            <a:ext cx="3905402" cy="271485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9334195" y="3143707"/>
            <a:ext cx="3905402" cy="271485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13430707" y="3143707"/>
            <a:ext cx="3905402" cy="271485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1143000" y="6096305"/>
            <a:ext cx="3905402" cy="271485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5238598" y="6096305"/>
            <a:ext cx="3905402" cy="2714854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9334195" y="6096305"/>
            <a:ext cx="3905402" cy="2714854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13430707" y="6096305"/>
            <a:ext cx="3905402" cy="2714854"/>
          </a:xfrm>
          <a:prstGeom prst="rect">
            <a:avLst/>
          </a:prstGeom>
        </p:spPr>
      </p:pic>
      <p:sp>
        <p:nvSpPr>
          <p:cNvPr id="13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 · Module 01 · Signals</a:t>
            </a:r>
            <a:endParaRPr lang="en-US" sz="1600" dirty="0"/>
          </a:p>
        </p:txBody>
      </p:sp>
      <p:sp>
        <p:nvSpPr>
          <p:cNvPr id="14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조용히 다가오는 </a:t>
            </a:r>
            <a:r>
              <a:rPr lang="en-US" sz="4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위기 신호 8가지</a:t>
            </a:r>
            <a:endParaRPr lang="en-US" sz="4800" dirty="0"/>
          </a:p>
        </p:txBody>
      </p:sp>
      <p:sp>
        <p:nvSpPr>
          <p:cNvPr id="15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위기는 갑자기 오지 않습니다. 신호 3개 이상이 동시에 보이면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의식적 결정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필요한 시점입니다. </a:t>
            </a:r>
            <a:endParaRPr lang="en-US" sz="2100" dirty="0"/>
          </a:p>
        </p:txBody>
      </p:sp>
      <p:sp>
        <p:nvSpPr>
          <p:cNvPr id="16" name="Text 5"/>
          <p:cNvSpPr txBox="1"/>
          <p:nvPr/>
        </p:nvSpPr>
        <p:spPr>
          <a:xfrm>
            <a:off x="1524305" y="3448202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700" dirty="0"/>
          </a:p>
        </p:txBody>
      </p:sp>
      <p:sp>
        <p:nvSpPr>
          <p:cNvPr id="17" name="Text 6"/>
          <p:cNvSpPr txBox="1"/>
          <p:nvPr/>
        </p:nvSpPr>
        <p:spPr>
          <a:xfrm>
            <a:off x="1524305" y="4172407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정체 12개월+</a:t>
            </a:r>
            <a:endParaRPr lang="en-US" sz="2200" dirty="0"/>
          </a:p>
        </p:txBody>
      </p:sp>
      <p:sp>
        <p:nvSpPr>
          <p:cNvPr id="18" name="Text 7"/>
          <p:cNvSpPr txBox="1"/>
          <p:nvPr/>
        </p:nvSpPr>
        <p:spPr>
          <a:xfrm>
            <a:off x="1524305" y="4552798"/>
            <a:ext cx="3143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YoY 성장률이 1년 이상 0% 근처에서 머문다</a:t>
            </a:r>
            <a:endParaRPr lang="en-US" sz="1700" dirty="0"/>
          </a:p>
        </p:txBody>
      </p:sp>
      <p:sp>
        <p:nvSpPr>
          <p:cNvPr id="19" name="Text 8"/>
          <p:cNvSpPr txBox="1"/>
          <p:nvPr/>
        </p:nvSpPr>
        <p:spPr>
          <a:xfrm>
            <a:off x="5619902" y="3448202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700" dirty="0"/>
          </a:p>
        </p:txBody>
      </p:sp>
      <p:sp>
        <p:nvSpPr>
          <p:cNvPr id="20" name="Text 9"/>
          <p:cNvSpPr txBox="1"/>
          <p:nvPr/>
        </p:nvSpPr>
        <p:spPr>
          <a:xfrm>
            <a:off x="5619902" y="4172407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고객 이탈</a:t>
            </a:r>
            <a:endParaRPr lang="en-US" sz="2200" dirty="0"/>
          </a:p>
        </p:txBody>
      </p:sp>
      <p:sp>
        <p:nvSpPr>
          <p:cNvPr id="21" name="Text 10"/>
          <p:cNvSpPr txBox="1"/>
          <p:nvPr/>
        </p:nvSpPr>
        <p:spPr>
          <a:xfrm>
            <a:off x="5619902" y="4552798"/>
            <a:ext cx="3143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20% VIP의 재방문·재구매가 30% 이상 줄었다</a:t>
            </a:r>
            <a:endParaRPr lang="en-US" sz="1700" dirty="0"/>
          </a:p>
        </p:txBody>
      </p:sp>
      <p:sp>
        <p:nvSpPr>
          <p:cNvPr id="22" name="Text 11"/>
          <p:cNvSpPr txBox="1"/>
          <p:nvPr/>
        </p:nvSpPr>
        <p:spPr>
          <a:xfrm>
            <a:off x="9715500" y="3448202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700" dirty="0"/>
          </a:p>
        </p:txBody>
      </p:sp>
      <p:sp>
        <p:nvSpPr>
          <p:cNvPr id="23" name="Text 12"/>
          <p:cNvSpPr txBox="1"/>
          <p:nvPr/>
        </p:nvSpPr>
        <p:spPr>
          <a:xfrm>
            <a:off x="9715500" y="4172407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영업이익률 5% 미만</a:t>
            </a:r>
            <a:endParaRPr lang="en-US" sz="2200" dirty="0"/>
          </a:p>
        </p:txBody>
      </p:sp>
      <p:sp>
        <p:nvSpPr>
          <p:cNvPr id="24" name="Text 13"/>
          <p:cNvSpPr txBox="1"/>
          <p:nvPr/>
        </p:nvSpPr>
        <p:spPr>
          <a:xfrm>
            <a:off x="9715500" y="4552798"/>
            <a:ext cx="3143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팔수록 손해이거나 임금·임대료가 매출 70%를 넘는다</a:t>
            </a:r>
            <a:endParaRPr lang="en-US" sz="1700" dirty="0"/>
          </a:p>
        </p:txBody>
      </p:sp>
      <p:sp>
        <p:nvSpPr>
          <p:cNvPr id="25" name="Text 14"/>
          <p:cNvSpPr txBox="1"/>
          <p:nvPr/>
        </p:nvSpPr>
        <p:spPr>
          <a:xfrm>
            <a:off x="13811098" y="3448202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3700" dirty="0"/>
          </a:p>
        </p:txBody>
      </p:sp>
      <p:sp>
        <p:nvSpPr>
          <p:cNvPr id="26" name="Text 15"/>
          <p:cNvSpPr txBox="1"/>
          <p:nvPr/>
        </p:nvSpPr>
        <p:spPr>
          <a:xfrm>
            <a:off x="13811098" y="4172407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런웨이 6개월 미만</a:t>
            </a:r>
            <a:endParaRPr lang="en-US" sz="2200" dirty="0"/>
          </a:p>
        </p:txBody>
      </p:sp>
      <p:sp>
        <p:nvSpPr>
          <p:cNvPr id="27" name="Text 16"/>
          <p:cNvSpPr txBox="1"/>
          <p:nvPr/>
        </p:nvSpPr>
        <p:spPr>
          <a:xfrm>
            <a:off x="13811098" y="4552798"/>
            <a:ext cx="381853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잔고 ÷ 월 비용 = 6개월 이하</a:t>
            </a:r>
            <a:endParaRPr lang="en-US" sz="1700" dirty="0"/>
          </a:p>
        </p:txBody>
      </p:sp>
      <p:sp>
        <p:nvSpPr>
          <p:cNvPr id="28" name="Text 17"/>
          <p:cNvSpPr txBox="1"/>
          <p:nvPr/>
        </p:nvSpPr>
        <p:spPr>
          <a:xfrm>
            <a:off x="1524305" y="6400800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3700" dirty="0"/>
          </a:p>
        </p:txBody>
      </p:sp>
      <p:sp>
        <p:nvSpPr>
          <p:cNvPr id="29" name="Text 18"/>
          <p:cNvSpPr txBox="1"/>
          <p:nvPr/>
        </p:nvSpPr>
        <p:spPr>
          <a:xfrm>
            <a:off x="1524305" y="7125005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인력 연속 이탈</a:t>
            </a:r>
            <a:endParaRPr lang="en-US" sz="2200" dirty="0"/>
          </a:p>
        </p:txBody>
      </p:sp>
      <p:sp>
        <p:nvSpPr>
          <p:cNvPr id="30" name="Text 19"/>
          <p:cNvSpPr txBox="1"/>
          <p:nvPr/>
        </p:nvSpPr>
        <p:spPr>
          <a:xfrm>
            <a:off x="1524305" y="7505395"/>
            <a:ext cx="3143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안에 키맨 2명 이상이 떠났다</a:t>
            </a:r>
            <a:endParaRPr lang="en-US" sz="1700" dirty="0"/>
          </a:p>
        </p:txBody>
      </p:sp>
      <p:sp>
        <p:nvSpPr>
          <p:cNvPr id="31" name="Text 20"/>
          <p:cNvSpPr txBox="1"/>
          <p:nvPr/>
        </p:nvSpPr>
        <p:spPr>
          <a:xfrm>
            <a:off x="5619902" y="6400800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3700" dirty="0"/>
          </a:p>
        </p:txBody>
      </p:sp>
      <p:sp>
        <p:nvSpPr>
          <p:cNvPr id="32" name="Text 21"/>
          <p:cNvSpPr txBox="1"/>
          <p:nvPr/>
        </p:nvSpPr>
        <p:spPr>
          <a:xfrm>
            <a:off x="5619902" y="7125005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상품 3년 고정</a:t>
            </a:r>
            <a:endParaRPr lang="en-US" sz="2200" dirty="0"/>
          </a:p>
        </p:txBody>
      </p:sp>
      <p:sp>
        <p:nvSpPr>
          <p:cNvPr id="33" name="Text 22"/>
          <p:cNvSpPr txBox="1"/>
          <p:nvPr/>
        </p:nvSpPr>
        <p:spPr>
          <a:xfrm>
            <a:off x="5619902" y="7505395"/>
            <a:ext cx="3143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1위 상품/서비스가 3년 이상 그대로다</a:t>
            </a:r>
            <a:endParaRPr lang="en-US" sz="1700" dirty="0"/>
          </a:p>
        </p:txBody>
      </p:sp>
      <p:sp>
        <p:nvSpPr>
          <p:cNvPr id="34" name="Text 23"/>
          <p:cNvSpPr txBox="1"/>
          <p:nvPr/>
        </p:nvSpPr>
        <p:spPr>
          <a:xfrm>
            <a:off x="9715500" y="6400800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3700" dirty="0"/>
          </a:p>
        </p:txBody>
      </p:sp>
      <p:sp>
        <p:nvSpPr>
          <p:cNvPr id="35" name="Text 24"/>
          <p:cNvSpPr txBox="1"/>
          <p:nvPr/>
        </p:nvSpPr>
        <p:spPr>
          <a:xfrm>
            <a:off x="9715500" y="7125005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경쟁자 신규 진입 가속</a:t>
            </a:r>
            <a:endParaRPr lang="en-US" sz="2200" dirty="0"/>
          </a:p>
        </p:txBody>
      </p:sp>
      <p:sp>
        <p:nvSpPr>
          <p:cNvPr id="36" name="Text 25"/>
          <p:cNvSpPr txBox="1"/>
          <p:nvPr/>
        </p:nvSpPr>
        <p:spPr>
          <a:xfrm>
            <a:off x="9715500" y="7505395"/>
            <a:ext cx="3143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카테고리에 작년만 2배의 후발주자</a:t>
            </a:r>
            <a:endParaRPr lang="en-US" sz="1700" dirty="0"/>
          </a:p>
        </p:txBody>
      </p:sp>
      <p:sp>
        <p:nvSpPr>
          <p:cNvPr id="37" name="Text 26"/>
          <p:cNvSpPr txBox="1"/>
          <p:nvPr/>
        </p:nvSpPr>
        <p:spPr>
          <a:xfrm>
            <a:off x="13811098" y="6400800"/>
            <a:ext cx="762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3700" dirty="0"/>
          </a:p>
        </p:txBody>
      </p:sp>
      <p:sp>
        <p:nvSpPr>
          <p:cNvPr id="38" name="Text 27"/>
          <p:cNvSpPr txBox="1"/>
          <p:nvPr/>
        </p:nvSpPr>
        <p:spPr>
          <a:xfrm>
            <a:off x="13811098" y="7125005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창업자의 번아웃</a:t>
            </a:r>
            <a:endParaRPr lang="en-US" sz="2200" dirty="0"/>
          </a:p>
        </p:txBody>
      </p:sp>
      <p:sp>
        <p:nvSpPr>
          <p:cNvPr id="39" name="Text 28"/>
          <p:cNvSpPr txBox="1"/>
          <p:nvPr/>
        </p:nvSpPr>
        <p:spPr>
          <a:xfrm>
            <a:off x="13811098" y="7505395"/>
            <a:ext cx="3143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"그만두고 싶다"가 주 1회 이상 떠오른다</a:t>
            </a:r>
            <a:endParaRPr lang="en-US" sz="1700" dirty="0"/>
          </a:p>
        </p:txBody>
      </p:sp>
      <p:sp>
        <p:nvSpPr>
          <p:cNvPr id="40" name="Text 29"/>
          <p:cNvSpPr txBox="1"/>
          <p:nvPr/>
        </p:nvSpPr>
        <p:spPr>
          <a:xfrm>
            <a:off x="1143000" y="9001354"/>
            <a:ext cx="1619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이상 = 재도약 의사결정 필요 · 5개 이상 = 외부 컨설팅·투자유치·구조조정 검토</a:t>
            </a:r>
            <a:endParaRPr lang="en-US" sz="1600" dirty="0"/>
          </a:p>
        </p:txBody>
      </p:sp>
      <p:sp>
        <p:nvSpPr>
          <p:cNvPr id="41" name="Text 30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52</a:t>
            </a:r>
            <a:endParaRPr lang="en-US" sz="15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143000" y="3143707"/>
            <a:ext cx="16192195" cy="4572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4381805" y="4858207"/>
            <a:ext cx="9144" cy="26673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7429500" y="4858207"/>
            <a:ext cx="9144" cy="26673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10477195" y="4858207"/>
            <a:ext cx="9144" cy="266730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13525805" y="4858207"/>
            <a:ext cx="9144" cy="2667305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 · Lifecycle</a:t>
            </a:r>
            <a:endParaRPr lang="en-US" sz="1600" dirty="0"/>
          </a:p>
        </p:txBody>
      </p:sp>
      <p:sp>
        <p:nvSpPr>
          <p:cNvPr id="11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내 사업은 지금 </a:t>
            </a:r>
            <a:r>
              <a:rPr lang="en-US" sz="4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어디</a:t>
            </a: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 있나 </a:t>
            </a:r>
            <a:endParaRPr lang="en-US" sz="480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Greiner의 성장 단계 모델 재구성. 단계마다 성공 공식이 다릅니다 —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"이전에 통한 것"이 다음 단계의 함정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됩니다. </a:t>
            </a:r>
            <a:endParaRPr lang="en-US" sz="2100" dirty="0"/>
          </a:p>
        </p:txBody>
      </p:sp>
      <p:sp>
        <p:nvSpPr>
          <p:cNvPr id="13" name="Text 5"/>
          <p:cNvSpPr txBox="1"/>
          <p:nvPr/>
        </p:nvSpPr>
        <p:spPr>
          <a:xfrm>
            <a:off x="1524305" y="3524098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1 · 0~1년</a:t>
            </a:r>
            <a:endParaRPr lang="en-US" sz="1500" dirty="0"/>
          </a:p>
        </p:txBody>
      </p:sp>
      <p:sp>
        <p:nvSpPr>
          <p:cNvPr id="14" name="Text 6"/>
          <p:cNvSpPr txBox="1"/>
          <p:nvPr/>
        </p:nvSpPr>
        <p:spPr>
          <a:xfrm>
            <a:off x="1524305" y="3791102"/>
            <a:ext cx="2857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창업기</a:t>
            </a:r>
            <a:endParaRPr lang="en-US" sz="3000" dirty="0"/>
          </a:p>
        </p:txBody>
      </p:sp>
      <p:sp>
        <p:nvSpPr>
          <p:cNvPr id="15" name="Text 7"/>
          <p:cNvSpPr txBox="1"/>
          <p:nvPr/>
        </p:nvSpPr>
        <p:spPr>
          <a:xfrm>
            <a:off x="1524305" y="4238244"/>
            <a:ext cx="285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PMF 탐색 · 첫 매출</a:t>
            </a:r>
            <a:endParaRPr lang="en-US" sz="1700" dirty="0"/>
          </a:p>
        </p:txBody>
      </p:sp>
      <p:sp>
        <p:nvSpPr>
          <p:cNvPr id="16" name="Text 8"/>
          <p:cNvSpPr txBox="1"/>
          <p:nvPr/>
        </p:nvSpPr>
        <p:spPr>
          <a:xfrm>
            <a:off x="4572000" y="3524098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2 · 1~3년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4572000" y="3791102"/>
            <a:ext cx="2857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성장기</a:t>
            </a:r>
            <a:endParaRPr lang="en-US" sz="3000" dirty="0"/>
          </a:p>
        </p:txBody>
      </p:sp>
      <p:sp>
        <p:nvSpPr>
          <p:cNvPr id="18" name="Text 10"/>
          <p:cNvSpPr txBox="1"/>
          <p:nvPr/>
        </p:nvSpPr>
        <p:spPr>
          <a:xfrm>
            <a:off x="4572000" y="4238244"/>
            <a:ext cx="285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가속 · 채용 시작</a:t>
            </a:r>
            <a:endParaRPr lang="en-US" sz="1700" dirty="0"/>
          </a:p>
        </p:txBody>
      </p:sp>
      <p:sp>
        <p:nvSpPr>
          <p:cNvPr id="19" name="Text 11"/>
          <p:cNvSpPr txBox="1"/>
          <p:nvPr/>
        </p:nvSpPr>
        <p:spPr>
          <a:xfrm>
            <a:off x="7619695" y="3524098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3 · 3~7년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7619695" y="3791102"/>
            <a:ext cx="2857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확장기</a:t>
            </a:r>
            <a:endParaRPr lang="en-US" sz="3000" dirty="0"/>
          </a:p>
        </p:txBody>
      </p:sp>
      <p:sp>
        <p:nvSpPr>
          <p:cNvPr id="21" name="Text 13"/>
          <p:cNvSpPr txBox="1"/>
          <p:nvPr/>
        </p:nvSpPr>
        <p:spPr>
          <a:xfrm>
            <a:off x="7619695" y="4238244"/>
            <a:ext cx="285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조직화 · 신사업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10668305" y="3524098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4 · 7년+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10668305" y="3791102"/>
            <a:ext cx="2857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정체기</a:t>
            </a:r>
            <a:endParaRPr lang="en-US" sz="3000" dirty="0"/>
          </a:p>
        </p:txBody>
      </p:sp>
      <p:sp>
        <p:nvSpPr>
          <p:cNvPr id="24" name="Text 16"/>
          <p:cNvSpPr txBox="1"/>
          <p:nvPr/>
        </p:nvSpPr>
        <p:spPr>
          <a:xfrm>
            <a:off x="10668305" y="4238244"/>
            <a:ext cx="285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둔화 · 위기 신호</a:t>
            </a:r>
            <a:endParaRPr lang="en-US" sz="1700" dirty="0"/>
          </a:p>
        </p:txBody>
      </p:sp>
      <p:sp>
        <p:nvSpPr>
          <p:cNvPr id="25" name="Text 17"/>
          <p:cNvSpPr txBox="1"/>
          <p:nvPr/>
        </p:nvSpPr>
        <p:spPr>
          <a:xfrm>
            <a:off x="13716000" y="35240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5 · 결정의 순간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3716000" y="3791102"/>
            <a:ext cx="3238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재도약 / 출구</a:t>
            </a:r>
            <a:endParaRPr lang="en-US" sz="3000" dirty="0"/>
          </a:p>
        </p:txBody>
      </p:sp>
      <p:sp>
        <p:nvSpPr>
          <p:cNvPr id="27" name="Text 19"/>
          <p:cNvSpPr txBox="1"/>
          <p:nvPr/>
        </p:nvSpPr>
        <p:spPr>
          <a:xfrm>
            <a:off x="13716000" y="4238244"/>
            <a:ext cx="3238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 · M&amp;A · 청산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5048402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Task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1524305" y="5333695"/>
            <a:ext cx="2667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가설 검증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발견 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1524305" y="64766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524305" y="6762902"/>
            <a:ext cx="2667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 부재 · 자금 고갈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0" y="5048402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Task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0" y="5333695"/>
            <a:ext cx="2667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Unit Economics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채용·시스템 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0" y="64766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0" y="6762902"/>
            <a:ext cx="2667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갈등 · 무리한 확장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7619695" y="5048402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Task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619695" y="5333695"/>
            <a:ext cx="2667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조직 위임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 성장 동력 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7619695" y="64766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619695" y="6762902"/>
            <a:ext cx="2667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초창기 문화 상실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10668305" y="5048402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Task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10668305" y="5333695"/>
            <a:ext cx="2667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위기 진단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가설 수립 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10668305" y="64766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10668305" y="6762902"/>
            <a:ext cx="2667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부정 · 결정 회피</a:t>
            </a:r>
            <a:endParaRPr lang="en-US" sz="1800" dirty="0"/>
          </a:p>
        </p:txBody>
      </p:sp>
      <p:sp>
        <p:nvSpPr>
          <p:cNvPr id="44" name="Text 36"/>
          <p:cNvSpPr txBox="1"/>
          <p:nvPr/>
        </p:nvSpPr>
        <p:spPr>
          <a:xfrm>
            <a:off x="13716000" y="50484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Task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13716000" y="5333695"/>
            <a:ext cx="3238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피벗 / 매각 / 폐업 중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의식적 선택 </a:t>
            </a:r>
            <a:endParaRPr lang="en-US" sz="1800" dirty="0"/>
          </a:p>
        </p:txBody>
      </p:sp>
      <p:sp>
        <p:nvSpPr>
          <p:cNvPr id="46" name="Text 38"/>
          <p:cNvSpPr txBox="1"/>
          <p:nvPr/>
        </p:nvSpPr>
        <p:spPr>
          <a:xfrm>
            <a:off x="13716000" y="64766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13716000" y="6762902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늦은 결정 · 자기연민</a:t>
            </a:r>
            <a:endParaRPr lang="en-US" sz="1800" dirty="0"/>
          </a:p>
        </p:txBody>
      </p:sp>
      <p:sp>
        <p:nvSpPr>
          <p:cNvPr id="48" name="Text 40"/>
          <p:cNvSpPr txBox="1"/>
          <p:nvPr/>
        </p:nvSpPr>
        <p:spPr>
          <a:xfrm>
            <a:off x="1143000" y="8906256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Larry Greiner, "Evolution and Revolution as Organizations Grow" (HBR, 1972 / 1998)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52</a:t>
            </a:r>
            <a:endParaRPr lang="en-US" sz="15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143000" y="3047695"/>
            <a:ext cx="8096098" cy="5715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9430207" y="3047695"/>
            <a:ext cx="8096098" cy="5715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3847795"/>
            <a:ext cx="7429500" cy="914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4496105"/>
            <a:ext cx="7429500" cy="914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5143500"/>
            <a:ext cx="7429500" cy="914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5790895"/>
            <a:ext cx="7429500" cy="9144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6439205"/>
            <a:ext cx="7429500" cy="9144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810598" y="3847795"/>
            <a:ext cx="7429500" cy="9144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810598" y="4496105"/>
            <a:ext cx="7429500" cy="9144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810598" y="5143500"/>
            <a:ext cx="7429500" cy="9144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810598" y="5790895"/>
            <a:ext cx="7429500" cy="9144"/>
          </a:xfrm>
          <a:prstGeom prst="rect">
            <a:avLst/>
          </a:prstGeom>
        </p:spPr>
      </p:pic>
      <p:sp>
        <p:nvSpPr>
          <p:cNvPr id="16" name="Shape 2"/>
          <p:cNvSpPr/>
          <p:nvPr/>
        </p:nvSpPr>
        <p:spPr>
          <a:xfrm>
            <a:off x="1143915" y="7095744"/>
            <a:ext cx="16192195" cy="857707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3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 · Module 02 · Pivot Types</a:t>
            </a:r>
            <a:endParaRPr lang="en-US" sz="1600" dirty="0"/>
          </a:p>
        </p:txBody>
      </p:sp>
      <p:sp>
        <p:nvSpPr>
          <p:cNvPr id="18" name="Text 4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피벗 — </a:t>
            </a:r>
            <a:r>
              <a:rPr lang="en-US" sz="4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10가지 방향</a:t>
            </a:r>
            <a:endParaRPr lang="en-US" sz="4800" dirty="0"/>
          </a:p>
        </p:txBody>
      </p:sp>
      <p:sp>
        <p:nvSpPr>
          <p:cNvPr id="19" name="Text 5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Eric Ries(2011)가 정리한 10가지 피벗 유형.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"전부 다 바꾸지 않는다"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핵심 — 검증된 부분은 남기고 1축만 바꿉니다. </a:t>
            </a:r>
            <a:endParaRPr lang="en-US" sz="2100" dirty="0"/>
          </a:p>
        </p:txBody>
      </p:sp>
      <p:sp>
        <p:nvSpPr>
          <p:cNvPr id="20" name="Text 6"/>
          <p:cNvSpPr txBox="1"/>
          <p:nvPr/>
        </p:nvSpPr>
        <p:spPr>
          <a:xfrm>
            <a:off x="1524305" y="3333902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800" dirty="0"/>
          </a:p>
        </p:txBody>
      </p:sp>
      <p:sp>
        <p:nvSpPr>
          <p:cNvPr id="21" name="Text 7"/>
          <p:cNvSpPr txBox="1"/>
          <p:nvPr/>
        </p:nvSpPr>
        <p:spPr>
          <a:xfrm>
            <a:off x="2286000" y="3372307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Customer Segment</a:t>
            </a:r>
            <a:endParaRPr lang="en-US" sz="2100" dirty="0"/>
          </a:p>
        </p:txBody>
      </p:sp>
      <p:sp>
        <p:nvSpPr>
          <p:cNvPr id="22" name="Text 8"/>
          <p:cNvSpPr txBox="1"/>
          <p:nvPr/>
        </p:nvSpPr>
        <p:spPr>
          <a:xfrm>
            <a:off x="5333695" y="3409798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제품은 같지만 다른 고객층으로</a:t>
            </a:r>
            <a:endParaRPr lang="en-US" sz="1800" dirty="0"/>
          </a:p>
        </p:txBody>
      </p:sp>
      <p:sp>
        <p:nvSpPr>
          <p:cNvPr id="23" name="Text 9"/>
          <p:cNvSpPr txBox="1"/>
          <p:nvPr/>
        </p:nvSpPr>
        <p:spPr>
          <a:xfrm>
            <a:off x="1524305" y="3981298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800" dirty="0"/>
          </a:p>
        </p:txBody>
      </p:sp>
      <p:sp>
        <p:nvSpPr>
          <p:cNvPr id="24" name="Text 10"/>
          <p:cNvSpPr txBox="1"/>
          <p:nvPr/>
        </p:nvSpPr>
        <p:spPr>
          <a:xfrm>
            <a:off x="2286000" y="4019702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Customer Need</a:t>
            </a:r>
            <a:endParaRPr lang="en-US" sz="2100" dirty="0"/>
          </a:p>
        </p:txBody>
      </p:sp>
      <p:sp>
        <p:nvSpPr>
          <p:cNvPr id="25" name="Text 11"/>
          <p:cNvSpPr txBox="1"/>
          <p:nvPr/>
        </p:nvSpPr>
        <p:spPr>
          <a:xfrm>
            <a:off x="5333695" y="4058107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고객의 다른 문제로</a:t>
            </a:r>
            <a:endParaRPr lang="en-US" sz="1800" dirty="0"/>
          </a:p>
        </p:txBody>
      </p:sp>
      <p:sp>
        <p:nvSpPr>
          <p:cNvPr id="26" name="Text 12"/>
          <p:cNvSpPr txBox="1"/>
          <p:nvPr/>
        </p:nvSpPr>
        <p:spPr>
          <a:xfrm>
            <a:off x="1524305" y="4629607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13"/>
          <p:cNvSpPr txBox="1"/>
          <p:nvPr/>
        </p:nvSpPr>
        <p:spPr>
          <a:xfrm>
            <a:off x="2286000" y="4667098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Zoom-In</a:t>
            </a:r>
            <a:endParaRPr lang="en-US" sz="2100" dirty="0"/>
          </a:p>
        </p:txBody>
      </p:sp>
      <p:sp>
        <p:nvSpPr>
          <p:cNvPr id="28" name="Text 14"/>
          <p:cNvSpPr txBox="1"/>
          <p:nvPr/>
        </p:nvSpPr>
        <p:spPr>
          <a:xfrm>
            <a:off x="5333695" y="4705502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기능을 전체 제품으로 확장</a:t>
            </a:r>
            <a:endParaRPr lang="en-US" sz="1800" dirty="0"/>
          </a:p>
        </p:txBody>
      </p:sp>
      <p:sp>
        <p:nvSpPr>
          <p:cNvPr id="29" name="Text 15"/>
          <p:cNvSpPr txBox="1"/>
          <p:nvPr/>
        </p:nvSpPr>
        <p:spPr>
          <a:xfrm>
            <a:off x="1524305" y="5277002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16"/>
          <p:cNvSpPr txBox="1"/>
          <p:nvPr/>
        </p:nvSpPr>
        <p:spPr>
          <a:xfrm>
            <a:off x="2286000" y="5315407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Zoom-Out</a:t>
            </a:r>
            <a:endParaRPr lang="en-US" sz="2100" dirty="0"/>
          </a:p>
        </p:txBody>
      </p:sp>
      <p:sp>
        <p:nvSpPr>
          <p:cNvPr id="31" name="Text 17"/>
          <p:cNvSpPr txBox="1"/>
          <p:nvPr/>
        </p:nvSpPr>
        <p:spPr>
          <a:xfrm>
            <a:off x="5333695" y="5352898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제품을 한 기능으로 축소</a:t>
            </a:r>
            <a:endParaRPr lang="en-US" sz="1800" dirty="0"/>
          </a:p>
        </p:txBody>
      </p:sp>
      <p:sp>
        <p:nvSpPr>
          <p:cNvPr id="32" name="Text 18"/>
          <p:cNvSpPr txBox="1"/>
          <p:nvPr/>
        </p:nvSpPr>
        <p:spPr>
          <a:xfrm>
            <a:off x="1524305" y="5924398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2800" dirty="0"/>
          </a:p>
        </p:txBody>
      </p:sp>
      <p:sp>
        <p:nvSpPr>
          <p:cNvPr id="33" name="Text 19"/>
          <p:cNvSpPr txBox="1"/>
          <p:nvPr/>
        </p:nvSpPr>
        <p:spPr>
          <a:xfrm>
            <a:off x="2286000" y="5962802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2100" dirty="0"/>
          </a:p>
        </p:txBody>
      </p:sp>
      <p:sp>
        <p:nvSpPr>
          <p:cNvPr id="34" name="Text 20"/>
          <p:cNvSpPr txBox="1"/>
          <p:nvPr/>
        </p:nvSpPr>
        <p:spPr>
          <a:xfrm>
            <a:off x="5333695" y="6001207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→ 플랫폼, 또는 그 반대</a:t>
            </a:r>
            <a:endParaRPr lang="en-US" sz="1800" dirty="0"/>
          </a:p>
        </p:txBody>
      </p:sp>
      <p:sp>
        <p:nvSpPr>
          <p:cNvPr id="35" name="Text 21"/>
          <p:cNvSpPr txBox="1"/>
          <p:nvPr/>
        </p:nvSpPr>
        <p:spPr>
          <a:xfrm>
            <a:off x="9810598" y="3333902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2800" dirty="0"/>
          </a:p>
        </p:txBody>
      </p:sp>
      <p:sp>
        <p:nvSpPr>
          <p:cNvPr id="36" name="Text 22"/>
          <p:cNvSpPr txBox="1"/>
          <p:nvPr/>
        </p:nvSpPr>
        <p:spPr>
          <a:xfrm>
            <a:off x="10573207" y="3372307"/>
            <a:ext cx="34006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Architecture</a:t>
            </a:r>
            <a:endParaRPr lang="en-US" sz="2100" dirty="0"/>
          </a:p>
        </p:txBody>
      </p:sp>
      <p:sp>
        <p:nvSpPr>
          <p:cNvPr id="37" name="Text 23"/>
          <p:cNvSpPr txBox="1"/>
          <p:nvPr/>
        </p:nvSpPr>
        <p:spPr>
          <a:xfrm>
            <a:off x="13620902" y="3409798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 ↔ B2B 모델 전환</a:t>
            </a:r>
            <a:endParaRPr lang="en-US" sz="1800" dirty="0"/>
          </a:p>
        </p:txBody>
      </p:sp>
      <p:sp>
        <p:nvSpPr>
          <p:cNvPr id="38" name="Text 24"/>
          <p:cNvSpPr txBox="1"/>
          <p:nvPr/>
        </p:nvSpPr>
        <p:spPr>
          <a:xfrm>
            <a:off x="9810598" y="3981298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2800" dirty="0"/>
          </a:p>
        </p:txBody>
      </p:sp>
      <p:sp>
        <p:nvSpPr>
          <p:cNvPr id="39" name="Text 25"/>
          <p:cNvSpPr txBox="1"/>
          <p:nvPr/>
        </p:nvSpPr>
        <p:spPr>
          <a:xfrm>
            <a:off x="10573207" y="4019702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 Capture</a:t>
            </a:r>
            <a:endParaRPr lang="en-US" sz="2100" dirty="0"/>
          </a:p>
        </p:txBody>
      </p:sp>
      <p:sp>
        <p:nvSpPr>
          <p:cNvPr id="40" name="Text 26"/>
          <p:cNvSpPr txBox="1"/>
          <p:nvPr/>
        </p:nvSpPr>
        <p:spPr>
          <a:xfrm>
            <a:off x="13620902" y="4058107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변경 (광고→구독 등)</a:t>
            </a:r>
            <a:endParaRPr lang="en-US" sz="1800" dirty="0"/>
          </a:p>
        </p:txBody>
      </p:sp>
      <p:sp>
        <p:nvSpPr>
          <p:cNvPr id="41" name="Text 27"/>
          <p:cNvSpPr txBox="1"/>
          <p:nvPr/>
        </p:nvSpPr>
        <p:spPr>
          <a:xfrm>
            <a:off x="9810598" y="4629607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2800" dirty="0"/>
          </a:p>
        </p:txBody>
      </p:sp>
      <p:sp>
        <p:nvSpPr>
          <p:cNvPr id="42" name="Text 28"/>
          <p:cNvSpPr txBox="1"/>
          <p:nvPr/>
        </p:nvSpPr>
        <p:spPr>
          <a:xfrm>
            <a:off x="10573207" y="4667098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 of Growth</a:t>
            </a:r>
            <a:endParaRPr lang="en-US" sz="2100" dirty="0"/>
          </a:p>
        </p:txBody>
      </p:sp>
      <p:sp>
        <p:nvSpPr>
          <p:cNvPr id="43" name="Text 29"/>
          <p:cNvSpPr txBox="1"/>
          <p:nvPr/>
        </p:nvSpPr>
        <p:spPr>
          <a:xfrm>
            <a:off x="13620902" y="4705502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바이럴 ↔ 유료획득 ↔ 락인</a:t>
            </a:r>
            <a:endParaRPr lang="en-US" sz="1800" dirty="0"/>
          </a:p>
        </p:txBody>
      </p:sp>
      <p:sp>
        <p:nvSpPr>
          <p:cNvPr id="44" name="Text 30"/>
          <p:cNvSpPr txBox="1"/>
          <p:nvPr/>
        </p:nvSpPr>
        <p:spPr>
          <a:xfrm>
            <a:off x="9810598" y="5277002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2800" dirty="0"/>
          </a:p>
        </p:txBody>
      </p:sp>
      <p:sp>
        <p:nvSpPr>
          <p:cNvPr id="45" name="Text 31"/>
          <p:cNvSpPr txBox="1"/>
          <p:nvPr/>
        </p:nvSpPr>
        <p:spPr>
          <a:xfrm>
            <a:off x="10573207" y="5315407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Channel</a:t>
            </a:r>
            <a:endParaRPr lang="en-US" sz="2100" dirty="0"/>
          </a:p>
        </p:txBody>
      </p:sp>
      <p:sp>
        <p:nvSpPr>
          <p:cNvPr id="46" name="Text 32"/>
          <p:cNvSpPr txBox="1"/>
          <p:nvPr/>
        </p:nvSpPr>
        <p:spPr>
          <a:xfrm>
            <a:off x="13620902" y="5352898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유통 채널 변경 (D2C·도매 등)</a:t>
            </a:r>
            <a:endParaRPr lang="en-US" sz="1800" dirty="0"/>
          </a:p>
        </p:txBody>
      </p:sp>
      <p:sp>
        <p:nvSpPr>
          <p:cNvPr id="47" name="Text 33"/>
          <p:cNvSpPr txBox="1"/>
          <p:nvPr/>
        </p:nvSpPr>
        <p:spPr>
          <a:xfrm>
            <a:off x="9810598" y="5924398"/>
            <a:ext cx="762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endParaRPr lang="en-US" sz="2800" dirty="0"/>
          </a:p>
        </p:txBody>
      </p:sp>
      <p:sp>
        <p:nvSpPr>
          <p:cNvPr id="48" name="Text 34"/>
          <p:cNvSpPr txBox="1"/>
          <p:nvPr/>
        </p:nvSpPr>
        <p:spPr>
          <a:xfrm>
            <a:off x="10573207" y="5962802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Technology</a:t>
            </a:r>
            <a:endParaRPr lang="en-US" sz="2100" dirty="0"/>
          </a:p>
        </p:txBody>
      </p:sp>
      <p:sp>
        <p:nvSpPr>
          <p:cNvPr id="49" name="Text 35"/>
          <p:cNvSpPr txBox="1"/>
          <p:nvPr/>
        </p:nvSpPr>
        <p:spPr>
          <a:xfrm>
            <a:off x="13620902" y="6001207"/>
            <a:ext cx="3620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가치를 새 기술로 재구현</a:t>
            </a:r>
            <a:endParaRPr lang="en-US" sz="1800" dirty="0"/>
          </a:p>
        </p:txBody>
      </p:sp>
      <p:sp>
        <p:nvSpPr>
          <p:cNvPr id="50" name="Text 36"/>
          <p:cNvSpPr txBox="1"/>
          <p:nvPr/>
        </p:nvSpPr>
        <p:spPr>
          <a:xfrm>
            <a:off x="1524305" y="7162495"/>
            <a:ext cx="15621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</a:t>
            </a:r>
            <a:endParaRPr lang="en-US" sz="1600" dirty="0"/>
          </a:p>
        </p:txBody>
      </p:sp>
      <p:sp>
        <p:nvSpPr>
          <p:cNvPr id="51" name="Text 37"/>
          <p:cNvSpPr txBox="1"/>
          <p:nvPr/>
        </p:nvSpPr>
        <p:spPr>
          <a:xfrm>
            <a:off x="1524305" y="7429500"/>
            <a:ext cx="15621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피벗은 "포기"가 아니라 "지금까지의 학습을 적용한 다음 가설"입니다 — 인터뷰 + 데이터로 정한다</a:t>
            </a:r>
            <a:endParaRPr lang="en-US" sz="2100" dirty="0"/>
          </a:p>
        </p:txBody>
      </p:sp>
      <p:sp>
        <p:nvSpPr>
          <p:cNvPr id="52" name="Text 38"/>
          <p:cNvSpPr txBox="1"/>
          <p:nvPr/>
        </p:nvSpPr>
        <p:spPr>
          <a:xfrm>
            <a:off x="1143000" y="8906256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Eric Ries, "The Lean Startup" (2011) — Chapter 8: Pivot or Persevere</a:t>
            </a:r>
            <a:endParaRPr lang="en-US" sz="1500" dirty="0"/>
          </a:p>
        </p:txBody>
      </p:sp>
      <p:sp>
        <p:nvSpPr>
          <p:cNvPr id="53" name="Text 39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52</a:t>
            </a:r>
            <a:endParaRPr lang="en-US" sz="15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239305" cy="10287000"/>
          </a:xfrm>
          <a:prstGeom prst="rect">
            <a:avLst/>
          </a:prstGeom>
          <a:solidFill>
            <a:srgbClr val="E85D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7905902" y="3619195"/>
            <a:ext cx="9525305" cy="1524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7905902" y="5333695"/>
            <a:ext cx="9525305" cy="1524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7905902" y="7048195"/>
            <a:ext cx="9525305" cy="15243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4953305"/>
            <a:ext cx="571500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1524305"/>
            <a:ext cx="5334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 E · 4교시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2286000"/>
            <a:ext cx="5334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당근마켓</a:t>
            </a:r>
            <a:endParaRPr lang="en-US" sz="66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3619195"/>
            <a:ext cx="5334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"판교장터" → "당근마켓"</a:t>
            </a:r>
            <a:endParaRPr lang="en-US" sz="2100" dirty="0"/>
          </a:p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이름과 시장을 동시에 바꿨다 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52385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55056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2015년 · 김재현 / 김용현</a:t>
            </a:r>
            <a:endParaRPr lang="en-US" sz="22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609630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유니콘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6362395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· 기업가치 3조원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69530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 유형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72201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Customer Segment + Channel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7905902" y="1333195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Pivot Story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905902" y="1714500"/>
            <a:ext cx="95253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"회사 동료" 대신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12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"동네 이웃"</a:t>
            </a: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으로 </a:t>
            </a:r>
            <a:endParaRPr lang="en-US" sz="4000" dirty="0"/>
          </a:p>
        </p:txBody>
      </p:sp>
      <p:sp>
        <p:nvSpPr>
          <p:cNvPr id="21" name="Text 14"/>
          <p:cNvSpPr txBox="1"/>
          <p:nvPr/>
        </p:nvSpPr>
        <p:spPr>
          <a:xfrm>
            <a:off x="8287207" y="3829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9144000" y="3886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가설: 판교 IT 회사 직원 대상 중고거래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9144000" y="4238244"/>
            <a:ext cx="9335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"판교장터"는 IT 회사 직원들끼리 쓰는 앱. 사용자가 좁고 거래량이 적었다.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287207" y="55440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18"/>
          <p:cNvSpPr txBox="1"/>
          <p:nvPr/>
        </p:nvSpPr>
        <p:spPr>
          <a:xfrm>
            <a:off x="9144000" y="56007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피벗: "회사" → "동네" + 이름 교체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9144000" y="5952744"/>
            <a:ext cx="8001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Customer Segment 피벗. "당신 근처의 마켓" → "당근". 누구나 쓰는 동네 기반으로 확장.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8287207" y="7258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9144000" y="7315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교훈: 검증된 "거래" 기능은 그대로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9144000" y="7667244"/>
            <a:ext cx="8001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피벗은 전부 바꾸는 게 아니다. 거래 UX는 유지, 고객 정의·이름·지역 한정만 교체.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905902" y="8906256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당근마켓 공식 기업 소개 / 시리즈 D 투자 공시 (2021)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52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048695" y="0"/>
            <a:ext cx="7239305" cy="10287000"/>
          </a:xfrm>
          <a:prstGeom prst="rect">
            <a:avLst/>
          </a:prstGeom>
          <a:solidFill>
            <a:srgbClr val="FF47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1143000" y="3619195"/>
            <a:ext cx="9525305" cy="15243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1143000" y="5333695"/>
            <a:ext cx="9525305" cy="1524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1143000" y="7048195"/>
            <a:ext cx="9525305" cy="15243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811305" y="4953305"/>
            <a:ext cx="571500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1811305" y="1333195"/>
            <a:ext cx="571500" cy="28346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811305" y="1524305"/>
            <a:ext cx="5334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 F · 4교시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11811305" y="2286000"/>
            <a:ext cx="5334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야놀자</a:t>
            </a:r>
            <a:endParaRPr lang="en-US" sz="6600" dirty="0"/>
          </a:p>
        </p:txBody>
      </p:sp>
      <p:sp>
        <p:nvSpPr>
          <p:cNvPr id="12" name="Text 5"/>
          <p:cNvSpPr txBox="1"/>
          <p:nvPr/>
        </p:nvSpPr>
        <p:spPr>
          <a:xfrm>
            <a:off x="11811305" y="3619195"/>
            <a:ext cx="5334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8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숙박앱 → 글로벌 트래블테크 SaaS</a:t>
            </a:r>
            <a:endParaRPr lang="en-US" sz="2100" dirty="0"/>
          </a:p>
          <a:p>
            <a:pPr marL="0" indent="0" algn="l">
              <a:buNone/>
            </a:pPr>
            <a:r>
              <a:rPr lang="en-US" sz="2100" kern="0" spc="75" dirty="0">
                <a:solidFill>
                  <a:srgbClr val="FFFFFF">
                    <a:alpha val="8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Business Architecture 피벗 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11811305" y="52385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1811305" y="55056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2007년 · 이수진</a:t>
            </a:r>
            <a:endParaRPr lang="en-US" sz="2200" dirty="0"/>
          </a:p>
        </p:txBody>
      </p:sp>
      <p:sp>
        <p:nvSpPr>
          <p:cNvPr id="15" name="Text 8"/>
          <p:cNvSpPr txBox="1"/>
          <p:nvPr/>
        </p:nvSpPr>
        <p:spPr>
          <a:xfrm>
            <a:off x="11811305" y="6096305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투자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1811305" y="6362395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2조원+ (소프트뱅크 비전펀드)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11305" y="6953098"/>
            <a:ext cx="5334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 유형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1811305" y="7220102"/>
            <a:ext cx="5334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 → B2B SaaS · Platform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1333195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FF4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Pivot Story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1714500"/>
            <a:ext cx="95253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예약앱이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12" dirty="0">
                <a:solidFill>
                  <a:srgbClr val="FF477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호텔 인프라</a:t>
            </a:r>
            <a:r>
              <a:rPr lang="en-US" sz="4000" b="1" kern="0" spc="-112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됐다 </a:t>
            </a:r>
            <a:endParaRPr lang="en-US" sz="4000" dirty="0"/>
          </a:p>
        </p:txBody>
      </p:sp>
      <p:sp>
        <p:nvSpPr>
          <p:cNvPr id="21" name="Text 14"/>
          <p:cNvSpPr txBox="1"/>
          <p:nvPr/>
        </p:nvSpPr>
        <p:spPr>
          <a:xfrm>
            <a:off x="1524305" y="3829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477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2381098" y="3886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1단계: B2C 모텔 정보·예약 앱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2381098" y="4238244"/>
            <a:ext cx="8001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초기에는 모텔 예약 + 광고. 거래액은 컸지만 "예약 한 번"만 받는 구조 — 락인 약함.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1524305" y="55440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477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18"/>
          <p:cNvSpPr txBox="1"/>
          <p:nvPr/>
        </p:nvSpPr>
        <p:spPr>
          <a:xfrm>
            <a:off x="2381098" y="56007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호텔 PMS 인수·자체 SaaS 출시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2381098" y="5952744"/>
            <a:ext cx="8001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PMS(호텔관리시스템) 기업 인수·통합. B2B 구독료 + 글로벌 진출.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524305" y="7258507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477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2381098" y="7315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교훈: 위기 신호를 "다른 시장"으로 푼다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2381098" y="7667244"/>
            <a:ext cx="8001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B2C 성장 둔화를 본 시점에 B2B + 해외로 무게중심 이동. 자산이 새 무대에서 다시 작동.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143000" y="8906256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야놀자 공식 기업 소개 / 소프트뱅크 비전펀드 투자 공시 (2021)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52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143000" y="3143707"/>
            <a:ext cx="5333695" cy="558149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6667805" y="3143707"/>
            <a:ext cx="5333695" cy="558149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12191695" y="3143707"/>
            <a:ext cx="5143500" cy="55248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524305" y="4552798"/>
            <a:ext cx="571500" cy="914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7048195" y="4552798"/>
            <a:ext cx="571500" cy="914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12191695" y="3143707"/>
            <a:ext cx="5143500" cy="5760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2573000" y="4552798"/>
            <a:ext cx="571500" cy="9144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 · Module 03 · Restructure</a:t>
            </a:r>
            <a:endParaRPr lang="en-US" sz="1600" dirty="0"/>
          </a:p>
        </p:txBody>
      </p:sp>
      <p:sp>
        <p:nvSpPr>
          <p:cNvPr id="13" name="Text 3"/>
          <p:cNvSpPr txBox="1"/>
          <p:nvPr/>
        </p:nvSpPr>
        <p:spPr>
          <a:xfrm>
            <a:off x="1143000" y="952805"/>
            <a:ext cx="1428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구조조정의 </a:t>
            </a:r>
            <a:r>
              <a:rPr lang="en-US" sz="4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3축</a:t>
            </a:r>
            <a:endParaRPr lang="en-US" sz="4800" dirty="0"/>
          </a:p>
        </p:txBody>
      </p:sp>
      <p:sp>
        <p:nvSpPr>
          <p:cNvPr id="14" name="Text 4"/>
          <p:cNvSpPr txBox="1"/>
          <p:nvPr/>
        </p:nvSpPr>
        <p:spPr>
          <a:xfrm>
            <a:off x="1143000" y="2048256"/>
            <a:ext cx="17345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"감원"이 아닌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비용·자산·사업포트폴리오 3축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동시에 보는 게 원칙입니다. 한 축만 손대면 다른 축에서 새는 물이 막히지 않습니다. </a:t>
            </a:r>
            <a:endParaRPr lang="en-US" sz="2100" dirty="0"/>
          </a:p>
        </p:txBody>
      </p:sp>
      <p:sp>
        <p:nvSpPr>
          <p:cNvPr id="15" name="Text 5"/>
          <p:cNvSpPr txBox="1"/>
          <p:nvPr/>
        </p:nvSpPr>
        <p:spPr>
          <a:xfrm>
            <a:off x="1524305" y="3448202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Axis 01 · Cost</a:t>
            </a:r>
            <a:endParaRPr lang="en-US" sz="1600" dirty="0"/>
          </a:p>
        </p:txBody>
      </p:sp>
      <p:sp>
        <p:nvSpPr>
          <p:cNvPr id="16" name="Text 6"/>
          <p:cNvSpPr txBox="1"/>
          <p:nvPr/>
        </p:nvSpPr>
        <p:spPr>
          <a:xfrm>
            <a:off x="1524305" y="3733495"/>
            <a:ext cx="4572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비용 구조</a:t>
            </a:r>
            <a:endParaRPr lang="en-US" sz="3100" dirty="0"/>
          </a:p>
        </p:txBody>
      </p:sp>
      <p:sp>
        <p:nvSpPr>
          <p:cNvPr id="17" name="Text 7"/>
          <p:cNvSpPr txBox="1"/>
          <p:nvPr/>
        </p:nvSpPr>
        <p:spPr>
          <a:xfrm>
            <a:off x="1524305" y="4781398"/>
            <a:ext cx="457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매월 나가는 돈을 0부터 다시 본다</a:t>
            </a:r>
            <a:endParaRPr lang="en-US" sz="1900" dirty="0"/>
          </a:p>
        </p:txBody>
      </p:sp>
      <p:sp>
        <p:nvSpPr>
          <p:cNvPr id="18" name="Text 8"/>
          <p:cNvSpPr txBox="1"/>
          <p:nvPr/>
        </p:nvSpPr>
        <p:spPr>
          <a:xfrm>
            <a:off x="1524305" y="5771694"/>
            <a:ext cx="45720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고정비 항목 100% 재협상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구독·SaaS 60일 미사용 = 해지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임차료·인건비·물류비 ABC 분류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외주 vs 내제화 결정 재검토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3개월 시뮬레이션 (Best/Worst) </a:t>
            </a:r>
            <a:endParaRPr lang="en-US" sz="1800" dirty="0"/>
          </a:p>
        </p:txBody>
      </p:sp>
      <p:sp>
        <p:nvSpPr>
          <p:cNvPr id="19" name="Text 9"/>
          <p:cNvSpPr txBox="1"/>
          <p:nvPr/>
        </p:nvSpPr>
        <p:spPr>
          <a:xfrm>
            <a:off x="7048195" y="3448202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Axis 02 · Asset</a:t>
            </a:r>
            <a:endParaRPr lang="en-US" sz="1600" dirty="0"/>
          </a:p>
        </p:txBody>
      </p:sp>
      <p:sp>
        <p:nvSpPr>
          <p:cNvPr id="20" name="Text 10"/>
          <p:cNvSpPr txBox="1"/>
          <p:nvPr/>
        </p:nvSpPr>
        <p:spPr>
          <a:xfrm>
            <a:off x="7048195" y="3733495"/>
            <a:ext cx="4572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자산 활용</a:t>
            </a:r>
            <a:endParaRPr lang="en-US" sz="3100" dirty="0"/>
          </a:p>
        </p:txBody>
      </p:sp>
      <p:sp>
        <p:nvSpPr>
          <p:cNvPr id="21" name="Text 11"/>
          <p:cNvSpPr txBox="1"/>
          <p:nvPr/>
        </p:nvSpPr>
        <p:spPr>
          <a:xfrm>
            <a:off x="7048195" y="4781398"/>
            <a:ext cx="457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가진 것을 새로 본다</a:t>
            </a:r>
            <a:endParaRPr lang="en-US" sz="1900" dirty="0"/>
          </a:p>
        </p:txBody>
      </p:sp>
      <p:sp>
        <p:nvSpPr>
          <p:cNvPr id="22" name="Text 12"/>
          <p:cNvSpPr txBox="1"/>
          <p:nvPr/>
        </p:nvSpPr>
        <p:spPr>
          <a:xfrm>
            <a:off x="7048195" y="5771694"/>
            <a:ext cx="45720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고객 데이터·VIP 명단 재활용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재고·매장 공간 다른 용도 임대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인력 역량 = 새로운 PB·서비스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브랜드 신뢰 → 컨설팅·교육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특허·노하우 라이선싱 검토 </a:t>
            </a:r>
            <a:endParaRPr lang="en-US" sz="1800" dirty="0"/>
          </a:p>
        </p:txBody>
      </p:sp>
      <p:sp>
        <p:nvSpPr>
          <p:cNvPr id="23" name="Text 13"/>
          <p:cNvSpPr txBox="1"/>
          <p:nvPr/>
        </p:nvSpPr>
        <p:spPr>
          <a:xfrm>
            <a:off x="12573000" y="3448202"/>
            <a:ext cx="4381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Axis 03 · Portfolio</a:t>
            </a:r>
            <a:endParaRPr lang="en-US" sz="1600" dirty="0"/>
          </a:p>
        </p:txBody>
      </p:sp>
      <p:sp>
        <p:nvSpPr>
          <p:cNvPr id="24" name="Text 14"/>
          <p:cNvSpPr txBox="1"/>
          <p:nvPr/>
        </p:nvSpPr>
        <p:spPr>
          <a:xfrm>
            <a:off x="12573000" y="3733495"/>
            <a:ext cx="4381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사업 포트폴리오</a:t>
            </a:r>
            <a:endParaRPr lang="en-US" sz="3100" dirty="0"/>
          </a:p>
        </p:txBody>
      </p:sp>
      <p:sp>
        <p:nvSpPr>
          <p:cNvPr id="25" name="Text 15"/>
          <p:cNvSpPr txBox="1"/>
          <p:nvPr/>
        </p:nvSpPr>
        <p:spPr>
          <a:xfrm>
            <a:off x="12573000" y="4781398"/>
            <a:ext cx="4381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버릴 것 · 남길 것 · 키울 것</a:t>
            </a:r>
            <a:endParaRPr lang="en-US" sz="1900" dirty="0"/>
          </a:p>
        </p:txBody>
      </p:sp>
      <p:sp>
        <p:nvSpPr>
          <p:cNvPr id="26" name="Text 16"/>
          <p:cNvSpPr txBox="1"/>
          <p:nvPr/>
        </p:nvSpPr>
        <p:spPr>
          <a:xfrm>
            <a:off x="12573000" y="5429706"/>
            <a:ext cx="4381805" cy="2781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상품군별 매출·이익률 분석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BCG 매트릭스 (Star·Cash·Dog)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Dog 사업은 6주 안에 정리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Star에 자원의 70% 집중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□ Question Mark 1개만 도전 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1143000" y="9001354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BCG Growth-Share Matrix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52</a:t>
            </a:r>
            <a:endParaRPr lang="en-US" sz="15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1143000" y="3143707"/>
            <a:ext cx="16192195" cy="596271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3143707"/>
            <a:ext cx="16192195" cy="5715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4629607"/>
            <a:ext cx="156206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5505602"/>
            <a:ext cx="15620695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6381598"/>
            <a:ext cx="15620695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7258507"/>
            <a:ext cx="15620695" cy="91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8134502"/>
            <a:ext cx="15620695" cy="9144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143000" y="5715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 · Module 04 · Funding</a:t>
            </a:r>
            <a:endParaRPr lang="en-US" sz="1600" dirty="0"/>
          </a:p>
        </p:txBody>
      </p:sp>
      <p:sp>
        <p:nvSpPr>
          <p:cNvPr id="13" name="Text 4"/>
          <p:cNvSpPr txBox="1"/>
          <p:nvPr/>
        </p:nvSpPr>
        <p:spPr>
          <a:xfrm>
            <a:off x="1143000" y="952805"/>
            <a:ext cx="1428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재도약을 위한 </a:t>
            </a:r>
            <a:r>
              <a:rPr lang="en-US" sz="45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자금조달 옵션</a:t>
            </a:r>
            <a:endParaRPr lang="en-US" sz="4500" dirty="0"/>
          </a:p>
        </p:txBody>
      </p:sp>
      <p:sp>
        <p:nvSpPr>
          <p:cNvPr id="14" name="Text 5"/>
          <p:cNvSpPr txBox="1"/>
          <p:nvPr/>
        </p:nvSpPr>
        <p:spPr>
          <a:xfrm>
            <a:off x="1143000" y="2048256"/>
            <a:ext cx="16193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한국에서 위기·재도약 단계 사업자가 활용 가능한 5가지 트랙. 신청 전 </a:t>
            </a:r>
            <a:r>
              <a:rPr lang="en-US" sz="2100" b="1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공고문</a:t>
            </a:r>
            <a:r>
              <a:rPr lang="en-US" sz="21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반드시 확인하세요. </a:t>
            </a:r>
            <a:endParaRPr lang="en-US" sz="2100" dirty="0"/>
          </a:p>
        </p:txBody>
      </p:sp>
      <p:sp>
        <p:nvSpPr>
          <p:cNvPr id="15" name="Text 6"/>
          <p:cNvSpPr txBox="1"/>
          <p:nvPr/>
        </p:nvSpPr>
        <p:spPr>
          <a:xfrm>
            <a:off x="1524305" y="3314700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/ 기관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4953305" y="3314700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유형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7619695" y="3314700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1500" dirty="0"/>
          </a:p>
        </p:txBody>
      </p:sp>
      <p:sp>
        <p:nvSpPr>
          <p:cNvPr id="18" name="Text 9"/>
          <p:cNvSpPr txBox="1"/>
          <p:nvPr/>
        </p:nvSpPr>
        <p:spPr>
          <a:xfrm>
            <a:off x="10287000" y="3314700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자격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13334695" y="3314700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포인트</a:t>
            </a:r>
            <a:endParaRPr lang="en-US" sz="1500" dirty="0"/>
          </a:p>
        </p:txBody>
      </p:sp>
      <p:sp>
        <p:nvSpPr>
          <p:cNvPr id="20" name="Text 11"/>
          <p:cNvSpPr txBox="1"/>
          <p:nvPr/>
        </p:nvSpPr>
        <p:spPr>
          <a:xfrm>
            <a:off x="1524305" y="3952951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재도전 성공패키지</a:t>
            </a:r>
            <a:endParaRPr lang="en-US" sz="1900" dirty="0"/>
          </a:p>
        </p:txBody>
      </p:sp>
      <p:sp>
        <p:nvSpPr>
          <p:cNvPr id="21" name="Text 12"/>
          <p:cNvSpPr txBox="1"/>
          <p:nvPr/>
        </p:nvSpPr>
        <p:spPr>
          <a:xfrm>
            <a:off x="1524305" y="4219956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중진공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4953305" y="3981298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출연 (보조금)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7619695" y="3981298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1억원</a:t>
            </a:r>
            <a:endParaRPr lang="en-US" sz="1800" dirty="0"/>
          </a:p>
        </p:txBody>
      </p:sp>
      <p:sp>
        <p:nvSpPr>
          <p:cNvPr id="24" name="Text 15"/>
          <p:cNvSpPr txBox="1"/>
          <p:nvPr/>
        </p:nvSpPr>
        <p:spPr>
          <a:xfrm>
            <a:off x="10287000" y="3981298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예비재창업자·재창업 7년 이내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13334695" y="3981298"/>
            <a:ext cx="3810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회고 → 학습 증명이 핵심</a:t>
            </a:r>
            <a:endParaRPr lang="en-US" sz="1700" dirty="0"/>
          </a:p>
        </p:txBody>
      </p:sp>
      <p:sp>
        <p:nvSpPr>
          <p:cNvPr id="26" name="Text 17"/>
          <p:cNvSpPr txBox="1"/>
          <p:nvPr/>
        </p:nvSpPr>
        <p:spPr>
          <a:xfrm>
            <a:off x="1524305" y="4828946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재창업자금</a:t>
            </a:r>
            <a:endParaRPr lang="en-US" sz="1900" dirty="0"/>
          </a:p>
        </p:txBody>
      </p:sp>
      <p:sp>
        <p:nvSpPr>
          <p:cNvPr id="27" name="Text 18"/>
          <p:cNvSpPr txBox="1"/>
          <p:nvPr/>
        </p:nvSpPr>
        <p:spPr>
          <a:xfrm>
            <a:off x="1524305" y="5095951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중진공 정책자금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4953305" y="4858207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저리 융자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7619695" y="4858207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60억원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10287000" y="4858207"/>
            <a:ext cx="287213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폐업 → 재창업 / 신용회복</a:t>
            </a:r>
            <a:endParaRPr lang="en-US" sz="1700" dirty="0"/>
          </a:p>
        </p:txBody>
      </p:sp>
      <p:sp>
        <p:nvSpPr>
          <p:cNvPr id="31" name="Text 22"/>
          <p:cNvSpPr txBox="1"/>
          <p:nvPr/>
        </p:nvSpPr>
        <p:spPr>
          <a:xfrm>
            <a:off x="13334695" y="4858207"/>
            <a:ext cx="4241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저리(시중 대비 1~2%p↓), 5~10년 분할</a:t>
            </a:r>
            <a:endParaRPr lang="en-US" sz="1700" dirty="0"/>
          </a:p>
        </p:txBody>
      </p:sp>
      <p:sp>
        <p:nvSpPr>
          <p:cNvPr id="32" name="Text 23"/>
          <p:cNvSpPr txBox="1"/>
          <p:nvPr/>
        </p:nvSpPr>
        <p:spPr>
          <a:xfrm>
            <a:off x="1524305" y="5705856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사업전환자금</a:t>
            </a:r>
            <a:endParaRPr lang="en-US" sz="1900" dirty="0"/>
          </a:p>
        </p:txBody>
      </p:sp>
      <p:sp>
        <p:nvSpPr>
          <p:cNvPr id="33" name="Text 24"/>
          <p:cNvSpPr txBox="1"/>
          <p:nvPr/>
        </p:nvSpPr>
        <p:spPr>
          <a:xfrm>
            <a:off x="1524305" y="5971946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중진공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4953305" y="5734202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저리 융자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7619695" y="5734202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확인</a:t>
            </a:r>
            <a:endParaRPr lang="en-US" sz="1800" dirty="0"/>
          </a:p>
        </p:txBody>
      </p:sp>
      <p:sp>
        <p:nvSpPr>
          <p:cNvPr id="36" name="Text 27"/>
          <p:cNvSpPr txBox="1"/>
          <p:nvPr/>
        </p:nvSpPr>
        <p:spPr>
          <a:xfrm>
            <a:off x="10287000" y="5734202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전환 / 신사업 진출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13334695" y="5734202"/>
            <a:ext cx="3810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피벗·구조전환 사업자에 적합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1524305" y="6581851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정책자금</a:t>
            </a:r>
            <a:endParaRPr lang="en-US" sz="1900" dirty="0"/>
          </a:p>
        </p:txBody>
      </p:sp>
      <p:sp>
        <p:nvSpPr>
          <p:cNvPr id="39" name="Text 30"/>
          <p:cNvSpPr txBox="1"/>
          <p:nvPr/>
        </p:nvSpPr>
        <p:spPr>
          <a:xfrm>
            <a:off x="1524305" y="6848856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소상공인시장진흥공단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4953305" y="6610198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저리 융자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7619695" y="6610198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7천만원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10287000" y="6610198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(자영업)</a:t>
            </a:r>
            <a:endParaRPr lang="en-US" sz="1700" dirty="0"/>
          </a:p>
        </p:txBody>
      </p:sp>
      <p:sp>
        <p:nvSpPr>
          <p:cNvPr id="43" name="Text 34"/>
          <p:cNvSpPr txBox="1"/>
          <p:nvPr/>
        </p:nvSpPr>
        <p:spPr>
          <a:xfrm>
            <a:off x="13334695" y="6610198"/>
            <a:ext cx="3810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경영안정·시설·전환 트랙별 신청</a:t>
            </a:r>
            <a:endParaRPr lang="en-US" sz="1700" dirty="0"/>
          </a:p>
        </p:txBody>
      </p:sp>
      <p:sp>
        <p:nvSpPr>
          <p:cNvPr id="44" name="Text 35"/>
          <p:cNvSpPr txBox="1"/>
          <p:nvPr/>
        </p:nvSpPr>
        <p:spPr>
          <a:xfrm>
            <a:off x="1524305" y="7457846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신용·기술 보증</a:t>
            </a:r>
            <a:endParaRPr lang="en-US" sz="1900" dirty="0"/>
          </a:p>
        </p:txBody>
      </p:sp>
      <p:sp>
        <p:nvSpPr>
          <p:cNvPr id="45" name="Text 36"/>
          <p:cNvSpPr txBox="1"/>
          <p:nvPr/>
        </p:nvSpPr>
        <p:spPr>
          <a:xfrm>
            <a:off x="1524305" y="7724851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신보 / 기보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4953305" y="7487107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 (간접)</a:t>
            </a:r>
            <a:endParaRPr lang="en-US" sz="1800" dirty="0"/>
          </a:p>
        </p:txBody>
      </p:sp>
      <p:sp>
        <p:nvSpPr>
          <p:cNvPr id="47" name="Text 38"/>
          <p:cNvSpPr txBox="1"/>
          <p:nvPr/>
        </p:nvSpPr>
        <p:spPr>
          <a:xfrm>
            <a:off x="7619695" y="7487107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한도별 차등</a:t>
            </a:r>
            <a:endParaRPr lang="en-US" sz="1800" dirty="0"/>
          </a:p>
        </p:txBody>
      </p:sp>
      <p:sp>
        <p:nvSpPr>
          <p:cNvPr id="48" name="Text 39"/>
          <p:cNvSpPr txBox="1"/>
          <p:nvPr/>
        </p:nvSpPr>
        <p:spPr>
          <a:xfrm>
            <a:off x="10287000" y="7487107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매출·신용·기술 보증서</a:t>
            </a:r>
            <a:endParaRPr lang="en-US" sz="1700" dirty="0"/>
          </a:p>
        </p:txBody>
      </p:sp>
      <p:sp>
        <p:nvSpPr>
          <p:cNvPr id="49" name="Text 40"/>
          <p:cNvSpPr txBox="1"/>
          <p:nvPr/>
        </p:nvSpPr>
        <p:spPr>
          <a:xfrm>
            <a:off x="13334695" y="7487107"/>
            <a:ext cx="3810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 대출 + 정책자금 동시 활용</a:t>
            </a:r>
            <a:endParaRPr lang="en-US" sz="1700" dirty="0"/>
          </a:p>
        </p:txBody>
      </p:sp>
      <p:sp>
        <p:nvSpPr>
          <p:cNvPr id="50" name="Text 41"/>
          <p:cNvSpPr txBox="1"/>
          <p:nvPr/>
        </p:nvSpPr>
        <p:spPr>
          <a:xfrm>
            <a:off x="1524305" y="8334756"/>
            <a:ext cx="3238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M&amp;A·매각·합병</a:t>
            </a:r>
            <a:endParaRPr lang="en-US" sz="1900" dirty="0"/>
          </a:p>
        </p:txBody>
      </p:sp>
      <p:sp>
        <p:nvSpPr>
          <p:cNvPr id="51" name="Text 42"/>
          <p:cNvSpPr txBox="1"/>
          <p:nvPr/>
        </p:nvSpPr>
        <p:spPr>
          <a:xfrm>
            <a:off x="1524305" y="8600846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/ 중기부 M&amp;A 거래소</a:t>
            </a:r>
            <a:endParaRPr lang="en-US" sz="1500" dirty="0"/>
          </a:p>
        </p:txBody>
      </p:sp>
      <p:sp>
        <p:nvSpPr>
          <p:cNvPr id="52" name="Text 43"/>
          <p:cNvSpPr txBox="1"/>
          <p:nvPr/>
        </p:nvSpPr>
        <p:spPr>
          <a:xfrm>
            <a:off x="4953305" y="8363102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출구</a:t>
            </a:r>
            <a:endParaRPr lang="en-US" sz="1800" dirty="0"/>
          </a:p>
        </p:txBody>
      </p:sp>
      <p:sp>
        <p:nvSpPr>
          <p:cNvPr id="53" name="Text 44"/>
          <p:cNvSpPr txBox="1"/>
          <p:nvPr/>
        </p:nvSpPr>
        <p:spPr>
          <a:xfrm>
            <a:off x="7619695" y="8363102"/>
            <a:ext cx="2286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평가 기반</a:t>
            </a:r>
            <a:endParaRPr lang="en-US" sz="1800" dirty="0"/>
          </a:p>
        </p:txBody>
      </p:sp>
      <p:sp>
        <p:nvSpPr>
          <p:cNvPr id="54" name="Text 45"/>
          <p:cNvSpPr txBox="1"/>
          <p:nvPr/>
        </p:nvSpPr>
        <p:spPr>
          <a:xfrm>
            <a:off x="10287000" y="8363102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매출·고객·자산 보유</a:t>
            </a:r>
            <a:endParaRPr lang="en-US" sz="1700" dirty="0"/>
          </a:p>
        </p:txBody>
      </p:sp>
      <p:sp>
        <p:nvSpPr>
          <p:cNvPr id="55" name="Text 46"/>
          <p:cNvSpPr txBox="1"/>
          <p:nvPr/>
        </p:nvSpPr>
        <p:spPr>
          <a:xfrm>
            <a:off x="13334695" y="8363102"/>
            <a:ext cx="3810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"잘 닫는 것"도 재도약의 시작이다</a:t>
            </a:r>
            <a:endParaRPr lang="en-US" sz="1700" dirty="0"/>
          </a:p>
        </p:txBody>
      </p:sp>
      <p:sp>
        <p:nvSpPr>
          <p:cNvPr id="56" name="Text 47"/>
          <p:cNvSpPr txBox="1"/>
          <p:nvPr/>
        </p:nvSpPr>
        <p:spPr>
          <a:xfrm>
            <a:off x="1142085" y="9400176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중소벤처기업진흥공단 / 소상공인시장진흥공단 / 신용보증기금·기술보증기금 — 매년 공고 변경</a:t>
            </a:r>
            <a:endParaRPr lang="en-US" sz="1500" dirty="0"/>
          </a:p>
        </p:txBody>
      </p:sp>
      <p:sp>
        <p:nvSpPr>
          <p:cNvPr id="57" name="Text 48"/>
          <p:cNvSpPr txBox="1"/>
          <p:nvPr/>
        </p:nvSpPr>
        <p:spPr>
          <a:xfrm>
            <a:off x="16763695" y="5715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52</a:t>
            </a:r>
            <a:endParaRPr lang="en-US" sz="1500" dirty="0"/>
          </a:p>
        </p:txBody>
      </p:sp>
      <p:sp>
        <p:nvSpPr>
          <p:cNvPr id="5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00" cy="10287000"/>
          </a:xfrm>
          <a:prstGeom prst="rect">
            <a:avLst/>
          </a:prstGeom>
          <a:solidFill>
            <a:srgbClr val="E7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5143500" y="1143000"/>
            <a:ext cx="12382805" cy="8001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2361895"/>
            <a:ext cx="11620195" cy="914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2743200"/>
            <a:ext cx="116201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3829507"/>
            <a:ext cx="11620195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4172407"/>
            <a:ext cx="11620195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4515307"/>
            <a:ext cx="11620195" cy="91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5600700"/>
            <a:ext cx="11620195" cy="9144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5943600"/>
            <a:ext cx="11620195" cy="9144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7029907"/>
            <a:ext cx="11620195" cy="9144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524805" y="7372807"/>
            <a:ext cx="11620195" cy="9144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5524805" y="7715707"/>
            <a:ext cx="11620195" cy="1143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61695" y="1143000"/>
            <a:ext cx="571500" cy="28346"/>
          </a:xfrm>
          <a:prstGeom prst="rect">
            <a:avLst/>
          </a:prstGeom>
        </p:spPr>
      </p:pic>
      <p:sp>
        <p:nvSpPr>
          <p:cNvPr id="17" name="Text 4"/>
          <p:cNvSpPr txBox="1"/>
          <p:nvPr/>
        </p:nvSpPr>
        <p:spPr>
          <a:xfrm>
            <a:off x="761695" y="1333195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· 30 min</a:t>
            </a:r>
            <a:endParaRPr lang="en-US" sz="1600" dirty="0"/>
          </a:p>
        </p:txBody>
      </p:sp>
      <p:sp>
        <p:nvSpPr>
          <p:cNvPr id="18" name="Text 5"/>
          <p:cNvSpPr txBox="1"/>
          <p:nvPr/>
        </p:nvSpPr>
        <p:spPr>
          <a:xfrm>
            <a:off x="761695" y="1904695"/>
            <a:ext cx="362011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워크시트 #4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90일 재도약</a:t>
            </a:r>
            <a:r>
              <a:rPr lang="en-US" sz="45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플랜 </a:t>
            </a:r>
            <a:endParaRPr lang="en-US" sz="4500" dirty="0"/>
          </a:p>
        </p:txBody>
      </p:sp>
      <p:sp>
        <p:nvSpPr>
          <p:cNvPr id="19" name="Text 6"/>
          <p:cNvSpPr txBox="1"/>
          <p:nvPr/>
        </p:nvSpPr>
        <p:spPr>
          <a:xfrm>
            <a:off x="761695" y="4599889"/>
            <a:ext cx="2962405" cy="253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개인 작성 22분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발표 8분.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</a:t>
            </a:r>
            <a:r>
              <a:rPr lang="en-US" sz="1900" b="1" dirty="0" err="1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끝나면</a:t>
            </a: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900" b="1" dirty="0" err="1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900" b="1" dirty="0" err="1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하기로</a:t>
            </a:r>
            <a:r>
              <a:rPr lang="en-US" sz="19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900" b="1" dirty="0" err="1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했다"</a:t>
            </a:r>
            <a:r>
              <a:rPr lang="en-US" sz="1900" dirty="0" err="1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900" dirty="0" err="1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분명해야</a:t>
            </a:r>
            <a:r>
              <a:rPr lang="en-US" sz="19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합니다. </a:t>
            </a:r>
            <a:endParaRPr lang="en-US" sz="1900" dirty="0"/>
          </a:p>
        </p:txBody>
      </p:sp>
      <p:sp>
        <p:nvSpPr>
          <p:cNvPr id="20" name="Text 7"/>
          <p:cNvSpPr txBox="1"/>
          <p:nvPr/>
        </p:nvSpPr>
        <p:spPr>
          <a:xfrm>
            <a:off x="761695" y="87626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52</a:t>
            </a:r>
            <a:endParaRPr lang="en-US" sz="1500" dirty="0"/>
          </a:p>
        </p:txBody>
      </p:sp>
      <p:sp>
        <p:nvSpPr>
          <p:cNvPr id="21" name="Text 8"/>
          <p:cNvSpPr txBox="1"/>
          <p:nvPr/>
        </p:nvSpPr>
        <p:spPr>
          <a:xfrm>
            <a:off x="5524805" y="1524305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· 위기 신호 진단</a:t>
            </a:r>
            <a:endParaRPr lang="en-US" sz="1600" dirty="0"/>
          </a:p>
        </p:txBody>
      </p:sp>
      <p:sp>
        <p:nvSpPr>
          <p:cNvPr id="22" name="Text 9"/>
          <p:cNvSpPr txBox="1"/>
          <p:nvPr/>
        </p:nvSpPr>
        <p:spPr>
          <a:xfrm>
            <a:off x="5524805" y="1790395"/>
            <a:ext cx="11621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사업에 켜진 위기 신호 ___개 / 가장 큰 1개:</a:t>
            </a:r>
            <a:endParaRPr lang="en-US" sz="2400" dirty="0"/>
          </a:p>
        </p:txBody>
      </p:sp>
      <p:sp>
        <p:nvSpPr>
          <p:cNvPr id="23" name="Text 10"/>
          <p:cNvSpPr txBox="1"/>
          <p:nvPr/>
        </p:nvSpPr>
        <p:spPr>
          <a:xfrm>
            <a:off x="5524805" y="3047695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· Day 1~30 — 무엇을 멈출 것인가</a:t>
            </a:r>
            <a:endParaRPr lang="en-US" sz="1600" dirty="0"/>
          </a:p>
        </p:txBody>
      </p:sp>
      <p:sp>
        <p:nvSpPr>
          <p:cNvPr id="24" name="Text 11"/>
          <p:cNvSpPr txBox="1"/>
          <p:nvPr/>
        </p:nvSpPr>
        <p:spPr>
          <a:xfrm>
            <a:off x="5524805" y="3314700"/>
            <a:ext cx="11621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구조조정 3축 중 가장 빨리 손댈 1축과 첫 행동 3개:</a:t>
            </a:r>
            <a:endParaRPr lang="en-US" sz="2200" dirty="0"/>
          </a:p>
        </p:txBody>
      </p:sp>
      <p:sp>
        <p:nvSpPr>
          <p:cNvPr id="25" name="Text 12"/>
          <p:cNvSpPr txBox="1"/>
          <p:nvPr/>
        </p:nvSpPr>
        <p:spPr>
          <a:xfrm>
            <a:off x="5524805" y="4819802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2D7D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· Day 31~60 — 어떤 가설을 검증할 것인가</a:t>
            </a:r>
            <a:endParaRPr lang="en-US" sz="1600" dirty="0"/>
          </a:p>
        </p:txBody>
      </p:sp>
      <p:sp>
        <p:nvSpPr>
          <p:cNvPr id="26" name="Text 13"/>
          <p:cNvSpPr txBox="1"/>
          <p:nvPr/>
        </p:nvSpPr>
        <p:spPr>
          <a:xfrm>
            <a:off x="5524805" y="5086807"/>
            <a:ext cx="11621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피벗 10유형 중 시도할 1개와 검증 MVP:</a:t>
            </a:r>
            <a:endParaRPr lang="en-US" sz="2200" dirty="0"/>
          </a:p>
        </p:txBody>
      </p:sp>
      <p:sp>
        <p:nvSpPr>
          <p:cNvPr id="27" name="Text 14"/>
          <p:cNvSpPr txBox="1"/>
          <p:nvPr/>
        </p:nvSpPr>
        <p:spPr>
          <a:xfrm>
            <a:off x="5524805" y="6248095"/>
            <a:ext cx="1162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D8A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· Day 61~90 — 무엇을 키울 것인가</a:t>
            </a:r>
            <a:endParaRPr lang="en-US" sz="1600" dirty="0"/>
          </a:p>
        </p:txBody>
      </p:sp>
      <p:sp>
        <p:nvSpPr>
          <p:cNvPr id="28" name="Text 15"/>
          <p:cNvSpPr txBox="1"/>
          <p:nvPr/>
        </p:nvSpPr>
        <p:spPr>
          <a:xfrm>
            <a:off x="5524805" y="6515100"/>
            <a:ext cx="11621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결과가 좋다면 다음에 키울 1가지 + 자금조달 1가지:</a:t>
            </a:r>
            <a:endParaRPr lang="en-US" sz="2200" dirty="0"/>
          </a:p>
        </p:txBody>
      </p:sp>
      <p:sp>
        <p:nvSpPr>
          <p:cNvPr id="29" name="Text 16"/>
          <p:cNvSpPr txBox="1"/>
          <p:nvPr/>
        </p:nvSpPr>
        <p:spPr>
          <a:xfrm>
            <a:off x="5810098" y="7886700"/>
            <a:ext cx="11239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9시까지 — 첫 한 걸음</a:t>
            </a:r>
            <a:endParaRPr lang="en-US" sz="1600" dirty="0"/>
          </a:p>
        </p:txBody>
      </p:sp>
      <p:sp>
        <p:nvSpPr>
          <p:cNvPr id="30" name="Text 17"/>
          <p:cNvSpPr txBox="1"/>
          <p:nvPr/>
        </p:nvSpPr>
        <p:spPr>
          <a:xfrm>
            <a:off x="5810098" y="8172907"/>
            <a:ext cx="11239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"_____________ 에게 _____________ 를 한다."</a:t>
            </a:r>
            <a:endParaRPr lang="en-US" sz="22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144500" y="-761695"/>
            <a:ext cx="57150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0" b="1" kern="0" spc="-1125" dirty="0">
                <a:solidFill>
                  <a:srgbClr val="E85D2C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52</a:t>
            </a:r>
            <a:endParaRPr lang="en-US" sz="36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7" r="-7"/>
          <a:stretch/>
        </p:blipFill>
        <p:spPr>
          <a:xfrm>
            <a:off x="1143000" y="3619195"/>
            <a:ext cx="16249802" cy="123809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143000" y="5048402"/>
            <a:ext cx="16249802" cy="123809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1143000" y="6476695"/>
            <a:ext cx="16249802" cy="1238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143000" y="7905902"/>
            <a:ext cx="16249802" cy="123809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1143000" y="7905902"/>
            <a:ext cx="57607" cy="1238098"/>
          </a:xfrm>
          <a:prstGeom prst="rect">
            <a:avLst/>
          </a:prstGeom>
          <a:solidFill>
            <a:srgbClr val="FFE2B0"/>
          </a:solidFill>
          <a:ln w="12700">
            <a:solidFill>
              <a:srgbClr val="FFE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 txBox="1"/>
          <p:nvPr/>
        </p:nvSpPr>
        <p:spPr>
          <a:xfrm>
            <a:off x="1143000" y="857707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 · Action Plan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1238098"/>
            <a:ext cx="161931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오늘이 끝이 아니라 </a:t>
            </a:r>
            <a:r>
              <a:rPr lang="en-US" sz="5800" b="1" kern="0" spc="-15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시작</a:t>
            </a:r>
            <a:r>
              <a:rPr lang="en-US" sz="5800" b="1" kern="0" spc="-150" dirty="0">
                <a:solidFill>
                  <a:srgbClr val="1A2B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 </a:t>
            </a:r>
            <a:endParaRPr lang="en-US" sz="58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667305"/>
            <a:ext cx="1428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교실에서 정한 계획은 며칠 안에 쉽게 잊힙니다. 오늘 안에 다음 4가지를 끝내고 가세요.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1524305" y="3829507"/>
            <a:ext cx="8577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E85D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500" dirty="0"/>
          </a:p>
        </p:txBody>
      </p:sp>
      <p:sp>
        <p:nvSpPr>
          <p:cNvPr id="15" name="Text 9"/>
          <p:cNvSpPr txBox="1"/>
          <p:nvPr/>
        </p:nvSpPr>
        <p:spPr>
          <a:xfrm>
            <a:off x="2667305" y="3924605"/>
            <a:ext cx="14287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워크시트 4장을 사진 찍어 책상 잘 보이는 곳에 둔다</a:t>
            </a:r>
            <a:endParaRPr lang="en-US" sz="2700" dirty="0"/>
          </a:p>
        </p:txBody>
      </p:sp>
      <p:sp>
        <p:nvSpPr>
          <p:cNvPr id="16" name="Text 10"/>
          <p:cNvSpPr txBox="1"/>
          <p:nvPr/>
        </p:nvSpPr>
        <p:spPr>
          <a:xfrm>
            <a:off x="2667305" y="4304995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매주 월요일 9시, 다시 한 번 본다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5257800"/>
            <a:ext cx="8577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2D7D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500" dirty="0"/>
          </a:p>
        </p:txBody>
      </p:sp>
      <p:sp>
        <p:nvSpPr>
          <p:cNvPr id="18" name="Text 12"/>
          <p:cNvSpPr txBox="1"/>
          <p:nvPr/>
        </p:nvSpPr>
        <p:spPr>
          <a:xfrm>
            <a:off x="2667305" y="5352898"/>
            <a:ext cx="14287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안에 첫 잠재 고객 1명에게 연락한다</a:t>
            </a:r>
            <a:endParaRPr lang="en-US" sz="2700" dirty="0"/>
          </a:p>
        </p:txBody>
      </p:sp>
      <p:sp>
        <p:nvSpPr>
          <p:cNvPr id="19" name="Text 13"/>
          <p:cNvSpPr txBox="1"/>
          <p:nvPr/>
        </p:nvSpPr>
        <p:spPr>
          <a:xfrm>
            <a:off x="2667305" y="5734202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카톡 한 줄·전화 한 통이면 충분 — 이 사람이 다음 90일의 시작점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524305" y="6687007"/>
            <a:ext cx="8577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D8A9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500" dirty="0"/>
          </a:p>
        </p:txBody>
      </p:sp>
      <p:sp>
        <p:nvSpPr>
          <p:cNvPr id="21" name="Text 15"/>
          <p:cNvSpPr txBox="1"/>
          <p:nvPr/>
        </p:nvSpPr>
        <p:spPr>
          <a:xfrm>
            <a:off x="2667305" y="6782105"/>
            <a:ext cx="14287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A2B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주에 K-Startup 종합포털에서 1개 사업을 신청한다</a:t>
            </a:r>
            <a:endParaRPr lang="en-US" sz="2700" dirty="0"/>
          </a:p>
        </p:txBody>
      </p:sp>
      <p:sp>
        <p:nvSpPr>
          <p:cNvPr id="22" name="Text 16"/>
          <p:cNvSpPr txBox="1"/>
          <p:nvPr/>
        </p:nvSpPr>
        <p:spPr>
          <a:xfrm>
            <a:off x="2667305" y="7162495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C54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내 단계에 맞는 1개만 — 나머지는 보지 않는다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524305" y="8115300"/>
            <a:ext cx="8577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FFE2B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500" dirty="0"/>
          </a:p>
        </p:txBody>
      </p:sp>
      <p:sp>
        <p:nvSpPr>
          <p:cNvPr id="24" name="Text 18"/>
          <p:cNvSpPr txBox="1"/>
          <p:nvPr/>
        </p:nvSpPr>
        <p:spPr>
          <a:xfrm>
            <a:off x="2667305" y="8210398"/>
            <a:ext cx="14287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30일 후, 오늘 옆에 앉은 분에게 진행 상황을 한 줄로 보낸다</a:t>
            </a:r>
            <a:endParaRPr lang="en-US" sz="2700" dirty="0"/>
          </a:p>
        </p:txBody>
      </p:sp>
      <p:sp>
        <p:nvSpPr>
          <p:cNvPr id="25" name="Text 19"/>
          <p:cNvSpPr txBox="1"/>
          <p:nvPr/>
        </p:nvSpPr>
        <p:spPr>
          <a:xfrm>
            <a:off x="2667305" y="8591702"/>
            <a:ext cx="1428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약속 상대가 있으면 실행 가능성이 높아집니다 — 지금 카카오톡에 30일 후 알람을 등록하세요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6763695" y="857707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9790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52</a:t>
            </a:r>
            <a:endParaRPr lang="en-US" sz="15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096805" y="1333195"/>
            <a:ext cx="7248449" cy="78108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96805" y="1333195"/>
            <a:ext cx="9144" cy="7810805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8287207"/>
            <a:ext cx="8382305" cy="914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333195"/>
            <a:ext cx="571500" cy="2834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52430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7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Resources · Q&amp;A · Thank You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2190902"/>
            <a:ext cx="909096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kern="0" spc="-3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감사합니다</a:t>
            </a:r>
            <a:endParaRPr lang="en-US" sz="120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572000"/>
            <a:ext cx="83823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-75" dirty="0">
                <a:solidFill>
                  <a:srgbClr val="FFFFFF">
                    <a:alpha val="9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질문 한 가지 — </a:t>
            </a:r>
            <a:r>
              <a:rPr lang="en-US" sz="3600" i="1" kern="0" spc="-75" dirty="0">
                <a:solidFill>
                  <a:srgbClr val="FFE2B0">
                    <a:alpha val="9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"가장 위험한 가설"</a:t>
            </a:r>
            <a:r>
              <a:rPr lang="en-US" sz="3600" kern="0" spc="-75" dirty="0">
                <a:solidFill>
                  <a:srgbClr val="FFFFFF">
                    <a:alpha val="9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은 무엇인가요? 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6476695"/>
            <a:ext cx="8382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 만든 워크시트 중 가장 두려운 페이지를 펼치고,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한 가지를 옆 사람에게 짧게 말해보세요. 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8524951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225" dirty="0" err="1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8791956"/>
            <a:ext cx="8382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Ph.D.</a:t>
            </a: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이애본 </a:t>
            </a:r>
            <a:r>
              <a:rPr lang="en-US" altLang="ko-KR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(aebon@dreamitbiz.com)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0477195" y="1524305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5" dirty="0">
                <a:solidFill>
                  <a:srgbClr val="FFE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참고자료 · 추천도서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0477195" y="1904695"/>
            <a:ext cx="6477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더 깊이 들어가고 싶다면</a:t>
            </a:r>
            <a:endParaRPr lang="en-US" sz="3100" dirty="0"/>
          </a:p>
        </p:txBody>
      </p:sp>
      <p:sp>
        <p:nvSpPr>
          <p:cNvPr id="16" name="Text 12"/>
          <p:cNvSpPr txBox="1"/>
          <p:nvPr/>
        </p:nvSpPr>
        <p:spPr>
          <a:xfrm>
            <a:off x="10477195" y="2667305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Books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0477195" y="2933395"/>
            <a:ext cx="6477610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Eric Ries, 『The Lean Startup』 (2011)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Ash Maurya, 『Running Lean』 (O'Reilly, 2012)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Simon Sinek, 『Start with Why』 (2009)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Jonah Berger, 『Contagious』 (2013)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Carol Dweck, 『Mindset』 (2006) 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0477195" y="5048402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사이트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0477195" y="5315407"/>
            <a:ext cx="6477610" cy="2210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K-Startup 종합포털 — k-startup.go.kr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중기부 정책 안내 — mss.go.kr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중진공 정책자금 — kosmes.or.kr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소상공인시장진흥공단 — semas.or.kr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한국벤처캐피탈협회 — kvca.or.kr 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0477195" y="7429500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E85D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커뮤니티 · 미디어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0477195" y="7696505"/>
            <a:ext cx="6477610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아웃스탠딩 / 더밀크 — 스타트업 인사이트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EO Studio — 창업가 인터뷰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토스 / 우아한형제들 기술 블로그 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6763695" y="1524305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kern="0" spc="22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52</a:t>
            </a:r>
            <a:endParaRPr lang="en-US" sz="15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7866</Words>
  <Application>Microsoft Office PowerPoint</Application>
  <PresentationFormat>사용자 지정</PresentationFormat>
  <Paragraphs>1346</Paragraphs>
  <Slides>52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6" baseType="lpstr">
      <vt:lpstr>Noto Serif KR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2</cp:revision>
  <dcterms:created xsi:type="dcterms:W3CDTF">2026-05-09T06:38:34Z</dcterms:created>
  <dcterms:modified xsi:type="dcterms:W3CDTF">2026-05-11T07:46:35Z</dcterms:modified>
</cp:coreProperties>
</file>