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427" r:id="rId2"/>
    <p:sldId id="428" r:id="rId3"/>
    <p:sldId id="426" r:id="rId4"/>
    <p:sldId id="429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  <p:sldId id="449" r:id="rId25"/>
    <p:sldId id="450" r:id="rId26"/>
    <p:sldId id="451" r:id="rId27"/>
    <p:sldId id="452" r:id="rId28"/>
    <p:sldId id="453" r:id="rId29"/>
    <p:sldId id="454" r:id="rId30"/>
    <p:sldId id="455" r:id="rId31"/>
    <p:sldId id="456" r:id="rId32"/>
    <p:sldId id="457" r:id="rId33"/>
    <p:sldId id="458" r:id="rId34"/>
    <p:sldId id="459" r:id="rId35"/>
    <p:sldId id="460" r:id="rId36"/>
    <p:sldId id="461" r:id="rId37"/>
    <p:sldId id="462" r:id="rId38"/>
    <p:sldId id="463" r:id="rId39"/>
    <p:sldId id="464" r:id="rId40"/>
    <p:sldId id="465" r:id="rId41"/>
    <p:sldId id="466" r:id="rId42"/>
    <p:sldId id="467" r:id="rId43"/>
    <p:sldId id="468" r:id="rId44"/>
    <p:sldId id="469" r:id="rId45"/>
    <p:sldId id="470" r:id="rId46"/>
    <p:sldId id="471" r:id="rId47"/>
    <p:sldId id="472" r:id="rId48"/>
    <p:sldId id="473" r:id="rId49"/>
    <p:sldId id="474" r:id="rId50"/>
    <p:sldId id="475" r:id="rId51"/>
    <p:sldId id="476" r:id="rId52"/>
    <p:sldId id="477" r:id="rId53"/>
    <p:sldId id="478" r:id="rId54"/>
    <p:sldId id="479" r:id="rId55"/>
    <p:sldId id="480" r:id="rId56"/>
    <p:sldId id="481" r:id="rId57"/>
    <p:sldId id="482" r:id="rId58"/>
    <p:sldId id="483" r:id="rId59"/>
    <p:sldId id="484" r:id="rId60"/>
    <p:sldId id="485" r:id="rId61"/>
    <p:sldId id="486" r:id="rId62"/>
    <p:sldId id="487" r:id="rId63"/>
    <p:sldId id="488" r:id="rId64"/>
    <p:sldId id="489" r:id="rId65"/>
    <p:sldId id="490" r:id="rId66"/>
    <p:sldId id="491" r:id="rId67"/>
    <p:sldId id="492" r:id="rId68"/>
    <p:sldId id="493" r:id="rId69"/>
    <p:sldId id="494" r:id="rId70"/>
    <p:sldId id="495" r:id="rId71"/>
    <p:sldId id="496" r:id="rId72"/>
    <p:sldId id="497" r:id="rId73"/>
    <p:sldId id="498" r:id="rId74"/>
    <p:sldId id="499" r:id="rId75"/>
    <p:sldId id="500" r:id="rId76"/>
    <p:sldId id="501" r:id="rId77"/>
    <p:sldId id="580" r:id="rId7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78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9A7DB-BFD0-9385-8AA7-0A85F29F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BC0AE-96B2-7654-E9FB-FC8D75C0A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E96C1-1ED5-BFA8-A942-5D5C8D65C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E6DFB-95EB-3C5F-6CEE-A0DD9CCA26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6868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브릿지 교과목 설계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6.25 THU  ·  10:00–18:00  ·  7교시 (50분 수업 + 10분 휴식)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8624F95-6EE1-342B-4390-DCEAE479284D}"/>
              </a:ext>
            </a:extLst>
          </p:cNvPr>
          <p:cNvSpPr/>
          <p:nvPr/>
        </p:nvSpPr>
        <p:spPr>
          <a:xfrm>
            <a:off x="918573" y="594229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altLang="ko-KR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aebon@hs.ac.kr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 | 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한신대학교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AI.SW대학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드림아이티비즈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(DreamIT Biz)</a:t>
            </a:r>
            <a:endParaRPr lang="en-US" sz="16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F2CA7B-BEFF-7A66-5A58-2C5117715F38}"/>
              </a:ext>
            </a:extLst>
          </p:cNvPr>
          <p:cNvGrpSpPr/>
          <p:nvPr/>
        </p:nvGrpSpPr>
        <p:grpSpPr>
          <a:xfrm>
            <a:off x="10083800" y="609600"/>
            <a:ext cx="1422400" cy="1422400"/>
            <a:chOff x="10083800" y="609600"/>
            <a:chExt cx="1422400" cy="1422400"/>
          </a:xfrm>
        </p:grpSpPr>
        <p:sp>
          <p:nvSpPr>
            <p:cNvPr id="9" name="clogo0">
              <a:extLst>
                <a:ext uri="{FF2B5EF4-FFF2-40B4-BE49-F238E27FC236}">
                  <a16:creationId xmlns:a16="http://schemas.microsoft.com/office/drawing/2014/main" id="{7249C505-982E-7D2C-8ADC-7D0EE9AD5A19}"/>
                </a:ext>
              </a:extLst>
            </p:cNvPr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" name="clogo1">
              <a:extLst>
                <a:ext uri="{FF2B5EF4-FFF2-40B4-BE49-F238E27FC236}">
                  <a16:creationId xmlns:a16="http://schemas.microsoft.com/office/drawing/2014/main" id="{586951F9-9435-A71C-7EAB-C4E81E01DF8C}"/>
                </a:ext>
              </a:extLst>
            </p:cNvPr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" name="clogo2">
              <a:extLst>
                <a:ext uri="{FF2B5EF4-FFF2-40B4-BE49-F238E27FC236}">
                  <a16:creationId xmlns:a16="http://schemas.microsoft.com/office/drawing/2014/main" id="{B1FA4E82-5497-7B36-DCF3-FF86939BE035}"/>
                </a:ext>
              </a:extLst>
            </p:cNvPr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" name="clogo3">
              <a:extLst>
                <a:ext uri="{FF2B5EF4-FFF2-40B4-BE49-F238E27FC236}">
                  <a16:creationId xmlns:a16="http://schemas.microsoft.com/office/drawing/2014/main" id="{EF4F815F-BFB9-6834-B68C-E3F902A1F38E}"/>
                </a:ext>
              </a:extLst>
            </p:cNvPr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3" name="clogo4">
              <a:extLst>
                <a:ext uri="{FF2B5EF4-FFF2-40B4-BE49-F238E27FC236}">
                  <a16:creationId xmlns:a16="http://schemas.microsoft.com/office/drawing/2014/main" id="{E269E4D6-DE77-7E05-F3BD-CCAED635727A}"/>
                </a:ext>
              </a:extLst>
            </p:cNvPr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4" name="clogo5">
              <a:extLst>
                <a:ext uri="{FF2B5EF4-FFF2-40B4-BE49-F238E27FC236}">
                  <a16:creationId xmlns:a16="http://schemas.microsoft.com/office/drawing/2014/main" id="{95ADEB83-5B6E-B3B8-9F81-1629827D9C71}"/>
                </a:ext>
              </a:extLst>
            </p:cNvPr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5" name="clogo6">
              <a:extLst>
                <a:ext uri="{FF2B5EF4-FFF2-40B4-BE49-F238E27FC236}">
                  <a16:creationId xmlns:a16="http://schemas.microsoft.com/office/drawing/2014/main" id="{3D985F38-76A3-15FA-25FB-68AA718D4642}"/>
                </a:ext>
              </a:extLst>
            </p:cNvPr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6" name="clogo7">
              <a:extLst>
                <a:ext uri="{FF2B5EF4-FFF2-40B4-BE49-F238E27FC236}">
                  <a16:creationId xmlns:a16="http://schemas.microsoft.com/office/drawing/2014/main" id="{6E5178AB-0862-F568-3ADD-B2937E56D9C3}"/>
                </a:ext>
              </a:extLst>
            </p:cNvPr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7" name="clogo8">
              <a:extLst>
                <a:ext uri="{FF2B5EF4-FFF2-40B4-BE49-F238E27FC236}">
                  <a16:creationId xmlns:a16="http://schemas.microsoft.com/office/drawing/2014/main" id="{02D1CF15-0CF1-1643-3A2F-9692A3343287}"/>
                </a:ext>
              </a:extLst>
            </p:cNvPr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8" name="clogo9">
              <a:extLst>
                <a:ext uri="{FF2B5EF4-FFF2-40B4-BE49-F238E27FC236}">
                  <a16:creationId xmlns:a16="http://schemas.microsoft.com/office/drawing/2014/main" id="{7956B9FD-22A5-13F4-931A-C0C30B7AFE8E}"/>
                </a:ext>
              </a:extLst>
            </p:cNvPr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9" name="clogo10">
              <a:extLst>
                <a:ext uri="{FF2B5EF4-FFF2-40B4-BE49-F238E27FC236}">
                  <a16:creationId xmlns:a16="http://schemas.microsoft.com/office/drawing/2014/main" id="{41850991-FB0E-108D-B64E-1B9BAE0A3308}"/>
                </a:ext>
              </a:extLst>
            </p:cNvPr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" name="clogo11">
              <a:extLst>
                <a:ext uri="{FF2B5EF4-FFF2-40B4-BE49-F238E27FC236}">
                  <a16:creationId xmlns:a16="http://schemas.microsoft.com/office/drawing/2014/main" id="{43A8C8D7-FF9C-9D2C-38FC-7605403ADCBC}"/>
                </a:ext>
              </a:extLst>
            </p:cNvPr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99197FE-4DD0-F86E-5B23-C1FF7928A473}"/>
              </a:ext>
            </a:extLst>
          </p:cNvPr>
          <p:cNvGrpSpPr/>
          <p:nvPr/>
        </p:nvGrpSpPr>
        <p:grpSpPr>
          <a:xfrm rot="741642">
            <a:off x="10858329" y="2102059"/>
            <a:ext cx="825082" cy="825082"/>
            <a:chOff x="10083800" y="609600"/>
            <a:chExt cx="1422400" cy="1422400"/>
          </a:xfrm>
        </p:grpSpPr>
        <p:sp>
          <p:nvSpPr>
            <p:cNvPr id="22" name="clogo0">
              <a:extLst>
                <a:ext uri="{FF2B5EF4-FFF2-40B4-BE49-F238E27FC236}">
                  <a16:creationId xmlns:a16="http://schemas.microsoft.com/office/drawing/2014/main" id="{296A36F7-2A8A-B906-1257-FA019CB64FE0}"/>
                </a:ext>
              </a:extLst>
            </p:cNvPr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" name="clogo1">
              <a:extLst>
                <a:ext uri="{FF2B5EF4-FFF2-40B4-BE49-F238E27FC236}">
                  <a16:creationId xmlns:a16="http://schemas.microsoft.com/office/drawing/2014/main" id="{68E06DD2-1467-CD68-95EB-80AEC00CBE69}"/>
                </a:ext>
              </a:extLst>
            </p:cNvPr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" name="clogo2">
              <a:extLst>
                <a:ext uri="{FF2B5EF4-FFF2-40B4-BE49-F238E27FC236}">
                  <a16:creationId xmlns:a16="http://schemas.microsoft.com/office/drawing/2014/main" id="{C596FF74-A72D-996A-6D98-C170277B6635}"/>
                </a:ext>
              </a:extLst>
            </p:cNvPr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" name="clogo3">
              <a:extLst>
                <a:ext uri="{FF2B5EF4-FFF2-40B4-BE49-F238E27FC236}">
                  <a16:creationId xmlns:a16="http://schemas.microsoft.com/office/drawing/2014/main" id="{F94F9FA7-5706-CE13-226B-6C5DE68EB943}"/>
                </a:ext>
              </a:extLst>
            </p:cNvPr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" name="clogo4">
              <a:extLst>
                <a:ext uri="{FF2B5EF4-FFF2-40B4-BE49-F238E27FC236}">
                  <a16:creationId xmlns:a16="http://schemas.microsoft.com/office/drawing/2014/main" id="{63C0BE46-A8F6-D681-9169-777584A58F1E}"/>
                </a:ext>
              </a:extLst>
            </p:cNvPr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" name="clogo5">
              <a:extLst>
                <a:ext uri="{FF2B5EF4-FFF2-40B4-BE49-F238E27FC236}">
                  <a16:creationId xmlns:a16="http://schemas.microsoft.com/office/drawing/2014/main" id="{EDB9767E-97F8-E95C-DFE6-B81DEF3CC80A}"/>
                </a:ext>
              </a:extLst>
            </p:cNvPr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8" name="clogo6">
              <a:extLst>
                <a:ext uri="{FF2B5EF4-FFF2-40B4-BE49-F238E27FC236}">
                  <a16:creationId xmlns:a16="http://schemas.microsoft.com/office/drawing/2014/main" id="{715424A2-A5A8-8D5F-2A9E-15EE592B23DF}"/>
                </a:ext>
              </a:extLst>
            </p:cNvPr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9" name="clogo7">
              <a:extLst>
                <a:ext uri="{FF2B5EF4-FFF2-40B4-BE49-F238E27FC236}">
                  <a16:creationId xmlns:a16="http://schemas.microsoft.com/office/drawing/2014/main" id="{3A9CFB9D-0270-DEEF-5DFE-2C69C8E5C6CC}"/>
                </a:ext>
              </a:extLst>
            </p:cNvPr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" name="clogo8">
              <a:extLst>
                <a:ext uri="{FF2B5EF4-FFF2-40B4-BE49-F238E27FC236}">
                  <a16:creationId xmlns:a16="http://schemas.microsoft.com/office/drawing/2014/main" id="{BC451FB2-E608-37D1-FBEB-758D867CFCDD}"/>
                </a:ext>
              </a:extLst>
            </p:cNvPr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" name="clogo9">
              <a:extLst>
                <a:ext uri="{FF2B5EF4-FFF2-40B4-BE49-F238E27FC236}">
                  <a16:creationId xmlns:a16="http://schemas.microsoft.com/office/drawing/2014/main" id="{7934A680-076B-6D8E-DB3C-EDEBF10DBCD4}"/>
                </a:ext>
              </a:extLst>
            </p:cNvPr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" name="clogo10">
              <a:extLst>
                <a:ext uri="{FF2B5EF4-FFF2-40B4-BE49-F238E27FC236}">
                  <a16:creationId xmlns:a16="http://schemas.microsoft.com/office/drawing/2014/main" id="{864F8E4B-4771-6C59-2C6E-D993B6462229}"/>
                </a:ext>
              </a:extLst>
            </p:cNvPr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" name="clogo11">
              <a:extLst>
                <a:ext uri="{FF2B5EF4-FFF2-40B4-BE49-F238E27FC236}">
                  <a16:creationId xmlns:a16="http://schemas.microsoft.com/office/drawing/2014/main" id="{703F094C-CBF4-84B1-39F0-DF7C82D59D3D}"/>
                </a:ext>
              </a:extLst>
            </p:cNvPr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</p:spTree>
    <p:extLst>
      <p:ext uri="{BB962C8B-B14F-4D97-AF65-F5344CB8AC3E}">
        <p14:creationId xmlns:p14="http://schemas.microsoft.com/office/powerpoint/2010/main" val="403011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 ·  10:00–10:50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교과목 AI 접목 아이디어 도출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교과목의 학습목표와 활동을 구조적으로 진단한다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접목이 유효한 지점을 명시적 기준으로 선별한다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접목 후보를 교육적 효과와 실행 난이도로 우선순위화한다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A6F5532-E73B-6197-5D1A-B8743B67B237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CD0416BD-833A-4759-1702-E8F510E120F1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5CAAC23-F688-4005-A40E-C6B5807CE6D1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3D114172-13F0-303F-1AF7-A6C97F718ADC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317B52CD-CA3A-640A-8057-487963A82D90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BAC903EF-3B60-77C8-D8D1-3AB3387D3E2C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D097D680-EFC9-780A-5B12-3B788BA92852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CD99DFBA-35E3-E932-DB96-2C93516E250F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92EA904C-6C3A-F101-48FD-41DED77C4618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2EFAD41D-0B50-5A1A-F8A9-5F0644E878C5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7C0C2D8A-075B-267D-5AF5-8760AB970D50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5AB95B27-6E08-460A-06EE-BF9E21831994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628399BC-EEAA-5CFB-329C-40FB329E3EBF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8441D8F6-5A34-8F2C-177B-F05189B6A55C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31AC142D-708F-3520-7EFC-D7D2782FE107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235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전환: 연구 활용 → 교과목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→ Day 2 전환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1의 '연구·업무 활용' 역량을 이제 '내 강의를 설계하는' 도구로 옮겨 적용한다.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목표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하나를 골라 AI 접목 지점 발굴부터 강의자료·평가·PBL·튜터 에이전트까지 직접 설계한다.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흐름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7교시에 걸쳐 진단 → 재구성 → 콘텐츠 → 과제 → 에이전트 → 지침 → 공유 순으로 산출물을 완성한다.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645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브릿지란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교과목에 AI를 '연결(bridge)'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수업 바깥의 신기술이 아니라, 기존 학습목표에 잇는 다리로 본다.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보조이지 대체가 아니다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학습을 돕는 도구일 뿐, 학생이 도달해야 할 역량 자체를 대신하지 않는다.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설계의 기준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접목은 '이 활동이 학습목표 달성을 돕는가'라는 질문을 통과해야 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00" name="card"/>
          <p:cNvSpPr/>
          <p:nvPr/>
        </p:nvSpPr>
        <p:spPr>
          <a:xfrm>
            <a:off x="6350000" y="2311400"/>
            <a:ext cx="5080000" cy="7874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45720" tIns="18288" rIns="45720" bIns="18288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교과목 활동 · 학습목표</a:t>
            </a:r>
          </a:p>
        </p:txBody>
      </p:sp>
      <p:sp>
        <p:nvSpPr>
          <p:cNvPr id="901" name="arr"/>
          <p:cNvSpPr/>
          <p:nvPr/>
        </p:nvSpPr>
        <p:spPr>
          <a:xfrm>
            <a:off x="8737600" y="3175000"/>
            <a:ext cx="304800" cy="279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02" name="card"/>
          <p:cNvSpPr/>
          <p:nvPr/>
        </p:nvSpPr>
        <p:spPr>
          <a:xfrm>
            <a:off x="6350000" y="3530600"/>
            <a:ext cx="5080000" cy="787400"/>
          </a:xfrm>
          <a:prstGeom prst="roundRect">
            <a:avLst>
              <a:gd name="adj" fmla="val 12000"/>
            </a:avLst>
          </a:prstGeom>
          <a:solidFill>
            <a:srgbClr val="C2603D"/>
          </a:solidFill>
          <a:ln w="12700">
            <a:solidFill>
              <a:srgbClr val="E5DACE"/>
            </a:solidFill>
          </a:ln>
        </p:spPr>
        <p:txBody>
          <a:bodyPr wrap="square" lIns="45720" tIns="18288" rIns="45720" bIns="18288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브릿지 — 연결(bridge)</a:t>
            </a:r>
          </a:p>
        </p:txBody>
      </p:sp>
      <p:sp>
        <p:nvSpPr>
          <p:cNvPr id="903" name="arr"/>
          <p:cNvSpPr/>
          <p:nvPr/>
        </p:nvSpPr>
        <p:spPr>
          <a:xfrm>
            <a:off x="8737600" y="4394200"/>
            <a:ext cx="304800" cy="279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04" name="card"/>
          <p:cNvSpPr/>
          <p:nvPr/>
        </p:nvSpPr>
        <p:spPr>
          <a:xfrm>
            <a:off x="6350000" y="4749800"/>
            <a:ext cx="5080000" cy="7874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45720" tIns="18288" rIns="45720" bIns="18288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달성 지원</a:t>
            </a:r>
          </a:p>
        </p:txBody>
      </p:sp>
    </p:spTree>
    <p:extLst>
      <p:ext uri="{BB962C8B-B14F-4D97-AF65-F5344CB8AC3E}">
        <p14:creationId xmlns:p14="http://schemas.microsoft.com/office/powerpoint/2010/main" val="176675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접목 후보 식별 기준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39" y="2103120"/>
            <a:ext cx="65739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반복성이 높은 활동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형태가 비슷한 퀴즈·예제·피드백처럼 교수자가 반복 제작·채점하는 일.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형성적 피드백 수요가 큰 활동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학생마다 즉각적 점검이 필요하지만 인력으로 일일이 대응하기 어려운 부분.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탐색 부담이 큰 활동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사례·데이터·참고문헌을 폭넓게 모아야 하는, 시간 소모가 큰 준비 작업.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00" name="card"/>
          <p:cNvSpPr/>
          <p:nvPr/>
        </p:nvSpPr>
        <p:spPr>
          <a:xfrm>
            <a:off x="7577571" y="2266696"/>
            <a:ext cx="3837189" cy="965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812800" tIns="18288" rIns="45720" bIns="18288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반복성이 높은 활동</a:t>
            </a:r>
          </a:p>
        </p:txBody>
      </p:sp>
      <p:sp>
        <p:nvSpPr>
          <p:cNvPr id="901" name="card"/>
          <p:cNvSpPr/>
          <p:nvPr/>
        </p:nvSpPr>
        <p:spPr>
          <a:xfrm>
            <a:off x="7577571" y="3435096"/>
            <a:ext cx="3837189" cy="965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812800" tIns="18288" rIns="45720" bIns="18288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형성적 피드백 수요</a:t>
            </a:r>
          </a:p>
        </p:txBody>
      </p:sp>
      <p:sp>
        <p:nvSpPr>
          <p:cNvPr id="902" name="card"/>
          <p:cNvSpPr/>
          <p:nvPr/>
        </p:nvSpPr>
        <p:spPr>
          <a:xfrm>
            <a:off x="7577571" y="4603496"/>
            <a:ext cx="3837189" cy="965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812800" tIns="18288" rIns="45720" bIns="18288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탐색 부담</a:t>
            </a:r>
          </a:p>
        </p:txBody>
      </p:sp>
      <p:pic>
        <p:nvPicPr>
          <p:cNvPr id="903" name="Graphic 903" descr="반복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5371" y="2469896"/>
            <a:ext cx="558800" cy="558800"/>
          </a:xfrm>
          <a:prstGeom prst="rect">
            <a:avLst/>
          </a:prstGeom>
        </p:spPr>
      </p:pic>
      <p:pic>
        <p:nvPicPr>
          <p:cNvPr id="904" name="Graphic 904" descr="피드백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5371" y="3638296"/>
            <a:ext cx="558800" cy="558800"/>
          </a:xfrm>
          <a:prstGeom prst="rect">
            <a:avLst/>
          </a:prstGeom>
        </p:spPr>
      </p:pic>
      <p:pic>
        <p:nvPicPr>
          <p:cNvPr id="905" name="Graphic 905" descr="자료 탐색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5371" y="4806696"/>
            <a:ext cx="558800" cy="558800"/>
          </a:xfrm>
          <a:prstGeom prst="rect">
            <a:avLst/>
          </a:prstGeom>
        </p:spPr>
      </p:pic>
      <p:sp>
        <p:nvSpPr>
          <p:cNvPr id="7" name="bar">
            <a:extLst>
              <a:ext uri="{FF2B5EF4-FFF2-40B4-BE49-F238E27FC236}">
                <a16:creationId xmlns:a16="http://schemas.microsoft.com/office/drawing/2014/main" id="{3DE1AE53-C2DF-B489-F6A1-D6A9BAB8B31E}"/>
              </a:ext>
            </a:extLst>
          </p:cNvPr>
          <p:cNvSpPr/>
          <p:nvPr/>
        </p:nvSpPr>
        <p:spPr>
          <a:xfrm>
            <a:off x="11084774" y="25017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4E8A57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bar">
            <a:extLst>
              <a:ext uri="{FF2B5EF4-FFF2-40B4-BE49-F238E27FC236}">
                <a16:creationId xmlns:a16="http://schemas.microsoft.com/office/drawing/2014/main" id="{7CBF67FE-160A-CD97-EE70-849EC086356D}"/>
              </a:ext>
            </a:extLst>
          </p:cNvPr>
          <p:cNvSpPr/>
          <p:nvPr/>
        </p:nvSpPr>
        <p:spPr>
          <a:xfrm>
            <a:off x="11084774" y="36701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C99A3A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" name="bar">
            <a:extLst>
              <a:ext uri="{FF2B5EF4-FFF2-40B4-BE49-F238E27FC236}">
                <a16:creationId xmlns:a16="http://schemas.microsoft.com/office/drawing/2014/main" id="{91B0478C-EE5E-0BFE-E9F6-2D00B5126B83}"/>
              </a:ext>
            </a:extLst>
          </p:cNvPr>
          <p:cNvSpPr/>
          <p:nvPr/>
        </p:nvSpPr>
        <p:spPr>
          <a:xfrm>
            <a:off x="11084774" y="48385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43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접목에 신중할 지점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역량을 직접 평가하는 활동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과목이 길러야 할 바로 그 능력을 측정하는 시험·과제에는 개입을 최소화한다.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'보조'가 '대체'로 변질될 위험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사고 과정을 대신해 버리면 정작 학습 자체가 일어나지 않는다.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훼손 경계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편의가 목표를 갉아먹지 않도록, 접목 전에 '무엇을 지킬지'를 먼저 정한다.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71852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우선순위화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학습활동 평정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강의계획서의 활동을 주차 단위로 펼쳐, 부담이 어디에 몰리는지 진단한다.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· 실행 난이도 매트릭스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교육적 효과(세로)와 도입 난이도(가로) 두 축으로 후보 활동을 배치한다.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3가지 선정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효과는 크고 난이도는 낮은 사분면부터 우선 접목 후보 3개를 고른다.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20" name="cell"/>
          <p:cNvSpPr/>
          <p:nvPr/>
        </p:nvSpPr>
        <p:spPr>
          <a:xfrm>
            <a:off x="7112000" y="2413000"/>
            <a:ext cx="2095500" cy="1498600"/>
          </a:xfrm>
          <a:prstGeom prst="rect">
            <a:avLst/>
          </a:prstGeom>
          <a:solidFill>
            <a:srgbClr val="C2603D"/>
          </a:solidFill>
          <a:ln w="12700">
            <a:solidFill>
              <a:srgbClr val="E5DACE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후보</a:t>
            </a:r>
          </a:p>
          <a:p>
            <a:pPr algn="ctr">
              <a:lnSpc>
                <a:spcPct val="150000"/>
              </a:lnSpc>
            </a:pPr>
            <a:r>
              <a:rPr lang="ko-KR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효과↑ · 난이도↓</a:t>
            </a:r>
          </a:p>
        </p:txBody>
      </p:sp>
      <p:sp>
        <p:nvSpPr>
          <p:cNvPr id="921" name="cell"/>
          <p:cNvSpPr/>
          <p:nvPr/>
        </p:nvSpPr>
        <p:spPr>
          <a:xfrm>
            <a:off x="9207500" y="2413000"/>
            <a:ext cx="2095500" cy="1498600"/>
          </a:xfrm>
          <a:prstGeom prst="rect">
            <a:avLst/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과제</a:t>
            </a:r>
          </a:p>
          <a:p>
            <a:pPr algn="ctr">
              <a:lnSpc>
                <a:spcPct val="150000"/>
              </a:lnSpc>
            </a:pPr>
            <a:r>
              <a:rPr lang="ko-KR" sz="11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효과↑ · 난이도↑</a:t>
            </a:r>
          </a:p>
        </p:txBody>
      </p:sp>
      <p:sp>
        <p:nvSpPr>
          <p:cNvPr id="922" name="cell"/>
          <p:cNvSpPr/>
          <p:nvPr/>
        </p:nvSpPr>
        <p:spPr>
          <a:xfrm>
            <a:off x="7112000" y="3911600"/>
            <a:ext cx="2095500" cy="1498600"/>
          </a:xfrm>
          <a:prstGeom prst="rect">
            <a:avLst/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 적용</a:t>
            </a:r>
          </a:p>
          <a:p>
            <a:pPr algn="ctr">
              <a:lnSpc>
                <a:spcPct val="150000"/>
              </a:lnSpc>
            </a:pPr>
            <a:r>
              <a:rPr lang="ko-KR" sz="11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효과↓ · 난이도↓</a:t>
            </a:r>
          </a:p>
        </p:txBody>
      </p:sp>
      <p:sp>
        <p:nvSpPr>
          <p:cNvPr id="923" name="cell"/>
          <p:cNvSpPr/>
          <p:nvPr/>
        </p:nvSpPr>
        <p:spPr>
          <a:xfrm>
            <a:off x="9207500" y="3911600"/>
            <a:ext cx="2095500" cy="1498600"/>
          </a:xfrm>
          <a:prstGeom prst="rect">
            <a:avLst/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후순위</a:t>
            </a:r>
          </a:p>
          <a:p>
            <a:pPr algn="ctr">
              <a:lnSpc>
                <a:spcPct val="150000"/>
              </a:lnSpc>
            </a:pPr>
            <a:r>
              <a:rPr lang="ko-KR" sz="11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효과↓ · 난이도↑</a:t>
            </a:r>
          </a:p>
        </p:txBody>
      </p:sp>
      <p:sp>
        <p:nvSpPr>
          <p:cNvPr id="924" name="axis"/>
          <p:cNvSpPr/>
          <p:nvPr/>
        </p:nvSpPr>
        <p:spPr>
          <a:xfrm>
            <a:off x="6553200" y="2413000"/>
            <a:ext cx="508000" cy="2997200"/>
          </a:xfrm>
          <a:prstGeom prst="rect">
            <a:avLst/>
          </a:prstGeom>
          <a:noFill/>
          <a:ln>
            <a:noFill/>
          </a:ln>
        </p:spPr>
        <p:txBody>
          <a:bodyPr vert="vert270"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교육적 효과 ▲</a:t>
            </a:r>
          </a:p>
        </p:txBody>
      </p:sp>
      <p:sp>
        <p:nvSpPr>
          <p:cNvPr id="925" name="axis"/>
          <p:cNvSpPr/>
          <p:nvPr/>
        </p:nvSpPr>
        <p:spPr>
          <a:xfrm>
            <a:off x="7112000" y="5486400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난이도 ▶</a:t>
            </a:r>
          </a:p>
        </p:txBody>
      </p:sp>
    </p:spTree>
    <p:extLst>
      <p:ext uri="{BB962C8B-B14F-4D97-AF65-F5344CB8AC3E}">
        <p14:creationId xmlns:p14="http://schemas.microsoft.com/office/powerpoint/2010/main" val="330254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과목 AI 접목 지도 작성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담당 과목의 활동을 매트릭스에 올려 접목 지점을 한 장으로 시각화한다.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3 + 근거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선정한 접목 지점 3개와 '왜 여기인가'에 대한 근거를 함께 적는다.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교시부터 무엇을 먼저 설계할지 적용 순서를 정해 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7037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노트 — AI 접목 적합성 판단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901952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자동화–증강 스펙트럼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활동을 '완전 자동화'가 아니라 '인지 부하 경감(augmentation)'으로 접근한다. </a:t>
            </a:r>
            <a:endParaRPr lang="en-US" altLang="ko-KR" sz="1500" dirty="0">
              <a:solidFill>
                <a:srgbClr val="5A554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54000" indent="-25400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ko-KR" sz="1500" dirty="0" err="1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</a:t>
            </a: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교수자의 판단을 대체하지 않고 보조한다.</a:t>
            </a:r>
          </a:p>
          <a:p>
            <a:pPr marL="254000" indent="-25400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적합성 3요인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반복성(빈도·정형성) ② 피드백 지연(즉시성 요구) ③ 탐색 비용(자료 수집 부담). </a:t>
            </a:r>
            <a:endParaRPr lang="en-US" altLang="ko-KR" sz="1500" dirty="0">
              <a:solidFill>
                <a:srgbClr val="5A554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50000"/>
              </a:lnSpc>
              <a:spcAft>
                <a:spcPts val="900"/>
              </a:spcAft>
              <a:buSzPct val="100000"/>
            </a:pPr>
            <a:r>
              <a:rPr lang="ko-KR" altLang="en-US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</a:t>
            </a: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요인이 클수록 접목 효과가 크다.</a:t>
            </a:r>
          </a:p>
          <a:p>
            <a:pPr marL="254000" indent="-25400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조건(constraint)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역량의 직접 평가, 학문적 정직성, 데이터 프라이버시는 접목을 제한하는 경계 조건이다.</a:t>
            </a:r>
          </a:p>
          <a:p>
            <a:pPr marL="254000" indent="-25400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규칙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순편익 = 기대 효과(시간 절감 × 품질 향상) − 위험(역량 훼손). 순편익이 양(+)일 때만 접목한다.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77327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랩 — 내 과목 AI 접목 지도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99200" y="2103120"/>
            <a:ext cx="513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과목 강의계획서를 텍스트로 준비한다.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실행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프롬프트에 계획서를 붙여 Claude에 전송한다.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검토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평정·후보를 교수자 관점에서 점검·수정한다.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저장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접목 지도(표) + 후보 3 + 근거를 저장한다.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sz="1300" i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후보 선정 근거가 학습목표와 연결되는가?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00" name="promptbox"/>
          <p:cNvSpPr/>
          <p:nvPr/>
        </p:nvSpPr>
        <p:spPr>
          <a:xfrm>
            <a:off x="546100" y="2108200"/>
            <a:ext cx="5461000" cy="4114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18000" tIns="100000" rIns="91440" bIns="91440" anchor="t"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PROMPT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당신은 교육과정 설계 전문가입니다.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다음 강의계획서를 분석해 주세요.</a:t>
            </a:r>
          </a:p>
          <a:p>
            <a:pPr>
              <a:lnSpc>
                <a:spcPct val="150000"/>
              </a:lnSpc>
            </a:pPr>
            <a:endParaRPr lang="ko-KR" sz="80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[강의계획서 붙여넣기]</a:t>
            </a:r>
          </a:p>
          <a:p>
            <a:pPr>
              <a:lnSpc>
                <a:spcPct val="150000"/>
              </a:lnSpc>
            </a:pPr>
            <a:endParaRPr lang="ko-KR" sz="80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작업: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1) 주차별 학습활동을 표로 정리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2) 각 활동의 반복성·피드백지연·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탐색비용을 상/중/하로 평정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3) 효과 vs 난이도로 상위 후보 3개를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근거와 함께 제시</a:t>
            </a:r>
          </a:p>
        </p:txBody>
      </p:sp>
    </p:spTree>
    <p:extLst>
      <p:ext uri="{BB962C8B-B14F-4D97-AF65-F5344CB8AC3E}">
        <p14:creationId xmlns:p14="http://schemas.microsoft.com/office/powerpoint/2010/main" val="281242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예제집 — 접목 아이디어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6100" y="2108200"/>
            <a:ext cx="110617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None/>
            </a:pP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 바로 쓰는 추가 프롬프트 — 변형용 · 후속/개선용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20" name="pbox"/>
          <p:cNvSpPr/>
          <p:nvPr/>
        </p:nvSpPr>
        <p:spPr>
          <a:xfrm>
            <a:off x="5461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80000" bIns="50000" anchor="t"/>
          <a:lstStyle/>
          <a:p>
            <a:pPr>
              <a:lnSpc>
                <a:spcPct val="150000"/>
              </a:lnSpc>
              <a:spcAft>
                <a:spcPts val="7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변형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'[특정 주차 활동]'에 AI를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접목한다고 할 때:</a:t>
            </a:r>
          </a:p>
          <a:p>
            <a:pPr>
              <a:lnSpc>
                <a:spcPct val="150000"/>
              </a:lnSpc>
            </a:pPr>
            <a:endParaRPr lang="ko-KR" sz="70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학습목표 훼손 위험은?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보조에 머물 설계 장치는?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효과·실행 난이도를 상/중/하 평가</a:t>
            </a:r>
          </a:p>
        </p:txBody>
      </p:sp>
      <p:sp>
        <p:nvSpPr>
          <p:cNvPr id="721" name="pbox"/>
          <p:cNvSpPr/>
          <p:nvPr/>
        </p:nvSpPr>
        <p:spPr>
          <a:xfrm>
            <a:off x="63500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80000" bIns="50000" anchor="t"/>
          <a:lstStyle/>
          <a:p>
            <a:pPr>
              <a:lnSpc>
                <a:spcPct val="150000"/>
              </a:lnSpc>
              <a:spcAft>
                <a:spcPts val="7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후속·개선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앞 결과의 후보 3개를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'효과 대비 도입 비용'으로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다시 순위 매기고,</a:t>
            </a:r>
          </a:p>
          <a:p>
            <a:pPr>
              <a:lnSpc>
                <a:spcPct val="150000"/>
              </a:lnSpc>
            </a:pPr>
            <a:endParaRPr lang="ko-KR" sz="70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1순위의 '첫 적용 1건' 실행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단계를 구체적으로 제안해 주세요.</a:t>
            </a:r>
          </a:p>
        </p:txBody>
      </p:sp>
      <p:sp>
        <p:nvSpPr>
          <p:cNvPr id="730" name="tip"/>
          <p:cNvSpPr/>
          <p:nvPr/>
        </p:nvSpPr>
        <p:spPr>
          <a:xfrm>
            <a:off x="546100" y="5791200"/>
            <a:ext cx="11201400" cy="508000"/>
          </a:xfrm>
          <a:prstGeom prst="roundRect">
            <a:avLst>
              <a:gd name="adj" fmla="val 18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00000" tIns="0" rIns="100000" bIns="0" anchor="ctr"/>
          <a:lstStyle/>
          <a:p>
            <a:pPr algn="l">
              <a:lnSpc>
                <a:spcPct val="150000"/>
              </a:lnSpc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 </a:t>
            </a: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대괄호 [ ]는 본인 과목 내용으로 교체하세요. 출력이 길면 '표로 정리'·'예시 추가'로 이어서 요청.</a:t>
            </a:r>
          </a:p>
        </p:txBody>
      </p:sp>
    </p:spTree>
    <p:extLst>
      <p:ext uri="{BB962C8B-B14F-4D97-AF65-F5344CB8AC3E}">
        <p14:creationId xmlns:p14="http://schemas.microsoft.com/office/powerpoint/2010/main" val="405809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1교시 · 10:00–10:50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과제 &amp; 체크리스트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전공 비교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전공 과목 하나로 접목 지도를 만들어 비교한다.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평정 교차검증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효과·난이도 평정을 동료와 교차 검증한다.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토론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3개의 순위를 근거를 들어 토론한다.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list"/>
          <p:cNvSpPr/>
          <p:nvPr/>
        </p:nvSpPr>
        <p:spPr>
          <a:xfrm>
            <a:off x="6299200" y="2108200"/>
            <a:ext cx="5130800" cy="38100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18000" tIns="91440" rIns="91440" bIns="64000" anchor="t"/>
          <a:lstStyle/>
          <a:p>
            <a:pPr>
              <a:lnSpc>
                <a:spcPct val="150000"/>
              </a:lnSpc>
              <a:spcAft>
                <a:spcPts val="1000"/>
              </a:spcAft>
              <a:buNone/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체크리스트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강의계획서를 주차별로 분해했다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요인으로 활동을 평정했다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효과·난이도 매트릭스에 배치했다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3개와 근거를 작성했다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훼손 위험을 점검했다</a:t>
            </a:r>
          </a:p>
        </p:txBody>
      </p:sp>
    </p:spTree>
    <p:extLst>
      <p:ext uri="{BB962C8B-B14F-4D97-AF65-F5344CB8AC3E}">
        <p14:creationId xmlns:p14="http://schemas.microsoft.com/office/powerpoint/2010/main" val="574388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 ·  11:00–11:50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강의자료·강의계획서 재구성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학습목표–내용–평가의 정렬(alignment)을 점검한다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강의안 개요와 슬라이드 초안을 생성한다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학습자 수준에 맞게 난이도·분량을 조정한다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36CA169-77F8-75F6-CD65-F0BECC4B0231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84AD3C4C-2555-E8DF-A2AE-2CA61DFA0866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5C9BEC1-6A9B-354F-4181-2A608C10957E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F71F1A1F-965A-EC77-9B4B-90AE2383945B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23F28AA6-2693-706D-5139-D7923D9DC131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25187F07-FF60-094A-E0D0-F0A5642CB3F9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B58FA059-B2BF-70A3-2747-D98400B5769A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8D0653B7-2E9F-078E-F900-1E10E10FC132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3A5C9FAA-F74F-0784-93B6-B622FE1D43A8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5DE4360A-E4A4-FEA4-0180-881750ED6DCF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247E5247-48FE-F4B1-9407-6049D8C822B7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2285ED52-9887-D4E2-3217-CD77B139CA1C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A889C400-AC2F-3505-7944-3E683AA0534A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34BEC2E4-AD0D-CBB2-49E7-56EB99379F46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5EFC4D05-2719-D15A-0CA1-20317D75A447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2083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구성적 정렬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699873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학습목표–내용–평가의 정합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가르치는 내용과 평가가 같은 학습목표를 가리키도록 한 줄로 맞춘다.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강의안도 정렬의 예시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강의 자체가 목표·활동·산출물이 정렬된 하나의 사례다.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정렬이 설계의 출발점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더하고 뺄지는 정렬 점검에서 자연스럽게 드러난다.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40" name="card"/>
          <p:cNvSpPr/>
          <p:nvPr/>
        </p:nvSpPr>
        <p:spPr>
          <a:xfrm>
            <a:off x="7920508" y="2231136"/>
            <a:ext cx="3343856" cy="838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2000" rIns="36000" bIns="12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</a:p>
          <a:p>
            <a:pPr algn="ctr">
              <a:lnSpc>
                <a:spcPct val="150000"/>
              </a:lnSpc>
            </a:pPr>
            <a:r>
              <a:rPr lang="ko-KR" sz="11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기를 것인가</a:t>
            </a:r>
          </a:p>
        </p:txBody>
      </p:sp>
      <p:sp>
        <p:nvSpPr>
          <p:cNvPr id="941" name="da"/>
          <p:cNvSpPr/>
          <p:nvPr/>
        </p:nvSpPr>
        <p:spPr>
          <a:xfrm>
            <a:off x="9355071" y="3170936"/>
            <a:ext cx="330200" cy="381000"/>
          </a:xfrm>
          <a:prstGeom prst="up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42" name="card"/>
          <p:cNvSpPr/>
          <p:nvPr/>
        </p:nvSpPr>
        <p:spPr>
          <a:xfrm>
            <a:off x="7920508" y="3551936"/>
            <a:ext cx="3343856" cy="838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2000" rIns="36000" bIns="12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학습내용</a:t>
            </a:r>
          </a:p>
          <a:p>
            <a:pPr algn="ctr">
              <a:lnSpc>
                <a:spcPct val="150000"/>
              </a:lnSpc>
            </a:pPr>
            <a:r>
              <a:rPr lang="ko-KR" sz="11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가르칠 것인가</a:t>
            </a:r>
          </a:p>
        </p:txBody>
      </p:sp>
      <p:sp>
        <p:nvSpPr>
          <p:cNvPr id="943" name="da"/>
          <p:cNvSpPr/>
          <p:nvPr/>
        </p:nvSpPr>
        <p:spPr>
          <a:xfrm>
            <a:off x="9355071" y="4491736"/>
            <a:ext cx="330200" cy="381000"/>
          </a:xfrm>
          <a:prstGeom prst="up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44" name="card"/>
          <p:cNvSpPr/>
          <p:nvPr/>
        </p:nvSpPr>
        <p:spPr>
          <a:xfrm>
            <a:off x="7920508" y="4872736"/>
            <a:ext cx="3343856" cy="838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2000" rIns="36000" bIns="12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</a:p>
          <a:p>
            <a:pPr algn="ctr">
              <a:lnSpc>
                <a:spcPct val="150000"/>
              </a:lnSpc>
            </a:pPr>
            <a:r>
              <a:rPr lang="ko-KR" sz="11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확인할 것인가</a:t>
            </a:r>
          </a:p>
        </p:txBody>
      </p:sp>
    </p:spTree>
    <p:extLst>
      <p:ext uri="{BB962C8B-B14F-4D97-AF65-F5344CB8AC3E}">
        <p14:creationId xmlns:p14="http://schemas.microsoft.com/office/powerpoint/2010/main" val="3907173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점검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목표엔 있으나 평가 안 하는 역량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기르겠다고 적어 두고 정작 측정하지 않는 항목을 찾아낸다.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보강·삭제 우선순위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있는 평가는 보강하고, 목표와 무관한 내용은 덜어낸다.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개선점 제시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강의계획서를 점검해 정렬이 깨진 지점을 목록으로 받는다.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42324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강의안 개요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667962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– 전개 – 정리 구조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차시를 동기 유발–핵심 설명–정리·점검의 세 단계로 짠다.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 단위 구조화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전체를 주차별 목표와 활동으로 끊어 흐름을 만든다.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학습활동 배치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강의·토론·실습을 시간 배분과 함께 차시 안에 배치한다.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60" name="card"/>
          <p:cNvSpPr/>
          <p:nvPr/>
        </p:nvSpPr>
        <p:spPr>
          <a:xfrm>
            <a:off x="7736053" y="2231136"/>
            <a:ext cx="3678707" cy="8890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2000" rIns="36000" bIns="12000" anchor="ctr"/>
          <a:lstStyle/>
          <a:p>
            <a:pPr algn="ctr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</a:t>
            </a:r>
          </a:p>
          <a:p>
            <a:pPr algn="ctr">
              <a:lnSpc>
                <a:spcPct val="150000"/>
              </a:lnSpc>
            </a:pPr>
            <a:r>
              <a:rPr lang="ko-KR" sz="12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 유발 · 목표 제시</a:t>
            </a:r>
          </a:p>
        </p:txBody>
      </p:sp>
      <p:sp>
        <p:nvSpPr>
          <p:cNvPr id="961" name="ar"/>
          <p:cNvSpPr/>
          <p:nvPr/>
        </p:nvSpPr>
        <p:spPr>
          <a:xfrm>
            <a:off x="9402258" y="3247136"/>
            <a:ext cx="304800" cy="2540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62" name="card"/>
          <p:cNvSpPr/>
          <p:nvPr/>
        </p:nvSpPr>
        <p:spPr>
          <a:xfrm>
            <a:off x="7736053" y="3501136"/>
            <a:ext cx="3678707" cy="8890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2000" rIns="36000" bIns="12000" anchor="ctr"/>
          <a:lstStyle/>
          <a:p>
            <a:pPr algn="ctr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</a:t>
            </a:r>
          </a:p>
          <a:p>
            <a:pPr algn="ctr">
              <a:lnSpc>
                <a:spcPct val="150000"/>
              </a:lnSpc>
            </a:pPr>
            <a:r>
              <a:rPr lang="ko-KR" sz="12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설명 · 학습활동</a:t>
            </a:r>
          </a:p>
        </p:txBody>
      </p:sp>
      <p:sp>
        <p:nvSpPr>
          <p:cNvPr id="963" name="ar"/>
          <p:cNvSpPr/>
          <p:nvPr/>
        </p:nvSpPr>
        <p:spPr>
          <a:xfrm>
            <a:off x="9402258" y="4517136"/>
            <a:ext cx="304800" cy="2540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64" name="card"/>
          <p:cNvSpPr/>
          <p:nvPr/>
        </p:nvSpPr>
        <p:spPr>
          <a:xfrm>
            <a:off x="7736053" y="4771136"/>
            <a:ext cx="3678707" cy="8890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12000" rIns="36000" bIns="12000" anchor="ctr"/>
          <a:lstStyle/>
          <a:p>
            <a:pPr algn="ctr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</a:p>
          <a:p>
            <a:pPr algn="ctr">
              <a:lnSpc>
                <a:spcPct val="150000"/>
              </a:lnSpc>
            </a:pPr>
            <a:r>
              <a:rPr lang="ko-KR" sz="12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형성적 점검</a:t>
            </a:r>
          </a:p>
        </p:txBody>
      </p:sp>
    </p:spTree>
    <p:extLst>
      <p:ext uri="{BB962C8B-B14F-4D97-AF65-F5344CB8AC3E}">
        <p14:creationId xmlns:p14="http://schemas.microsoft.com/office/powerpoint/2010/main" val="3527427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 초안화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+ 핵심 요점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슬라이드마다 하나의 제목과 그것을 받치는 핵심 요점만 남긴다.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메시지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 하나가 하나의 생각만 전달하도록 내용을 쪼갠다.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6~8장 단위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차시 분량을 6~8장으로 잡아 슬라이드 밀도를 일정하게 유지한다.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65577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조정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학년·전공 수준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교양인지 전공 심화인지에 따라 설명의 출발점을 다르게 잡는다.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예시·용어 수준 보정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비전공자에겐 일상 비유로, 전공자에겐 정확한 용어로 바꾼다.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 조절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차시 시간에 맞게 다룰 개념 수와 깊이를 늘리거나 줄인다.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10673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비판적 검토 &amp; 실습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사례·통계 사실 확인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만든 숫자·인용·사례는 반드시 원자료로 교차 검증한다.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교수자 최종 책임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강의에 들어가는 모든 내용의 책임은 결국 교수자에게 있다.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강의계획서로 한 주차 생성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강의계획서를 넣어 한 주차 분량의 강의안을 직접 만들어 본다.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7099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노트 — 구성적 정렬(Constructive Alignment)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106045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정렬의 정의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Biggs의 구성적 정렬 — 학습목표·교수학습활동·평가가 한 방향을 가리키도록 설계한다.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역방향 설계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평가에서 출발해 목표를 역으로 설계(backward design)하면 누락을 줄인다.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동사 정합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동사(이해/적용/분석)가 활동·평가의 인지 수준을 규정한다 — 동사 불일치가 곧 정렬 오류.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역할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LLM을 목표–활동–평가 대응표를 생성·점검하는 정렬 진단 도구로 활용한다.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08715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랩 — 강의계획서 정렬 진단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99200" y="2103120"/>
            <a:ext cx="513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강의계획서를 텍스트로 붙여넣는다.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목표–활동–평가 대응표와 누락 항목을 받는다.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보강/삭제 제안을 교수자가 취사선택한다.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주차 강의안을 수정해 본다.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sz="1300" i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모든 목표가 1개 이상 평가와 연결되는가?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00" name="promptbox"/>
          <p:cNvSpPr/>
          <p:nvPr/>
        </p:nvSpPr>
        <p:spPr>
          <a:xfrm>
            <a:off x="546100" y="2108200"/>
            <a:ext cx="5461000" cy="4114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18000" tIns="100000" rIns="91440" bIns="91440" anchor="t"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PROMPT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다음 강의계획서를 '구성적 정렬'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관점에서 진단해 주세요.</a:t>
            </a:r>
          </a:p>
          <a:p>
            <a:pPr>
              <a:lnSpc>
                <a:spcPct val="150000"/>
              </a:lnSpc>
            </a:pPr>
            <a:endParaRPr lang="ko-KR" sz="7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[강의계획서 붙여넣기]</a:t>
            </a:r>
          </a:p>
          <a:p>
            <a:pPr>
              <a:lnSpc>
                <a:spcPct val="150000"/>
              </a:lnSpc>
            </a:pPr>
            <a:endParaRPr lang="ko-KR" sz="7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출력: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1) 목표–활동–평가 </a:t>
            </a:r>
            <a:r>
              <a:rPr lang="ko-KR" sz="1400" dirty="0" err="1">
                <a:solidFill>
                  <a:srgbClr val="E9E0D5"/>
                </a:solidFill>
                <a:latin typeface="Consolas" pitchFamily="49" charset="0"/>
                <a:cs typeface="Consolas"/>
              </a:rPr>
              <a:t>대응표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(행 = 학습목표)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2) 평가 안 되는 목표 /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목표 없는 평가 표시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3) 목표·평가의 Bloom 수준 불일치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4) 보강·삭제 우선순위 제안</a:t>
            </a:r>
          </a:p>
        </p:txBody>
      </p:sp>
    </p:spTree>
    <p:extLst>
      <p:ext uri="{BB962C8B-B14F-4D97-AF65-F5344CB8AC3E}">
        <p14:creationId xmlns:p14="http://schemas.microsoft.com/office/powerpoint/2010/main" val="606925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예제집 — 강의계획서 정렬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6100" y="2108200"/>
            <a:ext cx="110617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None/>
            </a:pP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 바로 쓰는 추가 프롬프트 — 변형용 · 후속/개선용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20" name="pbox"/>
          <p:cNvSpPr/>
          <p:nvPr/>
        </p:nvSpPr>
        <p:spPr>
          <a:xfrm>
            <a:off x="546100" y="2565400"/>
            <a:ext cx="5397500" cy="2830848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4000" bIns="4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변형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'[학습목표]'를 측정할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평가 문항 2개를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제안해 주세요.</a:t>
            </a:r>
          </a:p>
          <a:p>
            <a:pPr>
              <a:lnSpc>
                <a:spcPct val="150000"/>
              </a:lnSpc>
            </a:pPr>
            <a:endParaRPr lang="ko-KR" sz="7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인지수준을 목표와 일치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채점 기준(루브릭) 포함</a:t>
            </a:r>
          </a:p>
        </p:txBody>
      </p:sp>
      <p:sp>
        <p:nvSpPr>
          <p:cNvPr id="721" name="pbox"/>
          <p:cNvSpPr/>
          <p:nvPr/>
        </p:nvSpPr>
        <p:spPr>
          <a:xfrm>
            <a:off x="6350000" y="2565400"/>
            <a:ext cx="5397500" cy="2830848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4000" bIns="4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후속·개선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진단 결과를 반영해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'[N주차]' 강의안을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도입-전개-정리 구조로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작성해 주세요.</a:t>
            </a:r>
          </a:p>
          <a:p>
            <a:pPr>
              <a:lnSpc>
                <a:spcPct val="150000"/>
              </a:lnSpc>
            </a:pPr>
            <a:endParaRPr lang="ko-KR" sz="7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(활동별 시간 배분 포함)</a:t>
            </a:r>
          </a:p>
        </p:txBody>
      </p:sp>
      <p:sp>
        <p:nvSpPr>
          <p:cNvPr id="730" name="tip"/>
          <p:cNvSpPr/>
          <p:nvPr/>
        </p:nvSpPr>
        <p:spPr>
          <a:xfrm>
            <a:off x="546100" y="5616448"/>
            <a:ext cx="11201400" cy="508000"/>
          </a:xfrm>
          <a:prstGeom prst="roundRect">
            <a:avLst>
              <a:gd name="adj" fmla="val 18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lIns="91440" tIns="0" rIns="64000" bIns="0" anchor="ctr"/>
          <a:lstStyle/>
          <a:p>
            <a:pPr>
              <a:lnSpc>
                <a:spcPct val="150000"/>
              </a:lnSpc>
              <a:buNone/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</a:t>
            </a: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대괄호 [ ]는 본인 과목 내용으로 교체. 길면 '표로 정리'·'예시 추가'로 이어서 요청하세요.</a:t>
            </a:r>
          </a:p>
        </p:txBody>
      </p:sp>
    </p:spTree>
    <p:extLst>
      <p:ext uri="{BB962C8B-B14F-4D97-AF65-F5344CB8AC3E}">
        <p14:creationId xmlns:p14="http://schemas.microsoft.com/office/powerpoint/2010/main" val="365158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2교시 · 11:00–11:50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과제 &amp; 체크리스트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재설계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정렬이 깨진 목표 1개에 새 평가 문항을 설계한다.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검토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동료의 대응표와 비교해 누락을 교차 확인한다.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분량 보정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차시 분량이 적정한지 시간 배분으로 점검한다.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list"/>
          <p:cNvSpPr/>
          <p:nvPr/>
        </p:nvSpPr>
        <p:spPr>
          <a:xfrm>
            <a:off x="6299200" y="2108200"/>
            <a:ext cx="5130800" cy="38100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18000" tIns="91440" rIns="64000" bIns="64000" anchor="t"/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체크리스트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목표–활동–평가 대응표를 만들었다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평가되지 않는 목표를 찾았다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 수준 불일치를 점검했다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보강·삭제 우선순위를 정했다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주차 강의안을 수정했다</a:t>
            </a:r>
          </a:p>
        </p:txBody>
      </p:sp>
    </p:spTree>
    <p:extLst>
      <p:ext uri="{BB962C8B-B14F-4D97-AF65-F5344CB8AC3E}">
        <p14:creationId xmlns:p14="http://schemas.microsoft.com/office/powerpoint/2010/main" val="2317237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3교시  ·  13:00–13:50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강의용 콘텐츠 생성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학습목표에 정렬된 평가문항·연습문제를 생성한다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개념을 난이도별로 차등 설명한다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정답·해설을 함께 생성하고 타당성을 검토한다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334560D-A479-8A4B-79B6-84B23E64CF5E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F886D76B-F226-C1AD-B303-208FFED37EF4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BD72828-B146-F5EC-3EFA-F3A6F0B2C1B0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2A105E03-261D-70D8-716E-2FD5AF410F6C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657FE3A5-9550-7D79-1A93-205CAB4666D7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3B74012C-C18E-8C82-891F-1593E917AD76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09220125-0DEF-B577-8BF4-BE0BFC8E42A1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C0809963-2218-B849-E48A-009261A4C1D7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92609E83-B7D9-2089-417E-9AD729981C5F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3F6F8B4D-A031-00AB-EC40-25CAEC8D7F75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DEDAEF77-0BEE-E721-5A1A-B56AFB565BCD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86409D47-13F0-901A-1D7E-A742555DDEBB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B44C9C1A-FDA7-DE86-78CC-D461E997382E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CB7E03ED-A5A5-0733-5084-EF29FE09317E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F49C0779-847F-738B-690D-C6CEB640107E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3150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평가·연습 자료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683417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· 단답 · 서술형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측정하려는 능력에 맞춰 문항 유형을 골라 적절히 섞는다.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+ 해설 동반 생성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문항만이 아니라 정답과 풀이 해설을 함께 만든다.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학습목표와 정렬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문항이 특정 학습목표를 겨냥하도록 대응시킨다.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60" name="card"/>
          <p:cNvSpPr/>
          <p:nvPr/>
        </p:nvSpPr>
        <p:spPr>
          <a:xfrm>
            <a:off x="7868992" y="2311400"/>
            <a:ext cx="3535608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채점 · 개념 확인</a:t>
            </a:r>
          </a:p>
        </p:txBody>
      </p:sp>
      <p:sp>
        <p:nvSpPr>
          <p:cNvPr id="961" name="card"/>
          <p:cNvSpPr/>
          <p:nvPr/>
        </p:nvSpPr>
        <p:spPr>
          <a:xfrm>
            <a:off x="7868992" y="3479800"/>
            <a:ext cx="3535608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단답형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 · 정의 확인</a:t>
            </a:r>
          </a:p>
        </p:txBody>
      </p:sp>
      <p:sp>
        <p:nvSpPr>
          <p:cNvPr id="962" name="card"/>
          <p:cNvSpPr/>
          <p:nvPr/>
        </p:nvSpPr>
        <p:spPr>
          <a:xfrm>
            <a:off x="7868992" y="4648200"/>
            <a:ext cx="3535608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· 분석 평가</a:t>
            </a:r>
          </a:p>
        </p:txBody>
      </p:sp>
      <p:sp>
        <p:nvSpPr>
          <p:cNvPr id="7" name="bar">
            <a:extLst>
              <a:ext uri="{FF2B5EF4-FFF2-40B4-BE49-F238E27FC236}">
                <a16:creationId xmlns:a16="http://schemas.microsoft.com/office/drawing/2014/main" id="{09D8792C-2E8C-65BE-D592-60830A8ED826}"/>
              </a:ext>
            </a:extLst>
          </p:cNvPr>
          <p:cNvSpPr/>
          <p:nvPr/>
        </p:nvSpPr>
        <p:spPr>
          <a:xfrm>
            <a:off x="11084774" y="25017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4E8A57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bar">
            <a:extLst>
              <a:ext uri="{FF2B5EF4-FFF2-40B4-BE49-F238E27FC236}">
                <a16:creationId xmlns:a16="http://schemas.microsoft.com/office/drawing/2014/main" id="{A30D0AF8-0818-D424-D2ED-1F0700721364}"/>
              </a:ext>
            </a:extLst>
          </p:cNvPr>
          <p:cNvSpPr/>
          <p:nvPr/>
        </p:nvSpPr>
        <p:spPr>
          <a:xfrm>
            <a:off x="11084774" y="36701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C99A3A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" name="bar">
            <a:extLst>
              <a:ext uri="{FF2B5EF4-FFF2-40B4-BE49-F238E27FC236}">
                <a16:creationId xmlns:a16="http://schemas.microsoft.com/office/drawing/2014/main" id="{6F60292C-082D-4ECD-4799-5B0BB43F9854}"/>
              </a:ext>
            </a:extLst>
          </p:cNvPr>
          <p:cNvSpPr/>
          <p:nvPr/>
        </p:nvSpPr>
        <p:spPr>
          <a:xfrm>
            <a:off x="11084774" y="48385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37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진단적 오답(distractor)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오답에 빈번한 오개념 반영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학생들이 실제로 자주 틀리는 사고를 오답 선택지에 의도적으로 심는다.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학습자 진단 기능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오답을 골랐는지로 학생의 오개념 유형을 파악한다.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오답보다 교육적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고르면 무엇을 점검해야 할지 드러나는 오답이 무의미한 오답보다 낫다.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45015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 정렬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암기보다 적용·분석 수준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기억을 넘어 적용·분석을 묻는 문항으로 수준을 끌어올린다.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목표–문항 대응 확인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문항이 어떤 학습목표를 재는지 표로 매핑한다.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타당성 확보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재려던 능력을 문항이 실제로 재고 있는지 점검한다.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80" name="h"/>
          <p:cNvSpPr/>
          <p:nvPr/>
        </p:nvSpPr>
        <p:spPr>
          <a:xfrm>
            <a:off x="6477000" y="2286000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</a:p>
        </p:txBody>
      </p:sp>
      <p:sp>
        <p:nvSpPr>
          <p:cNvPr id="981" name="h"/>
          <p:cNvSpPr/>
          <p:nvPr/>
        </p:nvSpPr>
        <p:spPr>
          <a:xfrm>
            <a:off x="9423400" y="2286000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문항</a:t>
            </a:r>
          </a:p>
        </p:txBody>
      </p:sp>
      <p:sp>
        <p:nvSpPr>
          <p:cNvPr id="982" name="b"/>
          <p:cNvSpPr/>
          <p:nvPr/>
        </p:nvSpPr>
        <p:spPr>
          <a:xfrm>
            <a:off x="6477000" y="2692400"/>
            <a:ext cx="1981200" cy="9906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27432" tIns="9000" rIns="27432" bIns="900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수준
목표</a:t>
            </a:r>
          </a:p>
        </p:txBody>
      </p:sp>
      <p:sp>
        <p:nvSpPr>
          <p:cNvPr id="983" name="b"/>
          <p:cNvSpPr/>
          <p:nvPr/>
        </p:nvSpPr>
        <p:spPr>
          <a:xfrm>
            <a:off x="9423400" y="2692400"/>
            <a:ext cx="1981200" cy="9906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27432" tIns="9000" rIns="27432" bIns="900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문항</a:t>
            </a:r>
          </a:p>
        </p:txBody>
      </p:sp>
      <p:sp>
        <p:nvSpPr>
          <p:cNvPr id="984" name="r"/>
          <p:cNvSpPr/>
          <p:nvPr/>
        </p:nvSpPr>
        <p:spPr>
          <a:xfrm>
            <a:off x="8509000" y="3022600"/>
            <a:ext cx="863600" cy="330200"/>
          </a:xfrm>
          <a:prstGeom prst="leftRight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85" name="b"/>
          <p:cNvSpPr/>
          <p:nvPr/>
        </p:nvSpPr>
        <p:spPr>
          <a:xfrm>
            <a:off x="6477000" y="3835400"/>
            <a:ext cx="1981200" cy="9906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27432" tIns="9000" rIns="27432" bIns="900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수준
목표</a:t>
            </a:r>
          </a:p>
        </p:txBody>
      </p:sp>
      <p:sp>
        <p:nvSpPr>
          <p:cNvPr id="986" name="b"/>
          <p:cNvSpPr/>
          <p:nvPr/>
        </p:nvSpPr>
        <p:spPr>
          <a:xfrm>
            <a:off x="9423400" y="3835400"/>
            <a:ext cx="1981200" cy="9906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27432" tIns="9000" rIns="27432" bIns="900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문항</a:t>
            </a:r>
          </a:p>
        </p:txBody>
      </p:sp>
      <p:sp>
        <p:nvSpPr>
          <p:cNvPr id="987" name="r"/>
          <p:cNvSpPr/>
          <p:nvPr/>
        </p:nvSpPr>
        <p:spPr>
          <a:xfrm>
            <a:off x="8509000" y="4165600"/>
            <a:ext cx="863600" cy="330200"/>
          </a:xfrm>
          <a:prstGeom prst="leftRight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88" name="h"/>
          <p:cNvSpPr/>
          <p:nvPr/>
        </p:nvSpPr>
        <p:spPr>
          <a:xfrm>
            <a:off x="6477000" y="5054600"/>
            <a:ext cx="492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대응 · 측정 타당성 확보</a:t>
            </a:r>
          </a:p>
        </p:txBody>
      </p:sp>
    </p:spTree>
    <p:extLst>
      <p:ext uri="{BB962C8B-B14F-4D97-AF65-F5344CB8AC3E}">
        <p14:creationId xmlns:p14="http://schemas.microsoft.com/office/powerpoint/2010/main" val="2043285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학습자 수준별 설명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개념 초급·중급 차등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개념을 입문용과 심화용으로 나눠 설명한다.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비유·사례로 비전공 눈높이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추상적 개념을 일상 비유와 구체 사례로 풀어 준다.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오개념 교정 보충 설명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생기는 오해를 짚고 바로잡는 설명을 덧붙인다.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00" name="h"/>
          <p:cNvSpPr/>
          <p:nvPr/>
        </p:nvSpPr>
        <p:spPr>
          <a:xfrm>
            <a:off x="8258220" y="2103120"/>
            <a:ext cx="3004891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300" b="1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개념 · 수준별 설명</a:t>
            </a:r>
          </a:p>
        </p:txBody>
      </p:sp>
      <p:sp>
        <p:nvSpPr>
          <p:cNvPr id="1001" name="u"/>
          <p:cNvSpPr/>
          <p:nvPr/>
        </p:nvSpPr>
        <p:spPr>
          <a:xfrm>
            <a:off x="7750220" y="2585720"/>
            <a:ext cx="319270" cy="2667000"/>
          </a:xfrm>
          <a:prstGeom prst="up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02" name="card"/>
          <p:cNvSpPr/>
          <p:nvPr/>
        </p:nvSpPr>
        <p:spPr>
          <a:xfrm>
            <a:off x="8334420" y="2585720"/>
            <a:ext cx="2986110" cy="1092200"/>
          </a:xfrm>
          <a:prstGeom prst="roundRect">
            <a:avLst>
              <a:gd name="adj" fmla="val 10000"/>
            </a:avLst>
          </a:prstGeom>
          <a:solidFill>
            <a:srgbClr val="C2603D"/>
          </a:solidFill>
          <a:ln w="12700">
            <a:solidFill>
              <a:srgbClr val="E5DACE"/>
            </a:solidFill>
          </a:ln>
        </p:spPr>
        <p:txBody>
          <a:bodyPr wrap="square" lIns="64008" tIns="10000" rIns="45720" bIns="1000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중급 · 심화</a:t>
            </a:r>
          </a:p>
          <a:p>
            <a:pPr algn="l">
              <a:lnSpc>
                <a:spcPct val="150000"/>
              </a:lnSpc>
            </a:pPr>
            <a:r>
              <a:rPr lang="ko-KR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용어 · 응용·확장</a:t>
            </a:r>
          </a:p>
        </p:txBody>
      </p:sp>
      <p:sp>
        <p:nvSpPr>
          <p:cNvPr id="1003" name="card"/>
          <p:cNvSpPr/>
          <p:nvPr/>
        </p:nvSpPr>
        <p:spPr>
          <a:xfrm>
            <a:off x="8334420" y="4135120"/>
            <a:ext cx="2986110" cy="1092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8" tIns="10000" rIns="45720" bIns="1000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초급 · 입문</a:t>
            </a:r>
          </a:p>
          <a:p>
            <a:pPr algn="l">
              <a:lnSpc>
                <a:spcPct val="150000"/>
              </a:lnSpc>
            </a:pPr>
            <a:r>
              <a:rPr lang="ko-KR" sz="12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비유 · 기본 개념</a:t>
            </a:r>
          </a:p>
        </p:txBody>
      </p:sp>
    </p:spTree>
    <p:extLst>
      <p:ext uri="{BB962C8B-B14F-4D97-AF65-F5344CB8AC3E}">
        <p14:creationId xmlns:p14="http://schemas.microsoft.com/office/powerpoint/2010/main" val="2550053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39" y="2103120"/>
            <a:ext cx="6228867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1개 → 문항 + 해설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하나를 골라 문항과 해설을 즉석에서 생성해 본다.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 설명 5문장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개념을 비전공자용 비유 5문장으로 다시 설명시킨다.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 타당성 점검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만들어진 오답이 정말 교육적인지 함께 검토한다.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200" name="card"/>
          <p:cNvSpPr/>
          <p:nvPr/>
        </p:nvSpPr>
        <p:spPr>
          <a:xfrm>
            <a:off x="7264400" y="2184400"/>
            <a:ext cx="4133403" cy="6604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201" name="card"/>
          <p:cNvSpPr/>
          <p:nvPr/>
        </p:nvSpPr>
        <p:spPr>
          <a:xfrm>
            <a:off x="7264400" y="3098800"/>
            <a:ext cx="4133403" cy="6604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202" name="card"/>
          <p:cNvSpPr/>
          <p:nvPr/>
        </p:nvSpPr>
        <p:spPr>
          <a:xfrm>
            <a:off x="7264400" y="4013200"/>
            <a:ext cx="4133403" cy="6604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203" name="card"/>
          <p:cNvSpPr/>
          <p:nvPr/>
        </p:nvSpPr>
        <p:spPr>
          <a:xfrm>
            <a:off x="7264400" y="4927600"/>
            <a:ext cx="4133403" cy="6604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204" name="arr"/>
          <p:cNvSpPr/>
          <p:nvPr/>
        </p:nvSpPr>
        <p:spPr>
          <a:xfrm>
            <a:off x="9265099" y="2870200"/>
            <a:ext cx="2286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205" name="arr"/>
          <p:cNvSpPr/>
          <p:nvPr/>
        </p:nvSpPr>
        <p:spPr>
          <a:xfrm>
            <a:off x="9265099" y="3784600"/>
            <a:ext cx="2286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206" name="arr"/>
          <p:cNvSpPr/>
          <p:nvPr/>
        </p:nvSpPr>
        <p:spPr>
          <a:xfrm>
            <a:off x="9265099" y="4699000"/>
            <a:ext cx="2286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207" name="badge"/>
          <p:cNvSpPr/>
          <p:nvPr/>
        </p:nvSpPr>
        <p:spPr>
          <a:xfrm>
            <a:off x="7391400" y="2324100"/>
            <a:ext cx="381000" cy="3810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</a:p>
        </p:txBody>
      </p:sp>
      <p:sp>
        <p:nvSpPr>
          <p:cNvPr id="208" name="badge"/>
          <p:cNvSpPr/>
          <p:nvPr/>
        </p:nvSpPr>
        <p:spPr>
          <a:xfrm>
            <a:off x="7391400" y="3238500"/>
            <a:ext cx="381000" cy="3810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</a:p>
        </p:txBody>
      </p:sp>
      <p:sp>
        <p:nvSpPr>
          <p:cNvPr id="209" name="badge"/>
          <p:cNvSpPr/>
          <p:nvPr/>
        </p:nvSpPr>
        <p:spPr>
          <a:xfrm>
            <a:off x="7391400" y="4152900"/>
            <a:ext cx="381000" cy="3810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</a:p>
        </p:txBody>
      </p:sp>
      <p:sp>
        <p:nvSpPr>
          <p:cNvPr id="210" name="badge"/>
          <p:cNvSpPr/>
          <p:nvPr/>
        </p:nvSpPr>
        <p:spPr>
          <a:xfrm>
            <a:off x="7391400" y="5067300"/>
            <a:ext cx="381000" cy="3810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</a:p>
        </p:txBody>
      </p:sp>
      <p:sp>
        <p:nvSpPr>
          <p:cNvPr id="211" name="lbl"/>
          <p:cNvSpPr/>
          <p:nvPr/>
        </p:nvSpPr>
        <p:spPr>
          <a:xfrm>
            <a:off x="7924800" y="2184400"/>
            <a:ext cx="3472059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1개 선택</a:t>
            </a:r>
          </a:p>
        </p:txBody>
      </p:sp>
      <p:sp>
        <p:nvSpPr>
          <p:cNvPr id="212" name="lbl"/>
          <p:cNvSpPr/>
          <p:nvPr/>
        </p:nvSpPr>
        <p:spPr>
          <a:xfrm>
            <a:off x="7924800" y="3098800"/>
            <a:ext cx="3331335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+ 해설 생성</a:t>
            </a:r>
          </a:p>
        </p:txBody>
      </p:sp>
      <p:sp>
        <p:nvSpPr>
          <p:cNvPr id="213" name="lbl"/>
          <p:cNvSpPr/>
          <p:nvPr/>
        </p:nvSpPr>
        <p:spPr>
          <a:xfrm>
            <a:off x="7924800" y="4013200"/>
            <a:ext cx="3472059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 설명 5문장</a:t>
            </a:r>
          </a:p>
        </p:txBody>
      </p:sp>
      <p:sp>
        <p:nvSpPr>
          <p:cNvPr id="214" name="lbl"/>
          <p:cNvSpPr/>
          <p:nvPr/>
        </p:nvSpPr>
        <p:spPr>
          <a:xfrm>
            <a:off x="7924800" y="4927600"/>
            <a:ext cx="3472059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 타당성 점검</a:t>
            </a:r>
          </a:p>
        </p:txBody>
      </p:sp>
    </p:spTree>
    <p:extLst>
      <p:ext uri="{BB962C8B-B14F-4D97-AF65-F5344CB8AC3E}">
        <p14:creationId xmlns:p14="http://schemas.microsoft.com/office/powerpoint/2010/main" val="2105478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유의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흐름에 배치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문항을 도입 점검·정리 확인 등 수업 흐름의 어디에 넣을지 정한다.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정답·해설은 교수자 검토 필수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전 정답과 해설의 정확성을 반드시 교수자가 확인한다.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은행으로 축적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검토를 마친 문항을 모아 다음 학기에 변형해 재사용한다.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6357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노트 — 문항 설계와 오개념 진단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106045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 인지 수준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문항을 기억–이해–적용–분석으로 위계화하고 목표 수준에 맞춰 출제한다.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타당도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문항이 의도한 능력을 재는지(구인 타당도)가 난이도보다 우선한다.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진단적 오답(distractor)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오답에 전형적 오개념을 심으면 선택 패턴 자체가 진단 정보가 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생성의 한계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사실·통계 환각 가능성 — 정답·해설은 교수자 검증이 필수다.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34026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랩 — 문항 + 해설 + 진단적 오답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99200" y="2103120"/>
            <a:ext cx="513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선택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차시 핵심 개념 1개를 정한다.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프롬프트로 문항·해설·오답 진단을 받는다.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정답·해설의 정확성을 교수자가 확인한다.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점검·정리 확인 등 흐름에 배치한다.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sz="1300" i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각 오답이 ‘왜 매력적인지’ 설명되는가?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00" name="promptbox"/>
          <p:cNvSpPr/>
          <p:nvPr/>
        </p:nvSpPr>
        <p:spPr>
          <a:xfrm>
            <a:off x="546100" y="2108200"/>
            <a:ext cx="5461000" cy="4114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18000" tIns="100000" rIns="91440" bIns="91440" anchor="t"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PROMPT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‘[개념명]’에 대한 객관식 4지선다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형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3문항을 만들어 주세요.</a:t>
            </a:r>
          </a:p>
          <a:p>
            <a:pPr>
              <a:lnSpc>
                <a:spcPct val="150000"/>
              </a:lnSpc>
            </a:pPr>
            <a:endParaRPr lang="ko-KR" sz="8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조건: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인지수준: 적용/분석 (단순암기 금지)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각 오답은 전형적 오개념을 반영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문항별 정답 + 해설 +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 각 오답이 드러내는 오개념 설명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비전공자용 비유 설명 3문장 추가</a:t>
            </a:r>
          </a:p>
        </p:txBody>
      </p:sp>
    </p:spTree>
    <p:extLst>
      <p:ext uri="{BB962C8B-B14F-4D97-AF65-F5344CB8AC3E}">
        <p14:creationId xmlns:p14="http://schemas.microsoft.com/office/powerpoint/2010/main" val="1628184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예제집 — 문항 생성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6100" y="2108200"/>
            <a:ext cx="110617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None/>
            </a:pP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 바로 쓰는 추가 프롬프트 — 변형용 · 후속/개선용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20" name="pbox"/>
          <p:cNvSpPr/>
          <p:nvPr/>
        </p:nvSpPr>
        <p:spPr>
          <a:xfrm>
            <a:off x="5461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4000" bIns="4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변형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'[개념]' 서술형 1문항과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4단계 채점 </a:t>
            </a:r>
            <a:r>
              <a:rPr lang="ko-KR" sz="1400" dirty="0" err="1">
                <a:solidFill>
                  <a:srgbClr val="E9E0D5"/>
                </a:solidFill>
                <a:latin typeface="Consolas" pitchFamily="49" charset="0"/>
                <a:cs typeface="Consolas"/>
              </a:rPr>
              <a:t>루브릭을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만들어 주세요.</a:t>
            </a:r>
          </a:p>
          <a:p>
            <a:pPr>
              <a:lnSpc>
                <a:spcPct val="150000"/>
              </a:lnSpc>
            </a:pPr>
            <a:endParaRPr lang="ko-KR" sz="7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모범답안 + 부분점수 기준</a:t>
            </a:r>
          </a:p>
        </p:txBody>
      </p:sp>
      <p:sp>
        <p:nvSpPr>
          <p:cNvPr id="721" name="pbox"/>
          <p:cNvSpPr/>
          <p:nvPr/>
        </p:nvSpPr>
        <p:spPr>
          <a:xfrm>
            <a:off x="63500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4000" bIns="4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후속·개선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방금 문항이 너무 쉽습니다.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인지수준을 한 단계 올리고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오답을 더 정교하게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다시 만들어 주세요.</a:t>
            </a:r>
          </a:p>
        </p:txBody>
      </p:sp>
      <p:sp>
        <p:nvSpPr>
          <p:cNvPr id="730" name="tip"/>
          <p:cNvSpPr/>
          <p:nvPr/>
        </p:nvSpPr>
        <p:spPr>
          <a:xfrm>
            <a:off x="546100" y="5791200"/>
            <a:ext cx="11201400" cy="508000"/>
          </a:xfrm>
          <a:prstGeom prst="roundRect">
            <a:avLst>
              <a:gd name="adj" fmla="val 18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lIns="91440" tIns="0" rIns="64000" bIns="0" anchor="ctr"/>
          <a:lstStyle/>
          <a:p>
            <a:pPr>
              <a:lnSpc>
                <a:spcPct val="150000"/>
              </a:lnSpc>
              <a:buNone/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</a:t>
            </a: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대괄호 [ ]는 본인 과목 내용으로 교체. 길면 '표로 정리'·'예시 추가'로 이어서 요청하세요.</a:t>
            </a:r>
          </a:p>
        </p:txBody>
      </p:sp>
    </p:spTree>
    <p:extLst>
      <p:ext uri="{BB962C8B-B14F-4D97-AF65-F5344CB8AC3E}">
        <p14:creationId xmlns:p14="http://schemas.microsoft.com/office/powerpoint/2010/main" val="3602751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3교시 · 13:00–13:50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과제 &amp; 체크리스트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분기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개념을 초급·중급 두 버전으로 출제한다.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루브릭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서술형 1문항에 채점 기준(루브릭)을 만든다.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은행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검증한 문항을 재사용 가능하게 정리한다.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list"/>
          <p:cNvSpPr/>
          <p:nvPr/>
        </p:nvSpPr>
        <p:spPr>
          <a:xfrm>
            <a:off x="6299200" y="2108200"/>
            <a:ext cx="5130800" cy="38100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18000" tIns="91440" rIns="64000" bIns="64000" anchor="t"/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체크리스트</a:t>
            </a:r>
          </a:p>
          <a:p>
            <a:pPr marL="320000" indent="-32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인지수준에 맞춰 출제했다</a:t>
            </a:r>
          </a:p>
          <a:p>
            <a:pPr marL="320000" indent="-32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오답에 오개념을 반영했다</a:t>
            </a:r>
          </a:p>
          <a:p>
            <a:pPr marL="320000" indent="-32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정답·해설을 교수자가 검증했다</a:t>
            </a:r>
          </a:p>
          <a:p>
            <a:pPr marL="320000" indent="-32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 설명을 추가했다</a:t>
            </a:r>
          </a:p>
          <a:p>
            <a:pPr marL="320000" indent="-32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흐름상 배치를 정했다</a:t>
            </a:r>
          </a:p>
        </p:txBody>
      </p:sp>
    </p:spTree>
    <p:extLst>
      <p:ext uri="{BB962C8B-B14F-4D97-AF65-F5344CB8AC3E}">
        <p14:creationId xmlns:p14="http://schemas.microsoft.com/office/powerpoint/2010/main" val="3693705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4교시  ·  14:00–14:50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PBL 과제 설계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맥락의 PBL 문제 시나리오를 설계한다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범위와 학습자 책무를 명시적으로 규정한다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루브릭(기준·수행수준·배점)을 작성한다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7649E0-FDAC-7421-3C79-4FD0516B979C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EF390844-D8DD-C37B-76CA-5F3435153526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9070ABC-777D-1395-98E5-8CA220394FB7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EE48B00A-9945-3911-CB16-B32713A540A8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6F60A20C-ACF5-5644-9064-C26DD6C7DD19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5F17DF22-BB43-82FF-8521-5CA2D0BA8C0C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03A87BD6-C2DD-CC36-0077-054B1C12BD79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AD21570C-272C-05C7-1D91-765DD7DC3F6E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4F94386A-F1E3-13C8-4011-5FF670B840F9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4BB586E1-8AEB-A914-AA1B-1A57BECBA33E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930EBB7D-77F6-F17F-5188-01FB4FE6E458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12595274-D08E-BF5B-52C6-FC78D98561F0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B72D7032-B459-AACA-8B2A-93F99D3734A5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1CCBC0A2-A95D-4F10-82B9-515DB08612D4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DF6DA0F3-F3AB-F743-C3FB-009AAC1989B2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0842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AI 시대의 과제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금지보다 활용 방식을 설계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사용을 막기보다, 어떻게 쓰게 할지를 과제에 미리 설계한다.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+ 결과 병행 평가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결과물뿐 아니라 거기에 도달한 과정도 함께 평가한다.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책무성과 균형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편의와 학생 스스로의 학습 책임 사이에서 균형점을 잡는다.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42978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PBL 시나리오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맥락의 개방형 문제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정답이 하나가 아닌, 현실 상황에 닿은 문제를 설계한다.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학습목표와 정렬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 과정이 곧 목표 역량을 사용하도록 맞춘다.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 유발 상황 설정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'풀고 싶게' 만드는 맥락과 역할을 부여한다.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52754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등 결과물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제출물의 형식과 분량을 명확히 규정한다.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기록·성찰 포함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AI를 어떻게 썼는지 기록과 성찰을 함께 제출하게 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과정의 가시화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결론만이 아니라 거기에 이른 사고 흐름을 드러내게 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54651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규칙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639184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범위 명시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단계에서 AI를 써도 되는지 구체적으로 적는다.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인용·기록 의무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사용분은 출처처럼 표기하고 기록하도록 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금지선 규정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대신 시키면 안 되는 핵심 과업을 명확히 선</a:t>
            </a:r>
            <a:r>
              <a:rPr lang="en-US" alt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긋는다.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980" name="card"/>
          <p:cNvSpPr/>
          <p:nvPr/>
        </p:nvSpPr>
        <p:spPr>
          <a:xfrm>
            <a:off x="7395478" y="2231136"/>
            <a:ext cx="4019282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1800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4E8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범위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써도 되는 단계 명시</a:t>
            </a:r>
          </a:p>
        </p:txBody>
      </p:sp>
      <p:sp>
        <p:nvSpPr>
          <p:cNvPr id="981" name="bar"/>
          <p:cNvSpPr/>
          <p:nvPr/>
        </p:nvSpPr>
        <p:spPr>
          <a:xfrm>
            <a:off x="11084774" y="25017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4E8A57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82" name="card"/>
          <p:cNvSpPr/>
          <p:nvPr/>
        </p:nvSpPr>
        <p:spPr>
          <a:xfrm>
            <a:off x="7395478" y="3399536"/>
            <a:ext cx="4019282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1800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99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· 기록 의무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사용분 표기·기록</a:t>
            </a:r>
          </a:p>
        </p:txBody>
      </p:sp>
      <p:sp>
        <p:nvSpPr>
          <p:cNvPr id="983" name="bar"/>
          <p:cNvSpPr/>
          <p:nvPr/>
        </p:nvSpPr>
        <p:spPr>
          <a:xfrm>
            <a:off x="11084774" y="36701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C99A3A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84" name="card"/>
          <p:cNvSpPr/>
          <p:nvPr/>
        </p:nvSpPr>
        <p:spPr>
          <a:xfrm>
            <a:off x="7395478" y="4567936"/>
            <a:ext cx="4019282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1800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B2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금지선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시키면 안 되는 핵심</a:t>
            </a:r>
          </a:p>
        </p:txBody>
      </p:sp>
      <p:sp>
        <p:nvSpPr>
          <p:cNvPr id="985" name="bar"/>
          <p:cNvSpPr/>
          <p:nvPr/>
        </p:nvSpPr>
        <p:spPr>
          <a:xfrm>
            <a:off x="11084774" y="48385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885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루브릭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701447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· 수행수준 · 배점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어느 수준으로, 몇 점에 평가할지 표로 정리한다.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가능한 행동 준거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'잘함' 같은 모호한 말 대신 관찰 가능한 행동으로 수준을 기술한다.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척도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미흡–보통–우수–탁월처럼 일관된 단계로 점수를 매긴다.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00" name="bl"/>
          <p:cNvSpPr/>
          <p:nvPr/>
        </p:nvSpPr>
        <p:spPr>
          <a:xfrm>
            <a:off x="8005722" y="2368296"/>
            <a:ext cx="1680046" cy="685800"/>
          </a:xfrm>
          <a:prstGeom prst="roundRect">
            <a:avLst>
              <a:gd name="adj" fmla="val 12000"/>
            </a:avLst>
          </a:prstGeom>
          <a:solidFill>
            <a:srgbClr val="EAD9CC"/>
          </a:solidFill>
          <a:ln>
            <a:noFill/>
          </a:ln>
        </p:spPr>
        <p:txBody>
          <a:bodyPr wrap="square" lIns="73152" tIns="0" rIns="18288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미흡</a:t>
            </a:r>
          </a:p>
        </p:txBody>
      </p:sp>
      <p:sp>
        <p:nvSpPr>
          <p:cNvPr id="1001" name="bl"/>
          <p:cNvSpPr/>
          <p:nvPr/>
        </p:nvSpPr>
        <p:spPr>
          <a:xfrm>
            <a:off x="8005722" y="3206496"/>
            <a:ext cx="2322417" cy="685800"/>
          </a:xfrm>
          <a:prstGeom prst="roundRect">
            <a:avLst>
              <a:gd name="adj" fmla="val 12000"/>
            </a:avLst>
          </a:prstGeom>
          <a:solidFill>
            <a:srgbClr val="DDA982"/>
          </a:solidFill>
          <a:ln>
            <a:noFill/>
          </a:ln>
        </p:spPr>
        <p:txBody>
          <a:bodyPr wrap="square" lIns="73152" tIns="0" rIns="18288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보통</a:t>
            </a:r>
          </a:p>
        </p:txBody>
      </p:sp>
      <p:sp>
        <p:nvSpPr>
          <p:cNvPr id="1002" name="bl"/>
          <p:cNvSpPr/>
          <p:nvPr/>
        </p:nvSpPr>
        <p:spPr>
          <a:xfrm>
            <a:off x="8005722" y="4044696"/>
            <a:ext cx="2964787" cy="685800"/>
          </a:xfrm>
          <a:prstGeom prst="roundRect">
            <a:avLst>
              <a:gd name="adj" fmla="val 12000"/>
            </a:avLst>
          </a:prstGeom>
          <a:solidFill>
            <a:srgbClr val="C2603D"/>
          </a:solidFill>
          <a:ln>
            <a:noFill/>
          </a:ln>
        </p:spPr>
        <p:txBody>
          <a:bodyPr wrap="square" lIns="73152" tIns="0" rIns="18288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우수</a:t>
            </a:r>
          </a:p>
        </p:txBody>
      </p:sp>
      <p:sp>
        <p:nvSpPr>
          <p:cNvPr id="1003" name="bl"/>
          <p:cNvSpPr/>
          <p:nvPr/>
        </p:nvSpPr>
        <p:spPr>
          <a:xfrm>
            <a:off x="8005722" y="4882896"/>
            <a:ext cx="3607158" cy="685800"/>
          </a:xfrm>
          <a:prstGeom prst="roundRect">
            <a:avLst>
              <a:gd name="adj" fmla="val 12000"/>
            </a:avLst>
          </a:prstGeom>
          <a:solidFill>
            <a:srgbClr val="9E3D22"/>
          </a:solidFill>
          <a:ln>
            <a:noFill/>
          </a:ln>
        </p:spPr>
        <p:txBody>
          <a:bodyPr wrap="square" lIns="73152" tIns="0" rIns="18288" bIns="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탁월</a:t>
            </a:r>
          </a:p>
        </p:txBody>
      </p:sp>
    </p:spTree>
    <p:extLst>
      <p:ext uri="{BB962C8B-B14F-4D97-AF65-F5344CB8AC3E}">
        <p14:creationId xmlns:p14="http://schemas.microsoft.com/office/powerpoint/2010/main" val="1709606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&amp; 전환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과목 PBL 설계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과목에 맞는 PBL 문제·산출물·루브릭을 한 세트로 만든다.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점검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사람과 바꿔 보며 규칙과 루브릭의 빈틈을 찾는다.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교시 전환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학생 질문을 받아 줄 '학습 지원 에이전트'로 넘어간다.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03361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노트 — PBL과 과정 평가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106045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PBL 원리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맥락의 비구조화 문제로 자기주도·협력·전이를 촉진한다.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과정의 가시화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결과물만으론 학습 추론이 어렵다 → 과정·성찰을 평가에 포함한다.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학문적 정직성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금지가 아니라 허용 범위·인용·기록 규칙으로 책무성을 설계한다.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루브릭 신뢰도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가능한 행동 준거와 다단계 척도가 채점자 간 일치도를 높인다.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22600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랩 — PBL 시나리오 + 루브릭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99200" y="2103120"/>
            <a:ext cx="513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 설정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과목에 맞는 실제 상황을 정한다.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시나리오·규칙·루브릭 초안을 받는다.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점검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해결이 목표 역량을 쓰는지 확인한다.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확정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범위·금지선을 명문화한다.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sz="1300" i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루브릭 준거가 관찰 가능한 행동인가?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00" name="promptbox"/>
          <p:cNvSpPr/>
          <p:nvPr/>
        </p:nvSpPr>
        <p:spPr>
          <a:xfrm>
            <a:off x="546100" y="2108200"/>
            <a:ext cx="5461000" cy="4114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18000" tIns="100000" rIns="91440" bIns="91440" anchor="t"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PROMPT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'[과목/주제]'로 PBL 과제를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설계해 주세요.</a:t>
            </a:r>
          </a:p>
          <a:p>
            <a:pPr>
              <a:lnSpc>
                <a:spcPct val="150000"/>
              </a:lnSpc>
            </a:pPr>
            <a:endParaRPr lang="ko-KR" sz="80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포함: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1) 실제 맥락의 개방형 문제 시나리오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2) 학습목표와의 정렬 설명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3) 산출물 정의(AI 활용 기록·성찰)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4) AI 활용 규칙(허용/인용/금지선)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5) 4단계 평가 루브릭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(기준·수행수준·배점)</a:t>
            </a:r>
          </a:p>
        </p:txBody>
      </p:sp>
    </p:spTree>
    <p:extLst>
      <p:ext uri="{BB962C8B-B14F-4D97-AF65-F5344CB8AC3E}">
        <p14:creationId xmlns:p14="http://schemas.microsoft.com/office/powerpoint/2010/main" val="947868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예제집 — PBL 설계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6100" y="2108200"/>
            <a:ext cx="110617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None/>
            </a:pP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 바로 쓰는 추가 프롬프트 — 변형용 · 후속/개선용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20" name="pbox"/>
          <p:cNvSpPr/>
          <p:nvPr/>
        </p:nvSpPr>
        <p:spPr>
          <a:xfrm>
            <a:off x="5461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8580" bIns="5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변형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이 PBL 루브릭의 '</a:t>
            </a:r>
            <a:r>
              <a:rPr lang="ko-KR" sz="1400" dirty="0" err="1">
                <a:solidFill>
                  <a:srgbClr val="E9E0D5"/>
                </a:solidFill>
                <a:latin typeface="Consolas" pitchFamily="49" charset="0"/>
                <a:cs typeface="Consolas"/>
              </a:rPr>
              <a:t>분석＇준거를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관찰 가능한 행동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4수준(미흡~탁월) 문장으로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구체화해 주세요.</a:t>
            </a:r>
          </a:p>
        </p:txBody>
      </p:sp>
      <p:sp>
        <p:nvSpPr>
          <p:cNvPr id="721" name="pbox"/>
          <p:cNvSpPr/>
          <p:nvPr/>
        </p:nvSpPr>
        <p:spPr>
          <a:xfrm>
            <a:off x="63500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8580" bIns="5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후속·개선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학생이 이 AI 활용 규칙을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우회할 시나리오 3가지와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각 보완책을 제시해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주세요.</a:t>
            </a:r>
          </a:p>
        </p:txBody>
      </p:sp>
      <p:sp>
        <p:nvSpPr>
          <p:cNvPr id="730" name="tip"/>
          <p:cNvSpPr/>
          <p:nvPr/>
        </p:nvSpPr>
        <p:spPr>
          <a:xfrm>
            <a:off x="546100" y="5791200"/>
            <a:ext cx="11201400" cy="508000"/>
          </a:xfrm>
          <a:prstGeom prst="roundRect">
            <a:avLst>
              <a:gd name="adj" fmla="val 18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lIns="91440" tIns="0" rIns="91440" bIns="0" anchor="ctr"/>
          <a:lstStyle/>
          <a:p>
            <a:pPr>
              <a:lnSpc>
                <a:spcPct val="150000"/>
              </a:lnSpc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 </a:t>
            </a: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대괄호 [ ]는 본인 과목 내용으로 바꿔 입력하고, 출력이 길면 "표로 정리"·"예시 추가"로 이어서 요청하세요.</a:t>
            </a:r>
          </a:p>
        </p:txBody>
      </p:sp>
    </p:spTree>
    <p:extLst>
      <p:ext uri="{BB962C8B-B14F-4D97-AF65-F5344CB8AC3E}">
        <p14:creationId xmlns:p14="http://schemas.microsoft.com/office/powerpoint/2010/main" val="37424342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4교시 · 14:00–14:50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과제 &amp; 체크리스트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채점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루브릭으로 동료 산출물을 시범 채점한다.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시험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규칙을 우회할 시나리오를 점검한다.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성찰 양식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기록·성찰 템플릿을 만든다.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card"/>
          <p:cNvSpPr/>
          <p:nvPr/>
        </p:nvSpPr>
        <p:spPr>
          <a:xfrm>
            <a:off x="6299200" y="2108200"/>
            <a:ext cx="5130800" cy="39370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00000" tIns="80000" rIns="64000" bIns="40000" anchor="t"/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체크리스트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개방형 문제를 설계했다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산출물에 성찰을 포함했다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허용/금지 규칙을 명시했다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루브릭을 작성했다</a:t>
            </a:r>
          </a:p>
          <a:p>
            <a:pPr marL="300000" indent="-30000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정렬을 확인했다</a:t>
            </a:r>
          </a:p>
        </p:txBody>
      </p:sp>
    </p:spTree>
    <p:extLst>
      <p:ext uri="{BB962C8B-B14F-4D97-AF65-F5344CB8AC3E}">
        <p14:creationId xmlns:p14="http://schemas.microsoft.com/office/powerpoint/2010/main" val="552355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5교시  ·  15:00–15:50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에이전트 구축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에이전트의 역할과 응답 경계를 정의한다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자료를 지식으로 등록해 응답의 근거(grounding)를 제공한다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시나리오로 에이전트의 응답 품질을 점검한다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1379440-8CB1-8C82-C37F-37422890DB6A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892144E3-0CF1-AF35-1D0A-BF55C1938AE6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348FB9D-4EF0-1951-47E1-81A718AADFCA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27B28AAF-257D-3DA8-768B-9484C3EB64D0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0B4492A8-615A-C15B-1A38-FFF17B886B28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899198BB-EB64-6B87-62F0-E3FB89674DA1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B8B55721-A7E6-3742-0DFD-3059A6A22788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299AE133-8925-2498-646F-C359C3F7F020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119E3E3D-C6FF-855A-57D1-3FF975669E33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61AE8F2F-DC40-B8A4-0D6E-861EAFC7F3C8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A4D7E2B6-E340-7EF3-0837-6CB13E7CDBC5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93BDC79F-8F57-3A63-9CCB-B61A478904DB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DA5CC407-0821-5C03-9652-F43BD9FE9ADA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01456C3F-FAC6-872F-708B-F76DF437C7D5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34F4BA22-5B5E-5D78-27FC-99A18A5553CF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3917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반복 질의 부담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FAQ·과제 질문 반복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학기 같은 질문이 반복돼 교수자 시간을 잠식한다.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에이전트로 일관 응대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자료에 근거해 학생에게 일관된 답을 준다.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교수자 부담 경감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응대를 덜고 교수자는 고차 지도에 집중한다.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3389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에이전트란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강의계획서·자료·FAQ 보유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과목의 핵심 문서를 지식으로 갖춘 보조 시스템이다.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전용 보조 시스템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범용 챗봇이 아니라 이 과목만을 위해 맞춰진 도우미다.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정의된 범위 내 작동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정한 역할과 경계 안에서만 응답한다.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00" name="b"/>
          <p:cNvSpPr/>
          <p:nvPr/>
        </p:nvSpPr>
        <p:spPr>
          <a:xfrm>
            <a:off x="6502400" y="2387600"/>
            <a:ext cx="1498600" cy="711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8000" tIns="9000" rIns="18000" bIns="9000" anchor="ctr"/>
          <a:lstStyle/>
          <a:p>
            <a:pPr algn="ctr">
              <a:lnSpc>
                <a:spcPct val="150000"/>
              </a:lnSpc>
            </a:pPr>
            <a:r>
              <a:rPr lang="ko-KR" sz="125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</a:t>
            </a:r>
          </a:p>
        </p:txBody>
      </p:sp>
      <p:sp>
        <p:nvSpPr>
          <p:cNvPr id="1001" name="a"/>
          <p:cNvSpPr/>
          <p:nvPr/>
        </p:nvSpPr>
        <p:spPr>
          <a:xfrm>
            <a:off x="7137400" y="3175000"/>
            <a:ext cx="228600" cy="5588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02" name="b"/>
          <p:cNvSpPr/>
          <p:nvPr/>
        </p:nvSpPr>
        <p:spPr>
          <a:xfrm>
            <a:off x="8204200" y="2387600"/>
            <a:ext cx="1498600" cy="711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8000" tIns="9000" rIns="18000" bIns="9000" anchor="ctr"/>
          <a:lstStyle/>
          <a:p>
            <a:pPr algn="ctr">
              <a:lnSpc>
                <a:spcPct val="150000"/>
              </a:lnSpc>
            </a:pPr>
            <a:r>
              <a:rPr lang="ko-KR" sz="125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</a:t>
            </a:r>
          </a:p>
        </p:txBody>
      </p:sp>
      <p:sp>
        <p:nvSpPr>
          <p:cNvPr id="1003" name="a"/>
          <p:cNvSpPr/>
          <p:nvPr/>
        </p:nvSpPr>
        <p:spPr>
          <a:xfrm>
            <a:off x="8839200" y="3175000"/>
            <a:ext cx="228600" cy="5588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04" name="b"/>
          <p:cNvSpPr/>
          <p:nvPr/>
        </p:nvSpPr>
        <p:spPr>
          <a:xfrm>
            <a:off x="9906000" y="2387600"/>
            <a:ext cx="1498600" cy="7112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8000" tIns="9000" rIns="18000" bIns="9000" anchor="ctr"/>
          <a:lstStyle/>
          <a:p>
            <a:pPr algn="ctr">
              <a:lnSpc>
                <a:spcPct val="150000"/>
              </a:lnSpc>
            </a:pPr>
            <a:r>
              <a:rPr lang="ko-KR" sz="125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</a:t>
            </a:r>
          </a:p>
        </p:txBody>
      </p:sp>
      <p:sp>
        <p:nvSpPr>
          <p:cNvPr id="1005" name="a"/>
          <p:cNvSpPr/>
          <p:nvPr/>
        </p:nvSpPr>
        <p:spPr>
          <a:xfrm>
            <a:off x="10541000" y="3175000"/>
            <a:ext cx="228600" cy="5588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06" name="b"/>
          <p:cNvSpPr/>
          <p:nvPr/>
        </p:nvSpPr>
        <p:spPr>
          <a:xfrm>
            <a:off x="6553200" y="3911600"/>
            <a:ext cx="4800600" cy="939800"/>
          </a:xfrm>
          <a:prstGeom prst="roundRect">
            <a:avLst>
              <a:gd name="adj" fmla="val 10000"/>
            </a:avLst>
          </a:prstGeom>
          <a:solidFill>
            <a:srgbClr val="C2603D"/>
          </a:solidFill>
          <a:ln w="12700">
            <a:solidFill>
              <a:srgbClr val="E5DACE"/>
            </a:solidFill>
          </a:ln>
        </p:spPr>
        <p:txBody>
          <a:bodyPr wrap="square" lIns="18000" tIns="9000" rIns="18000" bIns="9000" anchor="ctr"/>
          <a:lstStyle/>
          <a:p>
            <a:pPr algn="ctr">
              <a:lnSpc>
                <a:spcPct val="150000"/>
              </a:lnSpc>
            </a:pPr>
            <a:r>
              <a:rPr lang="ko-KR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에이전트</a:t>
            </a:r>
          </a:p>
          <a:p>
            <a:pPr algn="ctr">
              <a:lnSpc>
                <a:spcPct val="150000"/>
              </a:lnSpc>
            </a:pPr>
            <a:r>
              <a:rPr lang="ko-KR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정의된 범위 내 작동 · 과목 전용</a:t>
            </a:r>
          </a:p>
        </p:txBody>
      </p:sp>
    </p:spTree>
    <p:extLst>
      <p:ext uri="{BB962C8B-B14F-4D97-AF65-F5344CB8AC3E}">
        <p14:creationId xmlns:p14="http://schemas.microsoft.com/office/powerpoint/2010/main" val="3228766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근거(grounding)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자료 범위 내에서만 응답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넣어 준 자료에 있는 내용으로만 답하게 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추측·환각 억제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없으면 지어내지 않고 모른다고 말하게 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기반 안내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답의 출처를 자료에 두어 신뢰할 수 있게 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30" name="L"/>
          <p:cNvSpPr/>
          <p:nvPr/>
        </p:nvSpPr>
        <p:spPr>
          <a:xfrm>
            <a:off x="7366000" y="2489200"/>
            <a:ext cx="3175000" cy="736600"/>
          </a:xfrm>
          <a:prstGeom prst="roundRect">
            <a:avLst>
              <a:gd name="adj" fmla="val 8000"/>
            </a:avLst>
          </a:prstGeom>
          <a:solidFill>
            <a:srgbClr val="C2603D"/>
          </a:solidFill>
          <a:ln w="12700">
            <a:solidFill>
              <a:srgbClr val="E5DACE"/>
            </a:solidFill>
          </a:ln>
        </p:spPr>
        <p:txBody>
          <a:bodyPr wrap="square" lIns="18000" tIns="6000" rIns="18000" bIns="6000" anchor="ctr"/>
          <a:lstStyle/>
          <a:p>
            <a:pPr algn="ctr">
              <a:lnSpc>
                <a:spcPct val="150000"/>
              </a:lnSpc>
            </a:pPr>
            <a:r>
              <a:rPr lang="ko-KR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기반 응답</a:t>
            </a:r>
          </a:p>
        </p:txBody>
      </p:sp>
      <p:sp>
        <p:nvSpPr>
          <p:cNvPr id="1031" name="L"/>
          <p:cNvSpPr/>
          <p:nvPr/>
        </p:nvSpPr>
        <p:spPr>
          <a:xfrm>
            <a:off x="6921500" y="3378200"/>
            <a:ext cx="4064000" cy="736600"/>
          </a:xfrm>
          <a:prstGeom prst="roundRect">
            <a:avLst>
              <a:gd name="adj" fmla="val 8000"/>
            </a:avLst>
          </a:prstGeom>
          <a:solidFill>
            <a:srgbClr val="DDA982"/>
          </a:solidFill>
          <a:ln w="12700">
            <a:solidFill>
              <a:srgbClr val="E5DACE"/>
            </a:solidFill>
          </a:ln>
        </p:spPr>
        <p:txBody>
          <a:bodyPr wrap="square" lIns="18000" tIns="6000" rIns="18000" bIns="6000" anchor="ctr"/>
          <a:lstStyle/>
          <a:p>
            <a:pPr algn="ctr">
              <a:lnSpc>
                <a:spcPct val="150000"/>
              </a:lnSpc>
            </a:pPr>
            <a:r>
              <a:rPr lang="ko-KR" sz="14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자료 범위 = 근거</a:t>
            </a:r>
          </a:p>
        </p:txBody>
      </p:sp>
      <p:sp>
        <p:nvSpPr>
          <p:cNvPr id="1032" name="L"/>
          <p:cNvSpPr/>
          <p:nvPr/>
        </p:nvSpPr>
        <p:spPr>
          <a:xfrm>
            <a:off x="6477000" y="4267200"/>
            <a:ext cx="4953000" cy="736600"/>
          </a:xfrm>
          <a:prstGeom prst="roundRect">
            <a:avLst>
              <a:gd name="adj" fmla="val 8000"/>
            </a:avLst>
          </a:prstGeom>
          <a:solidFill>
            <a:srgbClr val="EAD9CC"/>
          </a:solidFill>
          <a:ln w="12700">
            <a:solidFill>
              <a:srgbClr val="E5DACE"/>
            </a:solidFill>
          </a:ln>
        </p:spPr>
        <p:txBody>
          <a:bodyPr wrap="square" lIns="18000" tIns="6000" rIns="18000" bIns="6000" anchor="ctr"/>
          <a:lstStyle/>
          <a:p>
            <a:pPr algn="ctr">
              <a:lnSpc>
                <a:spcPct val="150000"/>
              </a:lnSpc>
            </a:pPr>
            <a:r>
              <a:rPr lang="ko-KR" sz="14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 · 자료 · FAQ</a:t>
            </a:r>
          </a:p>
        </p:txBody>
      </p:sp>
      <p:sp>
        <p:nvSpPr>
          <p:cNvPr id="1033" name="n"/>
          <p:cNvSpPr/>
          <p:nvPr/>
        </p:nvSpPr>
        <p:spPr>
          <a:xfrm>
            <a:off x="6477000" y="5105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200" i="1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밖이면 추측하지 않고 응답하지 않음</a:t>
            </a:r>
          </a:p>
        </p:txBody>
      </p:sp>
    </p:spTree>
    <p:extLst>
      <p:ext uri="{BB962C8B-B14F-4D97-AF65-F5344CB8AC3E}">
        <p14:creationId xmlns:p14="http://schemas.microsoft.com/office/powerpoint/2010/main" val="32680635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규칙 정의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39" y="2103120"/>
            <a:ext cx="7117509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· 범위 · 금지사항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하고 무엇을 하지 않을지 먼저 규정한다.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대신 단계적 힌트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바로 주지 않고 스스로 풀도록 힌트를 단계로 준다.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교육적 응대 방식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학습을 돕는 방향이 되도록 어조와 절차를 정한다.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60" name="card"/>
          <p:cNvSpPr/>
          <p:nvPr/>
        </p:nvSpPr>
        <p:spPr>
          <a:xfrm>
            <a:off x="8384146" y="2311400"/>
            <a:ext cx="3020454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돕는 보조인가</a:t>
            </a:r>
          </a:p>
        </p:txBody>
      </p:sp>
      <p:sp>
        <p:nvSpPr>
          <p:cNvPr id="1061" name="card"/>
          <p:cNvSpPr/>
          <p:nvPr/>
        </p:nvSpPr>
        <p:spPr>
          <a:xfrm>
            <a:off x="8384146" y="3479800"/>
            <a:ext cx="3020454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 응답하는가</a:t>
            </a:r>
          </a:p>
        </p:txBody>
      </p:sp>
      <p:sp>
        <p:nvSpPr>
          <p:cNvPr id="1062" name="card"/>
          <p:cNvSpPr/>
          <p:nvPr/>
        </p:nvSpPr>
        <p:spPr>
          <a:xfrm>
            <a:off x="8384146" y="4648200"/>
            <a:ext cx="3020454" cy="1016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12000" rIns="45720" bIns="12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금지사항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하지 않을 것</a:t>
            </a:r>
          </a:p>
        </p:txBody>
      </p:sp>
      <p:sp>
        <p:nvSpPr>
          <p:cNvPr id="7" name="bar">
            <a:extLst>
              <a:ext uri="{FF2B5EF4-FFF2-40B4-BE49-F238E27FC236}">
                <a16:creationId xmlns:a16="http://schemas.microsoft.com/office/drawing/2014/main" id="{51B7EAD1-E02E-D83B-E81C-A89321049B62}"/>
              </a:ext>
            </a:extLst>
          </p:cNvPr>
          <p:cNvSpPr/>
          <p:nvPr/>
        </p:nvSpPr>
        <p:spPr>
          <a:xfrm>
            <a:off x="11084774" y="25017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4E8A57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bar">
            <a:extLst>
              <a:ext uri="{FF2B5EF4-FFF2-40B4-BE49-F238E27FC236}">
                <a16:creationId xmlns:a16="http://schemas.microsoft.com/office/drawing/2014/main" id="{143AF2D7-200F-A10D-8D31-40476561CFB1}"/>
              </a:ext>
            </a:extLst>
          </p:cNvPr>
          <p:cNvSpPr/>
          <p:nvPr/>
        </p:nvSpPr>
        <p:spPr>
          <a:xfrm>
            <a:off x="11084774" y="36701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C99A3A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" name="bar">
            <a:extLst>
              <a:ext uri="{FF2B5EF4-FFF2-40B4-BE49-F238E27FC236}">
                <a16:creationId xmlns:a16="http://schemas.microsoft.com/office/drawing/2014/main" id="{4311F10B-411E-2097-04C2-ECBEA056613A}"/>
              </a:ext>
            </a:extLst>
          </p:cNvPr>
          <p:cNvSpPr/>
          <p:nvPr/>
        </p:nvSpPr>
        <p:spPr>
          <a:xfrm>
            <a:off x="11084774" y="4838521"/>
            <a:ext cx="103590" cy="60960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07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절차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61773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생성 + 강의계획서 등록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전용 공간을 만들고 강의계획서부터 올린다.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강의자료·FAQ 지식 추가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강의노트·자주 묻는 질문을 차례로 지식에 더한다.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작성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역할·범위·응대 방식을 글로 적어 에이전트에 부여한다.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90" name="card"/>
          <p:cNvSpPr/>
          <p:nvPr/>
        </p:nvSpPr>
        <p:spPr>
          <a:xfrm>
            <a:off x="7284720" y="2130552"/>
            <a:ext cx="4130040" cy="8636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0" tIns="9000" rIns="36000" bIns="9000" anchor="ctr"/>
          <a:lstStyle/>
          <a:p>
            <a:pPr algn="l">
              <a:lnSpc>
                <a:spcPct val="150000"/>
              </a:lnSpc>
            </a:pPr>
            <a:r>
              <a:rPr lang="ko-KR" sz="145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생성 · 강의계획서 등록</a:t>
            </a:r>
          </a:p>
        </p:txBody>
      </p:sp>
      <p:sp>
        <p:nvSpPr>
          <p:cNvPr id="1091" name="bd"/>
          <p:cNvSpPr/>
          <p:nvPr/>
        </p:nvSpPr>
        <p:spPr>
          <a:xfrm>
            <a:off x="7462520" y="2384552"/>
            <a:ext cx="355600" cy="3556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</a:p>
        </p:txBody>
      </p:sp>
      <p:sp>
        <p:nvSpPr>
          <p:cNvPr id="1092" name="a"/>
          <p:cNvSpPr/>
          <p:nvPr/>
        </p:nvSpPr>
        <p:spPr>
          <a:xfrm>
            <a:off x="9170762" y="3057652"/>
            <a:ext cx="254000" cy="279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93" name="card"/>
          <p:cNvSpPr/>
          <p:nvPr/>
        </p:nvSpPr>
        <p:spPr>
          <a:xfrm>
            <a:off x="7284720" y="3425952"/>
            <a:ext cx="4130040" cy="8636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0" tIns="9000" rIns="36000" bIns="9000" anchor="ctr"/>
          <a:lstStyle/>
          <a:p>
            <a:pPr algn="l">
              <a:lnSpc>
                <a:spcPct val="150000"/>
              </a:lnSpc>
            </a:pPr>
            <a:r>
              <a:rPr lang="ko-KR" sz="145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 · FAQ 지식 추가</a:t>
            </a:r>
          </a:p>
        </p:txBody>
      </p:sp>
      <p:sp>
        <p:nvSpPr>
          <p:cNvPr id="1094" name="bd"/>
          <p:cNvSpPr/>
          <p:nvPr/>
        </p:nvSpPr>
        <p:spPr>
          <a:xfrm>
            <a:off x="7462520" y="3679952"/>
            <a:ext cx="355600" cy="3556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</a:p>
        </p:txBody>
      </p:sp>
      <p:sp>
        <p:nvSpPr>
          <p:cNvPr id="1095" name="a"/>
          <p:cNvSpPr/>
          <p:nvPr/>
        </p:nvSpPr>
        <p:spPr>
          <a:xfrm>
            <a:off x="9170762" y="4353052"/>
            <a:ext cx="254000" cy="279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96" name="card"/>
          <p:cNvSpPr/>
          <p:nvPr/>
        </p:nvSpPr>
        <p:spPr>
          <a:xfrm>
            <a:off x="7284720" y="4721352"/>
            <a:ext cx="4130040" cy="8636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0" tIns="9000" rIns="36000" bIns="9000" anchor="ctr"/>
          <a:lstStyle/>
          <a:p>
            <a:pPr algn="l">
              <a:lnSpc>
                <a:spcPct val="150000"/>
              </a:lnSpc>
            </a:pPr>
            <a:r>
              <a:rPr lang="ko-KR" sz="145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역할·범위 지침 작성</a:t>
            </a:r>
          </a:p>
        </p:txBody>
      </p:sp>
      <p:sp>
        <p:nvSpPr>
          <p:cNvPr id="1097" name="bd"/>
          <p:cNvSpPr/>
          <p:nvPr/>
        </p:nvSpPr>
        <p:spPr>
          <a:xfrm>
            <a:off x="7462520" y="4975352"/>
            <a:ext cx="355600" cy="3556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14523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점검 &amp; 전환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관점 질의 3개로 시험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학생이 물을 법한 질문 3개로 응답을 시험한다.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보완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빗나간 답이 나오면 지식·지침을 보강한다.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교시 전환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응대 방식을 정교화하는 '튜터 지침'으로 넘어간다.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78977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노트 — 근거 기반(grounding)과 RAG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106045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그라운딩 원리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응답을 등록 자료에 한정(retrieval-augmented)해 환각을 억제한다.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등록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강의계획서·자료·FAQ를 지식으로 올리면 응답의 근거가 문서로 한정된다.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경계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'자료에 없으면 모른다고 답하기'를 규칙으로 명시해야 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교육적 응대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즉시 제공 대신 단계적 힌트로 학습을 유도한다.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120409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랩 — 과목 에이전트 만들기(Project)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99200" y="2103120"/>
            <a:ext cx="513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Project를 만들고 강의계획서를 등록한다.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추가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강의자료·FAQ를 지식으로 올린다.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작성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역할·범위·원칙을 지침으로 입력한다.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질문 3개로 응답을 점검한다.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sz="1300" i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범위 밖 질문에 '모른다'고 답하는가?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00" name="promptbox"/>
          <p:cNvSpPr/>
          <p:nvPr/>
        </p:nvSpPr>
        <p:spPr>
          <a:xfrm>
            <a:off x="546100" y="2108200"/>
            <a:ext cx="5461000" cy="4114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18000" tIns="100000" rIns="80000" bIns="80000" anchor="t"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PROMPT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당신은 이 과목 전용 학습 도우미입니다.</a:t>
            </a:r>
          </a:p>
          <a:p>
            <a:pPr>
              <a:lnSpc>
                <a:spcPct val="150000"/>
              </a:lnSpc>
            </a:pPr>
            <a:endParaRPr lang="ko-KR" sz="80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[지식] 등록된 강의계획서·자료·FAQ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    범위 안에서만 답한다.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[원칙]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자료에 없으면 "확인되지 않음"이라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답하고 교수자 문의를 안내한다.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- 과제 정답을 직접 주지 않고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단계적 힌트를 제공한다.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[어조] 존중적·격려적, 학생 눈높이.</a:t>
            </a:r>
          </a:p>
        </p:txBody>
      </p:sp>
    </p:spTree>
    <p:extLst>
      <p:ext uri="{BB962C8B-B14F-4D97-AF65-F5344CB8AC3E}">
        <p14:creationId xmlns:p14="http://schemas.microsoft.com/office/powerpoint/2010/main" val="1637485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예제집 — 과목 에이전트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6100" y="2108200"/>
            <a:ext cx="110617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None/>
            </a:pP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 바로 쓰는 추가 프롬프트 — 변형용 · 후속/개선용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20" name="pbox"/>
          <p:cNvSpPr/>
          <p:nvPr/>
        </p:nvSpPr>
        <p:spPr>
          <a:xfrm>
            <a:off x="5461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8580" bIns="5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변형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'[과목]'에서 학생이 자주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물을 질문 10개와 모범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답변을 강의계획서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근거로 작성해 주세요.</a:t>
            </a:r>
          </a:p>
        </p:txBody>
      </p:sp>
      <p:sp>
        <p:nvSpPr>
          <p:cNvPr id="721" name="pbox"/>
          <p:cNvSpPr/>
          <p:nvPr/>
        </p:nvSpPr>
        <p:spPr>
          <a:xfrm>
            <a:off x="63500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8580" bIns="5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후속·개선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다음 질문에 에이전트가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범위를 벗어나지 않는지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점검하고, 어긋나면 지침을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고쳐 주세요: "[질문]"</a:t>
            </a:r>
          </a:p>
        </p:txBody>
      </p:sp>
      <p:sp>
        <p:nvSpPr>
          <p:cNvPr id="730" name="tip"/>
          <p:cNvSpPr/>
          <p:nvPr/>
        </p:nvSpPr>
        <p:spPr>
          <a:xfrm>
            <a:off x="546100" y="5791200"/>
            <a:ext cx="11201400" cy="508000"/>
          </a:xfrm>
          <a:prstGeom prst="roundRect">
            <a:avLst>
              <a:gd name="adj" fmla="val 18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lIns="91440" tIns="0" rIns="91440" bIns="0" anchor="ctr"/>
          <a:lstStyle/>
          <a:p>
            <a:pPr>
              <a:lnSpc>
                <a:spcPct val="150000"/>
              </a:lnSpc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 </a:t>
            </a: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대괄호 [ ]는 본인 과목 내용으로 바꿔 입력하고, 출력이 길면 "표로 정리"·"예시 추가"로 이어서 요청하세요.</a:t>
            </a:r>
          </a:p>
        </p:txBody>
      </p:sp>
    </p:spTree>
    <p:extLst>
      <p:ext uri="{BB962C8B-B14F-4D97-AF65-F5344CB8AC3E}">
        <p14:creationId xmlns:p14="http://schemas.microsoft.com/office/powerpoint/2010/main" val="25464586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5교시 · 15:00–15:50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과제 &amp; 체크리스트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테스트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 없는 사실을 물어 응답이 절제되는지 확인한다.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 단계화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대신 단계적 힌트가 나오는지 확인한다.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 보강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빗나간 응답을 FAQ·지침에 반영한다.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list"/>
          <p:cNvSpPr/>
          <p:nvPr/>
        </p:nvSpPr>
        <p:spPr>
          <a:xfrm>
            <a:off x="6299200" y="2108200"/>
            <a:ext cx="5130800" cy="39370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80000" rIns="64000" bIns="40000" anchor="t"/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체크리스트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Project를 만들고 계획서를 등록했다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자료·FAQ를 지식으로 추가했다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역할·범위·원칙 지침을 작성했다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질문 3개로 시험했다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 응답을 점검했다</a:t>
            </a:r>
          </a:p>
        </p:txBody>
      </p:sp>
    </p:spTree>
    <p:extLst>
      <p:ext uri="{BB962C8B-B14F-4D97-AF65-F5344CB8AC3E}">
        <p14:creationId xmlns:p14="http://schemas.microsoft.com/office/powerpoint/2010/main" val="40284994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6교시  ·  16:00–16:50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튜터 지침 작성 실습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튜터의 응대 범위와 금지선을 명확히 규정한다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교육적으로 타당한 응대 방식(어조·피드백 절차)을 기술한다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밖·불확실 상황의 예외 처리 규칙을 설계한다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9D4830C-2DA6-55A7-3997-BF92BDC72B59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A3228BC4-4418-7BFB-8F4A-899D30634E93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58EBF07-E24B-BEEE-0801-D5ADD107F0CF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18AB383F-BC1A-6F6A-C7E8-18B4EDA1D7FB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BAF62524-2ECD-1DE9-8AF5-26E0184C8C3E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E24C3CDE-7F3A-9904-4037-3D13B4834E41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DAB893C5-73F1-5138-B372-2BE775067579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D0A47517-3756-3958-703B-7024EED17144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C5A37CC7-8379-4393-0C23-30F7D11EBBC9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915F1026-ED51-3DF2-2B79-2738FC83FDD9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CB3EA37E-3C83-BC22-64C8-BCE396B663B5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88D94A2B-D94B-E36B-DD6F-A75AEAC632ED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E3F67307-AD54-0B9D-A198-215A3131A525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45BEB02E-9B37-9FB7-C908-0286C6E82CF2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39F108C2-A0E8-78AF-1084-082319484ADA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63369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도입: 가드레일의 필요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모호한 지침 → 흔들리는 응답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지침이 두루뭉술하면 응답도 그때그때 달라진다.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일관·안전한 학습 지원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경계가 있어야 일관되고 안전한 도움이 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경계 규정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'해도 되는 것'과 '안 되는 것'의 선을 분명히 긋는다.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84605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범위(scope) &amp; 방식(pedagogy)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다룰 주제 / 배제할 주제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응대할 범위와 다루지 않을 범위를 명시한다.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제공 여부·힌트 단계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줄지, 힌트를 몇 단계로 줄지 규정한다.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존중적 어조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학생을 존중하는 말투와 격려 방식을 정한다.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40" name="h"/>
          <p:cNvSpPr/>
          <p:nvPr/>
        </p:nvSpPr>
        <p:spPr>
          <a:xfrm>
            <a:off x="6477000" y="2336800"/>
            <a:ext cx="2349500" cy="508000"/>
          </a:xfrm>
          <a:prstGeom prst="roundRect">
            <a:avLst>
              <a:gd name="adj" fmla="val 18000"/>
            </a:avLst>
          </a:prstGeom>
          <a:solidFill>
            <a:srgbClr val="C2603D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다룰 주제</a:t>
            </a:r>
          </a:p>
        </p:txBody>
      </p:sp>
      <p:sp>
        <p:nvSpPr>
          <p:cNvPr id="1041" name="h"/>
          <p:cNvSpPr/>
          <p:nvPr/>
        </p:nvSpPr>
        <p:spPr>
          <a:xfrm>
            <a:off x="8991600" y="2336800"/>
            <a:ext cx="2349500" cy="508000"/>
          </a:xfrm>
          <a:prstGeom prst="roundRect">
            <a:avLst>
              <a:gd name="adj" fmla="val 18000"/>
            </a:avLst>
          </a:prstGeom>
          <a:solidFill>
            <a:srgbClr val="6B6259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배제할 주제</a:t>
            </a:r>
          </a:p>
        </p:txBody>
      </p:sp>
      <p:sp>
        <p:nvSpPr>
          <p:cNvPr id="1042" name="l"/>
          <p:cNvSpPr/>
          <p:nvPr/>
        </p:nvSpPr>
        <p:spPr>
          <a:xfrm>
            <a:off x="6477000" y="2946400"/>
            <a:ext cx="2349500" cy="2540000"/>
          </a:xfrm>
          <a:prstGeom prst="roundRect">
            <a:avLst>
              <a:gd name="adj" fmla="val 7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" tIns="40000" rIns="36000" bIns="20000" anchor="t"/>
          <a:lstStyle/>
          <a:p>
            <a:pPr marL="160000" indent="-160000" algn="l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ko-KR" sz="13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개념·이론 설명</a:t>
            </a:r>
          </a:p>
          <a:p>
            <a:pPr marL="160000" indent="-160000" algn="l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ko-KR" sz="13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과제·일정 안내</a:t>
            </a:r>
          </a:p>
          <a:p>
            <a:pPr marL="160000" indent="-160000" algn="l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ko-KR" sz="13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방법 제안</a:t>
            </a:r>
          </a:p>
        </p:txBody>
      </p:sp>
      <p:sp>
        <p:nvSpPr>
          <p:cNvPr id="1043" name="l"/>
          <p:cNvSpPr/>
          <p:nvPr/>
        </p:nvSpPr>
        <p:spPr>
          <a:xfrm>
            <a:off x="8991600" y="2946400"/>
            <a:ext cx="2349500" cy="2540000"/>
          </a:xfrm>
          <a:prstGeom prst="roundRect">
            <a:avLst>
              <a:gd name="adj" fmla="val 7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" tIns="40000" rIns="36000" bIns="20000" anchor="t"/>
          <a:lstStyle/>
          <a:p>
            <a:pPr marL="160000" indent="-160000" algn="l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ko-KR" sz="13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성적·개인정보</a:t>
            </a:r>
          </a:p>
          <a:p>
            <a:pPr marL="160000" indent="-160000" algn="l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ko-KR" sz="13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 판단</a:t>
            </a:r>
          </a:p>
          <a:p>
            <a:pPr marL="160000" indent="-160000" algn="l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ko-KR" sz="13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민감·범위 밖 주제</a:t>
            </a:r>
          </a:p>
        </p:txBody>
      </p:sp>
    </p:spTree>
    <p:extLst>
      <p:ext uri="{BB962C8B-B14F-4D97-AF65-F5344CB8AC3E}">
        <p14:creationId xmlns:p14="http://schemas.microsoft.com/office/powerpoint/2010/main" val="39705772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안전(safety) 원칙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개인정보·성적 문의 금지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개인정보·성적 관련 질문에는 응답하지 않게 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평가·민감 주제 처리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기준·민감 사안은 교수자에게 넘기도록 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금지선 명시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답하지 말아야 할 선을 분명히 적어 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0752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예외(fallback) 처리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밖·근거 불확실 상황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다룰 수 없거나 근거가 약한 질문을 먼저 식별한다.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정중히 거절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모른다는 사실을 정중하고 분명하게 밝히게 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교수자에게 안내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경우 교수자에게 문의하도록 연결한다.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60" name="c"/>
          <p:cNvSpPr/>
          <p:nvPr/>
        </p:nvSpPr>
        <p:spPr>
          <a:xfrm>
            <a:off x="6477000" y="2362200"/>
            <a:ext cx="4927600" cy="9144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" tIns="10000" rIns="36000" bIns="1000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 · 근거 불확실</a:t>
            </a:r>
          </a:p>
          <a:p>
            <a:pPr algn="l">
              <a:lnSpc>
                <a:spcPct val="150000"/>
              </a:lnSpc>
            </a:pPr>
            <a:r>
              <a:rPr lang="ko-KR" sz="125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답할 수 없는 질문을 감지</a:t>
            </a:r>
          </a:p>
        </p:txBody>
      </p:sp>
      <p:sp>
        <p:nvSpPr>
          <p:cNvPr id="1061" name="a"/>
          <p:cNvSpPr/>
          <p:nvPr/>
        </p:nvSpPr>
        <p:spPr>
          <a:xfrm>
            <a:off x="8801100" y="3327400"/>
            <a:ext cx="279400" cy="279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62" name="c"/>
          <p:cNvSpPr/>
          <p:nvPr/>
        </p:nvSpPr>
        <p:spPr>
          <a:xfrm>
            <a:off x="6477000" y="3657600"/>
            <a:ext cx="4927600" cy="914400"/>
          </a:xfrm>
          <a:prstGeom prst="roundRect">
            <a:avLst>
              <a:gd name="adj" fmla="val 10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" tIns="10000" rIns="36000" bIns="1000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정중히 거절</a:t>
            </a:r>
          </a:p>
          <a:p>
            <a:pPr algn="l">
              <a:lnSpc>
                <a:spcPct val="150000"/>
              </a:lnSpc>
            </a:pPr>
            <a:r>
              <a:rPr lang="ko-KR" sz="125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모른다는 사실을 분명히</a:t>
            </a:r>
          </a:p>
        </p:txBody>
      </p:sp>
      <p:sp>
        <p:nvSpPr>
          <p:cNvPr id="1063" name="a"/>
          <p:cNvSpPr/>
          <p:nvPr/>
        </p:nvSpPr>
        <p:spPr>
          <a:xfrm>
            <a:off x="8801100" y="4622800"/>
            <a:ext cx="279400" cy="2794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64" name="c"/>
          <p:cNvSpPr/>
          <p:nvPr/>
        </p:nvSpPr>
        <p:spPr>
          <a:xfrm>
            <a:off x="6477000" y="4953000"/>
            <a:ext cx="4927600" cy="914400"/>
          </a:xfrm>
          <a:prstGeom prst="roundRect">
            <a:avLst>
              <a:gd name="adj" fmla="val 10000"/>
            </a:avLst>
          </a:prstGeom>
          <a:solidFill>
            <a:srgbClr val="C2603D"/>
          </a:solidFill>
          <a:ln w="12700">
            <a:solidFill>
              <a:srgbClr val="E5DACE"/>
            </a:solidFill>
          </a:ln>
        </p:spPr>
        <p:txBody>
          <a:bodyPr wrap="square" lIns="64000" tIns="10000" rIns="36000" bIns="10000" anchor="ctr"/>
          <a:lstStyle/>
          <a:p>
            <a:pPr algn="l">
              <a:lnSpc>
                <a:spcPct val="150000"/>
              </a:lnSpc>
            </a:pPr>
            <a:r>
              <a:rPr lang="ko-KR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교수자에게 안내</a:t>
            </a:r>
          </a:p>
          <a:p>
            <a:pPr algn="l">
              <a:lnSpc>
                <a:spcPct val="150000"/>
              </a:lnSpc>
            </a:pPr>
            <a:r>
              <a:rPr lang="ko-KR" sz="1250" dirty="0">
                <a:solidFill>
                  <a:srgbClr val="F3E2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시 문의로 연결</a:t>
            </a:r>
          </a:p>
        </p:txBody>
      </p:sp>
    </p:spTree>
    <p:extLst>
      <p:ext uri="{BB962C8B-B14F-4D97-AF65-F5344CB8AC3E}">
        <p14:creationId xmlns:p14="http://schemas.microsoft.com/office/powerpoint/2010/main" val="16349578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기법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선언이 아닌 행동 준거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'친절하라' 같은 선언 대신 구체적 행동으로 적는다.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조건에서는 이렇게"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상황과 그때의 응대를 짝지어 규칙으로 만든다.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명령형 규칙 문장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해석의 여지가 적은 명령형으로 짧고 분명하게 쓴다.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680183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&amp; 개정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질의로 준수 여부 시험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질문을 던져 지침대로 응답하는지 확인한다.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어긋난 응대 → 문구 개정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벗어난 답이 나오면 지침 문구를 고친다.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사례 반영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중 쌓인 사례를 지침에 계속 반영한다.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80" name="c"/>
          <p:cNvSpPr/>
          <p:nvPr/>
        </p:nvSpPr>
        <p:spPr>
          <a:xfrm>
            <a:off x="6959600" y="2413000"/>
            <a:ext cx="4394200" cy="8382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8000" rIns="36000" bIns="8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질의로 시험</a:t>
            </a:r>
          </a:p>
        </p:txBody>
      </p:sp>
      <p:sp>
        <p:nvSpPr>
          <p:cNvPr id="1081" name="a"/>
          <p:cNvSpPr/>
          <p:nvPr/>
        </p:nvSpPr>
        <p:spPr>
          <a:xfrm>
            <a:off x="9029700" y="3302000"/>
            <a:ext cx="254000" cy="2540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82" name="c"/>
          <p:cNvSpPr/>
          <p:nvPr/>
        </p:nvSpPr>
        <p:spPr>
          <a:xfrm>
            <a:off x="6959600" y="3657600"/>
            <a:ext cx="4394200" cy="8382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8000" rIns="36000" bIns="8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어긋난 응대 발견</a:t>
            </a:r>
          </a:p>
        </p:txBody>
      </p:sp>
      <p:sp>
        <p:nvSpPr>
          <p:cNvPr id="1083" name="a"/>
          <p:cNvSpPr/>
          <p:nvPr/>
        </p:nvSpPr>
        <p:spPr>
          <a:xfrm>
            <a:off x="9029700" y="4546600"/>
            <a:ext cx="254000" cy="254000"/>
          </a:xfrm>
          <a:prstGeom prst="downArrow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84" name="c"/>
          <p:cNvSpPr/>
          <p:nvPr/>
        </p:nvSpPr>
        <p:spPr>
          <a:xfrm>
            <a:off x="6959600" y="4902200"/>
            <a:ext cx="4394200" cy="838200"/>
          </a:xfrm>
          <a:prstGeom prst="roundRect">
            <a:avLst>
              <a:gd name="adj" fmla="val 12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36000" tIns="8000" rIns="36000" bIns="8000" anchor="ctr"/>
          <a:lstStyle/>
          <a:p>
            <a:pPr algn="ctr">
              <a:lnSpc>
                <a:spcPct val="150000"/>
              </a:lnSpc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문구 개정</a:t>
            </a:r>
          </a:p>
        </p:txBody>
      </p:sp>
      <p:sp>
        <p:nvSpPr>
          <p:cNvPr id="1085" name="loop"/>
          <p:cNvSpPr/>
          <p:nvPr/>
        </p:nvSpPr>
        <p:spPr>
          <a:xfrm>
            <a:off x="6207762" y="2514600"/>
            <a:ext cx="650238" cy="3124200"/>
          </a:xfrm>
          <a:prstGeom prst="upArrow">
            <a:avLst/>
          </a:prstGeom>
          <a:solidFill>
            <a:srgbClr val="C2603D"/>
          </a:solidFill>
          <a:ln>
            <a:noFill/>
          </a:ln>
        </p:spPr>
        <p:txBody>
          <a:bodyPr vert="vert270" wrap="none" lIns="0" tIns="0" rIns="0" bIns="0" anchor="ctr"/>
          <a:lstStyle/>
          <a:p>
            <a:pPr algn="ctr">
              <a:lnSpc>
                <a:spcPct val="150000"/>
              </a:lnSpc>
            </a:pPr>
            <a:r>
              <a:rPr lang="ko-KR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개선</a:t>
            </a:r>
          </a:p>
        </p:txBody>
      </p:sp>
    </p:spTree>
    <p:extLst>
      <p:ext uri="{BB962C8B-B14F-4D97-AF65-F5344CB8AC3E}">
        <p14:creationId xmlns:p14="http://schemas.microsoft.com/office/powerpoint/2010/main" val="24718487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노트 — 시스템 프롬프트와 가드레일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106045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지침의 위계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수준 지침이 응답 전반의 경계(가드레일)를 규정한다.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준거화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선언보다 '조건–행동' 규칙이 응답의 일관성을 높인다.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경계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개인정보·성적·평가 등 민감 영역은 명시적 금지선으로 차단한다.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폴백 설계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밖·불확실 시 정중한 거절과 교수자 에스컬레이션 규칙을 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125098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랩 — 튜터 가드레일 지침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954592" y="2103120"/>
            <a:ext cx="447540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범위·방식·안전·폴백 4영역을 적는다.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규칙별 위반 예시·모범 응답을 받는다.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질문으로 준수 여부를 확인한다.</a:t>
            </a:r>
          </a:p>
          <a:p>
            <a:pPr marL="228600" indent="-228600">
              <a:lnSpc>
                <a:spcPct val="150000"/>
              </a:lnSpc>
              <a:spcAft>
                <a:spcPts val="900"/>
              </a:spcAft>
              <a:buFont typeface="Arial"/>
              <a:buAutoNum type="arabicPeriod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어긋난 응대의 문구를 고친다.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sz="1300" i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금지 영역 질문을 정중히 거절하는가?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00" name="promptbox"/>
          <p:cNvSpPr/>
          <p:nvPr/>
        </p:nvSpPr>
        <p:spPr>
          <a:xfrm>
            <a:off x="546100" y="2108200"/>
            <a:ext cx="5461000" cy="4114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91440" rIns="80000" bIns="80000" anchor="t"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PROMPT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9FD3C7"/>
                </a:solidFill>
                <a:latin typeface="Consolas" pitchFamily="49" charset="0"/>
                <a:cs typeface="Consolas"/>
              </a:rPr>
              <a:t>당신은 '[과목]' 튜터입니다.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아래 규칙을 지키세요.</a:t>
            </a:r>
          </a:p>
          <a:p>
            <a:pPr>
              <a:lnSpc>
                <a:spcPct val="150000"/>
              </a:lnSpc>
            </a:pPr>
            <a:endParaRPr lang="ko-KR" sz="7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[범위] 다룰 주제 / 배제할 주제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[방식] 정답 대신 힌트 3단계,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    존중적 어조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[안전] 개인정보·성적·평가 문의는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      거절하고 교수자에 안내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[폴백] 근거 불확실 시 "확인되지 않음"</a:t>
            </a:r>
          </a:p>
          <a:p>
            <a:pPr>
              <a:lnSpc>
                <a:spcPct val="150000"/>
              </a:lnSpc>
            </a:pPr>
            <a:endParaRPr lang="ko-KR" sz="700" dirty="0"/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위반 질문 예시와 올바른 응답을</a:t>
            </a:r>
            <a:r>
              <a:rPr lang="ko-KR" altLang="en-US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 </a:t>
            </a: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함께 제시하세요.</a:t>
            </a:r>
          </a:p>
        </p:txBody>
      </p:sp>
    </p:spTree>
    <p:extLst>
      <p:ext uri="{BB962C8B-B14F-4D97-AF65-F5344CB8AC3E}">
        <p14:creationId xmlns:p14="http://schemas.microsoft.com/office/powerpoint/2010/main" val="36850802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예제집 — 튜터 지침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6100" y="2108200"/>
            <a:ext cx="110617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buNone/>
            </a:pP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 바로 쓰는 추가 프롬프트 — 변형용 · 후속/개선용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20" name="pbox"/>
          <p:cNvSpPr/>
          <p:nvPr/>
        </p:nvSpPr>
        <p:spPr>
          <a:xfrm>
            <a:off x="5461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8580" bIns="5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변형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튜터가 거절해야 할 질문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5개와, 각각의 정중한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거절·안내 문장을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작성해 주세요.</a:t>
            </a:r>
          </a:p>
        </p:txBody>
      </p:sp>
      <p:sp>
        <p:nvSpPr>
          <p:cNvPr id="721" name="pbox"/>
          <p:cNvSpPr/>
          <p:nvPr/>
        </p:nvSpPr>
        <p:spPr>
          <a:xfrm>
            <a:off x="6350000" y="2565400"/>
            <a:ext cx="5397500" cy="3098800"/>
          </a:xfrm>
          <a:prstGeom prst="roundRect">
            <a:avLst>
              <a:gd name="adj" fmla="val 5000"/>
            </a:avLst>
          </a:prstGeom>
          <a:solidFill>
            <a:srgbClr val="2A2622"/>
          </a:solidFill>
          <a:ln>
            <a:noFill/>
          </a:ln>
        </p:spPr>
        <p:txBody>
          <a:bodyPr wrap="square" lIns="100000" tIns="78000" rIns="68580" bIns="50000" anchor="t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E0A05E"/>
                </a:solidFill>
                <a:latin typeface="Consolas" pitchFamily="49" charset="0"/>
                <a:cs typeface="Consolas"/>
              </a:rPr>
              <a:t>후속·개선 ›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이 튜터 지침을 학생이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이해하기 쉬운 5개 규칙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문장으로 요약·압축해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E9E0D5"/>
                </a:solidFill>
                <a:latin typeface="Consolas" pitchFamily="49" charset="0"/>
                <a:cs typeface="Consolas"/>
              </a:rPr>
              <a:t>주세요.</a:t>
            </a:r>
          </a:p>
        </p:txBody>
      </p:sp>
      <p:sp>
        <p:nvSpPr>
          <p:cNvPr id="730" name="tip"/>
          <p:cNvSpPr/>
          <p:nvPr/>
        </p:nvSpPr>
        <p:spPr>
          <a:xfrm>
            <a:off x="546100" y="5791200"/>
            <a:ext cx="11201400" cy="508000"/>
          </a:xfrm>
          <a:prstGeom prst="roundRect">
            <a:avLst>
              <a:gd name="adj" fmla="val 18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lIns="91440" tIns="0" rIns="91440" bIns="0" anchor="ctr"/>
          <a:lstStyle/>
          <a:p>
            <a:pPr>
              <a:lnSpc>
                <a:spcPct val="150000"/>
              </a:lnSpc>
            </a:pPr>
            <a:r>
              <a:rPr lang="ko-KR" sz="13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 </a:t>
            </a: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대괄호 [ ]는 본인 과목 내용으로 바꿔 입력하고, 출력이 길면 "표로 정리"·"예시 추가"로 이어서 요청하세요.</a:t>
            </a:r>
          </a:p>
        </p:txBody>
      </p:sp>
    </p:spTree>
    <p:extLst>
      <p:ext uri="{BB962C8B-B14F-4D97-AF65-F5344CB8AC3E}">
        <p14:creationId xmlns:p14="http://schemas.microsoft.com/office/powerpoint/2010/main" val="35660001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6교시 · 16:00–16:50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과제 &amp; 체크리스트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레드팀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우회를 시도하는 질문을 만들어 시험한다.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어조 점검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거절 시 어조가 존중적인지 확인한다.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관리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지침 개정 이력을 간단히 기록한다.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card"/>
          <p:cNvSpPr/>
          <p:nvPr/>
        </p:nvSpPr>
        <p:spPr>
          <a:xfrm>
            <a:off x="6299200" y="2108200"/>
            <a:ext cx="5130800" cy="38100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18000" tIns="100000" rIns="64000" bIns="64000" anchor="t"/>
          <a:lstStyle/>
          <a:p>
            <a:pPr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체크리스트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범위(다룰/배제)를 규정했다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 단계·어조를 정의했다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금지선을 명시했다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폴백 규칙을 작성했다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질문으로 검증했다</a:t>
            </a:r>
          </a:p>
        </p:txBody>
      </p:sp>
    </p:spTree>
    <p:extLst>
      <p:ext uri="{BB962C8B-B14F-4D97-AF65-F5344CB8AC3E}">
        <p14:creationId xmlns:p14="http://schemas.microsoft.com/office/powerpoint/2010/main" val="40528745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9A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  ·  17:00–17:50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&amp; 마무리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산출물을 동료에게 간결하게 설명한다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적용을 위한 후속 단계를 구체화한다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6BE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활용을 위한 자료·지원 창구를 확보한다</a:t>
            </a:r>
            <a:endParaRPr lang="en-US" sz="15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F55E44E-3E47-D0DD-61C1-02BB6766DC75}"/>
              </a:ext>
            </a:extLst>
          </p:cNvPr>
          <p:cNvGrpSpPr/>
          <p:nvPr/>
        </p:nvGrpSpPr>
        <p:grpSpPr>
          <a:xfrm>
            <a:off x="10566426" y="631351"/>
            <a:ext cx="1117600" cy="1117600"/>
            <a:chOff x="10115666" y="1808408"/>
            <a:chExt cx="1117600" cy="1117600"/>
          </a:xfrm>
        </p:grpSpPr>
        <p:sp>
          <p:nvSpPr>
            <p:cNvPr id="6" name="csq">
              <a:extLst>
                <a:ext uri="{FF2B5EF4-FFF2-40B4-BE49-F238E27FC236}">
                  <a16:creationId xmlns:a16="http://schemas.microsoft.com/office/drawing/2014/main" id="{37386906-AD49-ED1D-C55E-F1CE1F97003E}"/>
                </a:ext>
              </a:extLst>
            </p:cNvPr>
            <p:cNvSpPr/>
            <p:nvPr/>
          </p:nvSpPr>
          <p:spPr>
            <a:xfrm>
              <a:off x="10115666" y="1808408"/>
              <a:ext cx="1117600" cy="1117600"/>
            </a:xfrm>
            <a:prstGeom prst="roundRect">
              <a:avLst>
                <a:gd name="adj" fmla="val 24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06158C4-8F6E-54B3-9695-D734F88983CF}"/>
                </a:ext>
              </a:extLst>
            </p:cNvPr>
            <p:cNvGrpSpPr/>
            <p:nvPr/>
          </p:nvGrpSpPr>
          <p:grpSpPr>
            <a:xfrm>
              <a:off x="10205720" y="1887220"/>
              <a:ext cx="921626" cy="921626"/>
              <a:chOff x="10439400" y="914400"/>
              <a:chExt cx="711200" cy="711200"/>
            </a:xfrm>
          </p:grpSpPr>
          <p:sp>
            <p:nvSpPr>
              <p:cNvPr id="8" name="cr0">
                <a:extLst>
                  <a:ext uri="{FF2B5EF4-FFF2-40B4-BE49-F238E27FC236}">
                    <a16:creationId xmlns:a16="http://schemas.microsoft.com/office/drawing/2014/main" id="{648760F6-7F5B-B914-5087-061A90B96C32}"/>
                  </a:ext>
                </a:extLst>
              </p:cNvPr>
              <p:cNvSpPr/>
              <p:nvPr/>
            </p:nvSpPr>
            <p:spPr>
              <a:xfrm>
                <a:off x="10763250" y="914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9" name="cr1">
                <a:extLst>
                  <a:ext uri="{FF2B5EF4-FFF2-40B4-BE49-F238E27FC236}">
                    <a16:creationId xmlns:a16="http://schemas.microsoft.com/office/drawing/2014/main" id="{3BE7BC91-6014-F693-BF78-8B5A6C606C34}"/>
                  </a:ext>
                </a:extLst>
              </p:cNvPr>
              <p:cNvSpPr/>
              <p:nvPr/>
            </p:nvSpPr>
            <p:spPr>
              <a:xfrm rot="1800000">
                <a:off x="108585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0" name="cr2">
                <a:extLst>
                  <a:ext uri="{FF2B5EF4-FFF2-40B4-BE49-F238E27FC236}">
                    <a16:creationId xmlns:a16="http://schemas.microsoft.com/office/drawing/2014/main" id="{C7860D3B-9C0E-B061-F7D2-3B65C065C179}"/>
                  </a:ext>
                </a:extLst>
              </p:cNvPr>
              <p:cNvSpPr/>
              <p:nvPr/>
            </p:nvSpPr>
            <p:spPr>
              <a:xfrm rot="3600000">
                <a:off x="10928228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1" name="cr3">
                <a:extLst>
                  <a:ext uri="{FF2B5EF4-FFF2-40B4-BE49-F238E27FC236}">
                    <a16:creationId xmlns:a16="http://schemas.microsoft.com/office/drawing/2014/main" id="{6DE1B141-2F34-6BF5-0290-5A63AF26C577}"/>
                  </a:ext>
                </a:extLst>
              </p:cNvPr>
              <p:cNvSpPr/>
              <p:nvPr/>
            </p:nvSpPr>
            <p:spPr>
              <a:xfrm rot="5400000">
                <a:off x="10953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2" name="cr4">
                <a:extLst>
                  <a:ext uri="{FF2B5EF4-FFF2-40B4-BE49-F238E27FC236}">
                    <a16:creationId xmlns:a16="http://schemas.microsoft.com/office/drawing/2014/main" id="{B8525ACC-C678-060C-B9B6-697B5E5F3C17}"/>
                  </a:ext>
                </a:extLst>
              </p:cNvPr>
              <p:cNvSpPr/>
              <p:nvPr/>
            </p:nvSpPr>
            <p:spPr>
              <a:xfrm rot="7200000">
                <a:off x="10928228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3" name="cr5">
                <a:extLst>
                  <a:ext uri="{FF2B5EF4-FFF2-40B4-BE49-F238E27FC236}">
                    <a16:creationId xmlns:a16="http://schemas.microsoft.com/office/drawing/2014/main" id="{9DEC6C58-4EA7-77F7-9175-8B6844A4D00C}"/>
                  </a:ext>
                </a:extLst>
              </p:cNvPr>
              <p:cNvSpPr/>
              <p:nvPr/>
            </p:nvSpPr>
            <p:spPr>
              <a:xfrm rot="9000000">
                <a:off x="108585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4" name="cr6">
                <a:extLst>
                  <a:ext uri="{FF2B5EF4-FFF2-40B4-BE49-F238E27FC236}">
                    <a16:creationId xmlns:a16="http://schemas.microsoft.com/office/drawing/2014/main" id="{E7B754DA-E8C3-3AE2-F27A-0D8AED7D9C22}"/>
                  </a:ext>
                </a:extLst>
              </p:cNvPr>
              <p:cNvSpPr/>
              <p:nvPr/>
            </p:nvSpPr>
            <p:spPr>
              <a:xfrm rot="10800000">
                <a:off x="10763250" y="12954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5" name="cr7">
                <a:extLst>
                  <a:ext uri="{FF2B5EF4-FFF2-40B4-BE49-F238E27FC236}">
                    <a16:creationId xmlns:a16="http://schemas.microsoft.com/office/drawing/2014/main" id="{C1C5D12C-412E-5DD9-C3D6-06D5EB870990}"/>
                  </a:ext>
                </a:extLst>
              </p:cNvPr>
              <p:cNvSpPr/>
              <p:nvPr/>
            </p:nvSpPr>
            <p:spPr>
              <a:xfrm rot="12600000">
                <a:off x="10668000" y="1269878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6" name="cr8">
                <a:extLst>
                  <a:ext uri="{FF2B5EF4-FFF2-40B4-BE49-F238E27FC236}">
                    <a16:creationId xmlns:a16="http://schemas.microsoft.com/office/drawing/2014/main" id="{8CAF8589-81E9-2AC5-8708-4E42FBE0B6AA}"/>
                  </a:ext>
                </a:extLst>
              </p:cNvPr>
              <p:cNvSpPr/>
              <p:nvPr/>
            </p:nvSpPr>
            <p:spPr>
              <a:xfrm rot="14400000">
                <a:off x="10598272" y="12001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7" name="cr9">
                <a:extLst>
                  <a:ext uri="{FF2B5EF4-FFF2-40B4-BE49-F238E27FC236}">
                    <a16:creationId xmlns:a16="http://schemas.microsoft.com/office/drawing/2014/main" id="{62DE2BD5-BEDF-6B55-41B7-628618CF2A08}"/>
                  </a:ext>
                </a:extLst>
              </p:cNvPr>
              <p:cNvSpPr/>
              <p:nvPr/>
            </p:nvSpPr>
            <p:spPr>
              <a:xfrm rot="16200000">
                <a:off x="10572750" y="110490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8" name="cr10">
                <a:extLst>
                  <a:ext uri="{FF2B5EF4-FFF2-40B4-BE49-F238E27FC236}">
                    <a16:creationId xmlns:a16="http://schemas.microsoft.com/office/drawing/2014/main" id="{75E9F0CD-08F6-C277-C54A-FBE9183168A9}"/>
                  </a:ext>
                </a:extLst>
              </p:cNvPr>
              <p:cNvSpPr/>
              <p:nvPr/>
            </p:nvSpPr>
            <p:spPr>
              <a:xfrm rot="18000000">
                <a:off x="10598272" y="1009650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  <p:sp>
            <p:nvSpPr>
              <p:cNvPr id="19" name="cr11">
                <a:extLst>
                  <a:ext uri="{FF2B5EF4-FFF2-40B4-BE49-F238E27FC236}">
                    <a16:creationId xmlns:a16="http://schemas.microsoft.com/office/drawing/2014/main" id="{0189E191-9CE8-73CE-D883-AB57F53DAFD6}"/>
                  </a:ext>
                </a:extLst>
              </p:cNvPr>
              <p:cNvSpPr/>
              <p:nvPr/>
            </p:nvSpPr>
            <p:spPr>
              <a:xfrm rot="19800000">
                <a:off x="10668000" y="939922"/>
                <a:ext cx="63500" cy="330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ko-K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49943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2일 과정 종합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+ Day 2 종합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연구·업무 활용과 Day 2 교과목 설계를 하나의 흐름으로 잇는다.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산출물 회고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이틀간 만든 접목 지도·강의안·문항·PBL·에이전트를 함께 돌아본다.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 달성 점검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세운 목표에 얼마나 도달했는지 스스로 점검한다.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061144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공유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발표 · 상호 피드백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결과물을 동료에게 짧게 설명하고 피드백을 주고받는다.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가능 자산 확인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학기에도 쓸 수 있는 자산이 무엇인지 가려낸다.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교환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전공의 접목 사례에서 새로운 적용 아이디어를 얻는다.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246941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이전(transfer) 원리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"금주에 1건" 적용 확정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안에 실제로 적용할 한 가지를 지금 정한다.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시작해 점진 확장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활동에서 시작해 성과를 확인하며 범위를 넓힌다.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행동으로 전이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것을 결심이 아닌 구체적 행동으로 옮긴다.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926487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실행 계획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/ 1개월 / 3개월 단위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과업을 세 시점으로 나눠 일정에 건다.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적용 과업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시점에 무엇을 끝낼지 구체적 과업으로 적는다.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지표 설정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잘되고 있는지 확인할 간단한 지표를 정한다.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1080" name="r"/>
          <p:cNvSpPr/>
          <p:nvPr/>
        </p:nvSpPr>
        <p:spPr>
          <a:xfrm>
            <a:off x="7918503" y="2231136"/>
            <a:ext cx="50800" cy="2540000"/>
          </a:xfrm>
          <a:prstGeom prst="rect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81" name="c"/>
          <p:cNvSpPr/>
          <p:nvPr/>
        </p:nvSpPr>
        <p:spPr>
          <a:xfrm>
            <a:off x="8274103" y="1786636"/>
            <a:ext cx="2998989" cy="889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" tIns="10000" rIns="36000" bIns="10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적용 1건 실행</a:t>
            </a:r>
          </a:p>
        </p:txBody>
      </p:sp>
      <p:sp>
        <p:nvSpPr>
          <p:cNvPr id="1082" name="r"/>
          <p:cNvSpPr/>
          <p:nvPr/>
        </p:nvSpPr>
        <p:spPr>
          <a:xfrm>
            <a:off x="7829603" y="2116836"/>
            <a:ext cx="228600" cy="2286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83" name="c"/>
          <p:cNvSpPr/>
          <p:nvPr/>
        </p:nvSpPr>
        <p:spPr>
          <a:xfrm>
            <a:off x="8274103" y="3056636"/>
            <a:ext cx="2998989" cy="889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" tIns="10000" rIns="36000" bIns="10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활동 정착·점검</a:t>
            </a:r>
          </a:p>
        </p:txBody>
      </p:sp>
      <p:sp>
        <p:nvSpPr>
          <p:cNvPr id="1084" name="r"/>
          <p:cNvSpPr/>
          <p:nvPr/>
        </p:nvSpPr>
        <p:spPr>
          <a:xfrm>
            <a:off x="7829603" y="3386836"/>
            <a:ext cx="228600" cy="2286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085" name="c"/>
          <p:cNvSpPr/>
          <p:nvPr/>
        </p:nvSpPr>
        <p:spPr>
          <a:xfrm>
            <a:off x="8274103" y="4326636"/>
            <a:ext cx="2998989" cy="889000"/>
          </a:xfrm>
          <a:prstGeom prst="roundRect">
            <a:avLst>
              <a:gd name="adj" fmla="val 9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64000" tIns="10000" rIns="36000" bIns="10000" anchor="ctr"/>
          <a:lstStyle/>
          <a:p>
            <a:pPr algn="l">
              <a:lnSpc>
                <a:spcPct val="150000"/>
              </a:lnSpc>
            </a:pPr>
            <a:r>
              <a:rPr lang="ko-KR" sz="16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</a:t>
            </a:r>
          </a:p>
          <a:p>
            <a:pPr algn="l">
              <a:lnSpc>
                <a:spcPct val="150000"/>
              </a:lnSpc>
            </a:pP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확장·지표 검토</a:t>
            </a:r>
          </a:p>
        </p:txBody>
      </p:sp>
      <p:sp>
        <p:nvSpPr>
          <p:cNvPr id="1086" name="r"/>
          <p:cNvSpPr/>
          <p:nvPr/>
        </p:nvSpPr>
        <p:spPr>
          <a:xfrm>
            <a:off x="7829603" y="4656836"/>
            <a:ext cx="228600" cy="228600"/>
          </a:xfrm>
          <a:prstGeom prst="ellipse">
            <a:avLst/>
          </a:prstGeom>
          <a:solidFill>
            <a:srgbClr val="C2603D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66286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&amp; 지속 지원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질의 일괄 응대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이틀간 모인 질문을 한 번에 정리해 답한다.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자료·지원 창구 안내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후 참고 자료와 문의 창구를 안내한다.</a:t>
            </a:r>
          </a:p>
          <a:p>
            <a:pPr marL="254000" indent="-2540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ko-KR" sz="18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학습 경로 제안</a:t>
            </a:r>
            <a:br>
              <a:rPr lang="ko-KR" sz="1600" dirty="0"/>
            </a:br>
            <a:r>
              <a:rPr lang="ko-KR" sz="16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깊이 배우고 싶을 때의 다음 단계를 제안한다.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197390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점검 — 2일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회고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산출물이 바로 쓸 수 있는 상태인지 점검한다.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미완 식별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보완이 필요한 1~2개를 표시한다.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7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1건 확정</a:t>
            </a:r>
            <a:br>
              <a:rPr lang="ko-KR" sz="1500" dirty="0"/>
            </a:br>
            <a:r>
              <a:rPr lang="ko-KR" sz="15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학기에 실제 적용할 1건을 고른다.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list"/>
          <p:cNvSpPr/>
          <p:nvPr/>
        </p:nvSpPr>
        <p:spPr>
          <a:xfrm>
            <a:off x="6299200" y="2108200"/>
            <a:ext cx="5130800" cy="41148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00000" tIns="80000" rIns="64000" bIns="40000" anchor="t"/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체크리스트</a:t>
            </a:r>
          </a:p>
          <a:p>
            <a:pPr marL="274000" indent="-274000">
              <a:lnSpc>
                <a:spcPct val="150000"/>
              </a:lnSpc>
              <a:spcAft>
                <a:spcPts val="600"/>
              </a:spcAft>
              <a:buFont typeface="맑은 고딕"/>
              <a:buChar char="□"/>
            </a:pPr>
            <a:r>
              <a:rPr lang="ko-KR" sz="14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접목 지도 (후보 3 + 근거)</a:t>
            </a:r>
          </a:p>
          <a:p>
            <a:pPr marL="274000" indent="-274000">
              <a:lnSpc>
                <a:spcPct val="150000"/>
              </a:lnSpc>
              <a:spcAft>
                <a:spcPts val="600"/>
              </a:spcAft>
              <a:buFont typeface="맑은 고딕"/>
              <a:buChar char="□"/>
            </a:pPr>
            <a:r>
              <a:rPr lang="ko-KR" sz="14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진단 + 한 주차 강의안</a:t>
            </a:r>
          </a:p>
          <a:p>
            <a:pPr marL="274000" indent="-274000">
              <a:lnSpc>
                <a:spcPct val="150000"/>
              </a:lnSpc>
              <a:spcAft>
                <a:spcPts val="600"/>
              </a:spcAft>
              <a:buFont typeface="맑은 고딕"/>
              <a:buChar char="□"/>
            </a:pPr>
            <a:r>
              <a:rPr lang="ko-KR" sz="14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 + 해설 + 진단적 오답</a:t>
            </a:r>
          </a:p>
          <a:p>
            <a:pPr marL="274000" indent="-274000">
              <a:lnSpc>
                <a:spcPct val="150000"/>
              </a:lnSpc>
              <a:spcAft>
                <a:spcPts val="600"/>
              </a:spcAft>
              <a:buFont typeface="맑은 고딕"/>
              <a:buChar char="□"/>
            </a:pPr>
            <a:r>
              <a:rPr lang="ko-KR" sz="14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PBL 시나리오 + 규칙 + 루브릭</a:t>
            </a:r>
          </a:p>
          <a:p>
            <a:pPr marL="274000" indent="-274000">
              <a:lnSpc>
                <a:spcPct val="150000"/>
              </a:lnSpc>
              <a:spcAft>
                <a:spcPts val="600"/>
              </a:spcAft>
              <a:buFont typeface="맑은 고딕"/>
              <a:buChar char="□"/>
            </a:pPr>
            <a:r>
              <a:rPr lang="ko-KR" sz="14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에이전트 (지식 + 지침)</a:t>
            </a:r>
          </a:p>
          <a:p>
            <a:pPr marL="274000" indent="-274000">
              <a:lnSpc>
                <a:spcPct val="150000"/>
              </a:lnSpc>
              <a:spcAft>
                <a:spcPts val="600"/>
              </a:spcAft>
              <a:buFont typeface="맑은 고딕"/>
              <a:buChar char="□"/>
            </a:pPr>
            <a:r>
              <a:rPr lang="ko-KR" sz="14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튜터 가드레일 지침</a:t>
            </a:r>
          </a:p>
        </p:txBody>
      </p:sp>
    </p:spTree>
    <p:extLst>
      <p:ext uri="{BB962C8B-B14F-4D97-AF65-F5344CB8AC3E}">
        <p14:creationId xmlns:p14="http://schemas.microsoft.com/office/powerpoint/2010/main" val="14459844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레퍼런스 — Claude 활용 치트시트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부여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"당신은 ~ 전문가입니다"로 관점을 설정한다.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구조 지정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번호·표·형식을 명시해 원하는 형태로 받는다.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한정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"자료에 없으면 모른다고"로 환각을 억제한다.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ard"/>
          <p:cNvSpPr/>
          <p:nvPr/>
        </p:nvSpPr>
        <p:spPr>
          <a:xfrm>
            <a:off x="6299200" y="2108200"/>
            <a:ext cx="5130800" cy="41148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91440" tIns="80000" rIns="64000" bIns="40000" anchor="t"/>
          <a:lstStyle/>
          <a:p>
            <a:pPr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패턴 (이어서)</a:t>
            </a:r>
          </a:p>
          <a:p>
            <a:pPr marL="254000" indent="-254000">
              <a:lnSpc>
                <a:spcPct val="15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힌트</a:t>
            </a:r>
            <a:br>
              <a:rPr lang="ko-KR" sz="1300" dirty="0"/>
            </a:b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"정답 대신 단계 힌트"로 학습을 유도한다.</a:t>
            </a:r>
          </a:p>
          <a:p>
            <a:pPr marL="254000" indent="-254000">
              <a:lnSpc>
                <a:spcPct val="15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개선</a:t>
            </a:r>
            <a:br>
              <a:rPr lang="ko-KR" sz="1300" dirty="0"/>
            </a:b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출력을 보고 조건을 더해 재요청한다.</a:t>
            </a:r>
          </a:p>
          <a:p>
            <a:pPr marL="254000" indent="-254000">
              <a:lnSpc>
                <a:spcPct val="15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5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습관</a:t>
            </a:r>
            <a:br>
              <a:rPr lang="ko-KR" sz="1300" dirty="0"/>
            </a:br>
            <a:r>
              <a:rPr lang="ko-KR" sz="13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사실·통계는 항상 교차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0475542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100584"/>
          </a:xfrm>
          <a:prstGeom prst="rect">
            <a:avLst/>
          </a:prstGeom>
          <a:solidFill>
            <a:srgbClr val="C2603D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· 7교시 · 17:00–17:50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· 지속 지원 안내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4700" y="2103120"/>
            <a:ext cx="5207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문서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 공식 가이드·프롬프트 문서를 참고한다. (docs.anthropic.com)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자료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슬라이드·실습 템플릿은 [강의 자료실]에서 받는다.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지원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질문은 [교수학습센터 문의 채널]로 문의한다.</a:t>
            </a:r>
          </a:p>
          <a:p>
            <a:pPr marL="254000" indent="-2540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16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br>
              <a:rPr lang="ko-KR" sz="1400" dirty="0"/>
            </a:br>
            <a:r>
              <a:rPr lang="ko-KR" sz="1400" dirty="0">
                <a:solidFill>
                  <a:srgbClr val="5A55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프롬프트·에이전트 설계 심화 학습을 권장한다.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 · Day 2 — AX 브릿지 교과목 설계</a:t>
            </a:r>
            <a:endParaRPr lang="en-US" sz="1000" dirty="0"/>
          </a:p>
        </p:txBody>
      </p:sp>
      <p:sp>
        <p:nvSpPr>
          <p:cNvPr id="710" name="checklist"/>
          <p:cNvSpPr/>
          <p:nvPr/>
        </p:nvSpPr>
        <p:spPr>
          <a:xfrm>
            <a:off x="6299200" y="2108200"/>
            <a:ext cx="5130800" cy="3683000"/>
          </a:xfrm>
          <a:prstGeom prst="roundRect">
            <a:avLst>
              <a:gd name="adj" fmla="val 5000"/>
            </a:avLst>
          </a:prstGeom>
          <a:solidFill>
            <a:srgbClr val="FBF7F2"/>
          </a:solidFill>
          <a:ln w="12700">
            <a:solidFill>
              <a:srgbClr val="E5DACE"/>
            </a:solidFill>
          </a:ln>
        </p:spPr>
        <p:txBody>
          <a:bodyPr wrap="square" lIns="100000" tIns="80000" rIns="64000" bIns="40000" anchor="t"/>
          <a:lstStyle/>
          <a:p>
            <a:pPr>
              <a:lnSpc>
                <a:spcPct val="150000"/>
              </a:lnSpc>
              <a:spcAft>
                <a:spcPts val="900"/>
              </a:spcAft>
              <a:buNone/>
            </a:pPr>
            <a:r>
              <a:rPr lang="ko-KR" sz="15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체크리스트</a:t>
            </a:r>
          </a:p>
          <a:p>
            <a:pPr marL="274000" indent="-27400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문서 북마크</a:t>
            </a:r>
          </a:p>
          <a:p>
            <a:pPr marL="274000" indent="-27400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템플릿 저장</a:t>
            </a:r>
          </a:p>
          <a:p>
            <a:pPr marL="274000" indent="-27400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1건 일정 등록</a:t>
            </a:r>
          </a:p>
          <a:p>
            <a:pPr marL="274000" indent="-274000">
              <a:lnSpc>
                <a:spcPct val="150000"/>
              </a:lnSpc>
              <a:spcAft>
                <a:spcPts val="800"/>
              </a:spcAft>
              <a:buFont typeface="맑은 고딕"/>
              <a:buChar char="□"/>
            </a:pPr>
            <a:r>
              <a:rPr lang="ko-KR" sz="1500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채널 확인</a:t>
            </a:r>
          </a:p>
        </p:txBody>
      </p:sp>
    </p:spTree>
    <p:extLst>
      <p:ext uri="{BB962C8B-B14F-4D97-AF65-F5344CB8AC3E}">
        <p14:creationId xmlns:p14="http://schemas.microsoft.com/office/powerpoint/2010/main" val="30146511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9BA60-8862-8B7C-F288-FFCFFA07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B99A4E-5F42-8D1C-6F2E-09E3EE27685C}"/>
              </a:ext>
            </a:extLst>
          </p:cNvPr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EFCAB4-18E5-14BA-02DD-3C6585A47470}"/>
              </a:ext>
            </a:extLst>
          </p:cNvPr>
          <p:cNvSpPr/>
          <p:nvPr/>
        </p:nvSpPr>
        <p:spPr>
          <a:xfrm>
            <a:off x="86868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6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조선대학교 AI특강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5FB126-E97A-E878-3E2C-0540FF7C3C0C}"/>
              </a:ext>
            </a:extLst>
          </p:cNvPr>
          <p:cNvSpPr/>
          <p:nvPr/>
        </p:nvSpPr>
        <p:spPr>
          <a:xfrm>
            <a:off x="86868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경청하여</a:t>
            </a: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54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주셔서</a:t>
            </a:r>
            <a:r>
              <a:rPr lang="en-US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54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r>
              <a:rPr lang="en-US" altLang="ko-KR" sz="5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endParaRPr lang="en-US" sz="5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C95364-8879-DE29-4408-6C2B9223B348}"/>
              </a:ext>
            </a:extLst>
          </p:cNvPr>
          <p:cNvSpPr/>
          <p:nvPr/>
        </p:nvSpPr>
        <p:spPr>
          <a:xfrm>
            <a:off x="918573" y="594229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altLang="ko-KR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aebon@hs.ac.kr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 | 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한신대학교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AI.SW대학</a:t>
            </a: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600" dirty="0" err="1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드림아이티비즈</a:t>
            </a:r>
            <a:r>
              <a:rPr lang="en-US" altLang="ko-KR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(DreamIT Biz)</a:t>
            </a:r>
            <a:endParaRPr lang="en-US" sz="16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425AA7C-43E1-B1E3-9AEC-E470186C9BB4}"/>
              </a:ext>
            </a:extLst>
          </p:cNvPr>
          <p:cNvGrpSpPr/>
          <p:nvPr/>
        </p:nvGrpSpPr>
        <p:grpSpPr>
          <a:xfrm>
            <a:off x="10083800" y="609600"/>
            <a:ext cx="1422400" cy="1422400"/>
            <a:chOff x="10083800" y="609600"/>
            <a:chExt cx="1422400" cy="1422400"/>
          </a:xfrm>
        </p:grpSpPr>
        <p:sp>
          <p:nvSpPr>
            <p:cNvPr id="900" name="clogo0">
              <a:extLst>
                <a:ext uri="{FF2B5EF4-FFF2-40B4-BE49-F238E27FC236}">
                  <a16:creationId xmlns:a16="http://schemas.microsoft.com/office/drawing/2014/main" id="{F5DBC86A-D0C2-4BC3-0ECE-D05A2EA04934}"/>
                </a:ext>
              </a:extLst>
            </p:cNvPr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1" name="clogo1">
              <a:extLst>
                <a:ext uri="{FF2B5EF4-FFF2-40B4-BE49-F238E27FC236}">
                  <a16:creationId xmlns:a16="http://schemas.microsoft.com/office/drawing/2014/main" id="{426BDD2D-C79F-9AFC-117D-52AE7D5381A9}"/>
                </a:ext>
              </a:extLst>
            </p:cNvPr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2" name="clogo2">
              <a:extLst>
                <a:ext uri="{FF2B5EF4-FFF2-40B4-BE49-F238E27FC236}">
                  <a16:creationId xmlns:a16="http://schemas.microsoft.com/office/drawing/2014/main" id="{45A038FF-F9A8-8E9F-F691-8474BDE3FA0A}"/>
                </a:ext>
              </a:extLst>
            </p:cNvPr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3" name="clogo3">
              <a:extLst>
                <a:ext uri="{FF2B5EF4-FFF2-40B4-BE49-F238E27FC236}">
                  <a16:creationId xmlns:a16="http://schemas.microsoft.com/office/drawing/2014/main" id="{66F929D6-4034-658E-CDB8-90136651BA52}"/>
                </a:ext>
              </a:extLst>
            </p:cNvPr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4" name="clogo4">
              <a:extLst>
                <a:ext uri="{FF2B5EF4-FFF2-40B4-BE49-F238E27FC236}">
                  <a16:creationId xmlns:a16="http://schemas.microsoft.com/office/drawing/2014/main" id="{1725FEBB-6721-4F65-7DDA-457479DBF3EF}"/>
                </a:ext>
              </a:extLst>
            </p:cNvPr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5" name="clogo5">
              <a:extLst>
                <a:ext uri="{FF2B5EF4-FFF2-40B4-BE49-F238E27FC236}">
                  <a16:creationId xmlns:a16="http://schemas.microsoft.com/office/drawing/2014/main" id="{F2A4F9B9-2C6B-6870-E378-9D2EA7FE41F7}"/>
                </a:ext>
              </a:extLst>
            </p:cNvPr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6" name="clogo6">
              <a:extLst>
                <a:ext uri="{FF2B5EF4-FFF2-40B4-BE49-F238E27FC236}">
                  <a16:creationId xmlns:a16="http://schemas.microsoft.com/office/drawing/2014/main" id="{EB5C40DA-1752-002C-1E65-4F54AAE2E74C}"/>
                </a:ext>
              </a:extLst>
            </p:cNvPr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7" name="clogo7">
              <a:extLst>
                <a:ext uri="{FF2B5EF4-FFF2-40B4-BE49-F238E27FC236}">
                  <a16:creationId xmlns:a16="http://schemas.microsoft.com/office/drawing/2014/main" id="{DAD56014-EA14-5C8E-E5C6-EDC6E5FCB0CE}"/>
                </a:ext>
              </a:extLst>
            </p:cNvPr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8" name="clogo8">
              <a:extLst>
                <a:ext uri="{FF2B5EF4-FFF2-40B4-BE49-F238E27FC236}">
                  <a16:creationId xmlns:a16="http://schemas.microsoft.com/office/drawing/2014/main" id="{95B34D4A-C2E3-3497-1131-B7DB0847202F}"/>
                </a:ext>
              </a:extLst>
            </p:cNvPr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09" name="clogo9">
              <a:extLst>
                <a:ext uri="{FF2B5EF4-FFF2-40B4-BE49-F238E27FC236}">
                  <a16:creationId xmlns:a16="http://schemas.microsoft.com/office/drawing/2014/main" id="{AAF94EC9-BB3E-45EB-6EAF-D3E230BDE40D}"/>
                </a:ext>
              </a:extLst>
            </p:cNvPr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10" name="clogo10">
              <a:extLst>
                <a:ext uri="{FF2B5EF4-FFF2-40B4-BE49-F238E27FC236}">
                  <a16:creationId xmlns:a16="http://schemas.microsoft.com/office/drawing/2014/main" id="{CE4C0449-A9AF-3716-86B8-3B13C34C40C8}"/>
                </a:ext>
              </a:extLst>
            </p:cNvPr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911" name="clogo11">
              <a:extLst>
                <a:ext uri="{FF2B5EF4-FFF2-40B4-BE49-F238E27FC236}">
                  <a16:creationId xmlns:a16="http://schemas.microsoft.com/office/drawing/2014/main" id="{30ED2727-0FB2-3099-CFAD-43292F02D111}"/>
                </a:ext>
              </a:extLst>
            </p:cNvPr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D599743-2D17-19CF-9E5A-FD62287C4CBE}"/>
              </a:ext>
            </a:extLst>
          </p:cNvPr>
          <p:cNvGrpSpPr/>
          <p:nvPr/>
        </p:nvGrpSpPr>
        <p:grpSpPr>
          <a:xfrm rot="741642">
            <a:off x="10858329" y="2102059"/>
            <a:ext cx="825082" cy="825082"/>
            <a:chOff x="10083800" y="609600"/>
            <a:chExt cx="1422400" cy="1422400"/>
          </a:xfrm>
        </p:grpSpPr>
        <p:sp>
          <p:nvSpPr>
            <p:cNvPr id="9" name="clogo0">
              <a:extLst>
                <a:ext uri="{FF2B5EF4-FFF2-40B4-BE49-F238E27FC236}">
                  <a16:creationId xmlns:a16="http://schemas.microsoft.com/office/drawing/2014/main" id="{F655EB57-FCAE-385D-42DD-D9544D4839B2}"/>
                </a:ext>
              </a:extLst>
            </p:cNvPr>
            <p:cNvSpPr/>
            <p:nvPr/>
          </p:nvSpPr>
          <p:spPr>
            <a:xfrm>
              <a:off x="10737850" y="609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" name="clogo1">
              <a:extLst>
                <a:ext uri="{FF2B5EF4-FFF2-40B4-BE49-F238E27FC236}">
                  <a16:creationId xmlns:a16="http://schemas.microsoft.com/office/drawing/2014/main" id="{4136562F-FB77-6941-1190-C465E085F3F9}"/>
                </a:ext>
              </a:extLst>
            </p:cNvPr>
            <p:cNvSpPr/>
            <p:nvPr/>
          </p:nvSpPr>
          <p:spPr>
            <a:xfrm rot="1800000">
              <a:off x="10928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" name="clogo2">
              <a:extLst>
                <a:ext uri="{FF2B5EF4-FFF2-40B4-BE49-F238E27FC236}">
                  <a16:creationId xmlns:a16="http://schemas.microsoft.com/office/drawing/2014/main" id="{363D2339-27FF-12B8-46CA-B95C3CFD07BD}"/>
                </a:ext>
              </a:extLst>
            </p:cNvPr>
            <p:cNvSpPr/>
            <p:nvPr/>
          </p:nvSpPr>
          <p:spPr>
            <a:xfrm rot="3600000">
              <a:off x="11067806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" name="clogo3">
              <a:extLst>
                <a:ext uri="{FF2B5EF4-FFF2-40B4-BE49-F238E27FC236}">
                  <a16:creationId xmlns:a16="http://schemas.microsoft.com/office/drawing/2014/main" id="{AF3337E3-6A57-96AA-84F0-252F57C8C8E8}"/>
                </a:ext>
              </a:extLst>
            </p:cNvPr>
            <p:cNvSpPr/>
            <p:nvPr/>
          </p:nvSpPr>
          <p:spPr>
            <a:xfrm rot="5400000">
              <a:off x="11118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3" name="clogo4">
              <a:extLst>
                <a:ext uri="{FF2B5EF4-FFF2-40B4-BE49-F238E27FC236}">
                  <a16:creationId xmlns:a16="http://schemas.microsoft.com/office/drawing/2014/main" id="{A6B8964B-9DE7-1E06-36D1-D4797A10E55F}"/>
                </a:ext>
              </a:extLst>
            </p:cNvPr>
            <p:cNvSpPr/>
            <p:nvPr/>
          </p:nvSpPr>
          <p:spPr>
            <a:xfrm rot="7200000">
              <a:off x="11067806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4" name="clogo5">
              <a:extLst>
                <a:ext uri="{FF2B5EF4-FFF2-40B4-BE49-F238E27FC236}">
                  <a16:creationId xmlns:a16="http://schemas.microsoft.com/office/drawing/2014/main" id="{36002B5C-98C7-CF89-66A2-88776BE4869A}"/>
                </a:ext>
              </a:extLst>
            </p:cNvPr>
            <p:cNvSpPr/>
            <p:nvPr/>
          </p:nvSpPr>
          <p:spPr>
            <a:xfrm rot="9000000">
              <a:off x="10928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5" name="clogo6">
              <a:extLst>
                <a:ext uri="{FF2B5EF4-FFF2-40B4-BE49-F238E27FC236}">
                  <a16:creationId xmlns:a16="http://schemas.microsoft.com/office/drawing/2014/main" id="{17F44EE1-52E8-98C2-247A-B77A1607FD9D}"/>
                </a:ext>
              </a:extLst>
            </p:cNvPr>
            <p:cNvSpPr/>
            <p:nvPr/>
          </p:nvSpPr>
          <p:spPr>
            <a:xfrm rot="10800000">
              <a:off x="10737850" y="1371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6" name="clogo7">
              <a:extLst>
                <a:ext uri="{FF2B5EF4-FFF2-40B4-BE49-F238E27FC236}">
                  <a16:creationId xmlns:a16="http://schemas.microsoft.com/office/drawing/2014/main" id="{E00D5CA1-787A-DCB5-8AC8-48AF985FF759}"/>
                </a:ext>
              </a:extLst>
            </p:cNvPr>
            <p:cNvSpPr/>
            <p:nvPr/>
          </p:nvSpPr>
          <p:spPr>
            <a:xfrm rot="12600000">
              <a:off x="10547350" y="1320556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7" name="clogo8">
              <a:extLst>
                <a:ext uri="{FF2B5EF4-FFF2-40B4-BE49-F238E27FC236}">
                  <a16:creationId xmlns:a16="http://schemas.microsoft.com/office/drawing/2014/main" id="{97A5DBB3-BD1C-01C7-C5F7-F72CBF137AD0}"/>
                </a:ext>
              </a:extLst>
            </p:cNvPr>
            <p:cNvSpPr/>
            <p:nvPr/>
          </p:nvSpPr>
          <p:spPr>
            <a:xfrm rot="14400000">
              <a:off x="10407894" y="1181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8" name="clogo9">
              <a:extLst>
                <a:ext uri="{FF2B5EF4-FFF2-40B4-BE49-F238E27FC236}">
                  <a16:creationId xmlns:a16="http://schemas.microsoft.com/office/drawing/2014/main" id="{2DA98002-0622-0E01-1F3F-30192FA3BAF9}"/>
                </a:ext>
              </a:extLst>
            </p:cNvPr>
            <p:cNvSpPr/>
            <p:nvPr/>
          </p:nvSpPr>
          <p:spPr>
            <a:xfrm rot="16200000">
              <a:off x="10356850" y="9906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9" name="clogo10">
              <a:extLst>
                <a:ext uri="{FF2B5EF4-FFF2-40B4-BE49-F238E27FC236}">
                  <a16:creationId xmlns:a16="http://schemas.microsoft.com/office/drawing/2014/main" id="{D930ACDF-D5FA-0FF7-36C7-3CBDA48E35E9}"/>
                </a:ext>
              </a:extLst>
            </p:cNvPr>
            <p:cNvSpPr/>
            <p:nvPr/>
          </p:nvSpPr>
          <p:spPr>
            <a:xfrm rot="18000000">
              <a:off x="10407894" y="800100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" name="clogo11">
              <a:extLst>
                <a:ext uri="{FF2B5EF4-FFF2-40B4-BE49-F238E27FC236}">
                  <a16:creationId xmlns:a16="http://schemas.microsoft.com/office/drawing/2014/main" id="{0B14ED63-ECD9-88CC-3A0A-6AE266D7B70A}"/>
                </a:ext>
              </a:extLst>
            </p:cNvPr>
            <p:cNvSpPr/>
            <p:nvPr/>
          </p:nvSpPr>
          <p:spPr>
            <a:xfrm rot="19800000">
              <a:off x="10547350" y="660644"/>
              <a:ext cx="114300" cy="660400"/>
            </a:xfrm>
            <a:prstGeom prst="roundRect">
              <a:avLst>
                <a:gd name="adj" fmla="val 50000"/>
              </a:avLst>
            </a:prstGeom>
            <a:solidFill>
              <a:srgbClr val="D97757"/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21" name="Text 3">
            <a:extLst>
              <a:ext uri="{FF2B5EF4-FFF2-40B4-BE49-F238E27FC236}">
                <a16:creationId xmlns:a16="http://schemas.microsoft.com/office/drawing/2014/main" id="{2928DEF4-3D0B-AAB4-A00D-1C3FFCEE4CF8}"/>
              </a:ext>
            </a:extLst>
          </p:cNvPr>
          <p:cNvSpPr/>
          <p:nvPr/>
        </p:nvSpPr>
        <p:spPr>
          <a:xfrm>
            <a:off x="86868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B19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브릿지 교과목 설계</a:t>
            </a:r>
            <a:endParaRPr lang="en-US" sz="32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96B268B-FC0B-EEF8-097D-BEA94ACEF530}"/>
              </a:ext>
            </a:extLst>
          </p:cNvPr>
          <p:cNvSpPr/>
          <p:nvPr/>
        </p:nvSpPr>
        <p:spPr>
          <a:xfrm>
            <a:off x="86868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7A71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6.25 THU  ·  10:00–18:00  ·  7교시 (50분 수업 + 10분 휴식)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660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6F52BA-CE8F-7940-987C-22256EDC04A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b944e82-068e-48be-9256-4c5c3b93629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6235</Words>
  <Application>Microsoft Macintosh PowerPoint</Application>
  <PresentationFormat>와이드스크린</PresentationFormat>
  <Paragraphs>834</Paragraphs>
  <Slides>77</Slides>
  <Notes>77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1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조선대학교 AI특강 Day 2 — AX 브릿지 교과목 설계</dc:title>
  <dc:subject>PptxGenJS Presentation</dc:subject>
  <dc:creator>조선대학교 AI특강</dc:creator>
  <cp:lastModifiedBy>이애본</cp:lastModifiedBy>
  <cp:revision>5</cp:revision>
  <dcterms:created xsi:type="dcterms:W3CDTF">2026-06-19T21:54:21Z</dcterms:created>
  <dcterms:modified xsi:type="dcterms:W3CDTF">2026-06-20T15:03:19Z</dcterms:modified>
</cp:coreProperties>
</file>