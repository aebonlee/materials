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192250" y="-2381250"/>
            <a:ext cx="7429500" cy="7429500"/>
          </a:xfrm>
          <a:prstGeom prst="ellipse">
            <a:avLst/>
          </a:prstGeom>
          <a:solidFill>
            <a:srgbClr val="F1F4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5430500" y="-1143000"/>
            <a:ext cx="4953000" cy="4953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15906750" y="5905500"/>
            <a:ext cx="4953000" cy="49530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deckgen:decor"/>
          <p:cNvSpPr/>
          <p:nvPr/>
        </p:nvSpPr>
        <p:spPr>
          <a:xfrm>
            <a:off x="-1714500" y="2857500"/>
            <a:ext cx="2857500" cy="28575"/>
          </a:xfrm>
          <a:prstGeom prst="rect">
            <a:avLst/>
          </a:prstGeom>
          <a:solidFill>
            <a:srgbClr val="E7E9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deckgen:decor"/>
          <p:cNvSpPr/>
          <p:nvPr/>
        </p:nvSpPr>
        <p:spPr>
          <a:xfrm>
            <a:off x="-2857500" y="6953250"/>
            <a:ext cx="6953250" cy="6953250"/>
          </a:xfrm>
          <a:prstGeom prst="ellipse">
            <a:avLst/>
          </a:prstGeom>
          <a:solidFill>
            <a:srgbClr val="EEF1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deckgen:decor"/>
          <p:cNvSpPr/>
          <p:nvPr/>
        </p:nvSpPr>
        <p:spPr>
          <a:xfrm>
            <a:off x="-1581150" y="8229600"/>
            <a:ext cx="4400550" cy="440055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deckgen:decor"/>
          <p:cNvSpPr/>
          <p:nvPr/>
        </p:nvSpPr>
        <p:spPr>
          <a:xfrm>
            <a:off x="3390900" y="8953500"/>
            <a:ext cx="742950" cy="742950"/>
          </a:xfrm>
          <a:prstGeom prst="ellipse">
            <a:avLst/>
          </a:prstGeom>
          <a:solidFill>
            <a:srgbClr val="EBEDF1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deckgen:decor"/>
          <p:cNvSpPr/>
          <p:nvPr/>
        </p:nvSpPr>
        <p:spPr>
          <a:xfrm>
            <a:off x="4457700" y="9563100"/>
            <a:ext cx="342900" cy="342900"/>
          </a:xfrm>
          <a:prstGeom prst="ellipse">
            <a:avLst/>
          </a:prstGeom>
          <a:solidFill>
            <a:srgbClr val="E1E7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decor"/>
          <p:cNvSpPr/>
          <p:nvPr/>
        </p:nvSpPr>
        <p:spPr>
          <a:xfrm>
            <a:off x="1143000" y="9639300"/>
            <a:ext cx="1619250" cy="28575"/>
          </a:xfrm>
          <a:prstGeom prst="rect">
            <a:avLst/>
          </a:prstGeom>
          <a:solidFill>
            <a:srgbClr val="E7E9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348615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spc="12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바이브 코딩 1장 · 시작하기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3905250"/>
            <a:ext cx="16002000" cy="14660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300" b="1" spc="-347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바이브 코딩이란?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5580888"/>
            <a:ext cx="16002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300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말로 설명하면 코드가 나온다 — 그래서 무엇이 달라지나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72500" y="7677150"/>
            <a:ext cx="857250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AI·SW계열 · 웹프로그래밍</a:t>
            </a:r>
          </a:p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학습사이트 hs-web.dreamitbiz.com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바이브 코딩 1장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학습 목표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9814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4124325"/>
            <a:ext cx="533400" cy="5334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42481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39814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바이브 코딩이 무엇이고 무엇이 아닌지 한 문장으로 말할 수 있다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49720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5114925"/>
            <a:ext cx="533400" cy="5334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52387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49720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AI에게 맡길 일과 내가 판단해야 할 일을 구분할 수 있다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59626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6105525"/>
            <a:ext cx="533400" cy="5334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62293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59626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이 수업에서 AI를 어떻게 쓰는지 규칙을 안다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바이브 코딩 1장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바이브 코딩 1장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핵심 키워드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781300"/>
            <a:ext cx="1220480" cy="400050"/>
          </a:xfrm>
          <a:prstGeom prst="roundRect">
            <a:avLst>
              <a:gd name="adj" fmla="val 50000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1220480" cy="4000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바이브 코딩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458730" y="2781300"/>
            <a:ext cx="1837048" cy="400050"/>
          </a:xfrm>
          <a:prstGeom prst="roundRect">
            <a:avLst>
              <a:gd name="adj" fmla="val 50000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458730" y="2781300"/>
            <a:ext cx="1837048" cy="4000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AI 페어 프로그래밍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91028" y="2781300"/>
            <a:ext cx="991088" cy="400050"/>
          </a:xfrm>
          <a:prstGeom prst="roundRect">
            <a:avLst>
              <a:gd name="adj" fmla="val 50000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91028" y="2781300"/>
            <a:ext cx="991088" cy="4000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프롬프트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77366" y="2781300"/>
            <a:ext cx="1039383" cy="400050"/>
          </a:xfrm>
          <a:prstGeom prst="roundRect">
            <a:avLst>
              <a:gd name="adj" fmla="val 50000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77366" y="2781300"/>
            <a:ext cx="1039383" cy="4000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코드 리뷰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학습사이트의 본문에서 이 낱말들을 찾아 읽으면 이 시간의 뼈대가 잡힙니다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바이브 코딩 1장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바이브 코딩 1장 ·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66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한 문장으로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51435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5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바이브 코딩(vibe coding) 은 만들고 싶은 것을 우리말로 설명하면 AI가 코드를 써 주고, 사람은 그 결과를 보고 다시 말로 고쳐 나가는 개발 방식입니다.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바이브 코딩 1장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바이브 코딩 1장 ·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한 문장으로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87667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876675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428750" y="412432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28750" y="419100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397192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문법을 외워서 한 글자씩 타이핑하는 대신, 무엇을 만들지 설명하고 나온 것을 판단하는 일에 시간을 씁니다.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92442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43000" y="4924425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428750" y="517207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28750" y="523875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57400" y="501967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이 표현은 2025년 초 AI 연구자 안드레이 카파시(Andrej Karpathy)가 쓰기 시작해 빠르게 퍼졌습니다.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97217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143000" y="5972175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428750" y="621982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28750" y="628650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57400" y="606742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새로운 프로그래밍 언어가 아니라 일하는 방식을 가리키는 말입니다.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바이브 코딩 1장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바이브 코딩 1장 ·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66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무엇이 달라지고, 무엇이 그대로인가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바이브 코딩 1장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바이브 코딩 1장 ·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무엇이 달라지고, 무엇이 그대로인가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2194737" cy="590550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2194737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/>
            </a:r>
          </a:p>
        </p:txBody>
      </p:sp>
      <p:sp>
        <p:nvSpPr>
          <p:cNvPr id="10" name="Rectangle 9"/>
          <p:cNvSpPr/>
          <p:nvPr/>
        </p:nvSpPr>
        <p:spPr>
          <a:xfrm>
            <a:off x="3375837" y="2781300"/>
            <a:ext cx="5916133" cy="59055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75837" y="2781300"/>
            <a:ext cx="5916133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예전 방식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30070" y="2781300"/>
            <a:ext cx="7814930" cy="59055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30070" y="2781300"/>
            <a:ext cx="781493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바이브 코딩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3448050"/>
            <a:ext cx="2194737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8250" y="3448050"/>
            <a:ext cx="2004237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시작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375837" y="3448050"/>
            <a:ext cx="5916133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71087" y="3448050"/>
            <a:ext cx="5725633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문법책·검색으로 예제를 찾는다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330070" y="3448050"/>
            <a:ext cx="781493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25320" y="3448050"/>
            <a:ext cx="762443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만들고 싶은 것을 문장으로 적는다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171950"/>
            <a:ext cx="2194737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171950"/>
            <a:ext cx="2004237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첫 코드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375837" y="4171950"/>
            <a:ext cx="5916133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471087" y="4171950"/>
            <a:ext cx="5725633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내가 처음부터 친다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330070" y="4171950"/>
            <a:ext cx="781493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425320" y="4171950"/>
            <a:ext cx="762443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AI가 초안을 준다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4895850"/>
            <a:ext cx="2194737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38250" y="4895850"/>
            <a:ext cx="2004237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막혔을 때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375837" y="4895850"/>
            <a:ext cx="5916133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471087" y="4895850"/>
            <a:ext cx="5725633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오류 메시지를 검색한다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330070" y="4895850"/>
            <a:ext cx="781493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425320" y="4895850"/>
            <a:ext cx="762443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오류를 그대로 붙여 넣고 원인을 묻는다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5619750"/>
            <a:ext cx="2194737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5619750"/>
            <a:ext cx="2004237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걸리는 시간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375837" y="5619750"/>
            <a:ext cx="5916133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471087" y="5619750"/>
            <a:ext cx="5725633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초안까지가 오래 걸린다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330070" y="5619750"/>
            <a:ext cx="781493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425320" y="5619750"/>
            <a:ext cx="762443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초안은 몇 분, 확인이 대부분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143000" y="6343650"/>
            <a:ext cx="2194737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238250" y="6343650"/>
            <a:ext cx="2004237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필요한 능력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375837" y="6343650"/>
            <a:ext cx="5916133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471087" y="6343650"/>
            <a:ext cx="5725633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문법 암기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330070" y="6343650"/>
            <a:ext cx="781493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425320" y="6343650"/>
            <a:ext cx="762443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읽고 판단하는 힘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바이브 코딩 1장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바이브 코딩 1장 ·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무엇이 달라지고, 무엇이 그대로인가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87667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876675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428750" y="412432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28750" y="419100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397192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표의 마지막 줄이 이 수업의 핵심입니다.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92442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43000" y="4924425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428750" y="517207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28750" y="523875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57400" y="501967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바이브 코딩은 공부를 없애 주지 않습니다.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97217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143000" y="5972175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428750" y="621982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28750" y="628650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57400" y="606742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공부해야 할 대상을 "쓰는 법"에서 "읽고 고르는 법"으로 옮길 뿐입니다.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바이브 코딩 1장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바이브 코딩 1장 ·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66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AI가 잘하는 일과 못하는 일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바이브 코딩 1장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바이브 코딩 1장 ·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AI가 잘하는 일과 못하는 일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6819900" cy="590550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68199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맡겨도 좋은 일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01000" y="2781300"/>
            <a:ext cx="9144000" cy="59055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01000" y="2781300"/>
            <a:ext cx="91440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반드시 내가 확인할 일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448050"/>
            <a:ext cx="681990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38250" y="3448050"/>
            <a:ext cx="66294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틀에 박힌 코드 뼈대 만들기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01000" y="3448050"/>
            <a:ext cx="91440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96250" y="3448050"/>
            <a:ext cx="89535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요구사항을 제대로 반영했는지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171950"/>
            <a:ext cx="681990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38250" y="4171950"/>
            <a:ext cx="66294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문법 오류 찾기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01000" y="4171950"/>
            <a:ext cx="91440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96250" y="4171950"/>
            <a:ext cx="89535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동작이 실제로 맞는지 (직접 실행)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895850"/>
            <a:ext cx="681990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895850"/>
            <a:ext cx="66294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긴 코드를 설명해 주기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01000" y="4895850"/>
            <a:ext cx="91440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96250" y="4895850"/>
            <a:ext cx="89535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보안·개인정보 처리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5619750"/>
            <a:ext cx="681990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38250" y="5619750"/>
            <a:ext cx="66294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이름 짓기, 주석 달기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01000" y="5619750"/>
            <a:ext cx="91440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96250" y="5619750"/>
            <a:ext cx="89535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있지도 않은 기능을 지어내지 않았는지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143000" y="6343650"/>
            <a:ext cx="681990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238250" y="6343650"/>
            <a:ext cx="66294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비슷한 코드 반복 생성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001000" y="6343650"/>
            <a:ext cx="91440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096250" y="6343650"/>
            <a:ext cx="89535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외부 자료·수치의 사실 여부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바이브 코딩 1장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5678150" y="1181100"/>
            <a:ext cx="1466850" cy="590550"/>
          </a:xfrm>
          <a:prstGeom prst="roundRect">
            <a:avLst>
              <a:gd name="adj" fmla="val 50000"/>
            </a:avLst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60020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192500" y="1295400"/>
            <a:ext cx="7239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정리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41541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바이브 코딩 1장 · 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41541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AI는 "그럴듯한 것"을 만든다 — 사실인 것이 아니라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43000" y="335280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143000" y="3352800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428750" y="3600450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428750" y="366712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57400" y="344805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없는 함수·없는 옵션을 자신 있게 지어냅니다. 이것을 환각(hallucination) 이라고 합니다.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40055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43000" y="4400550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428750" y="4648200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428750" y="471487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57400" y="449580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몇 년 전 문법으로 답할 때가 있습니다. 새로 바뀐 규칙은 모를 수 있습니다.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143000" y="544830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143000" y="5448300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428750" y="5695950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428750" y="576262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57400" y="554355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내 화면을 보지 못합니다. 내가 알려 준 것만 압니다.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649605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143000" y="6496050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428750" y="6743700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428750" y="681037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57400" y="659130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그래서 실행해 보기 전에는 맞는지 알 수 없습니다. 확인은 언제나 사람 몫입니다.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바이브 코딩 1장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바이브 코딩 1장 ·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66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이 수업에서의 규칙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바이브 코딩 1장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바이브 코딩 1장 ·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이 수업에서의 규칙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35280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352800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428750" y="3600450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28750" y="366712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344805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AI를 쓰는 것은 권장합니다.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숨기지 않아도 됩니다.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40055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43000" y="4400550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428750" y="4648200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28750" y="471487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57400" y="449580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설명하지 못하는 코드는 제출하지 않습니다.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과제 발표 때 "이 줄은 왜 이렇게 했나요?"를 묻습니다.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44830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143000" y="5448300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428750" y="5695950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28750" y="576262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57400" y="554355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실행해 보지 않은 코드는 제출하지 않습니다.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화면에서 동작하는 것까지가 과제입니다.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143000" y="649605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143000" y="6496050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428750" y="6743700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428750" y="681037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57400" y="659130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AI에게 무엇을 어떻게 물었는지 함께 적습니다.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시험의 학습내역 증명이 이 항목입니다.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바이브 코딩 1장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바이브 코딩 1장 ·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이 수업에서의 규칙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87667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876675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428750" y="412432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28750" y="419100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397192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규칙 2번이 전부입니다.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92442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43000" y="4924425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428750" y="517207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28750" y="523875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57400" y="501967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AI가 써 준 코드를 읽고 고칠 수 있으면 이 수업의 목표를 이룬 것입니다.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97217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143000" y="5972175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428750" y="621982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28750" y="628650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57400" y="606742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그래서 2~13주차에 HTML·CSS·JavaScript를 직접 배웁니다 — AI의 답을 판단하기 위해서입니다.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바이브 코딩 1장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바이브 코딩 1장 ·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66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이 안내서를 읽는 순서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바이브 코딩 1장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바이브 코딩 1장 ·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이 안내서를 읽는 순서 (1/2)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87667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876675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428750" y="412432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28750" y="419100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397192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개발 환경 설치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코드를 쓰고 실행할 자리를 만듭니다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92442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43000" y="4924425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428750" y="517207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28750" y="523875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57400" y="501967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AI 코딩 도구 준비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어떤 도구를 어떻게 고르는지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97217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143000" y="5972175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428750" y="621982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28750" y="628650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57400" y="606742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바이브 코딩 활용법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요청문을 쓰고 고쳐 나가는 요령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바이브 코딩 1장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바이브 코딩 1장 ·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이 안내서를 읽는 순서 (2/2)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87667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876675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428750" y="412432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28750" y="419100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397192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AI API 키 다루기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사고가 가장 많이 나는 곳입니다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92442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43000" y="4924425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428750" y="517207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28750" y="523875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57400" y="501967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GitHub 사용법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백업하고 인터넷에 공개합니다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97217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143000" y="5972175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428750" y="621982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28750" y="628650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57400" y="606742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Supabase 사용법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로그인과 데이터 저장을 붙입니다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바이브 코딩 1장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바이브 코딩 1장 ·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이 안내서를 읽는 순서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440055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4400550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428750" y="4648200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28750" y="471487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449580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1~3장은 1주차 안에 끝내 두는 것이 좋습니다.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544830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43000" y="5448300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428750" y="5695950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28750" y="576262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57400" y="554355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4장은 실습 과제를 시작할 때, 5~6장은 Term 프로젝트를 만들 때 다시 펴 보게 됩니다.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바이브 코딩 1장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바이브 코딩 1장 · 스스로 확인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이만큼 되면 이 장은 끝입니다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9814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4124325"/>
            <a:ext cx="533400" cy="5334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42481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39814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바이브 코딩이 무엇인지 친구에게 한 문장으로 설명할 수 있다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49720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5114925"/>
            <a:ext cx="533400" cy="5334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52387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49720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AI가 지어낼 수 있다는 점(환각)을 이해했다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59626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6105525"/>
            <a:ext cx="533400" cy="5334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62293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59626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이 수업의 AI 사용 규칙 4가지를 읽었다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바이브 코딩 1장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바이브 코딩 1장 마무리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800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1장 마무리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47244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바이브 코딩이란? — 예상 15분 · 읽음 표시는 학습사이트에서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430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287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50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5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학습사이트의 「이 장을 다 읽었습니다」 단추로 읽음 표시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3726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583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346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5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회차마다 바뀌는 값(가격·한도·버전)은 공식 페이지에서 확인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28750" y="65151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05000" y="65151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막히면 「질문있어요」 — 30분 넘게 혼자 막혀 있지 않기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143000" y="7715250"/>
            <a:ext cx="47625" cy="81915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09700" y="7734300"/>
            <a:ext cx="85725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4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다음 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09700" y="8077200"/>
            <a:ext cx="85725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2장 · 개발 환경 설치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