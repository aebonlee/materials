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78" r:id="rId29"/>
    <p:sldId id="279" r:id="rId30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0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511" y="8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6222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hyperlink" Target="mailto:aebon@hs.ac.k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Relationship Id="rId4" Type="http://schemas.openxmlformats.org/officeDocument/2006/relationships/image" Target="../media/image18.jpg"/><Relationship Id="rId5" Type="http://schemas.openxmlformats.org/officeDocument/2006/relationships/image" Target="../media/image7.jpg"/><Relationship Id="rId6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0.png"/><Relationship Id="rId4" Type="http://schemas.openxmlformats.org/officeDocument/2006/relationships/image" Target="../media/image2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1.jp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798658" y="1473971"/>
            <a:ext cx="11163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798658" y="2283946"/>
            <a:ext cx="112782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kern="0" spc="-150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영상/숏폼 기획하기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798658" y="3266926"/>
            <a:ext cx="11073384" cy="7525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21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대본 · 스토리보드 · 자막까지</a:t>
            </a:r>
            <a:endParaRPr lang="en-US" sz="21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2100" b="1" kern="0" spc="-37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 통합 워크플로우 실전 가이드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802853" y="4988093"/>
            <a:ext cx="203088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 AUDIENCE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69297" y="5255098"/>
            <a:ext cx="240853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및 예비 크리에이터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320196" y="4988093"/>
            <a:ext cx="18672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DURATION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3320196" y="5255098"/>
            <a:ext cx="195498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8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60 MINUTE SESSION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49894" y="668743"/>
            <a:ext cx="2933395" cy="495605"/>
          </a:xfrm>
          <a:prstGeom prst="roundRect">
            <a:avLst>
              <a:gd name="adj" fmla="val 17740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073591" y="80224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8" dirty="0">
                <a:solidFill>
                  <a:srgbClr val="FF690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2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 t="10918" b="10918"/>
          <a:stretch/>
        </p:blipFill>
        <p:spPr>
          <a:xfrm>
            <a:off x="7038690" y="2350550"/>
            <a:ext cx="4543405" cy="266347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3AC16348-F8E3-C7E3-15D7-E5BF5D2A517B}"/>
              </a:ext>
            </a:extLst>
          </p:cNvPr>
          <p:cNvGrpSpPr/>
          <p:nvPr/>
        </p:nvGrpSpPr>
        <p:grpSpPr>
          <a:xfrm>
            <a:off x="8384632" y="5563394"/>
            <a:ext cx="2968317" cy="631851"/>
            <a:chOff x="609905" y="5558463"/>
            <a:chExt cx="2968317" cy="631851"/>
          </a:xfrm>
        </p:grpSpPr>
        <p:sp>
          <p:nvSpPr>
            <p:cNvPr id="3" name="Text 9">
              <a:extLst>
                <a:ext uri="{FF2B5EF4-FFF2-40B4-BE49-F238E27FC236}">
                  <a16:creationId xmlns:a16="http://schemas.microsoft.com/office/drawing/2014/main" id="{1732B504-7227-35B6-F512-40FD46F95011}"/>
                </a:ext>
              </a:extLst>
            </p:cNvPr>
            <p:cNvSpPr txBox="1"/>
            <p:nvPr/>
          </p:nvSpPr>
          <p:spPr>
            <a:xfrm>
              <a:off x="609905" y="5650992"/>
              <a:ext cx="400507" cy="2670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강사</a:t>
              </a:r>
              <a:endParaRPr lang="en-US" sz="1300" dirty="0"/>
            </a:p>
          </p:txBody>
        </p:sp>
        <p:sp>
          <p:nvSpPr>
            <p:cNvPr id="14" name="Shape 10">
              <a:extLst>
                <a:ext uri="{FF2B5EF4-FFF2-40B4-BE49-F238E27FC236}">
                  <a16:creationId xmlns:a16="http://schemas.microsoft.com/office/drawing/2014/main" id="{1B476E70-B853-908B-2A66-10AD8F1F12F2}"/>
                </a:ext>
              </a:extLst>
            </p:cNvPr>
            <p:cNvSpPr/>
            <p:nvPr/>
          </p:nvSpPr>
          <p:spPr>
            <a:xfrm>
              <a:off x="1077163" y="5631790"/>
              <a:ext cx="9144" cy="304495"/>
            </a:xfrm>
            <a:prstGeom prst="rect">
              <a:avLst/>
            </a:prstGeom>
            <a:solidFill>
              <a:srgbClr val="D1D5D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1">
              <a:extLst>
                <a:ext uri="{FF2B5EF4-FFF2-40B4-BE49-F238E27FC236}">
                  <a16:creationId xmlns:a16="http://schemas.microsoft.com/office/drawing/2014/main" id="{123C2C96-05A0-A97A-8813-4DD32BF70994}"/>
                </a:ext>
              </a:extLst>
            </p:cNvPr>
            <p:cNvSpPr txBox="1"/>
            <p:nvPr/>
          </p:nvSpPr>
          <p:spPr>
            <a:xfrm>
              <a:off x="609905" y="5558463"/>
              <a:ext cx="2968317" cy="63185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lnSpc>
                  <a:spcPct val="150000"/>
                </a:lnSpc>
                <a:buNone/>
              </a:pPr>
              <a:r>
                <a:rPr lang="ko-KR" altLang="en-US" sz="2000" b="1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애 본 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(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  <a:hlinkClick r:id="rId4"/>
                </a:rPr>
                <a:t>aebon@hs.ac.kr</a:t>
              </a:r>
              <a:r>
                <a:rPr lang="en-US" altLang="ko-KR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</a:t>
              </a:r>
            </a:p>
            <a:p>
              <a:pPr marL="0" indent="0" algn="r">
                <a:buNone/>
              </a:pP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한신대학교 </a:t>
              </a:r>
              <a:r>
                <a:rPr lang="en-US" altLang="ko-KR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AI.SW</a:t>
              </a:r>
              <a:r>
                <a:rPr lang="ko-KR" alt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대학</a:t>
              </a:r>
              <a:r>
                <a:rPr lang="ko-KR" altLang="en-US" sz="13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  <a:endParaRPr lang="en-US" sz="1300" dirty="0"/>
            </a:p>
          </p:txBody>
        </p:sp>
      </p:grpSp>
      <p:sp>
        <p:nvSpPr>
          <p:cNvPr id="16" name="Shape 3">
            <a:extLst>
              <a:ext uri="{FF2B5EF4-FFF2-40B4-BE49-F238E27FC236}">
                <a16:creationId xmlns:a16="http://schemas.microsoft.com/office/drawing/2014/main" id="{DC7D160D-01C6-A043-F63B-510351483054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A811397-3597-805E-8149-28D8150B0A29}"/>
              </a:ext>
            </a:extLst>
          </p:cNvPr>
          <p:cNvSpPr/>
          <p:nvPr/>
        </p:nvSpPr>
        <p:spPr>
          <a:xfrm>
            <a:off x="162559" y="926976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3">
            <a:extLst>
              <a:ext uri="{FF2B5EF4-FFF2-40B4-BE49-F238E27FC236}">
                <a16:creationId xmlns:a16="http://schemas.microsoft.com/office/drawing/2014/main" id="{7BC55023-EC43-6C92-87E4-A661BBF0FAC7}"/>
              </a:ext>
            </a:extLst>
          </p:cNvPr>
          <p:cNvSpPr/>
          <p:nvPr/>
        </p:nvSpPr>
        <p:spPr>
          <a:xfrm>
            <a:off x="4507063" y="1819461"/>
            <a:ext cx="3952884" cy="3952884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44ACE847-1EA8-ADF0-33A5-819A681FE1DB}"/>
              </a:ext>
            </a:extLst>
          </p:cNvPr>
          <p:cNvSpPr/>
          <p:nvPr/>
        </p:nvSpPr>
        <p:spPr>
          <a:xfrm>
            <a:off x="6748743" y="124597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91F10AD9-C1D5-E548-CFC9-56CF34F903A5}"/>
              </a:ext>
            </a:extLst>
          </p:cNvPr>
          <p:cNvSpPr/>
          <p:nvPr/>
        </p:nvSpPr>
        <p:spPr>
          <a:xfrm>
            <a:off x="10758013" y="5286672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57200" y="457200"/>
            <a:ext cx="1127821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목차</a:t>
            </a:r>
            <a:endParaRPr lang="en-US" sz="4200" dirty="0"/>
          </a:p>
        </p:txBody>
      </p:sp>
      <p:sp>
        <p:nvSpPr>
          <p:cNvPr id="6" name="Text 3"/>
          <p:cNvSpPr txBox="1"/>
          <p:nvPr/>
        </p:nvSpPr>
        <p:spPr>
          <a:xfrm>
            <a:off x="60990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800" dirty="0"/>
          </a:p>
        </p:txBody>
      </p:sp>
      <p:sp>
        <p:nvSpPr>
          <p:cNvPr id="7" name="Text 4"/>
          <p:cNvSpPr txBox="1"/>
          <p:nvPr/>
        </p:nvSpPr>
        <p:spPr>
          <a:xfrm>
            <a:off x="1371905" y="3839956"/>
            <a:ext cx="836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트렌드</a:t>
            </a:r>
            <a:endParaRPr lang="en-US" dirty="0"/>
          </a:p>
        </p:txBody>
      </p:sp>
      <p:sp>
        <p:nvSpPr>
          <p:cNvPr id="8" name="Text 5"/>
          <p:cNvSpPr txBox="1"/>
          <p:nvPr/>
        </p:nvSpPr>
        <p:spPr>
          <a:xfrm>
            <a:off x="1371905" y="4119763"/>
            <a:ext cx="14039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 콘텐츠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트렌드 분석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285018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3612185" y="3839956"/>
            <a:ext cx="9363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Why AI</a:t>
            </a:r>
            <a:endParaRPr lang="en-US" dirty="0"/>
          </a:p>
        </p:txBody>
      </p:sp>
      <p:sp>
        <p:nvSpPr>
          <p:cNvPr id="11" name="Text 8"/>
          <p:cNvSpPr txBox="1"/>
          <p:nvPr/>
        </p:nvSpPr>
        <p:spPr>
          <a:xfrm>
            <a:off x="3612185" y="4119763"/>
            <a:ext cx="15787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활용의 필요성과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4가지 핵심 이점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09046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800" dirty="0"/>
          </a:p>
        </p:txBody>
      </p:sp>
      <p:sp>
        <p:nvSpPr>
          <p:cNvPr id="13" name="Text 10"/>
          <p:cNvSpPr txBox="1"/>
          <p:nvPr/>
        </p:nvSpPr>
        <p:spPr>
          <a:xfrm>
            <a:off x="5852465" y="3839956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전략</a:t>
            </a:r>
            <a:endParaRPr lang="en-US" dirty="0"/>
          </a:p>
        </p:txBody>
      </p:sp>
      <p:sp>
        <p:nvSpPr>
          <p:cNvPr id="14" name="Text 11"/>
          <p:cNvSpPr txBox="1"/>
          <p:nvPr/>
        </p:nvSpPr>
        <p:spPr>
          <a:xfrm>
            <a:off x="5852465" y="4119763"/>
            <a:ext cx="152569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알고리즘을 이기는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5가지 필승 전략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3074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4800" dirty="0"/>
          </a:p>
        </p:txBody>
      </p:sp>
      <p:sp>
        <p:nvSpPr>
          <p:cNvPr id="16" name="Text 13"/>
          <p:cNvSpPr txBox="1"/>
          <p:nvPr/>
        </p:nvSpPr>
        <p:spPr>
          <a:xfrm>
            <a:off x="8092745" y="3839956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작성</a:t>
            </a:r>
            <a:endParaRPr lang="en-US" dirty="0"/>
          </a:p>
        </p:txBody>
      </p:sp>
      <p:sp>
        <p:nvSpPr>
          <p:cNvPr id="17" name="Text 14"/>
          <p:cNvSpPr txBox="1"/>
          <p:nvPr/>
        </p:nvSpPr>
        <p:spPr>
          <a:xfrm>
            <a:off x="8092745" y="4119763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프롬프트와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작법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9571025" y="3776864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4800" dirty="0"/>
          </a:p>
        </p:txBody>
      </p:sp>
      <p:sp>
        <p:nvSpPr>
          <p:cNvPr id="19" name="Text 16"/>
          <p:cNvSpPr txBox="1"/>
          <p:nvPr/>
        </p:nvSpPr>
        <p:spPr>
          <a:xfrm>
            <a:off x="10333025" y="3839956"/>
            <a:ext cx="132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endParaRPr lang="en-US" dirty="0"/>
          </a:p>
        </p:txBody>
      </p:sp>
      <p:sp>
        <p:nvSpPr>
          <p:cNvPr id="20" name="Text 17"/>
          <p:cNvSpPr txBox="1"/>
          <p:nvPr/>
        </p:nvSpPr>
        <p:spPr>
          <a:xfrm>
            <a:off x="10333025" y="4119763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 기획과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 요소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0990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1371905" y="5015309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 생성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1371905" y="5296030"/>
            <a:ext cx="136380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가독성을 높이는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자막 활용법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85018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4800" dirty="0"/>
          </a:p>
        </p:txBody>
      </p:sp>
      <p:sp>
        <p:nvSpPr>
          <p:cNvPr id="25" name="Text 22"/>
          <p:cNvSpPr txBox="1"/>
          <p:nvPr/>
        </p:nvSpPr>
        <p:spPr>
          <a:xfrm>
            <a:off x="3612185" y="5015309"/>
            <a:ext cx="13223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dirty="0"/>
          </a:p>
        </p:txBody>
      </p:sp>
      <p:sp>
        <p:nvSpPr>
          <p:cNvPr id="26" name="Text 23"/>
          <p:cNvSpPr txBox="1"/>
          <p:nvPr/>
        </p:nvSpPr>
        <p:spPr>
          <a:xfrm>
            <a:off x="3612185" y="5296030"/>
            <a:ext cx="118766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30분 완성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통합 프로세스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9046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4800" dirty="0"/>
          </a:p>
        </p:txBody>
      </p:sp>
      <p:sp>
        <p:nvSpPr>
          <p:cNvPr id="28" name="Text 25"/>
          <p:cNvSpPr txBox="1"/>
          <p:nvPr/>
        </p:nvSpPr>
        <p:spPr>
          <a:xfrm>
            <a:off x="5852465" y="5015309"/>
            <a:ext cx="11993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 사례</a:t>
            </a:r>
            <a:endParaRPr lang="en-US" dirty="0"/>
          </a:p>
        </p:txBody>
      </p:sp>
      <p:sp>
        <p:nvSpPr>
          <p:cNvPr id="29" name="Text 26"/>
          <p:cNvSpPr txBox="1"/>
          <p:nvPr/>
        </p:nvSpPr>
        <p:spPr>
          <a:xfrm>
            <a:off x="5852465" y="5296030"/>
            <a:ext cx="157879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공부법 숏폼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 케이스 스터디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733074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4800" dirty="0"/>
          </a:p>
        </p:txBody>
      </p:sp>
      <p:sp>
        <p:nvSpPr>
          <p:cNvPr id="31" name="Text 28"/>
          <p:cNvSpPr txBox="1"/>
          <p:nvPr/>
        </p:nvSpPr>
        <p:spPr>
          <a:xfrm>
            <a:off x="8092745" y="5015309"/>
            <a:ext cx="14596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실천 가이드</a:t>
            </a:r>
            <a:endParaRPr lang="en-US" dirty="0"/>
          </a:p>
        </p:txBody>
      </p:sp>
      <p:sp>
        <p:nvSpPr>
          <p:cNvPr id="32" name="Text 29"/>
          <p:cNvSpPr txBox="1"/>
          <p:nvPr/>
        </p:nvSpPr>
        <p:spPr>
          <a:xfrm>
            <a:off x="8092745" y="5296030"/>
            <a:ext cx="140395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플랜 및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 도구 리스트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9571025" y="4953131"/>
            <a:ext cx="811073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4800" dirty="0"/>
          </a:p>
        </p:txBody>
      </p:sp>
      <p:sp>
        <p:nvSpPr>
          <p:cNvPr id="34" name="Text 31"/>
          <p:cNvSpPr txBox="1"/>
          <p:nvPr/>
        </p:nvSpPr>
        <p:spPr>
          <a:xfrm>
            <a:off x="10333024" y="5015309"/>
            <a:ext cx="64757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Q&amp;A</a:t>
            </a:r>
            <a:endParaRPr lang="en-US" dirty="0"/>
          </a:p>
        </p:txBody>
      </p:sp>
      <p:sp>
        <p:nvSpPr>
          <p:cNvPr id="35" name="Text 32"/>
          <p:cNvSpPr txBox="1"/>
          <p:nvPr/>
        </p:nvSpPr>
        <p:spPr>
          <a:xfrm>
            <a:off x="10333025" y="5296030"/>
            <a:ext cx="101281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질의응답 및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</a:t>
            </a:r>
            <a:endParaRPr lang="en-US" sz="12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7549E963-EC24-654E-9054-9B86B8C1414C}"/>
              </a:ext>
            </a:extLst>
          </p:cNvPr>
          <p:cNvSpPr/>
          <p:nvPr/>
        </p:nvSpPr>
        <p:spPr>
          <a:xfrm>
            <a:off x="11209462" y="70243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3">
            <a:extLst>
              <a:ext uri="{FF2B5EF4-FFF2-40B4-BE49-F238E27FC236}">
                <a16:creationId xmlns:a16="http://schemas.microsoft.com/office/drawing/2014/main" id="{97B9DCBF-E314-5497-4547-C3AAB3C8C992}"/>
              </a:ext>
            </a:extLst>
          </p:cNvPr>
          <p:cNvSpPr/>
          <p:nvPr/>
        </p:nvSpPr>
        <p:spPr>
          <a:xfrm>
            <a:off x="-1247394" y="300190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99CA384-35B3-9D3D-AEA6-873D935D64A9}"/>
              </a:ext>
            </a:extLst>
          </p:cNvPr>
          <p:cNvSpPr/>
          <p:nvPr/>
        </p:nvSpPr>
        <p:spPr>
          <a:xfrm>
            <a:off x="1578780" y="-476339"/>
            <a:ext cx="4697527" cy="469752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">
            <a:extLst>
              <a:ext uri="{FF2B5EF4-FFF2-40B4-BE49-F238E27FC236}">
                <a16:creationId xmlns:a16="http://schemas.microsoft.com/office/drawing/2014/main" id="{56F225AD-A9C2-D459-2CCF-947064345DD1}"/>
              </a:ext>
            </a:extLst>
          </p:cNvPr>
          <p:cNvSpPr/>
          <p:nvPr/>
        </p:nvSpPr>
        <p:spPr>
          <a:xfrm>
            <a:off x="5283402" y="279131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preencoded.png">
            <a:extLst>
              <a:ext uri="{FF2B5EF4-FFF2-40B4-BE49-F238E27FC236}">
                <a16:creationId xmlns:a16="http://schemas.microsoft.com/office/drawing/2014/main" id="{49A450F7-1C90-6FB7-F4ED-201220307DE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681" b="37681"/>
          <a:stretch/>
        </p:blipFill>
        <p:spPr>
          <a:xfrm>
            <a:off x="609905" y="1514421"/>
            <a:ext cx="10972800" cy="1800454"/>
          </a:xfrm>
          <a:prstGeom prst="rect">
            <a:avLst/>
          </a:prstGeom>
        </p:spPr>
      </p:pic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78583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 숏폼 트렌드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한눈에 보기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238451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 및 후킹의 중요성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64993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최적 길이는 15–35초로, 첫 0–3초의 '후킹'이 이탈률을 결정하는 핵심 요소입니다.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3초 안에 시청자의 주의를 끌지 못하면 스크롤됩니다.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905" y="344180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756355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무음 시청 및 시각적 다양성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416783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지하철, 학교 등에서의 무음 시청을 대비해 자막과 온스크린 텍스트는 필수입니다.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2–3초 간격의 컷 전환과 줌인/아웃으로 지루함을 방지해야 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905" y="4960620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5275174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9:16 포맷과 UX 최적화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686654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세로형(9:16) 전체 화면을 활용하며, 텍스트가 UI(좋아요, 댓글 버튼 등)에 가려지지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않는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'안전 영역' 내에 배치되어야 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919265" y="2164385"/>
            <a:ext cx="4667098" cy="4086454"/>
          </a:xfrm>
          <a:prstGeom prst="roundRect">
            <a:avLst>
              <a:gd name="adj" fmla="val 156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19265" y="2164385"/>
            <a:ext cx="4667098" cy="4086454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391927D7-0E5E-91A6-63AE-099812AA62D8}"/>
              </a:ext>
            </a:extLst>
          </p:cNvPr>
          <p:cNvSpPr txBox="1"/>
          <p:nvPr/>
        </p:nvSpPr>
        <p:spPr>
          <a:xfrm>
            <a:off x="10635843" y="910742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6DCE2075-D094-83BF-20FD-BFC51526F55F}"/>
              </a:ext>
            </a:extLst>
          </p:cNvPr>
          <p:cNvSpPr/>
          <p:nvPr/>
        </p:nvSpPr>
        <p:spPr>
          <a:xfrm>
            <a:off x="6122870" y="1062533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7A4CD29F-8E4C-6C6B-E962-DD93100A7876}"/>
              </a:ext>
            </a:extLst>
          </p:cNvPr>
          <p:cNvSpPr/>
          <p:nvPr/>
        </p:nvSpPr>
        <p:spPr>
          <a:xfrm>
            <a:off x="-883268" y="-737006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Image 0" descr="preencoded.png">
            <a:extLst>
              <a:ext uri="{FF2B5EF4-FFF2-40B4-BE49-F238E27FC236}">
                <a16:creationId xmlns:a16="http://schemas.microsoft.com/office/drawing/2014/main" id="{C20FCA2A-16AB-6DE2-203A-4FC67883FAF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31" r="12531"/>
          <a:stretch/>
        </p:blipFill>
        <p:spPr>
          <a:xfrm>
            <a:off x="6919265" y="1577340"/>
            <a:ext cx="4667098" cy="4677156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605637" y="609905"/>
            <a:ext cx="78583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 왜 AI인가?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속도 · 일관성 · 데이터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260129" y="647395"/>
            <a:ext cx="232531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VIDEO PRODUCTION STRATEGY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2238451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압도적인 제작 속도와 비용 절감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64993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아이데이션부터 자막 생성까지 AI로 자동화하여 제작 속도를 2~3배 향상시키며,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번역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로컬라이제이션 비용을 획기적으로 줄여줍니다.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09905" y="344180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756355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기반의 A/B 스크립트 실험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416783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AI를 활용해 다양한 후킹과 전개 방식의 대본을 빠르게 생성하고 테스트함으로써,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(Retention)이 가장 높은 최적의 구성을 발굴합니다.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905" y="4960620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5275174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시스템화된 템플릿 운영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686654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성공한 포맷을 템플릿화하여 반복 재생산 가능한 시스템을 구축함으로써,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크리에이터도 전문 팀 수준의 일관된 퀄리티를 유지할 수 있습니다.</a:t>
            </a:r>
            <a:endParaRPr lang="en-US" sz="12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6B4CD9E6-6D5E-6EFD-8A04-1D4575B58C32}"/>
              </a:ext>
            </a:extLst>
          </p:cNvPr>
          <p:cNvSpPr txBox="1"/>
          <p:nvPr/>
        </p:nvSpPr>
        <p:spPr>
          <a:xfrm>
            <a:off x="6925299" y="560070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4CE976BC-8D9E-9C27-9CCE-36F4FA9A4599}"/>
              </a:ext>
            </a:extLst>
          </p:cNvPr>
          <p:cNvSpPr/>
          <p:nvPr/>
        </p:nvSpPr>
        <p:spPr>
          <a:xfrm>
            <a:off x="-807768" y="5731710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6B4DCBE1-D26B-A3B8-188C-A8E730A1413F}"/>
              </a:ext>
            </a:extLst>
          </p:cNvPr>
          <p:cNvSpPr/>
          <p:nvPr/>
        </p:nvSpPr>
        <p:spPr>
          <a:xfrm>
            <a:off x="8267878" y="-479635"/>
            <a:ext cx="5150500" cy="446897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5715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성공 전략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5가지</a:t>
            </a: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(1/2)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73190" y="2254214"/>
            <a:ext cx="301020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1020992" y="2368514"/>
            <a:ext cx="3188513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요소: 후킹 · 메시지 · 시각화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6769" y="457200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465369" y="685800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621731" y="790956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302959" y="876909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후킹 (Hooking)</a:t>
            </a:r>
            <a:endParaRPr lang="en-US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1345082"/>
            <a:ext cx="4974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숫자, 반전, 문제 제기, 공감 유도 등을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3초 안에 시청자를 사로잡아야 합니다. '의외성'이 핵심입니다.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6769" y="2508199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465369" y="2736799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621731" y="2841041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302959" y="2926993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명확한 메시지 (One Message)</a:t>
            </a:r>
            <a:endParaRPr lang="en-US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396082"/>
            <a:ext cx="51052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영상에는 하나의 핵심 메시지만 담습니다.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결론부터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말하는 두괄식(Top-Down) 구조로 전달력을 극대화하세요.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236769" y="4558284"/>
            <a:ext cx="6353251" cy="1848002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65369" y="4786884"/>
            <a:ext cx="609905" cy="609905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621731" y="4892040"/>
            <a:ext cx="38130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6302959" y="4977993"/>
            <a:ext cx="5172761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시각적 다양성 (Visual Variety)</a:t>
            </a:r>
            <a:endParaRPr lang="en-US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446166"/>
            <a:ext cx="49746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B-roll, 동적 자막, 이모지, 화면 전환 효과를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2~3초마다 시각적 변화를 주어 지루할 틈을 없애야 합니다.</a:t>
            </a:r>
            <a:endParaRPr lang="en-US" sz="1400" dirty="0"/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974C60C0-ACBC-D82C-5673-961DD61C2B7B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CA125088-D17A-1A8D-3329-B84601B1BAB4}"/>
              </a:ext>
            </a:extLst>
          </p:cNvPr>
          <p:cNvSpPr/>
          <p:nvPr/>
        </p:nvSpPr>
        <p:spPr>
          <a:xfrm>
            <a:off x="10637672" y="536064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BBCDA4C6-85EF-4556-11B6-DA019F17AD7C}"/>
              </a:ext>
            </a:extLst>
          </p:cNvPr>
          <p:cNvSpPr/>
          <p:nvPr/>
        </p:nvSpPr>
        <p:spPr>
          <a:xfrm>
            <a:off x="4284421" y="-28755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736646EC-E166-6837-E7DA-475A410D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6796AB5D-8181-AD07-D8D2-FE7E2500BA8E}"/>
              </a:ext>
            </a:extLst>
          </p:cNvPr>
          <p:cNvSpPr/>
          <p:nvPr/>
        </p:nvSpPr>
        <p:spPr>
          <a:xfrm>
            <a:off x="-1390802" y="-4001548"/>
            <a:ext cx="11579231" cy="1157923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6858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 성공 전략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5가지</a:t>
            </a: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(2/2)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79400" y="2101748"/>
            <a:ext cx="2734056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27202" y="2216048"/>
            <a:ext cx="279440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요소: 행동 유도 · 최적화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236769" y="1143000"/>
            <a:ext cx="6353251" cy="2327467"/>
          </a:xfrm>
          <a:prstGeom prst="roundRect">
            <a:avLst>
              <a:gd name="adj" fmla="val 3966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541264" y="1524305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715000" y="1638605"/>
            <a:ext cx="419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31559" y="1536192"/>
            <a:ext cx="48673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강력한 CTA (Call to Action)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6531559" y="2021738"/>
            <a:ext cx="482986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"저장해두고 나중에 보세요", "댓글로 의견을 알려주세요"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명확한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지시가 참여를 부릅니다.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질문형이나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득템형 멘트를 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활용하여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즉각적인 반응을 유도하세요.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36769" y="3619195"/>
            <a:ext cx="6353251" cy="2095805"/>
          </a:xfrm>
          <a:prstGeom prst="roundRect">
            <a:avLst>
              <a:gd name="adj" fmla="val 3966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397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541264" y="4000500"/>
            <a:ext cx="685800" cy="685800"/>
          </a:xfrm>
          <a:prstGeom prst="roundRect">
            <a:avLst>
              <a:gd name="adj" fmla="val 33333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715000" y="4114800"/>
            <a:ext cx="419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6531559" y="4013302"/>
            <a:ext cx="4867351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알고리즘 최적화 (Algorithm)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531559" y="4498848"/>
            <a:ext cx="4829861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완시율(Completion Rate) 35% 이상을 목표로 하세요.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시청을 유도하고, 업로드 직후 1시간 내의 초기 반응을 이끌어내는 것이 노출 확산의 핵심 열쇠입니다.</a:t>
            </a:r>
            <a:endParaRPr lang="en-US" sz="1400" dirty="0"/>
          </a:p>
        </p:txBody>
      </p:sp>
      <p:sp>
        <p:nvSpPr>
          <p:cNvPr id="19" name="Text 2">
            <a:extLst>
              <a:ext uri="{FF2B5EF4-FFF2-40B4-BE49-F238E27FC236}">
                <a16:creationId xmlns:a16="http://schemas.microsoft.com/office/drawing/2014/main" id="{23023050-D2FB-7D09-BBA8-A2E7DF52520B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5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ED9D4BA1-ECBF-328F-2BE4-9D6E5A15ED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931B2AFE-D13E-4A19-3B36-DA749F97428F}"/>
              </a:ext>
            </a:extLst>
          </p:cNvPr>
          <p:cNvSpPr/>
          <p:nvPr/>
        </p:nvSpPr>
        <p:spPr>
          <a:xfrm>
            <a:off x="-939550" y="-325376"/>
            <a:ext cx="4188563" cy="418856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3">
            <a:extLst>
              <a:ext uri="{FF2B5EF4-FFF2-40B4-BE49-F238E27FC236}">
                <a16:creationId xmlns:a16="http://schemas.microsoft.com/office/drawing/2014/main" id="{05DE4510-A66C-D731-1463-1F14EEAF7E6A}"/>
              </a:ext>
            </a:extLst>
          </p:cNvPr>
          <p:cNvSpPr/>
          <p:nvPr/>
        </p:nvSpPr>
        <p:spPr>
          <a:xfrm>
            <a:off x="8594679" y="-1596227"/>
            <a:ext cx="7241275" cy="724127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609905" y="609905"/>
            <a:ext cx="85350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 대본 작성 프로세스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09905" y="1703571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구조: Hook - Value - CTA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09905" y="2115051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영상의 성공 공식입니다. 0-3초 내에 시선을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끄는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'Hook’,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시청자에게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가치를 전달하는 'Value', 좋아요나 팔로우 등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유도하는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'CTA' 순서로 구성합니다.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09905" y="3026664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609905" y="3221475"/>
            <a:ext cx="5820156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길이와 문체: 90-150자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09905" y="3632955"/>
            <a:ext cx="578175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1분 미만 숏폼에 최적화된 대본 길이는 공백 포함 90-150자입니다.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눈으로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읽는 글이 아닌 입으로 말하는 '구어체'로 짧고 간결하게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작성해야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전달력이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높아집니다.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4545482"/>
            <a:ext cx="5705856" cy="9144"/>
          </a:xfrm>
          <a:prstGeom prst="rect">
            <a:avLst/>
          </a:prstGeom>
          <a:solidFill>
            <a:srgbClr val="FF6908">
              <a:alpha val="4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609905" y="4739379"/>
            <a:ext cx="5896051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프롬프트 작성법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09905" y="5150859"/>
            <a:ext cx="5781751" cy="7342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"너는 숏폼 전문 작가야. 대상=대학생, 톤=친근/속도감. 주제=AI 공부법.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형식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=Hook-Value-CTA, 120자 이내로 3가지 버전 작성해줘."와 </a:t>
            </a: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같이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페르소나와 제약 조건을 명시하세요.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19265" y="1577340"/>
            <a:ext cx="4667098" cy="4677156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2531" r="12531"/>
          <a:stretch/>
        </p:blipFill>
        <p:spPr>
          <a:xfrm>
            <a:off x="6919265" y="1577340"/>
            <a:ext cx="4667098" cy="4677156"/>
          </a:xfrm>
          <a:prstGeom prst="rect">
            <a:avLst/>
          </a:prstGeom>
        </p:spPr>
      </p:pic>
      <p:sp>
        <p:nvSpPr>
          <p:cNvPr id="16" name="Text 2">
            <a:extLst>
              <a:ext uri="{FF2B5EF4-FFF2-40B4-BE49-F238E27FC236}">
                <a16:creationId xmlns:a16="http://schemas.microsoft.com/office/drawing/2014/main" id="{BE602BB2-6E59-FC9E-5D7C-C9830298139E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48332EE9-FCEB-BD6B-033E-61B9676B65D2}"/>
              </a:ext>
            </a:extLst>
          </p:cNvPr>
          <p:cNvSpPr/>
          <p:nvPr/>
        </p:nvSpPr>
        <p:spPr>
          <a:xfrm>
            <a:off x="5792191" y="816559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19782" y="1705356"/>
            <a:ext cx="1628546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030094" y="1781251"/>
            <a:ext cx="14767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A: 이득 강조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7929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23721" r="23721"/>
          <a:stretch/>
        </p:blipFill>
        <p:spPr>
          <a:xfrm>
            <a:off x="579295" y="2238451"/>
            <a:ext cx="2104949" cy="266730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075607" y="1705356"/>
            <a:ext cx="1781251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3285005" y="1781251"/>
            <a:ext cx="164043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B: 호기심 유발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91101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l="23721" r="23721"/>
          <a:stretch/>
        </p:blipFill>
        <p:spPr>
          <a:xfrm>
            <a:off x="2911015" y="2238451"/>
            <a:ext cx="2104949" cy="2667305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310401" y="1705356"/>
            <a:ext cx="1971446" cy="381305"/>
          </a:xfrm>
          <a:prstGeom prst="roundRect">
            <a:avLst>
              <a:gd name="adj" fmla="val 179856"/>
            </a:avLst>
          </a:prstGeom>
          <a:solidFill>
            <a:srgbClr val="FFFFFF"/>
          </a:solidFill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2"/>
          <p:cNvSpPr txBox="1"/>
          <p:nvPr/>
        </p:nvSpPr>
        <p:spPr>
          <a:xfrm>
            <a:off x="5519798" y="1781251"/>
            <a:ext cx="19010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버전 C: 공감/문제 해결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242735" y="2238451"/>
            <a:ext cx="2104949" cy="2667305"/>
          </a:xfrm>
          <a:prstGeom prst="roundRect">
            <a:avLst>
              <a:gd name="adj" fmla="val 4718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23721" r="23721"/>
          <a:stretch/>
        </p:blipFill>
        <p:spPr>
          <a:xfrm>
            <a:off x="5242735" y="2238451"/>
            <a:ext cx="2104949" cy="266730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929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8" name="Text 5"/>
          <p:cNvSpPr txBox="1"/>
          <p:nvPr/>
        </p:nvSpPr>
        <p:spPr>
          <a:xfrm>
            <a:off x="759475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"공부 시간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절반으로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줄이고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성적은 올리는 방법?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요약부터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퀴즈까지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다 해줍니다."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291101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14" name="Text 10"/>
          <p:cNvSpPr txBox="1"/>
          <p:nvPr/>
        </p:nvSpPr>
        <p:spPr>
          <a:xfrm>
            <a:off x="3091195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"아직도 무작정 외우시나요?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상위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1%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대학생들은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'이것'으로 공부합니다."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242735" y="5020056"/>
            <a:ext cx="2104949" cy="1338246"/>
          </a:xfrm>
          <a:prstGeom prst="roundRect">
            <a:avLst>
              <a:gd name="adj" fmla="val 13658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200"/>
          </a:p>
        </p:txBody>
      </p:sp>
      <p:sp>
        <p:nvSpPr>
          <p:cNvPr id="20" name="Text 15"/>
          <p:cNvSpPr txBox="1"/>
          <p:nvPr/>
        </p:nvSpPr>
        <p:spPr>
          <a:xfrm>
            <a:off x="5394568" y="5189930"/>
            <a:ext cx="1781251" cy="1258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"시험 기간만 </a:t>
            </a: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되면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밤새는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사람 주목! </a:t>
            </a:r>
          </a:p>
          <a:p>
            <a:pPr marL="0" indent="0" algn="ctr">
              <a:lnSpc>
                <a:spcPts val="1400"/>
              </a:lnSpc>
              <a:buNone/>
            </a:pPr>
            <a:endParaRPr lang="en-US" sz="1100" b="1" dirty="0">
              <a:solidFill>
                <a:srgbClr val="FF6908"/>
              </a:solidFill>
              <a:latin typeface="Pretendard" pitchFamily="34" charset="0"/>
              <a:ea typeface="Pretendard" pitchFamily="34" charset="-122"/>
              <a:cs typeface="Pretendard" pitchFamily="34" charset="-120"/>
            </a:endParaRP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걸릴 공부,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0분 만에 끝내는 법 </a:t>
            </a:r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알려드림</a:t>
            </a:r>
            <a:r>
              <a:rPr lang="en-US" sz="11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."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803055" y="1705356"/>
            <a:ext cx="2238451" cy="448056"/>
          </a:xfrm>
          <a:prstGeom prst="roundRect">
            <a:avLst>
              <a:gd name="adj" fmla="val 130265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/>
          <p:cNvSpPr txBox="1"/>
          <p:nvPr/>
        </p:nvSpPr>
        <p:spPr>
          <a:xfrm>
            <a:off x="8050857" y="1800454"/>
            <a:ext cx="21387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활용 대본 작성 전략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7803055" y="2381098"/>
            <a:ext cx="42483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구조화된 프롬프트 활용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7803055" y="2743200"/>
            <a:ext cx="41340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ChatGPT에게 "너는 숏폼 전문 작가야.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대상으로 친근한 톤으로 작성해줘.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Hook-Value-CTA 구조를 </a:t>
            </a: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지켜줘"라고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구체적인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페르소나와 형식을 지정하세요.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7803055" y="4315054"/>
            <a:ext cx="41724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다양한 변주(Variation)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803055" y="4677156"/>
            <a:ext cx="41340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주제라도 이득 강조, 호기심 유발, 공감형 등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다양한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후킹 전략으로 3가지 버전을 생성하고,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가장</a:t>
            </a:r>
            <a:r>
              <a:rPr lang="en-US" sz="1200" dirty="0">
                <a:solidFill>
                  <a:srgbClr val="33333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매력적인 안을 선택하거나 A/B 테스트를 진행하세요.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0" y="499698"/>
            <a:ext cx="5403581" cy="7805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 </a:t>
            </a:r>
            <a:r>
              <a:rPr lang="en-US" sz="48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</a:t>
            </a: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8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r>
              <a:rPr lang="en-US" sz="48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예시</a:t>
            </a:r>
            <a:endParaRPr lang="en-US" sz="4800" dirty="0"/>
          </a:p>
        </p:txBody>
      </p:sp>
      <p:sp>
        <p:nvSpPr>
          <p:cNvPr id="29" name="Text 2">
            <a:extLst>
              <a:ext uri="{FF2B5EF4-FFF2-40B4-BE49-F238E27FC236}">
                <a16:creationId xmlns:a16="http://schemas.microsoft.com/office/drawing/2014/main" id="{7FADA348-16FD-C694-0E6A-F9372E85C40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2688828D-AC41-B9F7-2AE5-19DBA6D59527}"/>
              </a:ext>
            </a:extLst>
          </p:cNvPr>
          <p:cNvSpPr/>
          <p:nvPr/>
        </p:nvSpPr>
        <p:spPr>
          <a:xfrm>
            <a:off x="8700142" y="-2168630"/>
            <a:ext cx="5655938" cy="565593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09905" y="571500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06. 대본 작성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주의사항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174304"/>
            <a:ext cx="3486607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57707" y="2288604"/>
            <a:ext cx="3486607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체크리스트: 과부하 방지 &amp; 리듬감</a:t>
            </a:r>
            <a:endParaRPr lang="en-US" sz="13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15315" r="15315"/>
          <a:stretch/>
        </p:blipFill>
        <p:spPr>
          <a:xfrm>
            <a:off x="609905" y="2840126"/>
            <a:ext cx="3705149" cy="356250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236769" y="1578428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5465369" y="1763944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 txBox="1"/>
          <p:nvPr/>
        </p:nvSpPr>
        <p:spPr>
          <a:xfrm>
            <a:off x="5621731" y="1849281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2" name="Text 9"/>
          <p:cNvSpPr txBox="1"/>
          <p:nvPr/>
        </p:nvSpPr>
        <p:spPr>
          <a:xfrm>
            <a:off x="6302959" y="1982110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 과적재 금지 (No Info Overload)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2298970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숏폼에는 반드시 하나의 메시지만 담으세요.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욕심내어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과도한 정보를 담으면 시청자는 피로감을 느끼고 이탈합니다.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236769" y="3242874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5465369" y="3428389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 txBox="1"/>
          <p:nvPr/>
        </p:nvSpPr>
        <p:spPr>
          <a:xfrm>
            <a:off x="5621731" y="3512985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7" name="Text 14"/>
          <p:cNvSpPr txBox="1"/>
          <p:nvPr/>
        </p:nvSpPr>
        <p:spPr>
          <a:xfrm>
            <a:off x="6302959" y="3645813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낭독 테스트 (Read Aloud)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963417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작성한 대본을 1.2배속으로 소리 내어 읽어보세요.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붙지 않거나 호흡이 끊기는 문장은 시청자의 귀에도 들리지 않습니다.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36769" y="4906577"/>
            <a:ext cx="6353251" cy="1499708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465369" y="5092093"/>
            <a:ext cx="609905" cy="494956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 txBox="1"/>
          <p:nvPr/>
        </p:nvSpPr>
        <p:spPr>
          <a:xfrm>
            <a:off x="5621731" y="5177430"/>
            <a:ext cx="381305" cy="32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6302959" y="5310260"/>
            <a:ext cx="5172761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 최적화 (Short Sentences)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627120"/>
            <a:ext cx="5134356" cy="550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문장은 12~15자 내외로 짧게 끊으세요. 접속사는 최소화하고,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구어체를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사용하여 영상의 속도감을 유지해야 합니다.</a:t>
            </a:r>
            <a:endParaRPr lang="en-US" sz="1200" dirty="0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F85D1267-980D-7C41-1990-2742689E9E39}"/>
              </a:ext>
            </a:extLst>
          </p:cNvPr>
          <p:cNvSpPr txBox="1"/>
          <p:nvPr/>
        </p:nvSpPr>
        <p:spPr>
          <a:xfrm>
            <a:off x="10633188" y="428954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3BA40438-7F8E-2636-446C-29DF2EDFB03F}"/>
              </a:ext>
            </a:extLst>
          </p:cNvPr>
          <p:cNvSpPr/>
          <p:nvPr/>
        </p:nvSpPr>
        <p:spPr>
          <a:xfrm>
            <a:off x="10222078" y="46728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500" dirty="0"/>
          </a:p>
        </p:txBody>
      </p:sp>
      <p:sp>
        <p:nvSpPr>
          <p:cNvPr id="5" name="Text 3"/>
          <p:cNvSpPr txBox="1"/>
          <p:nvPr/>
        </p:nvSpPr>
        <p:spPr>
          <a:xfrm>
            <a:off x="709075" y="458114"/>
            <a:ext cx="51365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07. </a:t>
            </a:r>
            <a:r>
              <a:rPr lang="en-US" sz="4200" b="1" kern="0" spc="-75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r>
              <a:rPr lang="en-US" sz="4200" b="1" kern="0" spc="-75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요소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609905" y="2144268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609905" y="2144268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895198" y="237286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2506370"/>
            <a:ext cx="190195" cy="19019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543507" y="2372868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필수 칼럼 구조 (Structure)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543507" y="2734970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프레임 번호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비주얼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(스케치/사진),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오디오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(대사/BGM),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온스크린 텍스트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(자막), </a:t>
            </a:r>
            <a:r>
              <a:rPr lang="en-US" sz="12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(Duration) 5가지 요소가 반드시 포함되어야 합니다.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09905" y="3582619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609905" y="3582619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895198" y="381121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8700" y="3943807"/>
            <a:ext cx="190195" cy="190195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43507" y="3811219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가이드 (Guidelines)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1543507" y="4172407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앵글(Full/Bust/Close-up), 피사체의 구체적 동작, 화면 </a:t>
            </a: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(Cut/Fade/Zoom) 등 연출 의도를 명확히 텍스트로 명시합니다.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09905" y="5020970"/>
            <a:ext cx="5581498" cy="1248156"/>
          </a:xfrm>
          <a:prstGeom prst="roundRect">
            <a:avLst>
              <a:gd name="adj" fmla="val 11185"/>
            </a:avLst>
          </a:prstGeom>
          <a:solidFill>
            <a:srgbClr val="FFFFFF"/>
          </a:solidFill>
          <a:ln/>
          <a:effectLst>
            <a:outerShdw blurRad="190500" dist="38100" dir="16200000" algn="bl" rotWithShape="0">
              <a:srgbClr val="000000">
                <a:alpha val="4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609905" y="5020970"/>
            <a:ext cx="57607" cy="1248156"/>
          </a:xfrm>
          <a:prstGeom prst="rect">
            <a:avLst/>
          </a:prstGeom>
          <a:solidFill>
            <a:srgbClr val="FF6908"/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95198" y="524957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3E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2474" y="5382158"/>
            <a:ext cx="142646" cy="19019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543507" y="5249570"/>
            <a:ext cx="45345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QA 체크리스트 (Quality Assurance)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1543507" y="5610758"/>
            <a:ext cx="44961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 내 텍스트가 UI에 가려지지 않는지(안전 영역), 컷 간의 연결 흐름이 자연스러운지, 정보량이 과하지 않은지 사전에 검토합니다.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9741103" y="609905"/>
            <a:ext cx="18480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8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STORYBOARD PLANNING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644945" y="1371600"/>
            <a:ext cx="2381098" cy="4876495"/>
          </a:xfrm>
          <a:prstGeom prst="roundRect">
            <a:avLst>
              <a:gd name="adj" fmla="val 3687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rcRect l="33704" r="33704"/>
          <a:stretch/>
        </p:blipFill>
        <p:spPr>
          <a:xfrm>
            <a:off x="6644945" y="1371600"/>
            <a:ext cx="2381098" cy="4876495"/>
          </a:xfrm>
          <a:prstGeom prst="rect">
            <a:avLst/>
          </a:prstGeom>
        </p:spPr>
      </p:pic>
      <p:sp>
        <p:nvSpPr>
          <p:cNvPr id="27" name="Shape 21"/>
          <p:cNvSpPr/>
          <p:nvPr/>
        </p:nvSpPr>
        <p:spPr>
          <a:xfrm>
            <a:off x="9208922" y="990295"/>
            <a:ext cx="2381098" cy="4476902"/>
          </a:xfrm>
          <a:prstGeom prst="roundRect">
            <a:avLst>
              <a:gd name="adj" fmla="val 3687"/>
            </a:avLst>
          </a:prstGeom>
          <a:solidFill>
            <a:srgbClr val="F5F5F5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rcRect l="32282" r="32282"/>
          <a:stretch/>
        </p:blipFill>
        <p:spPr>
          <a:xfrm>
            <a:off x="9208922" y="990295"/>
            <a:ext cx="2381098" cy="4476902"/>
          </a:xfrm>
          <a:prstGeom prst="rect">
            <a:avLst/>
          </a:prstGeom>
        </p:spPr>
      </p:pic>
      <p:sp>
        <p:nvSpPr>
          <p:cNvPr id="2" name="Shape 3">
            <a:extLst>
              <a:ext uri="{FF2B5EF4-FFF2-40B4-BE49-F238E27FC236}">
                <a16:creationId xmlns:a16="http://schemas.microsoft.com/office/drawing/2014/main" id="{1A95059A-624B-B970-3615-A8A345A70F92}"/>
              </a:ext>
            </a:extLst>
          </p:cNvPr>
          <p:cNvSpPr/>
          <p:nvPr/>
        </p:nvSpPr>
        <p:spPr>
          <a:xfrm>
            <a:off x="10484641" y="5168450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03174" y="592532"/>
            <a:ext cx="3516782" cy="1191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08. 스토리보드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워크플로우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703174" y="2009852"/>
            <a:ext cx="3076956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50976" y="2124152"/>
            <a:ext cx="307238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프로세스 (4-Step Process)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07585" y="457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136185" y="87599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275174" y="972007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897880" y="780898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구조화 (GPT)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110459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작성된 대본을 GPT에 입력하여 "6컷 숏폼용 샷 리스트(Shot List)"로 변환합니다.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시각적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요소와 오디오를 분리해 구조를 잡습니다.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07585" y="1981505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136185" y="2400300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275174" y="2495398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5897880" y="2305202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시각화 (Canva/Figma)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897880" y="2628900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툴의 템플릿에 텍스트를 배치하고,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Midjourney나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스톡 사이트에서 상황에 맞는 레퍼런스 이미지를 찾아 삽입합니다.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07585" y="3504895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136185" y="392460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275174" y="4019702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897880" y="3829507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매핑 (CapCut)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897880" y="415320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완성된 보드를 기반으로 CapCut 템플릿을 매핑합니다.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기획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단계에서 템플릿을 선정하면 제작 시간을 50% 이상 단축할 수 있습니다.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907585" y="5029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136185" y="544799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5275174" y="5544007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897880" y="5352898"/>
            <a:ext cx="55723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검토 (Final Review)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5676595"/>
            <a:ext cx="55348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 영상의 컷 호흡, 오디오 싱크, 자막 가독성을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점검하고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숏폼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플랫폼(9:16) 규격에 맞춰 최종 렌더링을 수행합니다.</a:t>
            </a:r>
            <a:endParaRPr lang="en-US" sz="12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20184605-E601-F4EA-356E-ECDC8AE2637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5829D11-01ED-C8FE-0856-E6C76B122DFD}"/>
              </a:ext>
            </a:extLst>
          </p:cNvPr>
          <p:cNvSpPr/>
          <p:nvPr/>
        </p:nvSpPr>
        <p:spPr>
          <a:xfrm>
            <a:off x="10575037" y="5226252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D891040B-17D8-81B5-76F3-9F514CD95C7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93359" y="552298"/>
            <a:ext cx="3952124" cy="11077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09. </a:t>
            </a:r>
            <a:r>
              <a:rPr lang="en-US" sz="37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</a:t>
            </a: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</a:t>
            </a:r>
            <a:r>
              <a:rPr lang="en-US" sz="37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</a:t>
            </a:r>
            <a:r>
              <a:rPr lang="en-US" sz="37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 </a:t>
            </a:r>
            <a:r>
              <a:rPr lang="en-US" sz="37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공부법</a:t>
            </a:r>
            <a:endParaRPr lang="en-US" sz="3700" dirty="0"/>
          </a:p>
        </p:txBody>
      </p:sp>
      <p:sp>
        <p:nvSpPr>
          <p:cNvPr id="6" name="Shape 4"/>
          <p:cNvSpPr/>
          <p:nvPr/>
        </p:nvSpPr>
        <p:spPr>
          <a:xfrm>
            <a:off x="1769233" y="1902127"/>
            <a:ext cx="2648102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2017035" y="2016427"/>
            <a:ext cx="2562149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6단 프레임 구성 (Structure)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236769" y="1191462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465369" y="1391847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621731" y="1484024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302959" y="1568586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F1-2. 도입 (Hook): 패턴 인터럽트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6302959" y="1944910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책더미가 무너지는 컷이나 강렬한 사운드 이펙트로 시선을 끌고,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"아직도 무식하게 암기해?" 같은 핵심 질문 자막을 0~3초 내 배치합니다.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236769" y="2989317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5465369" y="3189703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5621731" y="3281079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02959" y="3366443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F3-5. 본론 (Value): AI 툴 데모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6302959" y="3741964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요약을 생성하고 퀴즈를 내는 실제 화면 녹화와, 학생이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놀라워하는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B-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roll을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교차 편집하여 리듬감을 부여하고 신뢰도를 높입니다.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236769" y="4786372"/>
            <a:ext cx="6353251" cy="1619913"/>
          </a:xfrm>
          <a:prstGeom prst="roundRect">
            <a:avLst>
              <a:gd name="adj" fmla="val 5101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465369" y="4986757"/>
            <a:ext cx="609905" cy="534628"/>
          </a:xfrm>
          <a:prstGeom prst="roundRect">
            <a:avLst>
              <a:gd name="adj" fmla="val 37481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5621731" y="5078934"/>
            <a:ext cx="381305" cy="351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100" dirty="0"/>
          </a:p>
        </p:txBody>
      </p:sp>
      <p:sp>
        <p:nvSpPr>
          <p:cNvPr id="23" name="Text 20"/>
          <p:cNvSpPr txBox="1"/>
          <p:nvPr/>
        </p:nvSpPr>
        <p:spPr>
          <a:xfrm>
            <a:off x="6302959" y="5163496"/>
            <a:ext cx="5172761" cy="2172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F6. 마무리 (CTA): 행동 유도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6302959" y="5539820"/>
            <a:ext cx="5134356" cy="375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"시험 기간에 다시 보려면 저장하세요"와 같이 구체적이고 즉각적인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유도하여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알고리즘 점수(저장/공유)를 확보합니다.</a:t>
            </a:r>
            <a:endParaRPr lang="en-US" sz="1200" dirty="0"/>
          </a:p>
        </p:txBody>
      </p:sp>
      <p:sp>
        <p:nvSpPr>
          <p:cNvPr id="26" name="Text 2">
            <a:extLst>
              <a:ext uri="{FF2B5EF4-FFF2-40B4-BE49-F238E27FC236}">
                <a16:creationId xmlns:a16="http://schemas.microsoft.com/office/drawing/2014/main" id="{FB63DFE5-E18A-323A-46B4-4D686B8F8C98}"/>
              </a:ext>
            </a:extLst>
          </p:cNvPr>
          <p:cNvSpPr txBox="1"/>
          <p:nvPr/>
        </p:nvSpPr>
        <p:spPr>
          <a:xfrm>
            <a:off x="10842498" y="501481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</a:rPr>
              <a:t>09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DE500498-CD9C-EF65-09B8-0DEC3C7372B9}"/>
              </a:ext>
            </a:extLst>
          </p:cNvPr>
          <p:cNvSpPr/>
          <p:nvPr/>
        </p:nvSpPr>
        <p:spPr>
          <a:xfrm>
            <a:off x="-1186561" y="-624737"/>
            <a:ext cx="2539237" cy="253923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688B8AD5-6677-DF75-A698-5D15B51F32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2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58891" y="697296"/>
            <a:ext cx="8401507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10.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자막의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중요성과</a:t>
            </a: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원칙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905256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E7889DC-221A-7652-BFF3-802381405B3C}"/>
              </a:ext>
            </a:extLst>
          </p:cNvPr>
          <p:cNvGrpSpPr/>
          <p:nvPr/>
        </p:nvGrpSpPr>
        <p:grpSpPr>
          <a:xfrm>
            <a:off x="724205" y="1828506"/>
            <a:ext cx="5896051" cy="4086454"/>
            <a:chOff x="609905" y="2238451"/>
            <a:chExt cx="5896051" cy="3943808"/>
          </a:xfrm>
        </p:grpSpPr>
        <p:sp>
          <p:nvSpPr>
            <p:cNvPr id="6" name="Text 4"/>
            <p:cNvSpPr txBox="1"/>
            <p:nvPr/>
          </p:nvSpPr>
          <p:spPr>
            <a:xfrm>
              <a:off x="609905" y="2238451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무음 시청 대비 (Sound-Off Strategy)</a:t>
              </a:r>
              <a:endParaRPr lang="en-US" sz="18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609905" y="2649931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대중교통이나 공공장소에서의 '무음 시청' 비율이 80% 이상입니다.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소리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없이도 내용을 완전히 이해할 수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있도록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핵심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키워드 자막이나 요약 텍스트를 반드시 포함해야 합니다.</a:t>
              </a:r>
              <a:endParaRPr lang="en-US" sz="12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3441802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09905" y="3756355"/>
              <a:ext cx="58960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2줄 규칙과 안전 영역</a:t>
              </a:r>
              <a:endParaRPr lang="en-US" sz="18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09905" y="4167835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한 화면에 자막이 두 줄을 넘지 않도록 하여 영상 몰입을 방해하지 않아야 합니다.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또한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플랫폼별 UI(좋아요, 댓글 등)에 가려지지 않는 안전 영역을 준수하세요.</a:t>
              </a:r>
              <a:endParaRPr lang="en-US" sz="12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905" y="4960620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9905" y="5275174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적절한 노출 속도 (12-17자/초)</a:t>
              </a:r>
              <a:endParaRPr lang="en-US" sz="18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686654"/>
              <a:ext cx="5781751" cy="4956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시청자가 편안하게 읽을 수 있는 속도는 초당 12~17자 내외입니다.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말하는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속도보다 자막이 너무 빠르면 정보를 놓치게 되므로,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컷 전환에 맞춰 싱크를 조절하는 것이 중요합니다.</a:t>
              </a:r>
              <a:endParaRPr lang="en-US" sz="1200" dirty="0"/>
            </a:p>
          </p:txBody>
        </p:sp>
      </p:grp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7879" r="17879"/>
          <a:stretch/>
        </p:blipFill>
        <p:spPr>
          <a:xfrm>
            <a:off x="7033565" y="1362066"/>
            <a:ext cx="4667098" cy="4086454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7BA76DDB-4541-42F7-A937-04285A33C002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FE4D60EA-F60C-3D1D-3F88-B5AFF536C22F}"/>
              </a:ext>
            </a:extLst>
          </p:cNvPr>
          <p:cNvSpPr/>
          <p:nvPr/>
        </p:nvSpPr>
        <p:spPr>
          <a:xfrm>
            <a:off x="10515447" y="5333913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23AE219E-37EA-EAA9-6737-92FF25ABA1AF}"/>
              </a:ext>
            </a:extLst>
          </p:cNvPr>
          <p:cNvSpPr/>
          <p:nvPr/>
        </p:nvSpPr>
        <p:spPr>
          <a:xfrm>
            <a:off x="6078930" y="554583"/>
            <a:ext cx="7065417" cy="706541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5158" y="492862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11. AI 자막 생성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2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75158" y="1894637"/>
            <a:ext cx="358170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822960" y="2008937"/>
            <a:ext cx="366400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프로세스: STT · 편집 · 강조 · 출력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236769" y="457200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465369" y="854964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 txBox="1"/>
          <p:nvPr/>
        </p:nvSpPr>
        <p:spPr>
          <a:xfrm>
            <a:off x="5612587" y="954634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265469" y="761695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STT 자동 생성 (Auto-Caption)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265469" y="1104595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Whisper, Vrew, CapCut 등 AI 툴을 활용하여 오디오를 텍스트로 변환합니다.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95% 이상의 정확도로 작업 시간을 단축합니다.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36769" y="1982419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465369" y="2380183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612587" y="2480767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65469" y="2287829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컷 편집 (Editing)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65469" y="2630729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생성된 자막의 오타를 수정하고,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문맥에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맞게 줄바꿈을 조정하며 불필요한 추임새를 제거해 가독성을 높입니다.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236769" y="3508553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5465369" y="3905402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5612587" y="4005986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6265469" y="3813048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키워드 강조 (Highlight)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265469" y="4155948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메시지에 노란색/형광색 색상이나 폰트 크기 변화를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주어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 시간을 늘리는 시각적 후킹 요소를 추가합니다.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36769" y="5033772"/>
            <a:ext cx="6353251" cy="1371600"/>
          </a:xfrm>
          <a:prstGeom prst="roundRect">
            <a:avLst>
              <a:gd name="adj" fmla="val 9259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5465369" y="5431536"/>
            <a:ext cx="571500" cy="571500"/>
          </a:xfrm>
          <a:prstGeom prst="roundRect">
            <a:avLst>
              <a:gd name="adj" fmla="val 42667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5612587" y="5531206"/>
            <a:ext cx="352958" cy="3721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6265469" y="5338267"/>
            <a:ext cx="52102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익스포트 (Safe Zone)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265469" y="5681167"/>
            <a:ext cx="5172761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Shorts, Reels, TikTok 등 각 플랫폼 UI에 가려지지 </a:t>
            </a: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않는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</a:t>
            </a:r>
            <a:r>
              <a:rPr lang="en-US" sz="12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영역(Safe Zone)을 최종 확인하고 영상을 내보냅니다.</a:t>
            </a:r>
            <a:endParaRPr lang="en-US" sz="12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9111AD1A-D9FA-CDEA-56F7-C5F44DDACE32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666DA7E0-3768-96F0-5729-04751EA3D500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B0CF3910-8119-6944-7BF1-C999B115DC8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692585" y="3041294"/>
            <a:ext cx="3768163" cy="3299357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D7605085-63BD-7F47-BD84-FAE7C1CFEC3F}"/>
              </a:ext>
            </a:extLst>
          </p:cNvPr>
          <p:cNvSpPr/>
          <p:nvPr/>
        </p:nvSpPr>
        <p:spPr>
          <a:xfrm>
            <a:off x="-880117" y="-2645511"/>
            <a:ext cx="7129751" cy="7129751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0508605E-3380-AADB-6ABA-52DD31F8BDBA}"/>
              </a:ext>
            </a:extLst>
          </p:cNvPr>
          <p:cNvGrpSpPr/>
          <p:nvPr/>
        </p:nvGrpSpPr>
        <p:grpSpPr>
          <a:xfrm>
            <a:off x="653448" y="517349"/>
            <a:ext cx="4562856" cy="2172615"/>
            <a:chOff x="653448" y="806980"/>
            <a:chExt cx="4562856" cy="2172615"/>
          </a:xfrm>
        </p:grpSpPr>
        <p:sp>
          <p:nvSpPr>
            <p:cNvPr id="4" name="Text 2"/>
            <p:cNvSpPr txBox="1"/>
            <p:nvPr/>
          </p:nvSpPr>
          <p:spPr>
            <a:xfrm>
              <a:off x="653448" y="806980"/>
              <a:ext cx="45061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000000">
                      <a:alpha val="80000"/>
                    </a:srgbClr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Global Expansion</a:t>
              </a:r>
              <a:endParaRPr lang="en-US" sz="1800" dirty="0"/>
            </a:p>
          </p:txBody>
        </p:sp>
        <p:sp>
          <p:nvSpPr>
            <p:cNvPr id="5" name="Text 3"/>
            <p:cNvSpPr txBox="1"/>
            <p:nvPr/>
          </p:nvSpPr>
          <p:spPr>
            <a:xfrm>
              <a:off x="653448" y="1302585"/>
              <a:ext cx="4562856" cy="16770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12. 다국어</a:t>
              </a:r>
              <a:endParaRPr lang="en-US" sz="4800" dirty="0"/>
            </a:p>
            <a:p>
              <a:pPr marL="0" indent="0" algn="l">
                <a:buNone/>
              </a:pP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      </a:t>
              </a:r>
              <a:r>
                <a:rPr lang="en-US" sz="4800" b="1" kern="0" spc="-150" dirty="0" err="1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자막</a:t>
              </a:r>
              <a:r>
                <a:rPr lang="en-US" sz="4800" b="1" kern="0" spc="-150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 전략</a:t>
              </a:r>
              <a:endParaRPr lang="en-US" sz="48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751419" y="2860679"/>
              <a:ext cx="571500" cy="57607"/>
            </a:xfrm>
            <a:prstGeom prst="rect">
              <a:avLst/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7" name="Shape 5"/>
          <p:cNvSpPr/>
          <p:nvPr/>
        </p:nvSpPr>
        <p:spPr>
          <a:xfrm>
            <a:off x="4675923" y="1511247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 l="5054" r="5054"/>
          <a:stretch/>
        </p:blipFill>
        <p:spPr>
          <a:xfrm>
            <a:off x="4634315" y="1463603"/>
            <a:ext cx="2286000" cy="142920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83662" y="1463603"/>
            <a:ext cx="1990649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7393059" y="1539498"/>
            <a:ext cx="16696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ENGLISH SUBTITLES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183662" y="1959208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조회수 풀(Pool)을 전 세계로 확장하세요.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영어권 시청자의 유입은 알고리즘 추천 범위를 넓혀줍니다.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689698" y="3320845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t="3063" b="3063"/>
          <a:stretch/>
        </p:blipFill>
        <p:spPr>
          <a:xfrm>
            <a:off x="4634315" y="3273201"/>
            <a:ext cx="2286000" cy="142920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7183662" y="3273201"/>
            <a:ext cx="1695298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1"/>
          <p:cNvSpPr txBox="1"/>
          <p:nvPr/>
        </p:nvSpPr>
        <p:spPr>
          <a:xfrm>
            <a:off x="7393059" y="3350010"/>
            <a:ext cx="13743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TRANSLATION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7183662" y="3768805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AI로 초벌 번역 후, 뉘앙스를 다듬으세요.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직역보다는 현지의 구어체와 밈(Meme)을 반영해야 자연스럽습니다.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689698" y="5130442"/>
            <a:ext cx="2286000" cy="1429207"/>
          </a:xfrm>
          <a:prstGeom prst="roundRect">
            <a:avLst>
              <a:gd name="adj" fmla="val 853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6389" r="6389"/>
          <a:stretch/>
        </p:blipFill>
        <p:spPr>
          <a:xfrm>
            <a:off x="4634315" y="5082798"/>
            <a:ext cx="2286000" cy="1429207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183662" y="5082798"/>
            <a:ext cx="1543507" cy="381305"/>
          </a:xfrm>
          <a:prstGeom prst="roundRect">
            <a:avLst>
              <a:gd name="adj" fmla="val 179856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/>
          <p:cNvSpPr txBox="1"/>
          <p:nvPr/>
        </p:nvSpPr>
        <p:spPr>
          <a:xfrm>
            <a:off x="7393059" y="5159608"/>
            <a:ext cx="1200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LOCALIZATION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183662" y="5578403"/>
            <a:ext cx="468860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철저한 현지화(Localization)가 핵심입니다.</a:t>
            </a:r>
            <a:endParaRPr lang="en-US" sz="1200" dirty="0"/>
          </a:p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화폐 단위, 문화적 예시를 타겟 국가에 맞춰 치환하여 공감대를 높이세요.</a:t>
            </a:r>
            <a:endParaRPr lang="en-US" sz="1200" dirty="0"/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88ECBEDE-11F2-C89C-0A21-9B148541C692}"/>
              </a:ext>
            </a:extLst>
          </p:cNvPr>
          <p:cNvSpPr txBox="1"/>
          <p:nvPr/>
        </p:nvSpPr>
        <p:spPr>
          <a:xfrm>
            <a:off x="10693692" y="328301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9816A28-5B55-1304-85CE-D66ED52F6A7B}"/>
              </a:ext>
            </a:extLst>
          </p:cNvPr>
          <p:cNvSpPr/>
          <p:nvPr/>
        </p:nvSpPr>
        <p:spPr>
          <a:xfrm>
            <a:off x="10730736" y="-493159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0" descr="preencoded.png">
            <a:extLst>
              <a:ext uri="{FF2B5EF4-FFF2-40B4-BE49-F238E27FC236}">
                <a16:creationId xmlns:a16="http://schemas.microsoft.com/office/drawing/2014/main" id="{D4141734-3270-8BE7-BF1D-63DBF3D70E1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7172" r="7172"/>
          <a:stretch/>
        </p:blipFill>
        <p:spPr>
          <a:xfrm>
            <a:off x="835653" y="3176192"/>
            <a:ext cx="2987816" cy="2616095"/>
          </a:xfrm>
          <a:prstGeom prst="rect">
            <a:avLst/>
          </a:prstGeom>
        </p:spPr>
      </p:pic>
      <p:sp>
        <p:nvSpPr>
          <p:cNvPr id="2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86257" y="896875"/>
            <a:ext cx="75050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13.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3220060" y="1126345"/>
            <a:ext cx="2356452" cy="10940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300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</a:t>
            </a:r>
            <a:endParaRPr lang="en-US" sz="8800" dirty="0"/>
          </a:p>
        </p:txBody>
      </p:sp>
      <p:sp>
        <p:nvSpPr>
          <p:cNvPr id="6" name="Text 4"/>
          <p:cNvSpPr txBox="1"/>
          <p:nvPr/>
        </p:nvSpPr>
        <p:spPr>
          <a:xfrm>
            <a:off x="901185" y="1897119"/>
            <a:ext cx="15590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901185" y="2567374"/>
            <a:ext cx="381944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kern="0" spc="-15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워크플로우</a:t>
            </a:r>
            <a:endParaRPr lang="en-US" sz="48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B84D05EC-0DA4-4756-C9F4-D96C14A53F4E}"/>
              </a:ext>
            </a:extLst>
          </p:cNvPr>
          <p:cNvGrpSpPr/>
          <p:nvPr/>
        </p:nvGrpSpPr>
        <p:grpSpPr>
          <a:xfrm>
            <a:off x="609905" y="4015087"/>
            <a:ext cx="3940324" cy="413809"/>
            <a:chOff x="609905" y="4171035"/>
            <a:chExt cx="2693081" cy="257861"/>
          </a:xfrm>
        </p:grpSpPr>
        <p:pic>
          <p:nvPicPr>
            <p:cNvPr id="8" name="Image 0" descr="preencoded.png"/>
            <p:cNvPicPr>
              <a:picLocks noChangeAspect="1"/>
            </p:cNvPicPr>
            <p:nvPr/>
          </p:nvPicPr>
          <p:blipFill>
            <a:blip r:embed="rId3"/>
            <a:srcRect l="-760" r="-760"/>
            <a:stretch/>
          </p:blipFill>
          <p:spPr>
            <a:xfrm>
              <a:off x="609905" y="4224528"/>
              <a:ext cx="152705" cy="171907"/>
            </a:xfrm>
            <a:prstGeom prst="rect">
              <a:avLst/>
            </a:prstGeom>
          </p:spPr>
        </p:pic>
        <p:sp>
          <p:nvSpPr>
            <p:cNvPr id="9" name="Text 6"/>
            <p:cNvSpPr txBox="1"/>
            <p:nvPr/>
          </p:nvSpPr>
          <p:spPr>
            <a:xfrm>
              <a:off x="854223" y="4171035"/>
              <a:ext cx="2448763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효율성 극대화 (Efficiency)</a:t>
              </a:r>
              <a:endParaRPr lang="en-US" sz="1600" dirty="0"/>
            </a:p>
          </p:txBody>
        </p:sp>
      </p:grpSp>
      <p:sp>
        <p:nvSpPr>
          <p:cNvPr id="10" name="Shape 7"/>
          <p:cNvSpPr/>
          <p:nvPr/>
        </p:nvSpPr>
        <p:spPr>
          <a:xfrm>
            <a:off x="609905" y="4533595"/>
            <a:ext cx="5029200" cy="1714500"/>
          </a:xfrm>
          <a:prstGeom prst="roundRect">
            <a:avLst>
              <a:gd name="adj" fmla="val 7111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90500" dist="762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rcRect t="24511" b="24511"/>
          <a:stretch/>
        </p:blipFill>
        <p:spPr>
          <a:xfrm>
            <a:off x="609905" y="4533595"/>
            <a:ext cx="5029200" cy="171450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48095" y="1067105"/>
            <a:ext cx="5333695" cy="1686154"/>
          </a:xfrm>
          <a:prstGeom prst="roundRect">
            <a:avLst>
              <a:gd name="adj" fmla="val 9192"/>
            </a:avLst>
          </a:prstGeom>
          <a:solidFill>
            <a:srgbClr val="F0F0F0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rcRect t="26302" b="26302"/>
          <a:stretch/>
        </p:blipFill>
        <p:spPr>
          <a:xfrm>
            <a:off x="6248095" y="1067105"/>
            <a:ext cx="5333695" cy="1686154"/>
          </a:xfrm>
          <a:prstGeom prst="rect">
            <a:avLst/>
          </a:prstGeom>
        </p:spPr>
      </p:pic>
      <p:grpSp>
        <p:nvGrpSpPr>
          <p:cNvPr id="35" name="그룹 34">
            <a:extLst>
              <a:ext uri="{FF2B5EF4-FFF2-40B4-BE49-F238E27FC236}">
                <a16:creationId xmlns:a16="http://schemas.microsoft.com/office/drawing/2014/main" id="{54694A89-16E9-5513-BC06-723A338F22F6}"/>
              </a:ext>
            </a:extLst>
          </p:cNvPr>
          <p:cNvGrpSpPr/>
          <p:nvPr/>
        </p:nvGrpSpPr>
        <p:grpSpPr>
          <a:xfrm>
            <a:off x="6302523" y="3343046"/>
            <a:ext cx="5333695" cy="3005633"/>
            <a:chOff x="6248095" y="3052267"/>
            <a:chExt cx="5333695" cy="3005633"/>
          </a:xfrm>
        </p:grpSpPr>
        <p:pic>
          <p:nvPicPr>
            <p:cNvPr id="14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248095" y="3114446"/>
              <a:ext cx="228600" cy="228600"/>
            </a:xfrm>
            <a:prstGeom prst="rect">
              <a:avLst/>
            </a:prstGeom>
          </p:spPr>
        </p:pic>
        <p:sp>
          <p:nvSpPr>
            <p:cNvPr id="15" name="Text 9"/>
            <p:cNvSpPr txBox="1"/>
            <p:nvPr/>
          </p:nvSpPr>
          <p:spPr>
            <a:xfrm>
              <a:off x="6628942" y="3052267"/>
              <a:ext cx="210769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0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프로세스 타임라인</a:t>
              </a:r>
              <a:endParaRPr lang="en-US" sz="2000" dirty="0"/>
            </a:p>
          </p:txBody>
        </p:sp>
        <p:sp>
          <p:nvSpPr>
            <p:cNvPr id="16" name="Shape 10"/>
            <p:cNvSpPr/>
            <p:nvPr/>
          </p:nvSpPr>
          <p:spPr>
            <a:xfrm>
              <a:off x="6248095" y="4000500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7" name="Shape 11"/>
            <p:cNvSpPr/>
            <p:nvPr/>
          </p:nvSpPr>
          <p:spPr>
            <a:xfrm>
              <a:off x="6248095" y="3590849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18" name="Text 12"/>
            <p:cNvSpPr txBox="1"/>
            <p:nvPr/>
          </p:nvSpPr>
          <p:spPr>
            <a:xfrm>
              <a:off x="6457493" y="3657600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5분</a:t>
              </a:r>
              <a:endParaRPr lang="en-US" sz="1400" dirty="0"/>
            </a:p>
          </p:txBody>
        </p:sp>
        <p:sp>
          <p:nvSpPr>
            <p:cNvPr id="19" name="Text 13"/>
            <p:cNvSpPr txBox="1"/>
            <p:nvPr/>
          </p:nvSpPr>
          <p:spPr>
            <a:xfrm>
              <a:off x="7162495" y="3614623"/>
              <a:ext cx="2221992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아이데이션 (Ideation)</a:t>
              </a:r>
              <a:endParaRPr lang="en-US" sz="1600" dirty="0"/>
            </a:p>
          </p:txBody>
        </p:sp>
        <p:sp>
          <p:nvSpPr>
            <p:cNvPr id="20" name="Shape 14"/>
            <p:cNvSpPr/>
            <p:nvPr/>
          </p:nvSpPr>
          <p:spPr>
            <a:xfrm>
              <a:off x="6248095" y="4533595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1" name="Shape 15"/>
            <p:cNvSpPr/>
            <p:nvPr/>
          </p:nvSpPr>
          <p:spPr>
            <a:xfrm>
              <a:off x="6248095" y="412394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2" name="Text 16"/>
            <p:cNvSpPr txBox="1"/>
            <p:nvPr/>
          </p:nvSpPr>
          <p:spPr>
            <a:xfrm>
              <a:off x="6457493" y="419069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7분</a:t>
              </a:r>
              <a:endParaRPr lang="en-US" sz="14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7162495" y="4147718"/>
              <a:ext cx="212049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AI 대본 작성 (Script)</a:t>
              </a:r>
              <a:endParaRPr lang="en-US" sz="1600" dirty="0"/>
            </a:p>
          </p:txBody>
        </p:sp>
        <p:sp>
          <p:nvSpPr>
            <p:cNvPr id="24" name="Shape 18"/>
            <p:cNvSpPr/>
            <p:nvPr/>
          </p:nvSpPr>
          <p:spPr>
            <a:xfrm>
              <a:off x="6248095" y="5067605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5" name="Shape 19"/>
            <p:cNvSpPr/>
            <p:nvPr/>
          </p:nvSpPr>
          <p:spPr>
            <a:xfrm>
              <a:off x="6248095" y="465795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6457493" y="472470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6분</a:t>
              </a:r>
              <a:endParaRPr lang="en-US" sz="1400" dirty="0"/>
            </a:p>
          </p:txBody>
        </p:sp>
        <p:sp>
          <p:nvSpPr>
            <p:cNvPr id="27" name="Text 21"/>
            <p:cNvSpPr txBox="1"/>
            <p:nvPr/>
          </p:nvSpPr>
          <p:spPr>
            <a:xfrm>
              <a:off x="7162495" y="4681728"/>
              <a:ext cx="308061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스토리보드 구성 (Storyboard)</a:t>
              </a:r>
              <a:endParaRPr lang="en-US" sz="1600" dirty="0"/>
            </a:p>
          </p:txBody>
        </p:sp>
        <p:sp>
          <p:nvSpPr>
            <p:cNvPr id="28" name="Shape 22"/>
            <p:cNvSpPr/>
            <p:nvPr/>
          </p:nvSpPr>
          <p:spPr>
            <a:xfrm>
              <a:off x="6248095" y="5600700"/>
              <a:ext cx="5333695" cy="9144"/>
            </a:xfrm>
            <a:prstGeom prst="rect">
              <a:avLst/>
            </a:prstGeom>
            <a:solidFill>
              <a:srgbClr val="EEEEEE"/>
            </a:solidFill>
            <a:ln w="12700">
              <a:solidFill>
                <a:srgbClr val="EEEEEE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29" name="Shape 23"/>
            <p:cNvSpPr/>
            <p:nvPr/>
          </p:nvSpPr>
          <p:spPr>
            <a:xfrm>
              <a:off x="6248095" y="5191049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0" name="Text 24"/>
            <p:cNvSpPr txBox="1"/>
            <p:nvPr/>
          </p:nvSpPr>
          <p:spPr>
            <a:xfrm>
              <a:off x="6457493" y="5257800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7분</a:t>
              </a:r>
              <a:endParaRPr lang="en-US" sz="14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7162495" y="5214823"/>
              <a:ext cx="2822753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영상 편집 및 자막 (Subtitle)</a:t>
              </a:r>
              <a:endParaRPr lang="en-US" sz="1600" dirty="0"/>
            </a:p>
          </p:txBody>
        </p:sp>
        <p:sp>
          <p:nvSpPr>
            <p:cNvPr id="32" name="Shape 26"/>
            <p:cNvSpPr/>
            <p:nvPr/>
          </p:nvSpPr>
          <p:spPr>
            <a:xfrm>
              <a:off x="6248095" y="5724144"/>
              <a:ext cx="761695" cy="333756"/>
            </a:xfrm>
            <a:prstGeom prst="roundRect">
              <a:avLst>
                <a:gd name="adj" fmla="val 156556"/>
              </a:avLst>
            </a:prstGeom>
            <a:solidFill>
              <a:srgbClr val="FFF3EB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000"/>
            </a:p>
          </p:txBody>
        </p:sp>
        <p:sp>
          <p:nvSpPr>
            <p:cNvPr id="33" name="Text 27"/>
            <p:cNvSpPr txBox="1"/>
            <p:nvPr/>
          </p:nvSpPr>
          <p:spPr>
            <a:xfrm>
              <a:off x="6457493" y="5790895"/>
              <a:ext cx="35295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5분</a:t>
              </a:r>
              <a:endParaRPr lang="en-US" sz="1400" dirty="0"/>
            </a:p>
          </p:txBody>
        </p:sp>
        <p:sp>
          <p:nvSpPr>
            <p:cNvPr id="34" name="Text 28"/>
            <p:cNvSpPr txBox="1"/>
            <p:nvPr/>
          </p:nvSpPr>
          <p:spPr>
            <a:xfrm>
              <a:off x="7162495" y="5747918"/>
              <a:ext cx="3003804" cy="2862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333333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최종 검토 및 업로드 (Review)</a:t>
              </a:r>
              <a:endParaRPr lang="en-US" sz="1600" dirty="0"/>
            </a:p>
          </p:txBody>
        </p:sp>
      </p:grpSp>
      <p:sp>
        <p:nvSpPr>
          <p:cNvPr id="37" name="Text 2">
            <a:extLst>
              <a:ext uri="{FF2B5EF4-FFF2-40B4-BE49-F238E27FC236}">
                <a16:creationId xmlns:a16="http://schemas.microsoft.com/office/drawing/2014/main" id="{88FB3E4D-948E-C184-2ACF-5CAC084B06D9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C0531D9E-C3E7-3C7D-19CC-80B2B1EA8128}"/>
              </a:ext>
            </a:extLst>
          </p:cNvPr>
          <p:cNvSpPr/>
          <p:nvPr/>
        </p:nvSpPr>
        <p:spPr>
          <a:xfrm>
            <a:off x="10010480" y="-684755"/>
            <a:ext cx="3251476" cy="3251476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803478BC-D510-9BAC-FA87-ABBFDC5B02C4}"/>
              </a:ext>
            </a:extLst>
          </p:cNvPr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401507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14. 30분 워크플로우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                 </a:t>
            </a:r>
            <a:r>
              <a:rPr lang="en-US" sz="4200" b="1" kern="0" spc="-75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체크리스트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647395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D439EBC-2D8F-60AB-D3E8-D1DE069326F9}"/>
              </a:ext>
            </a:extLst>
          </p:cNvPr>
          <p:cNvGrpSpPr/>
          <p:nvPr/>
        </p:nvGrpSpPr>
        <p:grpSpPr>
          <a:xfrm>
            <a:off x="1001184" y="2229210"/>
            <a:ext cx="6041823" cy="3578047"/>
            <a:chOff x="609905" y="2706624"/>
            <a:chExt cx="5896051" cy="3578047"/>
          </a:xfrm>
        </p:grpSpPr>
        <p:sp>
          <p:nvSpPr>
            <p:cNvPr id="6" name="Text 4"/>
            <p:cNvSpPr txBox="1"/>
            <p:nvPr/>
          </p:nvSpPr>
          <p:spPr>
            <a:xfrm>
              <a:off x="876910" y="2706624"/>
              <a:ext cx="55531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아이데이션 (Ideation)</a:t>
              </a:r>
              <a:endParaRPr lang="en-US" dirty="0"/>
            </a:p>
          </p:txBody>
        </p:sp>
        <p:pic>
          <p:nvPicPr>
            <p:cNvPr id="7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2768803"/>
              <a:ext cx="190195" cy="190195"/>
            </a:xfrm>
            <a:prstGeom prst="rect">
              <a:avLst/>
            </a:prstGeom>
          </p:spPr>
        </p:pic>
        <p:sp>
          <p:nvSpPr>
            <p:cNvPr id="8" name="Text 5"/>
            <p:cNvSpPr txBox="1"/>
            <p:nvPr/>
          </p:nvSpPr>
          <p:spPr>
            <a:xfrm>
              <a:off x="609905" y="3079699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타겟 페르소나, 해결할 문제, 제공할 약속(Value)이 한 줄로 명확히 </a:t>
              </a: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정리되었나요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?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모호한 컨셉은 제작 시간을 지연시킵니다.</a:t>
              </a:r>
              <a:endParaRPr lang="en-US" sz="1200" dirty="0"/>
            </a:p>
          </p:txBody>
        </p:sp>
        <p:sp>
          <p:nvSpPr>
            <p:cNvPr id="9" name="Shape 6"/>
            <p:cNvSpPr/>
            <p:nvPr/>
          </p:nvSpPr>
          <p:spPr>
            <a:xfrm>
              <a:off x="609905" y="3803904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10" name="Text 7"/>
            <p:cNvSpPr txBox="1"/>
            <p:nvPr/>
          </p:nvSpPr>
          <p:spPr>
            <a:xfrm>
              <a:off x="876910" y="4080053"/>
              <a:ext cx="562904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대본 및 스토리보드</a:t>
              </a:r>
              <a:endParaRPr lang="en-US" dirty="0"/>
            </a:p>
          </p:txBody>
        </p:sp>
        <p:pic>
          <p:nvPicPr>
            <p:cNvPr id="11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4142232"/>
              <a:ext cx="190195" cy="190195"/>
            </a:xfrm>
            <a:prstGeom prst="rect">
              <a:avLst/>
            </a:prstGeom>
          </p:spPr>
        </p:pic>
        <p:sp>
          <p:nvSpPr>
            <p:cNvPr id="12" name="Text 8"/>
            <p:cNvSpPr txBox="1"/>
            <p:nvPr/>
          </p:nvSpPr>
          <p:spPr>
            <a:xfrm>
              <a:off x="609905" y="4454042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Hook 3가지 버전 중 최적안을 선택했나요?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6프레임 썸네일 스케치를 통해 시각적 구성을 미리 확정했는지 확인하세요.</a:t>
              </a:r>
              <a:endParaRPr lang="en-US" sz="12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609905" y="517733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pPr>
                <a:lnSpc>
                  <a:spcPct val="150000"/>
                </a:lnSpc>
              </a:pPr>
              <a:endParaRPr lang="ko-KR" altLang="en-US"/>
            </a:p>
          </p:txBody>
        </p:sp>
        <p:sp>
          <p:nvSpPr>
            <p:cNvPr id="14" name="Text 10"/>
            <p:cNvSpPr txBox="1"/>
            <p:nvPr/>
          </p:nvSpPr>
          <p:spPr>
            <a:xfrm>
              <a:off x="876910" y="5453482"/>
              <a:ext cx="5553151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자막 편집 및 QA</a:t>
              </a:r>
              <a:endParaRPr lang="en-US" dirty="0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09905" y="5515661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609905" y="5827471"/>
              <a:ext cx="5781751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자동 생성된 자막의 오타를 수정하고 핵심 키워드를 강조했나요?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200" dirty="0" err="1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</a:t>
              </a:r>
              <a:r>
                <a:rPr lang="en-US" sz="12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잘림, 라인 간격, 정렬 등 시청 방해 요소를 최종 점검하세요.</a:t>
              </a:r>
              <a:endParaRPr lang="en-US" sz="1200" dirty="0"/>
            </a:p>
          </p:txBody>
        </p:sp>
      </p:grpSp>
      <p:pic>
        <p:nvPicPr>
          <p:cNvPr id="19" name="Image 0" descr="preencoded.png">
            <a:extLst>
              <a:ext uri="{FF2B5EF4-FFF2-40B4-BE49-F238E27FC236}">
                <a16:creationId xmlns:a16="http://schemas.microsoft.com/office/drawing/2014/main" id="{C5B3708F-01E3-AFBE-7000-38040D23D56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6236" r="26236"/>
          <a:stretch/>
        </p:blipFill>
        <p:spPr>
          <a:xfrm>
            <a:off x="7517957" y="1068891"/>
            <a:ext cx="4074806" cy="4466844"/>
          </a:xfrm>
          <a:prstGeom prst="rect">
            <a:avLst/>
          </a:prstGeom>
        </p:spPr>
      </p:pic>
      <p:sp>
        <p:nvSpPr>
          <p:cNvPr id="21" name="Text 2">
            <a:extLst>
              <a:ext uri="{FF2B5EF4-FFF2-40B4-BE49-F238E27FC236}">
                <a16:creationId xmlns:a16="http://schemas.microsoft.com/office/drawing/2014/main" id="{C885FB7E-1EA3-8082-32D8-1D40EF229F36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DEB0BEC9-8378-E9F7-665C-95E74399AAE7}"/>
              </a:ext>
            </a:extLst>
          </p:cNvPr>
          <p:cNvSpPr/>
          <p:nvPr/>
        </p:nvSpPr>
        <p:spPr>
          <a:xfrm>
            <a:off x="-844925" y="1893365"/>
            <a:ext cx="5714608" cy="571460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3695281A-91C2-BFDB-EED7-9EC7D8C373C2}"/>
              </a:ext>
            </a:extLst>
          </p:cNvPr>
          <p:cNvSpPr/>
          <p:nvPr/>
        </p:nvSpPr>
        <p:spPr>
          <a:xfrm>
            <a:off x="6808318" y="202955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E2C62C0B-4F3A-DFA5-CDB1-76D8D8C85C70}"/>
              </a:ext>
            </a:extLst>
          </p:cNvPr>
          <p:cNvSpPr/>
          <p:nvPr/>
        </p:nvSpPr>
        <p:spPr>
          <a:xfrm>
            <a:off x="3375975" y="-1542217"/>
            <a:ext cx="5853967" cy="585396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773168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476402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9D5E5D2B-4DE0-F3E1-3FDA-4C4A39FA082A}"/>
              </a:ext>
            </a:extLst>
          </p:cNvPr>
          <p:cNvGrpSpPr/>
          <p:nvPr/>
        </p:nvGrpSpPr>
        <p:grpSpPr>
          <a:xfrm>
            <a:off x="5236769" y="1802282"/>
            <a:ext cx="6353251" cy="4604004"/>
            <a:chOff x="5236769" y="457200"/>
            <a:chExt cx="6353251" cy="5949086"/>
          </a:xfrm>
        </p:grpSpPr>
        <p:sp>
          <p:nvSpPr>
            <p:cNvPr id="6" name="Shape 4"/>
            <p:cNvSpPr/>
            <p:nvPr/>
          </p:nvSpPr>
          <p:spPr>
            <a:xfrm>
              <a:off x="5236769" y="457200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Shape 5"/>
            <p:cNvSpPr/>
            <p:nvPr/>
          </p:nvSpPr>
          <p:spPr>
            <a:xfrm>
              <a:off x="5465369" y="685800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 6"/>
            <p:cNvSpPr txBox="1"/>
            <p:nvPr/>
          </p:nvSpPr>
          <p:spPr>
            <a:xfrm>
              <a:off x="5621731" y="790956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2100" dirty="0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302959" y="954634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시간 관리 (Time Management)</a:t>
              </a:r>
              <a:endParaRPr lang="en-US" sz="16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302959" y="1345082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타이머(포모도로), 키보드 단축키, 에셋 </a:t>
              </a: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라이브러리를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적극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활용하여 반복 작업 시간을 단축하고 제작 효율을 높입니다.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5236769" y="2508199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Shape 10"/>
            <p:cNvSpPr/>
            <p:nvPr/>
          </p:nvSpPr>
          <p:spPr>
            <a:xfrm>
              <a:off x="5465369" y="2736799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5621731" y="2841041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2100" dirty="0"/>
            </a:p>
          </p:txBody>
        </p:sp>
        <p:sp>
          <p:nvSpPr>
            <p:cNvPr id="14" name="Text 12"/>
            <p:cNvSpPr txBox="1"/>
            <p:nvPr/>
          </p:nvSpPr>
          <p:spPr>
            <a:xfrm>
              <a:off x="6302959" y="3004718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품질 보증 (QA Checklist)</a:t>
              </a:r>
              <a:endParaRPr lang="en-US" sz="1600" dirty="0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6302959" y="3396082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글자 잘림, 라인 간격, 폰트 정렬, 배경 대비, 오디오 피크(음량)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경험을 해치는 요소를 최종적으로 점검합니다.</a:t>
              </a:r>
              <a:endParaRPr lang="en-US" sz="14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236769" y="4558284"/>
              <a:ext cx="6353251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Shape 15"/>
            <p:cNvSpPr/>
            <p:nvPr/>
          </p:nvSpPr>
          <p:spPr>
            <a:xfrm>
              <a:off x="5465369" y="4786884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 16"/>
            <p:cNvSpPr txBox="1"/>
            <p:nvPr/>
          </p:nvSpPr>
          <p:spPr>
            <a:xfrm>
              <a:off x="5621731" y="4892040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2100" dirty="0"/>
            </a:p>
          </p:txBody>
        </p:sp>
        <p:sp>
          <p:nvSpPr>
            <p:cNvPr id="19" name="Text 17"/>
            <p:cNvSpPr txBox="1"/>
            <p:nvPr/>
          </p:nvSpPr>
          <p:spPr>
            <a:xfrm>
              <a:off x="6302959" y="5055718"/>
              <a:ext cx="5172761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업로드 최적화 (Upload)</a:t>
              </a:r>
              <a:endParaRPr lang="en-US" sz="1600" dirty="0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6302959" y="5446166"/>
              <a:ext cx="5134356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썸네일, 영상 설명, 관련 해시태그, 고정 댓글 작성 등 </a:t>
              </a:r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플랫폼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알고리즘이 선호하는 메타데이터를 꼼꼼히 챙깁니다.</a:t>
              </a:r>
              <a:endParaRPr lang="en-US" sz="1400" dirty="0"/>
            </a:p>
          </p:txBody>
        </p:sp>
      </p:grpSp>
      <p:sp>
        <p:nvSpPr>
          <p:cNvPr id="21" name="Text 19"/>
          <p:cNvSpPr txBox="1"/>
          <p:nvPr/>
        </p:nvSpPr>
        <p:spPr>
          <a:xfrm>
            <a:off x="795071" y="680679"/>
            <a:ext cx="3854196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15. 시간 관리 &amp;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2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</a:t>
            </a: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QA</a:t>
            </a:r>
            <a:endParaRPr lang="en-US" sz="4200" dirty="0"/>
          </a:p>
        </p:txBody>
      </p:sp>
      <p:sp>
        <p:nvSpPr>
          <p:cNvPr id="22" name="Text 20"/>
          <p:cNvSpPr txBox="1"/>
          <p:nvPr/>
        </p:nvSpPr>
        <p:spPr>
          <a:xfrm>
            <a:off x="9787738" y="1013521"/>
            <a:ext cx="1802282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효율화 및 최종 점검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39936" y="899221"/>
            <a:ext cx="2018995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F7749414-CDA1-92F7-95DB-0FA3CF3E01F9}"/>
              </a:ext>
            </a:extLst>
          </p:cNvPr>
          <p:cNvSpPr txBox="1"/>
          <p:nvPr/>
        </p:nvSpPr>
        <p:spPr>
          <a:xfrm>
            <a:off x="161849" y="5625035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</a:t>
            </a:r>
            <a:endParaRPr lang="en-US" sz="7500" dirty="0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B85F222E-B28D-D761-6B20-5C424748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838087" y="2305157"/>
            <a:ext cx="3768163" cy="3299357"/>
          </a:xfrm>
          <a:prstGeom prst="rect">
            <a:avLst/>
          </a:prstGeom>
        </p:spPr>
      </p:pic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E3A66B35-A523-F223-1C2A-14EE8B85A0F3}"/>
              </a:ext>
            </a:extLst>
          </p:cNvPr>
          <p:cNvSpPr/>
          <p:nvPr/>
        </p:nvSpPr>
        <p:spPr>
          <a:xfrm>
            <a:off x="-1472917" y="-1170479"/>
            <a:ext cx="8759088" cy="8759088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20852" y="579730"/>
            <a:ext cx="3516782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16.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실전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사례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: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AI 공부법</a:t>
            </a:r>
            <a:endParaRPr lang="en-US" sz="3900" dirty="0"/>
          </a:p>
          <a:p>
            <a:pPr marL="0" indent="0" algn="l">
              <a:buNone/>
            </a:pP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</a:t>
            </a:r>
            <a:r>
              <a:rPr lang="en-US" sz="3900" b="1" kern="0" spc="-112" dirty="0" err="1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숏폼</a:t>
            </a:r>
            <a:r>
              <a:rPr lang="en-US" sz="39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제작기</a:t>
            </a:r>
            <a:endParaRPr lang="en-US" sz="3900" dirty="0"/>
          </a:p>
        </p:txBody>
      </p:sp>
      <p:sp>
        <p:nvSpPr>
          <p:cNvPr id="6" name="Shape 4"/>
          <p:cNvSpPr/>
          <p:nvPr/>
        </p:nvSpPr>
        <p:spPr>
          <a:xfrm>
            <a:off x="690329" y="2593239"/>
            <a:ext cx="2066544" cy="485546"/>
          </a:xfrm>
          <a:prstGeom prst="roundRect">
            <a:avLst>
              <a:gd name="adj" fmla="val 184631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38131" y="2707539"/>
            <a:ext cx="180594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 제작 프로세스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907585" y="457200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9" name="Shape 7"/>
          <p:cNvSpPr/>
          <p:nvPr/>
        </p:nvSpPr>
        <p:spPr>
          <a:xfrm>
            <a:off x="5097780" y="874166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0" name="Text 8"/>
          <p:cNvSpPr txBox="1"/>
          <p:nvPr/>
        </p:nvSpPr>
        <p:spPr>
          <a:xfrm>
            <a:off x="5236769" y="969264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5821985" y="769010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(Planning)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821985" y="1111910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"AI로 공부 시간 절반 줄이기"라는 명확한 컨셉을 정의하고,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시청자에게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확실한 이득을 약속하여 후킹합니다.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07585" y="1982419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4" name="Shape 12"/>
          <p:cNvSpPr/>
          <p:nvPr/>
        </p:nvSpPr>
        <p:spPr>
          <a:xfrm>
            <a:off x="5097780" y="2399386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3"/>
          <p:cNvSpPr txBox="1"/>
          <p:nvPr/>
        </p:nvSpPr>
        <p:spPr>
          <a:xfrm>
            <a:off x="5236769" y="2494483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5821985" y="2294230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대본 작성 (Scripting)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821985" y="2637130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GPT에게 페르소나를 부여하고,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Hook-Body-</a:t>
            </a: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CTA의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3단 구조로 120자 이내의 간결한 대본을 작성합니다.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907585" y="3508553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Shape 17"/>
          <p:cNvSpPr/>
          <p:nvPr/>
        </p:nvSpPr>
        <p:spPr>
          <a:xfrm>
            <a:off x="5097780" y="3924605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0" name="Text 18"/>
          <p:cNvSpPr txBox="1"/>
          <p:nvPr/>
        </p:nvSpPr>
        <p:spPr>
          <a:xfrm>
            <a:off x="5236769" y="4019702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5821985" y="3820363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스토리보드 (Storyboard)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821985" y="4163263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6컷 구조(도입 2컷, 본론 3컷, 마무리 1컷)로 시각화하여,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화면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전환과 자막 위치를 미리 설계합니다.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07585" y="5033772"/>
            <a:ext cx="6676949" cy="1371600"/>
          </a:xfrm>
          <a:prstGeom prst="roundRect">
            <a:avLst>
              <a:gd name="adj" fmla="val 7407"/>
            </a:avLst>
          </a:prstGeom>
          <a:solidFill>
            <a:srgbClr val="F8F9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24" name="Shape 22"/>
          <p:cNvSpPr/>
          <p:nvPr/>
        </p:nvSpPr>
        <p:spPr>
          <a:xfrm>
            <a:off x="5097780" y="5450738"/>
            <a:ext cx="533095" cy="533095"/>
          </a:xfrm>
          <a:prstGeom prst="roundRect">
            <a:avLst>
              <a:gd name="adj" fmla="val 42882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016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 sz="2000"/>
          </a:p>
        </p:txBody>
      </p:sp>
      <p:sp>
        <p:nvSpPr>
          <p:cNvPr id="25" name="Text 23"/>
          <p:cNvSpPr txBox="1"/>
          <p:nvPr/>
        </p:nvSpPr>
        <p:spPr>
          <a:xfrm>
            <a:off x="5236769" y="5545836"/>
            <a:ext cx="33375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5821985" y="5345582"/>
            <a:ext cx="568665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편집 (Editing)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5821985" y="5688482"/>
            <a:ext cx="5649163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CapCut 템플릿을 활용해 컷 편집 시간을 단축하고, </a:t>
            </a:r>
          </a:p>
          <a:p>
            <a:pPr marL="0" indent="0" algn="l">
              <a:lnSpc>
                <a:spcPts val="2000"/>
              </a:lnSpc>
              <a:buNone/>
            </a:pPr>
            <a:r>
              <a:rPr lang="en-US" sz="1400" dirty="0" err="1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Vrew의</a:t>
            </a:r>
            <a:r>
              <a:rPr lang="en-US" sz="1400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 자동 자막 기능을 사용하여 15분 내 완성합니다.</a:t>
            </a:r>
            <a:endParaRPr lang="en-US" sz="1400" dirty="0"/>
          </a:p>
        </p:txBody>
      </p:sp>
      <p:sp>
        <p:nvSpPr>
          <p:cNvPr id="28" name="Text 2">
            <a:extLst>
              <a:ext uri="{FF2B5EF4-FFF2-40B4-BE49-F238E27FC236}">
                <a16:creationId xmlns:a16="http://schemas.microsoft.com/office/drawing/2014/main" id="{1E1AA35A-135B-9BAD-10CA-14E7B9062F61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</a:t>
            </a:r>
            <a:endParaRPr lang="en-US" sz="7500" dirty="0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33D8C570-BCDE-1906-848E-A8D213E8EAA0}"/>
              </a:ext>
            </a:extLst>
          </p:cNvPr>
          <p:cNvSpPr/>
          <p:nvPr/>
        </p:nvSpPr>
        <p:spPr>
          <a:xfrm>
            <a:off x="10948873" y="-72603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preencoded.png">
            <a:extLst>
              <a:ext uri="{FF2B5EF4-FFF2-40B4-BE49-F238E27FC236}">
                <a16:creationId xmlns:a16="http://schemas.microsoft.com/office/drawing/2014/main" id="{A45F0A3F-2F16-51AF-6D8D-31F16860AFF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720852" y="3355305"/>
            <a:ext cx="3461414" cy="3030771"/>
          </a:xfrm>
          <a:prstGeom prst="rect">
            <a:avLst/>
          </a:prstGeom>
        </p:spPr>
      </p:pic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4448556" y="457200"/>
            <a:ext cx="9144" cy="5943600"/>
          </a:xfrm>
          <a:prstGeom prst="rect">
            <a:avLst/>
          </a:prstGeom>
          <a:solidFill>
            <a:srgbClr val="000000">
              <a:alpha val="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03174" y="518922"/>
            <a:ext cx="3516782" cy="1705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0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17. 성과 지표와</a:t>
            </a:r>
            <a:endParaRPr lang="en-US" sz="4000" dirty="0"/>
          </a:p>
          <a:p>
            <a:pPr marL="0" indent="0" algn="l">
              <a:buNone/>
            </a:pPr>
            <a:r>
              <a:rPr lang="en-US" sz="40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</a:t>
            </a:r>
            <a:r>
              <a:rPr lang="en-US" sz="4000" b="1" kern="0" spc="-112" dirty="0" err="1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9660636" y="678244"/>
            <a:ext cx="1923898" cy="523951"/>
          </a:xfrm>
          <a:prstGeom prst="roundRect">
            <a:avLst>
              <a:gd name="adj" fmla="val 158655"/>
            </a:avLst>
          </a:prstGeom>
          <a:noFill/>
          <a:ln w="25400">
            <a:solidFill>
              <a:srgbClr val="FF690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9945929" y="811747"/>
            <a:ext cx="1618488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및 개선 전략</a:t>
            </a:r>
            <a:endParaRPr lang="en-US" sz="1300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99C63C5D-1BEB-C24B-363C-37B8196F1157}"/>
              </a:ext>
            </a:extLst>
          </p:cNvPr>
          <p:cNvGrpSpPr/>
          <p:nvPr/>
        </p:nvGrpSpPr>
        <p:grpSpPr>
          <a:xfrm>
            <a:off x="4907585" y="1600200"/>
            <a:ext cx="6676949" cy="4806086"/>
            <a:chOff x="4907585" y="457200"/>
            <a:chExt cx="6676949" cy="5949086"/>
          </a:xfrm>
        </p:grpSpPr>
        <p:sp>
          <p:nvSpPr>
            <p:cNvPr id="8" name="Shape 6"/>
            <p:cNvSpPr/>
            <p:nvPr/>
          </p:nvSpPr>
          <p:spPr>
            <a:xfrm>
              <a:off x="4907585" y="457200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7"/>
            <p:cNvSpPr/>
            <p:nvPr/>
          </p:nvSpPr>
          <p:spPr>
            <a:xfrm>
              <a:off x="5212080" y="761695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5368442" y="866851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01</a:t>
              </a:r>
              <a:endParaRPr lang="en-US" sz="2100" dirty="0"/>
            </a:p>
          </p:txBody>
        </p:sp>
        <p:sp>
          <p:nvSpPr>
            <p:cNvPr id="11" name="Text 9"/>
            <p:cNvSpPr txBox="1"/>
            <p:nvPr/>
          </p:nvSpPr>
          <p:spPr>
            <a:xfrm>
              <a:off x="6050585" y="926287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주요 지표 (Key Metrics)</a:t>
              </a:r>
              <a:endParaRPr lang="en-US" sz="1800" dirty="0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60614" y="1461301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AI 영상의 성과를 정량적으로 확인했습니다.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b="1" dirty="0" err="1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완시율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38%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저장률 2.3%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,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댓글 0.7%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달성하여 목표치를 상회했습니다.</a:t>
              </a:r>
              <a:endParaRPr lang="en-US" sz="1400" dirty="0"/>
            </a:p>
          </p:txBody>
        </p:sp>
        <p:sp>
          <p:nvSpPr>
            <p:cNvPr id="13" name="Shape 11"/>
            <p:cNvSpPr/>
            <p:nvPr/>
          </p:nvSpPr>
          <p:spPr>
            <a:xfrm>
              <a:off x="4907585" y="2508199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2"/>
            <p:cNvSpPr/>
            <p:nvPr/>
          </p:nvSpPr>
          <p:spPr>
            <a:xfrm>
              <a:off x="5212080" y="2812694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3"/>
            <p:cNvSpPr txBox="1"/>
            <p:nvPr/>
          </p:nvSpPr>
          <p:spPr>
            <a:xfrm>
              <a:off x="5368442" y="2916936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02</a:t>
              </a:r>
              <a:endParaRPr lang="en-US" sz="2100" dirty="0"/>
            </a:p>
          </p:txBody>
        </p:sp>
        <p:sp>
          <p:nvSpPr>
            <p:cNvPr id="16" name="Text 14"/>
            <p:cNvSpPr txBox="1"/>
            <p:nvPr/>
          </p:nvSpPr>
          <p:spPr>
            <a:xfrm>
              <a:off x="6050585" y="2976372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핵심 인사이트 (Key Insights)</a:t>
              </a:r>
              <a:endParaRPr lang="en-US" sz="1800" dirty="0"/>
            </a:p>
          </p:txBody>
        </p:sp>
        <p:sp>
          <p:nvSpPr>
            <p:cNvPr id="17" name="Text 15"/>
            <p:cNvSpPr txBox="1"/>
            <p:nvPr/>
          </p:nvSpPr>
          <p:spPr>
            <a:xfrm>
              <a:off x="6060614" y="3512302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시청자 이탈을 막는 데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첫 3초 후킹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 결정적이었습니다.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시각적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패턴 인터럽트가 초기 시청 지속 시간을 크게 늘렸습니다.</a:t>
              </a:r>
              <a:endParaRPr lang="en-US" sz="140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4907585" y="4558284"/>
              <a:ext cx="6676949" cy="1848002"/>
            </a:xfrm>
            <a:prstGeom prst="roundRect">
              <a:avLst>
                <a:gd name="adj" fmla="val 5101"/>
              </a:avLst>
            </a:prstGeom>
            <a:solidFill>
              <a:srgbClr val="F8F9FA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Shape 17"/>
            <p:cNvSpPr/>
            <p:nvPr/>
          </p:nvSpPr>
          <p:spPr>
            <a:xfrm>
              <a:off x="5212080" y="4862779"/>
              <a:ext cx="609905" cy="609905"/>
            </a:xfrm>
            <a:prstGeom prst="roundRect">
              <a:avLst>
                <a:gd name="adj" fmla="val 37481"/>
              </a:avLst>
            </a:prstGeom>
            <a:solidFill>
              <a:srgbClr val="FF6908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  <a:effectLst>
              <a:outerShdw blurRad="101600" dist="38100" dir="16200000" algn="bl" rotWithShape="0">
                <a:srgbClr val="FF6908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8"/>
            <p:cNvSpPr txBox="1"/>
            <p:nvPr/>
          </p:nvSpPr>
          <p:spPr>
            <a:xfrm>
              <a:off x="5368442" y="4967935"/>
              <a:ext cx="381305" cy="40050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2100" b="1" dirty="0">
                  <a:solidFill>
                    <a:srgbClr val="FFFFFF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03</a:t>
              </a:r>
              <a:endParaRPr lang="en-US" sz="2100" dirty="0"/>
            </a:p>
          </p:txBody>
        </p:sp>
        <p:sp>
          <p:nvSpPr>
            <p:cNvPr id="21" name="Text 19"/>
            <p:cNvSpPr txBox="1"/>
            <p:nvPr/>
          </p:nvSpPr>
          <p:spPr>
            <a:xfrm>
              <a:off x="6050585" y="5027371"/>
              <a:ext cx="5343754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111111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개선 포인트 (Next Step)</a:t>
              </a:r>
              <a:endParaRPr lang="en-US" sz="1800" dirty="0"/>
            </a:p>
          </p:txBody>
        </p:sp>
        <p:sp>
          <p:nvSpPr>
            <p:cNvPr id="22" name="Text 20"/>
            <p:cNvSpPr txBox="1"/>
            <p:nvPr/>
          </p:nvSpPr>
          <p:spPr>
            <a:xfrm>
              <a:off x="6060614" y="5562385"/>
              <a:ext cx="5306263" cy="4864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참여도를 더 높이기 위해 </a:t>
              </a:r>
              <a:r>
                <a:rPr lang="en-US" sz="1400" b="1" dirty="0">
                  <a:solidFill>
                    <a:srgbClr val="FF690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CTA(행동 유도)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를 강화합니다. </a:t>
              </a:r>
            </a:p>
            <a:p>
              <a:pPr marL="0" indent="0" algn="l">
                <a:lnSpc>
                  <a:spcPts val="1800"/>
                </a:lnSpc>
                <a:buNone/>
              </a:pPr>
              <a:r>
                <a:rPr lang="en-US" sz="1400" dirty="0" err="1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질문형</a:t>
              </a:r>
              <a:r>
                <a:rPr lang="en-US" sz="1400" dirty="0">
                  <a:solidFill>
                    <a:srgbClr val="444444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멘트로 댓글 작성을 유도하여 커뮤니티 활성화를 목표로 합니다.</a:t>
              </a:r>
              <a:endParaRPr lang="en-US" sz="1400" dirty="0"/>
            </a:p>
          </p:txBody>
        </p:sp>
      </p:grpSp>
      <p:sp>
        <p:nvSpPr>
          <p:cNvPr id="24" name="Text 2">
            <a:extLst>
              <a:ext uri="{FF2B5EF4-FFF2-40B4-BE49-F238E27FC236}">
                <a16:creationId xmlns:a16="http://schemas.microsoft.com/office/drawing/2014/main" id="{FD9A9E58-64A8-00D5-9EA5-1494C851BC31}"/>
              </a:ext>
            </a:extLst>
          </p:cNvPr>
          <p:cNvSpPr txBox="1"/>
          <p:nvPr/>
        </p:nvSpPr>
        <p:spPr>
          <a:xfrm>
            <a:off x="201930" y="5714042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</a:t>
            </a:r>
            <a:endParaRPr lang="en-US" sz="7500" dirty="0"/>
          </a:p>
        </p:txBody>
      </p:sp>
      <p:sp>
        <p:nvSpPr>
          <p:cNvPr id="25" name="Shape 3">
            <a:extLst>
              <a:ext uri="{FF2B5EF4-FFF2-40B4-BE49-F238E27FC236}">
                <a16:creationId xmlns:a16="http://schemas.microsoft.com/office/drawing/2014/main" id="{D22147EF-F1D7-BAD5-3FE4-68A89BAC81BF}"/>
              </a:ext>
            </a:extLst>
          </p:cNvPr>
          <p:cNvSpPr/>
          <p:nvPr/>
        </p:nvSpPr>
        <p:spPr>
          <a:xfrm>
            <a:off x="-436321" y="5430811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5600E7CE-CEF0-1802-C9CB-4073F561466D}"/>
              </a:ext>
            </a:extLst>
          </p:cNvPr>
          <p:cNvSpPr/>
          <p:nvPr/>
        </p:nvSpPr>
        <p:spPr>
          <a:xfrm>
            <a:off x="-523037" y="-2264295"/>
            <a:ext cx="5357440" cy="5357440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7A11EC1F-41C4-7003-0E9B-40F96FD8E1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72" r="7172"/>
          <a:stretch/>
        </p:blipFill>
        <p:spPr>
          <a:xfrm>
            <a:off x="703174" y="2346672"/>
            <a:ext cx="3461414" cy="3030771"/>
          </a:xfrm>
          <a:prstGeom prst="rect">
            <a:avLst/>
          </a:prstGeom>
        </p:spPr>
      </p:pic>
      <p:sp>
        <p:nvSpPr>
          <p:cNvPr id="2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609905"/>
            <a:ext cx="8535010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200" b="1" kern="0" spc="-75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18. 실천 가이드: 주간 플랜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9678924" y="905256"/>
            <a:ext cx="191383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FOR UNIVERSITY WORKSHOP</a:t>
            </a:r>
            <a:endParaRPr lang="en-US" sz="10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96B64135-8A97-60F4-7300-C96CE62E4367}"/>
              </a:ext>
            </a:extLst>
          </p:cNvPr>
          <p:cNvGrpSpPr/>
          <p:nvPr/>
        </p:nvGrpSpPr>
        <p:grpSpPr>
          <a:xfrm>
            <a:off x="609904" y="1687286"/>
            <a:ext cx="5996635" cy="4512127"/>
            <a:chOff x="609905" y="2059229"/>
            <a:chExt cx="5820156" cy="3616452"/>
          </a:xfrm>
        </p:grpSpPr>
        <p:sp>
          <p:nvSpPr>
            <p:cNvPr id="6" name="Text 4"/>
            <p:cNvSpPr txBox="1"/>
            <p:nvPr/>
          </p:nvSpPr>
          <p:spPr>
            <a:xfrm>
              <a:off x="609905" y="2059229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기획 단계 (월 / 화)</a:t>
              </a:r>
              <a:endParaRPr lang="en-US" sz="1800" dirty="0"/>
            </a:p>
          </p:txBody>
        </p:sp>
        <p:sp>
          <p:nvSpPr>
            <p:cNvPr id="7" name="Text 5"/>
            <p:cNvSpPr txBox="1"/>
            <p:nvPr/>
          </p:nvSpPr>
          <p:spPr>
            <a:xfrm>
              <a:off x="609905" y="2452421"/>
              <a:ext cx="57817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월요일 (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아이데이션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페르소나와 문제를 정의하여 아이디어 5안 도출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화요일 (대본 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작성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선정된 아이디어로 Hook-Value-CTA 구조의 대본 3안 작성</a:t>
              </a:r>
              <a:endParaRPr lang="en-US" sz="14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609905" y="316883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 7"/>
            <p:cNvSpPr txBox="1"/>
            <p:nvPr/>
          </p:nvSpPr>
          <p:spPr>
            <a:xfrm>
              <a:off x="609905" y="3347618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제작 단계 (수 / 목)</a:t>
              </a:r>
              <a:endParaRPr lang="en-US" sz="1800" dirty="0"/>
            </a:p>
          </p:txBody>
        </p:sp>
        <p:sp>
          <p:nvSpPr>
            <p:cNvPr id="10" name="Text 8"/>
            <p:cNvSpPr txBox="1"/>
            <p:nvPr/>
          </p:nvSpPr>
          <p:spPr>
            <a:xfrm>
              <a:off x="609905" y="3739896"/>
              <a:ext cx="5781751" cy="4288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수요일 (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스토리보드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최적의 대본 1개를 선택하여 6프레임 스토리보드 구체화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목요일 (촬영/</a:t>
              </a: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편집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)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B-roll 촬영 및 컷 편집, AI 툴을 활용한 자막 생성 완료</a:t>
              </a:r>
              <a:endParaRPr lang="en-US" sz="1400" dirty="0"/>
            </a:p>
          </p:txBody>
        </p:sp>
        <p:sp>
          <p:nvSpPr>
            <p:cNvPr id="11" name="Shape 9"/>
            <p:cNvSpPr/>
            <p:nvPr/>
          </p:nvSpPr>
          <p:spPr>
            <a:xfrm>
              <a:off x="609905" y="4457223"/>
              <a:ext cx="5705856" cy="9144"/>
            </a:xfrm>
            <a:prstGeom prst="rect">
              <a:avLst/>
            </a:prstGeom>
            <a:solidFill>
              <a:srgbClr val="FF6908">
                <a:alpha val="40000"/>
              </a:srgbClr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 10"/>
            <p:cNvSpPr txBox="1"/>
            <p:nvPr/>
          </p:nvSpPr>
          <p:spPr>
            <a:xfrm>
              <a:off x="609905" y="4635094"/>
              <a:ext cx="5820156" cy="3054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6908"/>
                  </a:solidFill>
                  <a:latin typeface="Pretendard" pitchFamily="34" charset="0"/>
                  <a:ea typeface="Pretendard" pitchFamily="34" charset="-122"/>
                  <a:cs typeface="Pretendard" pitchFamily="34" charset="-120"/>
                </a:rPr>
                <a:t>배포 및 분석 (금 / 토 / 일)</a:t>
              </a:r>
              <a:endParaRPr lang="en-US" sz="1800" dirty="0"/>
            </a:p>
          </p:txBody>
        </p:sp>
        <p:sp>
          <p:nvSpPr>
            <p:cNvPr id="13" name="Text 11"/>
            <p:cNvSpPr txBox="1"/>
            <p:nvPr/>
          </p:nvSpPr>
          <p:spPr>
            <a:xfrm>
              <a:off x="609905" y="5027371"/>
              <a:ext cx="5781751" cy="6483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금요일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업로드 및 초기 1시간 반응 모니터링 (댓글 유도)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토요일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데이터 분석 (조회수, 완시율 체크)</a:t>
              </a:r>
              <a:endParaRPr lang="en-US" sz="1400" dirty="0"/>
            </a:p>
            <a:p>
              <a:pPr marL="0" indent="0" algn="l">
                <a:lnSpc>
                  <a:spcPct val="150000"/>
                </a:lnSpc>
                <a:buNone/>
              </a:pPr>
              <a:r>
                <a:rPr lang="en-US" sz="1400" b="1" dirty="0" err="1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일요일</a:t>
              </a:r>
              <a:r>
                <a:rPr lang="en-US" sz="1400" b="1" dirty="0">
                  <a:solidFill>
                    <a:srgbClr val="333333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:</a:t>
              </a:r>
              <a:r>
                <a:rPr lang="en-US" sz="1400" dirty="0">
                  <a:solidFill>
                    <a:srgbClr val="00000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 성과 저조 시 썸네일/캡션을 변형하여 리퍼포징 계획</a:t>
              </a:r>
              <a:endParaRPr lang="en-US" sz="1400" dirty="0"/>
            </a:p>
          </p:txBody>
        </p:sp>
      </p:grpSp>
      <p:sp>
        <p:nvSpPr>
          <p:cNvPr id="14" name="Shape 12"/>
          <p:cNvSpPr/>
          <p:nvPr/>
        </p:nvSpPr>
        <p:spPr>
          <a:xfrm>
            <a:off x="6925665" y="1660122"/>
            <a:ext cx="4667098" cy="4772254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292100" dist="101600" dir="16200000" algn="bl" rotWithShape="0">
              <a:srgbClr val="000000">
                <a:alpha val="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rcRect l="17336" r="17336"/>
          <a:stretch/>
        </p:blipFill>
        <p:spPr>
          <a:xfrm>
            <a:off x="6925665" y="1380345"/>
            <a:ext cx="4667098" cy="4772254"/>
          </a:xfrm>
          <a:prstGeom prst="rect">
            <a:avLst/>
          </a:prstGeom>
        </p:spPr>
      </p:pic>
      <p:sp>
        <p:nvSpPr>
          <p:cNvPr id="17" name="Shape 3">
            <a:extLst>
              <a:ext uri="{FF2B5EF4-FFF2-40B4-BE49-F238E27FC236}">
                <a16:creationId xmlns:a16="http://schemas.microsoft.com/office/drawing/2014/main" id="{08E83C5A-2C13-587D-2C0F-1FCFFD377FC3}"/>
              </a:ext>
            </a:extLst>
          </p:cNvPr>
          <p:cNvSpPr/>
          <p:nvPr/>
        </p:nvSpPr>
        <p:spPr>
          <a:xfrm>
            <a:off x="10629747" y="5429707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2">
            <a:extLst>
              <a:ext uri="{FF2B5EF4-FFF2-40B4-BE49-F238E27FC236}">
                <a16:creationId xmlns:a16="http://schemas.microsoft.com/office/drawing/2014/main" id="{B92AD1C4-4941-AFA9-F313-B474DC56D525}"/>
              </a:ext>
            </a:extLst>
          </p:cNvPr>
          <p:cNvSpPr txBox="1"/>
          <p:nvPr/>
        </p:nvSpPr>
        <p:spPr>
          <a:xfrm>
            <a:off x="10948873" y="5645048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2BA46A89-0235-6043-2555-8C7A4A9C657A}"/>
              </a:ext>
            </a:extLst>
          </p:cNvPr>
          <p:cNvSpPr/>
          <p:nvPr/>
        </p:nvSpPr>
        <p:spPr>
          <a:xfrm>
            <a:off x="-718304" y="-1422019"/>
            <a:ext cx="4063847" cy="4063847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41FDE013-AD33-2AFD-B25A-7331A623021F}"/>
              </a:ext>
            </a:extLst>
          </p:cNvPr>
          <p:cNvSpPr/>
          <p:nvPr/>
        </p:nvSpPr>
        <p:spPr>
          <a:xfrm>
            <a:off x="6315761" y="996134"/>
            <a:ext cx="1310973" cy="131097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2C11E0E9-86C7-7CBA-10D5-255758BE90A3}"/>
              </a:ext>
            </a:extLst>
          </p:cNvPr>
          <p:cNvSpPr/>
          <p:nvPr/>
        </p:nvSpPr>
        <p:spPr>
          <a:xfrm>
            <a:off x="1250275" y="5091632"/>
            <a:ext cx="1310973" cy="1310973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609905" y="457200"/>
            <a:ext cx="3864254" cy="11814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4200" b="1" kern="0" spc="-112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19. Q&amp;A</a:t>
            </a:r>
            <a:endParaRPr lang="en-US" sz="4200" dirty="0"/>
          </a:p>
          <a:p>
            <a:pPr marL="0" indent="0" algn="l">
              <a:buNone/>
            </a:pPr>
            <a:r>
              <a:rPr lang="en-US" sz="4200" b="1" kern="0" spc="-112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         및 마무리</a:t>
            </a:r>
            <a:endParaRPr lang="en-US" sz="42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26236" r="26236"/>
          <a:stretch/>
        </p:blipFill>
        <p:spPr>
          <a:xfrm>
            <a:off x="649856" y="1935785"/>
            <a:ext cx="3715207" cy="446684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08169" y="1009498"/>
            <a:ext cx="6581851" cy="19202"/>
          </a:xfrm>
          <a:prstGeom prst="rect">
            <a:avLst/>
          </a:prstGeom>
          <a:solidFill>
            <a:srgbClr val="FF6908">
              <a:alpha val="10000"/>
            </a:srgbClr>
          </a:solidFill>
          <a:ln w="12700">
            <a:solidFill>
              <a:srgbClr val="FF690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5008169" y="457200"/>
            <a:ext cx="1143000" cy="400507"/>
          </a:xfrm>
          <a:prstGeom prst="roundRect">
            <a:avLst>
              <a:gd name="adj" fmla="val 108719"/>
            </a:avLst>
          </a:prstGeom>
          <a:solidFill>
            <a:srgbClr val="FF690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5159958" y="514807"/>
            <a:ext cx="1022302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dirty="0">
                <a:solidFill>
                  <a:srgbClr val="FF690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TOOLKIT</a:t>
            </a:r>
            <a:endParaRPr lang="en-US" dirty="0"/>
          </a:p>
        </p:txBody>
      </p:sp>
      <p:sp>
        <p:nvSpPr>
          <p:cNvPr id="9" name="Text 6"/>
          <p:cNvSpPr txBox="1"/>
          <p:nvPr/>
        </p:nvSpPr>
        <p:spPr>
          <a:xfrm>
            <a:off x="6297473" y="543154"/>
            <a:ext cx="4414070" cy="2048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 err="1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무료</a:t>
            </a:r>
            <a:r>
              <a:rPr lang="en-US" sz="1600" b="1" dirty="0">
                <a:solidFill>
                  <a:srgbClr val="55555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도구 리스트 (워크플로우 순서)</a:t>
            </a:r>
            <a:endParaRPr lang="en-US" sz="1600" b="1" dirty="0"/>
          </a:p>
        </p:txBody>
      </p:sp>
      <p:sp>
        <p:nvSpPr>
          <p:cNvPr id="10" name="Shape 7"/>
          <p:cNvSpPr/>
          <p:nvPr/>
        </p:nvSpPr>
        <p:spPr>
          <a:xfrm>
            <a:off x="5008169" y="1257300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207508" y="145755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 txBox="1"/>
          <p:nvPr/>
        </p:nvSpPr>
        <p:spPr>
          <a:xfrm>
            <a:off x="5275174" y="1495044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7218" y="1481329"/>
            <a:ext cx="1426757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기획 &amp; 대본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207508" y="1876349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5949470" y="2220920"/>
            <a:ext cx="2302340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ChatGPT, Notion AI</a:t>
            </a:r>
            <a:endParaRPr lang="en-US" sz="1200" b="1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549748" y="2284623"/>
            <a:ext cx="240109" cy="240109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8390534" y="1257300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4"/>
          <p:cNvSpPr/>
          <p:nvPr/>
        </p:nvSpPr>
        <p:spPr>
          <a:xfrm>
            <a:off x="8589874" y="1457554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 txBox="1"/>
          <p:nvPr/>
        </p:nvSpPr>
        <p:spPr>
          <a:xfrm>
            <a:off x="8657539" y="1495044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9009582" y="1481329"/>
            <a:ext cx="1671241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&amp; 소스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589874" y="1876349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8"/>
          <p:cNvSpPr txBox="1"/>
          <p:nvPr/>
        </p:nvSpPr>
        <p:spPr>
          <a:xfrm>
            <a:off x="9331835" y="2220920"/>
            <a:ext cx="2857200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Canva, Figma, Unsplash</a:t>
            </a:r>
            <a:endParaRPr lang="en-US" sz="1200" b="1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32114" y="2284623"/>
            <a:ext cx="240109" cy="240109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5008169" y="3310128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0"/>
          <p:cNvSpPr/>
          <p:nvPr/>
        </p:nvSpPr>
        <p:spPr>
          <a:xfrm>
            <a:off x="5207508" y="351038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1"/>
          <p:cNvSpPr txBox="1"/>
          <p:nvPr/>
        </p:nvSpPr>
        <p:spPr>
          <a:xfrm>
            <a:off x="5275174" y="3547872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5627218" y="3534157"/>
            <a:ext cx="1426757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자막 &amp; 편집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5207508" y="3929177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5968672" y="4273748"/>
            <a:ext cx="1545587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Vrew, CapCut</a:t>
            </a:r>
            <a:endParaRPr lang="en-US" sz="1200" b="1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6"/>
          <a:srcRect l="-837" r="-837"/>
          <a:stretch/>
        </p:blipFill>
        <p:spPr>
          <a:xfrm>
            <a:off x="5549748" y="4337452"/>
            <a:ext cx="274645" cy="240108"/>
          </a:xfrm>
          <a:prstGeom prst="rect">
            <a:avLst/>
          </a:prstGeom>
        </p:spPr>
      </p:pic>
      <p:sp>
        <p:nvSpPr>
          <p:cNvPr id="31" name="Shape 25"/>
          <p:cNvSpPr/>
          <p:nvPr/>
        </p:nvSpPr>
        <p:spPr>
          <a:xfrm>
            <a:off x="8390534" y="3310128"/>
            <a:ext cx="3200400" cy="1867205"/>
          </a:xfrm>
          <a:prstGeom prst="roundRect">
            <a:avLst>
              <a:gd name="adj" fmla="val 3998"/>
            </a:avLst>
          </a:prstGeom>
          <a:solidFill>
            <a:srgbClr val="F8F9FA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6"/>
          <p:cNvSpPr/>
          <p:nvPr/>
        </p:nvSpPr>
        <p:spPr>
          <a:xfrm>
            <a:off x="8589874" y="3510382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7"/>
          <p:cNvSpPr txBox="1"/>
          <p:nvPr/>
        </p:nvSpPr>
        <p:spPr>
          <a:xfrm>
            <a:off x="8657539" y="3547872"/>
            <a:ext cx="247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200" dirty="0"/>
          </a:p>
        </p:txBody>
      </p:sp>
      <p:sp>
        <p:nvSpPr>
          <p:cNvPr id="34" name="Text 28"/>
          <p:cNvSpPr txBox="1"/>
          <p:nvPr/>
        </p:nvSpPr>
        <p:spPr>
          <a:xfrm>
            <a:off x="9009582" y="3534157"/>
            <a:ext cx="1671241" cy="231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번역 &amp; 글로벌</a:t>
            </a:r>
            <a:endParaRPr lang="en-US" sz="1600" dirty="0"/>
          </a:p>
        </p:txBody>
      </p:sp>
      <p:sp>
        <p:nvSpPr>
          <p:cNvPr id="35" name="Shape 29"/>
          <p:cNvSpPr/>
          <p:nvPr/>
        </p:nvSpPr>
        <p:spPr>
          <a:xfrm>
            <a:off x="8589874" y="3929177"/>
            <a:ext cx="2800807" cy="1047902"/>
          </a:xfrm>
          <a:prstGeom prst="roundRect">
            <a:avLst>
              <a:gd name="adj" fmla="val 7933"/>
            </a:avLst>
          </a:prstGeom>
          <a:solidFill>
            <a:srgbClr val="FFFFFF"/>
          </a:solidFill>
          <a:ln w="12700">
            <a:solidFill>
              <a:srgbClr val="000000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0"/>
          <p:cNvSpPr txBox="1"/>
          <p:nvPr/>
        </p:nvSpPr>
        <p:spPr>
          <a:xfrm>
            <a:off x="9331835" y="4273748"/>
            <a:ext cx="1783578" cy="3779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44444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DeepL, Whisper</a:t>
            </a:r>
            <a:endParaRPr lang="en-US" sz="1200" b="1" dirty="0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932114" y="4337451"/>
            <a:ext cx="240109" cy="240109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5008169" y="5477256"/>
            <a:ext cx="6581851" cy="923544"/>
          </a:xfrm>
          <a:prstGeom prst="roundRect">
            <a:avLst>
              <a:gd name="adj" fmla="val 20414"/>
            </a:avLst>
          </a:prstGeom>
          <a:solidFill>
            <a:srgbClr val="FFF9F5"/>
          </a:solidFill>
          <a:ln w="12700">
            <a:solidFill>
              <a:srgbClr val="FF6908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2"/>
          <p:cNvSpPr/>
          <p:nvPr/>
        </p:nvSpPr>
        <p:spPr>
          <a:xfrm>
            <a:off x="5321807" y="5676595"/>
            <a:ext cx="3605262" cy="523951"/>
          </a:xfrm>
          <a:prstGeom prst="roundRect">
            <a:avLst>
              <a:gd name="adj" fmla="val 158655"/>
            </a:avLst>
          </a:prstGeom>
          <a:solidFill>
            <a:srgbClr val="FF690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114300" dist="38100" dir="16200000" algn="bl" rotWithShape="0">
              <a:srgbClr val="FF6908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3"/>
          <p:cNvSpPr txBox="1"/>
          <p:nvPr/>
        </p:nvSpPr>
        <p:spPr>
          <a:xfrm>
            <a:off x="5469547" y="5810098"/>
            <a:ext cx="3435794" cy="28072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https://padlet.com/aebon/contents26</a:t>
            </a:r>
            <a:endParaRPr lang="en-US" sz="1600" dirty="0"/>
          </a:p>
        </p:txBody>
      </p:sp>
      <p:sp>
        <p:nvSpPr>
          <p:cNvPr id="42" name="Text 34"/>
          <p:cNvSpPr txBox="1"/>
          <p:nvPr/>
        </p:nvSpPr>
        <p:spPr>
          <a:xfrm>
            <a:off x="8927069" y="5733997"/>
            <a:ext cx="2348398" cy="1574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6666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궁금한 점은 언제든 문의주세요</a:t>
            </a:r>
            <a:endParaRPr lang="en-US" sz="1100" dirty="0"/>
          </a:p>
        </p:txBody>
      </p:sp>
      <p:sp>
        <p:nvSpPr>
          <p:cNvPr id="43" name="Text 35"/>
          <p:cNvSpPr txBox="1"/>
          <p:nvPr/>
        </p:nvSpPr>
        <p:spPr>
          <a:xfrm>
            <a:off x="8687776" y="5984045"/>
            <a:ext cx="2587690" cy="2027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3333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aebon@hs.ac.kr</a:t>
            </a:r>
            <a:endParaRPr lang="en-US" sz="1600" dirty="0"/>
          </a:p>
        </p:txBody>
      </p:sp>
      <p:sp>
        <p:nvSpPr>
          <p:cNvPr id="44" name="Text 2">
            <a:extLst>
              <a:ext uri="{FF2B5EF4-FFF2-40B4-BE49-F238E27FC236}">
                <a16:creationId xmlns:a16="http://schemas.microsoft.com/office/drawing/2014/main" id="{211B5C93-A727-9752-12E0-50132F62F5A9}"/>
              </a:ext>
            </a:extLst>
          </p:cNvPr>
          <p:cNvSpPr txBox="1"/>
          <p:nvPr/>
        </p:nvSpPr>
        <p:spPr>
          <a:xfrm>
            <a:off x="10826756" y="523493"/>
            <a:ext cx="1266444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0" b="1" dirty="0">
                <a:solidFill>
                  <a:srgbClr val="FF6908">
                    <a:alpha val="2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</a:t>
            </a:r>
            <a:endParaRPr lang="en-US" sz="75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9D505ED3-F12B-65BF-55C5-9EDA4E7B1C3E}"/>
              </a:ext>
            </a:extLst>
          </p:cNvPr>
          <p:cNvSpPr/>
          <p:nvPr/>
        </p:nvSpPr>
        <p:spPr>
          <a:xfrm>
            <a:off x="0" y="-452657"/>
            <a:ext cx="4801270" cy="4801270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3">
            <a:extLst>
              <a:ext uri="{FF2B5EF4-FFF2-40B4-BE49-F238E27FC236}">
                <a16:creationId xmlns:a16="http://schemas.microsoft.com/office/drawing/2014/main" id="{DEFF9B6C-E0D0-651B-7DC2-A681B802E3CC}"/>
              </a:ext>
            </a:extLst>
          </p:cNvPr>
          <p:cNvSpPr/>
          <p:nvPr/>
        </p:nvSpPr>
        <p:spPr>
          <a:xfrm>
            <a:off x="-558828" y="-409194"/>
            <a:ext cx="1904695" cy="1904695"/>
          </a:xfrm>
          <a:prstGeom prst="ellipse">
            <a:avLst/>
          </a:prstGeom>
          <a:solidFill>
            <a:srgbClr val="FF6908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useful-ai.dreamitbiz.com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2026년 1월 「생성형 AI와 창의력·복합문제능력 향상 과정」 강의안을 공개용으로 다시 묶은 것입니다.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교육 목적의 비영리 이용을 허용합니다 — 출처를 표기해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재배포·판매·변형(내용 수정 후 배포)은 허용하지 않습니다. 필요하면 먼저 문의해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문의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이애본(드림아이티비즈). 교육 목적 비영리 이용 · 출처 표기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이애본(드림아이티비즈) · useful-ai.dreamitbiz.com · 교육 목적 비영리 이용 · 출처 표기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2186</Words>
  <Application>Microsoft Office PowerPoint</Application>
  <PresentationFormat>와이드스크린</PresentationFormat>
  <Paragraphs>402</Paragraphs>
  <Slides>22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Noto Sans KR</vt:lpstr>
      <vt:lpstr>Pretendard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9</cp:revision>
  <dcterms:created xsi:type="dcterms:W3CDTF">2026-01-27T14:32:06Z</dcterms:created>
  <dcterms:modified xsi:type="dcterms:W3CDTF">2026-01-29T00:22:52Z</dcterms:modified>
</cp:coreProperties>
</file>