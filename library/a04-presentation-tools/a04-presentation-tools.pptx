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8" r:id="rId19"/>
    <p:sldId id="279" r:id="rId7"/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7"/>
    <p:sldId id="272" r:id="rId18"/>
    <p:sldId id="274" r:id="rId20"/>
    <p:sldId id="275" r:id="rId21"/>
    <p:sldId id="276" r:id="rId22"/>
    <p:sldId id="277" r:id="rId23"/>
    <p:sldId id="270" r:id="rId16"/>
    <p:sldId id="280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4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22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20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21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158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mailto:aebon@dreamitbiz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3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jpg"/><Relationship Id="rId4" Type="http://schemas.openxmlformats.org/officeDocument/2006/relationships/image" Target="../media/image49.jpg"/><Relationship Id="rId5" Type="http://schemas.openxmlformats.org/officeDocument/2006/relationships/image" Target="../media/image2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jpg"/><Relationship Id="rId9" Type="http://schemas.openxmlformats.org/officeDocument/2006/relationships/image" Target="../media/image3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911911" y="1039251"/>
            <a:ext cx="6000618" cy="629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 도구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1911" y="1981332"/>
            <a:ext cx="6000618" cy="548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강의안</a:t>
            </a:r>
            <a:endParaRPr lang="en-US" sz="48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D437257-2CEC-2D37-859A-B36B98FADAD9}"/>
              </a:ext>
            </a:extLst>
          </p:cNvPr>
          <p:cNvGrpSpPr/>
          <p:nvPr/>
        </p:nvGrpSpPr>
        <p:grpSpPr>
          <a:xfrm>
            <a:off x="614328" y="5720848"/>
            <a:ext cx="5081887" cy="457200"/>
            <a:chOff x="1014113" y="3200400"/>
            <a:chExt cx="5081887" cy="457200"/>
          </a:xfrm>
        </p:grpSpPr>
        <p:sp>
          <p:nvSpPr>
            <p:cNvPr id="6" name="Text 4"/>
            <p:cNvSpPr txBox="1"/>
            <p:nvPr/>
          </p:nvSpPr>
          <p:spPr>
            <a:xfrm>
              <a:off x="1014113" y="3203229"/>
              <a:ext cx="4526576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333333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부제</a:t>
              </a:r>
              <a:endParaRPr lang="en-US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1569424" y="3200400"/>
              <a:ext cx="45265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미리캔버스 · 캔바 · </a:t>
              </a:r>
              <a:r>
                <a:rPr lang="en-US" sz="16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감마로</a:t>
              </a:r>
              <a:r>
                <a:rPr lang="en-US" sz="16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6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만드는</a:t>
              </a:r>
              <a:r>
                <a:rPr lang="en-US" sz="16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6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실전형</a:t>
              </a:r>
              <a:r>
                <a:rPr lang="en-US" sz="16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발표 자료</a:t>
              </a:r>
              <a:endParaRPr lang="en-US" sz="1600" dirty="0"/>
            </a:p>
          </p:txBody>
        </p:sp>
      </p:grpSp>
      <p:sp>
        <p:nvSpPr>
          <p:cNvPr id="8" name="Text 6"/>
          <p:cNvSpPr txBox="1"/>
          <p:nvPr/>
        </p:nvSpPr>
        <p:spPr>
          <a:xfrm>
            <a:off x="965054" y="3441526"/>
            <a:ext cx="356735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7829" y="3864422"/>
            <a:ext cx="355954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도구의 차이점 명확히 이해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7829" y="4287877"/>
            <a:ext cx="352372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시나리오별 최적 도구 선택 능력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17829" y="4749767"/>
            <a:ext cx="352372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커스터마이징 실전 능력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11789" y="756490"/>
            <a:ext cx="2085746" cy="409651"/>
          </a:xfrm>
          <a:prstGeom prst="roundRect">
            <a:avLst>
              <a:gd name="adj" fmla="val 1557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559591" y="851588"/>
            <a:ext cx="211226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 마스터 클래스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4969" b="4969"/>
          <a:stretch/>
        </p:blipFill>
        <p:spPr>
          <a:xfrm>
            <a:off x="6388874" y="1773176"/>
            <a:ext cx="5040862" cy="3024711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5026F6F2-87E7-73FF-036F-2EB25508D681}"/>
              </a:ext>
            </a:extLst>
          </p:cNvPr>
          <p:cNvGrpSpPr/>
          <p:nvPr/>
        </p:nvGrpSpPr>
        <p:grpSpPr>
          <a:xfrm>
            <a:off x="8370741" y="5404923"/>
            <a:ext cx="2968317" cy="631851"/>
            <a:chOff x="609905" y="5558463"/>
            <a:chExt cx="2968317" cy="631851"/>
          </a:xfrm>
        </p:grpSpPr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D5C7D0E3-6119-A21B-6108-96ED977FE1E5}"/>
                </a:ext>
              </a:extLst>
            </p:cNvPr>
            <p:cNvSpPr txBox="1"/>
            <p:nvPr/>
          </p:nvSpPr>
          <p:spPr>
            <a:xfrm>
              <a:off x="609905" y="5650992"/>
              <a:ext cx="4005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강사</a:t>
              </a:r>
              <a:endParaRPr lang="en-US" sz="1300" dirty="0"/>
            </a:p>
          </p:txBody>
        </p:sp>
        <p:sp>
          <p:nvSpPr>
            <p:cNvPr id="17" name="Shape 10">
              <a:extLst>
                <a:ext uri="{FF2B5EF4-FFF2-40B4-BE49-F238E27FC236}">
                  <a16:creationId xmlns:a16="http://schemas.microsoft.com/office/drawing/2014/main" id="{32165DD7-B1F2-ACE5-DC95-7CE9B0232FB3}"/>
                </a:ext>
              </a:extLst>
            </p:cNvPr>
            <p:cNvSpPr/>
            <p:nvPr/>
          </p:nvSpPr>
          <p:spPr>
            <a:xfrm>
              <a:off x="1077163" y="5631790"/>
              <a:ext cx="9144" cy="304495"/>
            </a:xfrm>
            <a:prstGeom prst="rect">
              <a:avLst/>
            </a:prstGeom>
            <a:solidFill>
              <a:srgbClr val="D1D5D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0267A22F-F21C-331E-489E-7464CF4A95F5}"/>
                </a:ext>
              </a:extLst>
            </p:cNvPr>
            <p:cNvSpPr txBox="1"/>
            <p:nvPr/>
          </p:nvSpPr>
          <p:spPr>
            <a:xfrm>
              <a:off x="609905" y="5558463"/>
              <a:ext cx="2968317" cy="6318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lnSpc>
                  <a:spcPct val="150000"/>
                </a:lnSpc>
                <a:buNone/>
              </a:pPr>
              <a:r>
                <a:rPr lang="ko-KR" altLang="en-US" sz="20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이애본</a:t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b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</a:b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(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  <a:hlinkClick r:id="rId4"/>
                </a:rPr>
                <a:t>aebon@dreamitbiz.com</a:t>
              </a:r>
              <a:r>
                <a:rPr lang="en-US" altLang="ko-KR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)</a:t>
              </a:r>
            </a:p>
            <a:p>
              <a:pPr marL="0" indent="0" algn="r">
                <a:buNone/>
              </a:pP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드림아이티비즈(DreamIT Biz)</a:t>
              </a:r>
              <a:r>
                <a:rPr lang="en-US" altLang="ko-KR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/>
              </a:r>
              <a:r>
                <a:rPr lang="ko-KR" altLang="en-US" sz="13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endParaRPr lang="en-US" sz="1300" dirty="0"/>
            </a:p>
          </p:txBody>
        </p:sp>
      </p:grp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05865" y="748687"/>
            <a:ext cx="12390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b="1" kern="0" spc="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목차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09905" y="1705356"/>
            <a:ext cx="10972800" cy="2095805"/>
          </a:xfrm>
          <a:prstGeom prst="roundRect">
            <a:avLst>
              <a:gd name="adj" fmla="val 59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 t="24270" b="56630"/>
          <a:stretch/>
        </p:blipFill>
        <p:spPr>
          <a:xfrm>
            <a:off x="609905" y="1705356"/>
            <a:ext cx="10972800" cy="2095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78928" y="4325893"/>
            <a:ext cx="952805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2035031" y="5054040"/>
            <a:ext cx="208925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필요성과</a:t>
            </a:r>
            <a:endParaRPr lang="en-US" sz="1400" b="1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기준</a:t>
            </a:r>
            <a:endParaRPr lang="en-US" sz="1400" b="1" dirty="0"/>
          </a:p>
        </p:txBody>
      </p:sp>
      <p:sp>
        <p:nvSpPr>
          <p:cNvPr id="9" name="Text 6"/>
          <p:cNvSpPr txBox="1"/>
          <p:nvPr/>
        </p:nvSpPr>
        <p:spPr>
          <a:xfrm>
            <a:off x="3724766" y="4325893"/>
            <a:ext cx="1077163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4480870" y="5054040"/>
            <a:ext cx="328737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미리캔버스/캔바/감마</a:t>
            </a:r>
            <a:endParaRPr lang="en-US" sz="1400" b="1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분석 및 가격 정책</a:t>
            </a:r>
            <a:endParaRPr lang="en-US" sz="1400" b="1" dirty="0"/>
          </a:p>
        </p:txBody>
      </p:sp>
      <p:sp>
        <p:nvSpPr>
          <p:cNvPr id="11" name="Text 8"/>
          <p:cNvSpPr txBox="1"/>
          <p:nvPr/>
        </p:nvSpPr>
        <p:spPr>
          <a:xfrm>
            <a:off x="6612623" y="4325893"/>
            <a:ext cx="1067105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7368727" y="5054040"/>
            <a:ext cx="248791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기능 비교와</a:t>
            </a:r>
            <a:endParaRPr lang="en-US" sz="1400" b="1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품질 평가</a:t>
            </a:r>
            <a:endParaRPr lang="en-US" sz="1400" b="1" dirty="0"/>
          </a:p>
        </p:txBody>
      </p:sp>
      <p:sp>
        <p:nvSpPr>
          <p:cNvPr id="13" name="Text 10"/>
          <p:cNvSpPr txBox="1"/>
          <p:nvPr/>
        </p:nvSpPr>
        <p:spPr>
          <a:xfrm>
            <a:off x="9279928" y="4325893"/>
            <a:ext cx="1086307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10036032" y="5054040"/>
            <a:ext cx="177799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FAQ 및</a:t>
            </a:r>
            <a:endParaRPr lang="en-US" sz="1400" b="1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가이드</a:t>
            </a:r>
            <a:endParaRPr lang="en-US" sz="1400" b="1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438A9DD-F0CB-E7CE-B669-AB9FFBAC8EF8}"/>
              </a:ext>
            </a:extLst>
          </p:cNvPr>
          <p:cNvSpPr/>
          <p:nvPr/>
        </p:nvSpPr>
        <p:spPr>
          <a:xfrm>
            <a:off x="9496959" y="443735"/>
            <a:ext cx="2085746" cy="409651"/>
          </a:xfrm>
          <a:prstGeom prst="roundRect">
            <a:avLst>
              <a:gd name="adj" fmla="val 1557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76DABB5-F173-112B-3F8D-6ACFFB8893C8}"/>
              </a:ext>
            </a:extLst>
          </p:cNvPr>
          <p:cNvSpPr txBox="1"/>
          <p:nvPr/>
        </p:nvSpPr>
        <p:spPr>
          <a:xfrm>
            <a:off x="9739194" y="548433"/>
            <a:ext cx="16889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 마스터 클래스</a:t>
            </a:r>
            <a:endParaRPr lang="en-US" sz="1100" dirty="0"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9963" y="901142"/>
            <a:ext cx="8401507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프레젠테이션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kern="0" spc="-37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도구인가</a:t>
            </a:r>
            <a:r>
              <a:rPr lang="en-US" sz="37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933602" y="2362809"/>
            <a:ext cx="6172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 커뮤니케이션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33602" y="2735884"/>
            <a:ext cx="6431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정보의 구조화와 시각적 위계를 통해 청중의 집중도를 높이고, 메시지의 설득력을 강화합니다.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3789273" y="3193085"/>
            <a:ext cx="123444" cy="14264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988612" y="3157423"/>
            <a:ext cx="3432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 자료는 글보다 빨리 읽힘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2083" r="-2083"/>
          <a:stretch/>
        </p:blipFill>
        <p:spPr>
          <a:xfrm>
            <a:off x="933602" y="3483863"/>
            <a:ext cx="5973775" cy="91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33602" y="3721607"/>
            <a:ext cx="6172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속도와 일관성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933602" y="4095597"/>
            <a:ext cx="6431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템플릿과 다양한 디자인 에셋을 활용하여 브랜드 톤앤매너를 유지하며 전문성 있는 결과물을 만듭니다.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09821" y="4589373"/>
            <a:ext cx="142646" cy="14264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28362" y="4552797"/>
            <a:ext cx="26371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활용으로 제작 시간 단축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 l="-2083" r="-2083"/>
          <a:stretch/>
        </p:blipFill>
        <p:spPr>
          <a:xfrm>
            <a:off x="1001724" y="4855740"/>
            <a:ext cx="5973775" cy="91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9963" y="5041983"/>
            <a:ext cx="61722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협업과 접근성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869963" y="541505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기반 실시간 공동 작업과 간편한 링크 공유로 업무 효율성을 극대화합니다.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rcRect l="-769" r="-769"/>
          <a:stretch/>
        </p:blipFill>
        <p:spPr>
          <a:xfrm>
            <a:off x="3731666" y="5851572"/>
            <a:ext cx="181051" cy="14264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988612" y="5815910"/>
            <a:ext cx="34509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클라우드 협업으로 파일 주고받는 수고 감소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rcRect l="13218" r="13218"/>
          <a:stretch/>
        </p:blipFill>
        <p:spPr>
          <a:xfrm>
            <a:off x="7742017" y="2803089"/>
            <a:ext cx="3588702" cy="3253896"/>
          </a:xfrm>
          <a:prstGeom prst="rect">
            <a:avLst/>
          </a:prstGeom>
        </p:spPr>
      </p:pic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49885" y="679475"/>
            <a:ext cx="11055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00" b="1" dirty="0">
                <a:solidFill>
                  <a:srgbClr val="FF6908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6700" dirty="0"/>
          </a:p>
        </p:txBody>
      </p:sp>
      <p:sp>
        <p:nvSpPr>
          <p:cNvPr id="4" name="Text 2"/>
          <p:cNvSpPr txBox="1"/>
          <p:nvPr/>
        </p:nvSpPr>
        <p:spPr>
          <a:xfrm>
            <a:off x="1722730" y="559688"/>
            <a:ext cx="290230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미리캔버스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722730" y="1062608"/>
            <a:ext cx="261244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5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특징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239305" y="203072"/>
            <a:ext cx="44961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500" b="1" kern="0" spc="-75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PRESENTATION</a:t>
            </a:r>
            <a:endParaRPr lang="en-US" sz="4500" dirty="0"/>
          </a:p>
        </p:txBody>
      </p:sp>
      <p:sp>
        <p:nvSpPr>
          <p:cNvPr id="7" name="Text 5"/>
          <p:cNvSpPr txBox="1"/>
          <p:nvPr/>
        </p:nvSpPr>
        <p:spPr>
          <a:xfrm>
            <a:off x="9765335" y="939928"/>
            <a:ext cx="196138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4500" b="1" kern="0" spc="-75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TOOLS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449885" y="1917572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54380" y="2165375"/>
            <a:ext cx="160934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최적화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12080" y="2165375"/>
            <a:ext cx="457200" cy="4572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1903" r="-1903"/>
          <a:stretch/>
        </p:blipFill>
        <p:spPr>
          <a:xfrm>
            <a:off x="5345583" y="2288819"/>
            <a:ext cx="190195" cy="20939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54380" y="2717672"/>
            <a:ext cx="4991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무료 한글 폰트와 한국의 디자인 트렌드를 반영한 템플릿을 제공하여,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정서에 가장 적합한 결과물을 빠르게 제작할 수 있습니다.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4380" y="3241623"/>
            <a:ext cx="4914900" cy="9144"/>
          </a:xfrm>
          <a:prstGeom prst="rect">
            <a:avLst/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754380" y="3280028"/>
            <a:ext cx="8001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54380" y="3688765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KOREAN FONTS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680814" y="3280028"/>
            <a:ext cx="7818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4680814" y="3688765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DOMESTIC SERVICE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03290" y="1917572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507785" y="2165375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쉬운 편집 기능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965485" y="2165375"/>
            <a:ext cx="457200" cy="4572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-1004" r="-1004"/>
          <a:stretch/>
        </p:blipFill>
        <p:spPr>
          <a:xfrm>
            <a:off x="11127334" y="2288819"/>
            <a:ext cx="133502" cy="20939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507785" y="2717672"/>
            <a:ext cx="4991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드래그 앤 드롭 방식과 단순화된 UI/UX로 디자인 비전공자도 별도의 학습 없이 전문가 수준의 프레젠테이션을 완성할 수 있습니다.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07785" y="3241623"/>
            <a:ext cx="4914900" cy="9144"/>
          </a:xfrm>
          <a:prstGeom prst="rect">
            <a:avLst/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6507785" y="3280028"/>
            <a:ext cx="100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</a:t>
            </a:r>
            <a:endParaRPr lang="en-US" sz="2400" dirty="0"/>
          </a:p>
        </p:txBody>
      </p:sp>
      <p:sp>
        <p:nvSpPr>
          <p:cNvPr id="26" name="Text 22"/>
          <p:cNvSpPr txBox="1"/>
          <p:nvPr/>
        </p:nvSpPr>
        <p:spPr>
          <a:xfrm>
            <a:off x="6507785" y="3688765"/>
            <a:ext cx="10579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CURVE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0638130" y="3280028"/>
            <a:ext cx="848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</a:t>
            </a:r>
            <a:endParaRPr lang="en-US" sz="2400" dirty="0"/>
          </a:p>
        </p:txBody>
      </p:sp>
      <p:sp>
        <p:nvSpPr>
          <p:cNvPr id="28" name="Text 24"/>
          <p:cNvSpPr txBox="1"/>
          <p:nvPr/>
        </p:nvSpPr>
        <p:spPr>
          <a:xfrm>
            <a:off x="10638130" y="3688765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INSTALL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49885" y="4337075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 txBox="1"/>
          <p:nvPr/>
        </p:nvSpPr>
        <p:spPr>
          <a:xfrm>
            <a:off x="754380" y="4584877"/>
            <a:ext cx="181417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AI 도구</a:t>
            </a:r>
            <a:endParaRPr lang="en-US" sz="1800" dirty="0"/>
          </a:p>
        </p:txBody>
      </p:sp>
      <p:sp>
        <p:nvSpPr>
          <p:cNvPr id="31" name="Shape 27"/>
          <p:cNvSpPr/>
          <p:nvPr/>
        </p:nvSpPr>
        <p:spPr>
          <a:xfrm>
            <a:off x="5212080" y="4584877"/>
            <a:ext cx="457200" cy="4572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 l="-461" r="-461"/>
          <a:stretch/>
        </p:blipFill>
        <p:spPr>
          <a:xfrm>
            <a:off x="5321808" y="4708321"/>
            <a:ext cx="237744" cy="20939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54380" y="5137175"/>
            <a:ext cx="4991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기반의 텍스트 스타일링, 자동 배경 제거(누끼 따기), 문구 추천 기능 </a:t>
            </a:r>
            <a:r>
              <a:rPr lang="en-US" sz="11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등을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탑재하여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반복 작업을 줄이고 창의적인 작업에 집중하게 돕습니다.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54380" y="5661126"/>
            <a:ext cx="4914900" cy="9144"/>
          </a:xfrm>
          <a:prstGeom prst="rect">
            <a:avLst/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 txBox="1"/>
          <p:nvPr/>
        </p:nvSpPr>
        <p:spPr>
          <a:xfrm>
            <a:off x="754380" y="5698616"/>
            <a:ext cx="10579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 AI</a:t>
            </a:r>
            <a:endParaRPr lang="en-US" sz="2400" dirty="0"/>
          </a:p>
        </p:txBody>
      </p:sp>
      <p:sp>
        <p:nvSpPr>
          <p:cNvPr id="36" name="Text 31"/>
          <p:cNvSpPr txBox="1"/>
          <p:nvPr/>
        </p:nvSpPr>
        <p:spPr>
          <a:xfrm>
            <a:off x="754380" y="6108267"/>
            <a:ext cx="638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POWERED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4936846" y="5698616"/>
            <a:ext cx="7818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</a:t>
            </a:r>
            <a:endParaRPr lang="en-US" sz="2400" dirty="0"/>
          </a:p>
        </p:txBody>
      </p:sp>
      <p:sp>
        <p:nvSpPr>
          <p:cNvPr id="38" name="Text 33"/>
          <p:cNvSpPr txBox="1"/>
          <p:nvPr/>
        </p:nvSpPr>
        <p:spPr>
          <a:xfrm>
            <a:off x="4936846" y="6108267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 REMOVER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203290" y="4337075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 txBox="1"/>
          <p:nvPr/>
        </p:nvSpPr>
        <p:spPr>
          <a:xfrm>
            <a:off x="6507785" y="4584877"/>
            <a:ext cx="185348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에셋 라이브러리</a:t>
            </a:r>
            <a:endParaRPr lang="en-US" sz="1800" dirty="0"/>
          </a:p>
        </p:txBody>
      </p:sp>
      <p:sp>
        <p:nvSpPr>
          <p:cNvPr id="41" name="Shape 36"/>
          <p:cNvSpPr/>
          <p:nvPr/>
        </p:nvSpPr>
        <p:spPr>
          <a:xfrm>
            <a:off x="10965485" y="4584877"/>
            <a:ext cx="457200" cy="457200"/>
          </a:xfrm>
          <a:prstGeom prst="ellipse">
            <a:avLst/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11060583" y="4708321"/>
            <a:ext cx="267005" cy="209398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6507785" y="5137175"/>
            <a:ext cx="4991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고품질의 사진, 일러스트, 아이콘, 동영상 등 저작권 걱정 </a:t>
            </a:r>
            <a:r>
              <a:rPr lang="en-US" sz="11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없는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디자인 요소를 무료 및 유료 플랜 내에서 자유롭게 활용할 수 있습니다.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507785" y="5661126"/>
            <a:ext cx="4914900" cy="9144"/>
          </a:xfrm>
          <a:prstGeom prst="rect">
            <a:avLst/>
          </a:prstGeom>
          <a:solidFill>
            <a:srgbClr val="FF6908">
              <a:alpha val="10000"/>
            </a:srgbClr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9"/>
          <p:cNvSpPr txBox="1"/>
          <p:nvPr/>
        </p:nvSpPr>
        <p:spPr>
          <a:xfrm>
            <a:off x="6507785" y="5698616"/>
            <a:ext cx="8385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</a:t>
            </a:r>
            <a:endParaRPr lang="en-US" sz="2400" dirty="0"/>
          </a:p>
        </p:txBody>
      </p:sp>
      <p:sp>
        <p:nvSpPr>
          <p:cNvPr id="46" name="Text 40"/>
          <p:cNvSpPr txBox="1"/>
          <p:nvPr/>
        </p:nvSpPr>
        <p:spPr>
          <a:xfrm>
            <a:off x="6507785" y="6108267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 ASSETS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10746029" y="5698616"/>
            <a:ext cx="7434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</a:t>
            </a:r>
            <a:endParaRPr lang="en-US" sz="2400" dirty="0"/>
          </a:p>
        </p:txBody>
      </p:sp>
      <p:sp>
        <p:nvSpPr>
          <p:cNvPr id="48" name="Text 42"/>
          <p:cNvSpPr txBox="1"/>
          <p:nvPr/>
        </p:nvSpPr>
        <p:spPr>
          <a:xfrm>
            <a:off x="10746029" y="6108267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COPYRIGHT</a:t>
            </a:r>
            <a:endParaRPr lang="en-US" sz="9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33095" y="318211"/>
            <a:ext cx="4381805" cy="2476195"/>
          </a:xfrm>
          <a:prstGeom prst="roundRect">
            <a:avLst>
              <a:gd name="adj" fmla="val 4261"/>
            </a:avLst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341" r="341"/>
          <a:stretch/>
        </p:blipFill>
        <p:spPr>
          <a:xfrm>
            <a:off x="533095" y="318211"/>
            <a:ext cx="4381805" cy="2476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786765" y="3983740"/>
            <a:ext cx="3562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주제와 목적에 맞는 카테고리 필터를 사용하여 최적의 디자인을 검색합니다.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3786765" y="4507691"/>
            <a:ext cx="3480206" cy="91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24172" y="3983740"/>
            <a:ext cx="3562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브랜드 색상 팔레트를 저장하고 가독성 높은 한글 폰트를 일관되게 적용합니다.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7724172" y="4507691"/>
            <a:ext cx="3480206" cy="914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3786765" y="5059988"/>
            <a:ext cx="3562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8px 그리드 정렬 기능을 활용하여 이미지와 텍스트의 균형을 맞추고 여백을 확보합니다.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3786765" y="5583940"/>
            <a:ext cx="3480206" cy="91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24172" y="5059988"/>
            <a:ext cx="3562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고해상도 PNG 이미지를 사용하고 아이콘, 도형 등 시각 요소를 추가해 메시지를 강화합니다.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rcRect l="-2089" r="-2089"/>
          <a:stretch/>
        </p:blipFill>
        <p:spPr>
          <a:xfrm>
            <a:off x="7724172" y="5583940"/>
            <a:ext cx="3480206" cy="91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342160" y="5882034"/>
            <a:ext cx="6345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체크리스트로 검수한 후 PDF/PPT 다운로드 또는 웹 링크 권한을 설정하여 공유합니다.</a:t>
            </a:r>
            <a:endParaRPr lang="en-US" sz="1100" dirty="0"/>
          </a:p>
        </p:txBody>
      </p:sp>
      <p:sp>
        <p:nvSpPr>
          <p:cNvPr id="16" name="Text 8"/>
          <p:cNvSpPr txBox="1"/>
          <p:nvPr/>
        </p:nvSpPr>
        <p:spPr>
          <a:xfrm>
            <a:off x="619963" y="4717390"/>
            <a:ext cx="20610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미리캔버스 실습 가이드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3786765" y="3698447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01. 템플릿 선택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7724172" y="3698447"/>
            <a:ext cx="1904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02. 브랜딩 적용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3786765" y="4774696"/>
            <a:ext cx="2097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03. 레이아웃 조정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7724172" y="4774696"/>
            <a:ext cx="1723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04. 에셋 활용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3786765" y="5850944"/>
            <a:ext cx="16779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05. 내보내기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619963" y="3269894"/>
            <a:ext cx="2883103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PRACTICE</a:t>
            </a:r>
            <a:endParaRPr lang="en-US" sz="4500" dirty="0"/>
          </a:p>
        </p:txBody>
      </p:sp>
      <p:sp>
        <p:nvSpPr>
          <p:cNvPr id="23" name="Text 15"/>
          <p:cNvSpPr txBox="1"/>
          <p:nvPr/>
        </p:nvSpPr>
        <p:spPr>
          <a:xfrm>
            <a:off x="619963" y="3841394"/>
            <a:ext cx="177393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GUIDE</a:t>
            </a:r>
            <a:endParaRPr lang="en-US" sz="45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rcRect t="-47" b="-47"/>
          <a:stretch/>
        </p:blipFill>
        <p:spPr>
          <a:xfrm>
            <a:off x="7524514" y="2579679"/>
            <a:ext cx="3770986" cy="5148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848211" y="2693979"/>
            <a:ext cx="397032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목표: 3장 미니 발표 자료 완성하기</a:t>
            </a:r>
            <a:endParaRPr lang="en-US" sz="1500" dirty="0"/>
          </a:p>
        </p:txBody>
      </p: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381305" y="267005"/>
            <a:ext cx="336865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PRACTICAL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875995"/>
            <a:ext cx="204094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USAGE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187148" y="885385"/>
            <a:ext cx="1343254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TIPS</a:t>
            </a:r>
            <a:endParaRPr lang="en-US" sz="48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BAFFEB4-516A-2C69-4051-0F56A8E91BD1}"/>
              </a:ext>
            </a:extLst>
          </p:cNvPr>
          <p:cNvGrpSpPr/>
          <p:nvPr/>
        </p:nvGrpSpPr>
        <p:grpSpPr>
          <a:xfrm>
            <a:off x="1345560" y="1864953"/>
            <a:ext cx="10638113" cy="4593946"/>
            <a:chOff x="2922691" y="1510781"/>
            <a:chExt cx="5409591" cy="4898440"/>
          </a:xfrm>
        </p:grpSpPr>
        <p:sp>
          <p:nvSpPr>
            <p:cNvPr id="9" name="Shape 6"/>
            <p:cNvSpPr/>
            <p:nvPr/>
          </p:nvSpPr>
          <p:spPr>
            <a:xfrm>
              <a:off x="2923606" y="1796073"/>
              <a:ext cx="1343254" cy="19202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2923606" y="1510781"/>
              <a:ext cx="169529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공통 디자인 팁 4가지</a:t>
              </a:r>
              <a:endParaRPr lang="en-US" sz="1600" dirty="0"/>
            </a:p>
          </p:txBody>
        </p:sp>
        <p:sp>
          <p:nvSpPr>
            <p:cNvPr id="11" name="Text 8"/>
            <p:cNvSpPr txBox="1"/>
            <p:nvPr/>
          </p:nvSpPr>
          <p:spPr>
            <a:xfrm>
              <a:off x="2923606" y="1992669"/>
              <a:ext cx="238658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01</a:t>
              </a:r>
              <a:endParaRPr lang="en-US" sz="1400" dirty="0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3137575" y="1982611"/>
              <a:ext cx="5191963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6-6 </a:t>
              </a: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규칙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슬라이드당 최대 6줄, 줄당 6단어 이내로 요약하여 정보 과부하를 방지하고 가독성을 높입니다.</a:t>
              </a:r>
              <a:endParaRPr lang="en-US" sz="1400" dirty="0"/>
            </a:p>
          </p:txBody>
        </p:sp>
        <p:sp>
          <p:nvSpPr>
            <p:cNvPr id="13" name="Text 10"/>
            <p:cNvSpPr txBox="1"/>
            <p:nvPr/>
          </p:nvSpPr>
          <p:spPr>
            <a:xfrm>
              <a:off x="2923606" y="2525765"/>
              <a:ext cx="25786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02</a:t>
              </a:r>
              <a:endParaRPr lang="en-US" sz="1400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3159521" y="2516621"/>
              <a:ext cx="517276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시각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위계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제목(Bold/Large) &gt; 본문 &gt; 캡션 순으로 크기와 굵기를 조절하여 시선 흐름을 자연스럽게 유도합니다.</a:t>
              </a:r>
              <a:endParaRPr lang="en-US" sz="14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2923606" y="3058860"/>
              <a:ext cx="25786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03</a:t>
              </a:r>
              <a:endParaRPr lang="en-US" sz="1400" dirty="0"/>
            </a:p>
          </p:txBody>
        </p:sp>
        <p:sp>
          <p:nvSpPr>
            <p:cNvPr id="16" name="Text 13"/>
            <p:cNvSpPr txBox="1"/>
            <p:nvPr/>
          </p:nvSpPr>
          <p:spPr>
            <a:xfrm>
              <a:off x="3157692" y="3049716"/>
              <a:ext cx="517276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접근성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준수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배경과 텍스트의 명도 대비를 4.5:1 이상 유지하고, 본문 폰트 크기는 최소 16px 이상을 권장합니다.</a:t>
              </a:r>
              <a:endParaRPr lang="en-US" sz="1400" dirty="0"/>
            </a:p>
          </p:txBody>
        </p:sp>
        <p:sp>
          <p:nvSpPr>
            <p:cNvPr id="17" name="Text 14"/>
            <p:cNvSpPr txBox="1"/>
            <p:nvPr/>
          </p:nvSpPr>
          <p:spPr>
            <a:xfrm>
              <a:off x="2923606" y="3592869"/>
              <a:ext cx="257861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04</a:t>
              </a:r>
              <a:endParaRPr lang="en-US" sz="1400" dirty="0"/>
            </a:p>
          </p:txBody>
        </p:sp>
        <p:sp>
          <p:nvSpPr>
            <p:cNvPr id="18" name="Text 15"/>
            <p:cNvSpPr txBox="1"/>
            <p:nvPr/>
          </p:nvSpPr>
          <p:spPr>
            <a:xfrm>
              <a:off x="3161350" y="3582811"/>
              <a:ext cx="51627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라이선스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체크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폰트와 이미지의 상업적 이용 가능 여부 및 CC 라이선스 표기 조건을 필수로 확인합니다.</a:t>
              </a:r>
              <a:endParaRPr lang="en-US" sz="1400" dirty="0"/>
            </a:p>
          </p:txBody>
        </p:sp>
        <p:sp>
          <p:nvSpPr>
            <p:cNvPr id="19" name="Shape 16"/>
            <p:cNvSpPr/>
            <p:nvPr/>
          </p:nvSpPr>
          <p:spPr>
            <a:xfrm>
              <a:off x="2922691" y="4622483"/>
              <a:ext cx="1352398" cy="19202"/>
            </a:xfrm>
            <a:prstGeom prst="rect">
              <a:avLst/>
            </a:prstGeom>
            <a:solidFill>
              <a:srgbClr val="FF6908"/>
            </a:solidFill>
            <a:ln w="12700">
              <a:solidFill>
                <a:srgbClr val="FF6908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2922691" y="4337191"/>
              <a:ext cx="16578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분야별 실전 시나리오</a:t>
              </a:r>
              <a:endParaRPr lang="en-US" sz="1600" dirty="0"/>
            </a:p>
          </p:txBody>
        </p:sp>
        <p:sp>
          <p:nvSpPr>
            <p:cNvPr id="21" name="Text 18"/>
            <p:cNvSpPr txBox="1"/>
            <p:nvPr/>
          </p:nvSpPr>
          <p:spPr>
            <a:xfrm>
              <a:off x="2922691" y="4819079"/>
              <a:ext cx="3621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교육</a:t>
              </a:r>
              <a:endParaRPr lang="en-US" sz="1400" dirty="0"/>
            </a:p>
          </p:txBody>
        </p:sp>
        <p:sp>
          <p:nvSpPr>
            <p:cNvPr id="22" name="Text 19"/>
            <p:cNvSpPr txBox="1"/>
            <p:nvPr/>
          </p:nvSpPr>
          <p:spPr>
            <a:xfrm>
              <a:off x="3265591" y="4809021"/>
              <a:ext cx="505846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수업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자료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개념 설명용 '단원 개요' 슬라이드와 학생 참여 유도용 '활동 지시 카드'를 색상 테마로 명확히 구분하여 집중도 향상.</a:t>
              </a:r>
              <a:endParaRPr lang="en-US" sz="1400" dirty="0"/>
            </a:p>
          </p:txBody>
        </p:sp>
        <p:sp>
          <p:nvSpPr>
            <p:cNvPr id="23" name="Text 20"/>
            <p:cNvSpPr txBox="1"/>
            <p:nvPr/>
          </p:nvSpPr>
          <p:spPr>
            <a:xfrm>
              <a:off x="2922691" y="5390579"/>
              <a:ext cx="505663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마케팅</a:t>
              </a:r>
              <a:endParaRPr lang="en-US" sz="1400" dirty="0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3276106" y="5380521"/>
              <a:ext cx="49149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캠페인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제안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핵심 컨셉, 타겟 오디언스, 기대 효과를 한눈에 파악할 수 있는 'One-pager' 요약 장표를 도입부에 배치.</a:t>
              </a:r>
              <a:endParaRPr lang="en-US" sz="1400" dirty="0"/>
            </a:p>
          </p:txBody>
        </p:sp>
        <p:sp>
          <p:nvSpPr>
            <p:cNvPr id="25" name="Text 22"/>
            <p:cNvSpPr txBox="1"/>
            <p:nvPr/>
          </p:nvSpPr>
          <p:spPr>
            <a:xfrm>
              <a:off x="2922691" y="5962079"/>
              <a:ext cx="362102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보고</a:t>
              </a:r>
              <a:endParaRPr lang="en-US" sz="1400" dirty="0"/>
            </a:p>
          </p:txBody>
        </p:sp>
        <p:sp>
          <p:nvSpPr>
            <p:cNvPr id="26" name="Text 23"/>
            <p:cNvSpPr txBox="1"/>
            <p:nvPr/>
          </p:nvSpPr>
          <p:spPr>
            <a:xfrm>
              <a:off x="3265591" y="5952021"/>
              <a:ext cx="505846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월간 </a:t>
              </a: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성과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보고</a:t>
              </a:r>
              <a:r>
                <a:rPr lang="en-US" sz="14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:</a:t>
              </a:r>
              <a:r>
                <a:rPr lang="en-US" sz="14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복잡한 스프레드시트 대신 핵심 KPI 지표와 증감률만 크게 강조한 '대시보드형 카드' 레이아웃 적용.</a:t>
              </a:r>
              <a:endParaRPr lang="en-US" sz="140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9365562" y="204842"/>
            <a:ext cx="2542946" cy="448056"/>
          </a:xfrm>
          <a:prstGeom prst="roundRect">
            <a:avLst>
              <a:gd name="adj" fmla="val 130265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9670971" y="299939"/>
            <a:ext cx="245150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팁과 실전 사례 가이드</a:t>
            </a:r>
            <a:endParaRPr lang="en-US" sz="13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14768" y="744996"/>
            <a:ext cx="8401507" cy="698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700" b="1" kern="0" spc="-37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캔바</a:t>
            </a:r>
            <a:r>
              <a:rPr lang="en-US" sz="37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700" b="1" kern="0" spc="-37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소개와</a:t>
            </a:r>
            <a:r>
              <a:rPr lang="en-US" sz="3700" dirty="0"/>
              <a:t> </a:t>
            </a:r>
            <a:r>
              <a:rPr lang="en-US" sz="3700" b="1" kern="0" spc="-37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r>
              <a:rPr lang="en-US" sz="37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특징</a:t>
            </a:r>
            <a:endParaRPr lang="en-US" sz="3700" dirty="0"/>
          </a:p>
        </p:txBody>
      </p:sp>
      <p:sp>
        <p:nvSpPr>
          <p:cNvPr id="6" name="Text 4"/>
          <p:cNvSpPr txBox="1"/>
          <p:nvPr/>
        </p:nvSpPr>
        <p:spPr>
          <a:xfrm>
            <a:off x="718962" y="1748382"/>
            <a:ext cx="6324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방대한 글로벌 템플릿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6523" y="2110527"/>
            <a:ext cx="6210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세계 디자이너가 제작한 방대한 템플릿과 에셋을 제공하여,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비전공자도 즉시 전문가 수준의 결과물을 만들 수 있습니다.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-2083" r="-2083"/>
          <a:stretch/>
        </p:blipFill>
        <p:spPr>
          <a:xfrm>
            <a:off x="718962" y="2794456"/>
            <a:ext cx="6126480" cy="91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8962" y="2956305"/>
            <a:ext cx="6324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공동 편집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16523" y="3318449"/>
            <a:ext cx="6210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팀원을 초대하여 구글 문서처럼 실시간 동시 편집이 가능하며,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댓글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할당 기능을 통해 피드백 루프를 단축하고 협업 효율을 극대화합니다.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-2083" r="-2083"/>
          <a:stretch/>
        </p:blipFill>
        <p:spPr>
          <a:xfrm>
            <a:off x="718962" y="4001464"/>
            <a:ext cx="6126480" cy="91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8962" y="4163313"/>
            <a:ext cx="6324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보기 / 녹화 / 라이브 반응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16523" y="4526372"/>
            <a:ext cx="6210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별도의 소프트웨어 없이 발표자 노트 확인, 프레젠테이션 녹화,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그리고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청중의 실시간 반응(Live) 기능을 지원하여 완벽한 발표 경험을 제공합니다.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-2083" r="-2083"/>
          <a:stretch/>
        </p:blipFill>
        <p:spPr>
          <a:xfrm>
            <a:off x="718962" y="5209386"/>
            <a:ext cx="6126480" cy="91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8962" y="5371235"/>
            <a:ext cx="62490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통합 생태계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16523" y="5734294"/>
            <a:ext cx="6210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이미지 생성, 차트, QR코드 등 다양한 타사 앱 연동을 </a:t>
            </a: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슬라이드를 넘어 동영상, 웹사이트까지 확장된 콘텐츠 제작이 가능합니다.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02642" y="1748382"/>
            <a:ext cx="4390949" cy="4295851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l="13507" r="13507"/>
          <a:stretch/>
        </p:blipFill>
        <p:spPr>
          <a:xfrm>
            <a:off x="7302642" y="1748382"/>
            <a:ext cx="4390949" cy="4295851"/>
          </a:xfrm>
          <a:prstGeom prst="rect">
            <a:avLst/>
          </a:prstGeom>
        </p:spPr>
      </p:pic>
      <p:sp>
        <p:nvSpPr>
          <p:cNvPr id="1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>
            <a:extLst>
              <a:ext uri="{FF2B5EF4-FFF2-40B4-BE49-F238E27FC236}">
                <a16:creationId xmlns:a16="http://schemas.microsoft.com/office/drawing/2014/main" id="{E89F3CF6-0ABA-176F-9340-6FB932805A88}"/>
              </a:ext>
            </a:extLst>
          </p:cNvPr>
          <p:cNvGrpSpPr/>
          <p:nvPr/>
        </p:nvGrpSpPr>
        <p:grpSpPr>
          <a:xfrm>
            <a:off x="1442514" y="1086176"/>
            <a:ext cx="3549211" cy="3019025"/>
            <a:chOff x="1522210" y="1108358"/>
            <a:chExt cx="2883103" cy="2452421"/>
          </a:xfrm>
        </p:grpSpPr>
        <p:sp>
          <p:nvSpPr>
            <p:cNvPr id="9" name="Text 5"/>
            <p:cNvSpPr txBox="1"/>
            <p:nvPr/>
          </p:nvSpPr>
          <p:spPr>
            <a:xfrm>
              <a:off x="1522210" y="1108358"/>
              <a:ext cx="2883103" cy="19248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4500" b="1" kern="0" spc="-75" dirty="0">
                  <a:solidFill>
                    <a:srgbClr val="FF6908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CANVA PRACTICE GUIDE</a:t>
              </a:r>
              <a:endParaRPr lang="en-US" sz="4500" dirty="0"/>
            </a:p>
          </p:txBody>
        </p:sp>
        <p:sp>
          <p:nvSpPr>
            <p:cNvPr id="10" name="Text 6"/>
            <p:cNvSpPr txBox="1"/>
            <p:nvPr/>
          </p:nvSpPr>
          <p:spPr>
            <a:xfrm>
              <a:off x="1522210" y="3283716"/>
              <a:ext cx="1666037" cy="2770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캔바 실습 가이드</a:t>
              </a:r>
              <a:endParaRPr lang="en-US" sz="1500" dirty="0"/>
            </a:p>
          </p:txBody>
        </p:sp>
      </p:grpSp>
      <p:sp>
        <p:nvSpPr>
          <p:cNvPr id="11" name="Text 7"/>
          <p:cNvSpPr txBox="1"/>
          <p:nvPr/>
        </p:nvSpPr>
        <p:spPr>
          <a:xfrm>
            <a:off x="5958515" y="2223854"/>
            <a:ext cx="5526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 타입(16:9)을 선택하고 목적에 맞는 템플릿을 탐색합니다.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958515" y="3038123"/>
            <a:ext cx="5526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Brand Kit를 적용하여 로고·색상·폰트의 시각적 일관성을 유지합니다.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958515" y="3933320"/>
            <a:ext cx="5526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Magic Design 및 자동 레이아웃 기능을 활용하여 디자인을 최적화합니다.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751846" y="5486698"/>
            <a:ext cx="3517697" cy="914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958515" y="4755818"/>
            <a:ext cx="55260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 노트를 작성하고 보기/편집/댓글 등 공유 권한을 점검합니다.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650848" y="5486698"/>
            <a:ext cx="3517697" cy="914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063787" y="1839979"/>
            <a:ext cx="36383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01. 템플릿 설정</a:t>
            </a:r>
            <a:endParaRPr lang="en-US" dirty="0"/>
          </a:p>
        </p:txBody>
      </p:sp>
      <p:sp>
        <p:nvSpPr>
          <p:cNvPr id="20" name="Text 12"/>
          <p:cNvSpPr txBox="1"/>
          <p:nvPr/>
        </p:nvSpPr>
        <p:spPr>
          <a:xfrm>
            <a:off x="5063786" y="2654248"/>
            <a:ext cx="37121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02. 브랜드 키트</a:t>
            </a:r>
            <a:endParaRPr lang="en-US" dirty="0"/>
          </a:p>
        </p:txBody>
      </p:sp>
      <p:sp>
        <p:nvSpPr>
          <p:cNvPr id="21" name="Text 13"/>
          <p:cNvSpPr txBox="1"/>
          <p:nvPr/>
        </p:nvSpPr>
        <p:spPr>
          <a:xfrm>
            <a:off x="5063787" y="3549445"/>
            <a:ext cx="405745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03. 디자인 최적화</a:t>
            </a:r>
            <a:endParaRPr lang="en-US" dirty="0"/>
          </a:p>
        </p:txBody>
      </p:sp>
      <p:sp>
        <p:nvSpPr>
          <p:cNvPr id="22" name="Text 14"/>
          <p:cNvSpPr txBox="1"/>
          <p:nvPr/>
        </p:nvSpPr>
        <p:spPr>
          <a:xfrm>
            <a:off x="5063786" y="4371943"/>
            <a:ext cx="33409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04. 공유 설정</a:t>
            </a:r>
            <a:endParaRPr lang="en-US" dirty="0"/>
          </a:p>
        </p:txBody>
      </p:sp>
      <p:sp>
        <p:nvSpPr>
          <p:cNvPr id="23" name="Shape 15"/>
          <p:cNvSpPr/>
          <p:nvPr/>
        </p:nvSpPr>
        <p:spPr>
          <a:xfrm>
            <a:off x="769220" y="5657690"/>
            <a:ext cx="7420356" cy="838505"/>
          </a:xfrm>
          <a:prstGeom prst="roundRect">
            <a:avLst>
              <a:gd name="adj" fmla="val 19827"/>
            </a:avLst>
          </a:prstGeom>
          <a:solidFill>
            <a:srgbClr val="FFF3EB"/>
          </a:solidFill>
          <a:ln w="127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4" name="Text 16"/>
          <p:cNvSpPr txBox="1"/>
          <p:nvPr/>
        </p:nvSpPr>
        <p:spPr>
          <a:xfrm>
            <a:off x="1226420" y="6105746"/>
            <a:ext cx="6397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효율적인 관리를 위해 파일명에 'v1.0', 'Final' 등 명확한 버전 이름 규칙을 적용하세요.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1068" y="5976816"/>
            <a:ext cx="142646" cy="1901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226420" y="5838742"/>
            <a:ext cx="781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BONUS TIP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8189576" y="755434"/>
            <a:ext cx="3143707" cy="514807"/>
          </a:xfrm>
          <a:prstGeom prst="roundRect">
            <a:avLst>
              <a:gd name="adj" fmla="val 164463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9"/>
          <p:cNvSpPr txBox="1"/>
          <p:nvPr/>
        </p:nvSpPr>
        <p:spPr>
          <a:xfrm>
            <a:off x="8514188" y="869734"/>
            <a:ext cx="316748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목표: 4장 피치덱 완성하기</a:t>
            </a:r>
            <a:endParaRPr lang="en-US" sz="1500" dirty="0"/>
          </a:p>
        </p:txBody>
      </p:sp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64435" y="285645"/>
            <a:ext cx="4104708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7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감마(Gamma)</a:t>
            </a:r>
            <a:endParaRPr lang="en-US" sz="3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7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소개와 핵심 특징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14768" y="2267199"/>
            <a:ext cx="6096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자동 작성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4768" y="2623157"/>
            <a:ext cx="605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주제나 프롬프트만 입력하면 </a:t>
            </a:r>
            <a:r>
              <a:rPr lang="en-US" sz="1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1분 내에 초안을 생성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아웃라인 </a:t>
            </a:r>
            <a:r>
              <a:rPr lang="en-US" sz="11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구성부터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슬라이드 디자인까지 AI가 자동으로 완성하여 작업 시간을 획기적으로 단축합니다.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14768" y="3297783"/>
            <a:ext cx="6172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기반 편집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14768" y="3688433"/>
            <a:ext cx="605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PPT처럼 요소를 하나하나 맞추는 대신, 노션(Notion)처럼 </a:t>
            </a:r>
            <a:r>
              <a:rPr lang="en-US" sz="1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앤 드롭으로 블록을 편집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누구나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쉽게 텍스트와 이미지를 배치하고 수정할 수 있습니다.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14768" y="4363059"/>
            <a:ext cx="6172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반응형 뷰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14768" y="4752795"/>
            <a:ext cx="605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작성된 내용은 PC뿐만 아니라 </a:t>
            </a:r>
            <a:r>
              <a:rPr lang="en-US" sz="1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모바일과 태블릿에도 최적화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되어 보입니다.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기기에서 링크를 열어도 레이아웃이 자동으로 조정되어 가독성을 유지합니다.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714768" y="5427421"/>
            <a:ext cx="6172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임베드 친화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14768" y="5818071"/>
            <a:ext cx="6057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 </a:t>
            </a:r>
            <a:r>
              <a:rPr lang="en-US" sz="1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링크, 유튜브 영상, 데이터 차트 등을 임베드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슬라이드 내에서 바로 보여줍니다.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정적인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이미지가 아닌 동적이고 풍부한 프레젠테이션이 가능합니다.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rcRect l="21513" r="21513"/>
          <a:stretch/>
        </p:blipFill>
        <p:spPr>
          <a:xfrm>
            <a:off x="7193584" y="2117499"/>
            <a:ext cx="4390949" cy="4209898"/>
          </a:xfrm>
          <a:prstGeom prst="rect">
            <a:avLst/>
          </a:prstGeom>
        </p:spPr>
      </p:pic>
      <p:sp>
        <p:nvSpPr>
          <p:cNvPr id="1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101401" y="739640"/>
            <a:ext cx="2181758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CANVA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101401" y="1420868"/>
            <a:ext cx="4222699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PROS &amp; CONS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101401" y="2102096"/>
            <a:ext cx="3128162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219962" y="1196840"/>
            <a:ext cx="3752698" cy="448056"/>
          </a:xfrm>
          <a:prstGeom prst="roundRect">
            <a:avLst>
              <a:gd name="adj" fmla="val 130265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524457" y="1291937"/>
            <a:ext cx="40389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사용처: 팀 피치덱, 제안서, 브랜드 문서</a:t>
            </a:r>
            <a:endParaRPr lang="en-US" sz="13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11CCC43-50D4-5DE5-ED0D-B82B227BC1C4}"/>
              </a:ext>
            </a:extLst>
          </p:cNvPr>
          <p:cNvGrpSpPr/>
          <p:nvPr/>
        </p:nvGrpSpPr>
        <p:grpSpPr>
          <a:xfrm>
            <a:off x="1933069" y="3283501"/>
            <a:ext cx="9781052" cy="3092501"/>
            <a:chOff x="2107692" y="3298241"/>
            <a:chExt cx="8747151" cy="2704795"/>
          </a:xfrm>
        </p:grpSpPr>
        <p:sp>
          <p:nvSpPr>
            <p:cNvPr id="9" name="Shape 7"/>
            <p:cNvSpPr/>
            <p:nvPr/>
          </p:nvSpPr>
          <p:spPr>
            <a:xfrm>
              <a:off x="2107692" y="3298241"/>
              <a:ext cx="8172907" cy="2704795"/>
            </a:xfrm>
            <a:prstGeom prst="roundRect">
              <a:avLst>
                <a:gd name="adj" fmla="val 1428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0" name="Shape 8"/>
            <p:cNvSpPr/>
            <p:nvPr/>
          </p:nvSpPr>
          <p:spPr>
            <a:xfrm>
              <a:off x="2184502" y="3678631"/>
              <a:ext cx="3819449" cy="19202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2184502" y="3374136"/>
              <a:ext cx="3934663" cy="2670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장점 (Pros)</a:t>
              </a:r>
              <a:endParaRPr lang="en-US" sz="16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2451506" y="3813048"/>
              <a:ext cx="361005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강력한 협업: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실시간 동시 편집, 댓글, 버전 관리 우수</a:t>
              </a:r>
              <a:endParaRPr lang="en-US" sz="12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2451506" y="4104742"/>
              <a:ext cx="359267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발표 특화: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발표자 보기, 녹화, 라이브 Q&amp;A 기능 내장</a:t>
              </a:r>
              <a:endParaRPr lang="en-US" sz="12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451506" y="4396435"/>
              <a:ext cx="364479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확장성: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AI, 차트, 목업 등 방대한 앱/플러그인 생태계</a:t>
              </a:r>
              <a:endParaRPr lang="en-US" sz="1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381598" y="3678631"/>
              <a:ext cx="3819449" cy="19202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6381598" y="3374136"/>
              <a:ext cx="3934663" cy="267005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374151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단점 (Cons)</a:t>
              </a:r>
              <a:endParaRPr lang="en-US" sz="16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6648602" y="3813048"/>
              <a:ext cx="357621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성능 이슈: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요소가 많거나 파일이 크면 로딩 속도 저하</a:t>
              </a:r>
              <a:endParaRPr lang="en-US" sz="12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6648602" y="4104742"/>
              <a:ext cx="326715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타이포그래피: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한글 자간/행간 디테일 설정의 한계</a:t>
              </a:r>
              <a:endParaRPr lang="en-US" sz="12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6648602" y="4396435"/>
              <a:ext cx="357621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데이터 시각화: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엑셀 연동 등 고급 차트 기능은 제한적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184502" y="4802429"/>
              <a:ext cx="8020202" cy="1123798"/>
            </a:xfrm>
            <a:prstGeom prst="roundRect">
              <a:avLst>
                <a:gd name="adj" fmla="val 8275"/>
              </a:avLst>
            </a:prstGeom>
            <a:solidFill>
              <a:srgbClr val="F9FAFB"/>
            </a:solidFill>
            <a:ln w="12700">
              <a:solidFill>
                <a:srgbClr val="F3F4F6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2527402" y="4964278"/>
              <a:ext cx="762975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실무 운영 팁 (Tips)</a:t>
              </a:r>
              <a:endParaRPr lang="en-US" sz="1200" dirty="0"/>
            </a:p>
          </p:txBody>
        </p:sp>
        <p:pic>
          <p:nvPicPr>
            <p:cNvPr id="22" name="Image 0" descr="preencoded.png"/>
            <p:cNvPicPr>
              <a:picLocks noChangeAspect="1"/>
            </p:cNvPicPr>
            <p:nvPr/>
          </p:nvPicPr>
          <p:blipFill>
            <a:blip r:embed="rId3"/>
            <a:srcRect t="-870" b="-870"/>
            <a:stretch/>
          </p:blipFill>
          <p:spPr>
            <a:xfrm>
              <a:off x="2346350" y="4999939"/>
              <a:ext cx="105156" cy="142646"/>
            </a:xfrm>
            <a:prstGeom prst="rect">
              <a:avLst/>
            </a:prstGeom>
          </p:spPr>
        </p:pic>
        <p:sp>
          <p:nvSpPr>
            <p:cNvPr id="23" name="Text 20"/>
            <p:cNvSpPr txBox="1"/>
            <p:nvPr/>
          </p:nvSpPr>
          <p:spPr>
            <a:xfrm>
              <a:off x="2346350" y="5254142"/>
              <a:ext cx="427116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1. 템플릿 잠금: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브랜드 가이드(로고, 폰트) 이탈 방지 설정</a:t>
              </a:r>
              <a:endParaRPr lang="en-US" sz="1200" dirty="0"/>
            </a:p>
          </p:txBody>
        </p:sp>
        <p:sp>
          <p:nvSpPr>
            <p:cNvPr id="24" name="Text 21"/>
            <p:cNvSpPr txBox="1"/>
            <p:nvPr/>
          </p:nvSpPr>
          <p:spPr>
            <a:xfrm>
              <a:off x="6343193" y="5254142"/>
              <a:ext cx="440832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2. 링크 보안: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외부 공유 시 링크 만료 기간 및 비밀번호 설정</a:t>
              </a:r>
              <a:endParaRPr lang="en-US" sz="1200" dirty="0"/>
            </a:p>
          </p:txBody>
        </p:sp>
        <p:sp>
          <p:nvSpPr>
            <p:cNvPr id="25" name="Text 22"/>
            <p:cNvSpPr txBox="1"/>
            <p:nvPr/>
          </p:nvSpPr>
          <p:spPr>
            <a:xfrm>
              <a:off x="2346350" y="5544922"/>
              <a:ext cx="4186123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3. 버전 관리: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주요 마일스톤마다 '버전 이름 저장' 습관화</a:t>
              </a:r>
              <a:endParaRPr lang="en-US" sz="1200" dirty="0"/>
            </a:p>
          </p:txBody>
        </p:sp>
        <p:sp>
          <p:nvSpPr>
            <p:cNvPr id="26" name="Text 23"/>
            <p:cNvSpPr txBox="1"/>
            <p:nvPr/>
          </p:nvSpPr>
          <p:spPr>
            <a:xfrm>
              <a:off x="6343193" y="5544922"/>
              <a:ext cx="451165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4. 용량 최적화: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고해상도 영상은 업로드 대신 링크 임베드 활용</a:t>
              </a:r>
              <a:endParaRPr lang="en-US" sz="1200" dirty="0"/>
            </a:p>
          </p:txBody>
        </p:sp>
        <p:pic>
          <p:nvPicPr>
            <p:cNvPr id="27" name="Image 1" descr="preencoded.png"/>
            <p:cNvPicPr>
              <a:picLocks noChangeAspect="1"/>
            </p:cNvPicPr>
            <p:nvPr/>
          </p:nvPicPr>
          <p:blipFill>
            <a:blip r:embed="rId4"/>
            <a:srcRect l="-26191" r="-26191"/>
            <a:stretch/>
          </p:blipFill>
          <p:spPr>
            <a:xfrm>
              <a:off x="2184502" y="3850538"/>
              <a:ext cx="190195" cy="142646"/>
            </a:xfrm>
            <a:prstGeom prst="rect">
              <a:avLst/>
            </a:prstGeom>
          </p:spPr>
        </p:pic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4"/>
            <a:srcRect l="-26191" r="-26191"/>
            <a:stretch/>
          </p:blipFill>
          <p:spPr>
            <a:xfrm>
              <a:off x="2184502" y="4142232"/>
              <a:ext cx="190195" cy="142646"/>
            </a:xfrm>
            <a:prstGeom prst="rect">
              <a:avLst/>
            </a:prstGeom>
          </p:spPr>
        </p:pic>
        <p:pic>
          <p:nvPicPr>
            <p:cNvPr id="29" name="Image 3" descr="preencoded.png"/>
            <p:cNvPicPr>
              <a:picLocks noChangeAspect="1"/>
            </p:cNvPicPr>
            <p:nvPr/>
          </p:nvPicPr>
          <p:blipFill>
            <a:blip r:embed="rId4"/>
            <a:srcRect l="-26191" r="-26191"/>
            <a:stretch/>
          </p:blipFill>
          <p:spPr>
            <a:xfrm>
              <a:off x="2184502" y="4433926"/>
              <a:ext cx="190195" cy="142646"/>
            </a:xfrm>
            <a:prstGeom prst="rect">
              <a:avLst/>
            </a:prstGeom>
          </p:spPr>
        </p:pic>
        <p:pic>
          <p:nvPicPr>
            <p:cNvPr id="30" name="Image 4" descr="preencoded.png"/>
            <p:cNvPicPr>
              <a:picLocks noChangeAspect="1"/>
            </p:cNvPicPr>
            <p:nvPr/>
          </p:nvPicPr>
          <p:blipFill>
            <a:blip r:embed="rId5"/>
            <a:srcRect l="-16667" r="-16667"/>
            <a:stretch/>
          </p:blipFill>
          <p:spPr>
            <a:xfrm>
              <a:off x="6381598" y="3850538"/>
              <a:ext cx="190195" cy="142646"/>
            </a:xfrm>
            <a:prstGeom prst="rect">
              <a:avLst/>
            </a:prstGeom>
          </p:spPr>
        </p:pic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5"/>
            <a:srcRect l="-16667" r="-16667"/>
            <a:stretch/>
          </p:blipFill>
          <p:spPr>
            <a:xfrm>
              <a:off x="6381598" y="4142232"/>
              <a:ext cx="190195" cy="142646"/>
            </a:xfrm>
            <a:prstGeom prst="rect">
              <a:avLst/>
            </a:prstGeom>
          </p:spPr>
        </p:pic>
        <p:pic>
          <p:nvPicPr>
            <p:cNvPr id="32" name="Image 6" descr="preencoded.png"/>
            <p:cNvPicPr>
              <a:picLocks noChangeAspect="1"/>
            </p:cNvPicPr>
            <p:nvPr/>
          </p:nvPicPr>
          <p:blipFill>
            <a:blip r:embed="rId5"/>
            <a:srcRect l="-16667" r="-16667"/>
            <a:stretch/>
          </p:blipFill>
          <p:spPr>
            <a:xfrm>
              <a:off x="6381598" y="4433926"/>
              <a:ext cx="190195" cy="142646"/>
            </a:xfrm>
            <a:prstGeom prst="rect">
              <a:avLst/>
            </a:prstGeom>
          </p:spPr>
        </p:pic>
      </p:grpSp>
      <p:sp>
        <p:nvSpPr>
          <p:cNvPr id="3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187" r="187"/>
          <a:stretch/>
        </p:blipFill>
        <p:spPr>
          <a:xfrm>
            <a:off x="-1030017" y="2915666"/>
            <a:ext cx="5458432" cy="30846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2878" y="637194"/>
            <a:ext cx="277216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GAMMA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1002879" y="1247098"/>
            <a:ext cx="222629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GUIDE</a:t>
            </a:r>
            <a:endParaRPr lang="en-US" sz="4800" dirty="0"/>
          </a:p>
        </p:txBody>
      </p:sp>
      <p:sp>
        <p:nvSpPr>
          <p:cNvPr id="10" name="Text 6"/>
          <p:cNvSpPr txBox="1"/>
          <p:nvPr/>
        </p:nvSpPr>
        <p:spPr>
          <a:xfrm>
            <a:off x="1002879" y="2075545"/>
            <a:ext cx="15096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감마 실습 가이드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798264" y="1857272"/>
            <a:ext cx="62334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목적, 대상, 톤앤매너, 핵심 메시지, 분량(장수)을 명확히 포함하여 작성합니다.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98264" y="2838860"/>
            <a:ext cx="62334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블록 삭제(Cmd/Ctrl+Bksp) 및 이동 단축키를 활용해 불필요한 내용을 빠르게 정리합니다.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98264" y="3822695"/>
            <a:ext cx="62334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'테마 편집'에서 브랜드 컬러를 지정하고, 이미지를 클릭해 원하는 에셋으로 교체합니다.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5798264" y="4735300"/>
            <a:ext cx="62334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 모드로 흐름을 확인하고 공유 링크 권한을 상황에 맞게 설정합니다.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5204702" y="5243283"/>
            <a:ext cx="6424510" cy="809244"/>
          </a:xfrm>
          <a:prstGeom prst="roundRect">
            <a:avLst>
              <a:gd name="adj" fmla="val 21270"/>
            </a:avLst>
          </a:prstGeom>
          <a:solidFill>
            <a:srgbClr val="FFF3EB"/>
          </a:solidFill>
          <a:ln w="127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2"/>
          <p:cNvSpPr txBox="1"/>
          <p:nvPr/>
        </p:nvSpPr>
        <p:spPr>
          <a:xfrm>
            <a:off x="5719509" y="5672137"/>
            <a:ext cx="58948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"5장의 마케팅 제안서를 만들어줘. 톤은 전문적이고, 각 슬라이드는 1개 핵심 메시지만 포함해줘."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5159471" y="1466555"/>
            <a:ext cx="46259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01. 프롬프트 구조화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5159471" y="2448143"/>
            <a:ext cx="5185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02. 빠른 편집 (단축키)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5159470" y="3431064"/>
            <a:ext cx="432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03. 디자인 커스텀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5159470" y="4343669"/>
            <a:ext cx="3551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STEP 04. 최종 점검</a:t>
            </a:r>
            <a:endParaRPr lang="en-US" sz="14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5367465" y="5443537"/>
            <a:ext cx="200254" cy="2286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719509" y="5405132"/>
            <a:ext cx="2179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RECOMMENDED PROMPT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rcRect t="-39" b="-39"/>
          <a:stretch/>
        </p:blipFill>
        <p:spPr>
          <a:xfrm>
            <a:off x="7381951" y="455371"/>
            <a:ext cx="4234586" cy="514807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706563" y="569671"/>
            <a:ext cx="446684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목표: 5문장 프롬프트로 5장 초안 만들기</a:t>
            </a:r>
            <a:endParaRPr lang="en-US" sz="15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262149" y="879693"/>
            <a:ext cx="335599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kern="0" spc="-112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GAMMA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262148" y="1488683"/>
            <a:ext cx="400613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kern="0" spc="-112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DIVE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262149" y="2098588"/>
            <a:ext cx="350279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kern="0" spc="-112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</a:t>
            </a:r>
            <a:endParaRPr lang="en-US" sz="54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D24AE16-7E5A-1B75-8EEF-3BDC91552055}"/>
              </a:ext>
            </a:extLst>
          </p:cNvPr>
          <p:cNvGrpSpPr/>
          <p:nvPr/>
        </p:nvGrpSpPr>
        <p:grpSpPr>
          <a:xfrm>
            <a:off x="1216403" y="2282523"/>
            <a:ext cx="10975597" cy="3824531"/>
            <a:chOff x="1218895" y="2556074"/>
            <a:chExt cx="10418602" cy="3063828"/>
          </a:xfrm>
        </p:grpSpPr>
        <p:sp>
          <p:nvSpPr>
            <p:cNvPr id="7" name="Shape 5"/>
            <p:cNvSpPr/>
            <p:nvPr/>
          </p:nvSpPr>
          <p:spPr>
            <a:xfrm>
              <a:off x="1218895" y="3381451"/>
              <a:ext cx="4762195" cy="2238451"/>
            </a:xfrm>
            <a:prstGeom prst="roundRect">
              <a:avLst>
                <a:gd name="adj" fmla="val 2781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FFEEDA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8" name="Shape 6"/>
            <p:cNvSpPr/>
            <p:nvPr/>
          </p:nvSpPr>
          <p:spPr>
            <a:xfrm>
              <a:off x="1457554" y="3886200"/>
              <a:ext cx="4286707" cy="9144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1457554" y="3543300"/>
              <a:ext cx="4401007" cy="2679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PROS &amp; CONS (장단점)</a:t>
              </a:r>
              <a:endParaRPr lang="en-US" sz="14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457554" y="4009644"/>
              <a:ext cx="4476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장점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AI 프롬프트 한 줄로 목차부터 디자인까지 자동 생성</a:t>
              </a:r>
              <a:endParaRPr lang="en-US" sz="12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1457554" y="4315054"/>
              <a:ext cx="4476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장점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</a:t>
              </a: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모바일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/PC 어디서든 깨지지 않는 반응형 웹 뷰</a:t>
              </a:r>
              <a:endParaRPr lang="en-US" sz="1200" dirty="0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1457554" y="4619549"/>
              <a:ext cx="4476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장점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</a:t>
              </a: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유튜브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, 웹사이트 등 외부 미디어 임베드 최적화</a:t>
              </a:r>
              <a:endParaRPr lang="en-US" sz="1200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1457554" y="4924044"/>
              <a:ext cx="4476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단점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</a:t>
              </a: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PPT처럼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픽셀 단위의 정밀한 레이아웃 수정 불가</a:t>
              </a:r>
              <a:endParaRPr lang="en-US" sz="120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1457554" y="5229454"/>
              <a:ext cx="4476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555555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단점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 </a:t>
              </a:r>
              <a:r>
                <a:rPr lang="en-US" sz="1200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일부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한글 폰트 및 서식 호환성 제한</a:t>
              </a:r>
              <a:endParaRPr lang="en-US" sz="1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210605" y="3381451"/>
              <a:ext cx="4762195" cy="2238451"/>
            </a:xfrm>
            <a:prstGeom prst="roundRect">
              <a:avLst>
                <a:gd name="adj" fmla="val 2781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FFEEDA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6" name="Shape 14"/>
            <p:cNvSpPr/>
            <p:nvPr/>
          </p:nvSpPr>
          <p:spPr>
            <a:xfrm>
              <a:off x="6448349" y="3886200"/>
              <a:ext cx="4286707" cy="9144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6448349" y="3543300"/>
              <a:ext cx="4401007" cy="2679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PROMPT TIPS (작성 팁)</a:t>
              </a:r>
              <a:endParaRPr lang="en-US" sz="14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6448349" y="4009644"/>
              <a:ext cx="4476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Tip 1 </a:t>
              </a:r>
              <a:r>
                <a:rPr lang="en-US" sz="12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목적</a:t>
              </a: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/대상 명시: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"스타트업 투자자를 위한 피치덱"</a:t>
              </a:r>
              <a:endParaRPr lang="en-US" sz="12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6448349" y="4315054"/>
              <a:ext cx="4401007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Tip 2 </a:t>
              </a:r>
              <a:r>
                <a:rPr lang="en-US" sz="12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분량</a:t>
              </a: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/형식 지정: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"8장의 슬라이드, 전문적인 톤"</a:t>
              </a:r>
              <a:endParaRPr lang="en-US" sz="12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6448349" y="4619549"/>
              <a:ext cx="4476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Tip 3 </a:t>
              </a:r>
              <a:r>
                <a:rPr lang="en-US" sz="12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개요</a:t>
              </a: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검수: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생성 전 아웃라인 단계에서 목차 수정 필수</a:t>
              </a:r>
              <a:endParaRPr lang="en-US" sz="1200" dirty="0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6448349" y="4924044"/>
              <a:ext cx="44769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Tip 4 </a:t>
              </a:r>
              <a:r>
                <a:rPr lang="en-US" sz="1200" b="1" dirty="0" err="1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카드</a:t>
              </a:r>
              <a:r>
                <a:rPr lang="en-US" sz="1200" b="1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활용:</a:t>
              </a:r>
              <a:r>
                <a:rPr lang="en-US" sz="1200" dirty="0">
                  <a:solidFill>
                    <a:srgbClr val="00000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 "핵심 내용은 3단 카드 형태로 정리해줘"</a:t>
              </a:r>
              <a:endParaRPr lang="en-US" sz="120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6448349" y="5229454"/>
              <a:ext cx="4476902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6B7280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* 감마는 텍스트 기반 도구이므로 내용의 구조화가 디자인보다 중요합니다.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399814" y="2556074"/>
              <a:ext cx="4476902" cy="448056"/>
            </a:xfrm>
            <a:prstGeom prst="roundRect">
              <a:avLst>
                <a:gd name="adj" fmla="val 130265"/>
              </a:avLst>
            </a:prstGeom>
            <a:solidFill>
              <a:srgbClr val="FFFFFF"/>
            </a:solidFill>
            <a:ln w="25400">
              <a:solidFill>
                <a:srgbClr val="FF6908"/>
              </a:solidFill>
              <a:prstDash val="solid"/>
            </a:ln>
          </p:spPr>
          <p:txBody>
            <a:bodyPr/>
            <a:lstStyle/>
            <a:p>
              <a:endParaRPr lang="ko-KR" altLang="en-US" sz="2000"/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6705223" y="2651172"/>
              <a:ext cx="4932274" cy="247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F6908"/>
                  </a:solidFill>
                  <a:latin typeface="Noto Sans KR" pitchFamily="34" charset="0"/>
                  <a:ea typeface="Noto Sans KR" pitchFamily="34" charset="-122"/>
                  <a:cs typeface="Noto Sans KR" pitchFamily="34" charset="-120"/>
                </a:rPr>
                <a:t>추천 사용처: 아이디어 정리, 웹형 소개 자료, 초안 작성</a:t>
              </a:r>
              <a:endParaRPr lang="en-US" sz="1400" dirty="0"/>
            </a:p>
          </p:txBody>
        </p:sp>
      </p:grpSp>
      <p:sp>
        <p:nvSpPr>
          <p:cNvPr id="2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067105" y="763066"/>
            <a:ext cx="194218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1067105" y="1306220"/>
            <a:ext cx="3932834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COMPARISON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1067105" y="2143810"/>
            <a:ext cx="180868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도구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067105" y="2623870"/>
            <a:ext cx="23244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분석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249126" y="1211580"/>
            <a:ext cx="2381098" cy="1533449"/>
          </a:xfrm>
          <a:prstGeom prst="roundRect">
            <a:avLst>
              <a:gd name="adj" fmla="val 740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1651" b="1651"/>
          <a:stretch/>
        </p:blipFill>
        <p:spPr>
          <a:xfrm>
            <a:off x="5249126" y="1211580"/>
            <a:ext cx="2381098" cy="15334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934718" y="1388059"/>
            <a:ext cx="2371954" cy="409651"/>
          </a:xfrm>
          <a:prstGeom prst="roundRect">
            <a:avLst>
              <a:gd name="adj" fmla="val 1557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182521" y="1950674"/>
            <a:ext cx="27550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템플릿 10K+ 보유 (한글 최적화)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82521" y="2179274"/>
            <a:ext cx="27550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한글 폰트, 국내 정서 템플릿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82521" y="2407874"/>
            <a:ext cx="27742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수업 자료, 공지, SNS 카드뉴스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49126" y="2964485"/>
            <a:ext cx="2381098" cy="1524305"/>
          </a:xfrm>
          <a:prstGeom prst="roundRect">
            <a:avLst>
              <a:gd name="adj" fmla="val 749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2083" b="2083"/>
          <a:stretch/>
        </p:blipFill>
        <p:spPr>
          <a:xfrm>
            <a:off x="5249126" y="2964485"/>
            <a:ext cx="2381098" cy="152430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934718" y="3140049"/>
            <a:ext cx="1514246" cy="409651"/>
          </a:xfrm>
          <a:prstGeom prst="roundRect">
            <a:avLst>
              <a:gd name="adj" fmla="val 1557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8182521" y="3703579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템플릿 1M+ &amp; 글로벌 사용자 1억+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182521" y="3932179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강력한 협업 기능 &amp; 프레젠테이션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182521" y="4160779"/>
            <a:ext cx="2600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팀 프로젝트, 마케팅 제안서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249126" y="4716475"/>
            <a:ext cx="2381098" cy="1524305"/>
          </a:xfrm>
          <a:prstGeom prst="roundRect">
            <a:avLst>
              <a:gd name="adj" fmla="val 749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24393" b="24393"/>
          <a:stretch/>
        </p:blipFill>
        <p:spPr>
          <a:xfrm>
            <a:off x="5249126" y="4716475"/>
            <a:ext cx="2381098" cy="152430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934718" y="4892954"/>
            <a:ext cx="1647749" cy="409651"/>
          </a:xfrm>
          <a:prstGeom prst="roundRect">
            <a:avLst>
              <a:gd name="adj" fmla="val 1557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8182521" y="5455570"/>
            <a:ext cx="2405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생성 1분 (크레딧 기반)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182521" y="5684170"/>
            <a:ext cx="27020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압도적인 제작 속도, 웹형 문서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182521" y="5912770"/>
            <a:ext cx="2839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아이디어 정리, 초안 빠르게 완성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182521" y="1463954"/>
            <a:ext cx="223296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미리캔버스 (Miricanvas)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182521" y="3216859"/>
            <a:ext cx="12134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캔바 (Canva)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8182521" y="4968849"/>
            <a:ext cx="12371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감마 (Gamma)</a:t>
            </a:r>
            <a:endParaRPr lang="en-US" sz="13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267684" y="757434"/>
            <a:ext cx="463208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MIRICANVAS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267683" y="1366424"/>
            <a:ext cx="503798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PROS &amp; CONS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267684" y="1976329"/>
            <a:ext cx="3572409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182500" y="2914503"/>
            <a:ext cx="4253612" cy="3343046"/>
          </a:xfrm>
          <a:prstGeom prst="roundRect">
            <a:avLst>
              <a:gd name="adj" fmla="val 1559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96139" y="3200710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63144" y="3153161"/>
            <a:ext cx="115671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 (Pros)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96139" y="3610361"/>
            <a:ext cx="95098" cy="9509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7444" y="3552754"/>
            <a:ext cx="31208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압도적인 한글 폰트 지원과 한국적 디자인 에셋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96139" y="3914856"/>
            <a:ext cx="95098" cy="9509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77444" y="3857249"/>
            <a:ext cx="3463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학습이 거의 필요 없는 직관적인 드래그 앤 드롭 UI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96139" y="4219352"/>
            <a:ext cx="95098" cy="9509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877444" y="4162659"/>
            <a:ext cx="3292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기반으로 비전문가도 10분 내 결과물 완성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96139" y="5057856"/>
            <a:ext cx="190195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763144" y="5010308"/>
            <a:ext cx="120152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 (Cons)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1496139" y="5467508"/>
            <a:ext cx="85954" cy="9509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867385" y="5409900"/>
            <a:ext cx="3292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동시 편집 및 정교한 버전 관리 기능 제한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1496139" y="5772003"/>
            <a:ext cx="85954" cy="9509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867385" y="571531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데이터 연동(Data viz) 및 앱 생태계 부족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5665321" y="2920401"/>
            <a:ext cx="5600700" cy="3343046"/>
          </a:xfrm>
          <a:prstGeom prst="roundRect">
            <a:avLst>
              <a:gd name="adj" fmla="val 1559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78960" y="3206608"/>
            <a:ext cx="142646" cy="190195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198416" y="3159059"/>
            <a:ext cx="142829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운영 Tips</a:t>
            </a:r>
            <a:endParaRPr lang="en-US" sz="1600" dirty="0"/>
          </a:p>
        </p:txBody>
      </p:sp>
      <p:sp>
        <p:nvSpPr>
          <p:cNvPr id="26" name="Shape 16"/>
          <p:cNvSpPr/>
          <p:nvPr/>
        </p:nvSpPr>
        <p:spPr>
          <a:xfrm>
            <a:off x="5978960" y="3558652"/>
            <a:ext cx="2409444" cy="982905"/>
          </a:xfrm>
          <a:prstGeom prst="roundRect">
            <a:avLst>
              <a:gd name="adj" fmla="val 5632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Text 17"/>
          <p:cNvSpPr txBox="1"/>
          <p:nvPr/>
        </p:nvSpPr>
        <p:spPr>
          <a:xfrm>
            <a:off x="6131665" y="3720501"/>
            <a:ext cx="13770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즐겨찾기 활용</a:t>
            </a:r>
            <a:endParaRPr lang="en-US" sz="1400" dirty="0"/>
          </a:p>
        </p:txBody>
      </p:sp>
      <p:sp>
        <p:nvSpPr>
          <p:cNvPr id="28" name="Text 18"/>
          <p:cNvSpPr txBox="1"/>
          <p:nvPr/>
        </p:nvSpPr>
        <p:spPr>
          <a:xfrm>
            <a:off x="6131665" y="3977447"/>
            <a:ext cx="21817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쓰는 템플릿과 요소를 폴더별로 정리하여 검색 시간 단축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8542023" y="3558652"/>
            <a:ext cx="2409444" cy="982905"/>
          </a:xfrm>
          <a:prstGeom prst="roundRect">
            <a:avLst>
              <a:gd name="adj" fmla="val 5632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0" name="Text 20"/>
          <p:cNvSpPr txBox="1"/>
          <p:nvPr/>
        </p:nvSpPr>
        <p:spPr>
          <a:xfrm>
            <a:off x="8693814" y="3720501"/>
            <a:ext cx="137891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라이선스 체크</a:t>
            </a:r>
            <a:endParaRPr lang="en-US" sz="1400" dirty="0"/>
          </a:p>
        </p:txBody>
      </p:sp>
      <p:sp>
        <p:nvSpPr>
          <p:cNvPr id="31" name="Text 21"/>
          <p:cNvSpPr txBox="1"/>
          <p:nvPr/>
        </p:nvSpPr>
        <p:spPr>
          <a:xfrm>
            <a:off x="8693814" y="3977447"/>
            <a:ext cx="21817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무료/유료 에셋의 상업적 이용 가능 범위를 반드시 확인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5978960" y="5068326"/>
            <a:ext cx="2409444" cy="982905"/>
          </a:xfrm>
          <a:prstGeom prst="roundRect">
            <a:avLst>
              <a:gd name="adj" fmla="val 5632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3" name="Text 23"/>
          <p:cNvSpPr txBox="1"/>
          <p:nvPr/>
        </p:nvSpPr>
        <p:spPr>
          <a:xfrm>
            <a:off x="6131665" y="5230175"/>
            <a:ext cx="1216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브랜드 키트</a:t>
            </a:r>
            <a:endParaRPr lang="en-US" sz="1400" dirty="0"/>
          </a:p>
        </p:txBody>
      </p:sp>
      <p:sp>
        <p:nvSpPr>
          <p:cNvPr id="34" name="Text 24"/>
          <p:cNvSpPr txBox="1"/>
          <p:nvPr/>
        </p:nvSpPr>
        <p:spPr>
          <a:xfrm>
            <a:off x="6131665" y="5487122"/>
            <a:ext cx="21817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조직의 로고, 컬러, 전용 폰트를 '마이 드라이브'에 미리 세팅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8542023" y="5068326"/>
            <a:ext cx="2409444" cy="982905"/>
          </a:xfrm>
          <a:prstGeom prst="roundRect">
            <a:avLst>
              <a:gd name="adj" fmla="val 5632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6" name="Text 26"/>
          <p:cNvSpPr txBox="1"/>
          <p:nvPr/>
        </p:nvSpPr>
        <p:spPr>
          <a:xfrm>
            <a:off x="8693814" y="5230175"/>
            <a:ext cx="137891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고해상도 출력</a:t>
            </a:r>
            <a:endParaRPr lang="en-US" sz="1400" dirty="0"/>
          </a:p>
        </p:txBody>
      </p:sp>
      <p:sp>
        <p:nvSpPr>
          <p:cNvPr id="37" name="Text 27"/>
          <p:cNvSpPr txBox="1"/>
          <p:nvPr/>
        </p:nvSpPr>
        <p:spPr>
          <a:xfrm>
            <a:off x="8693814" y="5487122"/>
            <a:ext cx="21817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인쇄물 제작 시에는 반드시 'PDF 인쇄용' 옵션으로 다운로드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906094" y="2191624"/>
            <a:ext cx="4267505" cy="448056"/>
          </a:xfrm>
          <a:prstGeom prst="roundRect">
            <a:avLst>
              <a:gd name="adj" fmla="val 130265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/>
          <p:cNvSpPr txBox="1"/>
          <p:nvPr/>
        </p:nvSpPr>
        <p:spPr>
          <a:xfrm>
            <a:off x="7229791" y="2286721"/>
            <a:ext cx="45701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사용처: 수업 자료 · 공지사항 · SNS 카드뉴스</a:t>
            </a:r>
            <a:endParaRPr lang="en-US" sz="13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752517" y="1013752"/>
            <a:ext cx="8826703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도구의 요금제</a:t>
            </a:r>
          </a:p>
          <a:p>
            <a:pPr marL="0" indent="0" algn="l">
              <a:buNone/>
            </a:pPr>
            <a:r>
              <a:rPr lang="en-US" sz="3700" b="1" kern="0" spc="-37" dirty="0" err="1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조건은 공식 페이지 참조</a:t>
            </a:r>
            <a:r>
              <a:rPr lang="en-US" sz="3700" b="1" kern="0" spc="-37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752517" y="2266865"/>
            <a:ext cx="6096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미리캔버스 (Miricanvas)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52517" y="2617081"/>
            <a:ext cx="6057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플랜과 유료 플랜(Pro 등)이 있으며 플랜에 따라 템플릿·에셋·저장 공간이 다릅니다.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조건은 공식 요금 안내 참조: miricanvas.com/ko/pricing (2026-10 기준)</a:t>
            </a: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-2083" r="-2083"/>
          <a:stretch/>
        </p:blipFill>
        <p:spPr>
          <a:xfrm>
            <a:off x="752517" y="3388834"/>
            <a:ext cx="5973775" cy="91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2517" y="3626578"/>
            <a:ext cx="6096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캔바 (Canva)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52517" y="3977708"/>
            <a:ext cx="6057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플랜과 유료 플랜(개인·팀 등)이 있으며 플랜에 따라 기능·에셋·저장 공간이 다릅니다.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조건은 공식 요금 안내 참조: canva.com/pricing (2026-10 기준)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-2083" r="-2083"/>
          <a:stretch/>
        </p:blipFill>
        <p:spPr>
          <a:xfrm>
            <a:off x="752517" y="4749461"/>
            <a:ext cx="5973775" cy="91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2517" y="4987205"/>
            <a:ext cx="6096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감마 (Gamma)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52517" y="5337421"/>
            <a:ext cx="60579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플랜과 유료 플랜이 있으며 AI 생성에 크레딧을 씁니다. 플랜마다 크레딧과 기능이 다릅니다.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조건은 공식 요금 안내 참조: gamma.app/pricing (2026-10 기준)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193585" y="1591056"/>
            <a:ext cx="4390949" cy="4629607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9845" r="9845"/>
          <a:stretch/>
        </p:blipFill>
        <p:spPr>
          <a:xfrm>
            <a:off x="7193585" y="1591056"/>
            <a:ext cx="4390949" cy="4629607"/>
          </a:xfrm>
          <a:prstGeom prst="rect">
            <a:avLst/>
          </a:prstGeom>
        </p:spPr>
      </p:pic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99268" y="388620"/>
            <a:ext cx="507766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COLLABORATION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99268" y="997610"/>
            <a:ext cx="721095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12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FEATURES COMPARISON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032321" y="1426464"/>
            <a:ext cx="310804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기능 비교 (2026-10 기준)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6115" y="1924812"/>
            <a:ext cx="3534156" cy="4200754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35259" y="1933956"/>
            <a:ext cx="3514954" cy="933602"/>
          </a:xfrm>
          <a:prstGeom prst="roundRect">
            <a:avLst>
              <a:gd name="adj" fmla="val 199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35259" y="2848356"/>
            <a:ext cx="3514954" cy="19202"/>
          </a:xfrm>
          <a:prstGeom prst="roundRect">
            <a:avLst>
              <a:gd name="adj" fmla="val 971838"/>
            </a:avLst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736781" y="2086661"/>
            <a:ext cx="111739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미리캔버스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9135" y="2448763"/>
            <a:ext cx="923544" cy="247802"/>
          </a:xfrm>
          <a:prstGeom prst="roundRect">
            <a:avLst>
              <a:gd name="adj" fmla="val 283849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852909" y="2486254"/>
            <a:ext cx="8778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공유 중심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778489" y="3100730"/>
            <a:ext cx="123444" cy="14264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69269" y="3072384"/>
            <a:ext cx="1122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공동편집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-556" b="-556"/>
          <a:stretch/>
        </p:blipFill>
        <p:spPr>
          <a:xfrm>
            <a:off x="778489" y="3424428"/>
            <a:ext cx="123444" cy="14264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69269" y="3396082"/>
            <a:ext cx="1393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댓글/멘션 (제한적)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870" b="-870"/>
          <a:stretch/>
        </p:blipFill>
        <p:spPr>
          <a:xfrm>
            <a:off x="787633" y="3748126"/>
            <a:ext cx="105156" cy="14264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69269" y="3719779"/>
            <a:ext cx="135971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버전 히스토리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778489" y="4072738"/>
            <a:ext cx="123444" cy="14264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69269" y="4043477"/>
            <a:ext cx="10652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권한 설정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rcRect t="-870" b="-870"/>
          <a:stretch/>
        </p:blipFill>
        <p:spPr>
          <a:xfrm>
            <a:off x="787633" y="4396435"/>
            <a:ext cx="105156" cy="14264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69269" y="4367174"/>
            <a:ext cx="1122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워크플로우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778489" y="4720133"/>
            <a:ext cx="123444" cy="14264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69269" y="4691786"/>
            <a:ext cx="135971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가이드 공유</a:t>
            </a:r>
            <a:endParaRPr lang="en-US" sz="12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rcRect t="-870" b="-870"/>
          <a:stretch/>
        </p:blipFill>
        <p:spPr>
          <a:xfrm>
            <a:off x="787633" y="5043830"/>
            <a:ext cx="105156" cy="14264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69269" y="5015484"/>
            <a:ext cx="10652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활동 로그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726369" y="5324551"/>
            <a:ext cx="3133649" cy="659216"/>
          </a:xfrm>
          <a:prstGeom prst="roundRect">
            <a:avLst>
              <a:gd name="adj" fmla="val 15224"/>
            </a:avLst>
          </a:prstGeom>
          <a:solidFill>
            <a:srgbClr val="F9F9F9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29" name="Shape 20"/>
          <p:cNvSpPr/>
          <p:nvPr/>
        </p:nvSpPr>
        <p:spPr>
          <a:xfrm>
            <a:off x="726369" y="5324551"/>
            <a:ext cx="28346" cy="659216"/>
          </a:xfrm>
          <a:prstGeom prst="roundRect">
            <a:avLst>
              <a:gd name="adj" fmla="val 444945"/>
            </a:avLst>
          </a:prstGeom>
          <a:solidFill>
            <a:srgbClr val="DDDDDD"/>
          </a:solidFill>
          <a:ln w="12700">
            <a:solidFill>
              <a:srgbClr val="DDDD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0" name="Text 21"/>
          <p:cNvSpPr txBox="1"/>
          <p:nvPr/>
        </p:nvSpPr>
        <p:spPr>
          <a:xfrm>
            <a:off x="869015" y="5438851"/>
            <a:ext cx="29535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분석: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디자인 에셋 공유와 단순 공동 작업에 최적화되어 있으나, 기업형 관리 기능은 상대적으로 부족함.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4285213" y="1924812"/>
            <a:ext cx="3534156" cy="4200754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/>
          <p:cNvSpPr/>
          <p:nvPr/>
        </p:nvSpPr>
        <p:spPr>
          <a:xfrm>
            <a:off x="4295272" y="1933956"/>
            <a:ext cx="3514954" cy="933602"/>
          </a:xfrm>
          <a:prstGeom prst="roundRect">
            <a:avLst>
              <a:gd name="adj" fmla="val 19988"/>
            </a:avLst>
          </a:prstGeom>
          <a:solidFill>
            <a:srgbClr val="FFF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4"/>
          <p:cNvSpPr/>
          <p:nvPr/>
        </p:nvSpPr>
        <p:spPr>
          <a:xfrm>
            <a:off x="4295272" y="2848356"/>
            <a:ext cx="3514954" cy="19202"/>
          </a:xfrm>
          <a:prstGeom prst="roundRect">
            <a:avLst>
              <a:gd name="adj" fmla="val 971838"/>
            </a:avLst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5298369" y="2086661"/>
            <a:ext cx="150601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캔바 (Canva)</a:t>
            </a:r>
            <a:endParaRPr lang="en-US" sz="1600" dirty="0"/>
          </a:p>
        </p:txBody>
      </p:sp>
      <p:sp>
        <p:nvSpPr>
          <p:cNvPr id="35" name="Shape 26"/>
          <p:cNvSpPr/>
          <p:nvPr/>
        </p:nvSpPr>
        <p:spPr>
          <a:xfrm>
            <a:off x="5589148" y="2448763"/>
            <a:ext cx="923544" cy="247802"/>
          </a:xfrm>
          <a:prstGeom prst="roundRect">
            <a:avLst>
              <a:gd name="adj" fmla="val 283849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5612008" y="2486254"/>
            <a:ext cx="87782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표준 도구</a:t>
            </a:r>
            <a:endParaRPr lang="en-US" sz="9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4537588" y="3100730"/>
            <a:ext cx="123444" cy="14264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4828367" y="3072384"/>
            <a:ext cx="16870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공동편집 (우수)</a:t>
            </a:r>
            <a:endParaRPr lang="en-US" sz="12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4537588" y="3424428"/>
            <a:ext cx="123444" cy="142646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4828367" y="3396082"/>
            <a:ext cx="10671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댓글/멘션/할당</a:t>
            </a:r>
            <a:endParaRPr lang="en-US" sz="12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4537588" y="3748126"/>
            <a:ext cx="123444" cy="142646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4828367" y="3719779"/>
            <a:ext cx="135971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히스토리 복원</a:t>
            </a:r>
            <a:endParaRPr lang="en-US" sz="12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4537588" y="4072738"/>
            <a:ext cx="123444" cy="14264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828367" y="4043477"/>
            <a:ext cx="14502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 만료/비번 설정</a:t>
            </a:r>
            <a:endParaRPr lang="en-US" sz="12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4537588" y="4396435"/>
            <a:ext cx="123444" cy="142646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4828367" y="4367174"/>
            <a:ext cx="1122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워크플로우</a:t>
            </a:r>
            <a:endParaRPr lang="en-US" sz="12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4537588" y="4720133"/>
            <a:ext cx="123444" cy="142646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4828367" y="4691786"/>
            <a:ext cx="17455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브랜드 키트/템플릿 잠금</a:t>
            </a:r>
            <a:endParaRPr lang="en-US" sz="12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4537588" y="5043830"/>
            <a:ext cx="123444" cy="142646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4828367" y="5015484"/>
            <a:ext cx="10652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로그 추적</a:t>
            </a:r>
            <a:endParaRPr lang="en-US" sz="1200" dirty="0"/>
          </a:p>
        </p:txBody>
      </p:sp>
      <p:sp>
        <p:nvSpPr>
          <p:cNvPr id="51" name="Shape 35"/>
          <p:cNvSpPr/>
          <p:nvPr/>
        </p:nvSpPr>
        <p:spPr>
          <a:xfrm>
            <a:off x="4485467" y="5324551"/>
            <a:ext cx="3133649" cy="629107"/>
          </a:xfrm>
          <a:prstGeom prst="roundRect">
            <a:avLst>
              <a:gd name="adj" fmla="val 26427"/>
            </a:avLst>
          </a:prstGeom>
          <a:solidFill>
            <a:srgbClr val="FFF8F4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52" name="Shape 36"/>
          <p:cNvSpPr/>
          <p:nvPr/>
        </p:nvSpPr>
        <p:spPr>
          <a:xfrm>
            <a:off x="4485467" y="5324551"/>
            <a:ext cx="28346" cy="629107"/>
          </a:xfrm>
          <a:prstGeom prst="roundRect">
            <a:avLst>
              <a:gd name="adj" fmla="val 586519"/>
            </a:avLst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3" name="Text 37"/>
          <p:cNvSpPr txBox="1"/>
          <p:nvPr/>
        </p:nvSpPr>
        <p:spPr>
          <a:xfrm>
            <a:off x="4628113" y="5438851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분석:</a:t>
            </a:r>
            <a:r>
              <a:rPr lang="en-US" sz="10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구글 워크스페이스 수준의 강력한 협업 기능을 제공하며, 팀 단위 프로젝트 관리에 가장 적합함.</a:t>
            </a:r>
            <a:endParaRPr lang="en-US" sz="1050" dirty="0"/>
          </a:p>
        </p:txBody>
      </p:sp>
      <p:sp>
        <p:nvSpPr>
          <p:cNvPr id="54" name="Shape 38"/>
          <p:cNvSpPr/>
          <p:nvPr/>
        </p:nvSpPr>
        <p:spPr>
          <a:xfrm>
            <a:off x="8044312" y="1924812"/>
            <a:ext cx="3534156" cy="4200754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39"/>
          <p:cNvSpPr/>
          <p:nvPr/>
        </p:nvSpPr>
        <p:spPr>
          <a:xfrm>
            <a:off x="8054370" y="1933956"/>
            <a:ext cx="3514954" cy="933602"/>
          </a:xfrm>
          <a:prstGeom prst="roundRect">
            <a:avLst>
              <a:gd name="adj" fmla="val 199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0"/>
          <p:cNvSpPr/>
          <p:nvPr/>
        </p:nvSpPr>
        <p:spPr>
          <a:xfrm>
            <a:off x="8054370" y="2848356"/>
            <a:ext cx="3514954" cy="19202"/>
          </a:xfrm>
          <a:prstGeom prst="roundRect">
            <a:avLst>
              <a:gd name="adj" fmla="val 971838"/>
            </a:avLst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1"/>
          <p:cNvSpPr txBox="1"/>
          <p:nvPr/>
        </p:nvSpPr>
        <p:spPr>
          <a:xfrm>
            <a:off x="9055638" y="2086661"/>
            <a:ext cx="15151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감마 (Gamma)</a:t>
            </a:r>
            <a:endParaRPr lang="en-US" sz="1600" dirty="0"/>
          </a:p>
        </p:txBody>
      </p:sp>
      <p:sp>
        <p:nvSpPr>
          <p:cNvPr id="58" name="Shape 42"/>
          <p:cNvSpPr/>
          <p:nvPr/>
        </p:nvSpPr>
        <p:spPr>
          <a:xfrm>
            <a:off x="9400367" y="2448763"/>
            <a:ext cx="819302" cy="247802"/>
          </a:xfrm>
          <a:prstGeom prst="roundRect">
            <a:avLst>
              <a:gd name="adj" fmla="val 283849"/>
            </a:avLst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3"/>
          <p:cNvSpPr txBox="1"/>
          <p:nvPr/>
        </p:nvSpPr>
        <p:spPr>
          <a:xfrm>
            <a:off x="9432371" y="2486254"/>
            <a:ext cx="75620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공유 특화</a:t>
            </a:r>
            <a:endParaRPr lang="en-US" sz="900" dirty="0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8296686" y="3100730"/>
            <a:ext cx="123444" cy="142646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8587465" y="3072384"/>
            <a:ext cx="1122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공동편집</a:t>
            </a:r>
            <a:endParaRPr lang="en-US" sz="1200" dirty="0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8296686" y="3424428"/>
            <a:ext cx="123444" cy="142646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8587465" y="3396082"/>
            <a:ext cx="6821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댓글/반응</a:t>
            </a:r>
            <a:endParaRPr lang="en-US" sz="1200" dirty="0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4"/>
          <a:srcRect t="-556" b="-556"/>
          <a:stretch/>
        </p:blipFill>
        <p:spPr>
          <a:xfrm>
            <a:off x="8296686" y="3748126"/>
            <a:ext cx="123444" cy="142646"/>
          </a:xfrm>
          <a:prstGeom prst="rect">
            <a:avLst/>
          </a:prstGeom>
        </p:spPr>
      </p:pic>
      <p:sp>
        <p:nvSpPr>
          <p:cNvPr id="65" name="Text 46"/>
          <p:cNvSpPr txBox="1"/>
          <p:nvPr/>
        </p:nvSpPr>
        <p:spPr>
          <a:xfrm>
            <a:off x="8587465" y="3719779"/>
            <a:ext cx="18370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히스토리 (플랜별 상이)</a:t>
            </a:r>
            <a:endParaRPr lang="en-US" sz="1200" dirty="0"/>
          </a:p>
        </p:txBody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8296686" y="4072738"/>
            <a:ext cx="123444" cy="142646"/>
          </a:xfrm>
          <a:prstGeom prst="rect">
            <a:avLst/>
          </a:prstGeom>
        </p:spPr>
      </p:pic>
      <p:sp>
        <p:nvSpPr>
          <p:cNvPr id="67" name="Text 47"/>
          <p:cNvSpPr txBox="1"/>
          <p:nvPr/>
        </p:nvSpPr>
        <p:spPr>
          <a:xfrm>
            <a:off x="8587465" y="4043477"/>
            <a:ext cx="9189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게시/분석</a:t>
            </a:r>
            <a:endParaRPr lang="en-US" sz="1200" dirty="0"/>
          </a:p>
        </p:txBody>
      </p:sp>
      <p:pic>
        <p:nvPicPr>
          <p:cNvPr id="68" name="Image 18" descr="preencoded.png"/>
          <p:cNvPicPr>
            <a:picLocks noChangeAspect="1"/>
          </p:cNvPicPr>
          <p:nvPr/>
        </p:nvPicPr>
        <p:blipFill>
          <a:blip r:embed="rId5"/>
          <a:srcRect t="-870" b="-870"/>
          <a:stretch/>
        </p:blipFill>
        <p:spPr>
          <a:xfrm>
            <a:off x="8306745" y="4396435"/>
            <a:ext cx="105156" cy="142646"/>
          </a:xfrm>
          <a:prstGeom prst="rect">
            <a:avLst/>
          </a:prstGeom>
        </p:spPr>
      </p:pic>
      <p:sp>
        <p:nvSpPr>
          <p:cNvPr id="69" name="Text 48"/>
          <p:cNvSpPr txBox="1"/>
          <p:nvPr/>
        </p:nvSpPr>
        <p:spPr>
          <a:xfrm>
            <a:off x="8587465" y="4367174"/>
            <a:ext cx="11228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워크플로우</a:t>
            </a:r>
            <a:endParaRPr lang="en-US" sz="1200" dirty="0"/>
          </a:p>
        </p:txBody>
      </p:sp>
      <p:pic>
        <p:nvPicPr>
          <p:cNvPr id="70" name="Image 19" descr="preencoded.png"/>
          <p:cNvPicPr>
            <a:picLocks noChangeAspect="1"/>
          </p:cNvPicPr>
          <p:nvPr/>
        </p:nvPicPr>
        <p:blipFill>
          <a:blip r:embed="rId3"/>
          <a:srcRect t="-556" b="-556"/>
          <a:stretch/>
        </p:blipFill>
        <p:spPr>
          <a:xfrm>
            <a:off x="8296686" y="4720133"/>
            <a:ext cx="123444" cy="142646"/>
          </a:xfrm>
          <a:prstGeom prst="rect">
            <a:avLst/>
          </a:prstGeom>
        </p:spPr>
      </p:pic>
      <p:sp>
        <p:nvSpPr>
          <p:cNvPr id="71" name="Text 49"/>
          <p:cNvSpPr txBox="1"/>
          <p:nvPr/>
        </p:nvSpPr>
        <p:spPr>
          <a:xfrm>
            <a:off x="8587465" y="4691786"/>
            <a:ext cx="12124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 테마 공유</a:t>
            </a:r>
            <a:endParaRPr lang="en-US" sz="1200" dirty="0"/>
          </a:p>
        </p:txBody>
      </p:sp>
      <p:pic>
        <p:nvPicPr>
          <p:cNvPr id="72" name="Image 20" descr="preencoded.png"/>
          <p:cNvPicPr>
            <a:picLocks noChangeAspect="1"/>
          </p:cNvPicPr>
          <p:nvPr/>
        </p:nvPicPr>
        <p:blipFill>
          <a:blip r:embed="rId4"/>
          <a:srcRect t="-556" b="-556"/>
          <a:stretch/>
        </p:blipFill>
        <p:spPr>
          <a:xfrm>
            <a:off x="8296686" y="5043830"/>
            <a:ext cx="123444" cy="142646"/>
          </a:xfrm>
          <a:prstGeom prst="rect">
            <a:avLst/>
          </a:prstGeom>
        </p:spPr>
      </p:pic>
      <p:sp>
        <p:nvSpPr>
          <p:cNvPr id="73" name="Text 50"/>
          <p:cNvSpPr txBox="1"/>
          <p:nvPr/>
        </p:nvSpPr>
        <p:spPr>
          <a:xfrm>
            <a:off x="8587465" y="5015484"/>
            <a:ext cx="12435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활동 로그 (기본)</a:t>
            </a:r>
            <a:endParaRPr lang="en-US" sz="1200" dirty="0"/>
          </a:p>
        </p:txBody>
      </p:sp>
      <p:sp>
        <p:nvSpPr>
          <p:cNvPr id="74" name="Shape 51"/>
          <p:cNvSpPr/>
          <p:nvPr/>
        </p:nvSpPr>
        <p:spPr>
          <a:xfrm>
            <a:off x="8244565" y="5324551"/>
            <a:ext cx="3133649" cy="659216"/>
          </a:xfrm>
          <a:prstGeom prst="roundRect">
            <a:avLst>
              <a:gd name="adj" fmla="val 15224"/>
            </a:avLst>
          </a:prstGeom>
          <a:solidFill>
            <a:srgbClr val="F9F9F9"/>
          </a:solidFill>
          <a:ln/>
        </p:spPr>
        <p:txBody>
          <a:bodyPr/>
          <a:lstStyle/>
          <a:p>
            <a:endParaRPr lang="ko-KR" altLang="en-US" sz="2000"/>
          </a:p>
        </p:txBody>
      </p:sp>
      <p:sp>
        <p:nvSpPr>
          <p:cNvPr id="75" name="Shape 52"/>
          <p:cNvSpPr/>
          <p:nvPr/>
        </p:nvSpPr>
        <p:spPr>
          <a:xfrm>
            <a:off x="8244565" y="5324551"/>
            <a:ext cx="28346" cy="659216"/>
          </a:xfrm>
          <a:prstGeom prst="roundRect">
            <a:avLst>
              <a:gd name="adj" fmla="val 444945"/>
            </a:avLst>
          </a:prstGeom>
          <a:solidFill>
            <a:srgbClr val="DDDDDD"/>
          </a:solidFill>
          <a:ln w="12700">
            <a:solidFill>
              <a:srgbClr val="DDDD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6" name="Text 53"/>
          <p:cNvSpPr txBox="1"/>
          <p:nvPr/>
        </p:nvSpPr>
        <p:spPr>
          <a:xfrm>
            <a:off x="8387212" y="5438851"/>
            <a:ext cx="29535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분석:</a:t>
            </a: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작성과 배포의 신속성에 중점을 두었으며, 웹 링크 형태의 결과물 공유 및 분석에 강점이 있음.</a:t>
            </a:r>
            <a:endParaRPr lang="en-US" sz="1050" dirty="0"/>
          </a:p>
        </p:txBody>
      </p:sp>
      <p:sp>
        <p:nvSpPr>
          <p:cNvPr id="77" name="Shape 54"/>
          <p:cNvSpPr/>
          <p:nvPr/>
        </p:nvSpPr>
        <p:spPr>
          <a:xfrm>
            <a:off x="9273723" y="5983767"/>
            <a:ext cx="2361895" cy="362102"/>
          </a:xfrm>
          <a:prstGeom prst="roundRect">
            <a:avLst>
              <a:gd name="adj" fmla="val 132908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 sz="2000"/>
          </a:p>
        </p:txBody>
      </p:sp>
      <p:pic>
        <p:nvPicPr>
          <p:cNvPr id="78" name="Image 21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9435572" y="6099896"/>
            <a:ext cx="105156" cy="123444"/>
          </a:xfrm>
          <a:prstGeom prst="rect">
            <a:avLst/>
          </a:prstGeom>
        </p:spPr>
      </p:pic>
      <p:sp>
        <p:nvSpPr>
          <p:cNvPr id="79" name="Text 55"/>
          <p:cNvSpPr txBox="1"/>
          <p:nvPr/>
        </p:nvSpPr>
        <p:spPr>
          <a:xfrm>
            <a:off x="9597421" y="6069720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지원함</a:t>
            </a:r>
            <a:endParaRPr lang="en-US" sz="1000" dirty="0"/>
          </a:p>
        </p:txBody>
      </p:sp>
      <p:pic>
        <p:nvPicPr>
          <p:cNvPr id="80" name="Image 22" descr="preencoded.png"/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10129602" y="6099896"/>
            <a:ext cx="105156" cy="123444"/>
          </a:xfrm>
          <a:prstGeom prst="rect">
            <a:avLst/>
          </a:prstGeom>
        </p:spPr>
      </p:pic>
      <p:sp>
        <p:nvSpPr>
          <p:cNvPr id="81" name="Text 56"/>
          <p:cNvSpPr txBox="1"/>
          <p:nvPr/>
        </p:nvSpPr>
        <p:spPr>
          <a:xfrm>
            <a:off x="10291450" y="6069720"/>
            <a:ext cx="5897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지원</a:t>
            </a:r>
            <a:endParaRPr lang="en-US" sz="1000" dirty="0"/>
          </a:p>
        </p:txBody>
      </p:sp>
      <p:pic>
        <p:nvPicPr>
          <p:cNvPr id="82" name="Image 23" descr="preencoded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10972678" y="6099896"/>
            <a:ext cx="95098" cy="123444"/>
          </a:xfrm>
          <a:prstGeom prst="rect">
            <a:avLst/>
          </a:prstGeom>
        </p:spPr>
      </p:pic>
      <p:sp>
        <p:nvSpPr>
          <p:cNvPr id="83" name="Text 57"/>
          <p:cNvSpPr txBox="1"/>
          <p:nvPr/>
        </p:nvSpPr>
        <p:spPr>
          <a:xfrm>
            <a:off x="11124469" y="6069720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미지원</a:t>
            </a:r>
            <a:endParaRPr lang="en-US" sz="1000" dirty="0"/>
          </a:p>
        </p:txBody>
      </p:sp>
      <p:sp>
        <p:nvSpPr>
          <p:cNvPr id="8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104855" y="991210"/>
            <a:ext cx="3447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TEMPLATE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1104855" y="1624890"/>
            <a:ext cx="28831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QUALITY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104855" y="2572208"/>
            <a:ext cx="361645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품질 및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1104855" y="3052268"/>
            <a:ext cx="335493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비교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4617720" y="1167689"/>
            <a:ext cx="2381098" cy="1524305"/>
          </a:xfrm>
          <a:prstGeom prst="roundRect">
            <a:avLst>
              <a:gd name="adj" fmla="val 749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1939" b="1939"/>
          <a:stretch/>
        </p:blipFill>
        <p:spPr>
          <a:xfrm>
            <a:off x="4617720" y="1167689"/>
            <a:ext cx="2381098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03313" y="1324966"/>
            <a:ext cx="2371954" cy="409651"/>
          </a:xfrm>
          <a:prstGeom prst="roundRect">
            <a:avLst>
              <a:gd name="adj" fmla="val 1557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7551115" y="1400861"/>
            <a:ext cx="223296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미리캔버스 (Miricanvas)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63309" y="1854403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한국 정서와 로컬 트렌드 반영 (교육/공지 최적)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563309" y="2083003"/>
            <a:ext cx="3305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한글 폰트 및 디자인 요소 압도적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563309" y="2311603"/>
            <a:ext cx="3396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국내 사용자 맞춤형 고퀄리티 템플릿 다수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17720" y="2920594"/>
            <a:ext cx="2381098" cy="1524305"/>
          </a:xfrm>
          <a:prstGeom prst="roundRect">
            <a:avLst>
              <a:gd name="adj" fmla="val 749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t="1939" b="1939"/>
          <a:stretch/>
        </p:blipFill>
        <p:spPr>
          <a:xfrm>
            <a:off x="4617720" y="2920594"/>
            <a:ext cx="2381098" cy="15243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303313" y="3077871"/>
            <a:ext cx="1514246" cy="409651"/>
          </a:xfrm>
          <a:prstGeom prst="roundRect">
            <a:avLst>
              <a:gd name="adj" fmla="val 1557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7551115" y="3153766"/>
            <a:ext cx="12134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캔바 (Canva)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563309" y="3606393"/>
            <a:ext cx="3105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방대한 글로벌 산업/목적별 템플릿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563309" y="3834993"/>
            <a:ext cx="3653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영상, 문서, 웹사이트 등 포맷 확장성 우수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563309" y="4063593"/>
            <a:ext cx="3396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커스텀: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브랜드 키트 연동으로 통일성 유지 용이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617720" y="4672584"/>
            <a:ext cx="2381098" cy="1524305"/>
          </a:xfrm>
          <a:prstGeom prst="roundRect">
            <a:avLst>
              <a:gd name="adj" fmla="val 749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24393" b="24393"/>
          <a:stretch/>
        </p:blipFill>
        <p:spPr>
          <a:xfrm>
            <a:off x="4617720" y="4672584"/>
            <a:ext cx="2381098" cy="152430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303313" y="4829861"/>
            <a:ext cx="1647749" cy="409651"/>
          </a:xfrm>
          <a:prstGeom prst="roundRect">
            <a:avLst>
              <a:gd name="adj" fmla="val 155731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 txBox="1"/>
          <p:nvPr/>
        </p:nvSpPr>
        <p:spPr>
          <a:xfrm>
            <a:off x="7551115" y="4906671"/>
            <a:ext cx="12371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감마 (Gamma)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563309" y="5359298"/>
            <a:ext cx="3305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기반 블록형 스마트 템플릿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563309" y="5587898"/>
            <a:ext cx="3653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유연성: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슬라이드 ↔ 문서 ↔ 웹페이지 전환 자유로움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563309" y="5816498"/>
            <a:ext cx="3396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최신성: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반응형 웹 뷰에 최적화된 모던한 스타일</a:t>
            </a:r>
            <a:endParaRPr lang="en-US" sz="1200" dirty="0"/>
          </a:p>
        </p:txBody>
      </p:sp>
      <p:sp>
        <p:nvSpPr>
          <p:cNvPr id="2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5741080" y="2208695"/>
            <a:ext cx="437998" cy="247802"/>
          </a:xfrm>
          <a:prstGeom prst="roundRect">
            <a:avLst>
              <a:gd name="adj" fmla="val 17031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855380" y="2246185"/>
            <a:ext cx="286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33796" y="2865234"/>
            <a:ext cx="409651" cy="247802"/>
          </a:xfrm>
          <a:prstGeom prst="roundRect">
            <a:avLst>
              <a:gd name="adj" fmla="val 170310"/>
            </a:avLst>
          </a:prstGeom>
          <a:solidFill>
            <a:srgbClr val="CCCC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3348096" y="2903639"/>
            <a:ext cx="257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41080" y="3827183"/>
            <a:ext cx="437998" cy="247802"/>
          </a:xfrm>
          <a:prstGeom prst="roundRect">
            <a:avLst>
              <a:gd name="adj" fmla="val 17031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855380" y="3865588"/>
            <a:ext cx="286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33796" y="4484637"/>
            <a:ext cx="409651" cy="247802"/>
          </a:xfrm>
          <a:prstGeom prst="roundRect">
            <a:avLst>
              <a:gd name="adj" fmla="val 170310"/>
            </a:avLst>
          </a:prstGeom>
          <a:solidFill>
            <a:srgbClr val="CCCC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348096" y="4523041"/>
            <a:ext cx="257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41080" y="5446585"/>
            <a:ext cx="437998" cy="247802"/>
          </a:xfrm>
          <a:prstGeom prst="roundRect">
            <a:avLst>
              <a:gd name="adj" fmla="val 170310"/>
            </a:avLst>
          </a:prstGeom>
          <a:solidFill>
            <a:srgbClr val="FF69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855380" y="5484990"/>
            <a:ext cx="286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1625366" y="1874939"/>
            <a:ext cx="3619195" cy="89519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911573" y="2131885"/>
            <a:ext cx="381305" cy="381305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2025873" y="2237041"/>
            <a:ext cx="152705" cy="17190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444668" y="2122741"/>
            <a:ext cx="179313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텍스트만으로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1분 만에 초안이 필요한가요?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 t="-15" b="-15"/>
          <a:stretch/>
        </p:blipFill>
        <p:spPr>
          <a:xfrm>
            <a:off x="6768866" y="1874939"/>
            <a:ext cx="4190695" cy="1295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16668" y="2122741"/>
            <a:ext cx="3048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Gamma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7016668" y="2522334"/>
            <a:ext cx="3010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자동 생성으로 압도적인 속도 제공.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정리 및 초안 작성에 최적.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0141173" y="223704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92964" y="2389746"/>
            <a:ext cx="267005" cy="267005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1625366" y="3494341"/>
            <a:ext cx="3619195" cy="89519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1911573" y="3751288"/>
            <a:ext cx="381305" cy="381305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rcRect l="-760" r="-760"/>
          <a:stretch/>
        </p:blipFill>
        <p:spPr>
          <a:xfrm>
            <a:off x="2025873" y="3856444"/>
            <a:ext cx="152705" cy="171907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444668" y="3742144"/>
            <a:ext cx="1981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 폰트와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정서 디자인이 필수인가요?</a:t>
            </a:r>
            <a:endParaRPr lang="en-US" sz="11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rcRect t="-15" b="-15"/>
          <a:stretch/>
        </p:blipFill>
        <p:spPr>
          <a:xfrm>
            <a:off x="6768866" y="3494341"/>
            <a:ext cx="4190695" cy="129570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016668" y="3742144"/>
            <a:ext cx="3048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Miricanvas</a:t>
            </a:r>
            <a:endParaRPr lang="en-US" sz="1800" dirty="0"/>
          </a:p>
        </p:txBody>
      </p:sp>
      <p:sp>
        <p:nvSpPr>
          <p:cNvPr id="30" name="Text 20"/>
          <p:cNvSpPr txBox="1"/>
          <p:nvPr/>
        </p:nvSpPr>
        <p:spPr>
          <a:xfrm>
            <a:off x="7016668" y="4141737"/>
            <a:ext cx="3010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최적화 템플릿과 로컬 에셋.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자료, 공지, 카드뉴스 제작에 탁월.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10141173" y="3856444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292964" y="4008234"/>
            <a:ext cx="267005" cy="267005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1625366" y="5113744"/>
            <a:ext cx="3619195" cy="895198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911573" y="5370690"/>
            <a:ext cx="381305" cy="381305"/>
          </a:xfrm>
          <a:prstGeom prst="ellipse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rcRect l="-1064" r="-1064"/>
          <a:stretch/>
        </p:blipFill>
        <p:spPr>
          <a:xfrm>
            <a:off x="1992040" y="5475846"/>
            <a:ext cx="219456" cy="171907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2444668" y="5361546"/>
            <a:ext cx="153619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팀원과 실시간 협업하고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자료를 만드나요?</a:t>
            </a:r>
            <a:endParaRPr lang="en-US" sz="11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5"/>
          <a:srcRect t="-15" b="-15"/>
          <a:stretch/>
        </p:blipFill>
        <p:spPr>
          <a:xfrm>
            <a:off x="6768866" y="5113744"/>
            <a:ext cx="4190695" cy="1295705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7016668" y="5361546"/>
            <a:ext cx="3048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Canva</a:t>
            </a:r>
            <a:endParaRPr lang="en-US" sz="1800" dirty="0"/>
          </a:p>
        </p:txBody>
      </p:sp>
      <p:sp>
        <p:nvSpPr>
          <p:cNvPr id="39" name="Text 25"/>
          <p:cNvSpPr txBox="1"/>
          <p:nvPr/>
        </p:nvSpPr>
        <p:spPr>
          <a:xfrm>
            <a:off x="7016668" y="5761139"/>
            <a:ext cx="3010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팀 협업 기능과 방대한 앱 생태계.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제안서 및 비즈니스 프로젝트용.</a:t>
            </a:r>
            <a:endParaRPr lang="en-US" sz="1100" dirty="0"/>
          </a:p>
        </p:txBody>
      </p:sp>
      <p:sp>
        <p:nvSpPr>
          <p:cNvPr id="40" name="Shape 26"/>
          <p:cNvSpPr/>
          <p:nvPr/>
        </p:nvSpPr>
        <p:spPr>
          <a:xfrm>
            <a:off x="10141173" y="547584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292964" y="5627637"/>
            <a:ext cx="267005" cy="267005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1244061" y="1522895"/>
            <a:ext cx="1000354" cy="286207"/>
          </a:xfrm>
          <a:prstGeom prst="roundRect">
            <a:avLst>
              <a:gd name="adj" fmla="val 212993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8"/>
          <p:cNvSpPr txBox="1"/>
          <p:nvPr/>
        </p:nvSpPr>
        <p:spPr>
          <a:xfrm>
            <a:off x="1396766" y="1579588"/>
            <a:ext cx="771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1053866" y="341490"/>
            <a:ext cx="90425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TOOL SHOULD I USE?</a:t>
            </a:r>
            <a:endParaRPr lang="en-US" sz="4800" dirty="0"/>
          </a:p>
        </p:txBody>
      </p:sp>
      <p:sp>
        <p:nvSpPr>
          <p:cNvPr id="45" name="Text 30"/>
          <p:cNvSpPr txBox="1"/>
          <p:nvPr/>
        </p:nvSpPr>
        <p:spPr>
          <a:xfrm>
            <a:off x="7185832" y="1210170"/>
            <a:ext cx="320863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시나리오별 도구 선택 가이드</a:t>
            </a:r>
            <a:endParaRPr lang="en-US" sz="1500" dirty="0"/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F7556263-98E6-4814-C9B9-A2088290F107}"/>
              </a:ext>
            </a:extLst>
          </p:cNvPr>
          <p:cNvSpPr/>
          <p:nvPr/>
        </p:nvSpPr>
        <p:spPr>
          <a:xfrm>
            <a:off x="2845461" y="2854715"/>
            <a:ext cx="272642" cy="498425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화살표: 아래쪽 46">
            <a:extLst>
              <a:ext uri="{FF2B5EF4-FFF2-40B4-BE49-F238E27FC236}">
                <a16:creationId xmlns:a16="http://schemas.microsoft.com/office/drawing/2014/main" id="{8B7D2CA8-7699-E301-3C71-72EF1CEC33D2}"/>
              </a:ext>
            </a:extLst>
          </p:cNvPr>
          <p:cNvSpPr/>
          <p:nvPr/>
        </p:nvSpPr>
        <p:spPr>
          <a:xfrm>
            <a:off x="2823674" y="4472707"/>
            <a:ext cx="272642" cy="498425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화살표: 아래쪽 47">
            <a:extLst>
              <a:ext uri="{FF2B5EF4-FFF2-40B4-BE49-F238E27FC236}">
                <a16:creationId xmlns:a16="http://schemas.microsoft.com/office/drawing/2014/main" id="{4CCCE3D6-B2FC-FFC6-84A3-35E1DC61C2C1}"/>
              </a:ext>
            </a:extLst>
          </p:cNvPr>
          <p:cNvSpPr/>
          <p:nvPr/>
        </p:nvSpPr>
        <p:spPr>
          <a:xfrm rot="16200000">
            <a:off x="5862162" y="5712179"/>
            <a:ext cx="272642" cy="498425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화살표: 아래쪽 48">
            <a:extLst>
              <a:ext uri="{FF2B5EF4-FFF2-40B4-BE49-F238E27FC236}">
                <a16:creationId xmlns:a16="http://schemas.microsoft.com/office/drawing/2014/main" id="{97FDECF2-7630-7136-DD6E-AC25559B00F6}"/>
              </a:ext>
            </a:extLst>
          </p:cNvPr>
          <p:cNvSpPr/>
          <p:nvPr/>
        </p:nvSpPr>
        <p:spPr>
          <a:xfrm rot="16200000">
            <a:off x="5839227" y="4099103"/>
            <a:ext cx="272642" cy="498425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B2D3BC3F-AF24-2FB4-705C-BD3121EAAF61}"/>
              </a:ext>
            </a:extLst>
          </p:cNvPr>
          <p:cNvSpPr/>
          <p:nvPr/>
        </p:nvSpPr>
        <p:spPr>
          <a:xfrm rot="16200000">
            <a:off x="5816292" y="2486027"/>
            <a:ext cx="272642" cy="498425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180763" y="1339390"/>
            <a:ext cx="3158282" cy="775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FAQ &amp;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3302633" y="1332867"/>
            <a:ext cx="2141985" cy="775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TIPS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247713" y="2191529"/>
            <a:ext cx="2598178" cy="23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자주 묻는 질문과 해결책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02866" y="2990742"/>
            <a:ext cx="152705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55325" y="2936851"/>
            <a:ext cx="16541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Q1. 에셋 라이선스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02866" y="3253175"/>
            <a:ext cx="3562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무료/유료 플랜별 상업용 사용 범위를 반드시 </a:t>
            </a:r>
            <a:r>
              <a:rPr 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확인하고</a:t>
            </a: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표기를 준수하세요.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439358" y="2990742"/>
            <a:ext cx="133502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73529" y="2936851"/>
            <a:ext cx="159837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Q2. 한글 폰트 깨짐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439358" y="3253175"/>
            <a:ext cx="3562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폰트 대신 웹 폰트(Noto Sans 등)를 </a:t>
            </a:r>
            <a:r>
              <a:rPr 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사용하고</a:t>
            </a:r>
            <a:endParaRPr lang="en-US" sz="1100" dirty="0">
              <a:solidFill>
                <a:srgbClr val="1F293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PDF 저장 시 '글꼴 포함'을 체크하세요.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02866" y="4200493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55325" y="4146602"/>
            <a:ext cx="165689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Q3. 이미지 해상도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502866" y="4462926"/>
            <a:ext cx="3562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캔버스를 1920px 이상으로 설정하고, 내보내기 시 고화질 PNG 옵션을 선택하세요.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8439358" y="4200493"/>
            <a:ext cx="133502" cy="152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73529" y="4146602"/>
            <a:ext cx="15873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Q4. 협업 링크 보안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8439358" y="4462926"/>
            <a:ext cx="35625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링크에 비밀번호를 걸거나 만료일을 </a:t>
            </a:r>
            <a:r>
              <a:rPr 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설정하여</a:t>
            </a: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</a:t>
            </a: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유출을 방지하세요.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4502866" y="5524544"/>
            <a:ext cx="171907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774527" y="5470654"/>
            <a:ext cx="18251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Q5. 발표 녹화 및 공유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4502866" y="5805266"/>
            <a:ext cx="56491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캔바의 '발표자 녹화' 기능이나 감마의 '프레젠트 모드' 링크로 별도 프로그램 없이 공유 가능합니다.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rcRect l="-2089" r="-2089"/>
          <a:stretch/>
        </p:blipFill>
        <p:spPr>
          <a:xfrm>
            <a:off x="4502866" y="3955289"/>
            <a:ext cx="3480206" cy="9144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rcRect l="-2089" r="-2089"/>
          <a:stretch/>
        </p:blipFill>
        <p:spPr>
          <a:xfrm>
            <a:off x="8439358" y="3955289"/>
            <a:ext cx="3480206" cy="9144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rcRect l="-2089" r="-2089"/>
          <a:stretch/>
        </p:blipFill>
        <p:spPr>
          <a:xfrm>
            <a:off x="4502866" y="5165040"/>
            <a:ext cx="3480206" cy="9144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>
            <a:alphaModFix amt="60000"/>
          </a:blip>
          <a:srcRect l="-2089" r="-2089"/>
          <a:stretch/>
        </p:blipFill>
        <p:spPr>
          <a:xfrm>
            <a:off x="8439358" y="5165040"/>
            <a:ext cx="3480206" cy="9144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8454081" y="633024"/>
            <a:ext cx="3124505" cy="514807"/>
          </a:xfrm>
          <a:prstGeom prst="roundRect">
            <a:avLst>
              <a:gd name="adj" fmla="val 164463"/>
            </a:avLst>
          </a:prstGeom>
          <a:solidFill>
            <a:srgbClr val="FFFFFF"/>
          </a:solidFill>
          <a:ln w="25400">
            <a:solidFill>
              <a:srgbClr val="FF690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5"/>
          <p:cNvSpPr txBox="1"/>
          <p:nvPr/>
        </p:nvSpPr>
        <p:spPr>
          <a:xfrm>
            <a:off x="8777778" y="747324"/>
            <a:ext cx="302575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트러블슈팅 가이드 &amp; FAQ</a:t>
            </a:r>
            <a:endParaRPr lang="en-US" sz="1500" dirty="0"/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6497CFE7-4FE1-A817-EFB9-AB9E817D0AA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845" r="9845"/>
          <a:stretch/>
        </p:blipFill>
        <p:spPr>
          <a:xfrm>
            <a:off x="1138096" y="3056637"/>
            <a:ext cx="2805840" cy="2958344"/>
          </a:xfrm>
          <a:prstGeom prst="rect">
            <a:avLst/>
          </a:prstGeom>
        </p:spPr>
      </p:pic>
      <p:sp>
        <p:nvSpPr>
          <p:cNvPr id="3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 l="24339" r="24339"/>
          <a:stretch/>
        </p:blipFill>
        <p:spPr>
          <a:xfrm>
            <a:off x="381306" y="1275127"/>
            <a:ext cx="4746768" cy="520248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94883" y="822046"/>
            <a:ext cx="153070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b="1" kern="0" spc="-75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 &amp; A</a:t>
            </a:r>
            <a:endParaRPr lang="en-US" sz="3700" dirty="0"/>
          </a:p>
        </p:txBody>
      </p:sp>
      <p:sp>
        <p:nvSpPr>
          <p:cNvPr id="7" name="Text 3"/>
          <p:cNvSpPr txBox="1"/>
          <p:nvPr/>
        </p:nvSpPr>
        <p:spPr>
          <a:xfrm>
            <a:off x="5694883" y="1707185"/>
            <a:ext cx="9180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강의 요약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94883" y="2097634"/>
            <a:ext cx="133502" cy="1335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79383" y="2097634"/>
            <a:ext cx="583204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선택 기준: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목적(속도/협업/품질)과 팀 상황에 맞는 최적의 도구를 선택하는 기준을 확립하세요.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94883" y="2603297"/>
            <a:ext cx="133502" cy="13350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979383" y="2603297"/>
            <a:ext cx="583204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활용법: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템플릿은 단순 디자인이 아닌 메시지 전달을 위한 구조적 도구로 활용해야 합니다.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94883" y="3108046"/>
            <a:ext cx="133502" cy="13350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979384" y="3108046"/>
            <a:ext cx="66363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90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체크리스트:</a:t>
            </a: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저작권, 폰트 가독성, 이미지 해상도를 확인하는 습관을 기르세요.</a:t>
            </a:r>
            <a:endParaRPr lang="en-US" sz="1100" dirty="0"/>
          </a:p>
        </p:txBody>
      </p:sp>
      <p:sp>
        <p:nvSpPr>
          <p:cNvPr id="14" name="Text 7"/>
          <p:cNvSpPr txBox="1"/>
          <p:nvPr/>
        </p:nvSpPr>
        <p:spPr>
          <a:xfrm>
            <a:off x="5694883" y="3645713"/>
            <a:ext cx="13158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생각해볼 질문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5694883" y="4036162"/>
            <a:ext cx="5181905" cy="857707"/>
          </a:xfrm>
          <a:prstGeom prst="roundRect">
            <a:avLst>
              <a:gd name="adj" fmla="val 23691"/>
            </a:avLst>
          </a:prstGeom>
          <a:solidFill>
            <a:srgbClr val="FFF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9"/>
          <p:cNvSpPr txBox="1"/>
          <p:nvPr/>
        </p:nvSpPr>
        <p:spPr>
          <a:xfrm>
            <a:off x="5885993" y="4227271"/>
            <a:ext cx="4991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Q1. 실무 적용 시 가장 어렵게 느껴지는 부분은 무엇인가요?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5885993" y="4503420"/>
            <a:ext cx="4991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Q2. 팀 협업 기능을 사용할 때 주의해야 할 보안 사항은 무엇일까요?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694883" y="5481828"/>
            <a:ext cx="1304849" cy="381305"/>
          </a:xfrm>
          <a:prstGeom prst="roundRect">
            <a:avLst>
              <a:gd name="adj" fmla="val 179856"/>
            </a:avLst>
          </a:prstGeom>
          <a:noFill/>
          <a:ln w="25400">
            <a:solidFill>
              <a:srgbClr val="FF690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/>
          <p:cNvSpPr txBox="1"/>
          <p:nvPr/>
        </p:nvSpPr>
        <p:spPr>
          <a:xfrm>
            <a:off x="5942686" y="5567782"/>
            <a:ext cx="8860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90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7182612" y="5667451"/>
            <a:ext cx="3696005" cy="9144"/>
          </a:xfrm>
          <a:prstGeom prst="rect">
            <a:avLst/>
          </a:prstGeom>
          <a:solidFill>
            <a:srgbClr val="FF6908"/>
          </a:solidFill>
          <a:ln w="12700">
            <a:solidFill>
              <a:srgbClr val="FF69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/>
          <p:cNvSpPr txBox="1"/>
          <p:nvPr/>
        </p:nvSpPr>
        <p:spPr>
          <a:xfrm>
            <a:off x="7225589" y="5905195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오늘 만든 샘플을 동료들과 공유하고 피드백을 받아보세요.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개선된 자료를 템플릿화하여 업무 효율을 높일 수 있습니다. </a:t>
            </a:r>
            <a:endParaRPr lang="en-US" sz="1100" dirty="0"/>
          </a:p>
        </p:txBody>
      </p:sp>
      <p:sp>
        <p:nvSpPr>
          <p:cNvPr id="2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2026년 1월 「생성형 AI와 창의력·복합문제능력 향상 과정」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2476</Words>
  <Application>Microsoft Office PowerPoint</Application>
  <PresentationFormat>와이드스크린</PresentationFormat>
  <Paragraphs>387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Manrope</vt:lpstr>
      <vt:lpstr>Noto Sans KR</vt:lpstr>
      <vt:lpstr>Pretendard</vt:lpstr>
      <vt:lpstr>ui-sans-serif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이애본</cp:lastModifiedBy>
  <cp:revision>4</cp:revision>
  <dcterms:created xsi:type="dcterms:W3CDTF">2026-01-28T20:30:10Z</dcterms:created>
  <dcterms:modified xsi:type="dcterms:W3CDTF">2026-01-29T21:33:58Z</dcterms:modified>
</cp:coreProperties>
</file>