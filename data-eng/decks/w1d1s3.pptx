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8288000" cy="10287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4192250" y="-2381250"/>
            <a:ext cx="7429500" cy="7429500"/>
          </a:xfrm>
          <a:prstGeom prst="ellipse">
            <a:avLst/>
          </a:prstGeom>
          <a:solidFill>
            <a:srgbClr val="F1F5F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5430500" y="-1143000"/>
            <a:ext cx="4953000" cy="49530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5906750" y="5905500"/>
            <a:ext cx="4953000" cy="4953000"/>
          </a:xfrm>
          <a:prstGeom prst="ellipse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-1714500" y="2857500"/>
            <a:ext cx="2857500" cy="28575"/>
          </a:xfrm>
          <a:prstGeom prst="rect">
            <a:avLst/>
          </a:prstGeom>
          <a:solidFill>
            <a:srgbClr val="E6E9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-2857500" y="6953250"/>
            <a:ext cx="6953250" cy="6953250"/>
          </a:xfrm>
          <a:prstGeom prst="ellipse">
            <a:avLst/>
          </a:prstGeom>
          <a:solidFill>
            <a:srgbClr val="EEF2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-1581150" y="8229600"/>
            <a:ext cx="4400550" cy="440055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3390900" y="8953500"/>
            <a:ext cx="742950" cy="742950"/>
          </a:xfrm>
          <a:prstGeom prst="ellipse">
            <a:avLst/>
          </a:prstGeom>
          <a:solidFill>
            <a:srgbClr val="EBEEF2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457700" y="9563100"/>
            <a:ext cx="342900" cy="342900"/>
          </a:xfrm>
          <a:prstGeom prst="ellipse">
            <a:avLst/>
          </a:prstGeom>
          <a:solidFill>
            <a:srgbClr val="E1E9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3000" y="9639300"/>
            <a:ext cx="1619250" cy="28575"/>
          </a:xfrm>
          <a:prstGeom prst="rect">
            <a:avLst/>
          </a:prstGeom>
          <a:solidFill>
            <a:srgbClr val="E6E9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43000" y="348615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spc="12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1-1 · 리눅스 커맨드 기초 · 실습 1H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3905250"/>
            <a:ext cx="16002000" cy="14660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300" b="1" spc="-347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텍스트 처리와 파이프라인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5580888"/>
            <a:ext cx="160020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300" b="1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작은 명령을 | 로 이어 로그에서 숫자를 뽑는다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72500" y="7677150"/>
            <a:ext cx="85725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수도권ICT 이노베이션스퀘어</a:t>
            </a:r>
          </a:p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3기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실습 목표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1시간 뒤에는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8956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30384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1623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28956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grep 의 -c · -i · -v · -n 으로 원하는 줄만 골라낸다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8862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40290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41529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38862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sort | uniq -c | sort -rn 을 한 덩어리로 쓴다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8768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50196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51435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48768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cut -d ' ' -f N 으로 칸을 잘라 집계한다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58674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390650" y="60102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90650" y="61341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④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90750" y="58674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&gt; · &gt;&gt; · tee 로 결과를 파일에 남긴다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6953250"/>
            <a:ext cx="16002000" cy="876300"/>
          </a:xfrm>
          <a:prstGeom prst="roundRect">
            <a:avLst>
              <a:gd name="adj" fmla="val 5434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43000" y="72009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실무 로그는 수십만 줄 — 눈으로 볼 수 없어 걸러 세어야 하고, 그 도구가 grep·sort·uniq·wc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1-1 · 실습 1H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흐름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같은 access.log 하나를 여덟 단계로 여러 각도에서 본다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306705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50" b="1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새 파일을 만들지 않습니다 — 한 데이터를 여러 각도로 보는 감각이 이 과정 내내 쓰입니다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1430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3000" y="3924300"/>
            <a:ext cx="2895600" cy="9144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430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로그 만들기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525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히어독으로 8줄 · wc -l 이 8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196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419600" y="3924300"/>
            <a:ext cx="2895600" cy="91440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196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grep 으로 고르기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291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-c · -i · -v · -n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6962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96200" y="3924300"/>
            <a:ext cx="2895600" cy="9144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962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파이프로 잇기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9057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sort | uniq -c | sort -rn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09728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0972800" y="3924300"/>
            <a:ext cx="2895600" cy="91440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9728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자르고 앞뒤 보기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1823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cut · head · tail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42494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4249400" y="3924300"/>
            <a:ext cx="2895600" cy="9144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42494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남기고 키우기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44589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&gt; · &gt;&gt; · tee · 800줄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1-1 · 실습 1H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1. 파이프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앞 명령의 출력이 곧바로 뒤 명령의 입력으로 흐른다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3002280" cy="70485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3002280" cy="704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cat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43000" y="3657600"/>
            <a:ext cx="3002280" cy="1428750"/>
          </a:xfrm>
          <a:prstGeom prst="roundRect">
            <a:avLst>
              <a:gd name="adj" fmla="val 333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276350" y="3657600"/>
            <a:ext cx="2735580" cy="1428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원본을 읽어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4164330" y="3028950"/>
            <a:ext cx="209550" cy="209550"/>
          </a:xfrm>
          <a:prstGeom prst="rightArrow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92930" y="2781300"/>
            <a:ext cx="3002280" cy="7048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392930" y="2781300"/>
            <a:ext cx="3002280" cy="704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grep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92930" y="3657600"/>
            <a:ext cx="3002280" cy="1428750"/>
          </a:xfrm>
          <a:prstGeom prst="roundRect">
            <a:avLst>
              <a:gd name="adj" fmla="val 333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26280" y="3657600"/>
            <a:ext cx="2735580" cy="1428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걸러내고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7414260" y="3028950"/>
            <a:ext cx="209550" cy="209550"/>
          </a:xfrm>
          <a:prstGeom prst="rightArrow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42860" y="2781300"/>
            <a:ext cx="3002280" cy="70485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42860" y="2781300"/>
            <a:ext cx="3002280" cy="704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cut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642860" y="3657600"/>
            <a:ext cx="3002280" cy="1428750"/>
          </a:xfrm>
          <a:prstGeom prst="roundRect">
            <a:avLst>
              <a:gd name="adj" fmla="val 333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6210" y="3657600"/>
            <a:ext cx="2735580" cy="1428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모양을 바꾸고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10664190" y="3028950"/>
            <a:ext cx="209550" cy="209550"/>
          </a:xfrm>
          <a:prstGeom prst="rightArrow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10892790" y="2781300"/>
            <a:ext cx="3002280" cy="7048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892790" y="2781300"/>
            <a:ext cx="3002280" cy="704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sort | uniq -c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0892790" y="3657600"/>
            <a:ext cx="3002280" cy="1428750"/>
          </a:xfrm>
          <a:prstGeom prst="roundRect">
            <a:avLst>
              <a:gd name="adj" fmla="val 333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1026140" y="3657600"/>
            <a:ext cx="2735580" cy="1428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모아 세고</a:t>
            </a:r>
          </a:p>
        </p:txBody>
      </p:sp>
      <p:sp>
        <p:nvSpPr>
          <p:cNvPr id="27" name="Right Arrow 26"/>
          <p:cNvSpPr/>
          <p:nvPr/>
        </p:nvSpPr>
        <p:spPr>
          <a:xfrm>
            <a:off x="13914120" y="3028950"/>
            <a:ext cx="209550" cy="209550"/>
          </a:xfrm>
          <a:prstGeom prst="rightArrow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4142720" y="2781300"/>
            <a:ext cx="3002280" cy="70485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4142720" y="2781300"/>
            <a:ext cx="3002280" cy="704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sort -rn · &gt;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4142720" y="3657600"/>
            <a:ext cx="3002280" cy="1428750"/>
          </a:xfrm>
          <a:prstGeom prst="roundRect">
            <a:avLst>
              <a:gd name="adj" fmla="val 333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4276070" y="3657600"/>
            <a:ext cx="2735580" cy="1428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정렬해 저장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5467350"/>
            <a:ext cx="16002000" cy="742950"/>
          </a:xfrm>
          <a:prstGeom prst="roundRect">
            <a:avLst>
              <a:gd name="adj" fmla="val 6410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143000" y="5467350"/>
            <a:ext cx="16002000" cy="7429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아주 작은 데이터 파이프라인 — 5주차 Spark 도 규모만 다를 뿐 순서는 똑같다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| 는 다음 명령에 넘기고 &gt; 는 파일에 쓴다 — | 는 몇 번이든, &gt; 는 보통 맨 끝 한 번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1-1 · 실습 1H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2·6단계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grep — 원하는 줄만, 반대로, 겹쳐서, 앞뒤 맥락까지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5722620" cy="59055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572262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명령</a:t>
            </a:r>
          </a:p>
        </p:txBody>
      </p:sp>
      <p:sp>
        <p:nvSpPr>
          <p:cNvPr id="10" name="Rectangle 9"/>
          <p:cNvSpPr/>
          <p:nvPr/>
        </p:nvSpPr>
        <p:spPr>
          <a:xfrm>
            <a:off x="6903720" y="2781300"/>
            <a:ext cx="6362700" cy="5905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903720" y="2781300"/>
            <a:ext cx="63627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뜻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3304520" y="2781300"/>
            <a:ext cx="3840480" cy="5905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304520" y="2781300"/>
            <a:ext cx="384048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확인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3448050"/>
            <a:ext cx="5722620" cy="445294"/>
          </a:xfrm>
          <a:prstGeom prst="roundRect">
            <a:avLst>
              <a:gd name="adj" fmla="val 8556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8250" y="3448050"/>
            <a:ext cx="553212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grep ERROR access.log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903720" y="3448050"/>
            <a:ext cx="6362700" cy="445294"/>
          </a:xfrm>
          <a:prstGeom prst="roundRect">
            <a:avLst>
              <a:gd name="adj" fmla="val 855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998970" y="3448050"/>
            <a:ext cx="617220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ERROR 가 든 줄만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3304520" y="3448050"/>
            <a:ext cx="3840480" cy="445294"/>
          </a:xfrm>
          <a:prstGeom prst="roundRect">
            <a:avLst>
              <a:gd name="adj" fmla="val 855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3399770" y="3448050"/>
            <a:ext cx="364998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3줄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3969544"/>
            <a:ext cx="5722620" cy="445294"/>
          </a:xfrm>
          <a:prstGeom prst="roundRect">
            <a:avLst>
              <a:gd name="adj" fmla="val 8556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3969544"/>
            <a:ext cx="553212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grep -c ERROR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903720" y="3969544"/>
            <a:ext cx="6362700" cy="445294"/>
          </a:xfrm>
          <a:prstGeom prst="roundRect">
            <a:avLst>
              <a:gd name="adj" fmla="val 855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998970" y="3969544"/>
            <a:ext cx="617220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개수만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3304520" y="3969544"/>
            <a:ext cx="3840480" cy="445294"/>
          </a:xfrm>
          <a:prstGeom prst="roundRect">
            <a:avLst>
              <a:gd name="adj" fmla="val 855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3399770" y="3969544"/>
            <a:ext cx="364998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143000" y="4491038"/>
            <a:ext cx="5722620" cy="445294"/>
          </a:xfrm>
          <a:prstGeom prst="roundRect">
            <a:avLst>
              <a:gd name="adj" fmla="val 8556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38250" y="4491038"/>
            <a:ext cx="553212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grep -i error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903720" y="4491038"/>
            <a:ext cx="6362700" cy="445294"/>
          </a:xfrm>
          <a:prstGeom prst="roundRect">
            <a:avLst>
              <a:gd name="adj" fmla="val 855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998970" y="4491038"/>
            <a:ext cx="617220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대소문자 무시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3304520" y="4491038"/>
            <a:ext cx="3840480" cy="445294"/>
          </a:xfrm>
          <a:prstGeom prst="roundRect">
            <a:avLst>
              <a:gd name="adj" fmla="val 855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3399770" y="4491038"/>
            <a:ext cx="364998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3줄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5012531"/>
            <a:ext cx="5722620" cy="445294"/>
          </a:xfrm>
          <a:prstGeom prst="roundRect">
            <a:avLst>
              <a:gd name="adj" fmla="val 8556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5012531"/>
            <a:ext cx="553212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grep -v ERROR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903720" y="5012531"/>
            <a:ext cx="6362700" cy="445294"/>
          </a:xfrm>
          <a:prstGeom prst="roundRect">
            <a:avLst>
              <a:gd name="adj" fmla="val 855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998970" y="5012531"/>
            <a:ext cx="617220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반대로 — 아닌 줄만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3304520" y="5012531"/>
            <a:ext cx="3840480" cy="445294"/>
          </a:xfrm>
          <a:prstGeom prst="roundRect">
            <a:avLst>
              <a:gd name="adj" fmla="val 855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3399770" y="5012531"/>
            <a:ext cx="364998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5줄 (3 + 5 = 8)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143000" y="5534025"/>
            <a:ext cx="5722620" cy="445294"/>
          </a:xfrm>
          <a:prstGeom prst="roundRect">
            <a:avLst>
              <a:gd name="adj" fmla="val 8556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238250" y="5534025"/>
            <a:ext cx="553212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grep -n ERROR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903720" y="5534025"/>
            <a:ext cx="6362700" cy="445294"/>
          </a:xfrm>
          <a:prstGeom prst="roundRect">
            <a:avLst>
              <a:gd name="adj" fmla="val 855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998970" y="5534025"/>
            <a:ext cx="617220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줄 번호까지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13304520" y="5534025"/>
            <a:ext cx="3840480" cy="445294"/>
          </a:xfrm>
          <a:prstGeom prst="roundRect">
            <a:avLst>
              <a:gd name="adj" fmla="val 855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3399770" y="5534025"/>
            <a:ext cx="364998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번호가 앞에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1143000" y="6055519"/>
            <a:ext cx="5722620" cy="445294"/>
          </a:xfrm>
          <a:prstGeom prst="roundRect">
            <a:avLst>
              <a:gd name="adj" fmla="val 8556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238250" y="6055519"/>
            <a:ext cx="553212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grep -E 'ERROR|WARN'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6903720" y="6055519"/>
            <a:ext cx="6362700" cy="445294"/>
          </a:xfrm>
          <a:prstGeom prst="roundRect">
            <a:avLst>
              <a:gd name="adj" fmla="val 855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998970" y="6055519"/>
            <a:ext cx="617220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또는(OR) — -E 가 | 를 「또는」으로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13304520" y="6055519"/>
            <a:ext cx="3840480" cy="445294"/>
          </a:xfrm>
          <a:prstGeom prst="roundRect">
            <a:avLst>
              <a:gd name="adj" fmla="val 855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3399770" y="6055519"/>
            <a:ext cx="364998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4줄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1143000" y="6577012"/>
            <a:ext cx="5722620" cy="445294"/>
          </a:xfrm>
          <a:prstGeom prst="roundRect">
            <a:avLst>
              <a:gd name="adj" fmla="val 8556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1238250" y="6577012"/>
            <a:ext cx="553212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grep INFO … | grep kim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6903720" y="6577012"/>
            <a:ext cx="6362700" cy="445294"/>
          </a:xfrm>
          <a:prstGeom prst="roundRect">
            <a:avLst>
              <a:gd name="adj" fmla="val 855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998970" y="6577012"/>
            <a:ext cx="617220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그리고(AND) — 파이프로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13304520" y="6577012"/>
            <a:ext cx="3840480" cy="445294"/>
          </a:xfrm>
          <a:prstGeom prst="roundRect">
            <a:avLst>
              <a:gd name="adj" fmla="val 855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13399770" y="6577012"/>
            <a:ext cx="364998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kim 의 2줄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1143000" y="7098506"/>
            <a:ext cx="5722620" cy="445294"/>
          </a:xfrm>
          <a:prstGeom prst="roundRect">
            <a:avLst>
              <a:gd name="adj" fmla="val 8556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1238250" y="7098506"/>
            <a:ext cx="553212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grep -B 1 -A 1 WARN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6903720" y="7098506"/>
            <a:ext cx="6362700" cy="445294"/>
          </a:xfrm>
          <a:prstGeom prst="roundRect">
            <a:avLst>
              <a:gd name="adj" fmla="val 855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6998970" y="7098506"/>
            <a:ext cx="617220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앞 1줄 · 뒤 1줄 맥락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13304520" y="7098506"/>
            <a:ext cx="3840480" cy="445294"/>
          </a:xfrm>
          <a:prstGeom prst="roundRect">
            <a:avLst>
              <a:gd name="adj" fmla="val 855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13399770" y="7098506"/>
            <a:ext cx="364998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WARN 가운데 3줄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grep 에 AND 옵션은 없다 — 파이프로 이어서 거른다. 오류는 그 줄만 보면 원인을 못 찾으니 -A · -B 를 자주 쓴다</a:t>
            </a:r>
          </a:p>
        </p:txBody>
      </p:sp>
      <p:sp>
        <p:nvSpPr>
          <p:cNvPr id="63" name="Rectangle 62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1-1 · 실습 1H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3단계 · 일부러 실패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uniq 는 이웃한 중복만 묶는다 — sort 를 빼면 집계가 틀린다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857500"/>
            <a:ext cx="737235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15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sort 없이 uniq -c 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3467100"/>
            <a:ext cx="737235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떨어져 있는 같은 줄이 따로따로 세어진다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43000" y="4610100"/>
            <a:ext cx="7372350" cy="2857500"/>
          </a:xfrm>
          <a:prstGeom prst="roundRect">
            <a:avLst>
              <a:gd name="adj" fmla="val 166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447800" y="5016817"/>
            <a:ext cx="97155" cy="97155"/>
          </a:xfrm>
          <a:prstGeom prst="ellipse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633538" y="483870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ERROR db timeout 이 세 군데 흩어져 있다</a:t>
            </a:r>
          </a:p>
        </p:txBody>
      </p:sp>
      <p:sp>
        <p:nvSpPr>
          <p:cNvPr id="13" name="Oval 12"/>
          <p:cNvSpPr/>
          <p:nvPr/>
        </p:nvSpPr>
        <p:spPr>
          <a:xfrm>
            <a:off x="1447800" y="5527358"/>
            <a:ext cx="97155" cy="97155"/>
          </a:xfrm>
          <a:prstGeom prst="ellipse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633538" y="534924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이웃하지 않으니 각각 1 로 센다</a:t>
            </a:r>
          </a:p>
        </p:txBody>
      </p:sp>
      <p:sp>
        <p:nvSpPr>
          <p:cNvPr id="15" name="Oval 14"/>
          <p:cNvSpPr/>
          <p:nvPr/>
        </p:nvSpPr>
        <p:spPr>
          <a:xfrm>
            <a:off x="1447800" y="6037898"/>
            <a:ext cx="97155" cy="97155"/>
          </a:xfrm>
          <a:prstGeom prst="ellipse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633538" y="585978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실무에서 집계가 이상하게 나오는 흔한 원인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772650" y="2857500"/>
            <a:ext cx="737235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15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sort | uniq -c | sort -rn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772650" y="3467100"/>
            <a:ext cx="737235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한 덩어리로 외워 둔다 — 첫 줄이 3 ERROR db timeout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772650" y="4610100"/>
            <a:ext cx="7372350" cy="2857500"/>
          </a:xfrm>
          <a:prstGeom prst="roundRect">
            <a:avLst>
              <a:gd name="adj" fmla="val 166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0077450" y="5016817"/>
            <a:ext cx="97155" cy="97155"/>
          </a:xfrm>
          <a:prstGeom prst="ellipse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263188" y="483870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sort — 같은 줄을 이웃하게 모은다</a:t>
            </a:r>
          </a:p>
        </p:txBody>
      </p:sp>
      <p:sp>
        <p:nvSpPr>
          <p:cNvPr id="22" name="Oval 21"/>
          <p:cNvSpPr/>
          <p:nvPr/>
        </p:nvSpPr>
        <p:spPr>
          <a:xfrm>
            <a:off x="10077450" y="5527358"/>
            <a:ext cx="97155" cy="97155"/>
          </a:xfrm>
          <a:prstGeom prst="ellipse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263188" y="534924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uniq -c — 묶으면서 개수를 앞에</a:t>
            </a:r>
          </a:p>
        </p:txBody>
      </p:sp>
      <p:sp>
        <p:nvSpPr>
          <p:cNvPr id="24" name="Oval 23"/>
          <p:cNvSpPr/>
          <p:nvPr/>
        </p:nvSpPr>
        <p:spPr>
          <a:xfrm>
            <a:off x="10077450" y="6037898"/>
            <a:ext cx="97155" cy="97155"/>
          </a:xfrm>
          <a:prstGeom prst="ellipse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263188" y="585978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sort -rn — 숫자(n) 기준 내림차순(r)</a:t>
            </a:r>
          </a:p>
        </p:txBody>
      </p:sp>
      <p:sp>
        <p:nvSpPr>
          <p:cNvPr id="26" name="Oval 25"/>
          <p:cNvSpPr/>
          <p:nvPr/>
        </p:nvSpPr>
        <p:spPr>
          <a:xfrm>
            <a:off x="8686800" y="3771900"/>
            <a:ext cx="914400" cy="914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686800" y="4057650"/>
            <a:ext cx="9144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VS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1-1 · 실습 1H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4·5단계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cut 으로 칸을 잘라 집계 — 미니 과제까지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3482340" cy="59055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348234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하려는 일</a:t>
            </a:r>
          </a:p>
        </p:txBody>
      </p:sp>
      <p:sp>
        <p:nvSpPr>
          <p:cNvPr id="10" name="Rectangle 9"/>
          <p:cNvSpPr/>
          <p:nvPr/>
        </p:nvSpPr>
        <p:spPr>
          <a:xfrm>
            <a:off x="4663440" y="2781300"/>
            <a:ext cx="7962900" cy="5905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63440" y="2781300"/>
            <a:ext cx="79629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명령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2664440" y="2781300"/>
            <a:ext cx="4480560" cy="5905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664440" y="2781300"/>
            <a:ext cx="448056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확인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3448050"/>
            <a:ext cx="348234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8250" y="3448050"/>
            <a:ext cx="32918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앞 3줄 / 뒤 2줄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663440" y="3448050"/>
            <a:ext cx="79629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758690" y="3448050"/>
            <a:ext cx="77724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head -n 3 · tail -n 2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2664440" y="3448050"/>
            <a:ext cx="44805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2759690" y="3448050"/>
            <a:ext cx="42900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—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171950"/>
            <a:ext cx="348234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171950"/>
            <a:ext cx="32918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두 번째 칸만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663440" y="4171950"/>
            <a:ext cx="79629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758690" y="4171950"/>
            <a:ext cx="77724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cut -d ' ' -f 2 access.log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2664440" y="4171950"/>
            <a:ext cx="44805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2759690" y="4171950"/>
            <a:ext cx="42900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-d 구분자 · -f 몇 번째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143000" y="4895850"/>
            <a:ext cx="348234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38250" y="4895850"/>
            <a:ext cx="32918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레벨(첫 칸) 집계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663440" y="4895850"/>
            <a:ext cx="79629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758690" y="4895850"/>
            <a:ext cx="77724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cut -d ' ' -f 1 … | sort | uniq -c | sort -rn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2664440" y="4895850"/>
            <a:ext cx="44805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2759690" y="4895850"/>
            <a:ext cx="42900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INFO 4 · ERROR 3 · WARN 1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5619750"/>
            <a:ext cx="348234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5619750"/>
            <a:ext cx="32918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사용자별 접속 횟수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663440" y="5619750"/>
            <a:ext cx="79629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758690" y="5619750"/>
            <a:ext cx="77724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grep 'user=' … | cut -d ' ' -f 3 | sort | uniq -c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2664440" y="5619750"/>
            <a:ext cx="44805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2759690" y="5619750"/>
            <a:ext cx="42900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2 user=kim 이 맨 위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143000" y="6343650"/>
            <a:ext cx="348234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238250" y="6343650"/>
            <a:ext cx="32918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순서 고정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4663440" y="6343650"/>
            <a:ext cx="79629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758690" y="6343650"/>
            <a:ext cx="77724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… | sort -k1,1rn -k2,2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12664440" y="6343650"/>
            <a:ext cx="44805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2759690" y="6343650"/>
            <a:ext cx="42900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개수 같으면 이름순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긴 파이프라인은 | 앞까지만 먼저 실행해 결과를 보고 한 조각씩 붙인다 — 어디서 틀렸는지 바로 보인다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1-1 · 실습 1H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7·8단계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결과를 파일로 남기고, 파일이 커져도 명령은 그대로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933700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447800" y="3181350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47800" y="333375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24100" y="3143250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&gt; 덮어쓰기 · &gt;&gt; 이어 붙이기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24100" y="3543300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grep ERROR &gt; errors.txt(3줄) → grep WARN &gt;&gt; errors.txt(4줄)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43000" y="4200525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447800" y="4448175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47800" y="4600575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24100" y="4410075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tee — 화면에도, 파일에도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24100" y="4810125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… | sort -rn | tee level_count.txt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43000" y="5467350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447800" y="5715000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447800" y="586740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324100" y="5676900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800줄로 키워도 명령은 그대로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24100" y="6076950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access.log 를 100번 이어 붙인 big.log 도 같은 명령 → INFO 400 · ERROR 300 · WARN 100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3144500" y="2933700"/>
            <a:ext cx="4000500" cy="3629025"/>
          </a:xfrm>
          <a:prstGeom prst="roundRect">
            <a:avLst>
              <a:gd name="adj" fmla="val 131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3487400" y="3929062"/>
            <a:ext cx="33147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9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원본 보호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487400" y="4329112"/>
            <a:ext cx="3314700" cy="1238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8000"/>
              </a:lnSpc>
            </a:pPr>
            <a:r>
              <a:rPr sz="27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결과는 항상</a:t>
            </a:r>
          </a:p>
          <a:p>
            <a:pPr algn="l">
              <a:lnSpc>
                <a:spcPct val="138000"/>
              </a:lnSpc>
            </a:pPr>
            <a:r>
              <a:rPr sz="27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다른 이름으로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43000" y="7581900"/>
            <a:ext cx="38100" cy="323850"/>
          </a:xfrm>
          <a:prstGeom prst="rect">
            <a:avLst/>
          </a:prstGeom>
          <a:solidFill>
            <a:srgbClr val="BFD3F5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314450" y="7581900"/>
            <a:ext cx="158305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for i in $(seq 1 100); do cat access.log; done &gt; big.log — $( ) 는 괄호 안(seq 1 100 → 1…100)을 먼저 실행해 그 자리에 넣는다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1-1 · 실습 1H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확인 포인트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숫자가 이렇게 나오면 성공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871788"/>
            <a:ext cx="16002000" cy="676275"/>
          </a:xfrm>
          <a:prstGeom prst="roundRect">
            <a:avLst>
              <a:gd name="adj" fmla="val 704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294322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0670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2871788"/>
            <a:ext cx="14573250" cy="6762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wc -l access.log 가 8 — 다르면 붙여넣기가 잘린 것, 지우고 다시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662362"/>
            <a:ext cx="16002000" cy="676275"/>
          </a:xfrm>
          <a:prstGeom prst="roundRect">
            <a:avLst>
              <a:gd name="adj" fmla="val 704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3733800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3857625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3662362"/>
            <a:ext cx="14573250" cy="6762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grep -c ERROR 가 3, grep -v ERROR 가 5줄 (3 + 5 = 8)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452938"/>
            <a:ext cx="16002000" cy="676275"/>
          </a:xfrm>
          <a:prstGeom prst="roundRect">
            <a:avLst>
              <a:gd name="adj" fmla="val 704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45243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46482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4452938"/>
            <a:ext cx="14573250" cy="6762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sort | uniq -c | sort -rn 첫 줄이 3 ERROR db timeout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5243512"/>
            <a:ext cx="16002000" cy="676275"/>
          </a:xfrm>
          <a:prstGeom prst="roundRect">
            <a:avLst>
              <a:gd name="adj" fmla="val 704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390650" y="5314950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90650" y="5438775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90750" y="5243512"/>
            <a:ext cx="14573250" cy="6762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cut -f 1 집계가 INFO 4 · ERROR 3 · WARN 1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6034088"/>
            <a:ext cx="16002000" cy="676275"/>
          </a:xfrm>
          <a:prstGeom prst="roundRect">
            <a:avLst>
              <a:gd name="adj" fmla="val 704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390650" y="610552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390650" y="62293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190750" y="6034088"/>
            <a:ext cx="14573250" cy="6762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big.log 가 800줄, 집계가 정확히 100배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143000" y="6953250"/>
            <a:ext cx="16002000" cy="876300"/>
          </a:xfrm>
          <a:prstGeom prst="roundRect">
            <a:avLst>
              <a:gd name="adj" fmla="val 5434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3000" y="72009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더 풀어 보기 — 가장 많은 오류 한 줄(head -n 1) · user= 없는 줄 수(-vc → 4) · 이름만(sort -u)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1-1 · 실습 1H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4859000" y="6667500"/>
            <a:ext cx="5905500" cy="59055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2095500" y="-2095500"/>
            <a:ext cx="4381500" cy="4381500"/>
          </a:xfrm>
          <a:prstGeom prst="ellipse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335280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1-1 · 실습 1H 마무리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3771900"/>
            <a:ext cx="16002000" cy="800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다음은 정리·회고 (0.5H)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47244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오늘 쓴 명령을 한 장으로 모으고, 자주 겪는 오류 세 가지를 미리 짚습니다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1430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4287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050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오늘의 커맨드 요약표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3726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583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1346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체크리스트 6항목 점검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287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050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command not found · Permission denied · No such file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3726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583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346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예상 질문과 1-2 예고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7715250"/>
            <a:ext cx="47625" cy="8191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09700" y="7734300"/>
            <a:ext cx="85725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4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준비할 것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9700" y="8077200"/>
            <a:ext cx="85725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errors.txt · level_count.txt 가 남은 상태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