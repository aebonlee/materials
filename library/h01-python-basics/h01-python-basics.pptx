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63" r:id="rId114"/>
    <p:sldId id="364" r:id="rId115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5" r:id="rId1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H01 · 프로그래밍 입문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파이썬 기초·응용·심화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설치부터 작은 프로젝트·웹 크롤링까지 — 처음 배우는 사람을 위한 파이썬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전체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강의안의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개발 환경 준비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42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3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문법 — 변수·연산·조건·반복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42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3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자료구조 — 리스트·튜플·딕셔너리·세트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9300" y="63246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함수와 모듈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4250" y="63436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응용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10800" y="41529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파일과 예외 처리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25750" y="41719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응용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48768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3종 — 계산기·숫자 맞추기·타이머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25750" y="48958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10800" y="56007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크롤링 맛보기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25750" y="56197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심화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345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345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631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631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10800" y="6324600"/>
            <a:ext cx="5334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점검과 다음 학습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525750" y="6343650"/>
            <a:ext cx="1428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6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5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파이썬과 가상환경을 설치하고 코드를 실행한다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변수·조건·반복·자료구조로 작은 문제를 푼다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함수·모듈로 코드를 나누고 다시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읽고 쓰며, 예외로 프로그램을 지킨다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규칙을 지켜 웹 페이지에서 데이터를 모은다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결과물 — 직접 실행해 본 프로젝트 3개와 수집한 CSV 파일 하나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준비물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 전에 갖출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컴퓨터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Windows 또는 macOS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 권한이 있는 계정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프로그램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Python(3.12 이상) · VS Code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PART 1 에서 함께 설치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설치가 어려우면 Google Colab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구글 계정과 브라우저만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마음가짐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눈으로 읽지 말고 직접 쳐 본다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오류 메시지도 교재다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개발 환경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파이썬을 설치하고, 프로젝트마다 가상환경을 만들고, VS Code 에서 첫 프로그램을 실행합니다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프로그래밍 언어란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컴퓨터의 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컴퓨터는 0과 1로 된 명령만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알아듣는다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통역 규칙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글로 쓰면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컴퓨터가 실행할 형태로 바뀐다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비유 — 레시피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순서대로 정확히 적은 지시문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줄만 틀려도 결과가 달라진다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일, 다른 길이 — 파이썬과 자바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파이썬 — 한 줄이면 된다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print("Hello, World!")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Hello, World!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// 자바 — 클래스와 main 메서드 안에 써야 한다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public class Hello {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public static void main(String[] args) {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System.out.println("Hello, World!");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}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코드 모두 실행해 같은 결과를 확인(파이썬 3.12 · 자바 21) — 파이썬은 군더더기가 적어 입문에 알맞다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파이썬의 강점과 약점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읽기 쉬운 문법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들여쓰기로 구조가 드러나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배우는 사람도 읽고 쓰기 쉽다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넓은 쓰임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분석 · AI · 웹 · 업무 자동화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언어로 여러 분야를 다룬다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풍부한 라이브러리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pip 명령 한 줄로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남이 만든 도구를 가져다 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약점 — 실행 속도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C·자바보다 대체로 느리다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무거운 계산은 C로 만든 라이브러리에 맡긴다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python.org 에서 파이썬 설치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python.org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Downloads 에서 내 운영체제용 최신 안정판(3.12 이상)을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Windows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 화면에 「Add python.exe to PATH」가 보이면 체크한다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내려받은 .pkg 를 열어 안내대로 설치한다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터미널을 새로 열고 버전을 확인한다(다음 장)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2026년 10월 기준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3.12~3.14 실행 확인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설치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버전이 나오면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Windows — 명령 프롬프트 또는 PowerShell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py --version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python --version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macOS — 터미널(macOS 는 python3 라는 이름을 쓴다)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python3 --version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예 — 숫자는 설치한 판에 따라 다르다]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Python 3.12.15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「명령을 찾을 수 없다」가 나오면 PATH 문제 — 이 파트 끝의 오류 표를 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가상환경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venv — 프로젝트마다 따로 쓰는 필통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1) 프로젝트 폴더에서 가상환경 만들기 → .venv 폴더가 생긴다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python -m venv .venv            # macOS 는 python3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2) 켜기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.venv\Scripts\activate          # Windows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source .venv/bin/activate       # macOS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3) 켜지면 프롬프트 앞에 (.venv) 가 붙는다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(.venv) $ python --version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4) 끄기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deactivate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켠 상태에서 설치한 라이브러리는 이 폴더 안에만 들어간다 — 프로젝트끼리 섞이지 않고, .venv 를 지우면 깨끗이 정리된다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라이브러리 설치 — pip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install requests                  # 설치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install requests beautifulsoup4   # 여러 개 한 번에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list                              # 설치된 목록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uninstall requests                # 지우기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설치 목록을 파일로 남기고, 다른 컴퓨터에서 그대로 재현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freeze &gt; requirements.txt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pip install -r requirements.txt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가상환경을 켠 뒤에 설치한다 — 켜지 않으면 컴퓨터 전체 파이썬에 들어가 다른 프로젝트와 섞인다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편집기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VS Code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VS Code 설치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code.visualstudio.com 에서 내려받아 설치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Python 확장 설치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확장(Extensions)에서 「Python」(Microsoft) 검색 → 설치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폴더 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File → Open Folder 로 프로젝트 폴더를 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인터프리터 고르기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Ctrl+Shift+P(macOS ⌘+Shift+P) → Python: Select Interpreter → .venv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상태 표시줄에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.venv 가 보이면 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3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첫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프로그램 — hello.py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hello.py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print("안녕하세요, 파이썬!")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print(2 + 3)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print("2 + 3 =", 2 + 3)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안녕하세요, 파이썬!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5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 + 3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실행 — 편집기 오른쪽 위 실행 버튼, 또는 터미널에서 python hello.py(macOS 는 python3)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다른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설치가 어렵다면 — Google Colab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VS Code + venv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파일·폴더로 프로젝트를 관리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인터넷 없이도 실행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강의안의 기본 환경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Google Colab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colab.research.google.com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구글 계정만 있으면 설치 없이 시작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셀 단위로 실행하는 노트북(Jupyter 형식)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세션이 끝나면 설치한 것이 사라짐 — !pip install 로 다시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참고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Anaconda 는?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무엇인가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+ 데이터 과학 패키지를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한데 묶은 배포판(conda 명령)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강의안에서는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python.org + venv + pip 를 쓴다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구조가 단순하고 가볍다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방식을 섞으면 어느 파이썬이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도는지 헷갈린다 · 기관은 약관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python 명령을 찾을 수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 미등록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PATH 추가를 체크해 다시 설치 · Windows 는 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macOS 에 python 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python3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· pip3 로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PowerShell 이 activate 를 거부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정책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Set-ExecutionPolicy -Scope CurrentUser RemoteSigned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설치했는데 import 가 안 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파이썬에 설치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를 켜고 설치 · VS Code 도 .venv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오류 문구를 그대로 검색창에 붙여 넣으면 대개 같은 일을 겪은 사람의 답이 나온다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4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환경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터미널에서 파이썬 버전이 나온다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폴더에 .venv 를 만들고 켤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VS Code 에서 .venv 인터프리터를 골랐다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hello.py 를 실행해 출력을 봤다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넷 다 되면 PART 2 로 — 막히면 Colab 으로 먼저 진행해도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값을 담고(변수), 계산하고(연산), 고르고(조건), 되풀이(반복)합니다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변수 — 이름표 붙은 상자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값을 담아 두는 곳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숫자·글자·참거짓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이름표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상자를 부르는 이름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뜻이 드러나게 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= 의 뜻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「같다」가 아니라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「오른쪽 값을 왼쪽에 넣어라」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변수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변수 만들고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name = "민지"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age = 20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print(name, age)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age = age + 1        # 오른쪽을 먼저 계산해 다시 넣는다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print(age)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my_score = 90        # 이름: 영문·숫자·밑줄, 숫자로 시작 불가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print(my_score)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민지 20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21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 자료형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28422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54025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10, -3,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개수 · 나이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float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3.14, 0.5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· 평균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str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문자열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"안녕", '파이썬'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· 문장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bool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불리언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True, False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참 · 거짓 판단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문자열은 큰따옴표와 작은따옴표 둘 다 된다 — 시작과 끝만 같으면 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type() 으로 확인하고 형 변환하기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print(type(10))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print(type(3.14))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print(type("안녕"))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print(type(True))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형 변환 — 다른 자료형으로 바꾸기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print(int("42") + 1)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print(float("3.5") * 2)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print(str(100) + "점")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print(int(3.9))       # 소수점 아래를 버린다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&lt;class 'int'&gt;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&lt;class 'float'&gt;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&lt;class 'str'&gt;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&lt;class 'bool'&gt;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43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7.0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100점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연산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산술 연산자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a, b = 17, 5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+ b)    # 더하기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- b)    # 빼기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* b)    # 곱하기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/ b)    # 나누기 — 결과는 늘 실수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// b)   # 몫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% b)    # 나머지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** 2)   # 거듭제곱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22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12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85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3.4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289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비유 — 사탕 17개를 5명에게 나누면 한 명당 3개(몫 //), 2개가 남는다(나머지 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문자열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 — 번호로 꺼내고 자르기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 = "Python"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print(s[0], s[-1])     # 첫 글자, 마지막 글자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print(s[0:3])          # 0번부터 3번 앞까지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print(len(s))          # 글자 수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print("파이" + "썬")   # 이어 붙이기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print("ha" * 3)        # 되풀이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print("y" in s)        # 들어 있나?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P n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Pyt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6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파이썬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hahaha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번호(인덱스)는 0부터 센다 — 음수는 뒤에서부터. [시작:끝] 은 끝 번호를 포함하지 않는다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문자열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문자열 메서드와 f-string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text = "  Hello, Python  "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print(text.strip())             # 양끝 공백 제거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print(text.strip().upper())     # 대문자로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print(text.strip().replace("Python", "World"))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print("a,b,c".split(","))       # 쉼표로 나누기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name, score = "민지", 92.456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print(f"{name}님의 점수는 {score}점")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print(f"소수 둘째 자리: {score:.2f}")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print(f"천 단위 쉼표: {1234567:,}")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Hello, Python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HELLO, PYTHON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Hello, World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['a', 'b', 'c']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민지님의 점수는 92.456점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소수 둘째 자리: 92.46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천 단위 쉼표: 1,234,567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입력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input() — 키보드로 입력받기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name = input("이름을 입력하세요: 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age = int(input("나이를 입력하세요: "))    # 글자 → 정수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print(f"{name}님은 내년에 {age + 1}살입니다.")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예 — 민지, 20 을 입력]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이름을 입력하세요: 민지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나이를 입력하세요: 20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민지님은 내년에 21살입니다.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input() 이 돌려주는 값은 언제나 문자열 — 계산하려면 int() · float() 로 바꾼다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① 문자열 + 숫자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age = 20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print("나이:", age)            # 쉼표로 나열 — 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print(f"나이: {age}")          # f-string — 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print("나이: " + str(age))     # 문자열로 바꿔 붙이기 — 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print("나이: " + age)          # 문자열 + 정수 — 오류!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나이: 20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나이: 20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나이: 20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TypeError: can only concatenate str (not "int") to str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오류 메시지는 맨 아래 줄부터 읽는다 — 「TypeError: 문자열(str)에는 문자열만 이어 붙일 수 있다」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연산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비교 연산자와 논리 연산자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 = 7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 &gt; 5)              # 크다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 == 7)             # 같다(= 하나는 대입)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 != 7)             # 다르다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 &gt; 5 and x &lt; 10)   # 둘 다 참이어야 참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 &lt; 5 or x &gt; 6)     # 하나만 참이어도 참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print(not x &gt; 5)          # 참·거짓 뒤집기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print(5 &lt; x &lt; 10)         # 이어 쓰기도 된다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False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False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조건문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if · elif · else — 갈림길 만들기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score = 85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if score &gt;= 90: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grade = "A"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elif score &gt;= 80: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grade = "B"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elif score &gt;= 70: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grade = "C"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else: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grade = "F"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print(f"{score}점은 {grade}학점")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85점은 B학점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위에서부터 검사해 처음 참인 곳 하나만 실행한다 — 그래서 큰 기준부터 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② 들여쓰기와 = · ==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score = 85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if score &gt;= 80: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print("합격")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→ IndentationError: expected an indented block after 'if' statement on line 2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score = 85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if score = 85: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print("딱 85점")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→ SyntaxError: invalid syntax. Maybe you meant '==' or ':=' instead of '='?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콜론(:) 다음 줄은 4칸 들여쓴다 · 같은 블록은 같은 칸 수로 · 비교는 ==, 대입은 =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반복문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for 와 range — 정해진 횟수만큼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i in range(5):            # 0, 1, 2, 3, 4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print(i, end=" ")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i in range(1, 11, 3):     # 1부터 10까지 3씩 건너뛰며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print(i, end=" ")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total = 0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n in range(1, 101):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total += n                # total = total + n 의 줄임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print("1부터 100까지 합:", total)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0 1 2 3 4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 4 7 10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1부터 100까지 합: 5050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range(끝) · range(시작, 끝) · range(시작, 끝, 간격) — 끝 숫자는 포함하지 않는다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반복문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while — 조건이 참인 동안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 = 3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while count &gt; 0: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print(f"{count}...")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count -= 1            # 빼먹으면 끝나지 않는다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print("발사!")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발사!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몇 번 돌지 미리 모를 때 while 을 쓴다 — 언젠가 조건이 거짓이 되도록 값을 바꿔 준다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반복문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break 와 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n in range(1, 11):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n % 2 == 0: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continue          # 짝수는 건너뛰고 다음 바퀴로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n &gt; 7: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break             # 7보다 크면 반복을 끝낸다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print(n, end=" 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print("반복 끝")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 3 5 7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반복 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③ 끝나지 않는 반복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 =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while n &lt;= 3: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print(n)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n += 1 을 빠뜨렸다 → n 은 계속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…(끝나지 않는다 — Ctrl+C 로 멈춘다)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화면이 멈추고 같은 줄만 쏟아지면 무한 반복 — Ctrl+C 로 멈추고 조건이 바뀌는지 확인한다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몫과 나머지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print(17 // 5, 17 % 5) 의 출력은?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3.4 0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3 3.4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36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정답과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EDC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3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// 는 몫, % 는 나머지입니다. 17 = 5 × 3 + 2 이므로 몫 3, 나머지 2 — print 는 쉼표로 나열한 값을 빈칸 하나로 띄워 출력합니다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37</a:t>
            </a:r>
          </a:p>
        </p:txBody>
      </p:sp>
      <p:sp>
        <p:nvSpPr>
          <p:cNvPr id="18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문법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변수에 값을 넣고 print 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int · float · str · bool 과 형 변환을 구분한다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if · elif · else 로 갈림길을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for · while 로 반복하고 break 로 멈춘다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오류 메시지 마지막 줄을 읽고 원인을 찾는다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38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자료구조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 여러 개를 한데 담는 그릇 네 가지 — 리스트 · 튜플 · 딕셔너리 · 세트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네 가지 그릇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 [ ]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번호 붙은 사물함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있음 · 넣고 빼고 바꿀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 ( 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봉인된 상자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있음 · 만든 뒤에는 바꿀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딕셔너리 { 키: 값 }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국어사전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단어(키)로 뜻(값)을 바로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세트 { }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스티커 도감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것은 한 번만 들어간다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 — 번호로 꺼내고 바꾸기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fruits = ["사과", "바나나", "포도", "딸기"]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print(fruits[0])       # 첫째 — 번호는 0부터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print(fruits[-1])      # 끝에서 첫째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print(fruits[1:3])     # 1번부터 3번 앞까지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print(len(fruits))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fruits[1] = "망고"     # 바꾸기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print(fruits)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사과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딸기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['바나나', '포도']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['사과', '망고', '포도', '딸기']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41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 메서드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nums = [3, 1, 4]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nums.append(1)        # 끝에 추가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nums.insert(0, 9)     # 0번 자리에 끼우기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print(nums)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nums.remove(1)        # 값 1 을 앞에서부터 하나 지우기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last = nums.pop()     # 끝 값을 꺼내며 지우기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print(nums, last)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nums.sort()           # 오름차순 정렬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print(nums)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print(4 in nums, nums.count(4))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[9, 3, 1, 4, 1]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[9, 3, 4] 1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[3, 4, 9]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④ 없는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fruits = ["사과", "바나나", "포도"]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print(len(fruits))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print(fruits[3])      # 번호는 0, 1, 2 까지만 있다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IndexError: list index out of range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항목이 3개면 번호는 0~2 — 마지막은 len(리스트) - 1 또는 [-1] 로 꺼낸다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43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리스트와 반복 — 합계·평균·거르기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scores = [88, 92, 75, 64, 95]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print("합계:", sum(scores))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print("평균:", sum(scores) / len(scores))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print("최고:", max(scores), "최저:", min(scores))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passed = []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s in scores: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s &gt;= 80: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passed.append(s)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print("80점 이상:", passed)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print([s for s in scores if s &gt;= 80])    # 같은 일을 한 줄로(컴프리헨션)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합계: 414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평균: 82.8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최고: 95 최저: 64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80점 이상: [88, 92, 95]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[88, 92, 95]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튜플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 — 바꿀 수 없는 묶음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point = (3, 5)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x, y = point          # 언패킹 — 하나씩 나눠 담기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print(x, y)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a, b = 1, 2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a, b = b, a           # 두 값 바꾸기도 한 줄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print(a, b)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point[0] = 10         # 튜플은 바꿀 수 없다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 5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 1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TypeError: 'tuple' object does not support item assignment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좌표·날짜처럼 바뀌면 안 되는 값을 묶을 때 쓴다 — 바꾸려 하면 TypeError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딕셔너리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딕셔너리 — 키로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student = {"이름": "민지", "학년": 2}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print(student["이름"])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student["전공"] = "컴퓨터"    # 없는 키 → 추가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student["학년"] = 3           # 있는 키 → 수정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del student["전공"]           # 지우기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print(student)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print(student.get("나이"))       # 없으면 None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print(student.get("나이", 0))    # 없을 때 쓸 기본값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print("이름" in student)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민지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{'이름': '민지', '학년': 3}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None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0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46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딕셔너리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딕셔너리 순회 — items()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stock = {"사과": 5, "바나나": 0, "포도": 12}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name, qty in stock.items():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qty == 0: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print(f"{name}: 품절")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else: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print(f"{name}: {qty}개")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print(list(stock.keys()))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print(sum(stock.values()))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사과: 5개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바나나: 품절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포도: 12개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['사과', '바나나', '포도']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47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⑤ 없는 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stock = {"사과": 5}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print(stock.get("배", 0))    # 안전한 조회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print(stock["배"])           # 없는 키 → 오류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KeyError: '배'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있는지 모르는 키는 get(키, 기본값) 으로 꺼내거나 if 키 in 딕셔너리: 로 먼저 확인한다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세트 — 중복 없애기와 집합 연산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visits = ["민지", "준호", "민지", "서연", "준호"]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people = set(visits)            # 중복 제거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print(len(people), sorted(people))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 = {"파이썬", "자바", "C"}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 = {"파이썬", "자바스크립트"}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 &amp; b)                    # 교집합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print(sorted(a | b))            # 합집합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print(sorted(a - b))            # 차집합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 ['민지', '서연', '준호']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{'파이썬'}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['C', '자바', '자바스크립트', '파이썬']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['C', '자바']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세트는 순서가 없어 출력 순서가 실행마다 달라질 수 있다 — 그래서 sorted() 로 정렬해 보여 준다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49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네 그릇 한눈에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모양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384280" y="2781300"/>
            <a:ext cx="25222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8428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바꾸기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[1, 2]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튜플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(1, 2)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909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8428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7953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딕셔너리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{"a": 1}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6384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909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넣은 순서 유지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38428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7953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키는 불가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{1, 2}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6384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5909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8428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7953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고르는 법 — 차례가 중요하면 리스트, 이름으로 찾으면 딕셔너리, 중복을 없애려면 세트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50</a:t>
            </a:r>
          </a:p>
        </p:txBody>
      </p:sp>
      <p:sp>
        <p:nvSpPr>
          <p:cNvPr id="6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함수와 모듈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쓰는 코드를 묶어 이름을 붙이고(함수), 파일로 나눠 가져다 씁니다(모듈)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51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함수 — 자판기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넣는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매개변수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동전과 버튼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하는 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본문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기계 안의 동작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나오는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반환값(return)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떨어지는 음료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52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def 로 정의하고 호출하기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8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greet(name):              # 정의 — 아직 실행되지 않는다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f"안녕하세요, {name}님!"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msg = greet("민지")           # 호출 — 이때 실행된다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print(msg)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print(greet("준호"))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area(width, height):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width * height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print(area(3, 4))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안녕하세요, 민지님!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안녕하세요, 준호님!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53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기본값과 키워드 인자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order(menu, size="보통", count=1):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f"{menu} {size} {count}잔"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print(order("라떼"))                  # 기본값 사용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print(order("라떼", "큰"))            # 순서대로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print(order("라떼", count=3))         # 이름으로 골라 넘기기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print(order(count=2, menu="녹차"))    # 이름이면 순서 무관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라떼 보통 1잔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라떼 큰 1잔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라떼 보통 3잔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녹차 보통 2잔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54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혼동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print 와 return 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add_print(a, b):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print(a + b)          # 화면에 보여 주기만 한다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add_return(a, b):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a + b          # 값을 돌려준다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x = add_print(2, 3)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y = add_return(2, 3)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print("x =", x)           # 돌려준 값이 없으면 None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print("y =", y)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print(add_return(2, 3) * 10)    # 돌려받은 값은 계속 쓸 수 있다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5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x = None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y = 5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print 는 사람에게 보여 주기, return 은 프로그램에 돌려주기 — 계산 결과를 다시 쓰려면 return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값 돌려주기와 변수의 범위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min_max(nums):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min(nums), max(nums)    # 두 값을 튜플로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lo, hi = min_max([4, 9, 1, 7])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print(lo, hi)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make_total():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total = 100           # 함수 안에서 만든 지역 변수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total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make_total()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print(total)              # 함수 밖에서는 보이지 않는다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 9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NameError: name 'total' is not defined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함수 안에서 만든 변수는 함수가 끝나면 사라진다 — 밖에서 쓰려면 return 으로 돌려받는다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56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람다 — 이름 없는 한 줄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square = lambda x: x * x            # 이름 없는 한 줄 함수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print(square(5))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words = ["banana", "kiwi", "apple"]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print(sorted(words))                        # 알파벳순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print(sorted(words, key=len))               # 길이순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print(sorted(words, key=lambda w: w[-1]))   # 끝 글자순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students = [("민지", 92), ("준호", 78), ("서연", 85)]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best = max(students, key=lambda s: s[1])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print("1등:", best[0])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25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['apple', 'banana', 'kiwi']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['kiwi', 'apple', 'banana']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['banana', 'apple', 'kiwi']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1등: 민지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sorted · max 의 key 에 「무엇을 기준으로 비교할지」를 넘길 때 가장 많이 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내장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내장 함수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41224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 →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길이(개수)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len("abc") →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sum · max ·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 · 최대 · 최소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044043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044043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max([3, 8, 2]) → 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sorted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정렬한 새 리스트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640036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640036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sorted([3, 1, 2]) → [1, 2, 3]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반올림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236029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236029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round(3.14159, 2) → 3.14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abs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절댓값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5832021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5832021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abs(-7) →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range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정수 범위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428014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428014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list(range(3)) → [0, 1, 2]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isinstance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자료형 확인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144000" y="7024007"/>
            <a:ext cx="80010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9250" y="7024007"/>
            <a:ext cx="78105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isinstance(3, int) → 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내장 함수는 import 없이 바로 쓴다 — 전체 목록은 파이썬 공식 문서 「Built-in Functions」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58</a:t>
            </a:r>
          </a:p>
        </p:txBody>
      </p:sp>
      <p:sp>
        <p:nvSpPr>
          <p:cNvPr id="60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내장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enumerate 와 zip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menu = ["김밥", "라면", "떡볶이"]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i, item in enumerate(menu, start=1):    # 번호 붙이기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print(i, item)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prices = [3000, 4500, 5000]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item, price in zip(menu, prices):       # 짝 맞추기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print(f"{item}: {price:,}원")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print(dict(zip(menu, prices)))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 김밥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 라면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 떡볶이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김밥: 3,000원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라면: 4,500원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떡볶이: 5,000원</a:t>
            </a:r>
          </a:p>
          <a:p>
            <a:pPr algn="l">
              <a:lnSpc>
                <a:spcPct val="115000"/>
              </a:lnSpc>
            </a:pPr>
            <a:r>
              <a:rPr sz="15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{'김밥': 3000, '라면': 4500, '떡볶이': 5000}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59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모듈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표준 라이브러리와 import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math                     # ① 모듈 통째로 — math.이름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datetime import date       # ② 필요한 것만 — 이름만으로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random as rd             # ③ 별명 붙이기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print(math.sqrt(16), math.floor(3.7))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print(round(math.pi, 3))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rd.seed(1)                      # 같은 결과를 다시 보려고 씨앗 고정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print(rd.randint(1, 6))         # 주사위 1~6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print(rd.choice(["가위", "바위", "보"]))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print(date(2026, 10, 9).weekday())    # 0=월요일 … 6=일요일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4.0 3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3.142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보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60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모듈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모듈 만들기와 __name__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6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파일 ① mytools.py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add(a, b):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return a + b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if __name__ == "__main__":      # 이 파일을 직접 실행할 때만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print("시험:", add(1, 1))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파일 ② main.py — 같은 폴더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mytools                  # 가져올 때는 시험 코드가 돌지 않는다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mytools import add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print(mytools.add(10, 20))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print(add(2, 3))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[python mytools.py 결과]  시험: 2</a:t>
            </a:r>
          </a:p>
          <a:p>
            <a:pPr algn="l">
              <a:lnSpc>
                <a:spcPct val="115000"/>
              </a:lnSpc>
            </a:pPr>
            <a:r>
              <a:rPr sz="16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[python main.py 결과]     30 /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파일 하나가 모듈이다 — __name__ 은 직접 실행하면 "__main__", import 되면 모듈 이름이 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61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객체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클래스 맛보기 — 붕어빵 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class Dog:                          # 붕어빵 틀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def __init__(self, name):       # 만들 때 한 번 실행(초기화)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self.name = name            # 이 붕어빵의 속성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self.tricks = []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def learn(self, trick):         # 메서드 — 이 객체가 하는 일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self.tricks.append(trick)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def show(self):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f"{self.name}: {', '.join(self.tricks)}"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 = Dog("초코")                     # 틀로 찍어 낸 객체 둘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 = Dog("보리")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a.learn("앉아"); a.learn("손")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b.learn("엎드려")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print(a.show())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print(b.show())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초코: 앉아, 손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보리: 엎드려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클래스는 틀, 객체는 틀로 찍은 붕어빵 — 객체마다 자기 속성(이름·재주)을 따로 가진다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62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⑥ 모듈이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     # 설치하지 않은 라이브러리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ModuleNotFoundError: No module named 'bs4'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해결 — 가상환경을 켠 뒤 설치(설치 이름과 import 이름이 다르다)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pip install beautifulsoup4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설치했는데도 같은 오류면 VS Code 가 다른 파이썬을 쓰는 중 — 인터프리터가 .venv 인지 확인한다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63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자료구조·함수·모듈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리스트·튜플·딕셔너리·세트를 골라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IndexError · KeyError 의 뜻을 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매개변수와 return 이 있는 함수를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import 세 방식과 __name__ 을 설명한다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pip 이름과 import 이름이 다를 수 있음을 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64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파일과 예외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프로그램이 끝나도 남도록 파일에 쓰고, 문제가 생겨도 멈추지 않도록 예외를 처리합니다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65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여는 방식(모드)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"r" 읽기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공책을 펼쳐 읽기만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기본값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"w" 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공책 — 같은 이름이 있으면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내용을 지우고 처음부터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"a" 이어 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공책 마지막 줄 뒤에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덧붙인다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66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with open — 쓰고, 이어 쓰고,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with — 블록이 끝나면 파일을 자동으로 닫는다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open("memo.txt", "w", encoding="utf-8") as f: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f.write("첫째 줄\n")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f.write("둘째 줄\n")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open("memo.txt", "a", encoding="utf-8") as f: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f.write("덧붙인 줄\n")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open("memo.txt", encoding="utf-8") as f: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print(f.read())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첫째 줄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둘째 줄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덧붙인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67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줄씩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open("memo.txt", encoding="utf-8") as f: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for i, line in enumerate(f, start=1):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print(i, line.strip())      # 줄 끝의 \n 을 떼고 출력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open("memo.txt", encoding="utf-8") as f: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lines = f.readlines()           # 줄들을 리스트로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print(len(lines), "줄")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1 첫째 줄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 둘째 줄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 덧붙인 줄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encoding="utf-8" 을 늘 붙인다 — 빼면 Windows 에서 한글이 깨지거나 UnicodeDecodeError 가 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CSV 파일 — 표 데이터 저장하기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csv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rows = [["이름", "점수"], ["민지", 92], ["준호", 78]]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open("scores.csv", "w", newline="", encoding="utf-8") as f: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csv.writer(f).writerows(rows)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open("scores.csv", newline="", encoding="utf-8") as f: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for row in csv.DictReader(f):           # 첫 줄을 열 이름으로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print(row["이름"], int(row["점수"]) + 5)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민지 97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준호 83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엑셀에서 한글이 깨지면 encoding="utf-8-sig" 로 저장 · 표가 커지면 pandas 가 편하다(다음 학습)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69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예외 — 비상구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예외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중에 생긴 문제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0으로 나누기, 없는 파일…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그대로 두면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프로그램이 그 자리에서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try · except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문제가 생기면 준비해 둔 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(비상구)로 돌린다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70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예외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try · except — 예외 잡기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safe_divide(a, b):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try: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a / b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except ZeroDivisionError: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"0으로 나눌 수 없습니다"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print(safe_divide(10, 4))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print(safe_divide(10, 0))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text in ["42", "사십이"]: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try: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print(int(text) * 2)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except ValueError: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print(f"'{text}' 는 숫자가 아닙니다")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2.5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0으로 나눌 수 없습니다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84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'사십이' 는 숫자가 아닙니다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71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예외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else 와 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50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read_file(path):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try: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f = open(path, encoding="utf-8")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except FileNotFoundError: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print(f"{path}: 파일이 없습니다")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else:                       # 오류가 없을 때만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print(f.read().strip())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f.close()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finally:                    # 오류가 있든 없든 늘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print("확인 끝")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read_file("memo.txt")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read_file("nofile.txt")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안녕하세요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확인 끝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nofile.txt: 파일이 없습니다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확인 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72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만나는 예외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NameError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이름을 썼다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print(totl)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TypeError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자료형이 맞지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969544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969544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"나이: " + 20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ValueError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값의 모양이 틀렸다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491038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491038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int("사십")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IndexError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번호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012531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012531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[1, 2][5]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KeyError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534025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534025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{"a": 1}["b"]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ZeroDivisionError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0으로 나눴다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055519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055519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/ 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FileNotFoundError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파일을 열었다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6577012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6577012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open("없음.txt")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ModuleNotFoundError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 안 된 모듈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064240" y="7098506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9490" y="7098506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bs4 import …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모든 예를 실제로 실행해 표의 예외가 나는 것을 확인했다 — except 에는 잡을 예외 이름을 구체적으로 쓴다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73</a:t>
            </a:r>
          </a:p>
        </p:txBody>
      </p:sp>
      <p:sp>
        <p:nvSpPr>
          <p:cNvPr id="6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체크포인트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파일·예외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with open 으로 파일을 쓰고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 · w · a 모드의 차이를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encoding="utf-8" 을 빠뜨리지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try · except 로 ValueError 를 잡아 다시 묻는다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74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3종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계산기 · 숫자 맞추기 · 타이머 — 배운 문법을 엮어 실제로 동작하는 프로그램을 만듭니다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75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진행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프로젝트는 이 순서로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요구사항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만들지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문장으로 적기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뼈대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함수 이름과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TODO 주석만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완성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빈칸을 채우고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실행해 확인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기능을 하나씩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더하기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번에 다 쓰지 않는다 — 조금 쓰고 실행하고, 또 조금 쓰고 실행한다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76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요구사항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연산자(+ - * /)와 숫자 두 개를 입력받는다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결과를 출력한다 — 0으로 나누면 안내 문구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숫자가 아닌 입력은 다시 묻는다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모르는 연산자는 안내하고, q 를 넣으면 끝낸다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쓰는 문법 — 함수 · if · while · try/except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77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계산기 —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8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calculate(a, op, b):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① op 에 따라 + - * / 결과를 돌려준다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② 0으로 나누면 None 을 돌려준다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pass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read_number(prompt):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③ 숫자를 받을 때까지 다시 묻는다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pass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main():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④ q 가 나올 때까지 입력 → 계산 → 출력을 반복한다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pass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main()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pass 는 「아직 비워 둠」 — 뼈대도 실행은 된다(아무것도 출력하지 않을 뿐)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계산기 — 완성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calculate(a, op, b):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op == "+":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a + b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elif op == "-":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a - b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elif op == "*":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a * b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elif op == "/":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if b == 0: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return None             # 0으로 나누기는 막는다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return a / b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read_number(prompt):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while True: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try: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return float(input(prompt))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except ValueError: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print("숫자를 입력하세요.")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read_number 는 숫자를 받을 때까지 while True 로 되묻는다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계산기 — 완성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37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main():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print("계산기 (끝내려면 연산자에 q)")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while True: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op = input("연산자(+ - * /): 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if op == "q":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print("종료합니다.")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if op not in ["+", "-", "*", "/"]: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print("지원하지 않는 연산자입니다.")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continue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a = read_number("첫 번째 수: 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b = read_number("두 번째 수: 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result = calculate(a, op, b)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if result is None: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print("0으로 나눌 수 없습니다.")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else: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print(f"결과: {a} {op} {b} = {result}")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main()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op not in [...] — 목록에 없는 연산자는 continue 로 처음부터 다시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계산기 — 실행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계산기 (끝내려면 연산자에 q)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연산자(+ - * /): +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첫 번째 수: 3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두 번째 수: 4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결과: 3.0 + 4.0 = 7.0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연산자(+ - * /): /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첫 번째 수: 10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두 번째 수: 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0으로 나눌 수 없습니다.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연산자(+ - * /): %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지원하지 않는 연산자입니다.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연산자(+ - * /): *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첫 번째 수: 둘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숫자를 입력하세요.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첫 번째 수: 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두 번째 수: 5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결과: 2.0 * 5.0 = 10.0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연산자(+ - * /): q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종료합니다.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0으로 나누기 · 모르는 연산자(%) · 숫자가 아닌 입력(둘)까지 넣어 본 실제 실행 화면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81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1 · 계산기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확장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연산 더하기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거듭제곱 ** 와 나머지 % 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calculate 에 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깔끔한 표시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7.0 처럼 정수로 떨어지면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 로 보여 주기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리스트에 모아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끝날 때 한꺼번에 출력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 저장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기록을 history.txt 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쓰기("a" 모드)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2 · 숫자 맞추기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요구사항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컴퓨터가 1~100 사이 숫자를 몰래 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추측을 입력하면 「더 큰 수」「더 작은 수」를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맞히면 시도 횟수를 알려 주고 끝낸다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숫자가 아닌 입력은 횟수에 넣지 않고 다시 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쓰는 문법 — random 모듈 · while True · break · try/except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83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2 · 숫자 맞추기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 맞추기 —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random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secret = random.randint(1, 100)    # 컴퓨터가 몰래 정한 수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tries = 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while True: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① 입력을 정수로 바꾼다 — 실패하면 다시 묻는다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② tries 를 1 늘린다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③ 크다·작다·정답을 알려 주고, 정답이면 break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break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뼈대의 break 는 일단 반복을 한 번에 끝내 두는 자리표시 — 완성하면서 정답일 때만 break 하게 바꾼다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84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2 · 숫자 맞추기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 맞추기 — 완성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random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secret = random.randint(1, 100)    # 컴퓨터가 몰래 정한 수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tries = 0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while True: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try: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guess = int(input("추측(1~100): "))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except ValueError: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print("정수를 입력하세요.")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continue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tries += 1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if guess &lt; secret: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print("더 큰 수입니다.")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elif guess &gt; secret: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print("더 작은 수입니다.")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else: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print(f"정답! {tries}번 만에 맞혔습니다.")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break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random.randint(1, 100) 은 1과 100을 모두 포함한다 — 실행할 때마다 다른 수가 정해진다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85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2 · 숫자 맞추기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 맞추기 — 실행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50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더 작은 수입니다.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오십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정수를 입력하세요.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25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더 작은 수입니다.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12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더 큰 수입니다.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18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더 작은 수입니다.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15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더 큰 수입니다.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추측(1~100): 16</a:t>
            </a:r>
          </a:p>
          <a:p>
            <a:pPr algn="l">
              <a:lnSpc>
                <a:spcPct val="115000"/>
              </a:lnSpc>
            </a:pPr>
            <a:r>
              <a:rPr sz="18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정답! 6번 만에 맞혔습니다.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절반씩 좁혀 가면(이분 탐색) 1~100 은 7번 안에 반드시 맞힌다 — 숫자가 아닌 입력은 횟수에서 빠진다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86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2 · 숫자 맞추기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확장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 검사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1~100 밖의 수는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안내하고 다시 묻기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기회 제한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7번 안에 못 맞히면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정답을 알려 주고 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다시 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끝난 뒤 「한 판 더?(y/n)」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함수로 묶어 반복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난이도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쉬움 1~50 · 어려움 1~1000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을 골라 시작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3 · 타이머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요구사항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몇 초를 셀지 입력받는다 — 1 이상의 정수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1초마다 남은 시간을 MM:SS 로 같은 줄에 갱신한다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0이 되면 「시간 종료!」를 출력한다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숫자가 아니거나 0 이하이면 안내하고 다시 묻는다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쓰는 문법 — time 모듈 · divmod · f-string 서식 · 예외 처리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3 · 타이머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타이머 —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time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countdown(seconds):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① seconds 가 0보다 큰 동안 반복한다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② divmod 로 분·초를 나눠 MM:SS 로 같은 줄에 출력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# TODO ③ 1초 쉬고 seconds 를 1 줄인다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print("시간 종료!")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TODO ④ 1 이상의 정수를 받을 때까지 묻는다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sec = 3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countdown(sec)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입력 부분을 만들기 전에는 sec = 3 처럼 값을 박아 두고 countdown 부터 완성한다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89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3 · 타이머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타이머 — 완성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time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def countdown(seconds):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while seconds &gt; 0: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mins, secs = divmod(seconds, 60)              # 몫=분, 나머지=초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print(f"{mins:02d}:{secs:02d}", end="\r")     # 같은 줄에 덮어쓰기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time.sleep(1)                                 # 1초 쉬기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seconds -= 1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print("시간 종료!")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while True: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try: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sec = int(input("몇 초? "))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if sec &gt;= 1: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break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print("1 이상을 입력하세요.")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except ValueError: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print("정수를 입력하세요.")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countdown(sec)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end="\r" 는 줄을 바꾸지 않고 줄 맨 앞으로 돌아가 같은 자리에 덮어쓴다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3 · 타이머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타이머 — 실행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code"/>
          <p:cNvSpPr txBox="1"/>
          <p:nvPr/>
        </p:nvSpPr>
        <p:spPr>
          <a:xfrm>
            <a:off x="1352550" y="2552700"/>
            <a:ext cx="155829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몇 초? 삼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정수를 입력하세요.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몇 초? 0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1 이상을 입력하세요.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몇 초? 3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00:03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00:02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00:01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시간 종료!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화면에서는 00:03 → 00:02 → 00:01 이 한 줄에서 바뀐다 — 여기서는 덮어쓴 값을 줄마다 펼쳐 보였다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91</a:t>
            </a:r>
          </a:p>
        </p:txBody>
      </p:sp>
      <p:sp>
        <p:nvSpPr>
          <p:cNvPr id="1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프로젝트 3 · 타이머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확장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분:초 입력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"1:30" 을 split(":") 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 90초로 바꾸기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중단 처리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Ctrl+C 를 누르면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KeyboardInterrupt 로 잡아 안내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뽀모도로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25분 집중 · 5분 휴식을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정한 횟수만큼 반복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끝난 시각을 datetime 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log.txt 에 이어 쓰기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웹 크롤링 맛보기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페이지를 받아 오고(requests), 필요한 부분만 골라(BeautifulSoup), 파일로 저장합니다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93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크롤링의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requests.get(주소)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 페이지 달라고 부탁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응답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 글자 덩어리를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받는다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파싱·추출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BeautifulSoup 으로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태그만 고른다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저장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리스트에 모아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로 쓴다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준비 — 가상환경을 켜고 pip install requests beautifulsoup4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94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먼저 지킬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robots.txt 와 이용약관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robots.txt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655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655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사이트주소/robots.txt 의 허용·금지 경로를 먼저 확인한다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이용약관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53377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53377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수집을 금지하는 조항이 있으면 하지 않는다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서버 배려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19100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19100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 사이에 1초 이상 쉬고, 필요한 페이지만 받는다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우회 금지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484822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484822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막아 둔 곳을 브라우저인 척 꾸며서 뚫지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취급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505450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505450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개인정보·저작물은 함부로 저장·공개하지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285750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23241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연습 장소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162675"/>
            <a:ext cx="1314450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162675"/>
            <a:ext cx="1257300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수집 연습용으로 공개된 사이트에서 연습한다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장의 실습 사이트 books.toscrape.com · quotes.toscrape.com 은 수집 연습용으로 만든 공개 사이트다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95</a:t>
            </a:r>
          </a:p>
        </p:txBody>
      </p:sp>
      <p:sp>
        <p:nvSpPr>
          <p:cNvPr id="3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규칙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robots.txt 를 코드로 확인하기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4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urllib import robotparser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① 규칙 읽는 법 — 예시 규칙으로 연습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rp = robotparser.RobotFileParser()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rp.parse(["User-agent: *", "Disallow: /private/"])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print(rp.can_fetch("*", "/books/1.html"))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print(rp.can_fetch("*", "/private/a.html"))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② 연습 사이트의 robots.txt 확인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site = "https://books.toscrape.com"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rp2 = robotparser.RobotFileParser(site + "/robots.txt")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rp2.read()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print(rp2.can_fetch("*", site + "/catalogue/page-2.html"))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False</a:t>
            </a:r>
          </a:p>
          <a:p>
            <a:pPr algn="l">
              <a:lnSpc>
                <a:spcPct val="115000"/>
              </a:lnSpc>
            </a:pPr>
            <a:r>
              <a:rPr sz="14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연습 사이트는 robots.txt 가 없어(404) 「모두 허용」으로 판정된다 — 결과가 False 인 주소는 수집하지 않는다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96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HTML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책 한 권은 이렇게 생겼다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&lt;article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"product_pod"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&lt;a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href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"catalogue/a-light-in-the-attic_1000/index.html"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title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"A Light in the Attic"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 Light in the ...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&lt;/h3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&lt;div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"product_price"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&lt;p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</a:t>
            </a:r>
            <a:r>
              <a:rPr sz="2250" b="0">
                <a:solidFill>
                  <a:srgbClr val="9FE8C0"/>
                </a:solidFill>
                <a:latin typeface="나눔고딕코딩"/>
                <a:ea typeface="나눔고딕코딩"/>
                <a:cs typeface="나눔고딕코딩"/>
              </a:rPr>
              <a:t>class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250" b="0">
                <a:solidFill>
                  <a:srgbClr val="F5C97A"/>
                </a:solidFill>
                <a:latin typeface="나눔고딕코딩"/>
                <a:ea typeface="나눔고딕코딩"/>
                <a:cs typeface="나눔고딕코딩"/>
              </a:rPr>
              <a:t>"price_color"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£51.77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&lt;/p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&lt;/div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&lt;/article</a:t>
            </a:r>
            <a:r>
              <a:rPr sz="2250" b="0">
                <a:solidFill>
                  <a:srgbClr val="8ABFFF"/>
                </a:solidFill>
                <a:latin typeface="나눔고딕코딩"/>
                <a:ea typeface="나눔고딕코딩"/>
                <a:cs typeface="나눔고딕코딩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페이지에서 필요한 부분만 줄인 것 — 브라우저에서 F12(개발자 도구) → 요소 고르기로 태그와 class 를 찾는다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97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requests — 페이지 받아 오기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7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requests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 = "https://books.toscrape.com/"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 = requests.get(url, timeout=10)   # 10초 안에 답이 없으면 포기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res.raise_for_status()                # 200번대가 아니면 오류로 멈춘다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res.encoding = "utf-8"                # 이 사이트의 글자 인코딩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print(res.status_code)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print(res.headers["Content-Type"])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print(res.text.strip()[:15])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200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text/html</a:t>
            </a:r>
          </a:p>
          <a:p>
            <a:pPr algn="l">
              <a:lnSpc>
                <a:spcPct val="115000"/>
              </a:lnSpc>
            </a:pPr>
            <a:r>
              <a:rPr sz="17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&lt;!DOCTYPE html&gt;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상태 코드 200 은 성공, 404 는 없는 페이지, 500 은 서버 오류 — raise_for_status() 가 실패를 바로 알려 준다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98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파싱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BeautifulSoup — 태그 고르기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html = """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&lt;ul id="menu"&gt;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&lt;li class="item"&gt;김밥 &lt;span class="price"&gt;3000&lt;/span&gt;&lt;/li&gt;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&lt;li class="item"&gt;라면 &lt;span class="price"&gt;4500&lt;/span&gt;&lt;/li&gt;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&lt;/ul&gt;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"""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soup = BeautifulSoup(html, "html.parser")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print(soup.find("li").get_text(" ", strip=True))   # 첫 번째 하나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print(len(soup.find_all("li")))                     # 전부 — 리스트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p in soup.select("li.item .price"):             # CSS 선택자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print(p.get_text())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김밥 3000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3000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4500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find 는 첫 하나, find_all · select 는 전부(리스트) — select 는 CSS 선택자(.class · #id · 태그) · 속성 값은 태그["이름"]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99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첫 페이지의 책 제목과 가격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requests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 = requests.get("https://books.toscrape.com/", timeout=10)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res.encoding = "utf-8"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soup = BeautifulSoup(res.text, "html.parser")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books = soup.select("article.product_pod")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print(len(books), "권")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book in books[:3]: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title = book.h3.a["title"]          # 전체 제목은 title 속성에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price = book.select_one(".price_color").get_text()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print(price, title)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20 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£51.77 A Light in the Attic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£53.74 Tipping the Velvet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£50.10 Soumission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화면에 보이는 제목은 「…」로 잘려 있다 — 전체 제목은 a 태그의 title 속성에 들어 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100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여러 페이지 모아 CSV 로 저장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15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16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17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18</a:t>
            </a:r>
          </a:p>
          <a:p>
            <a:pPr algn="r">
              <a:lnSpc>
                <a:spcPct val="115000"/>
              </a:lnSpc>
            </a:pPr>
            <a:r>
              <a:rPr sz="13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19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csv, time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requests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URL = "https://books.toscrape.com/catalogue/page-{}.html"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rows = []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page in range(1, 4):                       # 1~3쪽만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res = requests.get(URL.format(page), timeout=10)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res.encoding = "utf-8"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soup = BeautifulSoup(res.text, "html.parser")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for book in soup.select("article.product_pod"):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price = book.select_one(".price_color").get_text()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rows.append([book.h3.a["title"], price])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time.sleep(1)                              # 서버 배려 — 1초 쉬기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with open("books.csv", "w", newline="", encoding="utf-8-sig") as f: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csv.writer(f).writerows([["제목", "가격"]] + rows)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print(len(rows), "권 저장")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60 권 저장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페이지 주소의 숫자만 바꿔 가며 요청한다 — 엑셀에서 열 파일이라 utf-8-sig 로 저장했다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101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정적 · 동적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requests 로 안 보이는 페이지도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정적 페이지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quotes.toscrape.com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서버가 내용이 다 담긴 HTML 을 보낸다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로 받은 HTML 에 내용이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장의 방법으로 수집된다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동적 페이지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quotes.toscrape.com/js/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틀을 받은 뒤 JavaScript 가 내용을 채운다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requests 로는 내용이 비어 보인다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브라우저를 움직이는 도구가 필요하다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102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정적 · 동적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같은 내용, 다른 결과 — 직접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17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requests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for url in ["https://quotes.toscrape.com/",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        "https://quotes.toscrape.com/js/"]: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res = requests.get(url, timeout=10)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soup = BeautifulSoup(res.text, "html.parser")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  print(url, "→ 명언", len(soup.select("div.quote")), "개")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결과]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https://quotes.toscrape.com/ → 명언 10 개</a:t>
            </a:r>
          </a:p>
          <a:p>
            <a:pPr algn="l">
              <a:lnSpc>
                <a:spcPct val="115000"/>
              </a:lnSpc>
            </a:pPr>
            <a:r>
              <a:rPr sz="217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https://quotes.toscrape.com/js/ → 명언 0 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동적 페이지는 Selenium · Playwright 처럼 브라우저를 직접 움직이는 도구로 다루거나, 사이트가 공개한 API 를 쓴다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103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흔한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흔한 오류 ⑦ 아무것도 못 찾았다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143500"/>
          </a:xfrm>
          <a:prstGeom prst="roundRect">
            <a:avLst>
              <a:gd name="adj" fmla="val 1851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143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472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import requests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from bs4 import BeautifulSoup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res = requests.get("https://books.toscrape.com/", timeout=10)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soup = BeautifulSoup(res.text, "html.parser")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tag = soup.select_one(".book-title")   # 없는 class 이름(오타)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print(tag)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print(tag.get_text())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[실행 결과 — 오류]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None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# AttributeError: 'NoneType' object has no attribute 'get_text'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선택자가 아무것도 못 찾으면 None — 개발자 도구로 class 이름을 다시 보고, if tag: 로 먼저 검사한다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104</a:t>
            </a:r>
          </a:p>
        </p:txBody>
      </p:sp>
      <p:sp>
        <p:nvSpPr>
          <p:cNvPr id="1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최종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끝까지 왔다면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환경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를 만들어 켜고 pip 로 설치할 수 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변수·조건·반복으로 작은 문제를 푼다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자료구조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리스트와 딕셔너리를 골라 쓰고 순회한다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함수·모듈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return 하는 함수를 만들고 import 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파일·예외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utf-8 로 읽고 쓰며 try·except 로 지킨다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프로젝트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요구사항 → 뼈대 → 완성 → 확장으로 만든다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크롤링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robots.txt·약관을 확인하고 정적 페이지를 모은다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105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다음 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여기서 어디로 갈까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로 CSV 를 표처럼 다루고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matplotlib 로 그래프 그리기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924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924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248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자동화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폴더 정리 · 엑셀 보고서 · 메일 같은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업무를 스크립트로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동적 페이지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Selenium · Playwright 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브라우저를 움직여 수집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591175"/>
            <a:ext cx="78105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591175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15025"/>
            <a:ext cx="71628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객체지향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클래스 · 상속으로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프로그램을 나눠 설계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H01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106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H01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파이썬 기초·응용·심화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문법은 외우는 것이 아니라 쳐 보고 틀려 보며 손에 익히는 것입니다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가상환경을 만들고 VS Code 에서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변수·조건·반복·자료구조·함수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파일·예외로 튼튼한 프로그램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규칙을 지켜 웹 데이터 수집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오늘의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3개 + books.csv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