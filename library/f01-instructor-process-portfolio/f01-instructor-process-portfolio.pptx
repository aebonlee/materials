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444" r:id="rId67"/>
    <p:sldId id="445" r:id="rId68"/>
    <p:sldId id="376" r:id="rId2"/>
    <p:sldId id="377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1" r:id="rId17"/>
    <p:sldId id="436" r:id="rId18"/>
    <p:sldId id="393" r:id="rId19"/>
    <p:sldId id="394" r:id="rId20"/>
    <p:sldId id="437" r:id="rId21"/>
    <p:sldId id="438" r:id="rId22"/>
    <p:sldId id="397" r:id="rId23"/>
    <p:sldId id="398" r:id="rId24"/>
    <p:sldId id="439" r:id="rId25"/>
    <p:sldId id="440" r:id="rId26"/>
    <p:sldId id="401" r:id="rId27"/>
    <p:sldId id="402" r:id="rId28"/>
    <p:sldId id="403" r:id="rId29"/>
    <p:sldId id="404" r:id="rId30"/>
    <p:sldId id="405" r:id="rId31"/>
    <p:sldId id="406" r:id="rId32"/>
    <p:sldId id="407" r:id="rId33"/>
    <p:sldId id="408" r:id="rId34"/>
    <p:sldId id="409" r:id="rId35"/>
    <p:sldId id="410" r:id="rId36"/>
    <p:sldId id="411" r:id="rId37"/>
    <p:sldId id="412" r:id="rId38"/>
    <p:sldId id="413" r:id="rId39"/>
    <p:sldId id="414" r:id="rId40"/>
    <p:sldId id="415" r:id="rId41"/>
    <p:sldId id="416" r:id="rId42"/>
    <p:sldId id="417" r:id="rId43"/>
    <p:sldId id="418" r:id="rId44"/>
    <p:sldId id="419" r:id="rId45"/>
    <p:sldId id="441" r:id="rId46"/>
    <p:sldId id="442" r:id="rId47"/>
    <p:sldId id="422" r:id="rId48"/>
    <p:sldId id="423" r:id="rId49"/>
    <p:sldId id="424" r:id="rId50"/>
    <p:sldId id="425" r:id="rId51"/>
    <p:sldId id="426" r:id="rId52"/>
    <p:sldId id="427" r:id="rId53"/>
    <p:sldId id="428" r:id="rId54"/>
    <p:sldId id="429" r:id="rId55"/>
    <p:sldId id="443" r:id="rId56"/>
    <p:sldId id="431" r:id="rId57"/>
    <p:sldId id="432" r:id="rId58"/>
    <p:sldId id="433" r:id="rId59"/>
    <p:sldId id="434" r:id="rId60"/>
    <p:sldId id="435" r:id="rId61"/>
    <p:sldId id="446" r:id="rId6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2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842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Relationship Id="rId6" Type="http://schemas.openxmlformats.org/officeDocument/2006/relationships/image" Target="../media/image1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0.png"/><Relationship Id="rId5" Type="http://schemas.openxmlformats.org/officeDocument/2006/relationships/image" Target="../media/image12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40.png"/><Relationship Id="rId5" Type="http://schemas.openxmlformats.org/officeDocument/2006/relationships/image" Target="../media/image12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4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49.pn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image" Target="../media/image61.jpg"/><Relationship Id="rId5" Type="http://schemas.openxmlformats.org/officeDocument/2006/relationships/image" Target="../media/image24.jpg"/><Relationship Id="rId6" Type="http://schemas.openxmlformats.org/officeDocument/2006/relationships/image" Target="../media/image6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Relationship Id="rId4" Type="http://schemas.openxmlformats.org/officeDocument/2006/relationships/image" Target="../media/image20.png"/><Relationship Id="rId5" Type="http://schemas.openxmlformats.org/officeDocument/2006/relationships/image" Target="../media/image12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Relationship Id="rId4" Type="http://schemas.openxmlformats.org/officeDocument/2006/relationships/image" Target="../media/image10.jpg"/><Relationship Id="rId5" Type="http://schemas.openxmlformats.org/officeDocument/2006/relationships/image" Target="../media/image63.jpg"/><Relationship Id="rId6" Type="http://schemas.openxmlformats.org/officeDocument/2006/relationships/image" Target="../media/image64.jpg"/><Relationship Id="rId7" Type="http://schemas.openxmlformats.org/officeDocument/2006/relationships/image" Target="../media/image4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jpg"/><Relationship Id="rId4" Type="http://schemas.openxmlformats.org/officeDocument/2006/relationships/image" Target="../media/image65.jpg"/><Relationship Id="rId5" Type="http://schemas.openxmlformats.org/officeDocument/2006/relationships/image" Target="../media/image66.jpg"/><Relationship Id="rId6" Type="http://schemas.openxmlformats.org/officeDocument/2006/relationships/image" Target="../media/image6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39.jpg"/><Relationship Id="rId6" Type="http://schemas.openxmlformats.org/officeDocument/2006/relationships/image" Target="../media/image67.jpg"/><Relationship Id="rId7" Type="http://schemas.openxmlformats.org/officeDocument/2006/relationships/image" Target="../media/image6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4.jpg"/><Relationship Id="rId7" Type="http://schemas.openxmlformats.org/officeDocument/2006/relationships/image" Target="../media/image69.jpg"/><Relationship Id="rId8" Type="http://schemas.openxmlformats.org/officeDocument/2006/relationships/image" Target="../media/image7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71.jpg"/><Relationship Id="rId6" Type="http://schemas.openxmlformats.org/officeDocument/2006/relationships/image" Target="../media/image7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0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4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22.jpg"/><Relationship Id="rId4" Type="http://schemas.openxmlformats.org/officeDocument/2006/relationships/image" Target="../media/image73.jpg"/><Relationship Id="rId5" Type="http://schemas.openxmlformats.org/officeDocument/2006/relationships/image" Target="../media/image74.jpg"/><Relationship Id="rId6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67.jpg"/><Relationship Id="rId6" Type="http://schemas.openxmlformats.org/officeDocument/2006/relationships/image" Target="../media/image6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56.jpg"/><Relationship Id="rId6" Type="http://schemas.openxmlformats.org/officeDocument/2006/relationships/image" Target="../media/image5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77.jpg"/><Relationship Id="rId4" Type="http://schemas.openxmlformats.org/officeDocument/2006/relationships/image" Target="../media/image7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71.jpg"/><Relationship Id="rId6" Type="http://schemas.openxmlformats.org/officeDocument/2006/relationships/image" Target="../media/image7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78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61.jpg"/><Relationship Id="rId4" Type="http://schemas.openxmlformats.org/officeDocument/2006/relationships/image" Target="../media/image79.jpg"/><Relationship Id="rId5" Type="http://schemas.openxmlformats.org/officeDocument/2006/relationships/image" Target="../media/image80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81.png"/><Relationship Id="rId4" Type="http://schemas.openxmlformats.org/officeDocument/2006/relationships/image" Target="../media/image53.jpg"/><Relationship Id="rId5" Type="http://schemas.openxmlformats.org/officeDocument/2006/relationships/image" Target="../media/image82.jpg"/><Relationship Id="rId6" Type="http://schemas.openxmlformats.org/officeDocument/2006/relationships/image" Target="../media/image83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84.jpg"/><Relationship Id="rId4" Type="http://schemas.openxmlformats.org/officeDocument/2006/relationships/image" Target="../media/image85.jpg"/><Relationship Id="rId5" Type="http://schemas.openxmlformats.org/officeDocument/2006/relationships/image" Target="../media/image5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71.jpg"/><Relationship Id="rId6" Type="http://schemas.openxmlformats.org/officeDocument/2006/relationships/image" Target="../media/image72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22.jpg"/><Relationship Id="rId4" Type="http://schemas.openxmlformats.org/officeDocument/2006/relationships/image" Target="../media/image86.jpg"/><Relationship Id="rId5" Type="http://schemas.openxmlformats.org/officeDocument/2006/relationships/image" Target="../media/image87.jpg"/><Relationship Id="rId6" Type="http://schemas.openxmlformats.org/officeDocument/2006/relationships/image" Target="../media/image2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88.jpg"/><Relationship Id="rId6" Type="http://schemas.openxmlformats.org/officeDocument/2006/relationships/image" Target="../media/image89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10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48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92.jpg"/><Relationship Id="rId4" Type="http://schemas.openxmlformats.org/officeDocument/2006/relationships/image" Target="../media/image64.jpg"/><Relationship Id="rId5" Type="http://schemas.openxmlformats.org/officeDocument/2006/relationships/image" Target="../media/image48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64.jpg"/><Relationship Id="rId6" Type="http://schemas.openxmlformats.org/officeDocument/2006/relationships/image" Target="../media/image48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22.jpg"/><Relationship Id="rId4" Type="http://schemas.openxmlformats.org/officeDocument/2006/relationships/image" Target="../media/image93.jpg"/><Relationship Id="rId5" Type="http://schemas.openxmlformats.org/officeDocument/2006/relationships/image" Target="../media/image94.jpg"/><Relationship Id="rId6" Type="http://schemas.openxmlformats.org/officeDocument/2006/relationships/image" Target="../media/image2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39.jpg"/><Relationship Id="rId5" Type="http://schemas.openxmlformats.org/officeDocument/2006/relationships/image" Target="../media/image67.jpg"/><Relationship Id="rId6" Type="http://schemas.openxmlformats.org/officeDocument/2006/relationships/image" Target="../media/image6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0.jpg"/><Relationship Id="rId4" Type="http://schemas.openxmlformats.org/officeDocument/2006/relationships/image" Target="../media/image63.jpg"/><Relationship Id="rId5" Type="http://schemas.openxmlformats.org/officeDocument/2006/relationships/image" Target="../media/image4.jpg"/><Relationship Id="rId6" Type="http://schemas.openxmlformats.org/officeDocument/2006/relationships/image" Target="../media/image64.jpg"/><Relationship Id="rId7" Type="http://schemas.openxmlformats.org/officeDocument/2006/relationships/image" Target="../media/image48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gen-dedup-af52b958647547ddd9145dc5f7782b74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143000"/>
            <a:ext cx="16002000" cy="19202"/>
          </a:xfrm>
          <a:prstGeom prst="rect">
            <a:avLst/>
          </a:prstGeom>
        </p:spPr>
      </p:pic>
      <p:pic>
        <p:nvPicPr>
          <p:cNvPr id="6" name="Image 2" descr="gen-dedup-8446cb465b306539a9a449fca7a02381.png"/>
          <p:cNvPicPr>
            <a:picLocks noChangeAspect="1"/>
          </p:cNvPicPr>
          <p:nvPr/>
        </p:nvPicPr>
        <p:blipFill>
          <a:blip r:embed="rId4"/>
          <a:srcRect l="-69" r="-69"/>
          <a:stretch/>
        </p:blipFill>
        <p:spPr>
          <a:xfrm>
            <a:off x="1143000" y="1904695"/>
            <a:ext cx="133502" cy="1333195"/>
          </a:xfrm>
          <a:prstGeom prst="rect">
            <a:avLst/>
          </a:prstGeom>
        </p:spPr>
      </p:pic>
      <p:pic>
        <p:nvPicPr>
          <p:cNvPr id="7" name="Image 3" descr="gen-dedup-256f49f7acd27fba2a2008fbd1e4ec97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619402" y="5905195"/>
            <a:ext cx="1143000" cy="28346"/>
          </a:xfrm>
          <a:prstGeom prst="rect">
            <a:avLst/>
          </a:prstGeom>
        </p:spPr>
      </p:pic>
      <p:pic>
        <p:nvPicPr>
          <p:cNvPr id="9" name="Image 4" descr="gen-dedup-8c8cfe17b0230c1d3fd669e946137195.png"/>
          <p:cNvPicPr>
            <a:picLocks noChangeAspect="1"/>
          </p:cNvPicPr>
          <p:nvPr/>
        </p:nvPicPr>
        <p:blipFill>
          <a:blip r:embed="rId6">
            <a:alphaModFix amt="40000"/>
          </a:blip>
          <a:srcRect l="-2083" r="-2083"/>
          <a:stretch/>
        </p:blipFill>
        <p:spPr>
          <a:xfrm>
            <a:off x="1143000" y="9144000"/>
            <a:ext cx="16002000" cy="9144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743407"/>
            <a:ext cx="8572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44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INSTRUCTOR WORKFLOW / PROCESS REDESIGN</a:t>
            </a:r>
            <a:endParaRPr lang="en-US" sz="1550" dirty="0"/>
          </a:p>
        </p:txBody>
      </p:sp>
      <p:sp>
        <p:nvSpPr>
          <p:cNvPr id="12" name="Text 4"/>
          <p:cNvSpPr txBox="1"/>
          <p:nvPr/>
        </p:nvSpPr>
        <p:spPr>
          <a:xfrm>
            <a:off x="13144500" y="743407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50" kern="0" spc="144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01 · 30 SLIDES</a:t>
            </a:r>
            <a:r>
              <a:rPr lang="en-US" altLang="ko-KR" sz="1550" kern="0" spc="144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en-US" sz="1550" kern="0" spc="144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endParaRPr lang="en-US" sz="1550" dirty="0"/>
          </a:p>
        </p:txBody>
      </p:sp>
      <p:sp>
        <p:nvSpPr>
          <p:cNvPr id="13" name="Text 5"/>
          <p:cNvSpPr txBox="1"/>
          <p:nvPr/>
        </p:nvSpPr>
        <p:spPr>
          <a:xfrm>
            <a:off x="1619402" y="1981505"/>
            <a:ext cx="11430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kern="0" spc="243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 · 강의는 무대 뒤에서 결정된다</a:t>
            </a:r>
            <a:endParaRPr lang="en-US" sz="1700" dirty="0"/>
          </a:p>
        </p:txBody>
      </p:sp>
      <p:sp>
        <p:nvSpPr>
          <p:cNvPr id="14" name="Text 6"/>
          <p:cNvSpPr txBox="1"/>
          <p:nvPr/>
        </p:nvSpPr>
        <p:spPr>
          <a:xfrm>
            <a:off x="1619402" y="2029384"/>
            <a:ext cx="152403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800" b="1" kern="0" spc="-177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강사 업무 프로세스</a:t>
            </a:r>
            <a:endParaRPr lang="en-US" sz="8800" dirty="0"/>
          </a:p>
        </p:txBody>
      </p:sp>
      <p:sp>
        <p:nvSpPr>
          <p:cNvPr id="15" name="Text 7"/>
          <p:cNvSpPr txBox="1"/>
          <p:nvPr/>
        </p:nvSpPr>
        <p:spPr>
          <a:xfrm>
            <a:off x="1619402" y="3638398"/>
            <a:ext cx="15240305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800" b="1" kern="0" spc="-177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개선과 사례 공유</a:t>
            </a:r>
            <a:endParaRPr lang="en-US" sz="8800" dirty="0"/>
          </a:p>
        </p:txBody>
      </p:sp>
      <p:sp>
        <p:nvSpPr>
          <p:cNvPr id="16" name="Text 8"/>
          <p:cNvSpPr txBox="1"/>
          <p:nvPr/>
        </p:nvSpPr>
        <p:spPr>
          <a:xfrm>
            <a:off x="1619403" y="5048402"/>
            <a:ext cx="884373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의뢰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요구분석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설계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제작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운영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피드백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정산</a:t>
            </a:r>
            <a:endParaRPr lang="en-US" sz="2650" dirty="0"/>
          </a:p>
        </p:txBody>
      </p:sp>
      <p:sp>
        <p:nvSpPr>
          <p:cNvPr id="17" name="Text 9"/>
          <p:cNvSpPr txBox="1"/>
          <p:nvPr/>
        </p:nvSpPr>
        <p:spPr>
          <a:xfrm>
            <a:off x="1619402" y="6191402"/>
            <a:ext cx="10478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kern="0" spc="108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오늘 강의의 결과물</a:t>
            </a:r>
            <a:endParaRPr lang="en-US" sz="1700" dirty="0"/>
          </a:p>
        </p:txBody>
      </p:sp>
      <p:sp>
        <p:nvSpPr>
          <p:cNvPr id="18" name="Text 10"/>
          <p:cNvSpPr txBox="1"/>
          <p:nvPr/>
        </p:nvSpPr>
        <p:spPr>
          <a:xfrm>
            <a:off x="1619402" y="6515100"/>
            <a:ext cx="109545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r>
              <a:rPr lang="en-US" sz="21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내 업무 흐름도 한 장 </a:t>
            </a:r>
            <a:r>
              <a:rPr lang="en-US" sz="21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r>
              <a:rPr lang="en-US" sz="21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표준화할 문서 1개 결정</a:t>
            </a:r>
            <a:endParaRPr lang="en-US" sz="2100" dirty="0"/>
          </a:p>
        </p:txBody>
      </p:sp>
      <p:sp>
        <p:nvSpPr>
          <p:cNvPr id="19" name="Text 11"/>
          <p:cNvSpPr txBox="1"/>
          <p:nvPr/>
        </p:nvSpPr>
        <p:spPr>
          <a:xfrm>
            <a:off x="1619402" y="6991502"/>
            <a:ext cx="5942059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r>
              <a:rPr lang="en-US" sz="21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AI에게 맡길 업무 1개 + 본인 프롬프트 1개</a:t>
            </a:r>
            <a:endParaRPr lang="en-US" sz="2100" dirty="0"/>
          </a:p>
        </p:txBody>
      </p:sp>
      <p:sp>
        <p:nvSpPr>
          <p:cNvPr id="20" name="Text 12"/>
          <p:cNvSpPr txBox="1"/>
          <p:nvPr/>
        </p:nvSpPr>
        <p:spPr>
          <a:xfrm>
            <a:off x="1619402" y="7905902"/>
            <a:ext cx="506621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“좋은 강사는 강의장에서가 아니라,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 전 책상에서 만들어진다.”</a:t>
            </a:r>
            <a:endParaRPr lang="en-US" sz="2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DA6D6F4-8B6B-2260-830B-14E8EAFA867C}"/>
              </a:ext>
            </a:extLst>
          </p:cNvPr>
          <p:cNvGrpSpPr/>
          <p:nvPr/>
        </p:nvGrpSpPr>
        <p:grpSpPr>
          <a:xfrm>
            <a:off x="11782269" y="5152314"/>
            <a:ext cx="5362731" cy="2476195"/>
            <a:chOff x="12763195" y="6191402"/>
            <a:chExt cx="4381805" cy="2476195"/>
          </a:xfrm>
        </p:grpSpPr>
        <p:sp>
          <p:nvSpPr>
            <p:cNvPr id="8" name="Shape 2"/>
            <p:cNvSpPr/>
            <p:nvPr/>
          </p:nvSpPr>
          <p:spPr>
            <a:xfrm>
              <a:off x="12763195" y="6191402"/>
              <a:ext cx="4381805" cy="2476195"/>
            </a:xfrm>
            <a:prstGeom prst="rect">
              <a:avLst/>
            </a:prstGeom>
            <a:solidFill>
              <a:srgbClr val="2E2D2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" name="Image 5" descr="gen-dedup-3a59513324e0587d45f28f60f773b0ce.png"/>
            <p:cNvPicPr>
              <a:picLocks noChangeAspect="1"/>
            </p:cNvPicPr>
            <p:nvPr/>
          </p:nvPicPr>
          <p:blipFill>
            <a:blip r:embed="rId7"/>
            <a:srcRect l="-406" r="-406"/>
            <a:stretch/>
          </p:blipFill>
          <p:spPr>
            <a:xfrm>
              <a:off x="12763195" y="6191402"/>
              <a:ext cx="57607" cy="2476195"/>
            </a:xfrm>
            <a:prstGeom prst="rect">
              <a:avLst/>
            </a:prstGeom>
          </p:spPr>
        </p:pic>
        <p:sp>
          <p:nvSpPr>
            <p:cNvPr id="21" name="Text 13"/>
            <p:cNvSpPr txBox="1"/>
            <p:nvPr/>
          </p:nvSpPr>
          <p:spPr>
            <a:xfrm>
              <a:off x="13049402" y="6420002"/>
              <a:ext cx="390540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1500" kern="0" spc="156" dirty="0">
                  <a:solidFill>
                    <a:srgbClr val="F4F1E8">
                      <a:alpha val="65000"/>
                    </a:srgbClr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FOR · AUDIENCE</a:t>
              </a:r>
              <a:endParaRPr lang="en-US" sz="1500" dirty="0"/>
            </a:p>
          </p:txBody>
        </p:sp>
        <p:sp>
          <p:nvSpPr>
            <p:cNvPr id="22" name="Text 14"/>
            <p:cNvSpPr txBox="1"/>
            <p:nvPr/>
          </p:nvSpPr>
          <p:spPr>
            <a:xfrm>
              <a:off x="13049402" y="6724498"/>
              <a:ext cx="3905402" cy="762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2650" b="1" dirty="0">
                  <a:solidFill>
                    <a:srgbClr val="F4F1E8"/>
                  </a:solidFill>
                  <a:latin typeface="Source Serif Pro" pitchFamily="34" charset="0"/>
                  <a:ea typeface="Source Serif Pro" pitchFamily="34" charset="-122"/>
                  <a:cs typeface="Source Serif Pro" pitchFamily="34" charset="-120"/>
                </a:rPr>
                <a:t>신규 강사,</a:t>
              </a:r>
              <a:endParaRPr lang="en-US" sz="2650" dirty="0"/>
            </a:p>
            <a:p>
              <a:pPr marL="0" indent="0" algn="l">
                <a:lnSpc>
                  <a:spcPct val="110000"/>
                </a:lnSpc>
                <a:buNone/>
              </a:pPr>
              <a:r>
                <a:rPr lang="en-US" sz="2650" b="1" dirty="0">
                  <a:solidFill>
                    <a:srgbClr val="F4F1E8"/>
                  </a:solidFill>
                  <a:latin typeface="Source Serif Pro" pitchFamily="34" charset="0"/>
                  <a:ea typeface="Source Serif Pro" pitchFamily="34" charset="-122"/>
                  <a:cs typeface="Source Serif Pro" pitchFamily="34" charset="-120"/>
                </a:rPr>
                <a:t>강의 경력 0에서 시작</a:t>
              </a:r>
              <a:endParaRPr lang="en-US" sz="2650" dirty="0"/>
            </a:p>
          </p:txBody>
        </p:sp>
        <p:sp>
          <p:nvSpPr>
            <p:cNvPr id="23" name="Text 15"/>
            <p:cNvSpPr txBox="1"/>
            <p:nvPr/>
          </p:nvSpPr>
          <p:spPr>
            <a:xfrm>
              <a:off x="13049402" y="7677302"/>
              <a:ext cx="3905402" cy="8577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1550" dirty="0">
                  <a:solidFill>
                    <a:srgbClr val="F4F1E8">
                      <a:alpha val="82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구체적·반복 가능·바로 따라 할 수 있는 형태로.</a:t>
              </a:r>
              <a:endParaRPr lang="en-US" sz="1550" dirty="0"/>
            </a:p>
            <a:p>
              <a:pPr marL="0" indent="0" algn="l">
                <a:lnSpc>
                  <a:spcPct val="110000"/>
                </a:lnSpc>
                <a:buNone/>
              </a:pPr>
              <a:r>
                <a:rPr lang="en-US" sz="1550" dirty="0">
                  <a:solidFill>
                    <a:srgbClr val="F4F1E8">
                      <a:alpha val="82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오늘 안에 본인의 업무 한 줄이 바뀐다.</a:t>
              </a:r>
              <a:endParaRPr lang="en-US" sz="1550" dirty="0"/>
            </a:p>
          </p:txBody>
        </p:sp>
      </p:grpSp>
      <p:sp>
        <p:nvSpPr>
          <p:cNvPr id="24" name="Text 16"/>
          <p:cNvSpPr txBox="1"/>
          <p:nvPr/>
        </p:nvSpPr>
        <p:spPr>
          <a:xfrm>
            <a:off x="1143000" y="9334195"/>
            <a:ext cx="10478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26" dirty="0">
                <a:solidFill>
                  <a:srgbClr val="2E2D29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DECK · 발표 자료 | </a:t>
            </a:r>
            <a:r>
              <a:rPr lang="en-US" sz="1500" kern="0" spc="126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2회 포함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4097305" y="9334195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kern="0" spc="126" dirty="0">
                <a:solidFill>
                  <a:srgbClr val="2E2D29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60</a:t>
            </a:r>
            <a:endParaRPr lang="en-US" sz="15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B22DFB88-51EF-8079-A431-6D9E8004A973}"/>
              </a:ext>
            </a:extLst>
          </p:cNvPr>
          <p:cNvSpPr txBox="1"/>
          <p:nvPr/>
        </p:nvSpPr>
        <p:spPr>
          <a:xfrm>
            <a:off x="8634334" y="8106486"/>
            <a:ext cx="8578821" cy="6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Ph.D. 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이애본 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(드림아이티비즈(DreamIT Biz)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altLang="ko-KR" sz="2400" b="1" kern="0" spc="144" dirty="0" err="1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aebon@dreamitbiz.com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400" b="1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6314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4000500"/>
            <a:ext cx="3829507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d62776392b1bc6feebd37cfd80421698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447495" y="5715000"/>
            <a:ext cx="476402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43500" y="4000500"/>
            <a:ext cx="3829507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d62776392b1bc6feebd37cfd80421698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5447995" y="5715000"/>
            <a:ext cx="476402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144000" y="4000500"/>
            <a:ext cx="3829507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d62776392b1bc6feebd37cfd80421698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9448495" y="5715000"/>
            <a:ext cx="476402" cy="2834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3144500" y="4000500"/>
            <a:ext cx="4000500" cy="45720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f9c4ee4670abd4f2604d62cf7153445d.png"/>
          <p:cNvPicPr>
            <a:picLocks noChangeAspect="1"/>
          </p:cNvPicPr>
          <p:nvPr/>
        </p:nvPicPr>
        <p:blipFill>
          <a:blip r:embed="rId5"/>
          <a:srcRect l="-420" r="-420"/>
          <a:stretch/>
        </p:blipFill>
        <p:spPr>
          <a:xfrm>
            <a:off x="13448995" y="5715000"/>
            <a:ext cx="476402" cy="28346"/>
          </a:xfrm>
          <a:prstGeom prst="rect">
            <a:avLst/>
          </a:prstGeom>
        </p:spPr>
      </p:pic>
      <p:pic>
        <p:nvPicPr>
          <p:cNvPr id="13" name="Image 5" descr="gen-dedup-93e696e63c51faf6e15ea5e32f34ad81.png"/>
          <p:cNvPicPr>
            <a:picLocks noChangeAspect="1"/>
          </p:cNvPicPr>
          <p:nvPr/>
        </p:nvPicPr>
        <p:blipFill>
          <a:blip r:embed="rId6"/>
          <a:srcRect l="-205" r="-205"/>
          <a:stretch/>
        </p:blipFill>
        <p:spPr>
          <a:xfrm>
            <a:off x="1143000" y="4000500"/>
            <a:ext cx="3810305" cy="75895"/>
          </a:xfrm>
          <a:prstGeom prst="rect">
            <a:avLst/>
          </a:prstGeom>
        </p:spPr>
      </p:pic>
      <p:pic>
        <p:nvPicPr>
          <p:cNvPr id="14" name="Image 6" descr="gen-dedup-93e696e63c51faf6e15ea5e32f34ad81.png"/>
          <p:cNvPicPr>
            <a:picLocks noChangeAspect="1"/>
          </p:cNvPicPr>
          <p:nvPr/>
        </p:nvPicPr>
        <p:blipFill>
          <a:blip r:embed="rId6"/>
          <a:srcRect l="-205" r="-205"/>
          <a:stretch/>
        </p:blipFill>
        <p:spPr>
          <a:xfrm>
            <a:off x="5143500" y="4000500"/>
            <a:ext cx="3810305" cy="75895"/>
          </a:xfrm>
          <a:prstGeom prst="rect">
            <a:avLst/>
          </a:prstGeom>
        </p:spPr>
      </p:pic>
      <p:pic>
        <p:nvPicPr>
          <p:cNvPr id="15" name="Image 7" descr="gen-dedup-93e696e63c51faf6e15ea5e32f34ad81.png"/>
          <p:cNvPicPr>
            <a:picLocks noChangeAspect="1"/>
          </p:cNvPicPr>
          <p:nvPr/>
        </p:nvPicPr>
        <p:blipFill>
          <a:blip r:embed="rId6"/>
          <a:srcRect l="-205" r="-205"/>
          <a:stretch/>
        </p:blipFill>
        <p:spPr>
          <a:xfrm>
            <a:off x="9144000" y="4000500"/>
            <a:ext cx="3810305" cy="75895"/>
          </a:xfrm>
          <a:prstGeom prst="rect">
            <a:avLst/>
          </a:prstGeom>
        </p:spPr>
      </p:pic>
      <p:pic>
        <p:nvPicPr>
          <p:cNvPr id="16" name="Image 8" descr="gen-dedup-b70c90a24c6b5ce304b339609b734b8c.png"/>
          <p:cNvPicPr>
            <a:picLocks noChangeAspect="1"/>
          </p:cNvPicPr>
          <p:nvPr/>
        </p:nvPicPr>
        <p:blipFill>
          <a:blip r:embed="rId7"/>
          <a:srcRect l="-201" r="-201"/>
          <a:stretch/>
        </p:blipFill>
        <p:spPr>
          <a:xfrm>
            <a:off x="13144500" y="4000500"/>
            <a:ext cx="4000500" cy="7589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WHY PROCESS · 강사에게 프로세스가 없을 때 일어나는 일</a:t>
            </a:r>
            <a:endParaRPr lang="en-US" sz="1550" dirty="0"/>
          </a:p>
        </p:txBody>
      </p:sp>
      <p:sp>
        <p:nvSpPr>
          <p:cNvPr id="18" name="Text 7"/>
          <p:cNvSpPr txBox="1"/>
          <p:nvPr/>
        </p:nvSpPr>
        <p:spPr>
          <a:xfrm>
            <a:off x="1143000" y="1524305"/>
            <a:ext cx="11430000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b="1" kern="0" spc="-54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매번 처음부터 만든다면,</a:t>
            </a:r>
            <a:endParaRPr lang="en-US" sz="4800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2361895"/>
            <a:ext cx="14287500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b="1" kern="0" spc="-54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매번 처음 강사가 된다.</a:t>
            </a:r>
            <a:endParaRPr lang="en-US" sz="4800" dirty="0"/>
          </a:p>
        </p:txBody>
      </p:sp>
      <p:sp>
        <p:nvSpPr>
          <p:cNvPr id="20" name="Text 9"/>
          <p:cNvSpPr txBox="1"/>
          <p:nvPr/>
        </p:nvSpPr>
        <p:spPr>
          <a:xfrm>
            <a:off x="1143000" y="3409798"/>
            <a:ext cx="1428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2E2D29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가정 · 본 강의는 이제 막 출발하는 신규 강사를 기준으로 작성됨</a:t>
            </a:r>
            <a:endParaRPr lang="en-US" sz="2200" dirty="0"/>
          </a:p>
        </p:txBody>
      </p:sp>
      <p:sp>
        <p:nvSpPr>
          <p:cNvPr id="21" name="Text 10"/>
          <p:cNvSpPr txBox="1"/>
          <p:nvPr/>
        </p:nvSpPr>
        <p:spPr>
          <a:xfrm>
            <a:off x="1447495" y="4324198"/>
            <a:ext cx="3143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문제 01</a:t>
            </a:r>
            <a:endParaRPr lang="en-US" sz="1900" dirty="0"/>
          </a:p>
        </p:txBody>
      </p:sp>
      <p:sp>
        <p:nvSpPr>
          <p:cNvPr id="22" name="Text 11"/>
          <p:cNvSpPr txBox="1"/>
          <p:nvPr/>
        </p:nvSpPr>
        <p:spPr>
          <a:xfrm>
            <a:off x="1447495" y="4647895"/>
            <a:ext cx="31437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 품질이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매번 달라진다</a:t>
            </a:r>
            <a:endParaRPr lang="en-US" sz="2400" dirty="0"/>
          </a:p>
        </p:txBody>
      </p:sp>
      <p:sp>
        <p:nvSpPr>
          <p:cNvPr id="23" name="Text 12"/>
          <p:cNvSpPr txBox="1"/>
          <p:nvPr/>
        </p:nvSpPr>
        <p:spPr>
          <a:xfrm>
            <a:off x="1252625" y="5924398"/>
            <a:ext cx="3655710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 주제를 두 번째 강의할 때, 첫 번째보다 더 좋아져야 정상입니다.</a:t>
            </a:r>
            <a:endParaRPr lang="en-US" dirty="0"/>
          </a:p>
          <a:p>
            <a:pPr marL="0" indent="0" algn="just">
              <a:lnSpc>
                <a:spcPct val="110000"/>
              </a:lnSpc>
              <a:buNone/>
            </a:pPr>
            <a:endParaRPr lang="en-US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표준이 없으면 매번 “기분 </a:t>
            </a:r>
            <a:r>
              <a:rPr lang="en-US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좋게</a:t>
            </a: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잘된</a:t>
            </a: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날 / 망친 날”이 운에 맡겨집니다.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</a:t>
            </a: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입장에선 누구를 만나느냐의 문제가 됩니다.</a:t>
            </a:r>
            <a:endParaRPr lang="en-US" dirty="0"/>
          </a:p>
        </p:txBody>
      </p:sp>
      <p:sp>
        <p:nvSpPr>
          <p:cNvPr id="24" name="Text 13"/>
          <p:cNvSpPr txBox="1"/>
          <p:nvPr/>
        </p:nvSpPr>
        <p:spPr>
          <a:xfrm>
            <a:off x="5447995" y="4324198"/>
            <a:ext cx="3143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문제 02</a:t>
            </a:r>
            <a:endParaRPr lang="en-US" sz="1900" dirty="0"/>
          </a:p>
        </p:txBody>
      </p:sp>
      <p:sp>
        <p:nvSpPr>
          <p:cNvPr id="25" name="Text 14"/>
          <p:cNvSpPr txBox="1"/>
          <p:nvPr/>
        </p:nvSpPr>
        <p:spPr>
          <a:xfrm>
            <a:off x="5447995" y="4647895"/>
            <a:ext cx="31437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같은 일을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반복해서 한다</a:t>
            </a:r>
            <a:endParaRPr lang="en-US" sz="2400" dirty="0"/>
          </a:p>
        </p:txBody>
      </p:sp>
      <p:sp>
        <p:nvSpPr>
          <p:cNvPr id="26" name="Text 15"/>
          <p:cNvSpPr txBox="1"/>
          <p:nvPr/>
        </p:nvSpPr>
        <p:spPr>
          <a:xfrm>
            <a:off x="5277002" y="5924398"/>
            <a:ext cx="3537214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의뢰 메일에 답장,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비슷한</a:t>
            </a: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제안서 작성, 만족도 정리.</a:t>
            </a:r>
            <a:endParaRPr lang="en-US" dirty="0"/>
          </a:p>
          <a:p>
            <a:pPr marL="0" indent="0" algn="just">
              <a:lnSpc>
                <a:spcPct val="110000"/>
              </a:lnSpc>
              <a:buNone/>
            </a:pPr>
            <a:endParaRPr lang="en-US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매번 “비슷한데 조금 다른” 작업을 새로 합니다.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</a:t>
            </a: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번 만들어두면 5분에 끝날 일을 한 시간씩 쓰게 됩니다.</a:t>
            </a:r>
            <a:endParaRPr lang="en-US" dirty="0"/>
          </a:p>
        </p:txBody>
      </p:sp>
      <p:sp>
        <p:nvSpPr>
          <p:cNvPr id="27" name="Text 16"/>
          <p:cNvSpPr txBox="1"/>
          <p:nvPr/>
        </p:nvSpPr>
        <p:spPr>
          <a:xfrm>
            <a:off x="9448495" y="4324198"/>
            <a:ext cx="3143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문제 03</a:t>
            </a:r>
            <a:endParaRPr lang="en-US" sz="1900" dirty="0"/>
          </a:p>
        </p:txBody>
      </p:sp>
      <p:sp>
        <p:nvSpPr>
          <p:cNvPr id="28" name="Text 17"/>
          <p:cNvSpPr txBox="1"/>
          <p:nvPr/>
        </p:nvSpPr>
        <p:spPr>
          <a:xfrm>
            <a:off x="9448495" y="4647895"/>
            <a:ext cx="31437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시간을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장악하지 못한다</a:t>
            </a:r>
            <a:endParaRPr lang="en-US" sz="2400" dirty="0"/>
          </a:p>
        </p:txBody>
      </p:sp>
      <p:sp>
        <p:nvSpPr>
          <p:cNvPr id="29" name="Text 18"/>
          <p:cNvSpPr txBox="1"/>
          <p:nvPr/>
        </p:nvSpPr>
        <p:spPr>
          <a:xfrm>
            <a:off x="9277502" y="5924398"/>
            <a:ext cx="3676803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“언제 끝날지 모르는 작업”이 가장 비쌉니다.</a:t>
            </a:r>
            <a:endParaRPr lang="en-US" dirty="0"/>
          </a:p>
          <a:p>
            <a:pPr marL="0" indent="0" algn="just">
              <a:lnSpc>
                <a:spcPct val="110000"/>
              </a:lnSpc>
              <a:buNone/>
            </a:pPr>
            <a:endParaRPr lang="en-US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의뢰가 들어오면 다음 일정이 막혀 새 의뢰를 거절하게 됩니다. 시간을 못 쥐면 수익도, 휴식도 못 쥡니다.</a:t>
            </a:r>
            <a:endParaRPr lang="en-US" dirty="0"/>
          </a:p>
        </p:txBody>
      </p:sp>
      <p:sp>
        <p:nvSpPr>
          <p:cNvPr id="30" name="Text 19"/>
          <p:cNvSpPr txBox="1"/>
          <p:nvPr/>
        </p:nvSpPr>
        <p:spPr>
          <a:xfrm>
            <a:off x="13448995" y="43241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kern="0" spc="168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결국 — 수익성</a:t>
            </a:r>
            <a:endParaRPr lang="en-US" sz="1900" dirty="0"/>
          </a:p>
        </p:txBody>
      </p:sp>
      <p:sp>
        <p:nvSpPr>
          <p:cNvPr id="31" name="Text 20"/>
          <p:cNvSpPr txBox="1"/>
          <p:nvPr/>
        </p:nvSpPr>
        <p:spPr>
          <a:xfrm>
            <a:off x="13448995" y="4647895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같은 강의료,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다른 순이익</a:t>
            </a:r>
            <a:endParaRPr lang="en-US" sz="2400" dirty="0"/>
          </a:p>
        </p:txBody>
      </p:sp>
      <p:sp>
        <p:nvSpPr>
          <p:cNvPr id="32" name="Text 21"/>
          <p:cNvSpPr txBox="1"/>
          <p:nvPr/>
        </p:nvSpPr>
        <p:spPr>
          <a:xfrm>
            <a:off x="13278002" y="5924398"/>
            <a:ext cx="3720843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dirty="0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강의료가 50만 원이어도, </a:t>
            </a:r>
            <a:r>
              <a:rPr lang="en-US" dirty="0" err="1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준비에</a:t>
            </a:r>
            <a:r>
              <a:rPr lang="en-US" dirty="0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12시간이 들면 시급은 4만 원입니다.</a:t>
            </a:r>
            <a:endParaRPr lang="en-US" dirty="0"/>
          </a:p>
          <a:p>
            <a:pPr marL="0" indent="0" algn="just">
              <a:lnSpc>
                <a:spcPct val="110000"/>
              </a:lnSpc>
              <a:buNone/>
            </a:pPr>
            <a:endParaRPr lang="en-US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>
                <a:solidFill>
                  <a:srgbClr val="FFBD2E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프로세스가 있는 강사는 같은 50만원으로 시급 10만 원을 만듭니다.</a:t>
            </a:r>
            <a:r>
              <a:rPr lang="en-US" dirty="0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 err="1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차이는</a:t>
            </a:r>
            <a:r>
              <a:rPr lang="en-US" dirty="0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무대가 아니라 책상에서.</a:t>
            </a:r>
            <a:endParaRPr lang="en-US" dirty="0"/>
          </a:p>
        </p:txBody>
      </p:sp>
      <p:sp>
        <p:nvSpPr>
          <p:cNvPr id="33" name="Text 22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02 / 60</a:t>
            </a:r>
            <a:endParaRPr lang="en-US" sz="15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3158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619195"/>
            <a:ext cx="3638398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6" name="Image 1" descr="gen-dedup-f841319f9513edff3b6b6c59542857e4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447495" y="5029200"/>
            <a:ext cx="571500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447495" y="7810805"/>
            <a:ext cx="3047695" cy="571500"/>
          </a:xfrm>
          <a:prstGeom prst="rect">
            <a:avLst/>
          </a:prstGeom>
          <a:solidFill>
            <a:srgbClr val="F4F1E8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8" name="Shape 4"/>
          <p:cNvSpPr/>
          <p:nvPr/>
        </p:nvSpPr>
        <p:spPr>
          <a:xfrm>
            <a:off x="1447495" y="7810805"/>
            <a:ext cx="38405" cy="57150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9" name="Image 2" descr="gen-dedup-91a2f239d1336430ae6ea20b18c3e4a3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5715000" y="3619195"/>
            <a:ext cx="11430000" cy="4953305"/>
          </a:xfrm>
          <a:prstGeom prst="rect">
            <a:avLst/>
          </a:prstGeom>
        </p:spPr>
      </p:pic>
      <p:pic>
        <p:nvPicPr>
          <p:cNvPr id="10" name="Image 3" descr="gen-dedup-ddc0b6d0471db9ae37ab1c2d853ed67e.png"/>
          <p:cNvPicPr>
            <a:picLocks noChangeAspect="1"/>
          </p:cNvPicPr>
          <p:nvPr/>
        </p:nvPicPr>
        <p:blipFill>
          <a:blip r:embed="rId6">
            <a:alphaModFix amt="18000"/>
          </a:blip>
          <a:srcRect l="-2083" r="-2083"/>
          <a:stretch/>
        </p:blipFill>
        <p:spPr>
          <a:xfrm>
            <a:off x="5982005" y="4172407"/>
            <a:ext cx="10858500" cy="9144"/>
          </a:xfrm>
          <a:prstGeom prst="rect">
            <a:avLst/>
          </a:prstGeom>
        </p:spPr>
      </p:pic>
      <p:pic>
        <p:nvPicPr>
          <p:cNvPr id="11" name="Image 4" descr="gen-dedup-ddc0b6d0471db9ae37ab1c2d853ed67e.png"/>
          <p:cNvPicPr>
            <a:picLocks noChangeAspect="1"/>
          </p:cNvPicPr>
          <p:nvPr/>
        </p:nvPicPr>
        <p:blipFill>
          <a:blip r:embed="rId6">
            <a:alphaModFix amt="12000"/>
          </a:blip>
          <a:srcRect l="-2083" r="-2083"/>
          <a:stretch/>
        </p:blipFill>
        <p:spPr>
          <a:xfrm>
            <a:off x="5982005" y="5296205"/>
            <a:ext cx="10858500" cy="9144"/>
          </a:xfrm>
          <a:prstGeom prst="rect">
            <a:avLst/>
          </a:prstGeom>
        </p:spPr>
      </p:pic>
      <p:pic>
        <p:nvPicPr>
          <p:cNvPr id="12" name="Image 5" descr="gen-dedup-ddc0b6d0471db9ae37ab1c2d853ed67e.png"/>
          <p:cNvPicPr>
            <a:picLocks noChangeAspect="1"/>
          </p:cNvPicPr>
          <p:nvPr/>
        </p:nvPicPr>
        <p:blipFill>
          <a:blip r:embed="rId6">
            <a:alphaModFix amt="12000"/>
          </a:blip>
          <a:srcRect l="-2083" r="-2083"/>
          <a:stretch/>
        </p:blipFill>
        <p:spPr>
          <a:xfrm>
            <a:off x="5982005" y="6381598"/>
            <a:ext cx="10858500" cy="9144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5982005" y="7524598"/>
            <a:ext cx="10896905" cy="800100"/>
          </a:xfrm>
          <a:prstGeom prst="rect">
            <a:avLst/>
          </a:prstGeom>
          <a:solidFill>
            <a:srgbClr val="8C1515">
              <a:alpha val="15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Shape 6"/>
          <p:cNvSpPr/>
          <p:nvPr/>
        </p:nvSpPr>
        <p:spPr>
          <a:xfrm>
            <a:off x="5982005" y="7524598"/>
            <a:ext cx="38405" cy="80010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5" name="Text 7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SCOPE OF WORK · 강의 당일은 빙산의 일각</a:t>
            </a:r>
            <a:endParaRPr lang="en-US" sz="155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1580998"/>
            <a:ext cx="12382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무대 위 2시간 뒤에 있는,</a:t>
            </a:r>
            <a:endParaRPr lang="en-US" sz="45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2343607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7개의 보이지 않는 일.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447495" y="3847795"/>
            <a:ext cx="3010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kern="0" spc="168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수강생이 보는 부분</a:t>
            </a:r>
            <a:endParaRPr lang="en-US" sz="1600" dirty="0"/>
          </a:p>
        </p:txBody>
      </p:sp>
      <p:sp>
        <p:nvSpPr>
          <p:cNvPr id="19" name="Text 11"/>
          <p:cNvSpPr txBox="1"/>
          <p:nvPr/>
        </p:nvSpPr>
        <p:spPr>
          <a:xfrm>
            <a:off x="1447495" y="4153205"/>
            <a:ext cx="30102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 당일</a:t>
            </a:r>
            <a:endParaRPr lang="en-US" sz="3200" dirty="0"/>
          </a:p>
        </p:txBody>
      </p:sp>
      <p:sp>
        <p:nvSpPr>
          <p:cNvPr id="20" name="Text 12"/>
          <p:cNvSpPr txBox="1"/>
          <p:nvPr/>
        </p:nvSpPr>
        <p:spPr>
          <a:xfrm>
            <a:off x="1447495" y="5296205"/>
            <a:ext cx="3010205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실제 강의 진행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Q&amp;A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실습 진행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업무의 일부</a:t>
            </a:r>
            <a:endParaRPr lang="en-US" dirty="0"/>
          </a:p>
        </p:txBody>
      </p:sp>
      <p:sp>
        <p:nvSpPr>
          <p:cNvPr id="21" name="Text 13"/>
          <p:cNvSpPr txBox="1"/>
          <p:nvPr/>
        </p:nvSpPr>
        <p:spPr>
          <a:xfrm>
            <a:off x="1580998" y="7962595"/>
            <a:ext cx="27624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수강생이 평가하는 부분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4858207" y="5715000"/>
            <a:ext cx="7626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4400" dirty="0"/>
          </a:p>
        </p:txBody>
      </p:sp>
      <p:sp>
        <p:nvSpPr>
          <p:cNvPr id="23" name="Text 15"/>
          <p:cNvSpPr txBox="1"/>
          <p:nvPr/>
        </p:nvSpPr>
        <p:spPr>
          <a:xfrm>
            <a:off x="5982005" y="3847795"/>
            <a:ext cx="10858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kern="0" spc="168" dirty="0">
                <a:solidFill>
                  <a:srgbClr val="F4F1E8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수강생이 보지 못하는 부분 · 전체 업무의 대부분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5982005" y="4419295"/>
            <a:ext cx="762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400" dirty="0"/>
          </a:p>
        </p:txBody>
      </p:sp>
      <p:sp>
        <p:nvSpPr>
          <p:cNvPr id="25" name="Text 17"/>
          <p:cNvSpPr txBox="1"/>
          <p:nvPr/>
        </p:nvSpPr>
        <p:spPr>
          <a:xfrm>
            <a:off x="6705295" y="4419295"/>
            <a:ext cx="2286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의뢰 응대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6705294" y="4724706"/>
            <a:ext cx="2438705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메일 받기, 일정 협의, 견적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9334195" y="4419295"/>
            <a:ext cx="762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400" dirty="0"/>
          </a:p>
        </p:txBody>
      </p:sp>
      <p:sp>
        <p:nvSpPr>
          <p:cNvPr id="28" name="Text 20"/>
          <p:cNvSpPr txBox="1"/>
          <p:nvPr/>
        </p:nvSpPr>
        <p:spPr>
          <a:xfrm>
            <a:off x="10058400" y="4419295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제안서 작성</a:t>
            </a:r>
            <a:endParaRPr lang="en-US" sz="2400" dirty="0"/>
          </a:p>
        </p:txBody>
      </p:sp>
      <p:sp>
        <p:nvSpPr>
          <p:cNvPr id="29" name="Text 21"/>
          <p:cNvSpPr txBox="1"/>
          <p:nvPr/>
        </p:nvSpPr>
        <p:spPr>
          <a:xfrm>
            <a:off x="10058400" y="472470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교육 목표·과정·기대효과 정리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13144500" y="4419295"/>
            <a:ext cx="762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13868705" y="4419295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커리큘럼 기획</a:t>
            </a:r>
            <a:endParaRPr lang="en-US" sz="2400" dirty="0"/>
          </a:p>
        </p:txBody>
      </p:sp>
      <p:sp>
        <p:nvSpPr>
          <p:cNvPr id="32" name="Text 24"/>
          <p:cNvSpPr txBox="1"/>
          <p:nvPr/>
        </p:nvSpPr>
        <p:spPr>
          <a:xfrm>
            <a:off x="13868705" y="472470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시간 배분, 학습 목표 설계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5982005" y="5524805"/>
            <a:ext cx="762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400" dirty="0"/>
          </a:p>
        </p:txBody>
      </p:sp>
      <p:sp>
        <p:nvSpPr>
          <p:cNvPr id="34" name="Text 26"/>
          <p:cNvSpPr txBox="1"/>
          <p:nvPr/>
        </p:nvSpPr>
        <p:spPr>
          <a:xfrm>
            <a:off x="6705295" y="5524805"/>
            <a:ext cx="2286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자료 제작</a:t>
            </a:r>
            <a:endParaRPr lang="en-US" sz="2400" dirty="0"/>
          </a:p>
        </p:txBody>
      </p:sp>
      <p:sp>
        <p:nvSpPr>
          <p:cNvPr id="35" name="Text 27"/>
          <p:cNvSpPr txBox="1"/>
          <p:nvPr/>
        </p:nvSpPr>
        <p:spPr>
          <a:xfrm>
            <a:off x="6705295" y="5829300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강의안·실습지·배포물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9334195" y="5524805"/>
            <a:ext cx="762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10058400" y="5524805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현장 운영</a:t>
            </a:r>
            <a:endParaRPr lang="en-US" sz="2400" dirty="0"/>
          </a:p>
        </p:txBody>
      </p:sp>
      <p:sp>
        <p:nvSpPr>
          <p:cNvPr id="38" name="Text 30"/>
          <p:cNvSpPr txBox="1"/>
          <p:nvPr/>
        </p:nvSpPr>
        <p:spPr>
          <a:xfrm>
            <a:off x="10058400" y="5829300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출석·장비·시간·돌발 대응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13144500" y="5524805"/>
            <a:ext cx="762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400" dirty="0"/>
          </a:p>
        </p:txBody>
      </p:sp>
      <p:sp>
        <p:nvSpPr>
          <p:cNvPr id="40" name="Text 32"/>
          <p:cNvSpPr txBox="1"/>
          <p:nvPr/>
        </p:nvSpPr>
        <p:spPr>
          <a:xfrm>
            <a:off x="13868705" y="5524805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평가·만족도</a:t>
            </a:r>
            <a:endParaRPr lang="en-US" sz="2400" dirty="0"/>
          </a:p>
        </p:txBody>
      </p:sp>
      <p:sp>
        <p:nvSpPr>
          <p:cNvPr id="41" name="Text 33"/>
          <p:cNvSpPr txBox="1"/>
          <p:nvPr/>
        </p:nvSpPr>
        <p:spPr>
          <a:xfrm>
            <a:off x="13868705" y="5829300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설문 회수, 의견 분류, 보고</a:t>
            </a:r>
            <a:endParaRPr lang="en-US" sz="1600" dirty="0"/>
          </a:p>
        </p:txBody>
      </p:sp>
      <p:sp>
        <p:nvSpPr>
          <p:cNvPr id="42" name="Text 34"/>
          <p:cNvSpPr txBox="1"/>
          <p:nvPr/>
        </p:nvSpPr>
        <p:spPr>
          <a:xfrm>
            <a:off x="5982005" y="6629400"/>
            <a:ext cx="762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2400" dirty="0"/>
          </a:p>
        </p:txBody>
      </p:sp>
      <p:sp>
        <p:nvSpPr>
          <p:cNvPr id="43" name="Text 35"/>
          <p:cNvSpPr txBox="1"/>
          <p:nvPr/>
        </p:nvSpPr>
        <p:spPr>
          <a:xfrm>
            <a:off x="6705295" y="6629400"/>
            <a:ext cx="10478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정산·세무·후속</a:t>
            </a:r>
            <a:endParaRPr lang="en-US" sz="2400" dirty="0"/>
          </a:p>
        </p:txBody>
      </p:sp>
      <p:sp>
        <p:nvSpPr>
          <p:cNvPr id="44" name="Text 36"/>
          <p:cNvSpPr txBox="1"/>
          <p:nvPr/>
        </p:nvSpPr>
        <p:spPr>
          <a:xfrm>
            <a:off x="6705295" y="6933895"/>
            <a:ext cx="10287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세금계산서, 입금 확인, 결과보고서, 다음 의뢰로 이어지는 후속 연락</a:t>
            </a:r>
            <a:endParaRPr lang="en-US" sz="1600" dirty="0"/>
          </a:p>
        </p:txBody>
      </p:sp>
      <p:sp>
        <p:nvSpPr>
          <p:cNvPr id="45" name="Text 37"/>
          <p:cNvSpPr txBox="1"/>
          <p:nvPr/>
        </p:nvSpPr>
        <p:spPr>
          <a:xfrm>
            <a:off x="6210605" y="7677302"/>
            <a:ext cx="103830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7개 중 </a:t>
            </a:r>
            <a:r>
              <a:rPr lang="en-US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개라도 ‘매번 새로 만든다’</a:t>
            </a:r>
            <a:r>
              <a:rPr lang="en-US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면, 그 한 개가 당신의 다음 의뢰를 막고 </a:t>
            </a:r>
            <a:r>
              <a:rPr lang="en-US" dirty="0" err="1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있는</a:t>
            </a:r>
            <a:r>
              <a:rPr lang="en-US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일입니다</a:t>
            </a:r>
            <a:r>
              <a:rPr lang="en-US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sp>
        <p:nvSpPr>
          <p:cNvPr id="46" name="Text 38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03 / 60</a:t>
            </a:r>
            <a:endParaRPr lang="en-US" sz="15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3107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33195" y="3429000"/>
            <a:ext cx="2467051" cy="156179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6" name="Shape 3"/>
          <p:cNvSpPr/>
          <p:nvPr/>
        </p:nvSpPr>
        <p:spPr>
          <a:xfrm>
            <a:off x="3972154" y="3429000"/>
            <a:ext cx="2467051" cy="156179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Shape 4"/>
          <p:cNvSpPr/>
          <p:nvPr/>
        </p:nvSpPr>
        <p:spPr>
          <a:xfrm>
            <a:off x="6610198" y="3429000"/>
            <a:ext cx="2467051" cy="156179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8" name="Shape 5"/>
          <p:cNvSpPr/>
          <p:nvPr/>
        </p:nvSpPr>
        <p:spPr>
          <a:xfrm>
            <a:off x="9249156" y="3429000"/>
            <a:ext cx="2467051" cy="156179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Shape 6"/>
          <p:cNvSpPr/>
          <p:nvPr/>
        </p:nvSpPr>
        <p:spPr>
          <a:xfrm>
            <a:off x="11887200" y="3429000"/>
            <a:ext cx="2467051" cy="156179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Shape 7"/>
          <p:cNvSpPr/>
          <p:nvPr/>
        </p:nvSpPr>
        <p:spPr>
          <a:xfrm>
            <a:off x="14525244" y="3429000"/>
            <a:ext cx="2428646" cy="15243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11" name="Image 1" descr="gen-dedup-af52b958647547ddd9145dc5f7782b74.png"/>
          <p:cNvPicPr>
            <a:picLocks noChangeAspect="1"/>
          </p:cNvPicPr>
          <p:nvPr/>
        </p:nvPicPr>
        <p:blipFill>
          <a:blip r:embed="rId4">
            <a:alphaModFix amt="50000"/>
          </a:blip>
          <a:srcRect t="-401" b="-401"/>
          <a:stretch/>
        </p:blipFill>
        <p:spPr>
          <a:xfrm>
            <a:off x="1333195" y="5524805"/>
            <a:ext cx="15620695" cy="19202"/>
          </a:xfrm>
          <a:prstGeom prst="rect">
            <a:avLst/>
          </a:prstGeom>
        </p:spPr>
      </p:pic>
      <p:pic>
        <p:nvPicPr>
          <p:cNvPr id="12" name="Image 2" descr="gen-dedup-732b531b6eb4107f1958d14c1d008e5d.png"/>
          <p:cNvPicPr>
            <a:picLocks noChangeAspect="1"/>
          </p:cNvPicPr>
          <p:nvPr/>
        </p:nvPicPr>
        <p:blipFill>
          <a:blip r:embed="rId5">
            <a:alphaModFix amt="50000"/>
          </a:blip>
          <a:srcRect l="-360" r="-360"/>
          <a:stretch/>
        </p:blipFill>
        <p:spPr>
          <a:xfrm>
            <a:off x="1333195" y="5143500"/>
            <a:ext cx="19202" cy="381305"/>
          </a:xfrm>
          <a:prstGeom prst="rect">
            <a:avLst/>
          </a:prstGeom>
        </p:spPr>
      </p:pic>
      <p:pic>
        <p:nvPicPr>
          <p:cNvPr id="13" name="Image 3" descr="gen-dedup-732b531b6eb4107f1958d14c1d008e5d.png"/>
          <p:cNvPicPr>
            <a:picLocks noChangeAspect="1"/>
          </p:cNvPicPr>
          <p:nvPr/>
        </p:nvPicPr>
        <p:blipFill>
          <a:blip r:embed="rId5">
            <a:alphaModFix amt="50000"/>
          </a:blip>
          <a:srcRect l="-360" r="-360"/>
          <a:stretch/>
        </p:blipFill>
        <p:spPr>
          <a:xfrm>
            <a:off x="16935602" y="5143500"/>
            <a:ext cx="19202" cy="38130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333195" y="6286500"/>
            <a:ext cx="15639898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pic>
        <p:nvPicPr>
          <p:cNvPr id="15" name="Image 4" descr="gen-dedup-8c8cfe17b0230c1d3fd669e946137195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2083" r="-2083"/>
          <a:stretch/>
        </p:blipFill>
        <p:spPr>
          <a:xfrm>
            <a:off x="1638605" y="6838798"/>
            <a:ext cx="15011705" cy="9144"/>
          </a:xfrm>
          <a:prstGeom prst="rect">
            <a:avLst/>
          </a:prstGeom>
        </p:spPr>
      </p:pic>
      <p:pic>
        <p:nvPicPr>
          <p:cNvPr id="16" name="Image 5" descr="gen-dedup-b4d33b0ea29b03e8c1c5f912c2bff3e9.png"/>
          <p:cNvPicPr>
            <a:picLocks noChangeAspect="1"/>
          </p:cNvPicPr>
          <p:nvPr/>
        </p:nvPicPr>
        <p:blipFill>
          <a:blip r:embed="rId6"/>
          <a:srcRect l="-196" r="-196"/>
          <a:stretch/>
        </p:blipFill>
        <p:spPr>
          <a:xfrm>
            <a:off x="1333195" y="3429000"/>
            <a:ext cx="2428646" cy="75895"/>
          </a:xfrm>
          <a:prstGeom prst="rect">
            <a:avLst/>
          </a:prstGeom>
        </p:spPr>
      </p:pic>
      <p:pic>
        <p:nvPicPr>
          <p:cNvPr id="17" name="Image 6" descr="gen-dedup-b4d33b0ea29b03e8c1c5f912c2bff3e9.png"/>
          <p:cNvPicPr>
            <a:picLocks noChangeAspect="1"/>
          </p:cNvPicPr>
          <p:nvPr/>
        </p:nvPicPr>
        <p:blipFill>
          <a:blip r:embed="rId6"/>
          <a:srcRect l="-196" r="-196"/>
          <a:stretch/>
        </p:blipFill>
        <p:spPr>
          <a:xfrm>
            <a:off x="3972154" y="3429000"/>
            <a:ext cx="2428646" cy="75895"/>
          </a:xfrm>
          <a:prstGeom prst="rect">
            <a:avLst/>
          </a:prstGeom>
        </p:spPr>
      </p:pic>
      <p:pic>
        <p:nvPicPr>
          <p:cNvPr id="18" name="Image 7" descr="gen-dedup-b4d33b0ea29b03e8c1c5f912c2bff3e9.png"/>
          <p:cNvPicPr>
            <a:picLocks noChangeAspect="1"/>
          </p:cNvPicPr>
          <p:nvPr/>
        </p:nvPicPr>
        <p:blipFill>
          <a:blip r:embed="rId6"/>
          <a:srcRect l="-196" r="-196"/>
          <a:stretch/>
        </p:blipFill>
        <p:spPr>
          <a:xfrm>
            <a:off x="6610198" y="3429000"/>
            <a:ext cx="2428646" cy="75895"/>
          </a:xfrm>
          <a:prstGeom prst="rect">
            <a:avLst/>
          </a:prstGeom>
        </p:spPr>
      </p:pic>
      <p:pic>
        <p:nvPicPr>
          <p:cNvPr id="19" name="Image 8" descr="gen-dedup-b4d33b0ea29b03e8c1c5f912c2bff3e9.png"/>
          <p:cNvPicPr>
            <a:picLocks noChangeAspect="1"/>
          </p:cNvPicPr>
          <p:nvPr/>
        </p:nvPicPr>
        <p:blipFill>
          <a:blip r:embed="rId6"/>
          <a:srcRect l="-196" r="-196"/>
          <a:stretch/>
        </p:blipFill>
        <p:spPr>
          <a:xfrm>
            <a:off x="9249156" y="3429000"/>
            <a:ext cx="2428646" cy="75895"/>
          </a:xfrm>
          <a:prstGeom prst="rect">
            <a:avLst/>
          </a:prstGeom>
        </p:spPr>
      </p:pic>
      <p:pic>
        <p:nvPicPr>
          <p:cNvPr id="20" name="Image 9" descr="gen-dedup-b4d33b0ea29b03e8c1c5f912c2bff3e9.png"/>
          <p:cNvPicPr>
            <a:picLocks noChangeAspect="1"/>
          </p:cNvPicPr>
          <p:nvPr/>
        </p:nvPicPr>
        <p:blipFill>
          <a:blip r:embed="rId6"/>
          <a:srcRect l="-196" r="-196"/>
          <a:stretch/>
        </p:blipFill>
        <p:spPr>
          <a:xfrm>
            <a:off x="11887200" y="3429000"/>
            <a:ext cx="2428646" cy="75895"/>
          </a:xfrm>
          <a:prstGeom prst="rect">
            <a:avLst/>
          </a:prstGeom>
        </p:spPr>
      </p:pic>
      <p:pic>
        <p:nvPicPr>
          <p:cNvPr id="21" name="Image 10" descr="gen-dedup-7f13c8389ef797e418ba621a60c2e31e.png"/>
          <p:cNvPicPr>
            <a:picLocks noChangeAspect="1"/>
          </p:cNvPicPr>
          <p:nvPr/>
        </p:nvPicPr>
        <p:blipFill>
          <a:blip r:embed="rId7"/>
          <a:srcRect l="-196" r="-196"/>
          <a:stretch/>
        </p:blipFill>
        <p:spPr>
          <a:xfrm>
            <a:off x="14525244" y="3429000"/>
            <a:ext cx="2428646" cy="75895"/>
          </a:xfrm>
          <a:prstGeom prst="rect">
            <a:avLst/>
          </a:prstGeom>
        </p:spPr>
      </p:pic>
      <p:sp>
        <p:nvSpPr>
          <p:cNvPr id="22" name="Text 9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WORKFLOW MAP · 한 장에 담은 강사 업무 전체 흐름</a:t>
            </a:r>
            <a:endParaRPr lang="en-US" sz="1550" dirty="0"/>
          </a:p>
        </p:txBody>
      </p:sp>
      <p:sp>
        <p:nvSpPr>
          <p:cNvPr id="23" name="Text 10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6단계, 한 줄 — 모든 강의는 이 흐름.</a:t>
            </a:r>
            <a:endParaRPr lang="en-US" sz="4500" dirty="0"/>
          </a:p>
        </p:txBody>
      </p:sp>
      <p:sp>
        <p:nvSpPr>
          <p:cNvPr id="24" name="Text 11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어디서 막혀도 — 이 흐름의 어느 단계에서 막힌 건지 짚어낼 수 있어야 합니다.</a:t>
            </a:r>
            <a:endParaRPr lang="en-US" sz="1700" dirty="0"/>
          </a:p>
        </p:txBody>
      </p:sp>
      <p:sp>
        <p:nvSpPr>
          <p:cNvPr id="25" name="Text 12"/>
          <p:cNvSpPr txBox="1"/>
          <p:nvPr/>
        </p:nvSpPr>
        <p:spPr>
          <a:xfrm>
            <a:off x="1524305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</a:t>
            </a:r>
            <a:endParaRPr lang="en-US" sz="1500" dirty="0"/>
          </a:p>
        </p:txBody>
      </p:sp>
      <p:sp>
        <p:nvSpPr>
          <p:cNvPr id="26" name="Text 13"/>
          <p:cNvSpPr txBox="1"/>
          <p:nvPr/>
        </p:nvSpPr>
        <p:spPr>
          <a:xfrm>
            <a:off x="1524305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교육 의뢰</a:t>
            </a:r>
            <a:endParaRPr lang="en-US" sz="2400" dirty="0"/>
          </a:p>
        </p:txBody>
      </p:sp>
      <p:sp>
        <p:nvSpPr>
          <p:cNvPr id="27" name="Text 14"/>
          <p:cNvSpPr txBox="1"/>
          <p:nvPr/>
        </p:nvSpPr>
        <p:spPr>
          <a:xfrm>
            <a:off x="1524305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메일·전화·소개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견적·일정 회신</a:t>
            </a:r>
            <a:endParaRPr lang="en-US" sz="1400" dirty="0"/>
          </a:p>
        </p:txBody>
      </p:sp>
      <p:sp>
        <p:nvSpPr>
          <p:cNvPr id="28" name="Text 15"/>
          <p:cNvSpPr txBox="1"/>
          <p:nvPr/>
        </p:nvSpPr>
        <p:spPr>
          <a:xfrm>
            <a:off x="4162349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</a:t>
            </a:r>
            <a:endParaRPr lang="en-US" sz="1500" dirty="0"/>
          </a:p>
        </p:txBody>
      </p:sp>
      <p:sp>
        <p:nvSpPr>
          <p:cNvPr id="29" name="Text 16"/>
          <p:cNvSpPr txBox="1"/>
          <p:nvPr/>
        </p:nvSpPr>
        <p:spPr>
          <a:xfrm>
            <a:off x="4162349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요구 분석</a:t>
            </a:r>
            <a:endParaRPr lang="en-US" sz="2400" dirty="0"/>
          </a:p>
        </p:txBody>
      </p:sp>
      <p:sp>
        <p:nvSpPr>
          <p:cNvPr id="30" name="Text 17"/>
          <p:cNvSpPr txBox="1"/>
          <p:nvPr/>
        </p:nvSpPr>
        <p:spPr>
          <a:xfrm>
            <a:off x="4162349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대상·수준·시간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장소·도구·산출물</a:t>
            </a:r>
            <a:endParaRPr lang="en-US" sz="1400" dirty="0"/>
          </a:p>
        </p:txBody>
      </p:sp>
      <p:sp>
        <p:nvSpPr>
          <p:cNvPr id="31" name="Text 18"/>
          <p:cNvSpPr txBox="1"/>
          <p:nvPr/>
        </p:nvSpPr>
        <p:spPr>
          <a:xfrm>
            <a:off x="6801307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</a:t>
            </a:r>
            <a:endParaRPr lang="en-US" sz="1500" dirty="0"/>
          </a:p>
        </p:txBody>
      </p:sp>
      <p:sp>
        <p:nvSpPr>
          <p:cNvPr id="32" name="Text 19"/>
          <p:cNvSpPr txBox="1"/>
          <p:nvPr/>
        </p:nvSpPr>
        <p:spPr>
          <a:xfrm>
            <a:off x="6801306" y="3904489"/>
            <a:ext cx="2275941" cy="477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커리큘럼 설계</a:t>
            </a:r>
            <a:endParaRPr lang="en-US" sz="2400" dirty="0"/>
          </a:p>
        </p:txBody>
      </p:sp>
      <p:sp>
        <p:nvSpPr>
          <p:cNvPr id="33" name="Text 20"/>
          <p:cNvSpPr txBox="1"/>
          <p:nvPr/>
        </p:nvSpPr>
        <p:spPr>
          <a:xfrm>
            <a:off x="6801307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목표·시간배분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실습·결과물</a:t>
            </a:r>
            <a:endParaRPr lang="en-US" sz="1400" dirty="0"/>
          </a:p>
        </p:txBody>
      </p:sp>
      <p:sp>
        <p:nvSpPr>
          <p:cNvPr id="34" name="Text 21"/>
          <p:cNvSpPr txBox="1"/>
          <p:nvPr/>
        </p:nvSpPr>
        <p:spPr>
          <a:xfrm>
            <a:off x="9439351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04</a:t>
            </a:r>
            <a:endParaRPr lang="en-US" sz="1500" dirty="0"/>
          </a:p>
        </p:txBody>
      </p:sp>
      <p:sp>
        <p:nvSpPr>
          <p:cNvPr id="35" name="Text 22"/>
          <p:cNvSpPr txBox="1"/>
          <p:nvPr/>
        </p:nvSpPr>
        <p:spPr>
          <a:xfrm>
            <a:off x="9439351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자료 제작</a:t>
            </a:r>
            <a:endParaRPr lang="en-US" sz="2400" dirty="0"/>
          </a:p>
        </p:txBody>
      </p:sp>
      <p:sp>
        <p:nvSpPr>
          <p:cNvPr id="36" name="Text 23"/>
          <p:cNvSpPr txBox="1"/>
          <p:nvPr/>
        </p:nvSpPr>
        <p:spPr>
          <a:xfrm>
            <a:off x="9439351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강의안·실습지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배포 자료·도구</a:t>
            </a:r>
            <a:endParaRPr lang="en-US" sz="1400" dirty="0"/>
          </a:p>
        </p:txBody>
      </p:sp>
      <p:sp>
        <p:nvSpPr>
          <p:cNvPr id="37" name="Text 24"/>
          <p:cNvSpPr txBox="1"/>
          <p:nvPr/>
        </p:nvSpPr>
        <p:spPr>
          <a:xfrm>
            <a:off x="12077395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05</a:t>
            </a:r>
            <a:endParaRPr lang="en-US" sz="1500" dirty="0"/>
          </a:p>
        </p:txBody>
      </p:sp>
      <p:sp>
        <p:nvSpPr>
          <p:cNvPr id="38" name="Text 25"/>
          <p:cNvSpPr txBox="1"/>
          <p:nvPr/>
        </p:nvSpPr>
        <p:spPr>
          <a:xfrm>
            <a:off x="12077395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운영</a:t>
            </a:r>
            <a:endParaRPr lang="en-US" sz="2400" dirty="0"/>
          </a:p>
        </p:txBody>
      </p:sp>
      <p:sp>
        <p:nvSpPr>
          <p:cNvPr id="39" name="Text 26"/>
          <p:cNvSpPr txBox="1"/>
          <p:nvPr/>
        </p:nvSpPr>
        <p:spPr>
          <a:xfrm>
            <a:off x="12077395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진행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출결·돌발 대응</a:t>
            </a:r>
            <a:endParaRPr lang="en-US" sz="1400" dirty="0"/>
          </a:p>
        </p:txBody>
      </p:sp>
      <p:sp>
        <p:nvSpPr>
          <p:cNvPr id="40" name="Text 27"/>
          <p:cNvSpPr txBox="1"/>
          <p:nvPr/>
        </p:nvSpPr>
        <p:spPr>
          <a:xfrm>
            <a:off x="14716354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06</a:t>
            </a:r>
            <a:endParaRPr lang="en-US" sz="1500" dirty="0"/>
          </a:p>
        </p:txBody>
      </p:sp>
      <p:sp>
        <p:nvSpPr>
          <p:cNvPr id="41" name="Text 28"/>
          <p:cNvSpPr txBox="1"/>
          <p:nvPr/>
        </p:nvSpPr>
        <p:spPr>
          <a:xfrm>
            <a:off x="14716354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피드백</a:t>
            </a:r>
            <a:endParaRPr lang="en-US" sz="2400" dirty="0"/>
          </a:p>
        </p:txBody>
      </p:sp>
      <p:sp>
        <p:nvSpPr>
          <p:cNvPr id="42" name="Text 29"/>
          <p:cNvSpPr txBox="1"/>
          <p:nvPr/>
        </p:nvSpPr>
        <p:spPr>
          <a:xfrm>
            <a:off x="14716354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F4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만족도·결과보고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F4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의뢰로</a:t>
            </a:r>
            <a:endParaRPr lang="en-US" sz="1400" dirty="0"/>
          </a:p>
        </p:txBody>
      </p:sp>
      <p:sp>
        <p:nvSpPr>
          <p:cNvPr id="43" name="Text 30"/>
          <p:cNvSpPr txBox="1"/>
          <p:nvPr/>
        </p:nvSpPr>
        <p:spPr>
          <a:xfrm>
            <a:off x="3743554" y="4095598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Text 31"/>
          <p:cNvSpPr txBox="1"/>
          <p:nvPr/>
        </p:nvSpPr>
        <p:spPr>
          <a:xfrm>
            <a:off x="6381598" y="4095598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45" name="Text 32"/>
          <p:cNvSpPr txBox="1"/>
          <p:nvPr/>
        </p:nvSpPr>
        <p:spPr>
          <a:xfrm>
            <a:off x="9020556" y="4095598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46" name="Text 33"/>
          <p:cNvSpPr txBox="1"/>
          <p:nvPr/>
        </p:nvSpPr>
        <p:spPr>
          <a:xfrm>
            <a:off x="11658600" y="4095598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47" name="Text 34"/>
          <p:cNvSpPr txBox="1"/>
          <p:nvPr/>
        </p:nvSpPr>
        <p:spPr>
          <a:xfrm>
            <a:off x="14296644" y="4095598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48" name="Text 35"/>
          <p:cNvSpPr txBox="1"/>
          <p:nvPr/>
        </p:nvSpPr>
        <p:spPr>
          <a:xfrm>
            <a:off x="1333195" y="5676595"/>
            <a:ext cx="286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↩</a:t>
            </a:r>
            <a:endParaRPr lang="en-US" sz="2800" dirty="0"/>
          </a:p>
        </p:txBody>
      </p:sp>
      <p:sp>
        <p:nvSpPr>
          <p:cNvPr id="49" name="Text 36"/>
          <p:cNvSpPr txBox="1"/>
          <p:nvPr/>
        </p:nvSpPr>
        <p:spPr>
          <a:xfrm>
            <a:off x="7239305" y="5658307"/>
            <a:ext cx="3810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kern="0" spc="158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피드백이 다음 의뢰의 입력값이 된다</a:t>
            </a:r>
            <a:endParaRPr lang="en-US" sz="2000" dirty="0"/>
          </a:p>
        </p:txBody>
      </p:sp>
      <p:sp>
        <p:nvSpPr>
          <p:cNvPr id="50" name="Text 37"/>
          <p:cNvSpPr txBox="1"/>
          <p:nvPr/>
        </p:nvSpPr>
        <p:spPr>
          <a:xfrm>
            <a:off x="1638605" y="6515100"/>
            <a:ext cx="15011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각 단계의 산출물 · 그리고 표준화했을 때 평균 소요 시간</a:t>
            </a:r>
            <a:endParaRPr lang="en-US" sz="2000" dirty="0"/>
          </a:p>
        </p:txBody>
      </p:sp>
      <p:sp>
        <p:nvSpPr>
          <p:cNvPr id="51" name="Text 38"/>
          <p:cNvSpPr txBox="1"/>
          <p:nvPr/>
        </p:nvSpPr>
        <p:spPr>
          <a:xfrm>
            <a:off x="1638605" y="7048195"/>
            <a:ext cx="2429561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회신 메일 1장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표준화 후 30분</a:t>
            </a:r>
            <a:endParaRPr lang="en-US" sz="2000" dirty="0"/>
          </a:p>
        </p:txBody>
      </p:sp>
      <p:sp>
        <p:nvSpPr>
          <p:cNvPr id="52" name="Text 39"/>
          <p:cNvSpPr txBox="1"/>
          <p:nvPr/>
        </p:nvSpPr>
        <p:spPr>
          <a:xfrm>
            <a:off x="4276649" y="7048195"/>
            <a:ext cx="2429561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요구분석서 1쪽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표준화 후 30분</a:t>
            </a:r>
            <a:endParaRPr lang="en-US" sz="2000" dirty="0"/>
          </a:p>
        </p:txBody>
      </p:sp>
      <p:sp>
        <p:nvSpPr>
          <p:cNvPr id="53" name="Text 40"/>
          <p:cNvSpPr txBox="1"/>
          <p:nvPr/>
        </p:nvSpPr>
        <p:spPr>
          <a:xfrm>
            <a:off x="6915607" y="7048195"/>
            <a:ext cx="2429561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커리큘럼표 1장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표준화 후 1시간</a:t>
            </a:r>
            <a:endParaRPr lang="en-US" sz="2000" dirty="0"/>
          </a:p>
        </p:txBody>
      </p:sp>
      <p:sp>
        <p:nvSpPr>
          <p:cNvPr id="54" name="Text 41"/>
          <p:cNvSpPr txBox="1"/>
          <p:nvPr/>
        </p:nvSpPr>
        <p:spPr>
          <a:xfrm>
            <a:off x="9553651" y="7048195"/>
            <a:ext cx="2429561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강의안+실습지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표준화 후 2시간</a:t>
            </a:r>
            <a:endParaRPr lang="en-US" sz="2000" dirty="0"/>
          </a:p>
        </p:txBody>
      </p:sp>
      <p:sp>
        <p:nvSpPr>
          <p:cNvPr id="55" name="Text 42"/>
          <p:cNvSpPr txBox="1"/>
          <p:nvPr/>
        </p:nvSpPr>
        <p:spPr>
          <a:xfrm>
            <a:off x="12191695" y="7048195"/>
            <a:ext cx="2429561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출결·진행 노트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시간만큼</a:t>
            </a:r>
            <a:endParaRPr lang="en-US" sz="2000" dirty="0"/>
          </a:p>
        </p:txBody>
      </p:sp>
      <p:sp>
        <p:nvSpPr>
          <p:cNvPr id="56" name="Text 43"/>
          <p:cNvSpPr txBox="1"/>
          <p:nvPr/>
        </p:nvSpPr>
        <p:spPr>
          <a:xfrm>
            <a:off x="14830654" y="7048195"/>
            <a:ext cx="2124151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결과보고서 1장</a:t>
            </a: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endParaRPr lang="en-US" sz="2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표준화 후 30분</a:t>
            </a:r>
            <a:endParaRPr lang="en-US" sz="2000" dirty="0"/>
          </a:p>
        </p:txBody>
      </p:sp>
      <p:sp>
        <p:nvSpPr>
          <p:cNvPr id="57" name="Text 44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04 / 60</a:t>
            </a:r>
            <a:endParaRPr lang="en-US" sz="1500" dirty="0"/>
          </a:p>
        </p:txBody>
      </p:sp>
      <p:sp>
        <p:nvSpPr>
          <p:cNvPr id="5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67642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047695"/>
            <a:ext cx="16021202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36df8f8c99e950afabba0a5cd8b4dec2.png"/>
          <p:cNvPicPr>
            <a:picLocks noChangeAspect="1"/>
          </p:cNvPicPr>
          <p:nvPr/>
        </p:nvPicPr>
        <p:blipFill>
          <a:blip r:embed="rId4">
            <a:alphaModFix amt="20000"/>
          </a:blip>
          <a:srcRect t="-2094" b="-2094"/>
          <a:stretch/>
        </p:blipFill>
        <p:spPr>
          <a:xfrm>
            <a:off x="12191695" y="3238805"/>
            <a:ext cx="9144" cy="15243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5143500"/>
            <a:ext cx="16021202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36df8f8c99e950afabba0a5cd8b4dec2.png"/>
          <p:cNvPicPr>
            <a:picLocks noChangeAspect="1"/>
          </p:cNvPicPr>
          <p:nvPr/>
        </p:nvPicPr>
        <p:blipFill>
          <a:blip r:embed="rId4">
            <a:alphaModFix amt="20000"/>
          </a:blip>
          <a:srcRect t="-2094" b="-2094"/>
          <a:stretch/>
        </p:blipFill>
        <p:spPr>
          <a:xfrm>
            <a:off x="12191695" y="5333695"/>
            <a:ext cx="9144" cy="15243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43000" y="7239305"/>
            <a:ext cx="16002000" cy="19046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11607d648066fe60d2033b376389932c.png"/>
          <p:cNvPicPr>
            <a:picLocks noChangeAspect="1"/>
          </p:cNvPicPr>
          <p:nvPr/>
        </p:nvPicPr>
        <p:blipFill>
          <a:blip r:embed="rId5">
            <a:alphaModFix amt="20000"/>
          </a:blip>
          <a:srcRect t="-2094" b="-2094"/>
          <a:stretch/>
        </p:blipFill>
        <p:spPr>
          <a:xfrm>
            <a:off x="12191695" y="7429500"/>
            <a:ext cx="9144" cy="1524305"/>
          </a:xfrm>
          <a:prstGeom prst="rect">
            <a:avLst/>
          </a:prstGeom>
        </p:spPr>
      </p:pic>
      <p:pic>
        <p:nvPicPr>
          <p:cNvPr id="11" name="Image 4" descr="gen-dedup-42a94c8e391a3cce17447bbb0ba7acec.png"/>
          <p:cNvPicPr>
            <a:picLocks noChangeAspect="1"/>
          </p:cNvPicPr>
          <p:nvPr/>
        </p:nvPicPr>
        <p:blipFill>
          <a:blip r:embed="rId6"/>
          <a:srcRect t="-193" b="-193"/>
          <a:stretch/>
        </p:blipFill>
        <p:spPr>
          <a:xfrm>
            <a:off x="1143000" y="3047695"/>
            <a:ext cx="75895" cy="1904695"/>
          </a:xfrm>
          <a:prstGeom prst="rect">
            <a:avLst/>
          </a:prstGeom>
        </p:spPr>
      </p:pic>
      <p:pic>
        <p:nvPicPr>
          <p:cNvPr id="12" name="Image 5" descr="gen-dedup-42a94c8e391a3cce17447bbb0ba7acec.png"/>
          <p:cNvPicPr>
            <a:picLocks noChangeAspect="1"/>
          </p:cNvPicPr>
          <p:nvPr/>
        </p:nvPicPr>
        <p:blipFill>
          <a:blip r:embed="rId6"/>
          <a:srcRect t="-193" b="-193"/>
          <a:stretch/>
        </p:blipFill>
        <p:spPr>
          <a:xfrm>
            <a:off x="1143000" y="5143500"/>
            <a:ext cx="75895" cy="1904695"/>
          </a:xfrm>
          <a:prstGeom prst="rect">
            <a:avLst/>
          </a:prstGeom>
        </p:spPr>
      </p:pic>
      <p:pic>
        <p:nvPicPr>
          <p:cNvPr id="13" name="Image 6" descr="gen-dedup-233794192c86cb86eee5ef8a5e9b2089.png"/>
          <p:cNvPicPr>
            <a:picLocks noChangeAspect="1"/>
          </p:cNvPicPr>
          <p:nvPr/>
        </p:nvPicPr>
        <p:blipFill>
          <a:blip r:embed="rId7"/>
          <a:srcRect t="-193" b="-193"/>
          <a:stretch/>
        </p:blipFill>
        <p:spPr>
          <a:xfrm>
            <a:off x="1143000" y="7239305"/>
            <a:ext cx="75895" cy="1904695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DIAGNOSIS · 많은 강사가 입에 달고 사는 세 마디</a:t>
            </a:r>
            <a:endParaRPr lang="en-US" sz="1550" dirty="0"/>
          </a:p>
        </p:txBody>
      </p:sp>
      <p:sp>
        <p:nvSpPr>
          <p:cNvPr id="15" name="Text 6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당신도 이 셋 중 하나, 자주 하지 않습니까.</a:t>
            </a:r>
            <a:endParaRPr lang="en-US" sz="4500" dirty="0"/>
          </a:p>
        </p:txBody>
      </p:sp>
      <p:sp>
        <p:nvSpPr>
          <p:cNvPr id="16" name="Text 7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문제는 “일을 안 한다”가 아니라 “일이 흩어져 있다”입니다.</a:t>
            </a:r>
            <a:endParaRPr lang="en-US" sz="1700" dirty="0"/>
          </a:p>
        </p:txBody>
      </p:sp>
      <p:sp>
        <p:nvSpPr>
          <p:cNvPr id="17" name="Text 8"/>
          <p:cNvSpPr txBox="1"/>
          <p:nvPr/>
        </p:nvSpPr>
        <p:spPr>
          <a:xfrm>
            <a:off x="1524305" y="3258007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4400" dirty="0"/>
          </a:p>
        </p:txBody>
      </p:sp>
      <p:sp>
        <p:nvSpPr>
          <p:cNvPr id="18" name="Text 9"/>
          <p:cNvSpPr txBox="1"/>
          <p:nvPr/>
        </p:nvSpPr>
        <p:spPr>
          <a:xfrm>
            <a:off x="1524305" y="38477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kern="0" spc="14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증상 · 반복 작업</a:t>
            </a:r>
            <a:endParaRPr lang="en-US" dirty="0"/>
          </a:p>
        </p:txBody>
      </p:sp>
      <p:sp>
        <p:nvSpPr>
          <p:cNvPr id="19" name="Text 10"/>
          <p:cNvSpPr txBox="1"/>
          <p:nvPr/>
        </p:nvSpPr>
        <p:spPr>
          <a:xfrm>
            <a:off x="4381805" y="3258007"/>
            <a:ext cx="7239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“매번 새로 만든다”</a:t>
            </a:r>
            <a:endParaRPr lang="en-US" sz="2750" dirty="0"/>
          </a:p>
        </p:txBody>
      </p:sp>
      <p:sp>
        <p:nvSpPr>
          <p:cNvPr id="20" name="Text 11"/>
          <p:cNvSpPr txBox="1"/>
          <p:nvPr/>
        </p:nvSpPr>
        <p:spPr>
          <a:xfrm>
            <a:off x="4381805" y="3829507"/>
            <a:ext cx="7239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제안서·강의안·실습지 — 비슷한 의뢰가 와도 빈 화면부터 시작합니다.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예전 자료가 어디 있는지 자체를 모릅니다.</a:t>
            </a:r>
            <a:endParaRPr lang="en-US" sz="1700" dirty="0"/>
          </a:p>
        </p:txBody>
      </p:sp>
      <p:sp>
        <p:nvSpPr>
          <p:cNvPr id="21" name="Text 12"/>
          <p:cNvSpPr txBox="1"/>
          <p:nvPr/>
        </p:nvSpPr>
        <p:spPr>
          <a:xfrm>
            <a:off x="12477902" y="3258007"/>
            <a:ext cx="4476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처방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12477902" y="3562502"/>
            <a:ext cx="447690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템플릿 7종 (슬라이드 16)을 한 번만 만들어두면, 다음 의뢰부터는 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채워 넣기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끝납니다.</a:t>
            </a:r>
            <a:endParaRPr lang="en-US" sz="1650" dirty="0"/>
          </a:p>
        </p:txBody>
      </p:sp>
      <p:sp>
        <p:nvSpPr>
          <p:cNvPr id="23" name="Text 14"/>
          <p:cNvSpPr txBox="1"/>
          <p:nvPr/>
        </p:nvSpPr>
        <p:spPr>
          <a:xfrm>
            <a:off x="1524305" y="5352898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4400" dirty="0"/>
          </a:p>
        </p:txBody>
      </p:sp>
      <p:sp>
        <p:nvSpPr>
          <p:cNvPr id="24" name="Text 15"/>
          <p:cNvSpPr txBox="1"/>
          <p:nvPr/>
        </p:nvSpPr>
        <p:spPr>
          <a:xfrm>
            <a:off x="1524305" y="5943600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kern="0" spc="14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증상 · 자료 산포</a:t>
            </a:r>
            <a:endParaRPr lang="en-US" dirty="0"/>
          </a:p>
        </p:txBody>
      </p:sp>
      <p:sp>
        <p:nvSpPr>
          <p:cNvPr id="25" name="Text 16"/>
          <p:cNvSpPr txBox="1"/>
          <p:nvPr/>
        </p:nvSpPr>
        <p:spPr>
          <a:xfrm>
            <a:off x="4381805" y="5352898"/>
            <a:ext cx="7239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“자료가 여기저기 흩어져 있다”</a:t>
            </a:r>
            <a:endParaRPr lang="en-US" sz="2750" dirty="0"/>
          </a:p>
        </p:txBody>
      </p:sp>
      <p:sp>
        <p:nvSpPr>
          <p:cNvPr id="26" name="Text 17"/>
          <p:cNvSpPr txBox="1"/>
          <p:nvPr/>
        </p:nvSpPr>
        <p:spPr>
          <a:xfrm>
            <a:off x="4381805" y="5924398"/>
            <a:ext cx="7239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바탕화면, 메일 첨부, 카톡, USB, 클라우드, 출력물 — 모든 곳에 조금씩.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찾는 데 30분이면, 다시 만드는 게 빠릅니다. 그래서 또 새로 만듭니다.</a:t>
            </a:r>
            <a:endParaRPr lang="en-US" sz="1700" dirty="0"/>
          </a:p>
        </p:txBody>
      </p:sp>
      <p:sp>
        <p:nvSpPr>
          <p:cNvPr id="27" name="Text 18"/>
          <p:cNvSpPr txBox="1"/>
          <p:nvPr/>
        </p:nvSpPr>
        <p:spPr>
          <a:xfrm>
            <a:off x="12477902" y="5352898"/>
            <a:ext cx="4476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처방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12477902" y="5658307"/>
            <a:ext cx="447690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클라우드, 한 폴더 체계 (슬라이드 17).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규칙은 4개를 넘기지 않습니다.</a:t>
            </a:r>
            <a:endParaRPr lang="en-US" sz="1650" dirty="0"/>
          </a:p>
        </p:txBody>
      </p:sp>
      <p:sp>
        <p:nvSpPr>
          <p:cNvPr id="29" name="Text 20"/>
          <p:cNvSpPr txBox="1"/>
          <p:nvPr/>
        </p:nvSpPr>
        <p:spPr>
          <a:xfrm>
            <a:off x="1524305" y="7448702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4400" dirty="0"/>
          </a:p>
        </p:txBody>
      </p:sp>
      <p:sp>
        <p:nvSpPr>
          <p:cNvPr id="30" name="Text 21"/>
          <p:cNvSpPr txBox="1"/>
          <p:nvPr/>
        </p:nvSpPr>
        <p:spPr>
          <a:xfrm>
            <a:off x="1524305" y="803940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kern="0" spc="147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증상 · 후속 관리 부재</a:t>
            </a:r>
            <a:endParaRPr lang="en-US" dirty="0"/>
          </a:p>
        </p:txBody>
      </p:sp>
      <p:sp>
        <p:nvSpPr>
          <p:cNvPr id="31" name="Text 22"/>
          <p:cNvSpPr txBox="1"/>
          <p:nvPr/>
        </p:nvSpPr>
        <p:spPr>
          <a:xfrm>
            <a:off x="4381805" y="7448702"/>
            <a:ext cx="7239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i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“끝나면 거기서 끝이다”</a:t>
            </a:r>
            <a:endParaRPr lang="en-US" sz="2750" dirty="0"/>
          </a:p>
        </p:txBody>
      </p:sp>
      <p:sp>
        <p:nvSpPr>
          <p:cNvPr id="32" name="Text 23"/>
          <p:cNvSpPr txBox="1"/>
          <p:nvPr/>
        </p:nvSpPr>
        <p:spPr>
          <a:xfrm>
            <a:off x="4381805" y="8020202"/>
            <a:ext cx="760140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끝 → 입금 확인 → 종료. 만족도, 결과보고, 사진, 후기 — 다 흘려보냅니다.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의뢰가 들어왔을 때 “지난번 강의 결과 좀 보여달라”에 대답을 못 합니다.</a:t>
            </a:r>
            <a:endParaRPr lang="en-US" sz="1700" dirty="0"/>
          </a:p>
        </p:txBody>
      </p:sp>
      <p:sp>
        <p:nvSpPr>
          <p:cNvPr id="33" name="Text 24"/>
          <p:cNvSpPr txBox="1"/>
          <p:nvPr/>
        </p:nvSpPr>
        <p:spPr>
          <a:xfrm>
            <a:off x="12477902" y="7448702"/>
            <a:ext cx="4476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처방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12477902" y="7753198"/>
            <a:ext cx="4639666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결과보고서를 곧 </a:t>
            </a:r>
            <a:r>
              <a:rPr lang="en-US" sz="16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포트폴리오 </a:t>
            </a:r>
            <a:r>
              <a:rPr lang="en-US" sz="1650" b="1" dirty="0" err="1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자산</a:t>
            </a:r>
            <a:r>
              <a:rPr lang="en-US" sz="1650" dirty="0" err="1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(슬라이드 28). 다음 의뢰는 여기서 시작됩니다.</a:t>
            </a:r>
            <a:endParaRPr lang="en-US" sz="1650" dirty="0"/>
          </a:p>
        </p:txBody>
      </p:sp>
      <p:sp>
        <p:nvSpPr>
          <p:cNvPr id="35" name="Text 26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05 / 60</a:t>
            </a:r>
            <a:endParaRPr lang="en-US" sz="15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3815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02000" cy="476402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3619195"/>
            <a:ext cx="16021202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4858207"/>
            <a:ext cx="16021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5905195"/>
            <a:ext cx="16021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6953098"/>
            <a:ext cx="16021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8001000"/>
            <a:ext cx="16002000" cy="9528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BOTTLENECKS · 시간 도둑 다섯 — 어디부터 잡을지 결정한다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당신의 시간 80%를 가져가는, 다섯 개의 일.</a:t>
            </a:r>
            <a:endParaRPr lang="en-US" sz="45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표의 시간은 예시입니다. 본인의 숫자를 옆에 직접 적어보세요.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2952598"/>
            <a:ext cx="762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2952598"/>
            <a:ext cx="3048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병목 업무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921691" y="2952598"/>
            <a:ext cx="6477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왜 오래 걸리는가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203372" y="2952598"/>
            <a:ext cx="2286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표준화 전 (예시)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4668805" y="2952598"/>
            <a:ext cx="2286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표준화 후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24305" y="3733495"/>
            <a:ext cx="7626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4150" dirty="0"/>
          </a:p>
        </p:txBody>
      </p:sp>
      <p:sp>
        <p:nvSpPr>
          <p:cNvPr id="20" name="Text 17"/>
          <p:cNvSpPr txBox="1"/>
          <p:nvPr/>
        </p:nvSpPr>
        <p:spPr>
          <a:xfrm>
            <a:off x="2286000" y="3829507"/>
            <a:ext cx="3048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강의자료 제작</a:t>
            </a:r>
            <a:endParaRPr lang="en-US" sz="2300" dirty="0"/>
          </a:p>
        </p:txBody>
      </p:sp>
      <p:sp>
        <p:nvSpPr>
          <p:cNvPr id="21" name="Text 18"/>
          <p:cNvSpPr txBox="1"/>
          <p:nvPr/>
        </p:nvSpPr>
        <p:spPr>
          <a:xfrm>
            <a:off x="2286000" y="4229100"/>
            <a:ext cx="3048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슬라이드·실습지·교안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921690" y="3810305"/>
            <a:ext cx="914400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빈 페이지에서 시작 + 디자인 시간 + 재검토. 같은 과목을 다시 강의해도 90%를 다시 만듭니다.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3203372" y="3829507"/>
            <a:ext cx="2286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h</a:t>
            </a:r>
            <a:endParaRPr lang="en-US" sz="2650" dirty="0"/>
          </a:p>
        </p:txBody>
      </p:sp>
      <p:sp>
        <p:nvSpPr>
          <p:cNvPr id="24" name="Text 21"/>
          <p:cNvSpPr txBox="1"/>
          <p:nvPr/>
        </p:nvSpPr>
        <p:spPr>
          <a:xfrm>
            <a:off x="14668805" y="3829507"/>
            <a:ext cx="2286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h</a:t>
            </a:r>
            <a:endParaRPr lang="en-US" sz="2650" dirty="0"/>
          </a:p>
        </p:txBody>
      </p:sp>
      <p:sp>
        <p:nvSpPr>
          <p:cNvPr id="25" name="Text 22"/>
          <p:cNvSpPr txBox="1"/>
          <p:nvPr/>
        </p:nvSpPr>
        <p:spPr>
          <a:xfrm>
            <a:off x="1524305" y="4972507"/>
            <a:ext cx="762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3200" dirty="0"/>
          </a:p>
        </p:txBody>
      </p:sp>
      <p:sp>
        <p:nvSpPr>
          <p:cNvPr id="26" name="Text 23"/>
          <p:cNvSpPr txBox="1"/>
          <p:nvPr/>
        </p:nvSpPr>
        <p:spPr>
          <a:xfrm>
            <a:off x="2286000" y="5086807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커리큘럼 수정</a:t>
            </a:r>
            <a:endParaRPr lang="en-US" sz="2100" dirty="0"/>
          </a:p>
        </p:txBody>
      </p:sp>
      <p:sp>
        <p:nvSpPr>
          <p:cNvPr id="27" name="Text 24"/>
          <p:cNvSpPr txBox="1"/>
          <p:nvPr/>
        </p:nvSpPr>
        <p:spPr>
          <a:xfrm>
            <a:off x="2286000" y="5391302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시간·대상 변경 대응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921690" y="5048402"/>
            <a:ext cx="882248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“2시간을 4시간으로”, “초급을 중급으로” — 기존을 자르고 붙이는데 결국 새로 짭니다.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3203372" y="4953305"/>
            <a:ext cx="2286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h</a:t>
            </a:r>
            <a:endParaRPr lang="en-US" sz="2300" dirty="0"/>
          </a:p>
        </p:txBody>
      </p:sp>
      <p:sp>
        <p:nvSpPr>
          <p:cNvPr id="30" name="Text 27"/>
          <p:cNvSpPr txBox="1"/>
          <p:nvPr/>
        </p:nvSpPr>
        <p:spPr>
          <a:xfrm>
            <a:off x="14668805" y="4953305"/>
            <a:ext cx="2286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min</a:t>
            </a:r>
            <a:endParaRPr lang="en-US" sz="2300" dirty="0"/>
          </a:p>
        </p:txBody>
      </p:sp>
      <p:sp>
        <p:nvSpPr>
          <p:cNvPr id="31" name="Text 28"/>
          <p:cNvSpPr txBox="1"/>
          <p:nvPr/>
        </p:nvSpPr>
        <p:spPr>
          <a:xfrm>
            <a:off x="1524305" y="6019495"/>
            <a:ext cx="762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3200" dirty="0"/>
          </a:p>
        </p:txBody>
      </p:sp>
      <p:sp>
        <p:nvSpPr>
          <p:cNvPr id="32" name="Text 29"/>
          <p:cNvSpPr txBox="1"/>
          <p:nvPr/>
        </p:nvSpPr>
        <p:spPr>
          <a:xfrm>
            <a:off x="2286000" y="6133795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제안서 작성</a:t>
            </a:r>
            <a:endParaRPr lang="en-US" sz="2100" dirty="0"/>
          </a:p>
        </p:txBody>
      </p:sp>
      <p:sp>
        <p:nvSpPr>
          <p:cNvPr id="33" name="Text 30"/>
          <p:cNvSpPr txBox="1"/>
          <p:nvPr/>
        </p:nvSpPr>
        <p:spPr>
          <a:xfrm>
            <a:off x="2286000" y="6439205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신규 의뢰 대응 문서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4921690" y="6096305"/>
            <a:ext cx="836629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문장을 한 줄씩 새로 짭니다. 표준 구조가 머리에 없으면 매 문단이 새 결정.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13203372" y="6001207"/>
            <a:ext cx="2286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h</a:t>
            </a:r>
            <a:endParaRPr lang="en-US" sz="2300" dirty="0"/>
          </a:p>
        </p:txBody>
      </p:sp>
      <p:sp>
        <p:nvSpPr>
          <p:cNvPr id="36" name="Text 33"/>
          <p:cNvSpPr txBox="1"/>
          <p:nvPr/>
        </p:nvSpPr>
        <p:spPr>
          <a:xfrm>
            <a:off x="14668805" y="6001207"/>
            <a:ext cx="2286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min</a:t>
            </a:r>
            <a:endParaRPr lang="en-US" sz="2300" dirty="0"/>
          </a:p>
        </p:txBody>
      </p:sp>
      <p:sp>
        <p:nvSpPr>
          <p:cNvPr id="37" name="Text 34"/>
          <p:cNvSpPr txBox="1"/>
          <p:nvPr/>
        </p:nvSpPr>
        <p:spPr>
          <a:xfrm>
            <a:off x="1524305" y="7067398"/>
            <a:ext cx="762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3200" dirty="0"/>
          </a:p>
        </p:txBody>
      </p:sp>
      <p:sp>
        <p:nvSpPr>
          <p:cNvPr id="38" name="Text 35"/>
          <p:cNvSpPr txBox="1"/>
          <p:nvPr/>
        </p:nvSpPr>
        <p:spPr>
          <a:xfrm>
            <a:off x="2286000" y="7181698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실습 준비</a:t>
            </a:r>
            <a:endParaRPr lang="en-US" sz="2100" dirty="0"/>
          </a:p>
        </p:txBody>
      </p:sp>
      <p:sp>
        <p:nvSpPr>
          <p:cNvPr id="39" name="Text 36"/>
          <p:cNvSpPr txBox="1"/>
          <p:nvPr/>
        </p:nvSpPr>
        <p:spPr>
          <a:xfrm>
            <a:off x="2286000" y="7487107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예제·문제·정답·채점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921690" y="7144207"/>
            <a:ext cx="914400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문제 만들기 + 난이도 조절 + 정답·해설. 보통 “문제만 있고 해설 없는” 상태로 강의에 들어갑니다.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13203372" y="7048195"/>
            <a:ext cx="2286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h</a:t>
            </a:r>
            <a:endParaRPr lang="en-US" sz="2300" dirty="0"/>
          </a:p>
        </p:txBody>
      </p:sp>
      <p:sp>
        <p:nvSpPr>
          <p:cNvPr id="42" name="Text 39"/>
          <p:cNvSpPr txBox="1"/>
          <p:nvPr/>
        </p:nvSpPr>
        <p:spPr>
          <a:xfrm>
            <a:off x="14668805" y="7048195"/>
            <a:ext cx="2286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h</a:t>
            </a:r>
            <a:endParaRPr lang="en-US" sz="2300" dirty="0"/>
          </a:p>
        </p:txBody>
      </p:sp>
      <p:sp>
        <p:nvSpPr>
          <p:cNvPr id="43" name="Text 40"/>
          <p:cNvSpPr txBox="1"/>
          <p:nvPr/>
        </p:nvSpPr>
        <p:spPr>
          <a:xfrm>
            <a:off x="1524305" y="8115300"/>
            <a:ext cx="762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3200" dirty="0"/>
          </a:p>
        </p:txBody>
      </p:sp>
      <p:sp>
        <p:nvSpPr>
          <p:cNvPr id="44" name="Text 41"/>
          <p:cNvSpPr txBox="1"/>
          <p:nvPr/>
        </p:nvSpPr>
        <p:spPr>
          <a:xfrm>
            <a:off x="2286000" y="8229600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피드백 정리</a:t>
            </a:r>
            <a:endParaRPr lang="en-US" sz="2100" dirty="0"/>
          </a:p>
        </p:txBody>
      </p:sp>
      <p:sp>
        <p:nvSpPr>
          <p:cNvPr id="45" name="Text 42"/>
          <p:cNvSpPr txBox="1"/>
          <p:nvPr/>
        </p:nvSpPr>
        <p:spPr>
          <a:xfrm>
            <a:off x="2286000" y="8534095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설문 분석 → 결과 보고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921691" y="8191195"/>
            <a:ext cx="882248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종이 설문 30장을 손으로 옮겨 적습니다. 그러다 보면 “그냥 점수만 보고 끝”이 됩니다.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13203372" y="8096098"/>
            <a:ext cx="2286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h</a:t>
            </a:r>
            <a:endParaRPr lang="en-US" sz="2300" dirty="0"/>
          </a:p>
        </p:txBody>
      </p:sp>
      <p:sp>
        <p:nvSpPr>
          <p:cNvPr id="48" name="Text 45"/>
          <p:cNvSpPr txBox="1"/>
          <p:nvPr/>
        </p:nvSpPr>
        <p:spPr>
          <a:xfrm>
            <a:off x="14668805" y="8096098"/>
            <a:ext cx="2286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min</a:t>
            </a:r>
            <a:endParaRPr lang="en-US" sz="2300" dirty="0"/>
          </a:p>
        </p:txBody>
      </p:sp>
      <p:sp>
        <p:nvSpPr>
          <p:cNvPr id="49" name="Text 46"/>
          <p:cNvSpPr txBox="1"/>
          <p:nvPr/>
        </p:nvSpPr>
        <p:spPr>
          <a:xfrm>
            <a:off x="1143000" y="91632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합계 · 표준화 전 </a:t>
            </a:r>
            <a:r>
              <a:rPr lang="en-US" sz="15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h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 표준화 후 </a:t>
            </a:r>
            <a:r>
              <a:rPr lang="en-US" sz="15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4.3 h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11.7 시간이 다른 일에 쓰입니다.</a:t>
            </a:r>
            <a:endParaRPr lang="en-US" sz="1550" dirty="0"/>
          </a:p>
        </p:txBody>
      </p:sp>
      <p:sp>
        <p:nvSpPr>
          <p:cNvPr id="50" name="Text 47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06 / 60</a:t>
            </a:r>
            <a:endParaRPr lang="en-US" sz="1500" dirty="0"/>
          </a:p>
        </p:txBody>
      </p:sp>
      <p:sp>
        <p:nvSpPr>
          <p:cNvPr id="5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0896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811098" y="1619402"/>
            <a:ext cx="3333902" cy="1238098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c7e99335821c4549505b5223f4378250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1143000" y="3143707"/>
            <a:ext cx="8675557" cy="5715000"/>
          </a:xfrm>
          <a:prstGeom prst="rect">
            <a:avLst/>
          </a:prstGeom>
        </p:spPr>
      </p:pic>
      <p:pic>
        <p:nvPicPr>
          <p:cNvPr id="8" name="Image 2" descr="gen-dedup-ddc0b6d0471db9ae37ab1c2d853ed67e.png"/>
          <p:cNvPicPr>
            <a:picLocks noChangeAspect="1"/>
          </p:cNvPicPr>
          <p:nvPr/>
        </p:nvPicPr>
        <p:blipFill>
          <a:blip r:embed="rId5">
            <a:alphaModFix amt="18000"/>
          </a:blip>
          <a:srcRect l="-2083" r="-2083"/>
          <a:stretch/>
        </p:blipFill>
        <p:spPr>
          <a:xfrm>
            <a:off x="1371600" y="3696005"/>
            <a:ext cx="10019995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0325869" y="3143707"/>
            <a:ext cx="6838333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9624afb65f6b8bec4779dd4b33581e71.png"/>
          <p:cNvPicPr>
            <a:picLocks noChangeAspect="1"/>
          </p:cNvPicPr>
          <p:nvPr/>
        </p:nvPicPr>
        <p:blipFill>
          <a:blip r:embed="rId6">
            <a:alphaModFix amt="20000"/>
          </a:blip>
          <a:srcRect l="-2083" r="-2083"/>
          <a:stretch/>
        </p:blipFill>
        <p:spPr>
          <a:xfrm>
            <a:off x="10563845" y="3785945"/>
            <a:ext cx="6173347" cy="914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143000" y="9048902"/>
            <a:ext cx="16059607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1143000" y="9048902"/>
            <a:ext cx="57607" cy="47640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gen-dedup-e2206c5c145e55646b7e2bc1a9630edc.png"/>
          <p:cNvPicPr>
            <a:picLocks noChangeAspect="1"/>
          </p:cNvPicPr>
          <p:nvPr/>
        </p:nvPicPr>
        <p:blipFill>
          <a:blip r:embed="rId7"/>
          <a:srcRect l="-406" r="-406"/>
          <a:stretch/>
        </p:blipFill>
        <p:spPr>
          <a:xfrm>
            <a:off x="13811098" y="1619402"/>
            <a:ext cx="57607" cy="123809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01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3238805" y="761695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종이 한 장, 펜 하나 · 10분 · </a:t>
            </a: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옆 사람과 대화는 마지막 2분에만</a:t>
            </a:r>
            <a:endParaRPr lang="en-US" sz="155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1695298"/>
            <a:ext cx="11430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내 업무 흐름을 한 장에 적어보세요.</a:t>
            </a:r>
            <a:endParaRPr lang="en-US" sz="4350" dirty="0"/>
          </a:p>
        </p:txBody>
      </p:sp>
      <p:pic>
        <p:nvPicPr>
          <p:cNvPr id="17" name="Image 5" descr="gen-dedup-27d062dff674067c162ae25c57f96078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4058900" y="1848002"/>
            <a:ext cx="571500" cy="5715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4763902" y="1752905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7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TIMER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4763902" y="2018995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5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r>
              <a:rPr lang="en-US" sz="210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min</a:t>
            </a:r>
            <a:endParaRPr lang="en-US" sz="385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2533802"/>
            <a:ext cx="12382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도움말 · “예쁘게 그릴 필요 없습니다. 다음 의뢰가 들어왔을 때 본인이 거치는 순서대로만.”</a:t>
            </a:r>
            <a:endParaRPr lang="en-US" sz="1650" dirty="0"/>
          </a:p>
        </p:txBody>
      </p:sp>
      <p:sp>
        <p:nvSpPr>
          <p:cNvPr id="21" name="Text 13"/>
          <p:cNvSpPr txBox="1"/>
          <p:nvPr/>
        </p:nvSpPr>
        <p:spPr>
          <a:xfrm>
            <a:off x="1371600" y="3372307"/>
            <a:ext cx="10001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F4F1E8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worksheet.md · 종이 한 장에 손으로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371600" y="3943807"/>
            <a:ext cx="8192125" cy="4763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75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가장 최근에 진행한 강의 1개를 떠올린다.</a:t>
            </a:r>
            <a:r>
              <a:rPr lang="en-US" sz="17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</a:p>
          <a:p>
            <a:pPr marL="342900" indent="-342900" algn="l">
              <a:lnSpc>
                <a:spcPct val="200000"/>
              </a:lnSpc>
              <a:buAutoNum type="arabicPeriod"/>
            </a:pPr>
            <a:r>
              <a:rPr lang="en-US" sz="1750" dirty="0" err="1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의뢰를</a:t>
            </a:r>
            <a:r>
              <a:rPr lang="en-US" sz="17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어떻게 받았나? ________________ </a:t>
            </a:r>
          </a:p>
          <a:p>
            <a:pPr marL="342900" indent="-342900" algn="l">
              <a:lnSpc>
                <a:spcPct val="200000"/>
              </a:lnSpc>
              <a:buAutoNum type="arabicPeriod"/>
            </a:pPr>
            <a:r>
              <a:rPr lang="en-US" sz="17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02. 다음에 한 일은? ________________ </a:t>
            </a:r>
          </a:p>
          <a:p>
            <a:pPr marL="342900" indent="-342900" algn="l">
              <a:lnSpc>
                <a:spcPct val="200000"/>
              </a:lnSpc>
              <a:buAutoNum type="arabicPeriod"/>
            </a:pPr>
            <a:r>
              <a:rPr lang="en-US" sz="17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03. 그 다음은? ________________ … </a:t>
            </a:r>
          </a:p>
          <a:p>
            <a:pPr marL="342900" indent="-342900" algn="l">
              <a:lnSpc>
                <a:spcPct val="200000"/>
              </a:lnSpc>
              <a:buAutoNum type="arabicPeriod"/>
            </a:pPr>
            <a:r>
              <a:rPr lang="en-US" sz="1750" dirty="0" err="1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마지막까지</a:t>
            </a:r>
            <a:r>
              <a:rPr lang="en-US" sz="17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모두 적기 (보통 8~12단계) </a:t>
            </a:r>
          </a:p>
          <a:p>
            <a:pPr algn="l">
              <a:lnSpc>
                <a:spcPct val="200000"/>
              </a:lnSpc>
            </a:pPr>
            <a:r>
              <a:rPr lang="en-US" sz="175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끝까지 적은 다음 — </a:t>
            </a:r>
          </a:p>
          <a:p>
            <a:pPr algn="l">
              <a:lnSpc>
                <a:spcPct val="200000"/>
              </a:lnSpc>
            </a:pPr>
            <a:r>
              <a:rPr lang="en-US" sz="175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가장 오래 걸린 단계 옆에 ★ 표시# 가장 즐겁지 않은 단계 옆에 ✗ 표시</a:t>
            </a:r>
            <a:endParaRPr lang="en-US" sz="1750" dirty="0"/>
          </a:p>
        </p:txBody>
      </p:sp>
      <p:sp>
        <p:nvSpPr>
          <p:cNvPr id="23" name="Text 15"/>
          <p:cNvSpPr txBox="1"/>
          <p:nvPr/>
        </p:nvSpPr>
        <p:spPr>
          <a:xfrm>
            <a:off x="10615702" y="3386352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 · 10분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0563846" y="4033747"/>
            <a:ext cx="8577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0–6분</a:t>
            </a:r>
            <a:endParaRPr lang="en-US" sz="2400" dirty="0"/>
          </a:p>
        </p:txBody>
      </p:sp>
      <p:sp>
        <p:nvSpPr>
          <p:cNvPr id="25" name="Text 17"/>
          <p:cNvSpPr txBox="1"/>
          <p:nvPr/>
        </p:nvSpPr>
        <p:spPr>
          <a:xfrm>
            <a:off x="11554141" y="4033747"/>
            <a:ext cx="48362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1개 떠올리며 모든 단계를 종이에 나열.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맞춤법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신경 쓰지 말 것.</a:t>
            </a:r>
            <a:endParaRPr lang="en-US" sz="1650" dirty="0"/>
          </a:p>
        </p:txBody>
      </p:sp>
      <p:sp>
        <p:nvSpPr>
          <p:cNvPr id="26" name="Text 18"/>
          <p:cNvSpPr txBox="1"/>
          <p:nvPr/>
        </p:nvSpPr>
        <p:spPr>
          <a:xfrm>
            <a:off x="10563846" y="4966435"/>
            <a:ext cx="8577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6–8분</a:t>
            </a:r>
            <a:endParaRPr lang="en-US" sz="2400" dirty="0"/>
          </a:p>
        </p:txBody>
      </p:sp>
      <p:sp>
        <p:nvSpPr>
          <p:cNvPr id="27" name="Text 19"/>
          <p:cNvSpPr txBox="1"/>
          <p:nvPr/>
        </p:nvSpPr>
        <p:spPr>
          <a:xfrm>
            <a:off x="11554141" y="4966435"/>
            <a:ext cx="48362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표시(가장 오래 걸린) 1개,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표시(가장 싫었던) 1개.</a:t>
            </a:r>
            <a:endParaRPr lang="en-US" sz="1650" dirty="0"/>
          </a:p>
        </p:txBody>
      </p:sp>
      <p:sp>
        <p:nvSpPr>
          <p:cNvPr id="28" name="Text 20"/>
          <p:cNvSpPr txBox="1"/>
          <p:nvPr/>
        </p:nvSpPr>
        <p:spPr>
          <a:xfrm>
            <a:off x="10563846" y="5900038"/>
            <a:ext cx="105796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8–10분</a:t>
            </a:r>
            <a:endParaRPr lang="en-US" sz="2400" dirty="0"/>
          </a:p>
        </p:txBody>
      </p:sp>
      <p:sp>
        <p:nvSpPr>
          <p:cNvPr id="29" name="Text 21"/>
          <p:cNvSpPr txBox="1"/>
          <p:nvPr/>
        </p:nvSpPr>
        <p:spPr>
          <a:xfrm>
            <a:off x="11753480" y="5900038"/>
            <a:ext cx="457938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옆 사람과 종이 교환.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★과 ✗ 위치가 같은지 비교.</a:t>
            </a:r>
            <a:endParaRPr lang="en-US" sz="1650" dirty="0"/>
          </a:p>
        </p:txBody>
      </p:sp>
      <p:sp>
        <p:nvSpPr>
          <p:cNvPr id="30" name="Shape 22"/>
          <p:cNvSpPr/>
          <p:nvPr/>
        </p:nvSpPr>
        <p:spPr>
          <a:xfrm>
            <a:off x="10563845" y="6833640"/>
            <a:ext cx="6173347" cy="752551"/>
          </a:xfrm>
          <a:prstGeom prst="rect">
            <a:avLst/>
          </a:prstGeom>
          <a:solidFill>
            <a:srgbClr val="F4F1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3"/>
          <p:cNvSpPr/>
          <p:nvPr/>
        </p:nvSpPr>
        <p:spPr>
          <a:xfrm>
            <a:off x="10563846" y="6833640"/>
            <a:ext cx="51856" cy="752551"/>
          </a:xfrm>
          <a:prstGeom prst="rect">
            <a:avLst/>
          </a:prstGeom>
          <a:solidFill>
            <a:srgbClr val="2E2D29"/>
          </a:solidFill>
          <a:ln w="12700">
            <a:solidFill>
              <a:srgbClr val="2E2D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4"/>
          <p:cNvSpPr txBox="1"/>
          <p:nvPr/>
        </p:nvSpPr>
        <p:spPr>
          <a:xfrm>
            <a:off x="10754956" y="6833640"/>
            <a:ext cx="5915300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39700" rIns="152400" bIns="13970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★이 슬라이드 16의 템플릿 목록과 겹치는 것이 정답입니다.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강의의 70%는 그 한 개를 표준화하기 위한 것입니다.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1429207" y="9163202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종이는 버리지 마세요. 슬라이드 29 “개인 로드맵” 작성에 그대로 사용합니다.</a:t>
            </a:r>
            <a:endParaRPr lang="en-US" sz="1550" dirty="0"/>
          </a:p>
        </p:txBody>
      </p:sp>
      <p:sp>
        <p:nvSpPr>
          <p:cNvPr id="34" name="Text 26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01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07 / 60</a:t>
            </a:r>
            <a:endParaRPr lang="en-US" sz="15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04132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2857500"/>
            <a:ext cx="16021202" cy="2115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5333695"/>
            <a:ext cx="3829507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d62776392b1bc6feebd37cfd80421698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447495" y="6838798"/>
            <a:ext cx="476402" cy="283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143500" y="5333695"/>
            <a:ext cx="3829507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gen-dedup-d62776392b1bc6feebd37cfd80421698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5447995" y="6838798"/>
            <a:ext cx="476402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144000" y="5333695"/>
            <a:ext cx="3829507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gen-dedup-d62776392b1bc6feebd37cfd80421698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9448495" y="6838798"/>
            <a:ext cx="476402" cy="2834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3144500" y="5333695"/>
            <a:ext cx="4000500" cy="36191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gen-dedup-f9c4ee4670abd4f2604d62cf7153445d.png"/>
          <p:cNvPicPr>
            <a:picLocks noChangeAspect="1"/>
          </p:cNvPicPr>
          <p:nvPr/>
        </p:nvPicPr>
        <p:blipFill>
          <a:blip r:embed="rId5"/>
          <a:srcRect l="-420" r="-420"/>
          <a:stretch/>
        </p:blipFill>
        <p:spPr>
          <a:xfrm>
            <a:off x="13448995" y="6838798"/>
            <a:ext cx="476402" cy="28346"/>
          </a:xfrm>
          <a:prstGeom prst="rect">
            <a:avLst/>
          </a:prstGeom>
        </p:spPr>
      </p:pic>
      <p:pic>
        <p:nvPicPr>
          <p:cNvPr id="15" name="Image 5" descr="gen-dedup-8c8cfe17b0230c1d3fd669e946137195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16" name="Image 6" descr="gen-dedup-47672c63ef3a2a9804231d2b7a2c875b.png"/>
          <p:cNvPicPr>
            <a:picLocks noChangeAspect="1"/>
          </p:cNvPicPr>
          <p:nvPr/>
        </p:nvPicPr>
        <p:blipFill>
          <a:blip r:embed="rId6"/>
          <a:srcRect t="-396" b="-396"/>
          <a:stretch/>
        </p:blipFill>
        <p:spPr>
          <a:xfrm>
            <a:off x="1143000" y="5333695"/>
            <a:ext cx="3810305" cy="57607"/>
          </a:xfrm>
          <a:prstGeom prst="rect">
            <a:avLst/>
          </a:prstGeom>
        </p:spPr>
      </p:pic>
      <p:pic>
        <p:nvPicPr>
          <p:cNvPr id="17" name="Image 7" descr="gen-dedup-47672c63ef3a2a9804231d2b7a2c875b.png"/>
          <p:cNvPicPr>
            <a:picLocks noChangeAspect="1"/>
          </p:cNvPicPr>
          <p:nvPr/>
        </p:nvPicPr>
        <p:blipFill>
          <a:blip r:embed="rId6"/>
          <a:srcRect t="-396" b="-396"/>
          <a:stretch/>
        </p:blipFill>
        <p:spPr>
          <a:xfrm>
            <a:off x="5143500" y="5333695"/>
            <a:ext cx="3810305" cy="57607"/>
          </a:xfrm>
          <a:prstGeom prst="rect">
            <a:avLst/>
          </a:prstGeom>
        </p:spPr>
      </p:pic>
      <p:pic>
        <p:nvPicPr>
          <p:cNvPr id="18" name="Image 8" descr="gen-dedup-47672c63ef3a2a9804231d2b7a2c875b.png"/>
          <p:cNvPicPr>
            <a:picLocks noChangeAspect="1"/>
          </p:cNvPicPr>
          <p:nvPr/>
        </p:nvPicPr>
        <p:blipFill>
          <a:blip r:embed="rId6"/>
          <a:srcRect t="-396" b="-396"/>
          <a:stretch/>
        </p:blipFill>
        <p:spPr>
          <a:xfrm>
            <a:off x="9144000" y="5333695"/>
            <a:ext cx="3810305" cy="57607"/>
          </a:xfrm>
          <a:prstGeom prst="rect">
            <a:avLst/>
          </a:prstGeom>
        </p:spPr>
      </p:pic>
      <p:pic>
        <p:nvPicPr>
          <p:cNvPr id="19" name="Image 9" descr="gen-dedup-985eb2156e087e0c9e114436d27ad3e4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3144500" y="5333695"/>
            <a:ext cx="4000500" cy="57607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· 02 STANDARD</a:t>
            </a:r>
            <a:endParaRPr lang="en-US" sz="1500" dirty="0"/>
          </a:p>
        </p:txBody>
      </p:sp>
      <p:sp>
        <p:nvSpPr>
          <p:cNvPr id="21" name="Text 9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이제 어떻게 만들지의 영역으로 들어갑니다.</a:t>
            </a:r>
            <a:endParaRPr lang="en-US" sz="1550" dirty="0"/>
          </a:p>
        </p:txBody>
      </p:sp>
      <p:sp>
        <p:nvSpPr>
          <p:cNvPr id="22" name="Text 10"/>
          <p:cNvSpPr txBox="1"/>
          <p:nvPr/>
        </p:nvSpPr>
        <p:spPr>
          <a:xfrm>
            <a:off x="1143000" y="1695298"/>
            <a:ext cx="1600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 품질은 곱셈입니다. 한 칸이 0이면 결과도 0.</a:t>
            </a:r>
            <a:endParaRPr lang="en-US" sz="4350" dirty="0"/>
          </a:p>
        </p:txBody>
      </p:sp>
      <p:sp>
        <p:nvSpPr>
          <p:cNvPr id="23" name="Text 11"/>
          <p:cNvSpPr txBox="1"/>
          <p:nvPr/>
        </p:nvSpPr>
        <p:spPr>
          <a:xfrm>
            <a:off x="1143000" y="3105302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kern="0" spc="203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공식</a:t>
            </a:r>
            <a:endParaRPr lang="en-US" sz="1500" dirty="0"/>
          </a:p>
        </p:txBody>
      </p:sp>
      <p:sp>
        <p:nvSpPr>
          <p:cNvPr id="24" name="Text 12"/>
          <p:cNvSpPr txBox="1"/>
          <p:nvPr/>
        </p:nvSpPr>
        <p:spPr>
          <a:xfrm>
            <a:off x="1143000" y="3619195"/>
            <a:ext cx="16002000" cy="1047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 품질 = </a:t>
            </a:r>
            <a:r>
              <a:rPr lang="en-US" sz="41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요구분석</a:t>
            </a:r>
            <a:r>
              <a:rPr lang="en-US" sz="41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× </a:t>
            </a:r>
            <a:r>
              <a:rPr lang="en-US" sz="41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</a:t>
            </a:r>
            <a:r>
              <a:rPr lang="en-US" sz="41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× </a:t>
            </a:r>
            <a:r>
              <a:rPr lang="en-US" sz="41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운영</a:t>
            </a:r>
            <a:r>
              <a:rPr lang="en-US" sz="41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× </a:t>
            </a:r>
            <a:r>
              <a:rPr lang="en-US" sz="41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개선</a:t>
            </a:r>
            <a:endParaRPr lang="en-US" sz="4150" dirty="0"/>
          </a:p>
        </p:txBody>
      </p:sp>
      <p:sp>
        <p:nvSpPr>
          <p:cNvPr id="25" name="Text 13"/>
          <p:cNvSpPr txBox="1"/>
          <p:nvPr/>
        </p:nvSpPr>
        <p:spPr>
          <a:xfrm>
            <a:off x="1447495" y="5581498"/>
            <a:ext cx="3200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FACTOR 01</a:t>
            </a:r>
            <a:endParaRPr lang="en-US" sz="1500" dirty="0"/>
          </a:p>
        </p:txBody>
      </p:sp>
      <p:sp>
        <p:nvSpPr>
          <p:cNvPr id="26" name="Text 14"/>
          <p:cNvSpPr txBox="1"/>
          <p:nvPr/>
        </p:nvSpPr>
        <p:spPr>
          <a:xfrm>
            <a:off x="1447495" y="5867705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요구분석</a:t>
            </a:r>
            <a:endParaRPr lang="en-US" sz="3100" dirty="0"/>
          </a:p>
        </p:txBody>
      </p:sp>
      <p:sp>
        <p:nvSpPr>
          <p:cNvPr id="27" name="Text 15"/>
          <p:cNvSpPr txBox="1"/>
          <p:nvPr/>
        </p:nvSpPr>
        <p:spPr>
          <a:xfrm>
            <a:off x="1447495" y="6458407"/>
            <a:ext cx="3200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 시작 전</a:t>
            </a:r>
            <a:endParaRPr lang="en-US" sz="1500" dirty="0"/>
          </a:p>
        </p:txBody>
      </p:sp>
      <p:sp>
        <p:nvSpPr>
          <p:cNvPr id="28" name="Text 16"/>
          <p:cNvSpPr txBox="1"/>
          <p:nvPr/>
        </p:nvSpPr>
        <p:spPr>
          <a:xfrm>
            <a:off x="1447495" y="7048195"/>
            <a:ext cx="3200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누가, 왜, 어떤 결과물을 원하는지 모르면 다른 셋이 아무리 좋아도 무용지물.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슬라이드 9, 10</a:t>
            </a:r>
            <a:endParaRPr lang="en-US" sz="1700" dirty="0"/>
          </a:p>
        </p:txBody>
      </p:sp>
      <p:sp>
        <p:nvSpPr>
          <p:cNvPr id="29" name="Text 17"/>
          <p:cNvSpPr txBox="1"/>
          <p:nvPr/>
        </p:nvSpPr>
        <p:spPr>
          <a:xfrm>
            <a:off x="5447995" y="5581498"/>
            <a:ext cx="3200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FACTOR 02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5447995" y="5867705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설계</a:t>
            </a:r>
            <a:endParaRPr lang="en-US" sz="3100" dirty="0"/>
          </a:p>
        </p:txBody>
      </p:sp>
      <p:sp>
        <p:nvSpPr>
          <p:cNvPr id="31" name="Text 19"/>
          <p:cNvSpPr txBox="1"/>
          <p:nvPr/>
        </p:nvSpPr>
        <p:spPr>
          <a:xfrm>
            <a:off x="5447995" y="6458407"/>
            <a:ext cx="3200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 줄짜리 시간표 한 장</a:t>
            </a:r>
            <a:endParaRPr lang="en-US" sz="1500" dirty="0"/>
          </a:p>
        </p:txBody>
      </p:sp>
      <p:sp>
        <p:nvSpPr>
          <p:cNvPr id="32" name="Text 20"/>
          <p:cNvSpPr txBox="1"/>
          <p:nvPr/>
        </p:nvSpPr>
        <p:spPr>
          <a:xfrm>
            <a:off x="5277002" y="7048195"/>
            <a:ext cx="354238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어떤 순서로, 어디서 실습을 끼우고, 무엇을 결과물로 남길지.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전 책상에서 결정됩니다.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슬라이드 11, 12</a:t>
            </a:r>
            <a:endParaRPr lang="en-US" sz="1700" dirty="0"/>
          </a:p>
        </p:txBody>
      </p:sp>
      <p:sp>
        <p:nvSpPr>
          <p:cNvPr id="33" name="Text 21"/>
          <p:cNvSpPr txBox="1"/>
          <p:nvPr/>
        </p:nvSpPr>
        <p:spPr>
          <a:xfrm>
            <a:off x="9448495" y="5581498"/>
            <a:ext cx="3200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FACTOR 03</a:t>
            </a:r>
            <a:endParaRPr lang="en-US" sz="1500" dirty="0"/>
          </a:p>
        </p:txBody>
      </p:sp>
      <p:sp>
        <p:nvSpPr>
          <p:cNvPr id="34" name="Text 22"/>
          <p:cNvSpPr txBox="1"/>
          <p:nvPr/>
        </p:nvSpPr>
        <p:spPr>
          <a:xfrm>
            <a:off x="9448495" y="5867705"/>
            <a:ext cx="320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운영</a:t>
            </a:r>
            <a:endParaRPr lang="en-US" sz="3100" dirty="0"/>
          </a:p>
        </p:txBody>
      </p:sp>
      <p:sp>
        <p:nvSpPr>
          <p:cNvPr id="35" name="Text 23"/>
          <p:cNvSpPr txBox="1"/>
          <p:nvPr/>
        </p:nvSpPr>
        <p:spPr>
          <a:xfrm>
            <a:off x="9448495" y="6458407"/>
            <a:ext cx="3200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 당일</a:t>
            </a:r>
            <a:endParaRPr lang="en-US" sz="1500" dirty="0"/>
          </a:p>
        </p:txBody>
      </p:sp>
      <p:sp>
        <p:nvSpPr>
          <p:cNvPr id="36" name="Text 24"/>
          <p:cNvSpPr txBox="1"/>
          <p:nvPr/>
        </p:nvSpPr>
        <p:spPr>
          <a:xfrm>
            <a:off x="9448495" y="7048195"/>
            <a:ext cx="3200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시간 관리, 돌발 대응, 분위기.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한 가지만 잘하는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강사는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많지만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다른 셋이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부실하면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결국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한계.</a:t>
            </a:r>
            <a:endParaRPr lang="en-US" sz="1700" dirty="0"/>
          </a:p>
        </p:txBody>
      </p:sp>
      <p:sp>
        <p:nvSpPr>
          <p:cNvPr id="37" name="Text 25"/>
          <p:cNvSpPr txBox="1"/>
          <p:nvPr/>
        </p:nvSpPr>
        <p:spPr>
          <a:xfrm>
            <a:off x="13448995" y="5581498"/>
            <a:ext cx="3391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FACTOR 04 · 가장 빠진 곳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13448995" y="5867705"/>
            <a:ext cx="33915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개선</a:t>
            </a:r>
            <a:endParaRPr lang="en-US" sz="3100" dirty="0"/>
          </a:p>
        </p:txBody>
      </p:sp>
      <p:sp>
        <p:nvSpPr>
          <p:cNvPr id="39" name="Text 27"/>
          <p:cNvSpPr txBox="1"/>
          <p:nvPr/>
        </p:nvSpPr>
        <p:spPr>
          <a:xfrm>
            <a:off x="13448995" y="6458407"/>
            <a:ext cx="3391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다음 강의를 위해</a:t>
            </a:r>
            <a:endParaRPr lang="en-US" sz="1500" dirty="0"/>
          </a:p>
        </p:txBody>
      </p:sp>
      <p:sp>
        <p:nvSpPr>
          <p:cNvPr id="40" name="Text 28"/>
          <p:cNvSpPr txBox="1"/>
          <p:nvPr/>
        </p:nvSpPr>
        <p:spPr>
          <a:xfrm>
            <a:off x="13278002" y="7048195"/>
            <a:ext cx="3720843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번 강의하면 한 번 좋아져야 합니다. </a:t>
            </a:r>
            <a:r>
              <a:rPr lang="en-US" sz="1700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만족도 분석 + 다음 회차 반영</a:t>
            </a: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빠지면 10년 차도 5년 차에 머뭅니다.</a:t>
            </a:r>
            <a:endParaRPr lang="en-US" sz="1700" dirty="0"/>
          </a:p>
        </p:txBody>
      </p:sp>
      <p:sp>
        <p:nvSpPr>
          <p:cNvPr id="41" name="Text 29"/>
          <p:cNvSpPr txBox="1"/>
          <p:nvPr/>
        </p:nvSpPr>
        <p:spPr>
          <a:xfrm>
            <a:off x="1143000" y="96204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PART 02 · STANDARD · 08 / 60</a:t>
            </a:r>
            <a:endParaRPr lang="en-US" sz="15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16273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5162702" cy="2305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572707" y="2952598"/>
            <a:ext cx="5162702" cy="2305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2001500" y="2952598"/>
            <a:ext cx="5162702" cy="2305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5429707"/>
            <a:ext cx="3829507" cy="3258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143500" y="5429707"/>
            <a:ext cx="3829507" cy="3258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144000" y="5429707"/>
            <a:ext cx="3829507" cy="3258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3144500" y="5429707"/>
            <a:ext cx="4000500" cy="32388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ea4a3fa6fa9eeeab5afd5a0f323f7a93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143000" y="2952598"/>
            <a:ext cx="57607" cy="2286000"/>
          </a:xfrm>
          <a:prstGeom prst="rect">
            <a:avLst/>
          </a:prstGeom>
        </p:spPr>
      </p:pic>
      <p:pic>
        <p:nvPicPr>
          <p:cNvPr id="13" name="Image 2" descr="gen-dedup-ea4a3fa6fa9eeeab5afd5a0f323f7a93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6572707" y="2952598"/>
            <a:ext cx="57607" cy="2286000"/>
          </a:xfrm>
          <a:prstGeom prst="rect">
            <a:avLst/>
          </a:prstGeom>
        </p:spPr>
      </p:pic>
      <p:pic>
        <p:nvPicPr>
          <p:cNvPr id="14" name="Image 3" descr="gen-dedup-ea4a3fa6fa9eeeab5afd5a0f323f7a93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2001500" y="2952598"/>
            <a:ext cx="57607" cy="2286000"/>
          </a:xfrm>
          <a:prstGeom prst="rect">
            <a:avLst/>
          </a:prstGeom>
        </p:spPr>
      </p:pic>
      <p:pic>
        <p:nvPicPr>
          <p:cNvPr id="15" name="Image 4" descr="gen-dedup-64f108ff68b11274c80d5e3e327e9ebb.png"/>
          <p:cNvPicPr>
            <a:picLocks noChangeAspect="1"/>
          </p:cNvPicPr>
          <p:nvPr/>
        </p:nvPicPr>
        <p:blipFill>
          <a:blip r:embed="rId5"/>
          <a:srcRect l="-395" r="-395"/>
          <a:stretch/>
        </p:blipFill>
        <p:spPr>
          <a:xfrm>
            <a:off x="1143000" y="5429707"/>
            <a:ext cx="57607" cy="3238805"/>
          </a:xfrm>
          <a:prstGeom prst="rect">
            <a:avLst/>
          </a:prstGeom>
        </p:spPr>
      </p:pic>
      <p:pic>
        <p:nvPicPr>
          <p:cNvPr id="16" name="Image 5" descr="gen-dedup-64f108ff68b11274c80d5e3e327e9ebb.png"/>
          <p:cNvPicPr>
            <a:picLocks noChangeAspect="1"/>
          </p:cNvPicPr>
          <p:nvPr/>
        </p:nvPicPr>
        <p:blipFill>
          <a:blip r:embed="rId5"/>
          <a:srcRect l="-395" r="-395"/>
          <a:stretch/>
        </p:blipFill>
        <p:spPr>
          <a:xfrm>
            <a:off x="5143500" y="5429707"/>
            <a:ext cx="57607" cy="3238805"/>
          </a:xfrm>
          <a:prstGeom prst="rect">
            <a:avLst/>
          </a:prstGeom>
        </p:spPr>
      </p:pic>
      <p:pic>
        <p:nvPicPr>
          <p:cNvPr id="17" name="Image 6" descr="gen-dedup-64f108ff68b11274c80d5e3e327e9ebb.png"/>
          <p:cNvPicPr>
            <a:picLocks noChangeAspect="1"/>
          </p:cNvPicPr>
          <p:nvPr/>
        </p:nvPicPr>
        <p:blipFill>
          <a:blip r:embed="rId5"/>
          <a:srcRect l="-395" r="-395"/>
          <a:stretch/>
        </p:blipFill>
        <p:spPr>
          <a:xfrm>
            <a:off x="9144000" y="5429707"/>
            <a:ext cx="57607" cy="3238805"/>
          </a:xfrm>
          <a:prstGeom prst="rect">
            <a:avLst/>
          </a:prstGeom>
        </p:spPr>
      </p:pic>
      <p:pic>
        <p:nvPicPr>
          <p:cNvPr id="18" name="Image 7" descr="gen-dedup-9626b09cb49b4c316c6a646dc65bea3a.png"/>
          <p:cNvPicPr>
            <a:picLocks noChangeAspect="1"/>
          </p:cNvPicPr>
          <p:nvPr/>
        </p:nvPicPr>
        <p:blipFill>
          <a:blip r:embed="rId6"/>
          <a:srcRect l="-395" r="-395"/>
          <a:stretch/>
        </p:blipFill>
        <p:spPr>
          <a:xfrm>
            <a:off x="13144500" y="5429707"/>
            <a:ext cx="57607" cy="323880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NEEDS ANALYSIS · 7개의 칸 — 이게 비면 무엇을 만들어도 헛것</a:t>
            </a:r>
            <a:endParaRPr lang="en-US" sz="1550" dirty="0"/>
          </a:p>
        </p:txBody>
      </p:sp>
      <p:sp>
        <p:nvSpPr>
          <p:cNvPr id="20" name="Text 10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요구분석은 7칸. 그 이상도, 이하도 아니다.</a:t>
            </a:r>
            <a:endParaRPr lang="en-US" sz="4500" dirty="0"/>
          </a:p>
        </p:txBody>
      </p:sp>
      <p:sp>
        <p:nvSpPr>
          <p:cNvPr id="21" name="Text 11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A4 한 장. 의뢰가 들어오면 이 표 한 장만 채우면 됩니다.</a:t>
            </a:r>
            <a:endParaRPr lang="en-US" sz="1700" dirty="0"/>
          </a:p>
        </p:txBody>
      </p:sp>
      <p:sp>
        <p:nvSpPr>
          <p:cNvPr id="22" name="Text 12"/>
          <p:cNvSpPr txBox="1"/>
          <p:nvPr/>
        </p:nvSpPr>
        <p:spPr>
          <a:xfrm>
            <a:off x="1524305" y="3143707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WHO</a:t>
            </a:r>
            <a:endParaRPr lang="en-US" sz="1500" dirty="0"/>
          </a:p>
        </p:txBody>
      </p:sp>
      <p:sp>
        <p:nvSpPr>
          <p:cNvPr id="23" name="Text 13"/>
          <p:cNvSpPr txBox="1"/>
          <p:nvPr/>
        </p:nvSpPr>
        <p:spPr>
          <a:xfrm>
            <a:off x="1524305" y="3448202"/>
            <a:ext cx="4572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대상</a:t>
            </a:r>
            <a:endParaRPr lang="en-US" sz="2950" dirty="0"/>
          </a:p>
        </p:txBody>
      </p:sp>
      <p:sp>
        <p:nvSpPr>
          <p:cNvPr id="24" name="Text 14"/>
          <p:cNvSpPr txBox="1"/>
          <p:nvPr/>
        </p:nvSpPr>
        <p:spPr>
          <a:xfrm>
            <a:off x="1524305" y="4000500"/>
            <a:ext cx="4572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누구입니까. 직군, 연령, 직급, 인원수.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예) “40대 이상 시니어 직장인,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 err="1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</a:t>
            </a:r>
            <a:r>
              <a:rPr lang="en-US" sz="170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경력 없음, 12명”</a:t>
            </a:r>
            <a:endParaRPr lang="en-US" sz="1700" dirty="0"/>
          </a:p>
        </p:txBody>
      </p:sp>
      <p:sp>
        <p:nvSpPr>
          <p:cNvPr id="25" name="Text 15"/>
          <p:cNvSpPr txBox="1"/>
          <p:nvPr/>
        </p:nvSpPr>
        <p:spPr>
          <a:xfrm>
            <a:off x="6953098" y="3143707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LEVEL</a:t>
            </a:r>
            <a:endParaRPr lang="en-US" sz="1500" dirty="0"/>
          </a:p>
        </p:txBody>
      </p:sp>
      <p:sp>
        <p:nvSpPr>
          <p:cNvPr id="26" name="Text 16"/>
          <p:cNvSpPr txBox="1"/>
          <p:nvPr/>
        </p:nvSpPr>
        <p:spPr>
          <a:xfrm>
            <a:off x="6953098" y="3448202"/>
            <a:ext cx="4572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수준</a:t>
            </a:r>
            <a:endParaRPr lang="en-US" sz="2950" dirty="0"/>
          </a:p>
        </p:txBody>
      </p:sp>
      <p:sp>
        <p:nvSpPr>
          <p:cNvPr id="27" name="Text 17"/>
          <p:cNvSpPr txBox="1"/>
          <p:nvPr/>
        </p:nvSpPr>
        <p:spPr>
          <a:xfrm>
            <a:off x="6953098" y="4000500"/>
            <a:ext cx="4572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이미 무엇을 알고 옵니까. 입문/중급/실무자.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예) “PPT 작성 경험은 있으나 강의 경험 없음”</a:t>
            </a:r>
            <a:endParaRPr lang="en-US" sz="1700" dirty="0"/>
          </a:p>
        </p:txBody>
      </p:sp>
      <p:sp>
        <p:nvSpPr>
          <p:cNvPr id="28" name="Text 18"/>
          <p:cNvSpPr txBox="1"/>
          <p:nvPr/>
        </p:nvSpPr>
        <p:spPr>
          <a:xfrm>
            <a:off x="12382805" y="3143707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TIME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12382805" y="3448202"/>
            <a:ext cx="4572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시간</a:t>
            </a:r>
            <a:endParaRPr lang="en-US" sz="2950" dirty="0"/>
          </a:p>
        </p:txBody>
      </p:sp>
      <p:sp>
        <p:nvSpPr>
          <p:cNvPr id="30" name="Text 20"/>
          <p:cNvSpPr txBox="1"/>
          <p:nvPr/>
        </p:nvSpPr>
        <p:spPr>
          <a:xfrm>
            <a:off x="12382805" y="4000500"/>
            <a:ext cx="4572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총 몇 시간입니까. 회차 분할 가능 여부.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예) “2시간 × 4회”, “하루 8시간 집중”</a:t>
            </a:r>
            <a:endParaRPr lang="en-US" sz="1700" dirty="0"/>
          </a:p>
        </p:txBody>
      </p:sp>
      <p:sp>
        <p:nvSpPr>
          <p:cNvPr id="31" name="Text 21"/>
          <p:cNvSpPr txBox="1"/>
          <p:nvPr/>
        </p:nvSpPr>
        <p:spPr>
          <a:xfrm>
            <a:off x="1447495" y="56199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WHERE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1447495" y="5924398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장소</a:t>
            </a:r>
            <a:endParaRPr lang="en-US" sz="2650" dirty="0"/>
          </a:p>
        </p:txBody>
      </p:sp>
      <p:sp>
        <p:nvSpPr>
          <p:cNvPr id="33" name="Text 23"/>
          <p:cNvSpPr txBox="1"/>
          <p:nvPr/>
        </p:nvSpPr>
        <p:spPr>
          <a:xfrm>
            <a:off x="1447495" y="6476695"/>
            <a:ext cx="3238805" cy="200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오프라인/온라인, 강의실 구조, 좌석 형태(분임/일자), 빔·마이크·인터넷.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“원형 좌석 12인용, 노트북 지참”</a:t>
            </a:r>
            <a:endParaRPr lang="en-US" sz="1550" dirty="0"/>
          </a:p>
        </p:txBody>
      </p:sp>
      <p:sp>
        <p:nvSpPr>
          <p:cNvPr id="34" name="Text 24"/>
          <p:cNvSpPr txBox="1"/>
          <p:nvPr/>
        </p:nvSpPr>
        <p:spPr>
          <a:xfrm>
            <a:off x="5447995" y="56199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TOOLS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5447995" y="5924398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도구</a:t>
            </a:r>
            <a:endParaRPr lang="en-US" sz="2650" dirty="0"/>
          </a:p>
        </p:txBody>
      </p:sp>
      <p:sp>
        <p:nvSpPr>
          <p:cNvPr id="36" name="Text 26"/>
          <p:cNvSpPr txBox="1"/>
          <p:nvPr/>
        </p:nvSpPr>
        <p:spPr>
          <a:xfrm>
            <a:off x="5447995" y="6476695"/>
            <a:ext cx="3238805" cy="200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 사용할 SW·계정·교재. 설치/로그인은 누가 미리 챙기는지.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“ChatGPT 무료 계정, 캔바 무료 계정”</a:t>
            </a:r>
            <a:endParaRPr lang="en-US" sz="1550" dirty="0"/>
          </a:p>
        </p:txBody>
      </p:sp>
      <p:sp>
        <p:nvSpPr>
          <p:cNvPr id="37" name="Text 27"/>
          <p:cNvSpPr txBox="1"/>
          <p:nvPr/>
        </p:nvSpPr>
        <p:spPr>
          <a:xfrm>
            <a:off x="9448495" y="56199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OUTPUT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9448495" y="5924398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산출물</a:t>
            </a:r>
            <a:endParaRPr lang="en-US" sz="2650" dirty="0"/>
          </a:p>
        </p:txBody>
      </p:sp>
      <p:sp>
        <p:nvSpPr>
          <p:cNvPr id="39" name="Text 29"/>
          <p:cNvSpPr txBox="1"/>
          <p:nvPr/>
        </p:nvSpPr>
        <p:spPr>
          <a:xfrm>
            <a:off x="9448495" y="6476695"/>
            <a:ext cx="3238805" cy="200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 강의가 끝났을 </a:t>
            </a: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때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손에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들고 나가는 것. “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안다”가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아니라 “만들었다”로.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“본인 강의용 제안서 초안 1개”</a:t>
            </a:r>
            <a:endParaRPr lang="en-US" sz="1550" dirty="0"/>
          </a:p>
        </p:txBody>
      </p:sp>
      <p:sp>
        <p:nvSpPr>
          <p:cNvPr id="40" name="Text 30"/>
          <p:cNvSpPr txBox="1"/>
          <p:nvPr/>
        </p:nvSpPr>
        <p:spPr>
          <a:xfrm>
            <a:off x="13448995" y="5619902"/>
            <a:ext cx="3429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CONSTRAINTS</a:t>
            </a:r>
            <a:endParaRPr lang="en-US" sz="1500" dirty="0"/>
          </a:p>
        </p:txBody>
      </p:sp>
      <p:sp>
        <p:nvSpPr>
          <p:cNvPr id="41" name="Text 31"/>
          <p:cNvSpPr txBox="1"/>
          <p:nvPr/>
        </p:nvSpPr>
        <p:spPr>
          <a:xfrm>
            <a:off x="13448995" y="5924398"/>
            <a:ext cx="3429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제한조건</a:t>
            </a:r>
            <a:endParaRPr lang="en-US" sz="2650" dirty="0"/>
          </a:p>
        </p:txBody>
      </p:sp>
      <p:sp>
        <p:nvSpPr>
          <p:cNvPr id="42" name="Text 32"/>
          <p:cNvSpPr txBox="1"/>
          <p:nvPr/>
        </p:nvSpPr>
        <p:spPr>
          <a:xfrm>
            <a:off x="13448995" y="6476695"/>
            <a:ext cx="3429000" cy="200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예산, 다루지 말아야 할 주제, 회사 정책, 사진 촬영 가능 여부.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“타사 사례 언급 금지, 사진 촬영 불가”</a:t>
            </a:r>
            <a:endParaRPr lang="en-US" sz="1550" dirty="0"/>
          </a:p>
        </p:txBody>
      </p:sp>
      <p:sp>
        <p:nvSpPr>
          <p:cNvPr id="43" name="Text 33"/>
          <p:cNvSpPr txBox="1"/>
          <p:nvPr/>
        </p:nvSpPr>
        <p:spPr>
          <a:xfrm>
            <a:off x="1143000" y="8906256"/>
            <a:ext cx="16002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7칸이 다 채워지지 않은 의뢰는, “견적 거절”이 아니라 </a:t>
            </a:r>
            <a:r>
              <a:rPr lang="en-US" sz="1900" b="1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“추가 질문”</a:t>
            </a:r>
            <a:r>
              <a:rPr lang="en-US" sz="190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정답입니다. → 다음 슬라이드.</a:t>
            </a:r>
            <a:endParaRPr lang="en-US" sz="1900" dirty="0"/>
          </a:p>
        </p:txBody>
      </p:sp>
      <p:sp>
        <p:nvSpPr>
          <p:cNvPr id="44" name="Text 34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09 / 60</a:t>
            </a:r>
            <a:endParaRPr lang="en-US" sz="15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41471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19095"/>
            <a:ext cx="7925105" cy="61529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c19c93a81fa2f4e63959601b57f82079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2083" r="-2083"/>
          <a:stretch/>
        </p:blipFill>
        <p:spPr>
          <a:xfrm>
            <a:off x="1447495" y="3372307"/>
            <a:ext cx="7295998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9098" y="2819095"/>
            <a:ext cx="7905902" cy="61337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bea2e9501d4d688102d2bc92c5620ef6.png"/>
          <p:cNvPicPr>
            <a:picLocks noChangeAspect="1"/>
          </p:cNvPicPr>
          <p:nvPr/>
        </p:nvPicPr>
        <p:blipFill>
          <a:blip r:embed="rId5">
            <a:alphaModFix amt="20000"/>
          </a:blip>
          <a:srcRect l="-2083" r="-2083"/>
          <a:stretch/>
        </p:blipFill>
        <p:spPr>
          <a:xfrm>
            <a:off x="9544507" y="3372307"/>
            <a:ext cx="7295998" cy="9144"/>
          </a:xfrm>
          <a:prstGeom prst="rect">
            <a:avLst/>
          </a:prstGeom>
        </p:spPr>
      </p:pic>
      <p:pic>
        <p:nvPicPr>
          <p:cNvPr id="9" name="Image 3" descr="gen-dedup-5a78262771742ef17404ee2481030fb8.png"/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143000" y="2819095"/>
            <a:ext cx="7905902" cy="57607"/>
          </a:xfrm>
          <a:prstGeom prst="rect">
            <a:avLst/>
          </a:prstGeom>
        </p:spPr>
      </p:pic>
      <p:pic>
        <p:nvPicPr>
          <p:cNvPr id="10" name="Image 4" descr="gen-dedup-4ba0e7cb554e9dcf14a929fddda7bb9e.png"/>
          <p:cNvPicPr>
            <a:picLocks noChangeAspect="1"/>
          </p:cNvPicPr>
          <p:nvPr/>
        </p:nvPicPr>
        <p:blipFill>
          <a:blip r:embed="rId7"/>
          <a:srcRect t="-399" b="-399"/>
          <a:stretch/>
        </p:blipFill>
        <p:spPr>
          <a:xfrm>
            <a:off x="9239098" y="2819095"/>
            <a:ext cx="7905902" cy="57607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CLIENT CHECKLIST · 견적을 보내기 전에, 이 10개를 받아둔다</a:t>
            </a:r>
            <a:endParaRPr lang="en-US" sz="155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1524305"/>
            <a:ext cx="1600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150" b="1" kern="0" spc="-40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의뢰 메일에 그대로 붙여 보낼 10개 질문.</a:t>
            </a:r>
            <a:endParaRPr lang="en-US" sz="415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2286000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“전문가다워 보이려” 묻는 것이 아니라, </a:t>
            </a:r>
            <a:r>
              <a:rPr lang="en-US" sz="15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나중에 강의를 망치지 않기 위해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묻는 것입니다.</a:t>
            </a:r>
            <a:endParaRPr lang="en-US" sz="1550" dirty="0"/>
          </a:p>
        </p:txBody>
      </p:sp>
      <p:sp>
        <p:nvSpPr>
          <p:cNvPr id="14" name="Text 7"/>
          <p:cNvSpPr txBox="1"/>
          <p:nvPr/>
        </p:nvSpPr>
        <p:spPr>
          <a:xfrm>
            <a:off x="1447495" y="3047695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대상·내용 (Q1–Q5)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1447495" y="3600907"/>
            <a:ext cx="438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endParaRPr lang="en-US" sz="1750" dirty="0"/>
          </a:p>
        </p:txBody>
      </p:sp>
      <p:sp>
        <p:nvSpPr>
          <p:cNvPr id="16" name="Text 9"/>
          <p:cNvSpPr txBox="1"/>
          <p:nvPr/>
        </p:nvSpPr>
        <p:spPr>
          <a:xfrm>
            <a:off x="1447495" y="4058107"/>
            <a:ext cx="438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</a:t>
            </a:r>
            <a:endParaRPr lang="en-US" sz="1750" dirty="0"/>
          </a:p>
        </p:txBody>
      </p:sp>
      <p:sp>
        <p:nvSpPr>
          <p:cNvPr id="17" name="Text 10"/>
          <p:cNvSpPr txBox="1"/>
          <p:nvPr/>
        </p:nvSpPr>
        <p:spPr>
          <a:xfrm>
            <a:off x="1447495" y="4770137"/>
            <a:ext cx="438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</a:t>
            </a:r>
            <a:endParaRPr lang="en-US" sz="1750" dirty="0"/>
          </a:p>
        </p:txBody>
      </p:sp>
      <p:sp>
        <p:nvSpPr>
          <p:cNvPr id="18" name="Text 11"/>
          <p:cNvSpPr txBox="1"/>
          <p:nvPr/>
        </p:nvSpPr>
        <p:spPr>
          <a:xfrm>
            <a:off x="1447495" y="5484284"/>
            <a:ext cx="438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</a:t>
            </a:r>
            <a:endParaRPr lang="en-US" sz="1750" dirty="0"/>
          </a:p>
        </p:txBody>
      </p:sp>
      <p:sp>
        <p:nvSpPr>
          <p:cNvPr id="19" name="Text 12"/>
          <p:cNvSpPr txBox="1"/>
          <p:nvPr/>
        </p:nvSpPr>
        <p:spPr>
          <a:xfrm>
            <a:off x="1447495" y="5941484"/>
            <a:ext cx="438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Q5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2018995" y="3619195"/>
            <a:ext cx="266639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 정확히 누구입니까?</a:t>
            </a:r>
            <a:endParaRPr lang="en-US" sz="1650" dirty="0"/>
          </a:p>
        </p:txBody>
      </p:sp>
      <p:sp>
        <p:nvSpPr>
          <p:cNvPr id="21" name="Text 14"/>
          <p:cNvSpPr txBox="1"/>
          <p:nvPr/>
        </p:nvSpPr>
        <p:spPr>
          <a:xfrm>
            <a:off x="4781428" y="3619195"/>
            <a:ext cx="292242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직군·연령·인원·강제 참석 여부.</a:t>
            </a:r>
            <a:endParaRPr lang="en-US" sz="1650" dirty="0"/>
          </a:p>
        </p:txBody>
      </p:sp>
      <p:sp>
        <p:nvSpPr>
          <p:cNvPr id="22" name="Text 15"/>
          <p:cNvSpPr txBox="1"/>
          <p:nvPr/>
        </p:nvSpPr>
        <p:spPr>
          <a:xfrm>
            <a:off x="2018995" y="4076395"/>
            <a:ext cx="251185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강의를 왜 지금 합니까?</a:t>
            </a:r>
            <a:endParaRPr lang="en-US" sz="1650" dirty="0"/>
          </a:p>
        </p:txBody>
      </p:sp>
      <p:sp>
        <p:nvSpPr>
          <p:cNvPr id="23" name="Text 16"/>
          <p:cNvSpPr txBox="1"/>
          <p:nvPr/>
        </p:nvSpPr>
        <p:spPr>
          <a:xfrm>
            <a:off x="2012901" y="4376775"/>
            <a:ext cx="462137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조직의 진짜 이유 — 평가, 신사업, 정기 교육 의무.</a:t>
            </a:r>
            <a:endParaRPr lang="en-US" sz="1650" dirty="0"/>
          </a:p>
        </p:txBody>
      </p:sp>
      <p:sp>
        <p:nvSpPr>
          <p:cNvPr id="24" name="Text 17"/>
          <p:cNvSpPr txBox="1"/>
          <p:nvPr/>
        </p:nvSpPr>
        <p:spPr>
          <a:xfrm>
            <a:off x="2018995" y="4788425"/>
            <a:ext cx="438729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후 수강생이 어떤 행동을 하길 바라십니까?</a:t>
            </a:r>
            <a:endParaRPr lang="en-US" sz="1650" dirty="0"/>
          </a:p>
        </p:txBody>
      </p:sp>
      <p:sp>
        <p:nvSpPr>
          <p:cNvPr id="25" name="Text 18"/>
          <p:cNvSpPr txBox="1"/>
          <p:nvPr/>
        </p:nvSpPr>
        <p:spPr>
          <a:xfrm>
            <a:off x="2018995" y="5060002"/>
            <a:ext cx="479511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“많이 배웠다”가 아니라 “월요일에 X를 하게 한다”로.</a:t>
            </a:r>
            <a:endParaRPr lang="en-US" sz="1650" dirty="0"/>
          </a:p>
        </p:txBody>
      </p:sp>
      <p:sp>
        <p:nvSpPr>
          <p:cNvPr id="26" name="Text 19"/>
          <p:cNvSpPr txBox="1"/>
          <p:nvPr/>
        </p:nvSpPr>
        <p:spPr>
          <a:xfrm>
            <a:off x="2018995" y="5503486"/>
            <a:ext cx="31528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이전에 비슷한 강의가 있었습니까?</a:t>
            </a:r>
            <a:endParaRPr lang="en-US" sz="1650" dirty="0"/>
          </a:p>
        </p:txBody>
      </p:sp>
      <p:sp>
        <p:nvSpPr>
          <p:cNvPr id="27" name="Text 20"/>
          <p:cNvSpPr txBox="1"/>
          <p:nvPr/>
        </p:nvSpPr>
        <p:spPr>
          <a:xfrm>
            <a:off x="5236768" y="5503486"/>
            <a:ext cx="288310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있었다면 만족도와 부족했던 점.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2018995" y="5960686"/>
            <a:ext cx="420806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다루지 말아야 할 주제·금기 사항이 있습니까?</a:t>
            </a:r>
            <a:endParaRPr lang="en-US" sz="1650" dirty="0"/>
          </a:p>
        </p:txBody>
      </p:sp>
      <p:sp>
        <p:nvSpPr>
          <p:cNvPr id="29" name="Text 22"/>
          <p:cNvSpPr txBox="1"/>
          <p:nvPr/>
        </p:nvSpPr>
        <p:spPr>
          <a:xfrm>
            <a:off x="2018995" y="6274325"/>
            <a:ext cx="377464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언급, 사내 사건, 정치적 주제 등.</a:t>
            </a:r>
            <a:endParaRPr lang="en-US" sz="1650" dirty="0"/>
          </a:p>
        </p:txBody>
      </p:sp>
      <p:sp>
        <p:nvSpPr>
          <p:cNvPr id="30" name="Text 23"/>
          <p:cNvSpPr txBox="1"/>
          <p:nvPr/>
        </p:nvSpPr>
        <p:spPr>
          <a:xfrm>
            <a:off x="9544507" y="3047695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진행·정산 (Q6–Q10)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544507" y="3600907"/>
            <a:ext cx="438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Q6</a:t>
            </a:r>
            <a:endParaRPr lang="en-US" sz="1750" dirty="0"/>
          </a:p>
        </p:txBody>
      </p:sp>
      <p:sp>
        <p:nvSpPr>
          <p:cNvPr id="32" name="Text 25"/>
          <p:cNvSpPr txBox="1"/>
          <p:nvPr/>
        </p:nvSpPr>
        <p:spPr>
          <a:xfrm>
            <a:off x="9544507" y="4402878"/>
            <a:ext cx="438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Q7</a:t>
            </a:r>
            <a:endParaRPr lang="en-US" sz="1750" dirty="0"/>
          </a:p>
        </p:txBody>
      </p:sp>
      <p:sp>
        <p:nvSpPr>
          <p:cNvPr id="33" name="Text 26"/>
          <p:cNvSpPr txBox="1"/>
          <p:nvPr/>
        </p:nvSpPr>
        <p:spPr>
          <a:xfrm>
            <a:off x="9544507" y="5117025"/>
            <a:ext cx="438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Q8</a:t>
            </a:r>
            <a:endParaRPr lang="en-US" sz="1750" dirty="0"/>
          </a:p>
        </p:txBody>
      </p:sp>
      <p:sp>
        <p:nvSpPr>
          <p:cNvPr id="34" name="Text 27"/>
          <p:cNvSpPr txBox="1"/>
          <p:nvPr/>
        </p:nvSpPr>
        <p:spPr>
          <a:xfrm>
            <a:off x="9544507" y="5978957"/>
            <a:ext cx="438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Q9</a:t>
            </a:r>
            <a:endParaRPr lang="en-US" sz="1750" dirty="0"/>
          </a:p>
        </p:txBody>
      </p:sp>
      <p:sp>
        <p:nvSpPr>
          <p:cNvPr id="35" name="Text 28"/>
          <p:cNvSpPr txBox="1"/>
          <p:nvPr/>
        </p:nvSpPr>
        <p:spPr>
          <a:xfrm>
            <a:off x="9544507" y="6693103"/>
            <a:ext cx="438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Q10</a:t>
            </a:r>
            <a:endParaRPr lang="en-US" sz="1750" dirty="0"/>
          </a:p>
        </p:txBody>
      </p:sp>
      <p:sp>
        <p:nvSpPr>
          <p:cNvPr id="36" name="Text 29"/>
          <p:cNvSpPr txBox="1"/>
          <p:nvPr/>
        </p:nvSpPr>
        <p:spPr>
          <a:xfrm>
            <a:off x="10116007" y="3619195"/>
            <a:ext cx="297362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강의실의 좌석 형태와 인원수는?</a:t>
            </a:r>
            <a:endParaRPr lang="en-US" sz="1650" dirty="0"/>
          </a:p>
        </p:txBody>
      </p:sp>
      <p:sp>
        <p:nvSpPr>
          <p:cNvPr id="37" name="Text 30"/>
          <p:cNvSpPr txBox="1"/>
          <p:nvPr/>
        </p:nvSpPr>
        <p:spPr>
          <a:xfrm>
            <a:off x="10116007" y="4421166"/>
            <a:ext cx="38039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 노트북·계정·교재를 가져옵니까?</a:t>
            </a:r>
            <a:endParaRPr lang="en-US" sz="1650" dirty="0"/>
          </a:p>
        </p:txBody>
      </p:sp>
      <p:sp>
        <p:nvSpPr>
          <p:cNvPr id="38" name="Text 31"/>
          <p:cNvSpPr txBox="1"/>
          <p:nvPr/>
        </p:nvSpPr>
        <p:spPr>
          <a:xfrm>
            <a:off x="10116007" y="5136227"/>
            <a:ext cx="344454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자료를 사전에 배포해도 됩니까?</a:t>
            </a:r>
            <a:endParaRPr lang="en-US" sz="1650" dirty="0"/>
          </a:p>
        </p:txBody>
      </p:sp>
      <p:sp>
        <p:nvSpPr>
          <p:cNvPr id="39" name="Text 32"/>
          <p:cNvSpPr txBox="1"/>
          <p:nvPr/>
        </p:nvSpPr>
        <p:spPr>
          <a:xfrm>
            <a:off x="10116007" y="5998159"/>
            <a:ext cx="42748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만족도 조사·결과보고서 제출 의무가 있습니까?</a:t>
            </a:r>
            <a:endParaRPr lang="en-US" sz="1650" dirty="0"/>
          </a:p>
        </p:txBody>
      </p:sp>
      <p:sp>
        <p:nvSpPr>
          <p:cNvPr id="40" name="Text 33"/>
          <p:cNvSpPr txBox="1"/>
          <p:nvPr/>
        </p:nvSpPr>
        <p:spPr>
          <a:xfrm>
            <a:off x="10116007" y="6712305"/>
            <a:ext cx="391637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강사료는 강의 후 며칠 이내에 입금됩니까?</a:t>
            </a:r>
            <a:endParaRPr lang="en-US" sz="1650" dirty="0"/>
          </a:p>
        </p:txBody>
      </p:sp>
      <p:sp>
        <p:nvSpPr>
          <p:cNvPr id="41" name="Text 34"/>
          <p:cNvSpPr txBox="1"/>
          <p:nvPr/>
        </p:nvSpPr>
        <p:spPr>
          <a:xfrm>
            <a:off x="10129811" y="3918719"/>
            <a:ext cx="33183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분임/일자/원형 + 빔·마이크·인터넷.</a:t>
            </a:r>
            <a:endParaRPr lang="en-US" sz="1650" dirty="0"/>
          </a:p>
        </p:txBody>
      </p:sp>
      <p:sp>
        <p:nvSpPr>
          <p:cNvPr id="42" name="Text 35"/>
          <p:cNvSpPr txBox="1"/>
          <p:nvPr/>
        </p:nvSpPr>
        <p:spPr>
          <a:xfrm>
            <a:off x="10116007" y="4692743"/>
            <a:ext cx="377464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현장에서 “설치부터” 시작하면 30분 손실.</a:t>
            </a:r>
            <a:endParaRPr lang="en-US" sz="1650" dirty="0"/>
          </a:p>
        </p:txBody>
      </p:sp>
      <p:sp>
        <p:nvSpPr>
          <p:cNvPr id="43" name="Text 36"/>
          <p:cNvSpPr txBox="1"/>
          <p:nvPr/>
        </p:nvSpPr>
        <p:spPr>
          <a:xfrm>
            <a:off x="10039601" y="5464562"/>
            <a:ext cx="383956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“현장 배포만 가능” 같은 제약이 흔합니다.</a:t>
            </a:r>
            <a:endParaRPr lang="en-US" sz="1650" dirty="0"/>
          </a:p>
        </p:txBody>
      </p:sp>
      <p:sp>
        <p:nvSpPr>
          <p:cNvPr id="44" name="Text 37"/>
          <p:cNvSpPr txBox="1"/>
          <p:nvPr/>
        </p:nvSpPr>
        <p:spPr>
          <a:xfrm>
            <a:off x="10116007" y="6268821"/>
            <a:ext cx="414314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의무가 있으면 견적과 일정에 반영해야 합니다.</a:t>
            </a:r>
            <a:endParaRPr lang="en-US" sz="1650" dirty="0"/>
          </a:p>
        </p:txBody>
      </p:sp>
      <p:sp>
        <p:nvSpPr>
          <p:cNvPr id="45" name="Text 38"/>
          <p:cNvSpPr txBox="1"/>
          <p:nvPr/>
        </p:nvSpPr>
        <p:spPr>
          <a:xfrm>
            <a:off x="10116007" y="6983882"/>
            <a:ext cx="34482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세금계산서 처리, 원천징수 여부 함께.</a:t>
            </a:r>
            <a:endParaRPr lang="en-US" sz="1650" dirty="0"/>
          </a:p>
        </p:txBody>
      </p:sp>
      <p:sp>
        <p:nvSpPr>
          <p:cNvPr id="46" name="Text 39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10 / 60</a:t>
            </a:r>
            <a:endParaRPr lang="en-US" sz="15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158980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21202" cy="106710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4114800"/>
            <a:ext cx="16021202" cy="106710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5277002"/>
            <a:ext cx="16021202" cy="106710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6439205"/>
            <a:ext cx="16021202" cy="106710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7601407"/>
            <a:ext cx="16002000" cy="1047902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2952598"/>
            <a:ext cx="1047902" cy="1047902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4114800"/>
            <a:ext cx="1047902" cy="1047902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5277002"/>
            <a:ext cx="1047902" cy="1047902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43000" y="6439205"/>
            <a:ext cx="1047902" cy="1047902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7601407"/>
            <a:ext cx="1047902" cy="1047902"/>
          </a:xfrm>
          <a:prstGeom prst="rect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CURRICULUM DESIGN · 거꾸로 설계하기 — 끝에서 시작한다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580998"/>
            <a:ext cx="1485534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5단계. 처음이 ‘목표’, 절대 ‘목차’가 아니다.</a:t>
            </a:r>
            <a:endParaRPr lang="en-US" sz="45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“챕터 5개로 나누자”부터 시작하면, 강의가 끝나도 수강생이 무엇을 할 줄 알게 되는지 모릅니다.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066898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4500" dirty="0"/>
          </a:p>
        </p:txBody>
      </p:sp>
      <p:sp>
        <p:nvSpPr>
          <p:cNvPr id="19" name="Text 16"/>
          <p:cNvSpPr txBox="1"/>
          <p:nvPr/>
        </p:nvSpPr>
        <p:spPr>
          <a:xfrm>
            <a:off x="2495398" y="3105302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· 1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495398" y="3409798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학습 목표</a:t>
            </a:r>
            <a:endParaRPr lang="en-US" sz="2650" dirty="0"/>
          </a:p>
        </p:txBody>
      </p:sp>
      <p:sp>
        <p:nvSpPr>
          <p:cNvPr id="21" name="Text 18"/>
          <p:cNvSpPr txBox="1"/>
          <p:nvPr/>
        </p:nvSpPr>
        <p:spPr>
          <a:xfrm>
            <a:off x="5053014" y="3200400"/>
            <a:ext cx="833224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“수강생이 강의 끝에 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무엇을 할 수 있게 되는가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” 한 문장.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14414212" y="3200400"/>
            <a:ext cx="32388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“본인 강의용 제안서 1쪽을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혼자 작성할 수 있다.”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4229100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4500" dirty="0"/>
          </a:p>
        </p:txBody>
      </p:sp>
      <p:sp>
        <p:nvSpPr>
          <p:cNvPr id="24" name="Text 21"/>
          <p:cNvSpPr txBox="1"/>
          <p:nvPr/>
        </p:nvSpPr>
        <p:spPr>
          <a:xfrm>
            <a:off x="2495398" y="426750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· 2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2495398" y="4572000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대상 분석</a:t>
            </a:r>
            <a:endParaRPr lang="en-US" sz="2650" dirty="0"/>
          </a:p>
        </p:txBody>
      </p:sp>
      <p:sp>
        <p:nvSpPr>
          <p:cNvPr id="26" name="Text 23"/>
          <p:cNvSpPr txBox="1"/>
          <p:nvPr/>
        </p:nvSpPr>
        <p:spPr>
          <a:xfrm>
            <a:off x="5053014" y="4362602"/>
            <a:ext cx="833224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이미 아는 것 / 모르는 것 / 두려워하는 것. 세 가지를 분리해서.</a:t>
            </a:r>
            <a:endParaRPr lang="en-US" sz="1650" dirty="0"/>
          </a:p>
        </p:txBody>
      </p:sp>
      <p:sp>
        <p:nvSpPr>
          <p:cNvPr id="27" name="Text 24"/>
          <p:cNvSpPr txBox="1"/>
          <p:nvPr/>
        </p:nvSpPr>
        <p:spPr>
          <a:xfrm>
            <a:off x="14414212" y="4362602"/>
            <a:ext cx="32388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안다 — PPT 작성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모른다 — 강의 흐름 설계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두렵다 — 사람 앞 발표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5391302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4500" dirty="0"/>
          </a:p>
        </p:txBody>
      </p:sp>
      <p:sp>
        <p:nvSpPr>
          <p:cNvPr id="29" name="Text 26"/>
          <p:cNvSpPr txBox="1"/>
          <p:nvPr/>
        </p:nvSpPr>
        <p:spPr>
          <a:xfrm>
            <a:off x="2495398" y="5429707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· 3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2495398" y="5734202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시간 배분</a:t>
            </a:r>
            <a:endParaRPr lang="en-US" sz="2650" dirty="0"/>
          </a:p>
        </p:txBody>
      </p:sp>
      <p:sp>
        <p:nvSpPr>
          <p:cNvPr id="31" name="Text 28"/>
          <p:cNvSpPr txBox="1"/>
          <p:nvPr/>
        </p:nvSpPr>
        <p:spPr>
          <a:xfrm>
            <a:off x="5053014" y="5524805"/>
            <a:ext cx="833224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1시간 단위로 자르고, 한 시간 안에 “설명 30분 + 실습 20분 + 정리 10분” 비율 유지.</a:t>
            </a:r>
            <a:endParaRPr lang="en-US" sz="1650" dirty="0"/>
          </a:p>
        </p:txBody>
      </p:sp>
      <p:sp>
        <p:nvSpPr>
          <p:cNvPr id="32" name="Text 29"/>
          <p:cNvSpPr txBox="1"/>
          <p:nvPr/>
        </p:nvSpPr>
        <p:spPr>
          <a:xfrm>
            <a:off x="14414212" y="5524805"/>
            <a:ext cx="32388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2시간 → 100분 + 휴식 20분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(40분 설명 × 2 + 실습 20분)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6553505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4500" dirty="0"/>
          </a:p>
        </p:txBody>
      </p:sp>
      <p:sp>
        <p:nvSpPr>
          <p:cNvPr id="34" name="Text 31"/>
          <p:cNvSpPr txBox="1"/>
          <p:nvPr/>
        </p:nvSpPr>
        <p:spPr>
          <a:xfrm>
            <a:off x="2495398" y="659099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· 4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2495398" y="6896405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실습 설계</a:t>
            </a:r>
            <a:endParaRPr lang="en-US" sz="2650" dirty="0"/>
          </a:p>
        </p:txBody>
      </p:sp>
      <p:sp>
        <p:nvSpPr>
          <p:cNvPr id="36" name="Text 33"/>
          <p:cNvSpPr txBox="1"/>
          <p:nvPr/>
        </p:nvSpPr>
        <p:spPr>
          <a:xfrm>
            <a:off x="5053014" y="6687007"/>
            <a:ext cx="833224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 1시간마다 손을 움직이는 활동 1개 — 그 결과물이 5번 단계의 입력값.</a:t>
            </a:r>
            <a:endParaRPr lang="en-US" sz="1650" dirty="0"/>
          </a:p>
        </p:txBody>
      </p:sp>
      <p:sp>
        <p:nvSpPr>
          <p:cNvPr id="37" name="Text 34"/>
          <p:cNvSpPr txBox="1"/>
          <p:nvPr/>
        </p:nvSpPr>
        <p:spPr>
          <a:xfrm>
            <a:off x="14414212" y="6687007"/>
            <a:ext cx="32388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본인 강의 주제 1개를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요구분석서 7칸에 채우기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" y="7715707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4500" dirty="0"/>
          </a:p>
        </p:txBody>
      </p:sp>
      <p:sp>
        <p:nvSpPr>
          <p:cNvPr id="39" name="Text 36"/>
          <p:cNvSpPr txBox="1"/>
          <p:nvPr/>
        </p:nvSpPr>
        <p:spPr>
          <a:xfrm>
            <a:off x="2495398" y="7753198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· 5 — 가장 중요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2495398" y="8058607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결과물 정의</a:t>
            </a:r>
            <a:endParaRPr lang="en-US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5053013" y="7848295"/>
            <a:ext cx="885318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 강의장에서 나갈 때 손에 들고 나가는 1쪽짜리 결과물. </a:t>
            </a: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이게 정해지면 1~4가 자동 결정.</a:t>
            </a:r>
            <a:endParaRPr lang="en-US" sz="1650" dirty="0"/>
          </a:p>
        </p:txBody>
      </p:sp>
      <p:sp>
        <p:nvSpPr>
          <p:cNvPr id="42" name="Text 39"/>
          <p:cNvSpPr txBox="1"/>
          <p:nvPr/>
        </p:nvSpPr>
        <p:spPr>
          <a:xfrm>
            <a:off x="14414212" y="7848295"/>
            <a:ext cx="32388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>
                    <a:alpha val="9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본인 강의용 제안서 1장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>
                    <a:alpha val="9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이번 강의 “끝의 종이”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143000" y="8906256"/>
            <a:ext cx="16002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설계 순서는 1 → 2 → 3 → 4 → 5 인데, </a:t>
            </a:r>
            <a:r>
              <a:rPr lang="en-US" sz="1900" b="1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검토는 항상 5번부터 거꾸로 읽습니다.</a:t>
            </a:r>
            <a:endParaRPr lang="en-US" sz="190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11 / 60</a:t>
            </a:r>
            <a:endParaRPr lang="en-US" sz="15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267903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02000" cy="476402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3619195"/>
            <a:ext cx="16021202" cy="1733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11305" y="3810305"/>
            <a:ext cx="2876702" cy="1352398"/>
          </a:xfrm>
          <a:prstGeom prst="rect">
            <a:avLst/>
          </a:prstGeom>
          <a:solidFill>
            <a:srgbClr val="FCEBE6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5524805"/>
            <a:ext cx="1604040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7524598"/>
            <a:ext cx="5162702" cy="1447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572707" y="7524598"/>
            <a:ext cx="5162702" cy="1447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2001500" y="7524598"/>
            <a:ext cx="5143500" cy="1429207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e29669261ec6a61ea64ff2a3d4a9c2f2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143000" y="3619195"/>
            <a:ext cx="57607" cy="1714500"/>
          </a:xfrm>
          <a:prstGeom prst="rect">
            <a:avLst/>
          </a:prstGeom>
        </p:spPr>
      </p:pic>
      <p:pic>
        <p:nvPicPr>
          <p:cNvPr id="13" name="Image 2" descr="gen-dedup-3899765bbc4ca30efd24fec3243adc58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143000" y="5524805"/>
            <a:ext cx="57607" cy="17145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1-HOUR BLOCK · 강의 시간표는 결국 이 한 줄의 반복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한 시간 = 다섯 칸. 빈칸 없이 채운다.</a:t>
            </a:r>
            <a:endParaRPr lang="en-US" sz="45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표 한 줄이 한 시간. 2시간 강의면 두 줄. 8시간 강의면 여덟 줄.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24305" y="2952598"/>
            <a:ext cx="2286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목표 (1문장)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953305" y="2952598"/>
            <a:ext cx="3048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세부 내용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762695" y="2952598"/>
            <a:ext cx="26673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활동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1811305" y="2952598"/>
            <a:ext cx="285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 (1쪽)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4859000" y="2952598"/>
            <a:ext cx="20958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필요 도구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447495" y="373349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2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예시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524305" y="3981298"/>
            <a:ext cx="34290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 본인 강의 1개에 대한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요구분석서 7칸을 채울 수 있다.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4953305" y="3733495"/>
            <a:ext cx="3620110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7칸 구성 설명 (25분)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칸별 실제 사례 3개 (10분)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잘못 채운 예시 분석 (5분)</a:t>
            </a:r>
            <a:endParaRPr lang="en-US" sz="1550" dirty="0"/>
          </a:p>
        </p:txBody>
      </p:sp>
      <p:sp>
        <p:nvSpPr>
          <p:cNvPr id="25" name="Text 20"/>
          <p:cNvSpPr txBox="1"/>
          <p:nvPr/>
        </p:nvSpPr>
        <p:spPr>
          <a:xfrm>
            <a:off x="8762695" y="3733495"/>
            <a:ext cx="2857500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본인 강의 1개를 골라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7칸을 직접 채우기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(15분, 개별)</a:t>
            </a:r>
            <a:endParaRPr lang="en-US" sz="1550" dirty="0"/>
          </a:p>
        </p:txBody>
      </p:sp>
      <p:sp>
        <p:nvSpPr>
          <p:cNvPr id="26" name="Text 21"/>
          <p:cNvSpPr txBox="1"/>
          <p:nvPr/>
        </p:nvSpPr>
        <p:spPr>
          <a:xfrm>
            <a:off x="11963095" y="3924605"/>
            <a:ext cx="25530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채워진 요구분석서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(A4 1장, 본인 이름 포함)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14859000" y="3733495"/>
            <a:ext cx="2095805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종이 양식 1장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볼펜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(노트북 불필요)</a:t>
            </a:r>
            <a:endParaRPr lang="en-US" sz="1550" dirty="0"/>
          </a:p>
        </p:txBody>
      </p:sp>
      <p:sp>
        <p:nvSpPr>
          <p:cNvPr id="28" name="Text 23"/>
          <p:cNvSpPr txBox="1"/>
          <p:nvPr/>
        </p:nvSpPr>
        <p:spPr>
          <a:xfrm>
            <a:off x="1447495" y="5639105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2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본인이 채울 칸 — 1교시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1524305" y="5924398"/>
            <a:ext cx="34290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</a:t>
            </a:r>
            <a:endParaRPr lang="en-US" sz="2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</a:t>
            </a:r>
            <a:endParaRPr lang="en-US" sz="2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</a:t>
            </a:r>
            <a:endParaRPr lang="en-US" sz="2650" dirty="0"/>
          </a:p>
        </p:txBody>
      </p:sp>
      <p:sp>
        <p:nvSpPr>
          <p:cNvPr id="30" name="Text 25"/>
          <p:cNvSpPr txBox="1"/>
          <p:nvPr/>
        </p:nvSpPr>
        <p:spPr>
          <a:xfrm>
            <a:off x="4953305" y="5924398"/>
            <a:ext cx="36201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</a:t>
            </a:r>
            <a:endParaRPr lang="en-US" sz="2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</a:t>
            </a:r>
            <a:endParaRPr lang="en-US" sz="2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</a:t>
            </a:r>
            <a:endParaRPr lang="en-US" sz="2650" dirty="0"/>
          </a:p>
        </p:txBody>
      </p:sp>
      <p:sp>
        <p:nvSpPr>
          <p:cNvPr id="31" name="Text 26"/>
          <p:cNvSpPr txBox="1"/>
          <p:nvPr/>
        </p:nvSpPr>
        <p:spPr>
          <a:xfrm>
            <a:off x="8762695" y="5924398"/>
            <a:ext cx="2857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</a:t>
            </a:r>
            <a:endParaRPr lang="en-US" sz="2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</a:t>
            </a:r>
            <a:endParaRPr lang="en-US" sz="2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</a:t>
            </a:r>
            <a:endParaRPr lang="en-US" sz="2650" dirty="0"/>
          </a:p>
        </p:txBody>
      </p:sp>
      <p:sp>
        <p:nvSpPr>
          <p:cNvPr id="32" name="Text 27"/>
          <p:cNvSpPr txBox="1"/>
          <p:nvPr/>
        </p:nvSpPr>
        <p:spPr>
          <a:xfrm>
            <a:off x="11811305" y="5924398"/>
            <a:ext cx="2857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</a:t>
            </a:r>
            <a:endParaRPr lang="en-US" sz="2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</a:t>
            </a:r>
            <a:endParaRPr lang="en-US" sz="2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</a:t>
            </a:r>
            <a:endParaRPr lang="en-US" sz="2650" dirty="0"/>
          </a:p>
        </p:txBody>
      </p:sp>
      <p:sp>
        <p:nvSpPr>
          <p:cNvPr id="33" name="Text 28"/>
          <p:cNvSpPr txBox="1"/>
          <p:nvPr/>
        </p:nvSpPr>
        <p:spPr>
          <a:xfrm>
            <a:off x="14859000" y="5924398"/>
            <a:ext cx="20958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</a:t>
            </a:r>
            <a:endParaRPr lang="en-US" sz="2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</a:t>
            </a:r>
            <a:endParaRPr lang="en-US" sz="2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</a:t>
            </a:r>
            <a:endParaRPr lang="en-US" sz="2650" dirty="0"/>
          </a:p>
        </p:txBody>
      </p:sp>
      <p:sp>
        <p:nvSpPr>
          <p:cNvPr id="34" name="Text 29"/>
          <p:cNvSpPr txBox="1"/>
          <p:nvPr/>
        </p:nvSpPr>
        <p:spPr>
          <a:xfrm>
            <a:off x="1447495" y="7677302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규칙 01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1447495" y="7962595"/>
            <a:ext cx="4572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칸이 비면 다음 단계로 넘어가지 않는다.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자주 빠지는 칸은 “산출물”.</a:t>
            </a:r>
            <a:endParaRPr lang="en-US" sz="1700" dirty="0"/>
          </a:p>
        </p:txBody>
      </p:sp>
      <p:sp>
        <p:nvSpPr>
          <p:cNvPr id="36" name="Text 31"/>
          <p:cNvSpPr txBox="1"/>
          <p:nvPr/>
        </p:nvSpPr>
        <p:spPr>
          <a:xfrm>
            <a:off x="6877202" y="7677302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규칙 02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6877201" y="7962595"/>
            <a:ext cx="483809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목표 문장은 “수강생이 ~을 할 수 </a:t>
            </a:r>
            <a:r>
              <a:rPr lang="en-US" sz="1700" b="1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있다”로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b="1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끝난다</a:t>
            </a:r>
            <a:r>
              <a:rPr lang="en-US" altLang="ko-KR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“이해한다”는 금지.</a:t>
            </a:r>
            <a:endParaRPr lang="en-US" sz="1700" dirty="0"/>
          </a:p>
        </p:txBody>
      </p:sp>
      <p:sp>
        <p:nvSpPr>
          <p:cNvPr id="38" name="Text 33"/>
          <p:cNvSpPr txBox="1"/>
          <p:nvPr/>
        </p:nvSpPr>
        <p:spPr>
          <a:xfrm>
            <a:off x="12305995" y="7677302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규칙 03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12305995" y="7962595"/>
            <a:ext cx="4572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활동이 없는 1시간은 1시간이 아니다.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강의가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50분이면 실습 10분이라도.</a:t>
            </a:r>
            <a:endParaRPr lang="en-US" sz="1700" dirty="0"/>
          </a:p>
        </p:txBody>
      </p:sp>
      <p:sp>
        <p:nvSpPr>
          <p:cNvPr id="40" name="Text 35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12 / 60</a:t>
            </a:r>
            <a:endParaRPr lang="en-US" sz="15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06502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21202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4172407"/>
            <a:ext cx="16021202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5391302"/>
            <a:ext cx="16021202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6610198"/>
            <a:ext cx="16021202" cy="11237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7830007"/>
            <a:ext cx="16002000" cy="11045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2952598"/>
            <a:ext cx="1047902" cy="1104595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4172407"/>
            <a:ext cx="1047902" cy="1104595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5391302"/>
            <a:ext cx="1047902" cy="1104595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43000" y="6610198"/>
            <a:ext cx="1047902" cy="1104595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7830007"/>
            <a:ext cx="1047902" cy="1104595"/>
          </a:xfrm>
          <a:prstGeom prst="rect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PROPOSAL TEMPLATE · 제안서는 5칸으로 충분하다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제안서 = 다섯 단락. 더 쓰면 안 읽힌다.</a:t>
            </a:r>
            <a:endParaRPr lang="en-US" sz="45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A4 1~2쪽. 고객사 담당자가 상급자에게 결재 올릴 때, 이 구조 그대로 올라갑니다.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047695"/>
            <a:ext cx="10479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4350" dirty="0"/>
          </a:p>
        </p:txBody>
      </p:sp>
      <p:sp>
        <p:nvSpPr>
          <p:cNvPr id="19" name="Text 16"/>
          <p:cNvSpPr txBox="1"/>
          <p:nvPr/>
        </p:nvSpPr>
        <p:spPr>
          <a:xfrm>
            <a:off x="2495398" y="3086100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배경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2495398" y="3448202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왜 이 교육이 필요한가 — 고객사 상황 2~3문장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7429500" y="3124505"/>
            <a:ext cx="9525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팁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의뢰 메일에서 고객이 쓴 표현을 그대로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인용하면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"우리 회사 상황을 이해했다"는 느낌을 줍니다. 문장을 새로 짓지 마세요. 의뢰서에서 가져오세요.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4267505"/>
            <a:ext cx="10479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4350" dirty="0"/>
          </a:p>
        </p:txBody>
      </p:sp>
      <p:sp>
        <p:nvSpPr>
          <p:cNvPr id="23" name="Text 20"/>
          <p:cNvSpPr txBox="1"/>
          <p:nvPr/>
        </p:nvSpPr>
        <p:spPr>
          <a:xfrm>
            <a:off x="2495398" y="4304995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교육 목표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2495398" y="4667098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 후 바뀌는 행동 1~2개 — 동사로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7429500" y="4343400"/>
            <a:ext cx="9525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팁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"이해한다"는 목표가 아닙니다. "작성할 수 있다", "판단할 수 있다",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"적용할 수 있다"처럼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측정 가능한 동사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로.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5486400"/>
            <a:ext cx="10479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4350" dirty="0"/>
          </a:p>
        </p:txBody>
      </p:sp>
      <p:sp>
        <p:nvSpPr>
          <p:cNvPr id="27" name="Text 24"/>
          <p:cNvSpPr txBox="1"/>
          <p:nvPr/>
        </p:nvSpPr>
        <p:spPr>
          <a:xfrm>
            <a:off x="2495398" y="5524805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과정 개요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2495398" y="5886907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시간·대상·장소·방법 — 표 1개로</a:t>
            </a:r>
            <a:endParaRPr lang="en-US" sz="1550" dirty="0"/>
          </a:p>
        </p:txBody>
      </p:sp>
      <p:sp>
        <p:nvSpPr>
          <p:cNvPr id="29" name="Text 26"/>
          <p:cNvSpPr txBox="1"/>
          <p:nvPr/>
        </p:nvSpPr>
        <p:spPr>
          <a:xfrm>
            <a:off x="7429500" y="5562295"/>
            <a:ext cx="9525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팁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4칸짜리 표(시간/대상/장소/형태) 하나면 충분합니다.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문장으로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풀어쓰면 결재권자가 안 읽습니다.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" y="6705295"/>
            <a:ext cx="10479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4350" dirty="0"/>
          </a:p>
        </p:txBody>
      </p:sp>
      <p:sp>
        <p:nvSpPr>
          <p:cNvPr id="31" name="Text 28"/>
          <p:cNvSpPr txBox="1"/>
          <p:nvPr/>
        </p:nvSpPr>
        <p:spPr>
          <a:xfrm>
            <a:off x="2495398" y="6743700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세부 커리큘럼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2495398" y="7105802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1시간 단위 표 (슬라이드 12 참조)</a:t>
            </a:r>
            <a:endParaRPr lang="en-US" sz="1550" dirty="0"/>
          </a:p>
        </p:txBody>
      </p:sp>
      <p:sp>
        <p:nvSpPr>
          <p:cNvPr id="33" name="Text 30"/>
          <p:cNvSpPr txBox="1"/>
          <p:nvPr/>
        </p:nvSpPr>
        <p:spPr>
          <a:xfrm>
            <a:off x="7429500" y="6782105"/>
            <a:ext cx="9525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팁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앞서 만든 1시간 블록 표를 그대로 붙입니다.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여기서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다시 짜지 마세요 — 이미 만든 것을 복사하는 겁니다.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7925105"/>
            <a:ext cx="10479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4350" dirty="0"/>
          </a:p>
        </p:txBody>
      </p:sp>
      <p:sp>
        <p:nvSpPr>
          <p:cNvPr id="35" name="Text 32"/>
          <p:cNvSpPr txBox="1"/>
          <p:nvPr/>
        </p:nvSpPr>
        <p:spPr>
          <a:xfrm>
            <a:off x="2495398" y="7962595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기대효과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2495398" y="8324698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교육 후 조직에 돌아오는 구체적 변화</a:t>
            </a:r>
            <a:endParaRPr lang="en-US" sz="1550" dirty="0"/>
          </a:p>
        </p:txBody>
      </p:sp>
      <p:sp>
        <p:nvSpPr>
          <p:cNvPr id="37" name="Text 34"/>
          <p:cNvSpPr txBox="1"/>
          <p:nvPr/>
        </p:nvSpPr>
        <p:spPr>
          <a:xfrm>
            <a:off x="7429500" y="8001000"/>
            <a:ext cx="9525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팁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"역량이 강화됩니다" 대신 </a:t>
            </a: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"매주 보고서 작성 시간이 2시간 → 40분으로"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처럼 숫자로.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결재권자는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숫자에 도장 찍습니다.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13 / 60</a:t>
            </a:r>
            <a:endParaRPr lang="en-US" sz="15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45026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3029407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8d77b4d255bf0a2204771c3b14eaa8e0.png"/>
          <p:cNvPicPr>
            <a:picLocks noChangeAspect="1"/>
          </p:cNvPicPr>
          <p:nvPr/>
        </p:nvPicPr>
        <p:blipFill>
          <a:blip r:embed="rId4"/>
          <a:srcRect l="-445" r="-445"/>
          <a:stretch/>
        </p:blipFill>
        <p:spPr>
          <a:xfrm>
            <a:off x="1333195" y="4248302"/>
            <a:ext cx="381305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401007" y="2952598"/>
            <a:ext cx="3029407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d77b4d255bf0a2204771c3b14eaa8e0.png"/>
          <p:cNvPicPr>
            <a:picLocks noChangeAspect="1"/>
          </p:cNvPicPr>
          <p:nvPr/>
        </p:nvPicPr>
        <p:blipFill>
          <a:blip r:embed="rId4"/>
          <a:srcRect l="-445" r="-445"/>
          <a:stretch/>
        </p:blipFill>
        <p:spPr>
          <a:xfrm>
            <a:off x="4591202" y="4248302"/>
            <a:ext cx="381305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58100" y="2952598"/>
            <a:ext cx="3029407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8d77b4d255bf0a2204771c3b14eaa8e0.png"/>
          <p:cNvPicPr>
            <a:picLocks noChangeAspect="1"/>
          </p:cNvPicPr>
          <p:nvPr/>
        </p:nvPicPr>
        <p:blipFill>
          <a:blip r:embed="rId4"/>
          <a:srcRect l="-445" r="-445"/>
          <a:stretch/>
        </p:blipFill>
        <p:spPr>
          <a:xfrm>
            <a:off x="7848295" y="4248302"/>
            <a:ext cx="381305" cy="2834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0916107" y="2952598"/>
            <a:ext cx="3029407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8d77b4d255bf0a2204771c3b14eaa8e0.png"/>
          <p:cNvPicPr>
            <a:picLocks noChangeAspect="1"/>
          </p:cNvPicPr>
          <p:nvPr/>
        </p:nvPicPr>
        <p:blipFill>
          <a:blip r:embed="rId4"/>
          <a:srcRect l="-445" r="-445"/>
          <a:stretch/>
        </p:blipFill>
        <p:spPr>
          <a:xfrm>
            <a:off x="11106302" y="4248302"/>
            <a:ext cx="381305" cy="28346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14173200" y="2952598"/>
            <a:ext cx="2971800" cy="57150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5" descr="gen-dedup-4e82c2fe96c6a05372bafb2d317bd597.png"/>
          <p:cNvPicPr>
            <a:picLocks noChangeAspect="1"/>
          </p:cNvPicPr>
          <p:nvPr/>
        </p:nvPicPr>
        <p:blipFill>
          <a:blip r:embed="rId5"/>
          <a:srcRect l="-445" r="-445"/>
          <a:stretch/>
        </p:blipFill>
        <p:spPr>
          <a:xfrm>
            <a:off x="14363395" y="4248302"/>
            <a:ext cx="381305" cy="28346"/>
          </a:xfrm>
          <a:prstGeom prst="rect">
            <a:avLst/>
          </a:prstGeom>
        </p:spPr>
      </p:pic>
      <p:pic>
        <p:nvPicPr>
          <p:cNvPr id="15" name="Image 6" descr="gen-dedup-3175e3fb9e381204c37e304ad9bb638c.png"/>
          <p:cNvPicPr>
            <a:picLocks noChangeAspect="1"/>
          </p:cNvPicPr>
          <p:nvPr/>
        </p:nvPicPr>
        <p:blipFill>
          <a:blip r:embed="rId6"/>
          <a:srcRect l="-206" r="-206"/>
          <a:stretch/>
        </p:blipFill>
        <p:spPr>
          <a:xfrm>
            <a:off x="1143000" y="2952598"/>
            <a:ext cx="3010205" cy="75895"/>
          </a:xfrm>
          <a:prstGeom prst="rect">
            <a:avLst/>
          </a:prstGeom>
        </p:spPr>
      </p:pic>
      <p:pic>
        <p:nvPicPr>
          <p:cNvPr id="16" name="Image 7" descr="gen-dedup-3175e3fb9e381204c37e304ad9bb638c.png"/>
          <p:cNvPicPr>
            <a:picLocks noChangeAspect="1"/>
          </p:cNvPicPr>
          <p:nvPr/>
        </p:nvPicPr>
        <p:blipFill>
          <a:blip r:embed="rId6"/>
          <a:srcRect l="-206" r="-206"/>
          <a:stretch/>
        </p:blipFill>
        <p:spPr>
          <a:xfrm>
            <a:off x="4401007" y="2952598"/>
            <a:ext cx="3010205" cy="75895"/>
          </a:xfrm>
          <a:prstGeom prst="rect">
            <a:avLst/>
          </a:prstGeom>
        </p:spPr>
      </p:pic>
      <p:pic>
        <p:nvPicPr>
          <p:cNvPr id="17" name="Image 8" descr="gen-dedup-3175e3fb9e381204c37e304ad9bb638c.png"/>
          <p:cNvPicPr>
            <a:picLocks noChangeAspect="1"/>
          </p:cNvPicPr>
          <p:nvPr/>
        </p:nvPicPr>
        <p:blipFill>
          <a:blip r:embed="rId6"/>
          <a:srcRect l="-206" r="-206"/>
          <a:stretch/>
        </p:blipFill>
        <p:spPr>
          <a:xfrm>
            <a:off x="7658100" y="2952598"/>
            <a:ext cx="3010205" cy="75895"/>
          </a:xfrm>
          <a:prstGeom prst="rect">
            <a:avLst/>
          </a:prstGeom>
        </p:spPr>
      </p:pic>
      <p:pic>
        <p:nvPicPr>
          <p:cNvPr id="18" name="Image 9" descr="gen-dedup-3175e3fb9e381204c37e304ad9bb638c.png"/>
          <p:cNvPicPr>
            <a:picLocks noChangeAspect="1"/>
          </p:cNvPicPr>
          <p:nvPr/>
        </p:nvPicPr>
        <p:blipFill>
          <a:blip r:embed="rId6"/>
          <a:srcRect l="-206" r="-206"/>
          <a:stretch/>
        </p:blipFill>
        <p:spPr>
          <a:xfrm>
            <a:off x="10916107" y="2952598"/>
            <a:ext cx="3010205" cy="75895"/>
          </a:xfrm>
          <a:prstGeom prst="rect">
            <a:avLst/>
          </a:prstGeom>
        </p:spPr>
      </p:pic>
      <p:pic>
        <p:nvPicPr>
          <p:cNvPr id="19" name="Image 10" descr="gen-dedup-dc9572837c3f26dd525b4cc99641438f.png"/>
          <p:cNvPicPr>
            <a:picLocks noChangeAspect="1"/>
          </p:cNvPicPr>
          <p:nvPr/>
        </p:nvPicPr>
        <p:blipFill>
          <a:blip r:embed="rId7"/>
          <a:srcRect l="-201" r="-201"/>
          <a:stretch/>
        </p:blipFill>
        <p:spPr>
          <a:xfrm>
            <a:off x="14173200" y="2952598"/>
            <a:ext cx="2971800" cy="75895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· MATERIAL FLOW · 빈 파일에서 시작하지 않는다</a:t>
            </a:r>
            <a:endParaRPr lang="en-US" sz="1550" dirty="0"/>
          </a:p>
        </p:txBody>
      </p:sp>
      <p:sp>
        <p:nvSpPr>
          <p:cNvPr id="21" name="Text 8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강의자료 만들기 = 다섯 줄 파이프라인.</a:t>
            </a:r>
            <a:endParaRPr lang="en-US" sz="4350" dirty="0"/>
          </a:p>
        </p:txBody>
      </p:sp>
      <p:sp>
        <p:nvSpPr>
          <p:cNvPr id="22" name="Text 9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순서를 바꾸면 "예쁜 슬라이드, 의미 없는 내용"이 됩니다.</a:t>
            </a:r>
            <a:endParaRPr lang="en-US" sz="1700" dirty="0"/>
          </a:p>
        </p:txBody>
      </p:sp>
      <p:sp>
        <p:nvSpPr>
          <p:cNvPr id="23" name="Text 10"/>
          <p:cNvSpPr txBox="1"/>
          <p:nvPr/>
        </p:nvSpPr>
        <p:spPr>
          <a:xfrm>
            <a:off x="1333195" y="3200400"/>
            <a:ext cx="2628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</a:t>
            </a:r>
            <a:endParaRPr lang="en-US" sz="1500" dirty="0"/>
          </a:p>
        </p:txBody>
      </p:sp>
      <p:sp>
        <p:nvSpPr>
          <p:cNvPr id="24" name="Text 11"/>
          <p:cNvSpPr txBox="1"/>
          <p:nvPr/>
        </p:nvSpPr>
        <p:spPr>
          <a:xfrm>
            <a:off x="1333195" y="3486607"/>
            <a:ext cx="26289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목차 잡기</a:t>
            </a:r>
            <a:endParaRPr lang="en-US" sz="2750" dirty="0"/>
          </a:p>
        </p:txBody>
      </p:sp>
      <p:sp>
        <p:nvSpPr>
          <p:cNvPr id="25" name="Text 12"/>
          <p:cNvSpPr txBox="1"/>
          <p:nvPr/>
        </p:nvSpPr>
        <p:spPr>
          <a:xfrm>
            <a:off x="1333195" y="4476902"/>
            <a:ext cx="26289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커리큘럼표의 "세부 내용" 칸에서 슬라이드 제목 리스트를 뽑아냅니다.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슬라이드 = 한 메시지.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가지 이야기를 한 장에 넣으면 수강생은 어느 쪽도 기억하지 못합니다.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소요 시간: 20분</a:t>
            </a:r>
            <a:endParaRPr lang="en-US" sz="1550" dirty="0"/>
          </a:p>
        </p:txBody>
      </p:sp>
      <p:sp>
        <p:nvSpPr>
          <p:cNvPr id="26" name="Text 13"/>
          <p:cNvSpPr txBox="1"/>
          <p:nvPr/>
        </p:nvSpPr>
        <p:spPr>
          <a:xfrm>
            <a:off x="4153205" y="5524805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100" dirty="0"/>
          </a:p>
        </p:txBody>
      </p:sp>
      <p:sp>
        <p:nvSpPr>
          <p:cNvPr id="27" name="Text 14"/>
          <p:cNvSpPr txBox="1"/>
          <p:nvPr/>
        </p:nvSpPr>
        <p:spPr>
          <a:xfrm>
            <a:off x="4591202" y="3200400"/>
            <a:ext cx="2628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</a:t>
            </a:r>
            <a:endParaRPr lang="en-US" sz="1500" dirty="0"/>
          </a:p>
        </p:txBody>
      </p:sp>
      <p:sp>
        <p:nvSpPr>
          <p:cNvPr id="28" name="Text 15"/>
          <p:cNvSpPr txBox="1"/>
          <p:nvPr/>
        </p:nvSpPr>
        <p:spPr>
          <a:xfrm>
            <a:off x="4591202" y="3486607"/>
            <a:ext cx="26289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핵심 메시지</a:t>
            </a:r>
            <a:endParaRPr lang="en-US" sz="2750" dirty="0"/>
          </a:p>
        </p:txBody>
      </p:sp>
      <p:sp>
        <p:nvSpPr>
          <p:cNvPr id="29" name="Text 16"/>
          <p:cNvSpPr txBox="1"/>
          <p:nvPr/>
        </p:nvSpPr>
        <p:spPr>
          <a:xfrm>
            <a:off x="4591202" y="4476902"/>
            <a:ext cx="26289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슬라이드 제목 밑에 "이 장에서 꼭 전달할 한 문장"을 적습니다.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단계를 건너뛰면 "내용은 있는데 결론이 없는" 강의가 됩니다.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소요 시간: 30분</a:t>
            </a:r>
            <a:endParaRPr lang="en-US" sz="1550" dirty="0"/>
          </a:p>
        </p:txBody>
      </p:sp>
      <p:sp>
        <p:nvSpPr>
          <p:cNvPr id="30" name="Text 17"/>
          <p:cNvSpPr txBox="1"/>
          <p:nvPr/>
        </p:nvSpPr>
        <p:spPr>
          <a:xfrm>
            <a:off x="7410298" y="5524805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100" dirty="0"/>
          </a:p>
        </p:txBody>
      </p:sp>
      <p:sp>
        <p:nvSpPr>
          <p:cNvPr id="31" name="Text 18"/>
          <p:cNvSpPr txBox="1"/>
          <p:nvPr/>
        </p:nvSpPr>
        <p:spPr>
          <a:xfrm>
            <a:off x="7848295" y="3200400"/>
            <a:ext cx="2628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</a:t>
            </a:r>
            <a:endParaRPr lang="en-US" sz="1500" dirty="0"/>
          </a:p>
        </p:txBody>
      </p:sp>
      <p:sp>
        <p:nvSpPr>
          <p:cNvPr id="32" name="Text 19"/>
          <p:cNvSpPr txBox="1"/>
          <p:nvPr/>
        </p:nvSpPr>
        <p:spPr>
          <a:xfrm>
            <a:off x="7848295" y="3486607"/>
            <a:ext cx="26289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사례 수집</a:t>
            </a:r>
            <a:endParaRPr lang="en-US" sz="2750" dirty="0"/>
          </a:p>
        </p:txBody>
      </p:sp>
      <p:sp>
        <p:nvSpPr>
          <p:cNvPr id="33" name="Text 20"/>
          <p:cNvSpPr txBox="1"/>
          <p:nvPr/>
        </p:nvSpPr>
        <p:spPr>
          <a:xfrm>
            <a:off x="7848295" y="4476902"/>
            <a:ext cx="26289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메시지 하나에 사례 하나. 자기 경험, 수강생 경험, 뉴스 사례.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사례 없이 설명만 하면 "교과서 읽어줬다"가 됩니다.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소요 시간: 30분</a:t>
            </a:r>
            <a:endParaRPr lang="en-US" sz="1550" dirty="0"/>
          </a:p>
        </p:txBody>
      </p:sp>
      <p:sp>
        <p:nvSpPr>
          <p:cNvPr id="34" name="Text 21"/>
          <p:cNvSpPr txBox="1"/>
          <p:nvPr/>
        </p:nvSpPr>
        <p:spPr>
          <a:xfrm>
            <a:off x="10668305" y="5524805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100" dirty="0"/>
          </a:p>
        </p:txBody>
      </p:sp>
      <p:sp>
        <p:nvSpPr>
          <p:cNvPr id="35" name="Text 22"/>
          <p:cNvSpPr txBox="1"/>
          <p:nvPr/>
        </p:nvSpPr>
        <p:spPr>
          <a:xfrm>
            <a:off x="11106302" y="3200400"/>
            <a:ext cx="2628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</a:t>
            </a:r>
            <a:endParaRPr lang="en-US" sz="1500" dirty="0"/>
          </a:p>
        </p:txBody>
      </p:sp>
      <p:sp>
        <p:nvSpPr>
          <p:cNvPr id="36" name="Text 23"/>
          <p:cNvSpPr txBox="1"/>
          <p:nvPr/>
        </p:nvSpPr>
        <p:spPr>
          <a:xfrm>
            <a:off x="11106302" y="3486607"/>
            <a:ext cx="26289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실습 설계</a:t>
            </a:r>
            <a:endParaRPr lang="en-US" sz="2750" dirty="0"/>
          </a:p>
        </p:txBody>
      </p:sp>
      <p:sp>
        <p:nvSpPr>
          <p:cNvPr id="37" name="Text 24"/>
          <p:cNvSpPr txBox="1"/>
          <p:nvPr/>
        </p:nvSpPr>
        <p:spPr>
          <a:xfrm>
            <a:off x="11106302" y="4476902"/>
            <a:ext cx="26289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문제 + 시간 + 도구 + 예시 정답을 슬라이드에 넣습니다.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정답 없는 실습은 실습이 아닙니다.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"알아서 해보세요"는 방치입니다.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소요 시간: 20분</a:t>
            </a:r>
            <a:endParaRPr lang="en-US" sz="1550" dirty="0"/>
          </a:p>
        </p:txBody>
      </p:sp>
      <p:sp>
        <p:nvSpPr>
          <p:cNvPr id="38" name="Text 25"/>
          <p:cNvSpPr txBox="1"/>
          <p:nvPr/>
        </p:nvSpPr>
        <p:spPr>
          <a:xfrm>
            <a:off x="13925398" y="5524805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100" dirty="0"/>
          </a:p>
        </p:txBody>
      </p:sp>
      <p:sp>
        <p:nvSpPr>
          <p:cNvPr id="39" name="Text 26"/>
          <p:cNvSpPr txBox="1"/>
          <p:nvPr/>
        </p:nvSpPr>
        <p:spPr>
          <a:xfrm>
            <a:off x="14363395" y="3200400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05</a:t>
            </a:r>
            <a:endParaRPr lang="en-US" sz="1500" dirty="0"/>
          </a:p>
        </p:txBody>
      </p:sp>
      <p:sp>
        <p:nvSpPr>
          <p:cNvPr id="40" name="Text 27"/>
          <p:cNvSpPr txBox="1"/>
          <p:nvPr/>
        </p:nvSpPr>
        <p:spPr>
          <a:xfrm>
            <a:off x="14363395" y="3486607"/>
            <a:ext cx="25914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요약 정리</a:t>
            </a:r>
            <a:endParaRPr lang="en-US" sz="2750" dirty="0"/>
          </a:p>
        </p:txBody>
      </p:sp>
      <p:sp>
        <p:nvSpPr>
          <p:cNvPr id="41" name="Text 28"/>
          <p:cNvSpPr txBox="1"/>
          <p:nvPr/>
        </p:nvSpPr>
        <p:spPr>
          <a:xfrm>
            <a:off x="14363395" y="4476902"/>
            <a:ext cx="25914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마지막 슬라이드 2장: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"오늘 한 것" + "다음에 할 것".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두 장이 결과보고서의 초안이 됩니다.</a:t>
            </a:r>
            <a:r>
              <a:rPr lang="en-US" sz="155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endParaRPr lang="en-US" sz="1550" dirty="0">
              <a:solidFill>
                <a:srgbClr val="F4F1E8">
                  <a:alpha val="95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나중에</a:t>
            </a:r>
            <a:r>
              <a:rPr lang="en-US" sz="155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따로 만들 필요 없습니다.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소요 시간: 10분</a:t>
            </a:r>
            <a:endParaRPr lang="en-US" sz="1550" dirty="0"/>
          </a:p>
        </p:txBody>
      </p:sp>
      <p:sp>
        <p:nvSpPr>
          <p:cNvPr id="42" name="Text 29"/>
          <p:cNvSpPr txBox="1"/>
          <p:nvPr/>
        </p:nvSpPr>
        <p:spPr>
          <a:xfrm>
            <a:off x="1143000" y="890625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합계 · </a:t>
            </a:r>
            <a:r>
              <a:rPr lang="en-US" sz="17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약 2시간.</a:t>
            </a: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"6시간 작업을 2시간으로 줄인 비결"은 — 순서를 지킨 것뿐입니다.</a:t>
            </a:r>
            <a:endParaRPr lang="en-US" sz="1700" dirty="0"/>
          </a:p>
        </p:txBody>
      </p:sp>
      <p:sp>
        <p:nvSpPr>
          <p:cNvPr id="43" name="Text 30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14 / 60</a:t>
            </a:r>
            <a:endParaRPr lang="en-US" sz="15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0299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7925105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239098" y="2952598"/>
            <a:ext cx="7925105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7925105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239098" y="6096305"/>
            <a:ext cx="7905902" cy="2952598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5a78262771742ef17404ee2481030fb8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1143000" y="2952598"/>
            <a:ext cx="7905902" cy="57607"/>
          </a:xfrm>
          <a:prstGeom prst="rect">
            <a:avLst/>
          </a:prstGeom>
        </p:spPr>
      </p:pic>
      <p:pic>
        <p:nvPicPr>
          <p:cNvPr id="10" name="Image 2" descr="gen-dedup-5a78262771742ef17404ee2481030fb8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9239098" y="2952598"/>
            <a:ext cx="7905902" cy="57607"/>
          </a:xfrm>
          <a:prstGeom prst="rect">
            <a:avLst/>
          </a:prstGeom>
        </p:spPr>
      </p:pic>
      <p:pic>
        <p:nvPicPr>
          <p:cNvPr id="11" name="Image 3" descr="gen-dedup-5a78262771742ef17404ee2481030fb8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1143000" y="6096305"/>
            <a:ext cx="7905902" cy="57607"/>
          </a:xfrm>
          <a:prstGeom prst="rect">
            <a:avLst/>
          </a:prstGeom>
        </p:spPr>
      </p:pic>
      <p:pic>
        <p:nvPicPr>
          <p:cNvPr id="12" name="Image 4" descr="gen-dedup-4ba0e7cb554e9dcf14a929fddda7bb9e.png"/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9239098" y="6096305"/>
            <a:ext cx="7905902" cy="57607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ASSET MANAGEMENT · 파일 하나에 네 개의 인생이 있다</a:t>
            </a:r>
            <a:endParaRPr lang="en-US" sz="155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원본 ≠ 배포용 ≠ 강사용 ≠ 수강생용.</a:t>
            </a:r>
            <a:endParaRPr lang="en-US" sz="435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구분이 없으면 "정답이 포함된 실습지를 수강생에게 보내버리는" 사고가 반드시 납니다.</a:t>
            </a:r>
            <a:endParaRPr lang="en-US" sz="1700" dirty="0"/>
          </a:p>
        </p:txBody>
      </p:sp>
      <p:sp>
        <p:nvSpPr>
          <p:cNvPr id="16" name="Text 9"/>
          <p:cNvSpPr txBox="1"/>
          <p:nvPr/>
        </p:nvSpPr>
        <p:spPr>
          <a:xfrm>
            <a:off x="1447495" y="3181198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 01 · 원본 (MASTER)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447495" y="3486607"/>
            <a:ext cx="72969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원본 파일</a:t>
            </a:r>
            <a:endParaRPr lang="en-US" sz="2750" dirty="0"/>
          </a:p>
        </p:txBody>
      </p:sp>
      <p:sp>
        <p:nvSpPr>
          <p:cNvPr id="18" name="Text 11"/>
          <p:cNvSpPr txBox="1"/>
          <p:nvPr/>
        </p:nvSpPr>
        <p:spPr>
          <a:xfrm>
            <a:off x="1447495" y="4114800"/>
            <a:ext cx="7296912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수정·개선이 여기서 시작됩니다. 항상 최신 상태, 비밀번호 걸지 않음.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폴더명에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_원본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접미사. 이 파일을 직접 배포하면 안 됩니다.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정답, 강사 멘트, 예비 슬라이드 모두 포함.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9544507" y="3181198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 02 · 배포용 (HANDOUT)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9544507" y="3486607"/>
            <a:ext cx="72969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수강생 배포용</a:t>
            </a:r>
            <a:endParaRPr lang="en-US" sz="2750" dirty="0"/>
          </a:p>
        </p:txBody>
      </p:sp>
      <p:sp>
        <p:nvSpPr>
          <p:cNvPr id="21" name="Text 14"/>
          <p:cNvSpPr txBox="1"/>
          <p:nvPr/>
        </p:nvSpPr>
        <p:spPr>
          <a:xfrm>
            <a:off x="9544507" y="4114800"/>
            <a:ext cx="7296912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원본에서 정답·강사 노트를 제거하고 PDF 변환.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이름에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_배포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접미사. 고객사에 전달해도 되는 유일한 파일.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빈칸은 그대로, 정답은 삭제.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447495" y="6324905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 03 · 강사용 (INSTRUCTOR)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447495" y="6629400"/>
            <a:ext cx="72969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강사용 노트</a:t>
            </a:r>
            <a:endParaRPr lang="en-US" sz="2750" dirty="0"/>
          </a:p>
        </p:txBody>
      </p:sp>
      <p:sp>
        <p:nvSpPr>
          <p:cNvPr id="24" name="Text 17"/>
          <p:cNvSpPr txBox="1"/>
          <p:nvPr/>
        </p:nvSpPr>
        <p:spPr>
          <a:xfrm>
            <a:off x="1447495" y="7258507"/>
            <a:ext cx="7296912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원본과 같은 내용 + 슬라이드별 강사 멘트, 시간 표시, 돌발 대응 메모.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이름에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_강사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접미사. 수강생에게 절대 공유하지 않는 파일.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발표자 모드로만 열리도록 설정.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9544507" y="6324905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 04 · 수강생용 (EXERCISE)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9544507" y="6629400"/>
            <a:ext cx="72969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수강생 실습자료</a:t>
            </a:r>
            <a:endParaRPr lang="en-US" sz="2750" dirty="0"/>
          </a:p>
        </p:txBody>
      </p:sp>
      <p:sp>
        <p:nvSpPr>
          <p:cNvPr id="27" name="Text 20"/>
          <p:cNvSpPr txBox="1"/>
          <p:nvPr/>
        </p:nvSpPr>
        <p:spPr>
          <a:xfrm>
            <a:off x="9544507" y="7258507"/>
            <a:ext cx="7296912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문제 + 입력 양식만. 정답·해설은 강의 후에만 별도 파일로 배포.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이름에 </a:t>
            </a:r>
            <a:r>
              <a:rPr lang="en-US" sz="1700" b="1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_실습</a:t>
            </a: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접미사. </a:t>
            </a:r>
            <a:r>
              <a:rPr lang="en-US" sz="1700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 직접 입력하는 유일한 파일.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파일명은 항상 고객사명_과정명_실습_v1.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15 / 60</a:t>
            </a:r>
            <a:endParaRPr lang="en-US" sz="15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14482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6002000" cy="476402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2895905"/>
            <a:ext cx="1602120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3829507"/>
            <a:ext cx="1602120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43000" y="4762195"/>
            <a:ext cx="1602120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000" y="5695798"/>
            <a:ext cx="1602120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3000" y="6629400"/>
            <a:ext cx="1602120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7563002"/>
            <a:ext cx="16021202" cy="8759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43000" y="8496605"/>
            <a:ext cx="16002000" cy="857707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gen-dedup-7c30ec54952525a0f40f7a931e0e7694.png"/>
          <p:cNvPicPr>
            <a:picLocks noChangeAspect="1"/>
          </p:cNvPicPr>
          <p:nvPr/>
        </p:nvPicPr>
        <p:blipFill>
          <a:blip r:embed="rId3"/>
          <a:srcRect t="-217" b="-217"/>
          <a:stretch/>
        </p:blipFill>
        <p:spPr>
          <a:xfrm>
            <a:off x="1143000" y="761695"/>
            <a:ext cx="75895" cy="4764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47495" y="761695"/>
            <a:ext cx="11430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89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자산 · 이 7종을 한 번만 만들면 모든 의뢰가 "채워 넣기"가 된다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1466698"/>
            <a:ext cx="16002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50" b="1" kern="0" spc="-43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7개 틀. 지금 당장 만들어야 할 것은 1개.</a:t>
            </a:r>
            <a:endParaRPr lang="en-US" sz="44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361895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1에서 ★ 표시한 단계와 겹치는 것이 오늘 1순위입니다.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447495" y="3010205"/>
            <a:ext cx="571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3450" dirty="0"/>
          </a:p>
        </p:txBody>
      </p:sp>
      <p:sp>
        <p:nvSpPr>
          <p:cNvPr id="18" name="Text 15"/>
          <p:cNvSpPr txBox="1"/>
          <p:nvPr/>
        </p:nvSpPr>
        <p:spPr>
          <a:xfrm>
            <a:off x="2152498" y="3029407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요구분석서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2152498" y="3353105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NEEDS ANALYSIS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953305" y="3086100"/>
            <a:ext cx="79241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7칸 양식 (슬라이드 9). 의뢰가 들어오면 이 양식에 채워가며 고객과 대화합니다.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3144500" y="3086100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A4 1쪽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빈 양식 1회 제작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47495" y="3943807"/>
            <a:ext cx="571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3450" dirty="0"/>
          </a:p>
        </p:txBody>
      </p:sp>
      <p:sp>
        <p:nvSpPr>
          <p:cNvPr id="23" name="Text 20"/>
          <p:cNvSpPr txBox="1"/>
          <p:nvPr/>
        </p:nvSpPr>
        <p:spPr>
          <a:xfrm>
            <a:off x="2152498" y="3962095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제안서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2152498" y="4286707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PROPOSAL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953305" y="4019702"/>
            <a:ext cx="7049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5단락 구조 (슬라이드 13). 배경→목표→개요→커리큘럼→기대효과.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13144500" y="4019702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A4 1–2쪽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워드/한글 템플릿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447495" y="4876495"/>
            <a:ext cx="571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3450" dirty="0"/>
          </a:p>
        </p:txBody>
      </p:sp>
      <p:sp>
        <p:nvSpPr>
          <p:cNvPr id="28" name="Text 25"/>
          <p:cNvSpPr txBox="1"/>
          <p:nvPr/>
        </p:nvSpPr>
        <p:spPr>
          <a:xfrm>
            <a:off x="2152498" y="4895698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커리큘럼표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2152498" y="5219395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CURRICULUM TABLE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953305" y="4953305"/>
            <a:ext cx="7049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1시간 블록 표 (슬라이드 12). 목표/세부/실습/산출물/도구, 시간 수만큼 행.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13144500" y="4953305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엑셀 1시트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행 추가만으로 확장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447495" y="5810098"/>
            <a:ext cx="571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3450" dirty="0"/>
          </a:p>
        </p:txBody>
      </p:sp>
      <p:sp>
        <p:nvSpPr>
          <p:cNvPr id="33" name="Text 30"/>
          <p:cNvSpPr txBox="1"/>
          <p:nvPr/>
        </p:nvSpPr>
        <p:spPr>
          <a:xfrm>
            <a:off x="2152498" y="5829300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강의안 틀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2152498" y="6152998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MASTER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4953305" y="5886907"/>
            <a:ext cx="7049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마스터 슬라이드 세트. 표지/목차/내용/실습/마무리. 색·글꼴 통일.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13144500" y="5886907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PPT/키노트 마스터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1회 디자인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447495" y="6743700"/>
            <a:ext cx="571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3450" dirty="0"/>
          </a:p>
        </p:txBody>
      </p:sp>
      <p:sp>
        <p:nvSpPr>
          <p:cNvPr id="38" name="Text 35"/>
          <p:cNvSpPr txBox="1"/>
          <p:nvPr/>
        </p:nvSpPr>
        <p:spPr>
          <a:xfrm>
            <a:off x="2152498" y="6762902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실습지</a:t>
            </a:r>
            <a:endParaRPr lang="en-US" sz="2100" dirty="0"/>
          </a:p>
        </p:txBody>
      </p:sp>
      <p:sp>
        <p:nvSpPr>
          <p:cNvPr id="39" name="Text 36"/>
          <p:cNvSpPr txBox="1"/>
          <p:nvPr/>
        </p:nvSpPr>
        <p:spPr>
          <a:xfrm>
            <a:off x="2152498" y="7086600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SHEET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953305" y="6819595"/>
            <a:ext cx="7049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문제+빈칸+힌트. 정답은 별도 파일. 난이도 표시(★☆☆ ~ ★★★).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13144500" y="6819595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워드/구글독스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빈칸 채우기 형식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447495" y="7677302"/>
            <a:ext cx="571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06</a:t>
            </a:r>
            <a:endParaRPr lang="en-US" sz="3450" dirty="0"/>
          </a:p>
        </p:txBody>
      </p:sp>
      <p:sp>
        <p:nvSpPr>
          <p:cNvPr id="43" name="Text 40"/>
          <p:cNvSpPr txBox="1"/>
          <p:nvPr/>
        </p:nvSpPr>
        <p:spPr>
          <a:xfrm>
            <a:off x="2152498" y="7696505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만족도 설문</a:t>
            </a:r>
            <a:endParaRPr lang="en-US" sz="2100" dirty="0"/>
          </a:p>
        </p:txBody>
      </p:sp>
      <p:sp>
        <p:nvSpPr>
          <p:cNvPr id="44" name="Text 41"/>
          <p:cNvSpPr txBox="1"/>
          <p:nvPr/>
        </p:nvSpPr>
        <p:spPr>
          <a:xfrm>
            <a:off x="2152498" y="8020202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SURVEY FORM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4953305" y="7753198"/>
            <a:ext cx="7049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5점 척도 5문항 + 주관식 2문항. 구글폼 또는 종이 양식.</a:t>
            </a:r>
            <a:endParaRPr lang="en-US" sz="1700" dirty="0"/>
          </a:p>
        </p:txBody>
      </p:sp>
      <p:sp>
        <p:nvSpPr>
          <p:cNvPr id="46" name="Text 43"/>
          <p:cNvSpPr txBox="1"/>
          <p:nvPr/>
        </p:nvSpPr>
        <p:spPr>
          <a:xfrm>
            <a:off x="13144500" y="7753198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구글폼 1개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복제만으로 재사용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447495" y="8610905"/>
            <a:ext cx="571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07</a:t>
            </a:r>
            <a:endParaRPr lang="en-US" sz="3450" dirty="0"/>
          </a:p>
        </p:txBody>
      </p:sp>
      <p:sp>
        <p:nvSpPr>
          <p:cNvPr id="48" name="Text 45"/>
          <p:cNvSpPr txBox="1"/>
          <p:nvPr/>
        </p:nvSpPr>
        <p:spPr>
          <a:xfrm>
            <a:off x="2152498" y="8630107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결과보고서</a:t>
            </a:r>
            <a:endParaRPr lang="en-US" sz="2100" dirty="0"/>
          </a:p>
        </p:txBody>
      </p:sp>
      <p:sp>
        <p:nvSpPr>
          <p:cNvPr id="49" name="Text 46"/>
          <p:cNvSpPr txBox="1"/>
          <p:nvPr/>
        </p:nvSpPr>
        <p:spPr>
          <a:xfrm>
            <a:off x="2152498" y="8953805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4953305" y="8686800"/>
            <a:ext cx="7049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요약 + 만족도 점수 + 사진 2장 + 다음 제안. </a:t>
            </a:r>
            <a:r>
              <a:rPr lang="en-US" sz="1700" b="1" dirty="0">
                <a:solidFill>
                  <a:srgbClr val="FFBD2E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포트폴리오와 이중 사용.</a:t>
            </a:r>
            <a:endParaRPr lang="en-US" sz="1700" dirty="0"/>
          </a:p>
        </p:txBody>
      </p:sp>
      <p:sp>
        <p:nvSpPr>
          <p:cNvPr id="51" name="Text 48"/>
          <p:cNvSpPr txBox="1"/>
          <p:nvPr/>
        </p:nvSpPr>
        <p:spPr>
          <a:xfrm>
            <a:off x="13144500" y="8686800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A4 1쪽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 마무리 10분에 초안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ARTIFACT — save this slide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16 / 60</a:t>
            </a:r>
            <a:endParaRPr lang="en-US" sz="1500" dirty="0"/>
          </a:p>
        </p:txBody>
      </p:sp>
      <p:sp>
        <p:nvSpPr>
          <p:cNvPr id="5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58133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pic>
        <p:nvPicPr>
          <p:cNvPr id="5" name="Image 1" descr="gen-dedup-8b42f233d2ebebd85653fdb4ee5e4c0d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1143000" y="2952598"/>
            <a:ext cx="10668305" cy="5905195"/>
          </a:xfrm>
          <a:prstGeom prst="rect">
            <a:avLst/>
          </a:prstGeom>
        </p:spPr>
      </p:pic>
      <p:pic>
        <p:nvPicPr>
          <p:cNvPr id="6" name="Image 2" descr="gen-dedup-ddc0b6d0471db9ae37ab1c2d853ed67e.png"/>
          <p:cNvPicPr>
            <a:picLocks noChangeAspect="1"/>
          </p:cNvPicPr>
          <p:nvPr/>
        </p:nvPicPr>
        <p:blipFill>
          <a:blip r:embed="rId5">
            <a:alphaModFix amt="18000"/>
          </a:blip>
          <a:srcRect l="-2083" r="-2083"/>
          <a:stretch/>
        </p:blipFill>
        <p:spPr>
          <a:xfrm>
            <a:off x="1410005" y="3504895"/>
            <a:ext cx="10172700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2191695" y="2952598"/>
            <a:ext cx="4972507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3" descr="gen-dedup-be891cb3926251d01b7a6f9d49716d76.png"/>
          <p:cNvPicPr>
            <a:picLocks noChangeAspect="1"/>
          </p:cNvPicPr>
          <p:nvPr/>
        </p:nvPicPr>
        <p:blipFill>
          <a:blip r:embed="rId6">
            <a:alphaModFix amt="20000"/>
          </a:blip>
          <a:srcRect l="-2083" r="-2083"/>
          <a:stretch/>
        </p:blipFill>
        <p:spPr>
          <a:xfrm>
            <a:off x="12497105" y="3504895"/>
            <a:ext cx="4343400" cy="9144"/>
          </a:xfrm>
          <a:prstGeom prst="rect">
            <a:avLst/>
          </a:prstGeom>
        </p:spPr>
      </p:pic>
      <p:pic>
        <p:nvPicPr>
          <p:cNvPr id="9" name="Image 4" descr="gen-dedup-c461c61764b7e1769695ff0a9130254d.png"/>
          <p:cNvPicPr>
            <a:picLocks noChangeAspect="1"/>
          </p:cNvPicPr>
          <p:nvPr/>
        </p:nvPicPr>
        <p:blipFill>
          <a:blip r:embed="rId7"/>
          <a:srcRect t="-397" b="-397"/>
          <a:stretch/>
        </p:blipFill>
        <p:spPr>
          <a:xfrm>
            <a:off x="12191695" y="2952598"/>
            <a:ext cx="4953305" cy="576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· FOLDER SYSTEM · 규칙 4개 — 그 이상은 지켜지지 않는다</a:t>
            </a:r>
            <a:endParaRPr lang="en-US" sz="155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폴더명 = 고객사 / 연도 / 과정명 / 버전.</a:t>
            </a:r>
            <a:endParaRPr lang="en-US" sz="435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클라우드는 하나만. 구글 드라이브든 네이버든 — 쓰던 곳 하나만.</a:t>
            </a:r>
            <a:endParaRPr lang="en-US" sz="1700" dirty="0"/>
          </a:p>
        </p:txBody>
      </p:sp>
      <p:sp>
        <p:nvSpPr>
          <p:cNvPr id="13" name="Text 6"/>
          <p:cNvSpPr txBox="1"/>
          <p:nvPr/>
        </p:nvSpPr>
        <p:spPr>
          <a:xfrm>
            <a:off x="1410005" y="3181198"/>
            <a:ext cx="101727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F4F1E8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cloud-drive · 강사 업무 폴더 구조 예시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410005" y="3715207"/>
            <a:ext cx="10172700" cy="5048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강사업무/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A기업/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├── 2026/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│   ├── AI활용교육_2H/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│   │   ├── v1/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│   │   │   ├── </a:t>
            </a:r>
            <a:r>
              <a:rPr lang="en-US" sz="17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제안서_A기업_AI활용교육_v1.docx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│   │   │   ├── </a:t>
            </a:r>
            <a:r>
              <a:rPr lang="en-US" sz="17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강의안_원본.pptx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│   │   │   ├── </a:t>
            </a:r>
            <a:r>
              <a:rPr lang="en-US" sz="17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강의안_배포.pdf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│   │   │   ├── </a:t>
            </a:r>
            <a:r>
              <a:rPr lang="en-US" sz="17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실습지_수강생.xlsx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│   │   │   └── </a:t>
            </a:r>
            <a:r>
              <a:rPr lang="en-US" sz="17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결과보고서.docx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│   │   └── v2/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│   │       └── </a:t>
            </a:r>
            <a:r>
              <a:rPr lang="en-US" sz="17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…수정본…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│   └── 리더십교육_4H/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└── 2025/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B기업/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</a:t>
            </a:r>
            <a:r>
              <a:rPr lang="en-US" sz="17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_템플릿/   ← 7종 템플릿 원본이 여기</a:t>
            </a:r>
          </a:p>
        </p:txBody>
      </p:sp>
      <p:sp>
        <p:nvSpPr>
          <p:cNvPr id="15" name="Text 8"/>
          <p:cNvSpPr txBox="1"/>
          <p:nvPr/>
        </p:nvSpPr>
        <p:spPr>
          <a:xfrm>
            <a:off x="12497105" y="3181198"/>
            <a:ext cx="4343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규칙 — 딱 4개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12497105" y="3715207"/>
            <a:ext cx="4764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2950" dirty="0"/>
          </a:p>
        </p:txBody>
      </p:sp>
      <p:sp>
        <p:nvSpPr>
          <p:cNvPr id="17" name="Text 10"/>
          <p:cNvSpPr txBox="1"/>
          <p:nvPr/>
        </p:nvSpPr>
        <p:spPr>
          <a:xfrm>
            <a:off x="13087807" y="3715207"/>
            <a:ext cx="330555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1단계 = 고객사명.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고객사별로 묶어야 재의뢰 때 바로 찾습니다.</a:t>
            </a:r>
            <a:endParaRPr lang="en-US" sz="1650" dirty="0"/>
          </a:p>
        </p:txBody>
      </p:sp>
      <p:sp>
        <p:nvSpPr>
          <p:cNvPr id="18" name="Text 11"/>
          <p:cNvSpPr txBox="1"/>
          <p:nvPr/>
        </p:nvSpPr>
        <p:spPr>
          <a:xfrm>
            <a:off x="12497105" y="4505249"/>
            <a:ext cx="4764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2950" dirty="0"/>
          </a:p>
        </p:txBody>
      </p:sp>
      <p:sp>
        <p:nvSpPr>
          <p:cNvPr id="19" name="Text 12"/>
          <p:cNvSpPr txBox="1"/>
          <p:nvPr/>
        </p:nvSpPr>
        <p:spPr>
          <a:xfrm>
            <a:off x="13087807" y="4505249"/>
            <a:ext cx="375361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2단계 = 연도.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2025/2026만으로 충분합니다. 월은 필요 없습니다.</a:t>
            </a:r>
            <a:endParaRPr lang="en-US" sz="1650" dirty="0"/>
          </a:p>
        </p:txBody>
      </p:sp>
      <p:sp>
        <p:nvSpPr>
          <p:cNvPr id="20" name="Text 13"/>
          <p:cNvSpPr txBox="1"/>
          <p:nvPr/>
        </p:nvSpPr>
        <p:spPr>
          <a:xfrm>
            <a:off x="12497105" y="5567782"/>
            <a:ext cx="4764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2950" dirty="0"/>
          </a:p>
        </p:txBody>
      </p:sp>
      <p:sp>
        <p:nvSpPr>
          <p:cNvPr id="21" name="Text 14"/>
          <p:cNvSpPr txBox="1"/>
          <p:nvPr/>
        </p:nvSpPr>
        <p:spPr>
          <a:xfrm>
            <a:off x="13087807" y="5567782"/>
            <a:ext cx="28767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3단계 = 과정명_시간.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"AI활용교육_2H" 식으로 시간을 같이.</a:t>
            </a:r>
            <a:endParaRPr lang="en-US" sz="1650" dirty="0"/>
          </a:p>
        </p:txBody>
      </p:sp>
      <p:sp>
        <p:nvSpPr>
          <p:cNvPr id="22" name="Text 15"/>
          <p:cNvSpPr txBox="1"/>
          <p:nvPr/>
        </p:nvSpPr>
        <p:spPr>
          <a:xfrm>
            <a:off x="12497105" y="6357823"/>
            <a:ext cx="4764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2950" dirty="0"/>
          </a:p>
        </p:txBody>
      </p:sp>
      <p:sp>
        <p:nvSpPr>
          <p:cNvPr id="23" name="Text 16"/>
          <p:cNvSpPr txBox="1"/>
          <p:nvPr/>
        </p:nvSpPr>
        <p:spPr>
          <a:xfrm>
            <a:off x="13087807" y="6357823"/>
            <a:ext cx="375361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4단계 = v1 / v2 …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수정이 생기면 폴더 복사 후 버전만 올립니다. 절대 같은 폴더에서 덮어쓰지 않습니다.</a:t>
            </a:r>
            <a:endParaRPr lang="en-US" sz="165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17 / 60</a:t>
            </a:r>
            <a:endParaRPr lang="en-US" sz="15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38495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21202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4209898"/>
            <a:ext cx="16021202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5467198"/>
            <a:ext cx="16021202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6724498"/>
            <a:ext cx="16021202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7981798"/>
            <a:ext cx="16002000" cy="11430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7c21c5ad7f258e6ab268ee450cc367af.png"/>
          <p:cNvPicPr>
            <a:picLocks noChangeAspect="1"/>
          </p:cNvPicPr>
          <p:nvPr/>
        </p:nvPicPr>
        <p:blipFill>
          <a:blip r:embed="rId4"/>
          <a:srcRect t="-201" b="-201"/>
          <a:stretch/>
        </p:blipFill>
        <p:spPr>
          <a:xfrm>
            <a:off x="1143000" y="2952598"/>
            <a:ext cx="75895" cy="1143000"/>
          </a:xfrm>
          <a:prstGeom prst="rect">
            <a:avLst/>
          </a:prstGeom>
        </p:spPr>
      </p:pic>
      <p:pic>
        <p:nvPicPr>
          <p:cNvPr id="11" name="Image 2" descr="gen-dedup-7c21c5ad7f258e6ab268ee450cc367af.png"/>
          <p:cNvPicPr>
            <a:picLocks noChangeAspect="1"/>
          </p:cNvPicPr>
          <p:nvPr/>
        </p:nvPicPr>
        <p:blipFill>
          <a:blip r:embed="rId4"/>
          <a:srcRect t="-201" b="-201"/>
          <a:stretch/>
        </p:blipFill>
        <p:spPr>
          <a:xfrm>
            <a:off x="1143000" y="4209898"/>
            <a:ext cx="75895" cy="1143000"/>
          </a:xfrm>
          <a:prstGeom prst="rect">
            <a:avLst/>
          </a:prstGeom>
        </p:spPr>
      </p:pic>
      <p:pic>
        <p:nvPicPr>
          <p:cNvPr id="12" name="Image 3" descr="gen-dedup-7c21c5ad7f258e6ab268ee450cc367af.png"/>
          <p:cNvPicPr>
            <a:picLocks noChangeAspect="1"/>
          </p:cNvPicPr>
          <p:nvPr/>
        </p:nvPicPr>
        <p:blipFill>
          <a:blip r:embed="rId4"/>
          <a:srcRect t="-201" b="-201"/>
          <a:stretch/>
        </p:blipFill>
        <p:spPr>
          <a:xfrm>
            <a:off x="1143000" y="5467198"/>
            <a:ext cx="75895" cy="1143000"/>
          </a:xfrm>
          <a:prstGeom prst="rect">
            <a:avLst/>
          </a:prstGeom>
        </p:spPr>
      </p:pic>
      <p:pic>
        <p:nvPicPr>
          <p:cNvPr id="13" name="Image 4" descr="gen-dedup-7c21c5ad7f258e6ab268ee450cc367af.png"/>
          <p:cNvPicPr>
            <a:picLocks noChangeAspect="1"/>
          </p:cNvPicPr>
          <p:nvPr/>
        </p:nvPicPr>
        <p:blipFill>
          <a:blip r:embed="rId4"/>
          <a:srcRect t="-201" b="-201"/>
          <a:stretch/>
        </p:blipFill>
        <p:spPr>
          <a:xfrm>
            <a:off x="1143000" y="6724498"/>
            <a:ext cx="75895" cy="1143000"/>
          </a:xfrm>
          <a:prstGeom prst="rect">
            <a:avLst/>
          </a:prstGeom>
        </p:spPr>
      </p:pic>
      <p:pic>
        <p:nvPicPr>
          <p:cNvPr id="14" name="Image 5" descr="gen-dedup-5281fde8b482367bd2d8eccbf8bc57c7.png"/>
          <p:cNvPicPr>
            <a:picLocks noChangeAspect="1"/>
          </p:cNvPicPr>
          <p:nvPr/>
        </p:nvPicPr>
        <p:blipFill>
          <a:blip r:embed="rId5"/>
          <a:srcRect t="-201" b="-201"/>
          <a:stretch/>
        </p:blipFill>
        <p:spPr>
          <a:xfrm>
            <a:off x="1143000" y="7981798"/>
            <a:ext cx="75895" cy="11430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· AUTOMATION · 사람이 할 일과 기계가 할 일을 나눈다</a:t>
            </a:r>
            <a:endParaRPr lang="en-US" sz="155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자동화할 수 있는 5가지, 지금 도구만으로.</a:t>
            </a:r>
            <a:endParaRPr lang="en-US" sz="435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코딩 필요 없습니다. 무료 도구 + 기본 설정만으로 충분합니다.</a:t>
            </a:r>
            <a:endParaRPr lang="en-US" sz="1700" dirty="0"/>
          </a:p>
        </p:txBody>
      </p:sp>
      <p:sp>
        <p:nvSpPr>
          <p:cNvPr id="18" name="Text 10"/>
          <p:cNvSpPr txBox="1"/>
          <p:nvPr/>
        </p:nvSpPr>
        <p:spPr>
          <a:xfrm>
            <a:off x="1524305" y="3105302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3450" dirty="0"/>
          </a:p>
        </p:txBody>
      </p:sp>
      <p:sp>
        <p:nvSpPr>
          <p:cNvPr id="19" name="Text 11"/>
          <p:cNvSpPr txBox="1"/>
          <p:nvPr/>
        </p:nvSpPr>
        <p:spPr>
          <a:xfrm>
            <a:off x="2286000" y="3105302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메일 회신</a:t>
            </a:r>
            <a:endParaRPr lang="en-US" sz="2100" dirty="0"/>
          </a:p>
        </p:txBody>
      </p:sp>
      <p:sp>
        <p:nvSpPr>
          <p:cNvPr id="20" name="Text 12"/>
          <p:cNvSpPr txBox="1"/>
          <p:nvPr/>
        </p:nvSpPr>
        <p:spPr>
          <a:xfrm>
            <a:off x="2286000" y="3429000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의뢰 첫 응대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5333695" y="3143707"/>
            <a:ext cx="5715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 "템플릿 답장" 기능. 감사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인사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+ 10개 질문(슬라이드 10)을 담은 회신 템플릿 1개.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12191695" y="3143707"/>
            <a:ext cx="4763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도구: Gmail 템플릿 / Outlook 빠른 단계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절감: 의뢰당 20분 → 2분</a:t>
            </a:r>
            <a:endParaRPr lang="en-US" sz="1550" dirty="0"/>
          </a:p>
        </p:txBody>
      </p:sp>
      <p:sp>
        <p:nvSpPr>
          <p:cNvPr id="23" name="Text 15"/>
          <p:cNvSpPr txBox="1"/>
          <p:nvPr/>
        </p:nvSpPr>
        <p:spPr>
          <a:xfrm>
            <a:off x="1524305" y="4362602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3450" dirty="0"/>
          </a:p>
        </p:txBody>
      </p:sp>
      <p:sp>
        <p:nvSpPr>
          <p:cNvPr id="24" name="Text 16"/>
          <p:cNvSpPr txBox="1"/>
          <p:nvPr/>
        </p:nvSpPr>
        <p:spPr>
          <a:xfrm>
            <a:off x="2286000" y="4362602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일정 관리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2286000" y="4686300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 + 준비 일정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333695" y="4401007"/>
            <a:ext cx="5715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구글 캘린더에 "강의일", "자료 마감일(강의 3일 전)",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"정산일(강의 후 7일)" 세 이벤트를 연동.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12191695" y="4401007"/>
            <a:ext cx="4763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도구: Google Calendar 반복 이벤트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절감: 정산 누락 0건</a:t>
            </a:r>
            <a:endParaRPr lang="en-US" sz="155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5619902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3450" dirty="0"/>
          </a:p>
        </p:txBody>
      </p:sp>
      <p:sp>
        <p:nvSpPr>
          <p:cNvPr id="29" name="Text 21"/>
          <p:cNvSpPr txBox="1"/>
          <p:nvPr/>
        </p:nvSpPr>
        <p:spPr>
          <a:xfrm>
            <a:off x="2286000" y="5619902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제안서 초안</a:t>
            </a:r>
            <a:endParaRPr lang="en-US" sz="2100" dirty="0"/>
          </a:p>
        </p:txBody>
      </p:sp>
      <p:sp>
        <p:nvSpPr>
          <p:cNvPr id="30" name="Text 22"/>
          <p:cNvSpPr txBox="1"/>
          <p:nvPr/>
        </p:nvSpPr>
        <p:spPr>
          <a:xfrm>
            <a:off x="2286000" y="5943600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5단락 자동 채우기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5333694" y="5658307"/>
            <a:ext cx="6203309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AI에 요구분석서 7칸을 입력하면 제안서 5단락 초안이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나옵니다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슬라이드 20에서 실습.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12191695" y="5658307"/>
            <a:ext cx="4763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도구: ChatGPT / Gemini 무료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절감: 2시간 → 30분 (편집만)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1524305" y="6877202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3450" dirty="0"/>
          </a:p>
        </p:txBody>
      </p:sp>
      <p:sp>
        <p:nvSpPr>
          <p:cNvPr id="34" name="Text 26"/>
          <p:cNvSpPr txBox="1"/>
          <p:nvPr/>
        </p:nvSpPr>
        <p:spPr>
          <a:xfrm>
            <a:off x="2286000" y="6877202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교안 초안</a:t>
            </a:r>
            <a:endParaRPr lang="en-US" sz="2100" dirty="0"/>
          </a:p>
        </p:txBody>
      </p:sp>
      <p:sp>
        <p:nvSpPr>
          <p:cNvPr id="35" name="Text 27"/>
          <p:cNvSpPr txBox="1"/>
          <p:nvPr/>
        </p:nvSpPr>
        <p:spPr>
          <a:xfrm>
            <a:off x="2286000" y="7200900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목차 → 슬라이드 뼈대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5333695" y="6915607"/>
            <a:ext cx="5715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커리큘럼표를 AI에 넣으면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슬라이드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제목</a:t>
            </a:r>
            <a:endParaRPr lang="en-US" sz="1700" dirty="0">
              <a:solidFill>
                <a:srgbClr val="2E2D2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r>
              <a:rPr lang="ko-KR" alt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문장 목록을 뽑아줍니다. → 슬라이드 22에서 실습.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12191695" y="6915607"/>
            <a:ext cx="4763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도구: ChatGPT / Gemini 무료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절감: 6시간 → 2시간</a:t>
            </a:r>
            <a:endParaRPr lang="en-US" sz="1550" dirty="0"/>
          </a:p>
        </p:txBody>
      </p:sp>
      <p:sp>
        <p:nvSpPr>
          <p:cNvPr id="38" name="Text 30"/>
          <p:cNvSpPr txBox="1"/>
          <p:nvPr/>
        </p:nvSpPr>
        <p:spPr>
          <a:xfrm>
            <a:off x="1524305" y="8134502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3450" dirty="0"/>
          </a:p>
        </p:txBody>
      </p:sp>
      <p:sp>
        <p:nvSpPr>
          <p:cNvPr id="39" name="Text 31"/>
          <p:cNvSpPr txBox="1"/>
          <p:nvPr/>
        </p:nvSpPr>
        <p:spPr>
          <a:xfrm>
            <a:off x="2286000" y="8134502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만족도 분석</a:t>
            </a:r>
            <a:endParaRPr lang="en-US" sz="2100" dirty="0"/>
          </a:p>
        </p:txBody>
      </p:sp>
      <p:sp>
        <p:nvSpPr>
          <p:cNvPr id="40" name="Text 32"/>
          <p:cNvSpPr txBox="1"/>
          <p:nvPr/>
        </p:nvSpPr>
        <p:spPr>
          <a:xfrm>
            <a:off x="2286000" y="8458200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주관식 분류 자동화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5333695" y="8172907"/>
            <a:ext cx="5715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주관식 의견 30개를 AI에 넣으면 "긍정/개선/요청" 분류 + 요약 한 문단. → 슬라이드 24에서 실습.</a:t>
            </a:r>
            <a:endParaRPr lang="en-US" sz="1700" dirty="0"/>
          </a:p>
        </p:txBody>
      </p:sp>
      <p:sp>
        <p:nvSpPr>
          <p:cNvPr id="42" name="Text 34"/>
          <p:cNvSpPr txBox="1"/>
          <p:nvPr/>
        </p:nvSpPr>
        <p:spPr>
          <a:xfrm>
            <a:off x="12191695" y="8172907"/>
            <a:ext cx="4763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도구: ChatGPT / Gemini 무료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절감: 2시간 → 15분</a:t>
            </a:r>
            <a:endParaRPr lang="en-US" sz="1550" dirty="0"/>
          </a:p>
        </p:txBody>
      </p:sp>
      <p:sp>
        <p:nvSpPr>
          <p:cNvPr id="43" name="Text 35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18 / 60</a:t>
            </a:r>
            <a:endParaRPr lang="en-US" sz="15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36568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2857500"/>
            <a:ext cx="7925105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a2db9c999a89a91ba5779c9df605ba81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447495" y="4343400"/>
            <a:ext cx="571500" cy="2834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39098" y="2857500"/>
            <a:ext cx="7905902" cy="59051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1656562b1ef2fd6c12f232ee27efae37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9544507" y="4343400"/>
            <a:ext cx="571500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43000" y="9001354"/>
            <a:ext cx="16059607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1143000" y="9001354"/>
            <a:ext cx="57607" cy="47640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gen-dedup-660873e8a80f5da72e01889b4c0b9822.png"/>
          <p:cNvPicPr>
            <a:picLocks noChangeAspect="1"/>
          </p:cNvPicPr>
          <p:nvPr/>
        </p:nvPicPr>
        <p:blipFill>
          <a:blip r:embed="rId6"/>
          <a:srcRect l="-202" r="-202"/>
          <a:stretch/>
        </p:blipFill>
        <p:spPr>
          <a:xfrm>
            <a:off x="1143000" y="2857500"/>
            <a:ext cx="7905902" cy="75895"/>
          </a:xfrm>
          <a:prstGeom prst="rect">
            <a:avLst/>
          </a:prstGeom>
        </p:spPr>
      </p:pic>
      <p:pic>
        <p:nvPicPr>
          <p:cNvPr id="13" name="Image 4" descr="gen-dedup-2740c519cb00ac3f3562614e70bc33cf.png"/>
          <p:cNvPicPr>
            <a:picLocks noChangeAspect="1"/>
          </p:cNvPicPr>
          <p:nvPr/>
        </p:nvPicPr>
        <p:blipFill>
          <a:blip r:embed="rId7"/>
          <a:srcRect l="-202" r="-202"/>
          <a:stretch/>
        </p:blipFill>
        <p:spPr>
          <a:xfrm>
            <a:off x="9239098" y="2857500"/>
            <a:ext cx="7905902" cy="7589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· 03 AI USE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AI를 쓰는 강사가 살아남는 게 아니라, AI를 </a:t>
            </a: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제대로</a:t>
            </a: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쓰는 강사가 살아남습니다.</a:t>
            </a:r>
            <a:endParaRPr lang="en-US" sz="1550" dirty="0"/>
          </a:p>
        </p:txBody>
      </p:sp>
      <p:sp>
        <p:nvSpPr>
          <p:cNvPr id="16" name="Text 9"/>
          <p:cNvSpPr txBox="1"/>
          <p:nvPr/>
        </p:nvSpPr>
        <p:spPr>
          <a:xfrm>
            <a:off x="1142999" y="1695298"/>
            <a:ext cx="15698419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AI는 강사를 대체하지 않습니다. </a:t>
            </a:r>
            <a:r>
              <a:rPr lang="ko-KR" alt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r>
              <a:rPr lang="en-US" sz="4350" b="1" kern="0" spc="-42" dirty="0" err="1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잘못</a:t>
            </a: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쓰는 강사를 대체합니다.</a:t>
            </a:r>
            <a:endParaRPr lang="en-US" sz="4350" dirty="0"/>
          </a:p>
        </p:txBody>
      </p:sp>
      <p:sp>
        <p:nvSpPr>
          <p:cNvPr id="17" name="Text 10"/>
          <p:cNvSpPr txBox="1"/>
          <p:nvPr/>
        </p:nvSpPr>
        <p:spPr>
          <a:xfrm>
            <a:off x="1447495" y="3105302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C73E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AI를 이렇게 쓰면 망한다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1447495" y="3448202"/>
            <a:ext cx="72969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대체 (REPLACE)</a:t>
            </a:r>
            <a:endParaRPr lang="en-US" sz="2950" dirty="0"/>
          </a:p>
        </p:txBody>
      </p:sp>
      <p:sp>
        <p:nvSpPr>
          <p:cNvPr id="19" name="Text 12"/>
          <p:cNvSpPr txBox="1"/>
          <p:nvPr/>
        </p:nvSpPr>
        <p:spPr>
          <a:xfrm>
            <a:off x="1447495" y="4591202"/>
            <a:ext cx="72969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C73E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r>
              <a:rPr lang="en-US" sz="17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"강의안 만들어줘" — 그대로 출력본을 쓴다.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1447495" y="5115154"/>
            <a:ext cx="72969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C73E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r>
              <a:rPr lang="en-US" sz="17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AI가 만든 사례를 검증 없이 강의에서 인용한다.</a:t>
            </a:r>
            <a:endParaRPr lang="en-US" sz="1750" dirty="0"/>
          </a:p>
        </p:txBody>
      </p:sp>
      <p:sp>
        <p:nvSpPr>
          <p:cNvPr id="21" name="Text 14"/>
          <p:cNvSpPr txBox="1"/>
          <p:nvPr/>
        </p:nvSpPr>
        <p:spPr>
          <a:xfrm>
            <a:off x="1447495" y="5639105"/>
            <a:ext cx="72969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C73E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r>
              <a:rPr lang="en-US" sz="17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수강생 이름·기업 정보를 그대로 입력한다.</a:t>
            </a:r>
            <a:endParaRPr lang="en-US" sz="1750" dirty="0"/>
          </a:p>
        </p:txBody>
      </p:sp>
      <p:sp>
        <p:nvSpPr>
          <p:cNvPr id="22" name="Text 15"/>
          <p:cNvSpPr txBox="1"/>
          <p:nvPr/>
        </p:nvSpPr>
        <p:spPr>
          <a:xfrm>
            <a:off x="1447495" y="6163056"/>
            <a:ext cx="72969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C73E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r>
              <a:rPr lang="en-US" sz="17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결과물을 본인이 읽지 않고 수강생에게 배포한다.</a:t>
            </a:r>
            <a:endParaRPr lang="en-US" sz="1750" dirty="0"/>
          </a:p>
        </p:txBody>
      </p:sp>
      <p:sp>
        <p:nvSpPr>
          <p:cNvPr id="23" name="Text 16"/>
          <p:cNvSpPr txBox="1"/>
          <p:nvPr/>
        </p:nvSpPr>
        <p:spPr>
          <a:xfrm>
            <a:off x="1447495" y="6687007"/>
            <a:ext cx="72969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C73E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r>
              <a:rPr lang="en-US" sz="17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"AI가 이렇게 말했다"를 강의의 결론으로 쓴다.</a:t>
            </a:r>
            <a:endParaRPr lang="en-US" sz="1750" dirty="0"/>
          </a:p>
        </p:txBody>
      </p:sp>
      <p:sp>
        <p:nvSpPr>
          <p:cNvPr id="24" name="Text 17"/>
          <p:cNvSpPr txBox="1"/>
          <p:nvPr/>
        </p:nvSpPr>
        <p:spPr>
          <a:xfrm>
            <a:off x="9544507" y="3105302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AI는 여기까지만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9544507" y="3448202"/>
            <a:ext cx="72969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보조 (ASSIST)</a:t>
            </a:r>
            <a:endParaRPr lang="en-US" sz="2950" dirty="0"/>
          </a:p>
        </p:txBody>
      </p:sp>
      <p:sp>
        <p:nvSpPr>
          <p:cNvPr id="26" name="Text 19"/>
          <p:cNvSpPr txBox="1"/>
          <p:nvPr/>
        </p:nvSpPr>
        <p:spPr>
          <a:xfrm>
            <a:off x="9544507" y="4591202"/>
            <a:ext cx="72969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r>
              <a:rPr lang="en-US" sz="17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초안</a:t>
            </a:r>
            <a:r>
              <a:rPr lang="en-US" sz="17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빈 페이지에서 시작하지 않는다. 50% 완성본 만들기.</a:t>
            </a:r>
            <a:endParaRPr lang="en-US" sz="1750" dirty="0"/>
          </a:p>
        </p:txBody>
      </p:sp>
      <p:sp>
        <p:nvSpPr>
          <p:cNvPr id="27" name="Text 20"/>
          <p:cNvSpPr txBox="1"/>
          <p:nvPr/>
        </p:nvSpPr>
        <p:spPr>
          <a:xfrm>
            <a:off x="9544507" y="5115154"/>
            <a:ext cx="72969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r>
              <a:rPr lang="en-US" sz="17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정리</a:t>
            </a:r>
            <a:r>
              <a:rPr lang="en-US" sz="17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수강생 의견 30개를 카테고리로 묶는다.</a:t>
            </a:r>
            <a:endParaRPr lang="en-US" sz="1750" dirty="0"/>
          </a:p>
        </p:txBody>
      </p:sp>
      <p:sp>
        <p:nvSpPr>
          <p:cNvPr id="28" name="Text 21"/>
          <p:cNvSpPr txBox="1"/>
          <p:nvPr/>
        </p:nvSpPr>
        <p:spPr>
          <a:xfrm>
            <a:off x="9544507" y="5639105"/>
            <a:ext cx="72969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r>
              <a:rPr lang="en-US" sz="17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변환</a:t>
            </a:r>
            <a:r>
              <a:rPr lang="en-US" sz="17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2시간용을 4시간용으로 시간 늘리기.</a:t>
            </a:r>
            <a:endParaRPr lang="en-US" sz="1750" dirty="0"/>
          </a:p>
        </p:txBody>
      </p:sp>
      <p:sp>
        <p:nvSpPr>
          <p:cNvPr id="29" name="Text 22"/>
          <p:cNvSpPr txBox="1"/>
          <p:nvPr/>
        </p:nvSpPr>
        <p:spPr>
          <a:xfrm>
            <a:off x="9544507" y="6163056"/>
            <a:ext cx="72969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</a:t>
            </a:r>
            <a:r>
              <a:rPr lang="en-US" sz="17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검토</a:t>
            </a:r>
            <a:r>
              <a:rPr lang="en-US" sz="17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내가 쓴 글에서 어색한 부분 찾기.</a:t>
            </a:r>
            <a:endParaRPr lang="en-US" sz="1750" dirty="0"/>
          </a:p>
        </p:txBody>
      </p:sp>
      <p:sp>
        <p:nvSpPr>
          <p:cNvPr id="30" name="Text 23"/>
          <p:cNvSpPr txBox="1"/>
          <p:nvPr/>
        </p:nvSpPr>
        <p:spPr>
          <a:xfrm>
            <a:off x="9544507" y="6687007"/>
            <a:ext cx="72969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</a:t>
            </a:r>
            <a:r>
              <a:rPr lang="en-US" sz="1750" b="1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 발굴</a:t>
            </a:r>
            <a:r>
              <a:rPr lang="en-US" sz="17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사례 3개 후보를 받고, 그중 1개를 내가 검증.</a:t>
            </a:r>
            <a:endParaRPr lang="en-US" sz="1750" dirty="0"/>
          </a:p>
        </p:txBody>
      </p:sp>
      <p:sp>
        <p:nvSpPr>
          <p:cNvPr id="31" name="Text 24"/>
          <p:cNvSpPr txBox="1"/>
          <p:nvPr/>
        </p:nvSpPr>
        <p:spPr>
          <a:xfrm>
            <a:off x="1429207" y="9115654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원칙 — “AI가 만든 것을 내가 다시 만들 수 있는 만큼만 쓴다.” 그 한도를 넘으면 강의가 아니라 기계의 출력 낭독이 됩니다.</a:t>
            </a:r>
            <a:endParaRPr lang="en-US" sz="1900" dirty="0"/>
          </a:p>
        </p:txBody>
      </p:sp>
      <p:sp>
        <p:nvSpPr>
          <p:cNvPr id="32" name="Text 25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PART 03 · AI USE · 19 / 60</a:t>
            </a:r>
            <a:endParaRPr lang="en-US" sz="15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244241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pic>
        <p:nvPicPr>
          <p:cNvPr id="6" name="Image 1" descr="gen-dedup-4c9d5f0a052fe30d27ade91243862181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143000" y="2723998"/>
            <a:ext cx="8762695" cy="6497823"/>
          </a:xfrm>
          <a:prstGeom prst="rect">
            <a:avLst/>
          </a:prstGeom>
        </p:spPr>
      </p:pic>
      <p:pic>
        <p:nvPicPr>
          <p:cNvPr id="7" name="Image 2" descr="gen-dedup-3d3ffe7803a0fe75bb406fb80f6a4f6b.png"/>
          <p:cNvPicPr>
            <a:picLocks noChangeAspect="1"/>
          </p:cNvPicPr>
          <p:nvPr/>
        </p:nvPicPr>
        <p:blipFill>
          <a:blip r:embed="rId5">
            <a:alphaModFix amt="18000"/>
          </a:blip>
          <a:srcRect l="-2083" r="-2083"/>
          <a:stretch/>
        </p:blipFill>
        <p:spPr>
          <a:xfrm>
            <a:off x="1410005" y="3276295"/>
            <a:ext cx="8229600" cy="914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096805" y="2723998"/>
            <a:ext cx="7067398" cy="6497823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3" descr="gen-dedup-a93e85f50fef2ff9a7ca7a93256fd14d.png"/>
          <p:cNvPicPr>
            <a:picLocks noChangeAspect="1"/>
          </p:cNvPicPr>
          <p:nvPr/>
        </p:nvPicPr>
        <p:blipFill>
          <a:blip r:embed="rId6">
            <a:alphaModFix amt="20000"/>
          </a:blip>
          <a:srcRect l="-2083" r="-2083"/>
          <a:stretch/>
        </p:blipFill>
        <p:spPr>
          <a:xfrm>
            <a:off x="10401300" y="3295498"/>
            <a:ext cx="6439205" cy="9144"/>
          </a:xfrm>
          <a:prstGeom prst="rect">
            <a:avLst/>
          </a:prstGeom>
        </p:spPr>
      </p:pic>
      <p:pic>
        <p:nvPicPr>
          <p:cNvPr id="10" name="Image 4" descr="gen-dedup-1432427d4d9a379b6249d782a033c8af.png"/>
          <p:cNvPicPr>
            <a:picLocks noChangeAspect="1"/>
          </p:cNvPicPr>
          <p:nvPr/>
        </p:nvPicPr>
        <p:blipFill>
          <a:blip r:embed="rId7"/>
          <a:srcRect l="-199" r="-199"/>
          <a:stretch/>
        </p:blipFill>
        <p:spPr>
          <a:xfrm>
            <a:off x="10096805" y="2723998"/>
            <a:ext cx="7048195" cy="7589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01</a:t>
            </a:r>
            <a:endParaRPr lang="en-US" sz="1500" dirty="0"/>
          </a:p>
        </p:txBody>
      </p:sp>
      <p:sp>
        <p:nvSpPr>
          <p:cNvPr id="12" name="Text 5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교육 제안서 초안 · 입력 → 표준 5단락 출력</a:t>
            </a:r>
            <a:endParaRPr lang="en-US" sz="155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1695298"/>
            <a:ext cx="14287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의뢰 메일 한 통 → 30분 안에 제안서 초안.</a:t>
            </a:r>
            <a:endParaRPr lang="en-US" sz="4350" dirty="0"/>
          </a:p>
        </p:txBody>
      </p:sp>
      <p:sp>
        <p:nvSpPr>
          <p:cNvPr id="14" name="Text 7"/>
          <p:cNvSpPr txBox="1"/>
          <p:nvPr/>
        </p:nvSpPr>
        <p:spPr>
          <a:xfrm>
            <a:off x="1410005" y="2952598"/>
            <a:ext cx="82296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F4F1E8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chatgpt.com · 프롬프트 입력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1410005" y="3486607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역할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당신은 교육 제안서 작성 전문가입니다.</a:t>
            </a:r>
          </a:p>
          <a:p>
            <a:pPr marL="0" indent="0" algn="l">
              <a:lnSpc>
                <a:spcPct val="110000"/>
              </a:lnSpc>
              <a:spcBef>
                <a:spcPts val="700"/>
              </a:spcBef>
              <a:buNone/>
            </a:pPr>
            <a:r>
              <a:rPr lang="en-US" sz="16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입력 (요구분석서 7칸)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대상: 40대 시니어 직장인 12명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수준: 강의 경력 없음, PPT 가능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시간: 2시간 × 2회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장소: 사내 강의실, 노트북 지참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도구: ChatGPT 무료 계정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산출물: 본인 강의용 제안서 초안 1쪽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제한: 사진 촬영 불가</a:t>
            </a:r>
          </a:p>
          <a:p>
            <a:pPr marL="0" indent="0" algn="l">
              <a:lnSpc>
                <a:spcPct val="110000"/>
              </a:lnSpc>
              <a:spcBef>
                <a:spcPts val="700"/>
              </a:spcBef>
              <a:buNone/>
            </a:pPr>
            <a:r>
              <a:rPr lang="en-US" sz="16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출력 형식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A4 1쪽, 다음 5단락 구조로: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배경 (3문장)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교육 목표 ("~을 할 수 있다" 형식 2개)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과정 개요 (4칸 표: 시간/대상/장소/형태)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세부 커리큘럼 (1시간 단위 표)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 기대효과 (정량 1개 + 정성 1개)</a:t>
            </a:r>
          </a:p>
          <a:p>
            <a:pPr marL="0" indent="0" algn="l">
              <a:lnSpc>
                <a:spcPct val="110000"/>
              </a:lnSpc>
              <a:spcBef>
                <a:spcPts val="700"/>
              </a:spcBef>
              <a:buNone/>
            </a:pPr>
            <a:r>
              <a:rPr lang="en-US" sz="16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금지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추정·가공 데이터 인용 금지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"AI 시대" 등 추상 표현 금지</a:t>
            </a:r>
          </a:p>
        </p:txBody>
      </p:sp>
      <p:sp>
        <p:nvSpPr>
          <p:cNvPr id="16" name="Text 9"/>
          <p:cNvSpPr txBox="1"/>
          <p:nvPr/>
        </p:nvSpPr>
        <p:spPr>
          <a:xfrm>
            <a:off x="10401300" y="2971800"/>
            <a:ext cx="6439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사용법 — 3단계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0401300" y="3543300"/>
            <a:ext cx="4764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2950" dirty="0"/>
          </a:p>
        </p:txBody>
      </p:sp>
      <p:sp>
        <p:nvSpPr>
          <p:cNvPr id="18" name="Text 11"/>
          <p:cNvSpPr txBox="1"/>
          <p:nvPr/>
        </p:nvSpPr>
        <p:spPr>
          <a:xfrm>
            <a:off x="11011205" y="3543300"/>
            <a:ext cx="58293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요구분석서를 먼저 채운다.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7칸이 비어있으면 AI도 빈 결과를 만듭니다. AI는 입력 이상의 결과를 만들지 않습니다.</a:t>
            </a:r>
            <a:endParaRPr lang="en-US" sz="1650" dirty="0"/>
          </a:p>
        </p:txBody>
      </p:sp>
      <p:sp>
        <p:nvSpPr>
          <p:cNvPr id="19" name="Text 12"/>
          <p:cNvSpPr txBox="1"/>
          <p:nvPr/>
        </p:nvSpPr>
        <p:spPr>
          <a:xfrm>
            <a:off x="10401300" y="4333342"/>
            <a:ext cx="4764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2950" dirty="0"/>
          </a:p>
        </p:txBody>
      </p:sp>
      <p:sp>
        <p:nvSpPr>
          <p:cNvPr id="20" name="Text 13"/>
          <p:cNvSpPr txBox="1"/>
          <p:nvPr/>
        </p:nvSpPr>
        <p:spPr>
          <a:xfrm>
            <a:off x="11011205" y="4333342"/>
            <a:ext cx="58293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프롬프트를 복사·붙여넣기.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빨간 박스 부분만 본인 의뢰 내용으로 바꿉니다. 나머지는 절대 수정하지 않습니다.</a:t>
            </a:r>
            <a:endParaRPr lang="en-US" sz="1650" dirty="0"/>
          </a:p>
        </p:txBody>
      </p:sp>
      <p:sp>
        <p:nvSpPr>
          <p:cNvPr id="21" name="Text 14"/>
          <p:cNvSpPr txBox="1"/>
          <p:nvPr/>
        </p:nvSpPr>
        <p:spPr>
          <a:xfrm>
            <a:off x="10401300" y="5122469"/>
            <a:ext cx="4764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2950" dirty="0"/>
          </a:p>
        </p:txBody>
      </p:sp>
      <p:sp>
        <p:nvSpPr>
          <p:cNvPr id="22" name="Text 15"/>
          <p:cNvSpPr txBox="1"/>
          <p:nvPr/>
        </p:nvSpPr>
        <p:spPr>
          <a:xfrm>
            <a:off x="11011205" y="5122469"/>
            <a:ext cx="58293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출력을 그대로 쓰지 않는다.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5단락 중 "기대효과"는 항상 본인이 다시 씁니다. AI가 만든 효과는 추상적이라 결재가 안 됩니다.</a:t>
            </a:r>
            <a:endParaRPr lang="en-US" sz="1650" dirty="0"/>
          </a:p>
        </p:txBody>
      </p:sp>
      <p:sp>
        <p:nvSpPr>
          <p:cNvPr id="23" name="Shape 16"/>
          <p:cNvSpPr/>
          <p:nvPr/>
        </p:nvSpPr>
        <p:spPr>
          <a:xfrm>
            <a:off x="10401300" y="5912510"/>
            <a:ext cx="6439205" cy="1000354"/>
          </a:xfrm>
          <a:prstGeom prst="rect">
            <a:avLst/>
          </a:prstGeom>
          <a:solidFill>
            <a:srgbClr val="F4F1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10401300" y="5912510"/>
            <a:ext cx="38405" cy="100035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/>
          <p:cNvSpPr txBox="1"/>
          <p:nvPr/>
        </p:nvSpPr>
        <p:spPr>
          <a:xfrm>
            <a:off x="10592410" y="5912510"/>
            <a:ext cx="6248095" cy="10003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39700" rIns="152400" bIns="13970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고객사명·인원수는 가명으로.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 회사명을 AI에 넣으면 학습 데이터로 남을 수 있습니다.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"A사", "B기업"으로 표기 후 출력본에서 본인이 바꿔 넣으세요.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CASE · 01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20 / 60</a:t>
            </a:r>
            <a:endParaRPr lang="en-US" sz="15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38665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2857500"/>
            <a:ext cx="7239305" cy="5905195"/>
          </a:xfrm>
          <a:prstGeom prst="roundRect">
            <a:avLst>
              <a:gd name="adj" fmla="val 976"/>
            </a:avLst>
          </a:prstGeom>
          <a:solidFill>
            <a:srgbClr val="1C1B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0263025ef49956fccf30cdac9593587a.png"/>
          <p:cNvPicPr>
            <a:picLocks noChangeAspect="1"/>
          </p:cNvPicPr>
          <p:nvPr/>
        </p:nvPicPr>
        <p:blipFill>
          <a:blip r:embed="rId4">
            <a:alphaModFix amt="18000"/>
          </a:blip>
          <a:srcRect l="-2083" r="-2083"/>
          <a:stretch/>
        </p:blipFill>
        <p:spPr>
          <a:xfrm>
            <a:off x="1410005" y="3409798"/>
            <a:ext cx="6762902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905695" y="2857500"/>
            <a:ext cx="7276795" cy="5943600"/>
          </a:xfrm>
          <a:prstGeom prst="roundRect">
            <a:avLst>
              <a:gd name="adj" fmla="val 969"/>
            </a:avLst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891731d85a98ad754de5c66b6528c363.png"/>
          <p:cNvPicPr>
            <a:picLocks noChangeAspect="1"/>
          </p:cNvPicPr>
          <p:nvPr/>
        </p:nvPicPr>
        <p:blipFill>
          <a:blip r:embed="rId5">
            <a:alphaModFix amt="20000"/>
          </a:blip>
          <a:srcRect l="-2083" r="-2083"/>
          <a:stretch/>
        </p:blipFill>
        <p:spPr>
          <a:xfrm>
            <a:off x="10172700" y="3409798"/>
            <a:ext cx="6762902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43000" y="9001354"/>
            <a:ext cx="16059607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1143000" y="9001354"/>
            <a:ext cx="57607" cy="47640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8572500" y="5333695"/>
            <a:ext cx="1143000" cy="1143000"/>
          </a:xfrm>
          <a:prstGeom prst="ellipse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21ef45ce7b5a5c51c3c76f1a539b7da0.png"/>
          <p:cNvPicPr>
            <a:picLocks noChangeAspect="1"/>
          </p:cNvPicPr>
          <p:nvPr/>
        </p:nvPicPr>
        <p:blipFill>
          <a:blip r:embed="rId6"/>
          <a:srcRect l="-403" r="-403"/>
          <a:stretch/>
        </p:blipFill>
        <p:spPr>
          <a:xfrm>
            <a:off x="9905695" y="2857500"/>
            <a:ext cx="57607" cy="5905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02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커리큘럼 재구성 · 2시간 ↔ 4시간 ↔ 8시간 시간 변환</a:t>
            </a:r>
            <a:endParaRPr lang="en-US" sz="155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1695298"/>
            <a:ext cx="14287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"2시간을 4시간으로" — 가장 자주 받는 요청.</a:t>
            </a:r>
            <a:endParaRPr lang="en-US" sz="4350" dirty="0"/>
          </a:p>
        </p:txBody>
      </p:sp>
      <p:sp>
        <p:nvSpPr>
          <p:cNvPr id="17" name="Text 11"/>
          <p:cNvSpPr txBox="1"/>
          <p:nvPr/>
        </p:nvSpPr>
        <p:spPr>
          <a:xfrm>
            <a:off x="1410005" y="3086100"/>
            <a:ext cx="6762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4F1E8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 · 기존 커리큘럼 (2H)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410005" y="3619195"/>
            <a:ext cx="6762902" cy="4953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입력: 2시간 커리큘럼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1교시 (60분)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강사 업무 흐름도 설명 (40분)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실습: 본인 흐름 그리기 (20분)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700" dirty="0">
              <a:solidFill>
                <a:srgbClr val="F4F1E8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2교시 (60분)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7개 템플릿 소개 (30분)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폴더 관리법 (20분)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Q&amp;A (10분)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산출물: 본인 업무 흐름도 1장</a:t>
            </a:r>
          </a:p>
        </p:txBody>
      </p:sp>
      <p:sp>
        <p:nvSpPr>
          <p:cNvPr id="19" name="Text 13"/>
          <p:cNvSpPr txBox="1"/>
          <p:nvPr/>
        </p:nvSpPr>
        <p:spPr>
          <a:xfrm>
            <a:off x="8572500" y="5333695"/>
            <a:ext cx="1143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4800" dirty="0"/>
          </a:p>
        </p:txBody>
      </p:sp>
      <p:sp>
        <p:nvSpPr>
          <p:cNvPr id="20" name="Text 14"/>
          <p:cNvSpPr txBox="1"/>
          <p:nvPr/>
        </p:nvSpPr>
        <p:spPr>
          <a:xfrm>
            <a:off x="8382305" y="6667805"/>
            <a:ext cx="1524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4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프롬프트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0172700" y="3086100"/>
            <a:ext cx="6762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 · AI가 확장한 커리큘럼 (4H)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0172700" y="3619195"/>
            <a:ext cx="6762902" cy="4953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출력: 4시간 커리큘럼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1교시 (60분) — 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진단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현재 업무 방식 진단 (30분) ← </a:t>
            </a:r>
            <a:r>
              <a:rPr lang="en-US" sz="155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신규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실습 1: 본인 흐름 그리기 (30분)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2교시 (60분) — 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표준화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7개 템플릿 소개 (30분)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실습 2: 1개 골라 채우기 (30분) ← </a:t>
            </a:r>
            <a:r>
              <a:rPr lang="en-US" sz="155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신규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3교시 (60분) — 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활용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5가지 AI 활용 사례 (30분) ← </a:t>
            </a:r>
            <a:r>
              <a:rPr lang="en-US" sz="155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신규 챕터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실습 3: 본인 프롬프트 작성 (30분) ← </a:t>
            </a:r>
            <a:r>
              <a:rPr lang="en-US" sz="155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신규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4교시 (60분) — 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정착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사례 공유 (20분)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개인 로드맵 작성 (30분) ← </a:t>
            </a:r>
            <a:r>
              <a:rPr lang="en-US" sz="155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신규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Q&amp;A (10분)</a:t>
            </a:r>
          </a:p>
        </p:txBody>
      </p:sp>
      <p:sp>
        <p:nvSpPr>
          <p:cNvPr id="23" name="Text 17"/>
          <p:cNvSpPr txBox="1"/>
          <p:nvPr/>
        </p:nvSpPr>
        <p:spPr>
          <a:xfrm>
            <a:off x="1429207" y="9115654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AI에게 시키는 일 — </a:t>
            </a:r>
            <a:r>
              <a:rPr lang="en-US" sz="155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"늘리지 말고, 실습을 1개 더 끼워 넣어줘"</a:t>
            </a: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 설명 시간을 늘리면 같은 강의가 두 배 지루해집니다.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CASE · 02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21 / 60</a:t>
            </a:r>
            <a:endParaRPr lang="en-US" sz="15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288815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2723998"/>
            <a:ext cx="16002000" cy="857707"/>
          </a:xfrm>
          <a:prstGeom prst="roundRect">
            <a:avLst>
              <a:gd name="adj" fmla="val 6716"/>
            </a:avLst>
          </a:prstGeom>
          <a:solidFill>
            <a:srgbClr val="1C1B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3810305"/>
            <a:ext cx="5286146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8d77b4d255bf0a2204771c3b14eaa8e0.png"/>
          <p:cNvPicPr>
            <a:picLocks noChangeAspect="1"/>
          </p:cNvPicPr>
          <p:nvPr/>
        </p:nvPicPr>
        <p:blipFill>
          <a:blip r:embed="rId4"/>
          <a:srcRect l="-445" r="-445"/>
          <a:stretch/>
        </p:blipFill>
        <p:spPr>
          <a:xfrm>
            <a:off x="1447495" y="4914900"/>
            <a:ext cx="381305" cy="283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05956" y="3810305"/>
            <a:ext cx="5286146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gen-dedup-8d77b4d255bf0a2204771c3b14eaa8e0.png"/>
          <p:cNvPicPr>
            <a:picLocks noChangeAspect="1"/>
          </p:cNvPicPr>
          <p:nvPr/>
        </p:nvPicPr>
        <p:blipFill>
          <a:blip r:embed="rId4"/>
          <a:srcRect l="-445" r="-445"/>
          <a:stretch/>
        </p:blipFill>
        <p:spPr>
          <a:xfrm>
            <a:off x="6810451" y="4914900"/>
            <a:ext cx="381305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867998" y="3810305"/>
            <a:ext cx="5277002" cy="49533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gen-dedup-4e82c2fe96c6a05372bafb2d317bd597.png"/>
          <p:cNvPicPr>
            <a:picLocks noChangeAspect="1"/>
          </p:cNvPicPr>
          <p:nvPr/>
        </p:nvPicPr>
        <p:blipFill>
          <a:blip r:embed="rId5"/>
          <a:srcRect l="-445" r="-445"/>
          <a:stretch/>
        </p:blipFill>
        <p:spPr>
          <a:xfrm>
            <a:off x="12173407" y="4914900"/>
            <a:ext cx="381305" cy="28346"/>
          </a:xfrm>
          <a:prstGeom prst="rect">
            <a:avLst/>
          </a:prstGeom>
        </p:spPr>
      </p:pic>
      <p:pic>
        <p:nvPicPr>
          <p:cNvPr id="13" name="Image 4" descr="gen-dedup-63d12b76f41a1309aa2123824ae7256d.png"/>
          <p:cNvPicPr>
            <a:picLocks noChangeAspect="1"/>
          </p:cNvPicPr>
          <p:nvPr/>
        </p:nvPicPr>
        <p:blipFill>
          <a:blip r:embed="rId6"/>
          <a:srcRect t="-404" b="-404"/>
          <a:stretch/>
        </p:blipFill>
        <p:spPr>
          <a:xfrm>
            <a:off x="1143000" y="3810305"/>
            <a:ext cx="5266944" cy="57607"/>
          </a:xfrm>
          <a:prstGeom prst="rect">
            <a:avLst/>
          </a:prstGeom>
        </p:spPr>
      </p:pic>
      <p:pic>
        <p:nvPicPr>
          <p:cNvPr id="14" name="Image 5" descr="gen-dedup-63d12b76f41a1309aa2123824ae7256d.png"/>
          <p:cNvPicPr>
            <a:picLocks noChangeAspect="1"/>
          </p:cNvPicPr>
          <p:nvPr/>
        </p:nvPicPr>
        <p:blipFill>
          <a:blip r:embed="rId6"/>
          <a:srcRect t="-404" b="-404"/>
          <a:stretch/>
        </p:blipFill>
        <p:spPr>
          <a:xfrm>
            <a:off x="6505956" y="3810305"/>
            <a:ext cx="5266944" cy="57607"/>
          </a:xfrm>
          <a:prstGeom prst="rect">
            <a:avLst/>
          </a:prstGeom>
        </p:spPr>
      </p:pic>
      <p:pic>
        <p:nvPicPr>
          <p:cNvPr id="15" name="Image 6" descr="gen-dedup-1628c8bf63e851a51a9c4956ecb089dd.png"/>
          <p:cNvPicPr>
            <a:picLocks noChangeAspect="1"/>
          </p:cNvPicPr>
          <p:nvPr/>
        </p:nvPicPr>
        <p:blipFill>
          <a:blip r:embed="rId7"/>
          <a:srcRect t="-399" b="-399"/>
          <a:stretch/>
        </p:blipFill>
        <p:spPr>
          <a:xfrm>
            <a:off x="11867998" y="3810305"/>
            <a:ext cx="5277002" cy="57607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03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강의자료 목차 생성 · 같은 주제, 대상 수준별 3가지 흐름</a:t>
            </a:r>
            <a:endParaRPr lang="en-US" sz="1550" dirty="0"/>
          </a:p>
        </p:txBody>
      </p:sp>
      <p:sp>
        <p:nvSpPr>
          <p:cNvPr id="18" name="Text 9"/>
          <p:cNvSpPr txBox="1"/>
          <p:nvPr/>
        </p:nvSpPr>
        <p:spPr>
          <a:xfrm>
            <a:off x="1143000" y="1695298"/>
            <a:ext cx="14287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수강생이 누구냐에 따라, 같은 주제가 다른 강의가 된다.</a:t>
            </a:r>
            <a:endParaRPr lang="en-US" sz="4350" dirty="0"/>
          </a:p>
        </p:txBody>
      </p:sp>
      <p:sp>
        <p:nvSpPr>
          <p:cNvPr id="19" name="Text 10"/>
          <p:cNvSpPr txBox="1"/>
          <p:nvPr/>
        </p:nvSpPr>
        <p:spPr>
          <a:xfrm>
            <a:off x="1410005" y="28767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4F1E8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프롬프트 (공통)</a:t>
            </a:r>
            <a:endParaRPr lang="en-US" sz="1500" dirty="0"/>
          </a:p>
        </p:txBody>
      </p:sp>
      <p:sp>
        <p:nvSpPr>
          <p:cNvPr id="20" name="Text 11"/>
          <p:cNvSpPr txBox="1"/>
          <p:nvPr/>
        </p:nvSpPr>
        <p:spPr>
          <a:xfrm>
            <a:off x="1410005" y="3161995"/>
            <a:ext cx="15621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"주제: 엑셀 함수 활용. 대상: </a:t>
            </a:r>
            <a:r>
              <a:rPr lang="en-US" sz="1550" dirty="0">
                <a:solidFill>
                  <a:srgbClr val="1C1B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[입문/중급/실무]</a:t>
            </a:r>
            <a:r>
              <a:rPr lang="en-US" sz="15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 90분 강의안 슬라이드 제목 10개를 출력해줘. 한 슬라이드 = 한 메시지."</a:t>
            </a:r>
            <a:endParaRPr lang="en-US" sz="1550" dirty="0"/>
          </a:p>
        </p:txBody>
      </p:sp>
      <p:sp>
        <p:nvSpPr>
          <p:cNvPr id="21" name="Text 12"/>
          <p:cNvSpPr txBox="1"/>
          <p:nvPr/>
        </p:nvSpPr>
        <p:spPr>
          <a:xfrm>
            <a:off x="1447495" y="4038905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01 · 입문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1447495" y="4324198"/>
            <a:ext cx="46579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두려움 → 친근함</a:t>
            </a:r>
            <a:endParaRPr lang="en-US" sz="2400" dirty="0"/>
          </a:p>
        </p:txBody>
      </p:sp>
      <p:sp>
        <p:nvSpPr>
          <p:cNvPr id="23" name="Text 14"/>
          <p:cNvSpPr txBox="1"/>
          <p:nvPr/>
        </p:nvSpPr>
        <p:spPr>
          <a:xfrm>
            <a:off x="1447495" y="5143500"/>
            <a:ext cx="4657954" cy="3525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01. 왜 엑셀이 어려운가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02. 셀과 함수의 정체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03. =SUM 한 줄로 끝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04. =AVERAGE 평균 구하기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05. 함수가 안 될 때 #ERROR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06. 실습: 내 가계부 합계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07. 셀 참조 절대/상대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08. 함수 5개만 외우면 80%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09. 실습: 한 줄 더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10. 다음 주에 무엇을</a:t>
            </a:r>
            <a:endParaRPr lang="en-US" sz="1600" dirty="0"/>
          </a:p>
        </p:txBody>
      </p:sp>
      <p:sp>
        <p:nvSpPr>
          <p:cNvPr id="24" name="Text 15"/>
          <p:cNvSpPr txBox="1"/>
          <p:nvPr/>
        </p:nvSpPr>
        <p:spPr>
          <a:xfrm>
            <a:off x="6810451" y="4038905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02 · 중급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6810451" y="4324198"/>
            <a:ext cx="46579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속도 × 정확도</a:t>
            </a:r>
            <a:endParaRPr lang="en-US" sz="2400" dirty="0"/>
          </a:p>
        </p:txBody>
      </p:sp>
      <p:sp>
        <p:nvSpPr>
          <p:cNvPr id="26" name="Text 17"/>
          <p:cNvSpPr txBox="1"/>
          <p:nvPr/>
        </p:nvSpPr>
        <p:spPr>
          <a:xfrm>
            <a:off x="6810451" y="5143500"/>
            <a:ext cx="4657954" cy="3525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01. 함수의 함수 — 중첩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02. =IF로 조건 분기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03. =VLOOKUP 한 표 찾기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04. =SUMIF / COUNTIF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05. 실습: 매출 분석표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06. 피벗 테이블 5분 만에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07. 차트는 한 번만 그린다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08. 자주 막히는 3가지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09. 실습: 본인 업무에 적용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10. 다음 단계 — 매크로 시작</a:t>
            </a:r>
            <a:endParaRPr lang="en-US" sz="1600" dirty="0"/>
          </a:p>
        </p:txBody>
      </p:sp>
      <p:sp>
        <p:nvSpPr>
          <p:cNvPr id="27" name="Text 18"/>
          <p:cNvSpPr txBox="1"/>
          <p:nvPr/>
        </p:nvSpPr>
        <p:spPr>
          <a:xfrm>
            <a:off x="12173407" y="4038905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03 · 실무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12173407" y="4324198"/>
            <a:ext cx="4668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자동화로 가는 다리</a:t>
            </a:r>
            <a:endParaRPr lang="en-US" sz="2400" dirty="0"/>
          </a:p>
        </p:txBody>
      </p:sp>
      <p:sp>
        <p:nvSpPr>
          <p:cNvPr id="29" name="Text 20"/>
          <p:cNvSpPr txBox="1"/>
          <p:nvPr/>
        </p:nvSpPr>
        <p:spPr>
          <a:xfrm>
            <a:off x="12173407" y="5143500"/>
            <a:ext cx="4668012" cy="3525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01. =XLOOKUP — VLOOKUP은 졸업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02. =FILTER / SORT / UNIQUE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03. 동적 배열 한 번에 펴기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04. Power Query 5분 입문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05. 실습: 매월 보고서 자동화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06. 함수만으로 가능한 것 vs 매크로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07. Office Scripts / VBA 첫 줄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08. AI로 함수 만들기 (GPT 활용)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09. 실습: 본인 업무 1개 자동화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10. 자동화 다음 — Python으로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1143000" y="9001354"/>
            <a:ext cx="16002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같은 프롬프트, 단어 하나(</a:t>
            </a:r>
            <a:r>
              <a:rPr lang="en-US" sz="1550" dirty="0">
                <a:solidFill>
                  <a:srgbClr val="1C1B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대상 수준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)만 바꿔서 세 가지 강의안. </a:t>
            </a:r>
            <a:r>
              <a:rPr lang="en-US" sz="15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제목만 가져오고 내용은 본인이 채웁니다.</a:t>
            </a:r>
            <a:endParaRPr lang="en-US" sz="1550" dirty="0"/>
          </a:p>
        </p:txBody>
      </p:sp>
      <p:sp>
        <p:nvSpPr>
          <p:cNvPr id="31" name="Text 22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CASE · 03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22 / 60</a:t>
            </a:r>
            <a:endParaRPr lang="en-US" sz="15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04381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2762402"/>
            <a:ext cx="5162702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8d77b4d255bf0a2204771c3b14eaa8e0.png"/>
          <p:cNvPicPr>
            <a:picLocks noChangeAspect="1"/>
          </p:cNvPicPr>
          <p:nvPr/>
        </p:nvPicPr>
        <p:blipFill>
          <a:blip r:embed="rId4"/>
          <a:srcRect l="-445" r="-445"/>
          <a:stretch/>
        </p:blipFill>
        <p:spPr>
          <a:xfrm>
            <a:off x="1447495" y="3829507"/>
            <a:ext cx="381305" cy="283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76695" y="2762402"/>
            <a:ext cx="5162702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gen-dedup-8d77b4d255bf0a2204771c3b14eaa8e0.png"/>
          <p:cNvPicPr>
            <a:picLocks noChangeAspect="1"/>
          </p:cNvPicPr>
          <p:nvPr/>
        </p:nvPicPr>
        <p:blipFill>
          <a:blip r:embed="rId4"/>
          <a:srcRect l="-445" r="-445"/>
          <a:stretch/>
        </p:blipFill>
        <p:spPr>
          <a:xfrm>
            <a:off x="6782105" y="3829507"/>
            <a:ext cx="381305" cy="2834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811305" y="2762402"/>
            <a:ext cx="5333695" cy="40005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4e82c2fe96c6a05372bafb2d317bd597.png"/>
          <p:cNvPicPr>
            <a:picLocks noChangeAspect="1"/>
          </p:cNvPicPr>
          <p:nvPr/>
        </p:nvPicPr>
        <p:blipFill>
          <a:blip r:embed="rId5"/>
          <a:srcRect l="-445" r="-445"/>
          <a:stretch/>
        </p:blipFill>
        <p:spPr>
          <a:xfrm>
            <a:off x="12115800" y="3829507"/>
            <a:ext cx="381305" cy="2834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143000" y="6953098"/>
            <a:ext cx="16021202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4" descr="gen-dedup-d5ef46bd061661b381f8093ba062ff95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43000" y="2762402"/>
            <a:ext cx="5143500" cy="57607"/>
          </a:xfrm>
          <a:prstGeom prst="rect">
            <a:avLst/>
          </a:prstGeom>
        </p:spPr>
      </p:pic>
      <p:pic>
        <p:nvPicPr>
          <p:cNvPr id="17" name="Image 5" descr="gen-dedup-d5ef46bd061661b381f8093ba062ff95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6476695" y="2762402"/>
            <a:ext cx="5143500" cy="57607"/>
          </a:xfrm>
          <a:prstGeom prst="rect">
            <a:avLst/>
          </a:prstGeom>
        </p:spPr>
      </p:pic>
      <p:pic>
        <p:nvPicPr>
          <p:cNvPr id="18" name="Image 6" descr="gen-dedup-46827c85a2f3e0b10ad54dcb1170c74c.png"/>
          <p:cNvPicPr>
            <a:picLocks noChangeAspect="1"/>
          </p:cNvPicPr>
          <p:nvPr/>
        </p:nvPicPr>
        <p:blipFill>
          <a:blip r:embed="rId7"/>
          <a:srcRect t="-403" b="-403"/>
          <a:stretch/>
        </p:blipFill>
        <p:spPr>
          <a:xfrm>
            <a:off x="11811305" y="2762402"/>
            <a:ext cx="5333695" cy="57607"/>
          </a:xfrm>
          <a:prstGeom prst="rect">
            <a:avLst/>
          </a:prstGeom>
        </p:spPr>
      </p:pic>
      <p:pic>
        <p:nvPicPr>
          <p:cNvPr id="19" name="Image 7" descr="gen-dedup-6f663480610514206ccf4124ffaa5e5f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1143000" y="6953098"/>
            <a:ext cx="16002000" cy="57607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04</a:t>
            </a:r>
            <a:endParaRPr lang="en-US" sz="1500" dirty="0"/>
          </a:p>
        </p:txBody>
      </p:sp>
      <p:sp>
        <p:nvSpPr>
          <p:cNvPr id="21" name="Text 11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실습문제 제작 · 쉬운 문제 → 응용 → 평가 루브릭까지</a:t>
            </a:r>
            <a:endParaRPr lang="en-US" sz="1550" dirty="0"/>
          </a:p>
        </p:txBody>
      </p:sp>
      <p:sp>
        <p:nvSpPr>
          <p:cNvPr id="22" name="Text 12"/>
          <p:cNvSpPr txBox="1"/>
          <p:nvPr/>
        </p:nvSpPr>
        <p:spPr>
          <a:xfrm>
            <a:off x="1143000" y="1695298"/>
            <a:ext cx="14287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실습 한 개에 — 문제 3난이도 + 채점 기준까지 한 번에.</a:t>
            </a:r>
            <a:endParaRPr lang="en-US" sz="4350" dirty="0"/>
          </a:p>
        </p:txBody>
      </p:sp>
      <p:sp>
        <p:nvSpPr>
          <p:cNvPr id="23" name="Text 13"/>
          <p:cNvSpPr txBox="1"/>
          <p:nvPr/>
        </p:nvSpPr>
        <p:spPr>
          <a:xfrm>
            <a:off x="1447495" y="2971800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01 · ★☆☆ 쉬운 문제</a:t>
            </a:r>
            <a:endParaRPr lang="en-US" sz="1500" dirty="0"/>
          </a:p>
        </p:txBody>
      </p:sp>
      <p:sp>
        <p:nvSpPr>
          <p:cNvPr id="24" name="Text 14"/>
          <p:cNvSpPr txBox="1"/>
          <p:nvPr/>
        </p:nvSpPr>
        <p:spPr>
          <a:xfrm>
            <a:off x="1447495" y="3258007"/>
            <a:ext cx="45345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정의 확인 — 30초</a:t>
            </a:r>
            <a:endParaRPr lang="en-US" sz="2100" dirty="0"/>
          </a:p>
        </p:txBody>
      </p:sp>
      <p:sp>
        <p:nvSpPr>
          <p:cNvPr id="25" name="Text 15"/>
          <p:cNvSpPr txBox="1"/>
          <p:nvPr/>
        </p:nvSpPr>
        <p:spPr>
          <a:xfrm>
            <a:off x="1447495" y="4058107"/>
            <a:ext cx="45345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프롬프트 ↓</a:t>
            </a:r>
            <a:endParaRPr lang="en-US" sz="1500" dirty="0"/>
          </a:p>
        </p:txBody>
      </p:sp>
      <p:sp>
        <p:nvSpPr>
          <p:cNvPr id="26" name="Text 16"/>
          <p:cNvSpPr txBox="1"/>
          <p:nvPr/>
        </p:nvSpPr>
        <p:spPr>
          <a:xfrm>
            <a:off x="1561795" y="4324198"/>
            <a:ext cx="430591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"주제: 요구분석 7칸.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수강생: 강의 경력 없음.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객관식 1문제, 4지선다.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정답 1개, 오답 3개는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헷갈리는 표현으로.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해설 2문장 포함."</a:t>
            </a:r>
            <a:endParaRPr lang="en-US" sz="1500" dirty="0"/>
          </a:p>
        </p:txBody>
      </p:sp>
      <p:sp>
        <p:nvSpPr>
          <p:cNvPr id="27" name="Text 17"/>
          <p:cNvSpPr txBox="1"/>
          <p:nvPr/>
        </p:nvSpPr>
        <p:spPr>
          <a:xfrm>
            <a:off x="6782105" y="2971800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02 · ★★☆ 응용 문제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6782105" y="3258007"/>
            <a:ext cx="45345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시나리오 풀기 — 5분</a:t>
            </a:r>
            <a:endParaRPr lang="en-US" sz="2100" dirty="0"/>
          </a:p>
        </p:txBody>
      </p:sp>
      <p:sp>
        <p:nvSpPr>
          <p:cNvPr id="29" name="Text 19"/>
          <p:cNvSpPr txBox="1"/>
          <p:nvPr/>
        </p:nvSpPr>
        <p:spPr>
          <a:xfrm>
            <a:off x="6782105" y="4058107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프롬프트 ↓</a:t>
            </a:r>
            <a:endParaRPr lang="en-US" sz="1500" dirty="0"/>
          </a:p>
        </p:txBody>
      </p:sp>
      <p:sp>
        <p:nvSpPr>
          <p:cNvPr id="30" name="Text 20"/>
          <p:cNvSpPr txBox="1"/>
          <p:nvPr/>
        </p:nvSpPr>
        <p:spPr>
          <a:xfrm>
            <a:off x="6896405" y="4324198"/>
            <a:ext cx="430591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"가상의 의뢰 메일 1통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(제목 + 본문 3문단).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수강생이 이 메일을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읽고 요구분석 7칸을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직접 채우는 문제.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빈칸 3개는 의도적으로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정보가 부족하게."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12115800" y="2971800"/>
            <a:ext cx="4724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03 · ★★★ 평가 루브릭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12115800" y="3258007"/>
            <a:ext cx="47247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채점 기준표 자동 생성</a:t>
            </a:r>
            <a:endParaRPr lang="en-US" sz="2100" dirty="0"/>
          </a:p>
        </p:txBody>
      </p:sp>
      <p:sp>
        <p:nvSpPr>
          <p:cNvPr id="33" name="Text 23"/>
          <p:cNvSpPr txBox="1"/>
          <p:nvPr/>
        </p:nvSpPr>
        <p:spPr>
          <a:xfrm>
            <a:off x="12115800" y="3942893"/>
            <a:ext cx="4724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FBD2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프롬프트 ↓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12230100" y="4324198"/>
            <a:ext cx="4496105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"위 응용 문제의 채점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루브릭을 표로 만들어줘.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평가 항목 4개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항목별 상/중/하 기준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만점 / 통과 / 재시도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세 단계 점수 분포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수강생에게 사전 공개 가능."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1447495" y="7200900"/>
            <a:ext cx="153930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사용 흐름 — 한 강의의 실습 한 개를 만들 때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1447495" y="7582205"/>
            <a:ext cx="153930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Level 01 프롬프트로 객관식 1개 → 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Level 02 프롬프트로 응용 1개 → 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Level 03 프롬프트로 채점 </a:t>
            </a:r>
            <a:r>
              <a:rPr lang="en-US" sz="16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기준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본인이 정답·해설 1회 확인 → 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실습지 템플릿(슬라이드 16-05)에 붙여넣기.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3시간 작업 → 30분.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4단계 "내가 정답 확인"이 빠지면 안 됩니다 — AI가 만든 정답이 틀리는 경우가 적지 않습니다.</a:t>
            </a:r>
            <a:endParaRPr lang="en-US" sz="1650" dirty="0"/>
          </a:p>
        </p:txBody>
      </p:sp>
      <p:sp>
        <p:nvSpPr>
          <p:cNvPr id="37" name="Text 27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CASE · 04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23 / 60</a:t>
            </a:r>
            <a:endParaRPr lang="en-US" sz="15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08269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1E036B98-B0BF-C142-25F7-A39CD805E9E6}"/>
              </a:ext>
            </a:extLst>
          </p:cNvPr>
          <p:cNvSpPr/>
          <p:nvPr/>
        </p:nvSpPr>
        <p:spPr>
          <a:xfrm>
            <a:off x="1123798" y="5815623"/>
            <a:ext cx="16002000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2762402"/>
            <a:ext cx="38295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333695" y="2762402"/>
            <a:ext cx="38295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5305" y="2762402"/>
            <a:ext cx="38295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3716000" y="2762402"/>
            <a:ext cx="3429000" cy="26673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5715000"/>
            <a:ext cx="16002000" cy="3047695"/>
          </a:xfrm>
          <a:prstGeom prst="roundRect">
            <a:avLst>
              <a:gd name="adj" fmla="val 1890"/>
            </a:avLst>
          </a:prstGeom>
          <a:noFill/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gen-dedup-84284b63ffcc090a978c7134fdff4be4.png"/>
          <p:cNvPicPr>
            <a:picLocks noChangeAspect="1"/>
          </p:cNvPicPr>
          <p:nvPr/>
        </p:nvPicPr>
        <p:blipFill>
          <a:blip r:embed="rId4">
            <a:alphaModFix amt="18000"/>
          </a:blip>
          <a:srcRect l="-2083" r="-2083"/>
          <a:stretch/>
        </p:blipFill>
        <p:spPr>
          <a:xfrm>
            <a:off x="1410005" y="6267298"/>
            <a:ext cx="15468905" cy="9144"/>
          </a:xfrm>
          <a:prstGeom prst="rect">
            <a:avLst/>
          </a:prstGeom>
        </p:spPr>
      </p:pic>
      <p:pic>
        <p:nvPicPr>
          <p:cNvPr id="12" name="Image 2" descr="gen-dedup-47672c63ef3a2a9804231d2b7a2c875b.png"/>
          <p:cNvPicPr>
            <a:picLocks noChangeAspect="1"/>
          </p:cNvPicPr>
          <p:nvPr/>
        </p:nvPicPr>
        <p:blipFill>
          <a:blip r:embed="rId5"/>
          <a:srcRect t="-396" b="-396"/>
          <a:stretch/>
        </p:blipFill>
        <p:spPr>
          <a:xfrm>
            <a:off x="1143000" y="2762402"/>
            <a:ext cx="3810305" cy="57607"/>
          </a:xfrm>
          <a:prstGeom prst="rect">
            <a:avLst/>
          </a:prstGeom>
        </p:spPr>
      </p:pic>
      <p:pic>
        <p:nvPicPr>
          <p:cNvPr id="13" name="Image 3" descr="gen-dedup-47672c63ef3a2a9804231d2b7a2c875b.png"/>
          <p:cNvPicPr>
            <a:picLocks noChangeAspect="1"/>
          </p:cNvPicPr>
          <p:nvPr/>
        </p:nvPicPr>
        <p:blipFill>
          <a:blip r:embed="rId5"/>
          <a:srcRect t="-396" b="-396"/>
          <a:stretch/>
        </p:blipFill>
        <p:spPr>
          <a:xfrm>
            <a:off x="5333695" y="2762402"/>
            <a:ext cx="3810305" cy="57607"/>
          </a:xfrm>
          <a:prstGeom prst="rect">
            <a:avLst/>
          </a:prstGeom>
        </p:spPr>
      </p:pic>
      <p:pic>
        <p:nvPicPr>
          <p:cNvPr id="14" name="Image 4" descr="gen-dedup-47672c63ef3a2a9804231d2b7a2c875b.png"/>
          <p:cNvPicPr>
            <a:picLocks noChangeAspect="1"/>
          </p:cNvPicPr>
          <p:nvPr/>
        </p:nvPicPr>
        <p:blipFill>
          <a:blip r:embed="rId5"/>
          <a:srcRect t="-396" b="-396"/>
          <a:stretch/>
        </p:blipFill>
        <p:spPr>
          <a:xfrm>
            <a:off x="9525305" y="2762402"/>
            <a:ext cx="3810305" cy="57607"/>
          </a:xfrm>
          <a:prstGeom prst="rect">
            <a:avLst/>
          </a:prstGeom>
        </p:spPr>
      </p:pic>
      <p:pic>
        <p:nvPicPr>
          <p:cNvPr id="15" name="Image 5" descr="gen-dedup-ac9814ba6d3f437a2944911814d4a63f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3716000" y="2762402"/>
            <a:ext cx="3429000" cy="57607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05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만족도 분석 · 손글씨 30장 → 결과보고서 1쪽</a:t>
            </a:r>
            <a:endParaRPr lang="en-US" sz="1550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1695298"/>
            <a:ext cx="14287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수강생 의견 30개 → 분류 → 개선점 → 보고서.</a:t>
            </a:r>
            <a:endParaRPr lang="en-US" sz="4350" dirty="0"/>
          </a:p>
        </p:txBody>
      </p:sp>
      <p:sp>
        <p:nvSpPr>
          <p:cNvPr id="19" name="Text 11"/>
          <p:cNvSpPr txBox="1"/>
          <p:nvPr/>
        </p:nvSpPr>
        <p:spPr>
          <a:xfrm>
            <a:off x="1447495" y="2971800"/>
            <a:ext cx="3200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 · 입력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1447495" y="3258007"/>
            <a:ext cx="32004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의견 모으기</a:t>
            </a:r>
            <a:endParaRPr lang="en-US" sz="2100" dirty="0"/>
          </a:p>
        </p:txBody>
      </p:sp>
      <p:sp>
        <p:nvSpPr>
          <p:cNvPr id="21" name="Text 13"/>
          <p:cNvSpPr txBox="1"/>
          <p:nvPr/>
        </p:nvSpPr>
        <p:spPr>
          <a:xfrm>
            <a:off x="1447495" y="3829507"/>
            <a:ext cx="327721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종이 30장 → 카메라 → 핸드폰 메모장.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또는 구글폼이면 스프레드시트로 한 번에 정리.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10분</a:t>
            </a:r>
            <a:endParaRPr lang="en-US" sz="1550" dirty="0"/>
          </a:p>
        </p:txBody>
      </p:sp>
      <p:sp>
        <p:nvSpPr>
          <p:cNvPr id="22" name="Text 14"/>
          <p:cNvSpPr txBox="1"/>
          <p:nvPr/>
        </p:nvSpPr>
        <p:spPr>
          <a:xfrm>
            <a:off x="5029200" y="3981298"/>
            <a:ext cx="2286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900" dirty="0"/>
          </a:p>
        </p:txBody>
      </p:sp>
      <p:sp>
        <p:nvSpPr>
          <p:cNvPr id="23" name="Text 15"/>
          <p:cNvSpPr txBox="1"/>
          <p:nvPr/>
        </p:nvSpPr>
        <p:spPr>
          <a:xfrm>
            <a:off x="5639105" y="2971800"/>
            <a:ext cx="3200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 · 분류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5639105" y="3258007"/>
            <a:ext cx="32004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3개 카테고리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5639105" y="3829507"/>
            <a:ext cx="32004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AI에 전체 의견 + 프롬프트 ↓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"의견을 [긍정/개선요청/구체적아이디어] 3개로 분류. 각 카테고리에 원문 인용."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3분</a:t>
            </a:r>
            <a:endParaRPr lang="en-US" sz="1550" dirty="0"/>
          </a:p>
        </p:txBody>
      </p:sp>
      <p:sp>
        <p:nvSpPr>
          <p:cNvPr id="26" name="Text 18"/>
          <p:cNvSpPr txBox="1"/>
          <p:nvPr/>
        </p:nvSpPr>
        <p:spPr>
          <a:xfrm>
            <a:off x="9219895" y="3981298"/>
            <a:ext cx="2286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9829800" y="2971800"/>
            <a:ext cx="3200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 · 도출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9829800" y="3258007"/>
            <a:ext cx="32004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개선점 3개</a:t>
            </a:r>
            <a:endParaRPr lang="en-US" sz="2100" dirty="0"/>
          </a:p>
        </p:txBody>
      </p:sp>
      <p:sp>
        <p:nvSpPr>
          <p:cNvPr id="29" name="Text 21"/>
          <p:cNvSpPr txBox="1"/>
          <p:nvPr/>
        </p:nvSpPr>
        <p:spPr>
          <a:xfrm>
            <a:off x="9829800" y="3829507"/>
            <a:ext cx="32004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"개선 카테고리에서 다음 강의에 즉시 적용할 수 있는 변경점 3개를 추출. 각각 한 문장."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2분</a:t>
            </a:r>
            <a:endParaRPr lang="en-US" sz="1550" dirty="0"/>
          </a:p>
        </p:txBody>
      </p:sp>
      <p:sp>
        <p:nvSpPr>
          <p:cNvPr id="30" name="Text 22"/>
          <p:cNvSpPr txBox="1"/>
          <p:nvPr/>
        </p:nvSpPr>
        <p:spPr>
          <a:xfrm>
            <a:off x="13411505" y="3981298"/>
            <a:ext cx="2286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900" dirty="0"/>
          </a:p>
        </p:txBody>
      </p:sp>
      <p:sp>
        <p:nvSpPr>
          <p:cNvPr id="31" name="Text 23"/>
          <p:cNvSpPr txBox="1"/>
          <p:nvPr/>
        </p:nvSpPr>
        <p:spPr>
          <a:xfrm>
            <a:off x="14020495" y="2971800"/>
            <a:ext cx="28200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 · 보고서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4020495" y="3258007"/>
            <a:ext cx="2820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고객사 결과보고</a:t>
            </a:r>
            <a:endParaRPr lang="en-US" sz="2100" dirty="0"/>
          </a:p>
        </p:txBody>
      </p:sp>
      <p:sp>
        <p:nvSpPr>
          <p:cNvPr id="33" name="Text 25"/>
          <p:cNvSpPr txBox="1"/>
          <p:nvPr/>
        </p:nvSpPr>
        <p:spPr>
          <a:xfrm>
            <a:off x="14020495" y="3829507"/>
            <a:ext cx="282001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분류 + 개선점 → 7종 템플릿의 결과보고서 양식에 그대로 붙여넣기.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5분 → 1쪽 완성</a:t>
            </a:r>
            <a:endParaRPr lang="en-US" sz="1550" dirty="0"/>
          </a:p>
        </p:txBody>
      </p:sp>
      <p:sp>
        <p:nvSpPr>
          <p:cNvPr id="34" name="Text 26"/>
          <p:cNvSpPr txBox="1"/>
          <p:nvPr/>
        </p:nvSpPr>
        <p:spPr>
          <a:xfrm>
            <a:off x="1410005" y="5943600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출력 예시 · "AI 활용 강의 (30명)" 만족도 분석 결과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1410005" y="6476695"/>
            <a:ext cx="15468905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[긍정 — 22건]</a:t>
            </a:r>
            <a:r>
              <a:rPr lang="en-US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"프롬프트 예시가 많아 좋았다", "당장 월요일에 써먹을 수 있다"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[개선요청 — 6건]</a:t>
            </a:r>
            <a:r>
              <a:rPr lang="en-US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"실습 시간이 짧다(3건)", "글씨가 작다(2건)", "휴식이 없다(1건)"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E8E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[구체적 아이디어 — 2건]</a:t>
            </a:r>
            <a:r>
              <a:rPr lang="en-US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"사내 사례로 실습하면 좋겠다", "녹화 영상 제공"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다음 강의 즉시 반영 — 3개</a:t>
            </a:r>
            <a:r>
              <a:rPr lang="en-US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① 실습 시간을 20분 → 30분으로 확대 ② 슬라이드 글씨 24pt → 28pt ③ 50분 강의 후 5분 휴식 추가</a:t>
            </a:r>
            <a:endParaRPr lang="en-US" dirty="0"/>
          </a:p>
        </p:txBody>
      </p:sp>
      <p:sp>
        <p:nvSpPr>
          <p:cNvPr id="36" name="Text 28"/>
          <p:cNvSpPr txBox="1"/>
          <p:nvPr/>
        </p:nvSpPr>
        <p:spPr>
          <a:xfrm>
            <a:off x="1143000" y="9001354"/>
            <a:ext cx="16002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2 (다음 슬라이드)에서 — 본인 강의에 쓸 5가지 프롬프트 중 1개를 직접 만들어봅니다.</a:t>
            </a:r>
            <a:endParaRPr lang="en-US" sz="1550" dirty="0"/>
          </a:p>
        </p:txBody>
      </p:sp>
      <p:sp>
        <p:nvSpPr>
          <p:cNvPr id="37" name="Text 29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CASE · 05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24 / 60</a:t>
            </a:r>
            <a:endParaRPr lang="en-US" sz="15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65103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811098" y="1619402"/>
            <a:ext cx="3333902" cy="1238098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c7e99335821c4549505b5223f4378250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1143000" y="3143707"/>
            <a:ext cx="10477195" cy="5715000"/>
          </a:xfrm>
          <a:prstGeom prst="rect">
            <a:avLst/>
          </a:prstGeom>
        </p:spPr>
      </p:pic>
      <p:pic>
        <p:nvPicPr>
          <p:cNvPr id="8" name="Image 2" descr="gen-dedup-ddc0b6d0471db9ae37ab1c2d853ed67e.png"/>
          <p:cNvPicPr>
            <a:picLocks noChangeAspect="1"/>
          </p:cNvPicPr>
          <p:nvPr/>
        </p:nvPicPr>
        <p:blipFill>
          <a:blip r:embed="rId5">
            <a:alphaModFix amt="18000"/>
          </a:blip>
          <a:srcRect l="-2083" r="-2083"/>
          <a:stretch/>
        </p:blipFill>
        <p:spPr>
          <a:xfrm>
            <a:off x="1371600" y="3696005"/>
            <a:ext cx="10019995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01500" y="3143707"/>
            <a:ext cx="5162702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9624afb65f6b8bec4779dd4b33581e71.png"/>
          <p:cNvPicPr>
            <a:picLocks noChangeAspect="1"/>
          </p:cNvPicPr>
          <p:nvPr/>
        </p:nvPicPr>
        <p:blipFill>
          <a:blip r:embed="rId6">
            <a:alphaModFix amt="20000"/>
          </a:blip>
          <a:srcRect l="-2083" r="-2083"/>
          <a:stretch/>
        </p:blipFill>
        <p:spPr>
          <a:xfrm>
            <a:off x="12287707" y="3696005"/>
            <a:ext cx="4572000" cy="914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143000" y="9048902"/>
            <a:ext cx="16059607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1143000" y="9048902"/>
            <a:ext cx="57607" cy="47640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gen-dedup-e2206c5c145e55646b7e2bc1a9630edc.png"/>
          <p:cNvPicPr>
            <a:picLocks noChangeAspect="1"/>
          </p:cNvPicPr>
          <p:nvPr/>
        </p:nvPicPr>
        <p:blipFill>
          <a:blip r:embed="rId7"/>
          <a:srcRect l="-406" r="-406"/>
          <a:stretch/>
        </p:blipFill>
        <p:spPr>
          <a:xfrm>
            <a:off x="13811098" y="1619402"/>
            <a:ext cx="57607" cy="123809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02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3238805" y="761695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노트북 켜기 · 15분 · </a:t>
            </a: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실제 의뢰 1개를 떠올린다</a:t>
            </a:r>
            <a:endParaRPr lang="en-US" sz="155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1695298"/>
            <a:ext cx="11430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본인 업무에 쓸 프롬프트 1개를 완성하세요.</a:t>
            </a:r>
            <a:endParaRPr lang="en-US" sz="4350" dirty="0"/>
          </a:p>
        </p:txBody>
      </p:sp>
      <p:pic>
        <p:nvPicPr>
          <p:cNvPr id="17" name="Image 5" descr="gen-dedup-27d062dff674067c162ae25c57f96078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4058900" y="1848002"/>
            <a:ext cx="571500" cy="5715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4763902" y="1752905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7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TIMER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4763902" y="2018995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5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210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min</a:t>
            </a:r>
            <a:endParaRPr lang="en-US" sz="385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2533802"/>
            <a:ext cx="12382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도움말 · "다섯 사례 중 하나만 고릅니다. 5개를 다 만들 필요 없습니다."</a:t>
            </a:r>
            <a:endParaRPr lang="en-US" sz="1650" dirty="0"/>
          </a:p>
        </p:txBody>
      </p:sp>
      <p:sp>
        <p:nvSpPr>
          <p:cNvPr id="21" name="Text 13"/>
          <p:cNvSpPr txBox="1"/>
          <p:nvPr/>
        </p:nvSpPr>
        <p:spPr>
          <a:xfrm>
            <a:off x="1371600" y="3372307"/>
            <a:ext cx="10001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F4F1E8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my-prompt.md · 빨간 박스만 본인 상황으로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371600" y="3905402"/>
            <a:ext cx="10001707" cy="4763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어떤 업무를 맡길 것인가 (하나만 선택)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] 제안서 초안   [ ] 커리큘럼 재구성   [ ] 강의 목차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] 실습문제 제작   [ ] 만족도 분석</a:t>
            </a:r>
          </a:p>
          <a:p>
            <a:pPr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 역할 부여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당신은 _______ 분야 전문가입니다.</a:t>
            </a:r>
          </a:p>
          <a:p>
            <a:pPr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3. 입력 (구체적으로)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주제: _______________   - 대상: _______________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시간: _______________   - 산출물: _____________</a:t>
            </a:r>
          </a:p>
          <a:p>
            <a:pPr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4. 출력 </a:t>
            </a:r>
            <a:r>
              <a:rPr lang="en-US" sz="20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형식</a:t>
            </a:r>
            <a:r>
              <a:rPr lang="en-US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(몇 단락? 표? 글머리?)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________________________________________</a:t>
            </a:r>
          </a:p>
          <a:p>
            <a:pPr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5. 금지 사항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추정 데이터 인용 금지   - 실제 회사명 노출 금지</a:t>
            </a:r>
          </a:p>
        </p:txBody>
      </p:sp>
      <p:sp>
        <p:nvSpPr>
          <p:cNvPr id="23" name="Text 15"/>
          <p:cNvSpPr txBox="1"/>
          <p:nvPr/>
        </p:nvSpPr>
        <p:spPr>
          <a:xfrm>
            <a:off x="12287707" y="3372307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 · 15분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2287707" y="3943807"/>
            <a:ext cx="95829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0–3분</a:t>
            </a:r>
            <a:endParaRPr lang="en-US" sz="2000" dirty="0"/>
          </a:p>
        </p:txBody>
      </p:sp>
      <p:sp>
        <p:nvSpPr>
          <p:cNvPr id="25" name="Text 17"/>
          <p:cNvSpPr txBox="1"/>
          <p:nvPr/>
        </p:nvSpPr>
        <p:spPr>
          <a:xfrm>
            <a:off x="13453098" y="3943807"/>
            <a:ext cx="440375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1번에서 한 가지만 체크.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자주 하는 업무로.</a:t>
            </a:r>
            <a:endParaRPr lang="en-US" sz="1650" dirty="0"/>
          </a:p>
        </p:txBody>
      </p:sp>
      <p:sp>
        <p:nvSpPr>
          <p:cNvPr id="26" name="Text 18"/>
          <p:cNvSpPr txBox="1"/>
          <p:nvPr/>
        </p:nvSpPr>
        <p:spPr>
          <a:xfrm>
            <a:off x="12287707" y="4457700"/>
            <a:ext cx="95829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3–8분</a:t>
            </a:r>
            <a:endParaRPr lang="en-US" sz="2000" dirty="0"/>
          </a:p>
        </p:txBody>
      </p:sp>
      <p:sp>
        <p:nvSpPr>
          <p:cNvPr id="27" name="Text 19"/>
          <p:cNvSpPr txBox="1"/>
          <p:nvPr/>
        </p:nvSpPr>
        <p:spPr>
          <a:xfrm>
            <a:off x="13453098" y="4457700"/>
            <a:ext cx="37719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빨간 박스를 본인 상황으로 채우기.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다음 주에 들어올 의뢰를 떠올리며.</a:t>
            </a:r>
            <a:endParaRPr lang="en-US" sz="1650" dirty="0"/>
          </a:p>
        </p:txBody>
      </p:sp>
      <p:sp>
        <p:nvSpPr>
          <p:cNvPr id="28" name="Text 20"/>
          <p:cNvSpPr txBox="1"/>
          <p:nvPr/>
        </p:nvSpPr>
        <p:spPr>
          <a:xfrm>
            <a:off x="12287707" y="5209337"/>
            <a:ext cx="8577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8–12분</a:t>
            </a:r>
            <a:endParaRPr lang="en-US" sz="2000" dirty="0"/>
          </a:p>
        </p:txBody>
      </p:sp>
      <p:sp>
        <p:nvSpPr>
          <p:cNvPr id="29" name="Text 21"/>
          <p:cNvSpPr txBox="1"/>
          <p:nvPr/>
        </p:nvSpPr>
        <p:spPr>
          <a:xfrm>
            <a:off x="13453098" y="5209337"/>
            <a:ext cx="35817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또는 Gemini 무료 </a:t>
            </a:r>
            <a:r>
              <a:rPr lang="en-US" sz="16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계정에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그대로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입력. 결과 확인.</a:t>
            </a:r>
            <a:endParaRPr lang="en-US" sz="1650" dirty="0"/>
          </a:p>
        </p:txBody>
      </p:sp>
      <p:sp>
        <p:nvSpPr>
          <p:cNvPr id="30" name="Text 22"/>
          <p:cNvSpPr txBox="1"/>
          <p:nvPr/>
        </p:nvSpPr>
        <p:spPr>
          <a:xfrm>
            <a:off x="12287707" y="6047842"/>
            <a:ext cx="11814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12–15분</a:t>
            </a:r>
            <a:endParaRPr lang="en-US" sz="2000" dirty="0"/>
          </a:p>
        </p:txBody>
      </p:sp>
      <p:sp>
        <p:nvSpPr>
          <p:cNvPr id="31" name="Text 23"/>
          <p:cNvSpPr txBox="1"/>
          <p:nvPr/>
        </p:nvSpPr>
        <p:spPr>
          <a:xfrm>
            <a:off x="13453098" y="6071752"/>
            <a:ext cx="32671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옆 사람과 결과 비교.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"쓸 만한가" 한 마디로.</a:t>
            </a:r>
            <a:endParaRPr lang="en-US" sz="1650" dirty="0"/>
          </a:p>
        </p:txBody>
      </p:sp>
      <p:sp>
        <p:nvSpPr>
          <p:cNvPr id="32" name="Shape 24"/>
          <p:cNvSpPr/>
          <p:nvPr/>
        </p:nvSpPr>
        <p:spPr>
          <a:xfrm>
            <a:off x="12287707" y="6885432"/>
            <a:ext cx="4572000" cy="743407"/>
          </a:xfrm>
          <a:prstGeom prst="rect">
            <a:avLst/>
          </a:prstGeom>
          <a:solidFill>
            <a:srgbClr val="F4F1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/>
          <p:cNvSpPr/>
          <p:nvPr/>
        </p:nvSpPr>
        <p:spPr>
          <a:xfrm>
            <a:off x="12287707" y="6885432"/>
            <a:ext cx="38405" cy="743407"/>
          </a:xfrm>
          <a:prstGeom prst="rect">
            <a:avLst/>
          </a:prstGeom>
          <a:solidFill>
            <a:srgbClr val="2E2D29"/>
          </a:solidFill>
          <a:ln w="12700">
            <a:solidFill>
              <a:srgbClr val="2E2D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12478817" y="6885432"/>
            <a:ext cx="4380890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39700" rIns="152400" bIns="13970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프롬프트를 메모장에 저장하세요.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의뢰가 들어오면 다시 안 만들어도 됩니다.</a:t>
            </a:r>
            <a:endParaRPr lang="en-US" sz="1550" dirty="0"/>
          </a:p>
        </p:txBody>
      </p:sp>
      <p:sp>
        <p:nvSpPr>
          <p:cNvPr id="35" name="Text 27"/>
          <p:cNvSpPr txBox="1"/>
          <p:nvPr/>
        </p:nvSpPr>
        <p:spPr>
          <a:xfrm>
            <a:off x="1429207" y="9163202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완성한 프롬프트는 — 슬라이드 29 "개인 로드맵"의 "자동화할 업무 1개"에 그대로 들어갑니다.</a:t>
            </a:r>
            <a:endParaRPr lang="en-US" sz="1550" dirty="0"/>
          </a:p>
        </p:txBody>
      </p:sp>
      <p:sp>
        <p:nvSpPr>
          <p:cNvPr id="36" name="Text 28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02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25 / 60</a:t>
            </a:r>
            <a:endParaRPr lang="en-US" sz="15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35846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19195" y="3010205"/>
            <a:ext cx="3200400" cy="5715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819595" y="3010205"/>
            <a:ext cx="5333695" cy="571500"/>
          </a:xfrm>
          <a:prstGeom prst="rect">
            <a:avLst/>
          </a:prstGeom>
          <a:solidFill>
            <a:srgbClr val="A03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2154205" y="3010205"/>
            <a:ext cx="2667305" cy="571500"/>
          </a:xfrm>
          <a:prstGeom prst="rect">
            <a:avLst/>
          </a:prstGeom>
          <a:solidFill>
            <a:srgbClr val="C73E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4820595" y="3010205"/>
            <a:ext cx="2324405" cy="5715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619195" y="3771900"/>
            <a:ext cx="1143000" cy="5715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771900"/>
            <a:ext cx="2286000" cy="571500"/>
          </a:xfrm>
          <a:prstGeom prst="rect">
            <a:avLst/>
          </a:prstGeom>
          <a:solidFill>
            <a:srgbClr val="A03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048195" y="3771900"/>
            <a:ext cx="1333195" cy="571500"/>
          </a:xfrm>
          <a:prstGeom prst="rect">
            <a:avLst/>
          </a:prstGeom>
          <a:solidFill>
            <a:srgbClr val="C73E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382305" y="3771900"/>
            <a:ext cx="571500" cy="5715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953805" y="3771900"/>
            <a:ext cx="8210398" cy="590702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1143000" y="4762195"/>
            <a:ext cx="528614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gen-dedup-d62776392b1bc6feebd37cfd80421698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447495" y="6019495"/>
            <a:ext cx="476402" cy="2834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505956" y="4762195"/>
            <a:ext cx="528614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gen-dedup-d62776392b1bc6feebd37cfd80421698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6810451" y="6019495"/>
            <a:ext cx="476402" cy="2834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1867998" y="4762195"/>
            <a:ext cx="5277002" cy="4095598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gen-dedup-f9c4ee4670abd4f2604d62cf7153445d.png"/>
          <p:cNvPicPr>
            <a:picLocks noChangeAspect="1"/>
          </p:cNvPicPr>
          <p:nvPr/>
        </p:nvPicPr>
        <p:blipFill>
          <a:blip r:embed="rId5"/>
          <a:srcRect l="-420" r="-420"/>
          <a:stretch/>
        </p:blipFill>
        <p:spPr>
          <a:xfrm>
            <a:off x="12173407" y="6019495"/>
            <a:ext cx="476402" cy="28346"/>
          </a:xfrm>
          <a:prstGeom prst="rect">
            <a:avLst/>
          </a:prstGeom>
        </p:spPr>
      </p:pic>
      <p:pic>
        <p:nvPicPr>
          <p:cNvPr id="21" name="Image 4" descr="gen-dedup-63d12b76f41a1309aa2123824ae7256d.png"/>
          <p:cNvPicPr>
            <a:picLocks noChangeAspect="1"/>
          </p:cNvPicPr>
          <p:nvPr/>
        </p:nvPicPr>
        <p:blipFill>
          <a:blip r:embed="rId6"/>
          <a:srcRect t="-404" b="-404"/>
          <a:stretch/>
        </p:blipFill>
        <p:spPr>
          <a:xfrm>
            <a:off x="1143000" y="4762195"/>
            <a:ext cx="5266944" cy="57607"/>
          </a:xfrm>
          <a:prstGeom prst="rect">
            <a:avLst/>
          </a:prstGeom>
        </p:spPr>
      </p:pic>
      <p:pic>
        <p:nvPicPr>
          <p:cNvPr id="22" name="Image 5" descr="gen-dedup-63d12b76f41a1309aa2123824ae7256d.png"/>
          <p:cNvPicPr>
            <a:picLocks noChangeAspect="1"/>
          </p:cNvPicPr>
          <p:nvPr/>
        </p:nvPicPr>
        <p:blipFill>
          <a:blip r:embed="rId6"/>
          <a:srcRect t="-404" b="-404"/>
          <a:stretch/>
        </p:blipFill>
        <p:spPr>
          <a:xfrm>
            <a:off x="6505956" y="4762195"/>
            <a:ext cx="5266944" cy="57607"/>
          </a:xfrm>
          <a:prstGeom prst="rect">
            <a:avLst/>
          </a:prstGeom>
        </p:spPr>
      </p:pic>
      <p:pic>
        <p:nvPicPr>
          <p:cNvPr id="23" name="Image 6" descr="gen-dedup-1628c8bf63e851a51a9c4956ecb089dd.png"/>
          <p:cNvPicPr>
            <a:picLocks noChangeAspect="1"/>
          </p:cNvPicPr>
          <p:nvPr/>
        </p:nvPicPr>
        <p:blipFill>
          <a:blip r:embed="rId7"/>
          <a:srcRect t="-399" b="-399"/>
          <a:stretch/>
        </p:blipFill>
        <p:spPr>
          <a:xfrm>
            <a:off x="11867998" y="4762195"/>
            <a:ext cx="5277002" cy="5760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· 04 CASES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강사의 변화 예시 — "이 한 가지를 바꾸면 다음 주가 달라진다"</a:t>
            </a:r>
            <a:endParaRPr lang="en-US" sz="1550" dirty="0"/>
          </a:p>
        </p:txBody>
      </p:sp>
      <p:sp>
        <p:nvSpPr>
          <p:cNvPr id="26" name="Text 17"/>
          <p:cNvSpPr txBox="1"/>
          <p:nvPr/>
        </p:nvSpPr>
        <p:spPr>
          <a:xfrm>
            <a:off x="1143000" y="16952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같은 강의, 6시간이 2시간이 된 이유.</a:t>
            </a:r>
            <a:endParaRPr lang="en-US" sz="4500" dirty="0"/>
          </a:p>
        </p:txBody>
      </p:sp>
      <p:sp>
        <p:nvSpPr>
          <p:cNvPr id="27" name="Text 18"/>
          <p:cNvSpPr txBox="1"/>
          <p:nvPr/>
        </p:nvSpPr>
        <p:spPr>
          <a:xfrm>
            <a:off x="1143000" y="25338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"AI 활용 기초" 2시간 강의, 의뢰 3번째 — 강사 J씨 (50대, 강의 경력 2년 · 가상의 예시).</a:t>
            </a:r>
            <a:endParaRPr lang="en-US" sz="1700" dirty="0"/>
          </a:p>
        </p:txBody>
      </p:sp>
      <p:sp>
        <p:nvSpPr>
          <p:cNvPr id="28" name="Text 19"/>
          <p:cNvSpPr txBox="1"/>
          <p:nvPr/>
        </p:nvSpPr>
        <p:spPr>
          <a:xfrm>
            <a:off x="1143000" y="3047695"/>
            <a:ext cx="2286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2E2D29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 · 6 시간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3619195" y="3010205"/>
            <a:ext cx="32004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제안서 작성 1h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6819595" y="3010205"/>
            <a:ext cx="5334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강의자료 제작 2h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12154205" y="3010205"/>
            <a:ext cx="2667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준비 1h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14820595" y="3010205"/>
            <a:ext cx="23244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정리·점검 2h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1143000" y="3810305"/>
            <a:ext cx="2286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 · 2 시간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3619195" y="3771900"/>
            <a:ext cx="1143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20m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4762195" y="37719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자료 50m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7048195" y="3771900"/>
            <a:ext cx="13341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30m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8382305" y="37719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20m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8953805" y="3771900"/>
            <a:ext cx="81921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4시간이 다른 의뢰로 갔습니다.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1447495" y="4990795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변화 01 · 제안서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1447495" y="5296205"/>
            <a:ext cx="4657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1시간 → 20분</a:t>
            </a:r>
            <a:endParaRPr lang="en-US" sz="2650" dirty="0"/>
          </a:p>
        </p:txBody>
      </p:sp>
      <p:sp>
        <p:nvSpPr>
          <p:cNvPr id="41" name="Text 32"/>
          <p:cNvSpPr txBox="1"/>
          <p:nvPr/>
        </p:nvSpPr>
        <p:spPr>
          <a:xfrm>
            <a:off x="1447495" y="6267298"/>
            <a:ext cx="4657954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1차: 요구분석서 7칸을 의뢰 메일에서 그대로 추출 (5분).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2차: AI 프롬프트(슬라이드 20)로 5단락 초안 받기 (5분).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3차: 본인이 "기대효과"만 다시 작성 (10분).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3차 검토는 빠지지 않음.</a:t>
            </a:r>
            <a:endParaRPr lang="en-US" sz="1700" dirty="0"/>
          </a:p>
        </p:txBody>
      </p:sp>
      <p:sp>
        <p:nvSpPr>
          <p:cNvPr id="42" name="Text 33"/>
          <p:cNvSpPr txBox="1"/>
          <p:nvPr/>
        </p:nvSpPr>
        <p:spPr>
          <a:xfrm>
            <a:off x="6810451" y="4990795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변화 02 · 강의자료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6810451" y="5296205"/>
            <a:ext cx="4657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2시간 → 50분</a:t>
            </a:r>
            <a:endParaRPr lang="en-US" sz="2650" dirty="0"/>
          </a:p>
        </p:txBody>
      </p:sp>
      <p:sp>
        <p:nvSpPr>
          <p:cNvPr id="44" name="Text 35"/>
          <p:cNvSpPr txBox="1"/>
          <p:nvPr/>
        </p:nvSpPr>
        <p:spPr>
          <a:xfrm>
            <a:off x="6810451" y="6267298"/>
            <a:ext cx="4657954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1차: 마스터 슬라이드(템플릿) 복사 (1분).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2차: AI로 슬라이드 제목+핵심 문장 10개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받기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(10분).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3차: 본인 사례 2개만 새로 추가 (40분).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디자인 시간이 0이 된 게 핵심.</a:t>
            </a:r>
            <a:endParaRPr lang="en-US" sz="1700" dirty="0"/>
          </a:p>
        </p:txBody>
      </p:sp>
      <p:sp>
        <p:nvSpPr>
          <p:cNvPr id="45" name="Text 36"/>
          <p:cNvSpPr txBox="1"/>
          <p:nvPr/>
        </p:nvSpPr>
        <p:spPr>
          <a:xfrm>
            <a:off x="12173407" y="4990795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변화 03 · 정리·점검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12173407" y="5296205"/>
            <a:ext cx="4668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2시간 → 20분</a:t>
            </a:r>
            <a:endParaRPr lang="en-US" sz="2650" dirty="0"/>
          </a:p>
        </p:txBody>
      </p:sp>
      <p:sp>
        <p:nvSpPr>
          <p:cNvPr id="47" name="Text 38"/>
          <p:cNvSpPr txBox="1"/>
          <p:nvPr/>
        </p:nvSpPr>
        <p:spPr>
          <a:xfrm>
            <a:off x="12173407" y="6267298"/>
            <a:ext cx="4668012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"점검할 게 많은 게 아니라,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점검</a:t>
            </a: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항목이 없었던 것"이었습니다.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실습지·강의안·만족도 양식이 모두 </a:t>
            </a:r>
            <a:r>
              <a:rPr lang="en-US" sz="1700" dirty="0" err="1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템플릿에서</a:t>
            </a: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시작되니까</a:t>
            </a: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다시 검토할 부분이 본인이 새로 적은 곳뿐.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점검표 1장이 정착에 결정적이었습니다.</a:t>
            </a:r>
            <a:endParaRPr lang="en-US" sz="1700" dirty="0"/>
          </a:p>
        </p:txBody>
      </p:sp>
      <p:sp>
        <p:nvSpPr>
          <p:cNvPr id="48" name="Text 39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PART 04 · CASES · 26 / 60</a:t>
            </a:r>
            <a:endParaRPr lang="en-US" sz="15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72869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7925105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f841319f9513edff3b6b6c59542857e4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447495" y="4324198"/>
            <a:ext cx="571500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9098" y="2952598"/>
            <a:ext cx="7905902" cy="53336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1056e883e2f55d8a5ba7da29d9787817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9544507" y="4324198"/>
            <a:ext cx="571500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43000" y="8524951"/>
            <a:ext cx="16059607" cy="761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1143000" y="8524951"/>
            <a:ext cx="57607" cy="761695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gen-dedup-596901a3f1298b91ce24c8203fbdfe7c.png"/>
          <p:cNvPicPr>
            <a:picLocks noChangeAspect="1"/>
          </p:cNvPicPr>
          <p:nvPr/>
        </p:nvPicPr>
        <p:blipFill>
          <a:blip r:embed="rId6"/>
          <a:srcRect l="-202" r="-202"/>
          <a:stretch/>
        </p:blipFill>
        <p:spPr>
          <a:xfrm>
            <a:off x="1143000" y="2952598"/>
            <a:ext cx="7905902" cy="75895"/>
          </a:xfrm>
          <a:prstGeom prst="rect">
            <a:avLst/>
          </a:prstGeom>
        </p:spPr>
      </p:pic>
      <p:pic>
        <p:nvPicPr>
          <p:cNvPr id="12" name="Image 4" descr="gen-dedup-2740c519cb00ac3f3562614e70bc33cf.png"/>
          <p:cNvPicPr>
            <a:picLocks noChangeAspect="1"/>
          </p:cNvPicPr>
          <p:nvPr/>
        </p:nvPicPr>
        <p:blipFill>
          <a:blip r:embed="rId7"/>
          <a:srcRect l="-202" r="-202"/>
          <a:stretch/>
        </p:blipFill>
        <p:spPr>
          <a:xfrm>
            <a:off x="9239098" y="2952598"/>
            <a:ext cx="7905902" cy="758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· CASE · QUALITY · 표준화한다고 강사의 색이 사라지지 않는다</a:t>
            </a:r>
            <a:endParaRPr lang="en-US" sz="155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"그러면 강사가 다 똑같아지는 거 아닌가요?"</a:t>
            </a:r>
            <a:endParaRPr lang="en-US" sz="45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가장 자주 듣는 질문입니다. 답은 — 절대 그렇지 않습니다.</a:t>
            </a:r>
            <a:endParaRPr lang="en-US" sz="1700" dirty="0"/>
          </a:p>
        </p:txBody>
      </p:sp>
      <p:sp>
        <p:nvSpPr>
          <p:cNvPr id="16" name="Text 9"/>
          <p:cNvSpPr txBox="1"/>
          <p:nvPr/>
        </p:nvSpPr>
        <p:spPr>
          <a:xfrm>
            <a:off x="1447495" y="3181198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표준화하는 것 — "그릇"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447495" y="3504895"/>
            <a:ext cx="72969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절차·양식·도구</a:t>
            </a:r>
            <a:endParaRPr lang="en-US" sz="3100" dirty="0"/>
          </a:p>
        </p:txBody>
      </p:sp>
      <p:sp>
        <p:nvSpPr>
          <p:cNvPr id="18" name="Text 11"/>
          <p:cNvSpPr txBox="1"/>
          <p:nvPr/>
        </p:nvSpPr>
        <p:spPr>
          <a:xfrm>
            <a:off x="1447495" y="4572000"/>
            <a:ext cx="7296912" cy="362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요구분석서 7칸의 구조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제안서 5단락의 순서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커리큘럼표 6칸 양식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슬라이드 마스터의 색·글꼴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폴더 4단계 규칙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프롬프트의 뼈대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부분이 본인 색이 들어가야 할 자리를 막고 있었습니다.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그릇이 흐트러져 있을 때, 음식은 매번 새로 만들어야 합니다.</a:t>
            </a:r>
            <a:endParaRPr lang="en-US" sz="1650" dirty="0"/>
          </a:p>
        </p:txBody>
      </p:sp>
      <p:sp>
        <p:nvSpPr>
          <p:cNvPr id="19" name="Text 12"/>
          <p:cNvSpPr txBox="1"/>
          <p:nvPr/>
        </p:nvSpPr>
        <p:spPr>
          <a:xfrm>
            <a:off x="9544507" y="3181198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절대 표준화 안 하는 것 — "음식"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9544507" y="3504895"/>
            <a:ext cx="72969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사례·말투·경험</a:t>
            </a:r>
            <a:endParaRPr lang="en-US" sz="3100" dirty="0"/>
          </a:p>
        </p:txBody>
      </p:sp>
      <p:sp>
        <p:nvSpPr>
          <p:cNvPr id="21" name="Text 14"/>
          <p:cNvSpPr txBox="1"/>
          <p:nvPr/>
        </p:nvSpPr>
        <p:spPr>
          <a:xfrm>
            <a:off x="9544507" y="4572000"/>
            <a:ext cx="7296912" cy="362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본인이 직접 겪은 실패 사례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본인의 말투·강의 리듬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수강생에게 던지는 질문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실습 중 돌발 대응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Q&amp;A의 답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강의 마지막 1분의 인사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이게 강사 J씨와 강사 K씨를 구분짓는 부분입니다.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표준화는 이 부분에 더 많은 시간을 쓰게 해줍니다.</a:t>
            </a:r>
            <a:endParaRPr lang="en-US" sz="1650" dirty="0"/>
          </a:p>
        </p:txBody>
      </p:sp>
      <p:sp>
        <p:nvSpPr>
          <p:cNvPr id="22" name="Text 15"/>
          <p:cNvSpPr txBox="1"/>
          <p:nvPr/>
        </p:nvSpPr>
        <p:spPr>
          <a:xfrm>
            <a:off x="1429207" y="86675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"원두는 같지만, 바리스타가 다르면 커피가 다른 것처럼."</a:t>
            </a:r>
            <a:endParaRPr lang="en-US" sz="2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표준화한 강사 J씨가 의뢰처에 한 말</a:t>
            </a:r>
            <a:endParaRPr lang="en-US" sz="2100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27 / 60</a:t>
            </a:r>
            <a:endParaRPr lang="en-US" sz="15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95780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047695"/>
            <a:ext cx="4610405" cy="232440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191402" y="3047695"/>
            <a:ext cx="5753405" cy="232440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2382805" y="3047695"/>
            <a:ext cx="4762195" cy="22860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5715000"/>
            <a:ext cx="16021202" cy="31619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8c8cfe17b0230c1d3fd669e946137195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2083" r="-2083"/>
          <a:stretch/>
        </p:blipFill>
        <p:spPr>
          <a:xfrm>
            <a:off x="1447495" y="6267298"/>
            <a:ext cx="15392095" cy="9144"/>
          </a:xfrm>
          <a:prstGeom prst="rect">
            <a:avLst/>
          </a:prstGeom>
        </p:spPr>
      </p:pic>
      <p:pic>
        <p:nvPicPr>
          <p:cNvPr id="10" name="Image 2" descr="gen-dedup-8c8cfe17b0230c1d3fd669e946137195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-2083" r="-2083"/>
          <a:stretch/>
        </p:blipFill>
        <p:spPr>
          <a:xfrm>
            <a:off x="1619402" y="7239305"/>
            <a:ext cx="15240305" cy="914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19402" y="8248802"/>
            <a:ext cx="15277795" cy="476402"/>
          </a:xfrm>
          <a:prstGeom prst="rect">
            <a:avLst/>
          </a:prstGeom>
          <a:solidFill>
            <a:srgbClr val="F4F1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1619402" y="8248802"/>
            <a:ext cx="38405" cy="47640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77d3ccfd98d417807348261fc25a10d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6191402" y="3047695"/>
            <a:ext cx="5715000" cy="57607"/>
          </a:xfrm>
          <a:prstGeom prst="rect">
            <a:avLst/>
          </a:prstGeom>
        </p:spPr>
      </p:pic>
      <p:pic>
        <p:nvPicPr>
          <p:cNvPr id="14" name="Image 4" descr="gen-dedup-6813e1fe8b5e6219c5af597c2b70d99d.png"/>
          <p:cNvPicPr>
            <a:picLocks noChangeAspect="1"/>
          </p:cNvPicPr>
          <p:nvPr/>
        </p:nvPicPr>
        <p:blipFill>
          <a:blip r:embed="rId5"/>
          <a:srcRect t="-403" b="-403"/>
          <a:stretch/>
        </p:blipFill>
        <p:spPr>
          <a:xfrm>
            <a:off x="12382805" y="3047695"/>
            <a:ext cx="4762195" cy="57607"/>
          </a:xfrm>
          <a:prstGeom prst="rect">
            <a:avLst/>
          </a:prstGeom>
        </p:spPr>
      </p:pic>
      <p:pic>
        <p:nvPicPr>
          <p:cNvPr id="15" name="Image 5" descr="gen-dedup-6f663480610514206ccf4124ffaa5e5f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43000" y="5715000"/>
            <a:ext cx="16002000" cy="57607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· PORTFOLIO · 강의 끝의 결과보고서 = 다음 의뢰의 입장권</a:t>
            </a:r>
            <a:endParaRPr lang="en-US" sz="155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한 번의 강의 = 두 개의 자산.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결과보고서 = 고객사 제출본 + 본인 포트폴리오 1쪽. 같은 파일을 두 번 쓰면 됩니다.</a:t>
            </a:r>
            <a:endParaRPr lang="en-US" sz="1700" dirty="0"/>
          </a:p>
        </p:txBody>
      </p:sp>
      <p:sp>
        <p:nvSpPr>
          <p:cNvPr id="19" name="Text 11"/>
          <p:cNvSpPr txBox="1"/>
          <p:nvPr/>
        </p:nvSpPr>
        <p:spPr>
          <a:xfrm>
            <a:off x="1447495" y="3276295"/>
            <a:ext cx="39630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 건의 강의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1447495" y="3638398"/>
            <a:ext cx="39630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 1회</a:t>
            </a:r>
            <a:endParaRPr lang="en-US" sz="2650" dirty="0"/>
          </a:p>
        </p:txBody>
      </p:sp>
      <p:sp>
        <p:nvSpPr>
          <p:cNvPr id="21" name="Text 13"/>
          <p:cNvSpPr txBox="1"/>
          <p:nvPr/>
        </p:nvSpPr>
        <p:spPr>
          <a:xfrm>
            <a:off x="1447495" y="4343400"/>
            <a:ext cx="39630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슬라이드, 실습지, 만족도, 사진 2장.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모두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폴더 한 곳에.</a:t>
            </a:r>
            <a:endParaRPr lang="en-US" sz="1550" dirty="0"/>
          </a:p>
        </p:txBody>
      </p:sp>
      <p:sp>
        <p:nvSpPr>
          <p:cNvPr id="22" name="Text 14"/>
          <p:cNvSpPr txBox="1"/>
          <p:nvPr/>
        </p:nvSpPr>
        <p:spPr>
          <a:xfrm>
            <a:off x="5790895" y="4048049"/>
            <a:ext cx="3246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650" dirty="0"/>
          </a:p>
        </p:txBody>
      </p:sp>
      <p:sp>
        <p:nvSpPr>
          <p:cNvPr id="23" name="Text 15"/>
          <p:cNvSpPr txBox="1"/>
          <p:nvPr/>
        </p:nvSpPr>
        <p:spPr>
          <a:xfrm>
            <a:off x="6495898" y="3276295"/>
            <a:ext cx="51060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 종료 후 10분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6495898" y="3638398"/>
            <a:ext cx="51060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결과보고서 1쪽</a:t>
            </a:r>
            <a:endParaRPr lang="en-US" sz="2650" dirty="0"/>
          </a:p>
        </p:txBody>
      </p:sp>
      <p:sp>
        <p:nvSpPr>
          <p:cNvPr id="25" name="Text 17"/>
          <p:cNvSpPr txBox="1"/>
          <p:nvPr/>
        </p:nvSpPr>
        <p:spPr>
          <a:xfrm>
            <a:off x="6495898" y="4343400"/>
            <a:ext cx="51060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7종 템플릿의 결과보고서 양식 + 만족도 AI 분석 결과.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고객사에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즉시 전송.</a:t>
            </a:r>
            <a:endParaRPr lang="en-US" sz="1550" dirty="0"/>
          </a:p>
        </p:txBody>
      </p:sp>
      <p:sp>
        <p:nvSpPr>
          <p:cNvPr id="26" name="Text 18"/>
          <p:cNvSpPr txBox="1"/>
          <p:nvPr/>
        </p:nvSpPr>
        <p:spPr>
          <a:xfrm>
            <a:off x="11982298" y="4048049"/>
            <a:ext cx="3246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650" dirty="0"/>
          </a:p>
        </p:txBody>
      </p:sp>
      <p:sp>
        <p:nvSpPr>
          <p:cNvPr id="27" name="Text 19"/>
          <p:cNvSpPr txBox="1"/>
          <p:nvPr/>
        </p:nvSpPr>
        <p:spPr>
          <a:xfrm>
            <a:off x="12687300" y="3276295"/>
            <a:ext cx="4153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동일 파일 — 1분 작업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2687300" y="3638398"/>
            <a:ext cx="41532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포트폴리오 1쪽</a:t>
            </a:r>
            <a:endParaRPr lang="en-US" sz="2650" dirty="0"/>
          </a:p>
        </p:txBody>
      </p:sp>
      <p:sp>
        <p:nvSpPr>
          <p:cNvPr id="29" name="Text 21"/>
          <p:cNvSpPr txBox="1"/>
          <p:nvPr/>
        </p:nvSpPr>
        <p:spPr>
          <a:xfrm>
            <a:off x="12687300" y="4343400"/>
            <a:ext cx="41532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회사명 가림 + "기대효과" </a:t>
            </a:r>
            <a:r>
              <a:rPr lang="en-US" sz="1550" dirty="0" err="1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칸을</a:t>
            </a: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"실제 결과"로 교체. 끝.</a:t>
            </a:r>
            <a:endParaRPr lang="en-US" sz="1550" dirty="0"/>
          </a:p>
        </p:txBody>
      </p:sp>
      <p:sp>
        <p:nvSpPr>
          <p:cNvPr id="30" name="Text 22"/>
          <p:cNvSpPr txBox="1"/>
          <p:nvPr/>
        </p:nvSpPr>
        <p:spPr>
          <a:xfrm>
            <a:off x="1447495" y="5943600"/>
            <a:ext cx="153930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포트폴리오 1쪽 — 들어가는 6개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619402" y="6486754"/>
            <a:ext cx="11301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강의 제목</a:t>
            </a:r>
            <a:endParaRPr lang="en-US" sz="1650" dirty="0"/>
          </a:p>
        </p:txBody>
      </p:sp>
      <p:sp>
        <p:nvSpPr>
          <p:cNvPr id="32" name="Text 24"/>
          <p:cNvSpPr txBox="1"/>
          <p:nvPr/>
        </p:nvSpPr>
        <p:spPr>
          <a:xfrm>
            <a:off x="1619402" y="6817610"/>
            <a:ext cx="28392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 활용 기초 — A기업 임직원 30명"</a:t>
            </a:r>
            <a:endParaRPr lang="en-US" dirty="0"/>
          </a:p>
        </p:txBody>
      </p:sp>
      <p:sp>
        <p:nvSpPr>
          <p:cNvPr id="33" name="Text 25"/>
          <p:cNvSpPr txBox="1"/>
          <p:nvPr/>
        </p:nvSpPr>
        <p:spPr>
          <a:xfrm>
            <a:off x="6762902" y="6486754"/>
            <a:ext cx="123626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기간 · 인원</a:t>
            </a:r>
            <a:endParaRPr lang="en-US" sz="1650" dirty="0"/>
          </a:p>
        </p:txBody>
      </p:sp>
      <p:sp>
        <p:nvSpPr>
          <p:cNvPr id="34" name="Text 26"/>
          <p:cNvSpPr txBox="1"/>
          <p:nvPr/>
        </p:nvSpPr>
        <p:spPr>
          <a:xfrm>
            <a:off x="6762902" y="6817610"/>
            <a:ext cx="22896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"2026년 2월 / 2시간 / 30명"</a:t>
            </a:r>
            <a:endParaRPr lang="en-US" dirty="0"/>
          </a:p>
        </p:txBody>
      </p:sp>
      <p:sp>
        <p:nvSpPr>
          <p:cNvPr id="35" name="Text 27"/>
          <p:cNvSpPr txBox="1"/>
          <p:nvPr/>
        </p:nvSpPr>
        <p:spPr>
          <a:xfrm>
            <a:off x="11906402" y="6486754"/>
            <a:ext cx="132313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만족도 점수</a:t>
            </a:r>
            <a:endParaRPr lang="en-US" sz="1650" dirty="0"/>
          </a:p>
        </p:txBody>
      </p:sp>
      <p:sp>
        <p:nvSpPr>
          <p:cNvPr id="36" name="Text 28"/>
          <p:cNvSpPr txBox="1"/>
          <p:nvPr/>
        </p:nvSpPr>
        <p:spPr>
          <a:xfrm>
            <a:off x="11906402" y="6817610"/>
            <a:ext cx="22677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"5점 만점 4.7 / 응답률 93%"</a:t>
            </a:r>
            <a:endParaRPr lang="en-US" dirty="0"/>
          </a:p>
        </p:txBody>
      </p:sp>
      <p:sp>
        <p:nvSpPr>
          <p:cNvPr id="37" name="Text 29"/>
          <p:cNvSpPr txBox="1"/>
          <p:nvPr/>
        </p:nvSpPr>
        <p:spPr>
          <a:xfrm>
            <a:off x="1619402" y="7457846"/>
            <a:ext cx="11301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핵심 결과</a:t>
            </a:r>
            <a:endParaRPr lang="en-US" sz="1650" dirty="0"/>
          </a:p>
        </p:txBody>
      </p:sp>
      <p:sp>
        <p:nvSpPr>
          <p:cNvPr id="38" name="Text 30"/>
          <p:cNvSpPr txBox="1"/>
          <p:nvPr/>
        </p:nvSpPr>
        <p:spPr>
          <a:xfrm>
            <a:off x="1619402" y="7788703"/>
            <a:ext cx="191383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"제안서 작성 시간 -70%"</a:t>
            </a:r>
            <a:endParaRPr lang="en-US" dirty="0"/>
          </a:p>
        </p:txBody>
      </p:sp>
      <p:sp>
        <p:nvSpPr>
          <p:cNvPr id="39" name="Text 31"/>
          <p:cNvSpPr txBox="1"/>
          <p:nvPr/>
        </p:nvSpPr>
        <p:spPr>
          <a:xfrm>
            <a:off x="6762902" y="7457846"/>
            <a:ext cx="194035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 수강생 한 줄 후기</a:t>
            </a:r>
            <a:endParaRPr lang="en-US" sz="1650" dirty="0"/>
          </a:p>
        </p:txBody>
      </p:sp>
      <p:sp>
        <p:nvSpPr>
          <p:cNvPr id="40" name="Text 32"/>
          <p:cNvSpPr txBox="1"/>
          <p:nvPr/>
        </p:nvSpPr>
        <p:spPr>
          <a:xfrm>
            <a:off x="6762902" y="7788703"/>
            <a:ext cx="211409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만족도 주관식에서 1건 인용</a:t>
            </a:r>
            <a:endParaRPr lang="en-US" dirty="0"/>
          </a:p>
        </p:txBody>
      </p:sp>
      <p:sp>
        <p:nvSpPr>
          <p:cNvPr id="41" name="Text 33"/>
          <p:cNvSpPr txBox="1"/>
          <p:nvPr/>
        </p:nvSpPr>
        <p:spPr>
          <a:xfrm>
            <a:off x="11906402" y="7457846"/>
            <a:ext cx="10094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⑥ 사진 1장</a:t>
            </a:r>
            <a:endParaRPr lang="en-US" sz="1650" dirty="0"/>
          </a:p>
        </p:txBody>
      </p:sp>
      <p:sp>
        <p:nvSpPr>
          <p:cNvPr id="42" name="Text 34"/>
          <p:cNvSpPr txBox="1"/>
          <p:nvPr/>
        </p:nvSpPr>
        <p:spPr>
          <a:xfrm>
            <a:off x="11906402" y="7788703"/>
            <a:ext cx="24963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정면 촬영 1장 (얼굴 안 보이게)</a:t>
            </a:r>
            <a:endParaRPr lang="en-US" dirty="0"/>
          </a:p>
        </p:txBody>
      </p:sp>
      <p:sp>
        <p:nvSpPr>
          <p:cNvPr id="43" name="Text 35"/>
          <p:cNvSpPr txBox="1"/>
          <p:nvPr/>
        </p:nvSpPr>
        <p:spPr>
          <a:xfrm>
            <a:off x="1790395" y="8363102"/>
            <a:ext cx="150117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6칸이 10건만 쌓이면 — "강사 J씨"가 아니라 </a:t>
            </a:r>
            <a:r>
              <a:rPr lang="en-US" sz="155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"포트폴리오 10건 보유 강사 J씨"</a:t>
            </a: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 됩니다.</a:t>
            </a:r>
            <a:endParaRPr lang="en-US" sz="1550" dirty="0"/>
          </a:p>
        </p:txBody>
      </p:sp>
      <p:sp>
        <p:nvSpPr>
          <p:cNvPr id="44" name="Text 36"/>
          <p:cNvSpPr txBox="1"/>
          <p:nvPr/>
        </p:nvSpPr>
        <p:spPr>
          <a:xfrm>
            <a:off x="1143000" y="973495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28 / 60</a:t>
            </a:r>
            <a:endParaRPr lang="en-US" sz="15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76111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6002000" cy="476402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2857500"/>
            <a:ext cx="5286146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47495" y="4248302"/>
            <a:ext cx="476402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47495" y="5238598"/>
            <a:ext cx="4677156" cy="2876702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505956" y="2857500"/>
            <a:ext cx="5286146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6810451" y="4248302"/>
            <a:ext cx="476402" cy="2834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10451" y="5238598"/>
            <a:ext cx="4677156" cy="2876702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1867998" y="2857500"/>
            <a:ext cx="5277002" cy="55248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f9c4ee4670abd4f2604d62cf7153445d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2173407" y="4248302"/>
            <a:ext cx="476402" cy="2834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2173407" y="5238598"/>
            <a:ext cx="4686300" cy="2876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143000" y="8572500"/>
            <a:ext cx="16059607" cy="761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143000" y="8572500"/>
            <a:ext cx="57607" cy="761695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7c30ec54952525a0f40f7a931e0e7694.png"/>
          <p:cNvPicPr>
            <a:picLocks noChangeAspect="1"/>
          </p:cNvPicPr>
          <p:nvPr/>
        </p:nvPicPr>
        <p:blipFill>
          <a:blip r:embed="rId5"/>
          <a:srcRect t="-217" b="-217"/>
          <a:stretch/>
        </p:blipFill>
        <p:spPr>
          <a:xfrm>
            <a:off x="1143000" y="761695"/>
            <a:ext cx="75895" cy="476402"/>
          </a:xfrm>
          <a:prstGeom prst="rect">
            <a:avLst/>
          </a:prstGeom>
        </p:spPr>
      </p:pic>
      <p:pic>
        <p:nvPicPr>
          <p:cNvPr id="17" name="Image 4" descr="gen-dedup-4176338c8211820e0afb13fbe02cb5d7.png"/>
          <p:cNvPicPr>
            <a:picLocks noChangeAspect="1"/>
          </p:cNvPicPr>
          <p:nvPr/>
        </p:nvPicPr>
        <p:blipFill>
          <a:blip r:embed="rId6"/>
          <a:srcRect l="-197" r="-197"/>
          <a:stretch/>
        </p:blipFill>
        <p:spPr>
          <a:xfrm>
            <a:off x="1143000" y="2857500"/>
            <a:ext cx="5266944" cy="75895"/>
          </a:xfrm>
          <a:prstGeom prst="rect">
            <a:avLst/>
          </a:prstGeom>
        </p:spPr>
      </p:pic>
      <p:pic>
        <p:nvPicPr>
          <p:cNvPr id="18" name="Image 5" descr="gen-dedup-4176338c8211820e0afb13fbe02cb5d7.png"/>
          <p:cNvPicPr>
            <a:picLocks noChangeAspect="1"/>
          </p:cNvPicPr>
          <p:nvPr/>
        </p:nvPicPr>
        <p:blipFill>
          <a:blip r:embed="rId6"/>
          <a:srcRect l="-197" r="-197"/>
          <a:stretch/>
        </p:blipFill>
        <p:spPr>
          <a:xfrm>
            <a:off x="6505956" y="2857500"/>
            <a:ext cx="5266944" cy="75895"/>
          </a:xfrm>
          <a:prstGeom prst="rect">
            <a:avLst/>
          </a:prstGeom>
        </p:spPr>
      </p:pic>
      <p:pic>
        <p:nvPicPr>
          <p:cNvPr id="19" name="Image 6" descr="gen-dedup-169a695c70329b79560b7ee965e059da.png"/>
          <p:cNvPicPr>
            <a:picLocks noChangeAspect="1"/>
          </p:cNvPicPr>
          <p:nvPr/>
        </p:nvPicPr>
        <p:blipFill>
          <a:blip r:embed="rId7"/>
          <a:srcRect l="-202" r="-202"/>
          <a:stretch/>
        </p:blipFill>
        <p:spPr>
          <a:xfrm>
            <a:off x="11867998" y="2857500"/>
            <a:ext cx="5277002" cy="7589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447495" y="761695"/>
            <a:ext cx="11430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89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오늘의 결과물 · 이 한 장을 들고 강의장을 나갑니다 · 다음 의뢰가 그 시작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1143000" y="1466698"/>
            <a:ext cx="16002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50" b="1" kern="0" spc="-43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딱 3개. 더는 적지 마세요.</a:t>
            </a:r>
            <a:endParaRPr lang="en-US" sz="4450" dirty="0"/>
          </a:p>
        </p:txBody>
      </p:sp>
      <p:sp>
        <p:nvSpPr>
          <p:cNvPr id="23" name="Text 14"/>
          <p:cNvSpPr txBox="1"/>
          <p:nvPr/>
        </p:nvSpPr>
        <p:spPr>
          <a:xfrm>
            <a:off x="1143000" y="2361895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7일 안에 끝낼 수 있는 작은 약속만. 실습 1의 ★ 표시한 단계를 보면서 채우세요.</a:t>
            </a:r>
            <a:endParaRPr lang="en-US" sz="1700" dirty="0"/>
          </a:p>
        </p:txBody>
      </p:sp>
      <p:sp>
        <p:nvSpPr>
          <p:cNvPr id="24" name="Text 15"/>
          <p:cNvSpPr txBox="1"/>
          <p:nvPr/>
        </p:nvSpPr>
        <p:spPr>
          <a:xfrm>
            <a:off x="1447495" y="3105302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COMMITMENT 01 · 줄인다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1447495" y="3429000"/>
            <a:ext cx="46579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당장 줄일 업무 1개</a:t>
            </a:r>
            <a:endParaRPr lang="en-US" sz="2750" dirty="0"/>
          </a:p>
        </p:txBody>
      </p:sp>
      <p:sp>
        <p:nvSpPr>
          <p:cNvPr id="26" name="Text 17"/>
          <p:cNvSpPr txBox="1"/>
          <p:nvPr/>
        </p:nvSpPr>
        <p:spPr>
          <a:xfrm>
            <a:off x="1447495" y="4496105"/>
            <a:ext cx="4657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1에서 ✗ 표시한 단계.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</a:t>
            </a:r>
            <a:r>
              <a:rPr lang="en-US" sz="155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싫었던 일을 줄이거나 다른 사람에게 넘깁니다.</a:t>
            </a:r>
            <a:endParaRPr lang="en-US" sz="1550" dirty="0"/>
          </a:p>
        </p:txBody>
      </p:sp>
      <p:sp>
        <p:nvSpPr>
          <p:cNvPr id="27" name="Text 18"/>
          <p:cNvSpPr txBox="1"/>
          <p:nvPr/>
        </p:nvSpPr>
        <p:spPr>
          <a:xfrm>
            <a:off x="1619402" y="5391302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무엇을 →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1619402" y="5715000"/>
            <a:ext cx="4315054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</p:txBody>
      </p:sp>
      <p:sp>
        <p:nvSpPr>
          <p:cNvPr id="29" name="Text 20"/>
          <p:cNvSpPr txBox="1"/>
          <p:nvPr/>
        </p:nvSpPr>
        <p:spPr>
          <a:xfrm>
            <a:off x="1619402" y="6724498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어떻게 →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1619402" y="7048195"/>
            <a:ext cx="4315054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</p:txBody>
      </p:sp>
      <p:sp>
        <p:nvSpPr>
          <p:cNvPr id="31" name="Text 22"/>
          <p:cNvSpPr txBox="1"/>
          <p:nvPr/>
        </p:nvSpPr>
        <p:spPr>
          <a:xfrm>
            <a:off x="6810451" y="3105302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COMMITMENT 02 · 표준화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6810451" y="3429000"/>
            <a:ext cx="46579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표준화할 문서 1개</a:t>
            </a:r>
            <a:endParaRPr lang="en-US" sz="2750" dirty="0"/>
          </a:p>
        </p:txBody>
      </p:sp>
      <p:sp>
        <p:nvSpPr>
          <p:cNvPr id="33" name="Text 24"/>
          <p:cNvSpPr txBox="1"/>
          <p:nvPr/>
        </p:nvSpPr>
        <p:spPr>
          <a:xfrm>
            <a:off x="6810451" y="4496105"/>
            <a:ext cx="4657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7종 템플릿 중 본인에게 가장 시급한 1개.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일주일</a:t>
            </a:r>
            <a:r>
              <a:rPr lang="en-US" sz="155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안에 빈 양식 만들기.</a:t>
            </a:r>
            <a:endParaRPr lang="en-US" sz="1550" dirty="0"/>
          </a:p>
        </p:txBody>
      </p:sp>
      <p:sp>
        <p:nvSpPr>
          <p:cNvPr id="34" name="Text 25"/>
          <p:cNvSpPr txBox="1"/>
          <p:nvPr/>
        </p:nvSpPr>
        <p:spPr>
          <a:xfrm>
            <a:off x="6981444" y="5391302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어떤 문서 →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6981444" y="5715000"/>
            <a:ext cx="4315054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</p:txBody>
      </p:sp>
      <p:sp>
        <p:nvSpPr>
          <p:cNvPr id="36" name="Text 27"/>
          <p:cNvSpPr txBox="1"/>
          <p:nvPr/>
        </p:nvSpPr>
        <p:spPr>
          <a:xfrm>
            <a:off x="6981444" y="6724498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언제까지 → (1주 이내)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6981444" y="7048195"/>
            <a:ext cx="4315054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</p:txBody>
      </p:sp>
      <p:sp>
        <p:nvSpPr>
          <p:cNvPr id="38" name="Text 29"/>
          <p:cNvSpPr txBox="1"/>
          <p:nvPr/>
        </p:nvSpPr>
        <p:spPr>
          <a:xfrm>
            <a:off x="12173407" y="3105302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COMMITMENT 03 · 자동화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12173407" y="3429000"/>
            <a:ext cx="46680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자동화할 업무 1개</a:t>
            </a:r>
            <a:endParaRPr lang="en-US" sz="2750" dirty="0"/>
          </a:p>
        </p:txBody>
      </p:sp>
      <p:sp>
        <p:nvSpPr>
          <p:cNvPr id="40" name="Text 31"/>
          <p:cNvSpPr txBox="1"/>
          <p:nvPr/>
        </p:nvSpPr>
        <p:spPr>
          <a:xfrm>
            <a:off x="12173407" y="4496105"/>
            <a:ext cx="4668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2에서 완성한 </a:t>
            </a:r>
            <a:r>
              <a:rPr lang="en-US" sz="1550" dirty="0" err="1">
                <a:solidFill>
                  <a:srgbClr val="F4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프롬프트를</a:t>
            </a:r>
            <a:r>
              <a:rPr lang="en-US" sz="1550" dirty="0">
                <a:solidFill>
                  <a:srgbClr val="F4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F4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</a:t>
            </a:r>
            <a:r>
              <a:rPr lang="en-US" sz="1550" dirty="0">
                <a:solidFill>
                  <a:srgbClr val="F4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의뢰에 처음 적용해봅니다. 횟수 단 1번.</a:t>
            </a:r>
            <a:endParaRPr lang="en-US" sz="1550" dirty="0"/>
          </a:p>
        </p:txBody>
      </p:sp>
      <p:sp>
        <p:nvSpPr>
          <p:cNvPr id="41" name="Text 32"/>
          <p:cNvSpPr txBox="1"/>
          <p:nvPr/>
        </p:nvSpPr>
        <p:spPr>
          <a:xfrm>
            <a:off x="12344400" y="5391302"/>
            <a:ext cx="43251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FBD2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어떤 업무 →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12344400" y="5715000"/>
            <a:ext cx="43251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F4F1E8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F4F1E8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</p:txBody>
      </p:sp>
      <p:sp>
        <p:nvSpPr>
          <p:cNvPr id="43" name="Text 34"/>
          <p:cNvSpPr txBox="1"/>
          <p:nvPr/>
        </p:nvSpPr>
        <p:spPr>
          <a:xfrm>
            <a:off x="12344400" y="6724498"/>
            <a:ext cx="43251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FBD2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어떤 도구 → (ChatGPT/Gemini)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12344400" y="7048195"/>
            <a:ext cx="43251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F4F1E8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F4F1E8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____________________</a:t>
            </a:r>
            <a:endParaRPr lang="en-US" sz="2100" dirty="0"/>
          </a:p>
        </p:txBody>
      </p:sp>
      <p:sp>
        <p:nvSpPr>
          <p:cNvPr id="45" name="Text 36"/>
          <p:cNvSpPr txBox="1"/>
          <p:nvPr/>
        </p:nvSpPr>
        <p:spPr>
          <a:xfrm>
            <a:off x="1429207" y="8686800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서명 — 본인에게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1429207" y="8991295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"위 3개를 다음 강의(__월 __일) 전까지 끝낸다." · 이름 ______________</a:t>
            </a:r>
            <a:endParaRPr lang="en-US" sz="1750" dirty="0"/>
          </a:p>
        </p:txBody>
      </p:sp>
      <p:sp>
        <p:nvSpPr>
          <p:cNvPr id="47" name="Text 38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ARTIFACT — write this down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29 / 60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6447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gen-dedup-af52b958647547ddd9145dc5f7782b74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181405"/>
            <a:ext cx="16002000" cy="192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43000" y="5048402"/>
            <a:ext cx="5162702" cy="3258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gen-dedup-d62776392b1bc6feebd37cfd80421698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447495" y="6305702"/>
            <a:ext cx="476402" cy="2834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572707" y="5048402"/>
            <a:ext cx="5162702" cy="3258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3" descr="gen-dedup-d62776392b1bc6feebd37cfd80421698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6877202" y="6305702"/>
            <a:ext cx="476402" cy="28346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12001500" y="5048402"/>
            <a:ext cx="5143500" cy="32388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4" descr="gen-dedup-f9c4ee4670abd4f2604d62cf7153445d.png"/>
          <p:cNvPicPr>
            <a:picLocks noChangeAspect="1"/>
          </p:cNvPicPr>
          <p:nvPr/>
        </p:nvPicPr>
        <p:blipFill>
          <a:blip r:embed="rId5"/>
          <a:srcRect l="-420" r="-420"/>
          <a:stretch/>
        </p:blipFill>
        <p:spPr>
          <a:xfrm>
            <a:off x="12305995" y="6305702"/>
            <a:ext cx="476402" cy="28346"/>
          </a:xfrm>
          <a:prstGeom prst="rect">
            <a:avLst/>
          </a:prstGeom>
        </p:spPr>
      </p:pic>
      <p:pic>
        <p:nvPicPr>
          <p:cNvPr id="12" name="Image 5" descr="gen-dedup-8c8cfe17b0230c1d3fd669e946137195.png"/>
          <p:cNvPicPr>
            <a:picLocks noChangeAspect="1"/>
          </p:cNvPicPr>
          <p:nvPr/>
        </p:nvPicPr>
        <p:blipFill>
          <a:blip r:embed="rId6">
            <a:alphaModFix amt="30000"/>
          </a:blip>
          <a:srcRect l="-2083" r="-2083"/>
          <a:stretch/>
        </p:blipFill>
        <p:spPr>
          <a:xfrm>
            <a:off x="1143000" y="8667598"/>
            <a:ext cx="16002000" cy="9144"/>
          </a:xfrm>
          <a:prstGeom prst="rect">
            <a:avLst/>
          </a:prstGeom>
        </p:spPr>
      </p:pic>
      <p:pic>
        <p:nvPicPr>
          <p:cNvPr id="13" name="Image 6" descr="gen-dedup-c081eb1688ca879b8ed6e07a643fe553.png"/>
          <p:cNvPicPr>
            <a:picLocks noChangeAspect="1"/>
          </p:cNvPicPr>
          <p:nvPr/>
        </p:nvPicPr>
        <p:blipFill>
          <a:blip r:embed="rId7"/>
          <a:srcRect l="-201" r="-201"/>
          <a:stretch/>
        </p:blipFill>
        <p:spPr>
          <a:xfrm>
            <a:off x="1143000" y="5048402"/>
            <a:ext cx="5143500" cy="75895"/>
          </a:xfrm>
          <a:prstGeom prst="rect">
            <a:avLst/>
          </a:prstGeom>
        </p:spPr>
      </p:pic>
      <p:pic>
        <p:nvPicPr>
          <p:cNvPr id="14" name="Image 7" descr="gen-dedup-c081eb1688ca879b8ed6e07a643fe553.png"/>
          <p:cNvPicPr>
            <a:picLocks noChangeAspect="1"/>
          </p:cNvPicPr>
          <p:nvPr/>
        </p:nvPicPr>
        <p:blipFill>
          <a:blip r:embed="rId7"/>
          <a:srcRect l="-201" r="-201"/>
          <a:stretch/>
        </p:blipFill>
        <p:spPr>
          <a:xfrm>
            <a:off x="6572707" y="5048402"/>
            <a:ext cx="5143500" cy="75895"/>
          </a:xfrm>
          <a:prstGeom prst="rect">
            <a:avLst/>
          </a:prstGeom>
        </p:spPr>
      </p:pic>
      <p:pic>
        <p:nvPicPr>
          <p:cNvPr id="15" name="Image 8" descr="gen-dedup-152b29880c5f15e69b8e7182f58408ff.png"/>
          <p:cNvPicPr>
            <a:picLocks noChangeAspect="1"/>
          </p:cNvPicPr>
          <p:nvPr/>
        </p:nvPicPr>
        <p:blipFill>
          <a:blip r:embed="rId8"/>
          <a:srcRect l="-201" r="-201"/>
          <a:stretch/>
        </p:blipFill>
        <p:spPr>
          <a:xfrm>
            <a:off x="12001500" y="5048402"/>
            <a:ext cx="5143500" cy="75895"/>
          </a:xfrm>
          <a:prstGeom prst="rect">
            <a:avLst/>
          </a:prstGeom>
        </p:spPr>
      </p:pic>
      <p:sp>
        <p:nvSpPr>
          <p:cNvPr id="16" name="Text 5"/>
          <p:cNvSpPr txBox="1"/>
          <p:nvPr/>
        </p:nvSpPr>
        <p:spPr>
          <a:xfrm>
            <a:off x="1143000" y="761695"/>
            <a:ext cx="1314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· CLOSING · 프로세스 = 반복 가능한 품질 + 빠른 대응 + 신뢰</a:t>
            </a:r>
            <a:endParaRPr lang="en-US" sz="1550" dirty="0"/>
          </a:p>
        </p:txBody>
      </p:sp>
      <p:sp>
        <p:nvSpPr>
          <p:cNvPr id="17" name="Text 6"/>
          <p:cNvSpPr txBox="1"/>
          <p:nvPr/>
        </p:nvSpPr>
        <p:spPr>
          <a:xfrm>
            <a:off x="15430500" y="761695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/ 60</a:t>
            </a:r>
            <a:endParaRPr lang="en-US" sz="1550" dirty="0"/>
          </a:p>
        </p:txBody>
      </p:sp>
      <p:sp>
        <p:nvSpPr>
          <p:cNvPr id="18" name="Text 7"/>
          <p:cNvSpPr txBox="1"/>
          <p:nvPr/>
        </p:nvSpPr>
        <p:spPr>
          <a:xfrm>
            <a:off x="1143000" y="1638605"/>
            <a:ext cx="16002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200" b="1" kern="0" spc="-144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프로세스가</a:t>
            </a:r>
            <a:endParaRPr lang="en-US" sz="7200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2743200"/>
            <a:ext cx="16002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200" b="1" kern="0" spc="-144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당신의 브랜드입니다.</a:t>
            </a:r>
            <a:endParaRPr lang="en-US" sz="7200" dirty="0"/>
          </a:p>
        </p:txBody>
      </p:sp>
      <p:sp>
        <p:nvSpPr>
          <p:cNvPr id="20" name="Text 9"/>
          <p:cNvSpPr txBox="1"/>
          <p:nvPr/>
        </p:nvSpPr>
        <p:spPr>
          <a:xfrm>
            <a:off x="1143000" y="4095598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2E2D29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매번 같은 품질 — 빠른 회신 — 결과로 증명. 이 세 가지가 만들어내는 한 단어.</a:t>
            </a:r>
            <a:endParaRPr lang="en-US" sz="1900" dirty="0"/>
          </a:p>
        </p:txBody>
      </p:sp>
      <p:sp>
        <p:nvSpPr>
          <p:cNvPr id="21" name="Text 10"/>
          <p:cNvSpPr txBox="1"/>
          <p:nvPr/>
        </p:nvSpPr>
        <p:spPr>
          <a:xfrm>
            <a:off x="1447495" y="5277002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01</a:t>
            </a:r>
            <a:endParaRPr lang="en-US" sz="1500" dirty="0"/>
          </a:p>
        </p:txBody>
      </p:sp>
      <p:sp>
        <p:nvSpPr>
          <p:cNvPr id="22" name="Text 11"/>
          <p:cNvSpPr txBox="1"/>
          <p:nvPr/>
        </p:nvSpPr>
        <p:spPr>
          <a:xfrm>
            <a:off x="1447495" y="5581498"/>
            <a:ext cx="45345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반복 가능한 품질</a:t>
            </a:r>
            <a:endParaRPr lang="en-US" sz="2950" dirty="0"/>
          </a:p>
        </p:txBody>
      </p:sp>
      <p:sp>
        <p:nvSpPr>
          <p:cNvPr id="23" name="Text 12"/>
          <p:cNvSpPr txBox="1"/>
          <p:nvPr/>
        </p:nvSpPr>
        <p:spPr>
          <a:xfrm>
            <a:off x="1447495" y="6534302"/>
            <a:ext cx="4534510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잘된 강의가 내일도 잘됩니다. 운이 아니라 양식이 만들어주니까.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 누구를 만나도 같은 수준.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i="1" dirty="0" err="1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그게</a:t>
            </a: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직업입니다.</a:t>
            </a:r>
            <a:endParaRPr lang="en-US" sz="1650" dirty="0"/>
          </a:p>
        </p:txBody>
      </p:sp>
      <p:sp>
        <p:nvSpPr>
          <p:cNvPr id="24" name="Text 13"/>
          <p:cNvSpPr txBox="1"/>
          <p:nvPr/>
        </p:nvSpPr>
        <p:spPr>
          <a:xfrm>
            <a:off x="6877202" y="5277002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02</a:t>
            </a:r>
            <a:endParaRPr lang="en-US" sz="1500" dirty="0"/>
          </a:p>
        </p:txBody>
      </p:sp>
      <p:sp>
        <p:nvSpPr>
          <p:cNvPr id="25" name="Text 14"/>
          <p:cNvSpPr txBox="1"/>
          <p:nvPr/>
        </p:nvSpPr>
        <p:spPr>
          <a:xfrm>
            <a:off x="6877202" y="5581498"/>
            <a:ext cx="45345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빠른 대응</a:t>
            </a:r>
            <a:endParaRPr lang="en-US" sz="2950" dirty="0"/>
          </a:p>
        </p:txBody>
      </p:sp>
      <p:sp>
        <p:nvSpPr>
          <p:cNvPr id="26" name="Text 15"/>
          <p:cNvSpPr txBox="1"/>
          <p:nvPr/>
        </p:nvSpPr>
        <p:spPr>
          <a:xfrm>
            <a:off x="6877202" y="6534302"/>
            <a:ext cx="4534510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의뢰가 들어오면 24시간 안에 견적+제안서 초안. 다른 강사가 일주일 걸릴 일.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고객은 빨리 답한 사람을 기억합니다.</a:t>
            </a:r>
            <a:endParaRPr lang="en-US" sz="1650" dirty="0"/>
          </a:p>
        </p:txBody>
      </p:sp>
      <p:sp>
        <p:nvSpPr>
          <p:cNvPr id="27" name="Text 16"/>
          <p:cNvSpPr txBox="1"/>
          <p:nvPr/>
        </p:nvSpPr>
        <p:spPr>
          <a:xfrm>
            <a:off x="12305995" y="5277002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03</a:t>
            </a:r>
            <a:endParaRPr lang="en-US" sz="1500" dirty="0"/>
          </a:p>
        </p:txBody>
      </p:sp>
      <p:sp>
        <p:nvSpPr>
          <p:cNvPr id="28" name="Text 17"/>
          <p:cNvSpPr txBox="1"/>
          <p:nvPr/>
        </p:nvSpPr>
        <p:spPr>
          <a:xfrm>
            <a:off x="12305995" y="5581498"/>
            <a:ext cx="45345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신뢰 형성</a:t>
            </a:r>
            <a:endParaRPr lang="en-US" sz="2950" dirty="0"/>
          </a:p>
        </p:txBody>
      </p:sp>
      <p:sp>
        <p:nvSpPr>
          <p:cNvPr id="29" name="Text 18"/>
          <p:cNvSpPr txBox="1"/>
          <p:nvPr/>
        </p:nvSpPr>
        <p:spPr>
          <a:xfrm>
            <a:off x="12305995" y="6534302"/>
            <a:ext cx="4534510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 품질 + 빠른 대응을 1년 반복하면 — 어느 순간 의뢰가 본인을 먼저 찾아옵니다.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i="1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강사 이름이 추천 이유가 됩니다.</a:t>
            </a:r>
            <a:endParaRPr lang="en-US" sz="1650" dirty="0"/>
          </a:p>
        </p:txBody>
      </p:sp>
      <p:sp>
        <p:nvSpPr>
          <p:cNvPr id="30" name="Text 19"/>
          <p:cNvSpPr txBox="1"/>
          <p:nvPr/>
        </p:nvSpPr>
        <p:spPr>
          <a:xfrm>
            <a:off x="1143000" y="8876995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"오늘 종이 한 장을 들고 나갑니다. 다음 의뢰가 그 종이의 첫 시험입니다."</a:t>
            </a:r>
            <a:endParaRPr lang="en-US" sz="2400" dirty="0"/>
          </a:p>
        </p:txBody>
      </p:sp>
      <p:sp>
        <p:nvSpPr>
          <p:cNvPr id="31" name="Text 20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개선 · Session 01 · 끝 · 30 / 60</a:t>
            </a:r>
            <a:endParaRPr lang="en-US" sz="15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39825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gen-dedup-af52b958647547ddd9145dc5f7782b74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143000" y="1143000"/>
            <a:ext cx="16002000" cy="19202"/>
          </a:xfrm>
          <a:prstGeom prst="rect">
            <a:avLst/>
          </a:prstGeom>
        </p:spPr>
      </p:pic>
      <p:pic>
        <p:nvPicPr>
          <p:cNvPr id="6" name="Image 2" descr="gen-dedup-8446cb465b306539a9a449fca7a02381.png"/>
          <p:cNvPicPr>
            <a:picLocks noChangeAspect="1"/>
          </p:cNvPicPr>
          <p:nvPr/>
        </p:nvPicPr>
        <p:blipFill>
          <a:blip r:embed="rId3"/>
          <a:srcRect l="-69" r="-69"/>
          <a:stretch/>
        </p:blipFill>
        <p:spPr>
          <a:xfrm>
            <a:off x="1143000" y="1904695"/>
            <a:ext cx="133502" cy="1333195"/>
          </a:xfrm>
          <a:prstGeom prst="rect">
            <a:avLst/>
          </a:prstGeom>
        </p:spPr>
      </p:pic>
      <p:pic>
        <p:nvPicPr>
          <p:cNvPr id="7" name="Image 3" descr="gen-dedup-256f49f7acd27fba2a2008fbd1e4ec97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619402" y="5905195"/>
            <a:ext cx="1143000" cy="28346"/>
          </a:xfrm>
          <a:prstGeom prst="rect">
            <a:avLst/>
          </a:prstGeom>
        </p:spPr>
      </p:pic>
      <p:pic>
        <p:nvPicPr>
          <p:cNvPr id="9" name="Image 4" descr="gen-dedup-8c8cfe17b0230c1d3fd669e946137195.png"/>
          <p:cNvPicPr>
            <a:picLocks noChangeAspect="1"/>
          </p:cNvPicPr>
          <p:nvPr/>
        </p:nvPicPr>
        <p:blipFill>
          <a:blip r:embed="rId5">
            <a:alphaModFix amt="40000"/>
          </a:blip>
          <a:srcRect l="-2083" r="-2083"/>
          <a:stretch/>
        </p:blipFill>
        <p:spPr>
          <a:xfrm>
            <a:off x="1143000" y="9144000"/>
            <a:ext cx="16002000" cy="9144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743407"/>
            <a:ext cx="8572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44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INSTRUCTOR PORTFOLIO / FUTURE STRATEGY</a:t>
            </a:r>
            <a:endParaRPr lang="en-US" sz="1550" dirty="0"/>
          </a:p>
        </p:txBody>
      </p:sp>
      <p:sp>
        <p:nvSpPr>
          <p:cNvPr id="12" name="Text 4"/>
          <p:cNvSpPr txBox="1"/>
          <p:nvPr/>
        </p:nvSpPr>
        <p:spPr>
          <a:xfrm>
            <a:off x="13144500" y="743407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50" kern="0" spc="144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02 · 30 SLIDES</a:t>
            </a:r>
            <a:r>
              <a:rPr lang="en-US" altLang="ko-KR" sz="1550" kern="0" spc="144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en-US" sz="1550" kern="0" spc="144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endParaRPr lang="en-US" sz="1550" dirty="0"/>
          </a:p>
        </p:txBody>
      </p:sp>
      <p:sp>
        <p:nvSpPr>
          <p:cNvPr id="13" name="Text 5"/>
          <p:cNvSpPr txBox="1"/>
          <p:nvPr/>
        </p:nvSpPr>
        <p:spPr>
          <a:xfrm>
            <a:off x="1619402" y="1981505"/>
            <a:ext cx="11430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kern="0" spc="243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02 · 포트폴리오는 강사의 미래 제안서</a:t>
            </a:r>
            <a:endParaRPr lang="en-US" sz="1700" dirty="0"/>
          </a:p>
        </p:txBody>
      </p:sp>
      <p:sp>
        <p:nvSpPr>
          <p:cNvPr id="14" name="Text 6"/>
          <p:cNvSpPr txBox="1"/>
          <p:nvPr/>
        </p:nvSpPr>
        <p:spPr>
          <a:xfrm>
            <a:off x="1619402" y="2361895"/>
            <a:ext cx="15240305" cy="1334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800" b="1" kern="0" spc="-177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강사 포트폴리오</a:t>
            </a:r>
            <a:endParaRPr lang="en-US" sz="8800" dirty="0"/>
          </a:p>
        </p:txBody>
      </p:sp>
      <p:sp>
        <p:nvSpPr>
          <p:cNvPr id="15" name="Text 7"/>
          <p:cNvSpPr txBox="1"/>
          <p:nvPr/>
        </p:nvSpPr>
        <p:spPr>
          <a:xfrm>
            <a:off x="1619402" y="3638398"/>
            <a:ext cx="15240305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800" b="1" kern="0" spc="-177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구축과 미래전략</a:t>
            </a:r>
            <a:endParaRPr lang="en-US" sz="8800" dirty="0"/>
          </a:p>
        </p:txBody>
      </p:sp>
      <p:sp>
        <p:nvSpPr>
          <p:cNvPr id="16" name="Text 8"/>
          <p:cNvSpPr txBox="1"/>
          <p:nvPr/>
        </p:nvSpPr>
        <p:spPr>
          <a:xfrm>
            <a:off x="1619402" y="5048402"/>
            <a:ext cx="1524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정체성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자산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구성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디자인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브랜드 </a:t>
            </a:r>
            <a:r>
              <a:rPr lang="en-US" sz="26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26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미래</a:t>
            </a:r>
            <a:endParaRPr lang="en-US" sz="2650" dirty="0"/>
          </a:p>
        </p:txBody>
      </p:sp>
      <p:sp>
        <p:nvSpPr>
          <p:cNvPr id="17" name="Text 9"/>
          <p:cNvSpPr txBox="1"/>
          <p:nvPr/>
        </p:nvSpPr>
        <p:spPr>
          <a:xfrm>
            <a:off x="1619402" y="6191402"/>
            <a:ext cx="10478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kern="0" spc="108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오늘 강의의 결과물</a:t>
            </a:r>
            <a:endParaRPr lang="en-US" sz="1700" dirty="0"/>
          </a:p>
        </p:txBody>
      </p:sp>
      <p:sp>
        <p:nvSpPr>
          <p:cNvPr id="18" name="Text 10"/>
          <p:cNvSpPr txBox="1"/>
          <p:nvPr/>
        </p:nvSpPr>
        <p:spPr>
          <a:xfrm>
            <a:off x="1619402" y="6515100"/>
            <a:ext cx="109545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r>
              <a:rPr lang="en-US" sz="21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한 문장 강사 소개 </a:t>
            </a:r>
            <a:r>
              <a:rPr lang="en-US" sz="21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r>
              <a:rPr lang="en-US" sz="21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차별화 문장 3개 + 근거</a:t>
            </a:r>
            <a:endParaRPr lang="en-US" sz="2100" dirty="0"/>
          </a:p>
        </p:txBody>
      </p:sp>
      <p:sp>
        <p:nvSpPr>
          <p:cNvPr id="19" name="Text 11"/>
          <p:cNvSpPr txBox="1"/>
          <p:nvPr/>
        </p:nvSpPr>
        <p:spPr>
          <a:xfrm>
            <a:off x="1619402" y="6991502"/>
            <a:ext cx="109545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r>
              <a:rPr lang="en-US" sz="21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3개월 포트폴리오 실행 로드맵</a:t>
            </a:r>
            <a:endParaRPr lang="en-US" sz="2100" dirty="0"/>
          </a:p>
        </p:txBody>
      </p:sp>
      <p:sp>
        <p:nvSpPr>
          <p:cNvPr id="20" name="Text 12"/>
          <p:cNvSpPr txBox="1"/>
          <p:nvPr/>
        </p:nvSpPr>
        <p:spPr>
          <a:xfrm>
            <a:off x="1619402" y="7905902"/>
            <a:ext cx="104781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“이력서는 과거의 기록이고,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포트폴리오는 미래의 제안이다.”</a:t>
            </a:r>
            <a:endParaRPr lang="en-US" sz="2400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6ED4D11-01D3-9E23-2DEC-A1BAB9199EB5}"/>
              </a:ext>
            </a:extLst>
          </p:cNvPr>
          <p:cNvGrpSpPr/>
          <p:nvPr/>
        </p:nvGrpSpPr>
        <p:grpSpPr>
          <a:xfrm>
            <a:off x="12097512" y="4181550"/>
            <a:ext cx="4829784" cy="3292627"/>
            <a:chOff x="12763195" y="6191402"/>
            <a:chExt cx="4381805" cy="2476195"/>
          </a:xfrm>
        </p:grpSpPr>
        <p:sp>
          <p:nvSpPr>
            <p:cNvPr id="8" name="Shape 2"/>
            <p:cNvSpPr/>
            <p:nvPr/>
          </p:nvSpPr>
          <p:spPr>
            <a:xfrm>
              <a:off x="12763195" y="6191402"/>
              <a:ext cx="4381805" cy="2476195"/>
            </a:xfrm>
            <a:prstGeom prst="rect">
              <a:avLst/>
            </a:prstGeom>
            <a:solidFill>
              <a:srgbClr val="2E2D2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pic>
          <p:nvPicPr>
            <p:cNvPr id="10" name="Image 5" descr="gen-dedup-3a59513324e0587d45f28f60f773b0ce.png"/>
            <p:cNvPicPr>
              <a:picLocks noChangeAspect="1"/>
            </p:cNvPicPr>
            <p:nvPr/>
          </p:nvPicPr>
          <p:blipFill>
            <a:blip r:embed="rId6"/>
            <a:srcRect l="-406" r="-406"/>
            <a:stretch/>
          </p:blipFill>
          <p:spPr>
            <a:xfrm>
              <a:off x="12763195" y="6191402"/>
              <a:ext cx="57607" cy="2476195"/>
            </a:xfrm>
            <a:prstGeom prst="rect">
              <a:avLst/>
            </a:prstGeom>
          </p:spPr>
        </p:pic>
        <p:sp>
          <p:nvSpPr>
            <p:cNvPr id="21" name="Text 13"/>
            <p:cNvSpPr txBox="1"/>
            <p:nvPr/>
          </p:nvSpPr>
          <p:spPr>
            <a:xfrm>
              <a:off x="13049402" y="6420002"/>
              <a:ext cx="390540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1400" kern="0" spc="156" dirty="0">
                  <a:solidFill>
                    <a:srgbClr val="F4F1E8">
                      <a:alpha val="65000"/>
                    </a:srgbClr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CONTINUED FROM · SESSION 01</a:t>
              </a:r>
              <a:endParaRPr lang="en-US" sz="1400" dirty="0"/>
            </a:p>
          </p:txBody>
        </p:sp>
        <p:sp>
          <p:nvSpPr>
            <p:cNvPr id="22" name="Text 14"/>
            <p:cNvSpPr txBox="1"/>
            <p:nvPr/>
          </p:nvSpPr>
          <p:spPr>
            <a:xfrm>
              <a:off x="13049402" y="6724498"/>
              <a:ext cx="3905402" cy="762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4000" b="1" dirty="0">
                  <a:solidFill>
                    <a:srgbClr val="F4F1E8"/>
                  </a:solidFill>
                  <a:latin typeface="Source Serif Pro" pitchFamily="34" charset="0"/>
                  <a:ea typeface="Source Serif Pro" pitchFamily="34" charset="-122"/>
                  <a:cs typeface="Source Serif Pro" pitchFamily="34" charset="-120"/>
                </a:rPr>
                <a:t>프로세스 다음,</a:t>
              </a:r>
              <a:endParaRPr lang="en-US" sz="4000" dirty="0"/>
            </a:p>
            <a:p>
              <a:pPr marL="0" indent="0" algn="l">
                <a:lnSpc>
                  <a:spcPct val="110000"/>
                </a:lnSpc>
                <a:buNone/>
              </a:pPr>
              <a:r>
                <a:rPr lang="en-US" sz="4000" b="1" dirty="0">
                  <a:solidFill>
                    <a:srgbClr val="F4F1E8"/>
                  </a:solidFill>
                  <a:latin typeface="Source Serif Pro" pitchFamily="34" charset="0"/>
                  <a:ea typeface="Source Serif Pro" pitchFamily="34" charset="-122"/>
                  <a:cs typeface="Source Serif Pro" pitchFamily="34" charset="-120"/>
                </a:rPr>
                <a:t>강사의 자산</a:t>
              </a:r>
              <a:endParaRPr lang="en-US" sz="4000" dirty="0"/>
            </a:p>
          </p:txBody>
        </p:sp>
        <p:sp>
          <p:nvSpPr>
            <p:cNvPr id="23" name="Text 15"/>
            <p:cNvSpPr txBox="1"/>
            <p:nvPr/>
          </p:nvSpPr>
          <p:spPr>
            <a:xfrm>
              <a:off x="13049402" y="7677302"/>
              <a:ext cx="3905402" cy="8577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2000" dirty="0">
                  <a:solidFill>
                    <a:srgbClr val="F4F1E8">
                      <a:alpha val="82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Session 01에서 만든 7종 템플릿은</a:t>
              </a:r>
              <a:endParaRPr lang="en-US" sz="2000" dirty="0"/>
            </a:p>
            <a:p>
              <a:pPr marL="0" indent="0" algn="l">
                <a:lnSpc>
                  <a:spcPct val="110000"/>
                </a:lnSpc>
                <a:buNone/>
              </a:pPr>
              <a:r>
                <a:rPr lang="en-US" sz="2000" dirty="0">
                  <a:solidFill>
                    <a:srgbClr val="F4F1E8">
                      <a:alpha val="82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오늘의 포트폴리오 자료가 됩니다.</a:t>
              </a:r>
              <a:endParaRPr lang="en-US" sz="2000" dirty="0"/>
            </a:p>
          </p:txBody>
        </p:sp>
      </p:grpSp>
      <p:sp>
        <p:nvSpPr>
          <p:cNvPr id="24" name="Text 16"/>
          <p:cNvSpPr txBox="1"/>
          <p:nvPr/>
        </p:nvSpPr>
        <p:spPr>
          <a:xfrm>
            <a:off x="1143000" y="9334195"/>
            <a:ext cx="10478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26" dirty="0">
                <a:solidFill>
                  <a:srgbClr val="2E2D29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DECK · 발표 자료 | </a:t>
            </a:r>
            <a:r>
              <a:rPr lang="en-US" sz="1500" kern="0" spc="126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3회 포함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4097305" y="9334195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kern="0" spc="126" dirty="0">
                <a:solidFill>
                  <a:srgbClr val="2E2D29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/ 60</a:t>
            </a:r>
            <a:endParaRPr lang="en-US" sz="15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24BF9D3A-26F6-2E67-D07D-21475B8F3FB2}"/>
              </a:ext>
            </a:extLst>
          </p:cNvPr>
          <p:cNvSpPr txBox="1"/>
          <p:nvPr/>
        </p:nvSpPr>
        <p:spPr>
          <a:xfrm>
            <a:off x="8874176" y="8106486"/>
            <a:ext cx="8454454" cy="6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Ph.D. 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이애본 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(드림아이티비즈(DreamIT Biz)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altLang="ko-KR" sz="2400" b="1" kern="0" spc="144" dirty="0" err="1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aebon@dreamitbiz.com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400" b="1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277785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4000500"/>
            <a:ext cx="5162702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47495" y="5715000"/>
            <a:ext cx="476402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72707" y="4000500"/>
            <a:ext cx="5162702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6877202" y="5715000"/>
            <a:ext cx="476402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01500" y="4000500"/>
            <a:ext cx="5143500" cy="45720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f9c4ee4670abd4f2604d62cf7153445d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2305995" y="5715000"/>
            <a:ext cx="476402" cy="28346"/>
          </a:xfrm>
          <a:prstGeom prst="rect">
            <a:avLst/>
          </a:prstGeom>
        </p:spPr>
      </p:pic>
      <p:pic>
        <p:nvPicPr>
          <p:cNvPr id="11" name="Image 4" descr="gen-dedup-c081eb1688ca879b8ed6e07a643fe553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1143000" y="4000500"/>
            <a:ext cx="5143500" cy="75895"/>
          </a:xfrm>
          <a:prstGeom prst="rect">
            <a:avLst/>
          </a:prstGeom>
        </p:spPr>
      </p:pic>
      <p:pic>
        <p:nvPicPr>
          <p:cNvPr id="12" name="Image 5" descr="gen-dedup-c081eb1688ca879b8ed6e07a643fe553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6572707" y="4000500"/>
            <a:ext cx="5143500" cy="75895"/>
          </a:xfrm>
          <a:prstGeom prst="rect">
            <a:avLst/>
          </a:prstGeom>
        </p:spPr>
      </p:pic>
      <p:pic>
        <p:nvPicPr>
          <p:cNvPr id="13" name="Image 6" descr="gen-dedup-152b29880c5f15e69b8e7182f58408ff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12001500" y="4000500"/>
            <a:ext cx="5143500" cy="75895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 · WHY NOW · 강의 시장이 달라진 세 가지</a:t>
            </a:r>
            <a:endParaRPr lang="en-US" sz="1550" dirty="0"/>
          </a:p>
        </p:txBody>
      </p:sp>
      <p:sp>
        <p:nvSpPr>
          <p:cNvPr id="15" name="Text 6"/>
          <p:cNvSpPr txBox="1"/>
          <p:nvPr/>
        </p:nvSpPr>
        <p:spPr>
          <a:xfrm>
            <a:off x="1143000" y="1524305"/>
            <a:ext cx="14287500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b="1" kern="0" spc="-54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이제 강사도</a:t>
            </a:r>
            <a:endParaRPr lang="en-US" sz="5400" dirty="0"/>
          </a:p>
        </p:txBody>
      </p:sp>
      <p:sp>
        <p:nvSpPr>
          <p:cNvPr id="16" name="Text 7"/>
          <p:cNvSpPr txBox="1"/>
          <p:nvPr/>
        </p:nvSpPr>
        <p:spPr>
          <a:xfrm>
            <a:off x="1143000" y="2361895"/>
            <a:ext cx="14287500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b="1" kern="0" spc="-54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“보여줘야” 일이 온다.</a:t>
            </a:r>
            <a:endParaRPr lang="en-US" sz="5400" dirty="0"/>
          </a:p>
        </p:txBody>
      </p:sp>
      <p:sp>
        <p:nvSpPr>
          <p:cNvPr id="17" name="Text 8"/>
          <p:cNvSpPr txBox="1"/>
          <p:nvPr/>
        </p:nvSpPr>
        <p:spPr>
          <a:xfrm>
            <a:off x="1143000" y="3409798"/>
            <a:ext cx="1428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추세 · 강사 섭외 절차에서 포트폴리오 첨부를 요청하는 경우가 늘고 있음</a:t>
            </a:r>
            <a:endParaRPr lang="en-US" sz="1500" dirty="0"/>
          </a:p>
        </p:txBody>
      </p:sp>
      <p:sp>
        <p:nvSpPr>
          <p:cNvPr id="18" name="Text 9"/>
          <p:cNvSpPr txBox="1"/>
          <p:nvPr/>
        </p:nvSpPr>
        <p:spPr>
          <a:xfrm>
            <a:off x="1447495" y="4324198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변화 01 · 시장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1447495" y="4647895"/>
            <a:ext cx="45345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 시장이</a:t>
            </a:r>
            <a:endParaRPr lang="en-US" sz="2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다층화되었다</a:t>
            </a:r>
            <a:endParaRPr lang="en-US" sz="2950" dirty="0"/>
          </a:p>
        </p:txBody>
      </p:sp>
      <p:sp>
        <p:nvSpPr>
          <p:cNvPr id="20" name="Text 11"/>
          <p:cNvSpPr txBox="1"/>
          <p:nvPr/>
        </p:nvSpPr>
        <p:spPr>
          <a:xfrm>
            <a:off x="1447495" y="5924398"/>
            <a:ext cx="4534510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기업 사내 교육, 공공기관, K-MOOC, 부트캠프,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유튜브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1인 클래스 — 같은 주제도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채널별로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요구가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다릅니다.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채널마다 “어떤 강사인가”를 다르게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증명해야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합니다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증명은 말이 아니라 자료로.</a:t>
            </a:r>
            <a:endParaRPr lang="en-US" sz="1700" dirty="0"/>
          </a:p>
        </p:txBody>
      </p:sp>
      <p:sp>
        <p:nvSpPr>
          <p:cNvPr id="21" name="Text 12"/>
          <p:cNvSpPr txBox="1"/>
          <p:nvPr/>
        </p:nvSpPr>
        <p:spPr>
          <a:xfrm>
            <a:off x="6877202" y="4324198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변화 02 · 경쟁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6877202" y="4647895"/>
            <a:ext cx="45345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강사 수가</a:t>
            </a:r>
            <a:endParaRPr lang="en-US" sz="2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크게 늘었다</a:t>
            </a:r>
            <a:endParaRPr lang="en-US" sz="2950" dirty="0"/>
          </a:p>
        </p:txBody>
      </p:sp>
      <p:sp>
        <p:nvSpPr>
          <p:cNvPr id="23" name="Text 14"/>
          <p:cNvSpPr txBox="1"/>
          <p:nvPr/>
        </p:nvSpPr>
        <p:spPr>
          <a:xfrm>
            <a:off x="6877202" y="5924398"/>
            <a:ext cx="4534510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강의·DX·생성형 콘텐츠 — 새 주제는 새 강사들을 끌어옵니다.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담당자는 메일함에 쌓인 후보들 중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30초 안에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한 명을 골라야 합니다. 그 30초가 포트폴리오의 첫 페이지입니다.</a:t>
            </a:r>
            <a:endParaRPr lang="en-US" sz="1700" dirty="0"/>
          </a:p>
        </p:txBody>
      </p:sp>
      <p:sp>
        <p:nvSpPr>
          <p:cNvPr id="24" name="Text 15"/>
          <p:cNvSpPr txBox="1"/>
          <p:nvPr/>
        </p:nvSpPr>
        <p:spPr>
          <a:xfrm>
            <a:off x="12305995" y="4324198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변화 03 · 신뢰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12305995" y="4647895"/>
            <a:ext cx="45345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“말”보다</a:t>
            </a:r>
            <a:endParaRPr lang="en-US" sz="2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“증거”의 시대</a:t>
            </a:r>
            <a:endParaRPr lang="en-US" sz="2950" dirty="0"/>
          </a:p>
        </p:txBody>
      </p:sp>
      <p:sp>
        <p:nvSpPr>
          <p:cNvPr id="26" name="Text 17"/>
          <p:cNvSpPr txBox="1"/>
          <p:nvPr/>
        </p:nvSpPr>
        <p:spPr>
          <a:xfrm>
            <a:off x="12305995" y="5924398"/>
            <a:ext cx="4534510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“10년 경력입니다”는 더 이상 결정 근거가 아닙니다.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 결과물 1장이 자기소개 한 페이지보다 강합니다.</a:t>
            </a: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포트폴리오는</a:t>
            </a: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그 1장을 미리 준비해 두는 일.</a:t>
            </a:r>
            <a:endParaRPr lang="en-US" sz="1700" dirty="0"/>
          </a:p>
        </p:txBody>
      </p:sp>
      <p:sp>
        <p:nvSpPr>
          <p:cNvPr id="27" name="Text 18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32 / 60</a:t>
            </a:r>
            <a:endParaRPr lang="en-US" sz="15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73636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5162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47495" y="4095598"/>
            <a:ext cx="476402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72707" y="2952598"/>
            <a:ext cx="5162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6877202" y="4095598"/>
            <a:ext cx="476402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01500" y="2952598"/>
            <a:ext cx="5162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2305995" y="4095598"/>
            <a:ext cx="476402" cy="2834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143000" y="6001207"/>
            <a:ext cx="5162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47495" y="7144207"/>
            <a:ext cx="476402" cy="28346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6572707" y="6001207"/>
            <a:ext cx="5162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5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6877202" y="7144207"/>
            <a:ext cx="476402" cy="28346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12001500" y="6001207"/>
            <a:ext cx="5143500" cy="28575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6" descr="gen-dedup-f9c4ee4670abd4f2604d62cf7153445d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2305995" y="7144207"/>
            <a:ext cx="476402" cy="28346"/>
          </a:xfrm>
          <a:prstGeom prst="rect">
            <a:avLst/>
          </a:prstGeom>
        </p:spPr>
      </p:pic>
      <p:pic>
        <p:nvPicPr>
          <p:cNvPr id="17" name="Image 7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143000" y="2952598"/>
            <a:ext cx="57607" cy="2857500"/>
          </a:xfrm>
          <a:prstGeom prst="rect">
            <a:avLst/>
          </a:prstGeom>
        </p:spPr>
      </p:pic>
      <p:pic>
        <p:nvPicPr>
          <p:cNvPr id="18" name="Image 8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572707" y="2952598"/>
            <a:ext cx="57607" cy="2857500"/>
          </a:xfrm>
          <a:prstGeom prst="rect">
            <a:avLst/>
          </a:prstGeom>
        </p:spPr>
      </p:pic>
      <p:pic>
        <p:nvPicPr>
          <p:cNvPr id="19" name="Image 9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2001500" y="2952598"/>
            <a:ext cx="57607" cy="2857500"/>
          </a:xfrm>
          <a:prstGeom prst="rect">
            <a:avLst/>
          </a:prstGeom>
        </p:spPr>
      </p:pic>
      <p:pic>
        <p:nvPicPr>
          <p:cNvPr id="20" name="Image 10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143000" y="6001207"/>
            <a:ext cx="57607" cy="2857500"/>
          </a:xfrm>
          <a:prstGeom prst="rect">
            <a:avLst/>
          </a:prstGeom>
        </p:spPr>
      </p:pic>
      <p:pic>
        <p:nvPicPr>
          <p:cNvPr id="21" name="Image 11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572707" y="6001207"/>
            <a:ext cx="57607" cy="2857500"/>
          </a:xfrm>
          <a:prstGeom prst="rect">
            <a:avLst/>
          </a:prstGeom>
        </p:spPr>
      </p:pic>
      <p:pic>
        <p:nvPicPr>
          <p:cNvPr id="22" name="Image 12" descr="gen-dedup-ea46db75aedecbc3301d91495594ff65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12001500" y="6001207"/>
            <a:ext cx="57607" cy="2857500"/>
          </a:xfrm>
          <a:prstGeom prst="rect">
            <a:avLst/>
          </a:prstGeom>
        </p:spPr>
      </p:pic>
      <p:sp>
        <p:nvSpPr>
          <p:cNvPr id="23" name="Text 8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 · SIX SOURCES · 강사의 경쟁력은 이 여섯에서 나온다</a:t>
            </a:r>
            <a:endParaRPr lang="en-US" sz="1550" dirty="0"/>
          </a:p>
        </p:txBody>
      </p:sp>
      <p:sp>
        <p:nvSpPr>
          <p:cNvPr id="24" name="Text 9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경쟁력 = 여섯 개의 자산.</a:t>
            </a:r>
            <a:endParaRPr lang="en-US" sz="4500" dirty="0"/>
          </a:p>
        </p:txBody>
      </p:sp>
      <p:sp>
        <p:nvSpPr>
          <p:cNvPr id="25" name="Text 10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포트폴리오는 결국 이 여섯을 어떤 순서로, 어떤 강도로 보여주느냐의 문제입니다.</a:t>
            </a:r>
            <a:endParaRPr lang="en-US" sz="1700" dirty="0"/>
          </a:p>
        </p:txBody>
      </p:sp>
      <p:sp>
        <p:nvSpPr>
          <p:cNvPr id="26" name="Text 11"/>
          <p:cNvSpPr txBox="1"/>
          <p:nvPr/>
        </p:nvSpPr>
        <p:spPr>
          <a:xfrm>
            <a:off x="1447495" y="316199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3750" dirty="0"/>
          </a:p>
        </p:txBody>
      </p:sp>
      <p:sp>
        <p:nvSpPr>
          <p:cNvPr id="27" name="Text 12"/>
          <p:cNvSpPr txBox="1"/>
          <p:nvPr/>
        </p:nvSpPr>
        <p:spPr>
          <a:xfrm>
            <a:off x="2247595" y="3238805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경력</a:t>
            </a:r>
            <a:endParaRPr lang="en-US" sz="2650" dirty="0"/>
          </a:p>
        </p:txBody>
      </p:sp>
      <p:sp>
        <p:nvSpPr>
          <p:cNvPr id="28" name="Text 13"/>
          <p:cNvSpPr txBox="1"/>
          <p:nvPr/>
        </p:nvSpPr>
        <p:spPr>
          <a:xfrm>
            <a:off x="2247595" y="3619195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시간 × 깊이</a:t>
            </a:r>
            <a:endParaRPr lang="en-US" sz="1500" dirty="0"/>
          </a:p>
        </p:txBody>
      </p:sp>
      <p:sp>
        <p:nvSpPr>
          <p:cNvPr id="29" name="Text 14"/>
          <p:cNvSpPr txBox="1"/>
          <p:nvPr/>
        </p:nvSpPr>
        <p:spPr>
          <a:xfrm>
            <a:off x="1447495" y="4324198"/>
            <a:ext cx="45345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몇 년인가가 아니라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어디서 무엇을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했는가.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“10년 경력”보다 “OO 분야 100회 강의”가 더 강합니다.</a:t>
            </a:r>
            <a:endParaRPr lang="en-US" sz="1700" dirty="0"/>
          </a:p>
        </p:txBody>
      </p:sp>
      <p:sp>
        <p:nvSpPr>
          <p:cNvPr id="30" name="Text 15"/>
          <p:cNvSpPr txBox="1"/>
          <p:nvPr/>
        </p:nvSpPr>
        <p:spPr>
          <a:xfrm>
            <a:off x="6877202" y="316199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3750" dirty="0"/>
          </a:p>
        </p:txBody>
      </p:sp>
      <p:sp>
        <p:nvSpPr>
          <p:cNvPr id="31" name="Text 16"/>
          <p:cNvSpPr txBox="1"/>
          <p:nvPr/>
        </p:nvSpPr>
        <p:spPr>
          <a:xfrm>
            <a:off x="7677302" y="3238805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전문성</a:t>
            </a:r>
            <a:endParaRPr lang="en-US" sz="2650" dirty="0"/>
          </a:p>
        </p:txBody>
      </p:sp>
      <p:sp>
        <p:nvSpPr>
          <p:cNvPr id="32" name="Text 17"/>
          <p:cNvSpPr txBox="1"/>
          <p:nvPr/>
        </p:nvSpPr>
        <p:spPr>
          <a:xfrm>
            <a:off x="7677302" y="3619195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증명 가능한 지식</a:t>
            </a:r>
            <a:endParaRPr lang="en-US" sz="1500" dirty="0"/>
          </a:p>
        </p:txBody>
      </p:sp>
      <p:sp>
        <p:nvSpPr>
          <p:cNvPr id="33" name="Text 18"/>
          <p:cNvSpPr txBox="1"/>
          <p:nvPr/>
        </p:nvSpPr>
        <p:spPr>
          <a:xfrm>
            <a:off x="6877202" y="4324198"/>
            <a:ext cx="45345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학력·자격·연구·저서. 종이로 증명되는 영역.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없으면</a:t>
            </a: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다른 5개로 보완.</a:t>
            </a:r>
            <a:endParaRPr lang="en-US" sz="1700" dirty="0"/>
          </a:p>
        </p:txBody>
      </p:sp>
      <p:sp>
        <p:nvSpPr>
          <p:cNvPr id="34" name="Text 19"/>
          <p:cNvSpPr txBox="1"/>
          <p:nvPr/>
        </p:nvSpPr>
        <p:spPr>
          <a:xfrm>
            <a:off x="12305995" y="316199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3750" dirty="0"/>
          </a:p>
        </p:txBody>
      </p:sp>
      <p:sp>
        <p:nvSpPr>
          <p:cNvPr id="35" name="Text 20"/>
          <p:cNvSpPr txBox="1"/>
          <p:nvPr/>
        </p:nvSpPr>
        <p:spPr>
          <a:xfrm>
            <a:off x="13106095" y="3238805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사례</a:t>
            </a:r>
            <a:endParaRPr lang="en-US" sz="2650" dirty="0"/>
          </a:p>
        </p:txBody>
      </p:sp>
      <p:sp>
        <p:nvSpPr>
          <p:cNvPr id="36" name="Text 21"/>
          <p:cNvSpPr txBox="1"/>
          <p:nvPr/>
        </p:nvSpPr>
        <p:spPr>
          <a:xfrm>
            <a:off x="13106095" y="3619195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현장에서 만든 변화</a:t>
            </a:r>
            <a:endParaRPr lang="en-US" sz="1500" dirty="0"/>
          </a:p>
        </p:txBody>
      </p:sp>
      <p:sp>
        <p:nvSpPr>
          <p:cNvPr id="37" name="Text 22"/>
          <p:cNvSpPr txBox="1"/>
          <p:nvPr/>
        </p:nvSpPr>
        <p:spPr>
          <a:xfrm>
            <a:off x="12305995" y="4324198"/>
            <a:ext cx="45345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 강의에서 만든 변화.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빠르게 신뢰를 만드는 자산.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줄 후기 한 개가 한 페이지 자기소개보다 셉니다.</a:t>
            </a:r>
            <a:endParaRPr lang="en-US" sz="1700" dirty="0"/>
          </a:p>
        </p:txBody>
      </p:sp>
      <p:sp>
        <p:nvSpPr>
          <p:cNvPr id="38" name="Text 23"/>
          <p:cNvSpPr txBox="1"/>
          <p:nvPr/>
        </p:nvSpPr>
        <p:spPr>
          <a:xfrm>
            <a:off x="1447495" y="621060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3750" dirty="0"/>
          </a:p>
        </p:txBody>
      </p:sp>
      <p:sp>
        <p:nvSpPr>
          <p:cNvPr id="39" name="Text 24"/>
          <p:cNvSpPr txBox="1"/>
          <p:nvPr/>
        </p:nvSpPr>
        <p:spPr>
          <a:xfrm>
            <a:off x="2247595" y="6286500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콘텐츠</a:t>
            </a:r>
            <a:endParaRPr lang="en-US" sz="2650" dirty="0"/>
          </a:p>
        </p:txBody>
      </p:sp>
      <p:sp>
        <p:nvSpPr>
          <p:cNvPr id="40" name="Text 25"/>
          <p:cNvSpPr txBox="1"/>
          <p:nvPr/>
        </p:nvSpPr>
        <p:spPr>
          <a:xfrm>
            <a:off x="2247595" y="6667805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자체 자산</a:t>
            </a:r>
            <a:endParaRPr lang="en-US" sz="1500" dirty="0"/>
          </a:p>
        </p:txBody>
      </p:sp>
      <p:sp>
        <p:nvSpPr>
          <p:cNvPr id="41" name="Text 26"/>
          <p:cNvSpPr txBox="1"/>
          <p:nvPr/>
        </p:nvSpPr>
        <p:spPr>
          <a:xfrm>
            <a:off x="1447495" y="7372807"/>
            <a:ext cx="45345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유튜브·블로그·뉴스레터·책. 강의 밖에서도 가르치고 있다는 증거.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미래에</a:t>
            </a: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가장 빠르게 자라는 자산.</a:t>
            </a:r>
            <a:endParaRPr lang="en-US" sz="1700" dirty="0"/>
          </a:p>
        </p:txBody>
      </p:sp>
      <p:sp>
        <p:nvSpPr>
          <p:cNvPr id="42" name="Text 27"/>
          <p:cNvSpPr txBox="1"/>
          <p:nvPr/>
        </p:nvSpPr>
        <p:spPr>
          <a:xfrm>
            <a:off x="6877202" y="621060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3750" dirty="0"/>
          </a:p>
        </p:txBody>
      </p:sp>
      <p:sp>
        <p:nvSpPr>
          <p:cNvPr id="43" name="Text 28"/>
          <p:cNvSpPr txBox="1"/>
          <p:nvPr/>
        </p:nvSpPr>
        <p:spPr>
          <a:xfrm>
            <a:off x="7677302" y="6286500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평판</a:t>
            </a:r>
            <a:endParaRPr lang="en-US" sz="2650" dirty="0"/>
          </a:p>
        </p:txBody>
      </p:sp>
      <p:sp>
        <p:nvSpPr>
          <p:cNvPr id="44" name="Text 29"/>
          <p:cNvSpPr txBox="1"/>
          <p:nvPr/>
        </p:nvSpPr>
        <p:spPr>
          <a:xfrm>
            <a:off x="7677302" y="6667805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다른 사람의 말</a:t>
            </a:r>
            <a:endParaRPr lang="en-US" sz="1500" dirty="0"/>
          </a:p>
        </p:txBody>
      </p:sp>
      <p:sp>
        <p:nvSpPr>
          <p:cNvPr id="45" name="Text 30"/>
          <p:cNvSpPr txBox="1"/>
          <p:nvPr/>
        </p:nvSpPr>
        <p:spPr>
          <a:xfrm>
            <a:off x="6877202" y="7372807"/>
            <a:ext cx="45345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재의뢰율·추천·후기.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내가 말할 수 없는 영역.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그래서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포트폴리오에 인용해야 합니다.</a:t>
            </a:r>
            <a:endParaRPr lang="en-US" sz="1700" dirty="0"/>
          </a:p>
        </p:txBody>
      </p:sp>
      <p:sp>
        <p:nvSpPr>
          <p:cNvPr id="46" name="Text 31"/>
          <p:cNvSpPr txBox="1"/>
          <p:nvPr/>
        </p:nvSpPr>
        <p:spPr>
          <a:xfrm>
            <a:off x="12305995" y="621060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06</a:t>
            </a:r>
            <a:endParaRPr lang="en-US" sz="3750" dirty="0"/>
          </a:p>
        </p:txBody>
      </p:sp>
      <p:sp>
        <p:nvSpPr>
          <p:cNvPr id="47" name="Text 32"/>
          <p:cNvSpPr txBox="1"/>
          <p:nvPr/>
        </p:nvSpPr>
        <p:spPr>
          <a:xfrm>
            <a:off x="13106095" y="6286500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전달력</a:t>
            </a:r>
            <a:endParaRPr lang="en-US" sz="2650" dirty="0"/>
          </a:p>
        </p:txBody>
      </p:sp>
      <p:sp>
        <p:nvSpPr>
          <p:cNvPr id="48" name="Text 33"/>
          <p:cNvSpPr txBox="1"/>
          <p:nvPr/>
        </p:nvSpPr>
        <p:spPr>
          <a:xfrm>
            <a:off x="13106095" y="6667805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강의장에서만 보이는 것</a:t>
            </a:r>
            <a:endParaRPr lang="en-US" sz="1500" dirty="0"/>
          </a:p>
        </p:txBody>
      </p:sp>
      <p:sp>
        <p:nvSpPr>
          <p:cNvPr id="49" name="Text 34"/>
          <p:cNvSpPr txBox="1"/>
          <p:nvPr/>
        </p:nvSpPr>
        <p:spPr>
          <a:xfrm>
            <a:off x="12305995" y="7372807"/>
            <a:ext cx="45345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포트폴리오로는 가장 보여주기 어려운 것.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짧은</a:t>
            </a:r>
            <a:r>
              <a:rPr lang="en-US" sz="1700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강의 영상 30초</a:t>
            </a: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 그 자리를 채웁니다.</a:t>
            </a:r>
            <a:endParaRPr lang="en-US" sz="1700" dirty="0"/>
          </a:p>
        </p:txBody>
      </p:sp>
      <p:sp>
        <p:nvSpPr>
          <p:cNvPr id="50" name="Text 35"/>
          <p:cNvSpPr txBox="1"/>
          <p:nvPr/>
        </p:nvSpPr>
        <p:spPr>
          <a:xfrm>
            <a:off x="1143000" y="973495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33 / 60</a:t>
            </a:r>
            <a:endParaRPr lang="en-US" sz="1500" dirty="0"/>
          </a:p>
        </p:txBody>
      </p:sp>
      <p:sp>
        <p:nvSpPr>
          <p:cNvPr id="5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61784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7925105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f841319f9513edff3b6b6c59542857e4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447495" y="4324198"/>
            <a:ext cx="571500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9098" y="2952598"/>
            <a:ext cx="7905902" cy="53336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1056e883e2f55d8a5ba7da29d9787817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9544507" y="4324198"/>
            <a:ext cx="571500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43000" y="8524951"/>
            <a:ext cx="16059607" cy="761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1143000" y="8524951"/>
            <a:ext cx="57607" cy="761695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gen-dedup-596901a3f1298b91ce24c8203fbdfe7c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1143000" y="2952598"/>
            <a:ext cx="7905902" cy="75895"/>
          </a:xfrm>
          <a:prstGeom prst="rect">
            <a:avLst/>
          </a:prstGeom>
        </p:spPr>
      </p:pic>
      <p:pic>
        <p:nvPicPr>
          <p:cNvPr id="12" name="Image 4" descr="gen-dedup-2740c519cb00ac3f3562614e70bc33cf.png"/>
          <p:cNvPicPr>
            <a:picLocks noChangeAspect="1"/>
          </p:cNvPicPr>
          <p:nvPr/>
        </p:nvPicPr>
        <p:blipFill>
          <a:blip r:embed="rId6"/>
          <a:srcRect l="-202" r="-202"/>
          <a:stretch/>
        </p:blipFill>
        <p:spPr>
          <a:xfrm>
            <a:off x="9239098" y="2952598"/>
            <a:ext cx="7905902" cy="758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 · RESUME vs PORTFOLIO · 같은 정보, 완전히 다른 도구</a:t>
            </a:r>
            <a:endParaRPr lang="en-US" sz="155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1580998"/>
            <a:ext cx="16161106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이력서는 ‘과거 기록’, 포트폴리오는 ‘미래 제안’.</a:t>
            </a:r>
            <a:endParaRPr lang="en-US" sz="45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이력서를 그대로 포트폴리오라고 보내면 — 그 의뢰는 다음 후보에게 넘어갑니다.</a:t>
            </a:r>
            <a:endParaRPr lang="en-US" sz="1700" dirty="0"/>
          </a:p>
        </p:txBody>
      </p:sp>
      <p:sp>
        <p:nvSpPr>
          <p:cNvPr id="16" name="Text 9"/>
          <p:cNvSpPr txBox="1"/>
          <p:nvPr/>
        </p:nvSpPr>
        <p:spPr>
          <a:xfrm>
            <a:off x="1447495" y="3181198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이력서 · RESUME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447495" y="3504895"/>
            <a:ext cx="72969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“나는 이런 사람이었다”</a:t>
            </a:r>
            <a:endParaRPr lang="en-US" sz="3100" dirty="0"/>
          </a:p>
        </p:txBody>
      </p:sp>
      <p:sp>
        <p:nvSpPr>
          <p:cNvPr id="18" name="Text 11"/>
          <p:cNvSpPr txBox="1"/>
          <p:nvPr/>
        </p:nvSpPr>
        <p:spPr>
          <a:xfrm>
            <a:off x="1447495" y="4435815"/>
            <a:ext cx="7296912" cy="381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목적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자격 검증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관점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과거 시제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내용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학력·경력·자격 목록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형식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표·연표 중심, 텍스트 위주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분량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A4 1~2쪽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독자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인사 담당자, 자격 심사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질문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“이 자리에 적합한가?”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“2018–2022 OO기업 부장” 같은 줄이 핵심.</a:t>
            </a:r>
            <a:endParaRPr lang="en-US" sz="1650" dirty="0"/>
          </a:p>
        </p:txBody>
      </p:sp>
      <p:sp>
        <p:nvSpPr>
          <p:cNvPr id="19" name="Text 12"/>
          <p:cNvSpPr txBox="1"/>
          <p:nvPr/>
        </p:nvSpPr>
        <p:spPr>
          <a:xfrm>
            <a:off x="9544507" y="3181198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포트폴리오 · PORTFOLIO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9544507" y="3504895"/>
            <a:ext cx="72969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“나는 이걸 만들 수 있다”</a:t>
            </a:r>
            <a:endParaRPr lang="en-US" sz="3100" dirty="0"/>
          </a:p>
        </p:txBody>
      </p:sp>
      <p:sp>
        <p:nvSpPr>
          <p:cNvPr id="21" name="Text 14"/>
          <p:cNvSpPr txBox="1"/>
          <p:nvPr/>
        </p:nvSpPr>
        <p:spPr>
          <a:xfrm>
            <a:off x="9544507" y="4435815"/>
            <a:ext cx="7296912" cy="381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목적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가치 제안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관점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미래 시제 (“이런 결과를 만들겠다”)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내용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사례·결과물·후기·차별점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형식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시각 자료 중심, 사진·도표·인용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분량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10~20쪽 (목적별)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독자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교육 담당자, 의뢰처 결재권자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질문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“이 강사가 우리에게 무엇을 만들어줄 수 있나?”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“A기업 임직원 30명 만족도 4.7” 같은 결과가 핵심.</a:t>
            </a:r>
            <a:endParaRPr lang="en-US" sz="1650" dirty="0"/>
          </a:p>
        </p:txBody>
      </p:sp>
      <p:sp>
        <p:nvSpPr>
          <p:cNvPr id="22" name="Text 15"/>
          <p:cNvSpPr txBox="1"/>
          <p:nvPr/>
        </p:nvSpPr>
        <p:spPr>
          <a:xfrm>
            <a:off x="1429207" y="8686800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“이력서는 누가 봐도 같지만, 포트폴리오는 보는 사람마다 다르게 만든다.”</a:t>
            </a:r>
            <a:endParaRPr lang="en-US" sz="2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한 의뢰에 한 번의 맞춤 — 그게 포트폴리오를 ‘제안서’라고 부르는 이유.</a:t>
            </a:r>
            <a:endParaRPr lang="en-US" sz="2100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34 / 60</a:t>
            </a:r>
            <a:endParaRPr lang="en-US" sz="15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595510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2120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4190695"/>
            <a:ext cx="1602120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5429707"/>
            <a:ext cx="1602120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6667805"/>
            <a:ext cx="1602120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7905902"/>
            <a:ext cx="16002000" cy="1123798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2952598"/>
            <a:ext cx="1047902" cy="1123798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4190695"/>
            <a:ext cx="1047902" cy="1123798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5429707"/>
            <a:ext cx="1047902" cy="1123798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43000" y="6667805"/>
            <a:ext cx="1047902" cy="1123798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7905902"/>
            <a:ext cx="1047902" cy="1123798"/>
          </a:xfrm>
          <a:prstGeom prst="rect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· FIVE CONDITIONS · 다섯 가지가 충족되지 않으면 채택되지 않는다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좋은 포트폴리오의 5요건.</a:t>
            </a:r>
            <a:endParaRPr lang="en-US" sz="45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빠진 항목이 있으면 — 다른 4개가 아무리 좋아도, 그 한 칸이 의심을 만듭니다.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066898"/>
            <a:ext cx="10479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4150" dirty="0"/>
          </a:p>
        </p:txBody>
      </p:sp>
      <p:sp>
        <p:nvSpPr>
          <p:cNvPr id="19" name="Text 16"/>
          <p:cNvSpPr txBox="1"/>
          <p:nvPr/>
        </p:nvSpPr>
        <p:spPr>
          <a:xfrm>
            <a:off x="2495398" y="3105302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CLARITY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495398" y="3409798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명확성</a:t>
            </a:r>
            <a:endParaRPr lang="en-US" sz="2650" dirty="0"/>
          </a:p>
        </p:txBody>
      </p:sp>
      <p:sp>
        <p:nvSpPr>
          <p:cNvPr id="21" name="Text 18"/>
          <p:cNvSpPr txBox="1"/>
          <p:nvPr/>
        </p:nvSpPr>
        <p:spPr>
          <a:xfrm>
            <a:off x="4805464" y="3200400"/>
            <a:ext cx="1214934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줄로 답할 수 있어야 합니다 — “이 강사는 누구를, 어떤 주제로, 어떻게 가르치는가.” </a:t>
            </a:r>
            <a:r>
              <a:rPr lang="en-US" sz="165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표지 한 장 안에 들어가야 합니다.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4304995"/>
            <a:ext cx="10479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4150" dirty="0"/>
          </a:p>
        </p:txBody>
      </p:sp>
      <p:sp>
        <p:nvSpPr>
          <p:cNvPr id="23" name="Text 20"/>
          <p:cNvSpPr txBox="1"/>
          <p:nvPr/>
        </p:nvSpPr>
        <p:spPr>
          <a:xfrm>
            <a:off x="2495398" y="4343400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EXPERTISE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2495398" y="4647895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전문성</a:t>
            </a:r>
            <a:endParaRPr lang="en-US" sz="2650" dirty="0"/>
          </a:p>
        </p:txBody>
      </p:sp>
      <p:sp>
        <p:nvSpPr>
          <p:cNvPr id="25" name="Text 22"/>
          <p:cNvSpPr txBox="1"/>
          <p:nvPr/>
        </p:nvSpPr>
        <p:spPr>
          <a:xfrm>
            <a:off x="4805464" y="4438498"/>
            <a:ext cx="1214934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내가 가르치는 주제에 대한 깊이를 증명해야 합니다 — 학력·경력·자격·연구·저서·콘텐츠 중 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최소 2가지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교차 증명.</a:t>
            </a:r>
            <a:endParaRPr lang="en-US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5544007"/>
            <a:ext cx="10479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4150" dirty="0"/>
          </a:p>
        </p:txBody>
      </p:sp>
      <p:sp>
        <p:nvSpPr>
          <p:cNvPr id="27" name="Text 24"/>
          <p:cNvSpPr txBox="1"/>
          <p:nvPr/>
        </p:nvSpPr>
        <p:spPr>
          <a:xfrm>
            <a:off x="2495398" y="5581498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2495398" y="5886907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신뢰성</a:t>
            </a:r>
            <a:endParaRPr lang="en-US" sz="2650" dirty="0"/>
          </a:p>
        </p:txBody>
      </p:sp>
      <p:sp>
        <p:nvSpPr>
          <p:cNvPr id="29" name="Text 26"/>
          <p:cNvSpPr txBox="1"/>
          <p:nvPr/>
        </p:nvSpPr>
        <p:spPr>
          <a:xfrm>
            <a:off x="4805464" y="5676595"/>
            <a:ext cx="1214934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제3자가 말한 것이 들어가 있어야 합니다 — 만족도 점수, 수강생 인용, 의뢰처 추천. </a:t>
            </a:r>
            <a:r>
              <a:rPr lang="en-US" sz="165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내 입으로 한 칭찬은 신뢰가 아닙니다.</a:t>
            </a:r>
            <a:endParaRPr lang="en-US" sz="165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" y="6782105"/>
            <a:ext cx="10479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4150" dirty="0"/>
          </a:p>
        </p:txBody>
      </p:sp>
      <p:sp>
        <p:nvSpPr>
          <p:cNvPr id="31" name="Text 28"/>
          <p:cNvSpPr txBox="1"/>
          <p:nvPr/>
        </p:nvSpPr>
        <p:spPr>
          <a:xfrm>
            <a:off x="2495398" y="681959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DIFFERENTIATION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2495398" y="7125005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차별성</a:t>
            </a:r>
            <a:endParaRPr lang="en-US" sz="2650" dirty="0"/>
          </a:p>
        </p:txBody>
      </p:sp>
      <p:sp>
        <p:nvSpPr>
          <p:cNvPr id="33" name="Text 30"/>
          <p:cNvSpPr txBox="1"/>
          <p:nvPr/>
        </p:nvSpPr>
        <p:spPr>
          <a:xfrm>
            <a:off x="4805464" y="6915607"/>
            <a:ext cx="1214934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“나는 다른 강사와 무엇이 다른가” 한 문장. 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차별점이 없는 강사는 가격 경쟁으로 떨어집니다.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슬라이드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48에서 다섯 가지 차별화 축을 정리합니다.</a:t>
            </a:r>
            <a:endParaRPr lang="en-US" sz="16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8020202"/>
            <a:ext cx="10479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4150" dirty="0"/>
          </a:p>
        </p:txBody>
      </p:sp>
      <p:sp>
        <p:nvSpPr>
          <p:cNvPr id="35" name="Text 32"/>
          <p:cNvSpPr txBox="1"/>
          <p:nvPr/>
        </p:nvSpPr>
        <p:spPr>
          <a:xfrm>
            <a:off x="2495398" y="8058607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USABILITY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2495398" y="8363102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활용성</a:t>
            </a:r>
            <a:endParaRPr lang="en-US" sz="2650" dirty="0"/>
          </a:p>
        </p:txBody>
      </p:sp>
      <p:sp>
        <p:nvSpPr>
          <p:cNvPr id="37" name="Text 34"/>
          <p:cNvSpPr txBox="1"/>
          <p:nvPr/>
        </p:nvSpPr>
        <p:spPr>
          <a:xfrm>
            <a:off x="4319081" y="8153705"/>
            <a:ext cx="12635724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의뢰처가 </a:t>
            </a: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결재 문서에 그대로 첨부할 수 있어야</a:t>
            </a: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합니다. 회사 로고·연락처·일정·견적 — 사용하는 쪽 입장에서 빠진 정보가 없어야 합니다.</a:t>
            </a:r>
            <a:endParaRPr lang="en-US" sz="165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35 / 60</a:t>
            </a:r>
            <a:endParaRPr lang="en-US" sz="15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48139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02000" cy="476402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3619195"/>
            <a:ext cx="16021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4667098"/>
            <a:ext cx="16021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5715000"/>
            <a:ext cx="16021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6762902"/>
            <a:ext cx="16021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7810805"/>
            <a:ext cx="16002000" cy="9528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 · WHEN NEEDED · “있어야 할 때”는 갑자기 온다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580998"/>
            <a:ext cx="15782544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포트폴리오는 ‘부탁받았을 때’ 만드는 게 아니다.</a:t>
            </a:r>
            <a:endParaRPr lang="en-US" sz="45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다섯 가지 상황 — 이 중 한 번이라도 겪었다면, 이미 늦었던 그 순간입니다.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2952598"/>
            <a:ext cx="762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2952598"/>
            <a:ext cx="3048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상황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524805" y="2952598"/>
            <a:ext cx="6477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상대가 요청하는 것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4239367" y="3008377"/>
            <a:ext cx="2905633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포트폴리오에서 꺼낼 것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24305" y="3733495"/>
            <a:ext cx="762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2286000" y="3847795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교육 제안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2286000" y="4153205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신규 의뢰가 들어왔다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524805" y="3810305"/>
            <a:ext cx="83857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“강사님 약력이랑 강의 사례 좀 같이 보내주세요. 결재 올려야 해서.”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4239367" y="3866084"/>
            <a:ext cx="290563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 문장 소개 + 대표 강의 1개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만족도 점수 + 사례 사진 1장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524305" y="4781398"/>
            <a:ext cx="762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4895698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강사 섭외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2286000" y="5201107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소개로 연결되었다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524805" y="4858207"/>
            <a:ext cx="83857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“어떤 강의 하시는 분인지 자료 좀 보내주실 수 있나요. 위에 보고드릴 거라.”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14239367" y="4913986"/>
            <a:ext cx="290563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전체 포트폴리오 PDF (20쪽형)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명함, 주력 강의 3개 요약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524305" y="5829300"/>
            <a:ext cx="762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3200" dirty="0"/>
          </a:p>
        </p:txBody>
      </p:sp>
      <p:sp>
        <p:nvSpPr>
          <p:cNvPr id="29" name="Text 26"/>
          <p:cNvSpPr txBox="1"/>
          <p:nvPr/>
        </p:nvSpPr>
        <p:spPr>
          <a:xfrm>
            <a:off x="2286000" y="5943600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기관 등록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2286000" y="6248095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풀에 들어가려 한다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524805" y="5810098"/>
            <a:ext cx="83857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“강사 등록 신청서 양식과 첨부 자료 일체 — 약력 / 실적 / 대표 강의 / 만족도.”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14239367" y="5865877"/>
            <a:ext cx="290563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실적 표 (기관·과정·인원)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대표 강의 커리큘럼 1개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524305" y="6877202"/>
            <a:ext cx="762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3200" dirty="0"/>
          </a:p>
        </p:txBody>
      </p:sp>
      <p:sp>
        <p:nvSpPr>
          <p:cNvPr id="34" name="Text 31"/>
          <p:cNvSpPr txBox="1"/>
          <p:nvPr/>
        </p:nvSpPr>
        <p:spPr>
          <a:xfrm>
            <a:off x="2286000" y="6991502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입찰·공모</a:t>
            </a:r>
            <a:endParaRPr lang="en-US" sz="2100" dirty="0"/>
          </a:p>
        </p:txBody>
      </p:sp>
      <p:sp>
        <p:nvSpPr>
          <p:cNvPr id="35" name="Text 32"/>
          <p:cNvSpPr txBox="1"/>
          <p:nvPr/>
        </p:nvSpPr>
        <p:spPr>
          <a:xfrm>
            <a:off x="2286000" y="7295998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공공·대기업 사업 응모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524805" y="6858000"/>
            <a:ext cx="83857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“수행 실적 증빙, 강사진 약력, 유사 사업 결과보고서 — 평가 기준별 항목 매칭.”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14239367" y="6913779"/>
            <a:ext cx="290563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상세 실적 표 (날짜·금액·증빙)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유사 과제 결과보고서 1편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524305" y="7925105"/>
            <a:ext cx="762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3200" dirty="0"/>
          </a:p>
        </p:txBody>
      </p:sp>
      <p:sp>
        <p:nvSpPr>
          <p:cNvPr id="39" name="Text 36"/>
          <p:cNvSpPr txBox="1"/>
          <p:nvPr/>
        </p:nvSpPr>
        <p:spPr>
          <a:xfrm>
            <a:off x="2286000" y="8039405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SNS · 홍보</a:t>
            </a:r>
            <a:endParaRPr lang="en-US" sz="2100" dirty="0"/>
          </a:p>
        </p:txBody>
      </p:sp>
      <p:sp>
        <p:nvSpPr>
          <p:cNvPr id="40" name="Text 37"/>
          <p:cNvSpPr txBox="1"/>
          <p:nvPr/>
        </p:nvSpPr>
        <p:spPr>
          <a:xfrm>
            <a:off x="2286000" y="8343900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잠재 의뢰처에 노출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524805" y="7905902"/>
            <a:ext cx="83857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누가 묻지 않아도 — 내 프로필 한 줄 + 링크 한 개로 “이 강사 누구?”에 답해야 합니다.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14239367" y="7905902"/>
            <a:ext cx="271543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웹 포트폴리오 (노션·홈페이지)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링크 1개로 모든 채널에 공유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143000" y="9163202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공통점 — 다섯 상황 모두, 요청에서 회신까지 평균 </a:t>
            </a:r>
            <a:r>
              <a:rPr lang="en-US" sz="1750" b="1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24시간</a:t>
            </a:r>
            <a:r>
              <a:rPr lang="en-US" sz="17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그 안에 만들 수는 없습니다. 미리 있어야 합니다.</a:t>
            </a:r>
            <a:endParaRPr lang="en-US" sz="175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36 / 60</a:t>
            </a:r>
            <a:endParaRPr lang="en-US" sz="15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738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33195" y="3429000"/>
            <a:ext cx="2467051" cy="156179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972154" y="3429000"/>
            <a:ext cx="2467051" cy="156179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10198" y="3429000"/>
            <a:ext cx="2467051" cy="156179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249156" y="3429000"/>
            <a:ext cx="2467051" cy="156179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887200" y="3429000"/>
            <a:ext cx="2467051" cy="1561795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4525244" y="3429000"/>
            <a:ext cx="2428646" cy="15243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333195" y="5524805"/>
            <a:ext cx="15639898" cy="34482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8c8cfe17b0230c1d3fd669e946137195.png"/>
          <p:cNvPicPr>
            <a:picLocks noChangeAspect="1"/>
          </p:cNvPicPr>
          <p:nvPr/>
        </p:nvPicPr>
        <p:blipFill>
          <a:blip r:embed="rId2">
            <a:alphaModFix amt="20000"/>
          </a:blip>
          <a:srcRect l="-2083" r="-2083"/>
          <a:stretch/>
        </p:blipFill>
        <p:spPr>
          <a:xfrm>
            <a:off x="1638605" y="6077102"/>
            <a:ext cx="15011705" cy="9144"/>
          </a:xfrm>
          <a:prstGeom prst="rect">
            <a:avLst/>
          </a:prstGeom>
        </p:spPr>
      </p:pic>
      <p:pic>
        <p:nvPicPr>
          <p:cNvPr id="13" name="Image 2" descr="gen-dedup-b4d33b0ea29b03e8c1c5f912c2bff3e9.png"/>
          <p:cNvPicPr>
            <a:picLocks noChangeAspect="1"/>
          </p:cNvPicPr>
          <p:nvPr/>
        </p:nvPicPr>
        <p:blipFill>
          <a:blip r:embed="rId3"/>
          <a:srcRect l="-196" r="-196"/>
          <a:stretch/>
        </p:blipFill>
        <p:spPr>
          <a:xfrm>
            <a:off x="1333195" y="3429000"/>
            <a:ext cx="2428646" cy="75895"/>
          </a:xfrm>
          <a:prstGeom prst="rect">
            <a:avLst/>
          </a:prstGeom>
        </p:spPr>
      </p:pic>
      <p:pic>
        <p:nvPicPr>
          <p:cNvPr id="14" name="Image 3" descr="gen-dedup-b4d33b0ea29b03e8c1c5f912c2bff3e9.png"/>
          <p:cNvPicPr>
            <a:picLocks noChangeAspect="1"/>
          </p:cNvPicPr>
          <p:nvPr/>
        </p:nvPicPr>
        <p:blipFill>
          <a:blip r:embed="rId3"/>
          <a:srcRect l="-196" r="-196"/>
          <a:stretch/>
        </p:blipFill>
        <p:spPr>
          <a:xfrm>
            <a:off x="3972154" y="3429000"/>
            <a:ext cx="2428646" cy="75895"/>
          </a:xfrm>
          <a:prstGeom prst="rect">
            <a:avLst/>
          </a:prstGeom>
        </p:spPr>
      </p:pic>
      <p:pic>
        <p:nvPicPr>
          <p:cNvPr id="15" name="Image 4" descr="gen-dedup-b4d33b0ea29b03e8c1c5f912c2bff3e9.png"/>
          <p:cNvPicPr>
            <a:picLocks noChangeAspect="1"/>
          </p:cNvPicPr>
          <p:nvPr/>
        </p:nvPicPr>
        <p:blipFill>
          <a:blip r:embed="rId3"/>
          <a:srcRect l="-196" r="-196"/>
          <a:stretch/>
        </p:blipFill>
        <p:spPr>
          <a:xfrm>
            <a:off x="6610198" y="3429000"/>
            <a:ext cx="2428646" cy="75895"/>
          </a:xfrm>
          <a:prstGeom prst="rect">
            <a:avLst/>
          </a:prstGeom>
        </p:spPr>
      </p:pic>
      <p:pic>
        <p:nvPicPr>
          <p:cNvPr id="16" name="Image 5" descr="gen-dedup-b4d33b0ea29b03e8c1c5f912c2bff3e9.png"/>
          <p:cNvPicPr>
            <a:picLocks noChangeAspect="1"/>
          </p:cNvPicPr>
          <p:nvPr/>
        </p:nvPicPr>
        <p:blipFill>
          <a:blip r:embed="rId3"/>
          <a:srcRect l="-196" r="-196"/>
          <a:stretch/>
        </p:blipFill>
        <p:spPr>
          <a:xfrm>
            <a:off x="9249156" y="3429000"/>
            <a:ext cx="2428646" cy="75895"/>
          </a:xfrm>
          <a:prstGeom prst="rect">
            <a:avLst/>
          </a:prstGeom>
        </p:spPr>
      </p:pic>
      <p:pic>
        <p:nvPicPr>
          <p:cNvPr id="17" name="Image 6" descr="gen-dedup-b4d33b0ea29b03e8c1c5f912c2bff3e9.png"/>
          <p:cNvPicPr>
            <a:picLocks noChangeAspect="1"/>
          </p:cNvPicPr>
          <p:nvPr/>
        </p:nvPicPr>
        <p:blipFill>
          <a:blip r:embed="rId3"/>
          <a:srcRect l="-196" r="-196"/>
          <a:stretch/>
        </p:blipFill>
        <p:spPr>
          <a:xfrm>
            <a:off x="11887200" y="3429000"/>
            <a:ext cx="2428646" cy="75895"/>
          </a:xfrm>
          <a:prstGeom prst="rect">
            <a:avLst/>
          </a:prstGeom>
        </p:spPr>
      </p:pic>
      <p:pic>
        <p:nvPicPr>
          <p:cNvPr id="18" name="Image 7" descr="gen-dedup-7f13c8389ef797e418ba621a60c2e31e.png"/>
          <p:cNvPicPr>
            <a:picLocks noChangeAspect="1"/>
          </p:cNvPicPr>
          <p:nvPr/>
        </p:nvPicPr>
        <p:blipFill>
          <a:blip r:embed="rId4"/>
          <a:srcRect l="-196" r="-196"/>
          <a:stretch/>
        </p:blipFill>
        <p:spPr>
          <a:xfrm>
            <a:off x="14525244" y="3429000"/>
            <a:ext cx="2428646" cy="7589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 · MASTER STRUCTURE · 6단계, 한 줄 — 모든 강사 포트폴리오는 이 흐름</a:t>
            </a:r>
            <a:endParaRPr lang="en-US" sz="1550" dirty="0"/>
          </a:p>
        </p:txBody>
      </p:sp>
      <p:sp>
        <p:nvSpPr>
          <p:cNvPr id="20" name="Text 10"/>
          <p:cNvSpPr txBox="1"/>
          <p:nvPr/>
        </p:nvSpPr>
        <p:spPr>
          <a:xfrm>
            <a:off x="1143000" y="1580998"/>
            <a:ext cx="15434158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내 정체성에서 출발해서, 미래 제안으로 끝난다.</a:t>
            </a:r>
            <a:endParaRPr lang="en-US" sz="4500" dirty="0"/>
          </a:p>
        </p:txBody>
      </p:sp>
      <p:sp>
        <p:nvSpPr>
          <p:cNvPr id="21" name="Text 11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흐름을 흩뜨리면 — 보는 사람이 “이 강사 누군지 알겠다”까지 도달하지 못합니다.</a:t>
            </a:r>
            <a:endParaRPr lang="en-US" sz="1700" dirty="0"/>
          </a:p>
        </p:txBody>
      </p:sp>
      <p:sp>
        <p:nvSpPr>
          <p:cNvPr id="22" name="Text 12"/>
          <p:cNvSpPr txBox="1"/>
          <p:nvPr/>
        </p:nvSpPr>
        <p:spPr>
          <a:xfrm>
            <a:off x="1524305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</a:t>
            </a:r>
            <a:endParaRPr lang="en-US" sz="1500" dirty="0"/>
          </a:p>
        </p:txBody>
      </p:sp>
      <p:sp>
        <p:nvSpPr>
          <p:cNvPr id="23" name="Text 13"/>
          <p:cNvSpPr txBox="1"/>
          <p:nvPr/>
        </p:nvSpPr>
        <p:spPr>
          <a:xfrm>
            <a:off x="1524305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프로필</a:t>
            </a:r>
            <a:endParaRPr lang="en-US" sz="2400" dirty="0"/>
          </a:p>
        </p:txBody>
      </p:sp>
      <p:sp>
        <p:nvSpPr>
          <p:cNvPr id="24" name="Text 14"/>
          <p:cNvSpPr txBox="1"/>
          <p:nvPr/>
        </p:nvSpPr>
        <p:spPr>
          <a:xfrm>
            <a:off x="1524305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문장 소개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사진·연락처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4162349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</a:t>
            </a:r>
            <a:endParaRPr lang="en-US" sz="1500" dirty="0"/>
          </a:p>
        </p:txBody>
      </p:sp>
      <p:sp>
        <p:nvSpPr>
          <p:cNvPr id="26" name="Text 16"/>
          <p:cNvSpPr txBox="1"/>
          <p:nvPr/>
        </p:nvSpPr>
        <p:spPr>
          <a:xfrm>
            <a:off x="4162349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전문 분야</a:t>
            </a:r>
            <a:endParaRPr lang="en-US" sz="2400" dirty="0"/>
          </a:p>
        </p:txBody>
      </p:sp>
      <p:sp>
        <p:nvSpPr>
          <p:cNvPr id="27" name="Text 17"/>
          <p:cNvSpPr txBox="1"/>
          <p:nvPr/>
        </p:nvSpPr>
        <p:spPr>
          <a:xfrm>
            <a:off x="4162349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주력·확장·미래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3개 영역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6801307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6801307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 과정</a:t>
            </a:r>
            <a:endParaRPr lang="en-US" sz="2400" dirty="0"/>
          </a:p>
        </p:txBody>
      </p:sp>
      <p:sp>
        <p:nvSpPr>
          <p:cNvPr id="30" name="Text 20"/>
          <p:cNvSpPr txBox="1"/>
          <p:nvPr/>
        </p:nvSpPr>
        <p:spPr>
          <a:xfrm>
            <a:off x="6801307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 과정 1~3개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커리큘럼·산출물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9439351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04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9439351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실적</a:t>
            </a:r>
            <a:endParaRPr lang="en-US" sz="2400" dirty="0"/>
          </a:p>
        </p:txBody>
      </p:sp>
      <p:sp>
        <p:nvSpPr>
          <p:cNvPr id="33" name="Text 23"/>
          <p:cNvSpPr txBox="1"/>
          <p:nvPr/>
        </p:nvSpPr>
        <p:spPr>
          <a:xfrm>
            <a:off x="9439351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기관·인원·만족도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 한 장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12077395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05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12077395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사례</a:t>
            </a:r>
            <a:endParaRPr lang="en-US" sz="2400" dirty="0"/>
          </a:p>
        </p:txBody>
      </p:sp>
      <p:sp>
        <p:nvSpPr>
          <p:cNvPr id="36" name="Text 26"/>
          <p:cNvSpPr txBox="1"/>
          <p:nvPr/>
        </p:nvSpPr>
        <p:spPr>
          <a:xfrm>
            <a:off x="12077395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줄 후기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변화 사례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14716354" y="363839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06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14716354" y="3905402"/>
            <a:ext cx="2048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미래 전략</a:t>
            </a:r>
            <a:endParaRPr lang="en-US" sz="2400" dirty="0"/>
          </a:p>
        </p:txBody>
      </p:sp>
      <p:sp>
        <p:nvSpPr>
          <p:cNvPr id="39" name="Text 29"/>
          <p:cNvSpPr txBox="1"/>
          <p:nvPr/>
        </p:nvSpPr>
        <p:spPr>
          <a:xfrm>
            <a:off x="14716354" y="4476902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확장 분야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3개월 계획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3743554" y="4095598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100" dirty="0"/>
          </a:p>
        </p:txBody>
      </p:sp>
      <p:sp>
        <p:nvSpPr>
          <p:cNvPr id="41" name="Text 31"/>
          <p:cNvSpPr txBox="1"/>
          <p:nvPr/>
        </p:nvSpPr>
        <p:spPr>
          <a:xfrm>
            <a:off x="6381598" y="4095598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100" dirty="0"/>
          </a:p>
        </p:txBody>
      </p:sp>
      <p:sp>
        <p:nvSpPr>
          <p:cNvPr id="42" name="Text 32"/>
          <p:cNvSpPr txBox="1"/>
          <p:nvPr/>
        </p:nvSpPr>
        <p:spPr>
          <a:xfrm>
            <a:off x="9020556" y="4095598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100" dirty="0"/>
          </a:p>
        </p:txBody>
      </p:sp>
      <p:sp>
        <p:nvSpPr>
          <p:cNvPr id="43" name="Text 33"/>
          <p:cNvSpPr txBox="1"/>
          <p:nvPr/>
        </p:nvSpPr>
        <p:spPr>
          <a:xfrm>
            <a:off x="11658600" y="4095598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100" dirty="0"/>
          </a:p>
        </p:txBody>
      </p:sp>
      <p:sp>
        <p:nvSpPr>
          <p:cNvPr id="44" name="Text 34"/>
          <p:cNvSpPr txBox="1"/>
          <p:nvPr/>
        </p:nvSpPr>
        <p:spPr>
          <a:xfrm>
            <a:off x="14296644" y="4095598"/>
            <a:ext cx="247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100" dirty="0"/>
          </a:p>
        </p:txBody>
      </p:sp>
      <p:sp>
        <p:nvSpPr>
          <p:cNvPr id="45" name="Text 35"/>
          <p:cNvSpPr txBox="1"/>
          <p:nvPr/>
        </p:nvSpPr>
        <p:spPr>
          <a:xfrm>
            <a:off x="1638605" y="5753405"/>
            <a:ext cx="15011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각 단계별 핵심 질문 · 페이지 수 (10장형 기준)</a:t>
            </a:r>
            <a:endParaRPr lang="en-US" sz="1500" dirty="0"/>
          </a:p>
        </p:txBody>
      </p:sp>
      <p:sp>
        <p:nvSpPr>
          <p:cNvPr id="46" name="Text 36"/>
          <p:cNvSpPr txBox="1"/>
          <p:nvPr/>
        </p:nvSpPr>
        <p:spPr>
          <a:xfrm>
            <a:off x="1638605" y="6286500"/>
            <a:ext cx="2429561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질문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 강사는 누구인가?”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제출 자료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사진·약력·한 줄 소개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쪽</a:t>
            </a:r>
            <a:endParaRPr lang="en-US" sz="1550" dirty="0"/>
          </a:p>
        </p:txBody>
      </p:sp>
      <p:sp>
        <p:nvSpPr>
          <p:cNvPr id="47" name="Text 37"/>
          <p:cNvSpPr txBox="1"/>
          <p:nvPr/>
        </p:nvSpPr>
        <p:spPr>
          <a:xfrm>
            <a:off x="4276649" y="6286500"/>
            <a:ext cx="2429561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질문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“무엇을 가르치는가?”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제출 자료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3개 영역 분류표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쪽</a:t>
            </a:r>
            <a:endParaRPr lang="en-US" sz="1550" dirty="0"/>
          </a:p>
        </p:txBody>
      </p:sp>
      <p:sp>
        <p:nvSpPr>
          <p:cNvPr id="48" name="Text 38"/>
          <p:cNvSpPr txBox="1"/>
          <p:nvPr/>
        </p:nvSpPr>
        <p:spPr>
          <a:xfrm>
            <a:off x="6915607" y="6286500"/>
            <a:ext cx="2429561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질문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“어떻게 가르치는가?”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제출 자료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 강의 1~3개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2~3 쪽</a:t>
            </a:r>
            <a:endParaRPr lang="en-US" sz="1550" dirty="0"/>
          </a:p>
        </p:txBody>
      </p:sp>
      <p:sp>
        <p:nvSpPr>
          <p:cNvPr id="49" name="Text 39"/>
          <p:cNvSpPr txBox="1"/>
          <p:nvPr/>
        </p:nvSpPr>
        <p:spPr>
          <a:xfrm>
            <a:off x="9553651" y="6286500"/>
            <a:ext cx="2429561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질문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“얼마나 가르쳤나?”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제출 자료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실적 표 + 만족도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1~2 쪽</a:t>
            </a:r>
            <a:endParaRPr lang="en-US" sz="1550" dirty="0"/>
          </a:p>
        </p:txBody>
      </p:sp>
      <p:sp>
        <p:nvSpPr>
          <p:cNvPr id="50" name="Text 40"/>
          <p:cNvSpPr txBox="1"/>
          <p:nvPr/>
        </p:nvSpPr>
        <p:spPr>
          <a:xfrm>
            <a:off x="12191695" y="6286500"/>
            <a:ext cx="2429561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질문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“어떤 변화를 만들었나?”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제출 자료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사례 2~3개 + 후기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쪽</a:t>
            </a:r>
            <a:endParaRPr lang="en-US" sz="1550" dirty="0"/>
          </a:p>
        </p:txBody>
      </p:sp>
      <p:sp>
        <p:nvSpPr>
          <p:cNvPr id="51" name="Text 41"/>
          <p:cNvSpPr txBox="1"/>
          <p:nvPr/>
        </p:nvSpPr>
        <p:spPr>
          <a:xfrm>
            <a:off x="14830654" y="6286500"/>
            <a:ext cx="2124151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질문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“어디로 가는가?”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제출 자료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확장 계획 1쪽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쪽</a:t>
            </a:r>
            <a:endParaRPr lang="en-US" sz="1550" dirty="0"/>
          </a:p>
        </p:txBody>
      </p:sp>
      <p:sp>
        <p:nvSpPr>
          <p:cNvPr id="52" name="Text 42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37 / 60</a:t>
            </a:r>
            <a:endParaRPr lang="en-US" sz="1500" dirty="0"/>
          </a:p>
        </p:txBody>
      </p:sp>
      <p:sp>
        <p:nvSpPr>
          <p:cNvPr id="5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80538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811098" y="1619402"/>
            <a:ext cx="3333902" cy="1238098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3143707"/>
            <a:ext cx="3066898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352398" y="4762195"/>
            <a:ext cx="2648102" cy="3543300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381805" y="3143707"/>
            <a:ext cx="3066898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91202" y="4762195"/>
            <a:ext cx="2648102" cy="3543300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9695" y="3143707"/>
            <a:ext cx="3066898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830007" y="4762195"/>
            <a:ext cx="2648102" cy="3543300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858500" y="3143707"/>
            <a:ext cx="3066898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067898" y="4762195"/>
            <a:ext cx="2648102" cy="3543300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14097305" y="3143707"/>
            <a:ext cx="3047695" cy="53336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4306702" y="4762195"/>
            <a:ext cx="2648102" cy="35433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143000" y="8667598"/>
            <a:ext cx="16059607" cy="571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1143000" y="8667598"/>
            <a:ext cx="57607" cy="57150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gen-dedup-e2206c5c145e55646b7e2bc1a9630edc.png"/>
          <p:cNvPicPr>
            <a:picLocks noChangeAspect="1"/>
          </p:cNvPicPr>
          <p:nvPr/>
        </p:nvPicPr>
        <p:blipFill>
          <a:blip r:embed="rId3"/>
          <a:srcRect l="-406" r="-406"/>
          <a:stretch/>
        </p:blipFill>
        <p:spPr>
          <a:xfrm>
            <a:off x="13811098" y="1619402"/>
            <a:ext cx="57607" cy="1238098"/>
          </a:xfrm>
          <a:prstGeom prst="rect">
            <a:avLst/>
          </a:prstGeom>
        </p:spPr>
      </p:pic>
      <p:pic>
        <p:nvPicPr>
          <p:cNvPr id="20" name="Image 2" descr="gen-dedup-4a6225ff38331e41c93b5ddbe721532f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1143000" y="3143707"/>
            <a:ext cx="57607" cy="5333695"/>
          </a:xfrm>
          <a:prstGeom prst="rect">
            <a:avLst/>
          </a:prstGeom>
        </p:spPr>
      </p:pic>
      <p:pic>
        <p:nvPicPr>
          <p:cNvPr id="21" name="Image 3" descr="gen-dedup-4a6225ff38331e41c93b5ddbe721532f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4381805" y="3143707"/>
            <a:ext cx="57607" cy="5333695"/>
          </a:xfrm>
          <a:prstGeom prst="rect">
            <a:avLst/>
          </a:prstGeom>
        </p:spPr>
      </p:pic>
      <p:pic>
        <p:nvPicPr>
          <p:cNvPr id="22" name="Image 4" descr="gen-dedup-4a6225ff38331e41c93b5ddbe721532f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7619695" y="3143707"/>
            <a:ext cx="57607" cy="5333695"/>
          </a:xfrm>
          <a:prstGeom prst="rect">
            <a:avLst/>
          </a:prstGeom>
        </p:spPr>
      </p:pic>
      <p:pic>
        <p:nvPicPr>
          <p:cNvPr id="23" name="Image 5" descr="gen-dedup-4a6225ff38331e41c93b5ddbe721532f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10858500" y="3143707"/>
            <a:ext cx="57607" cy="5333695"/>
          </a:xfrm>
          <a:prstGeom prst="rect">
            <a:avLst/>
          </a:prstGeom>
        </p:spPr>
      </p:pic>
      <p:pic>
        <p:nvPicPr>
          <p:cNvPr id="24" name="Image 6" descr="gen-dedup-e50930dc8c724121c43b4a9195406cef.png"/>
          <p:cNvPicPr>
            <a:picLocks noChangeAspect="1"/>
          </p:cNvPicPr>
          <p:nvPr/>
        </p:nvPicPr>
        <p:blipFill>
          <a:blip r:embed="rId5"/>
          <a:srcRect l="-403" r="-403"/>
          <a:stretch/>
        </p:blipFill>
        <p:spPr>
          <a:xfrm>
            <a:off x="14097305" y="3143707"/>
            <a:ext cx="57607" cy="533369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03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3238805" y="761695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종이 한 장 · 12분 · </a:t>
            </a: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기억나는 만큼만 적습니다</a:t>
            </a:r>
            <a:endParaRPr lang="en-US" sz="1550" dirty="0"/>
          </a:p>
        </p:txBody>
      </p:sp>
      <p:sp>
        <p:nvSpPr>
          <p:cNvPr id="27" name="Text 18"/>
          <p:cNvSpPr txBox="1"/>
          <p:nvPr/>
        </p:nvSpPr>
        <p:spPr>
          <a:xfrm>
            <a:off x="1143000" y="1695298"/>
            <a:ext cx="11430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내 강사 자산을 다섯 칸에 모두 적어보세요.</a:t>
            </a:r>
            <a:endParaRPr lang="en-US" sz="4350" dirty="0"/>
          </a:p>
        </p:txBody>
      </p:sp>
      <p:pic>
        <p:nvPicPr>
          <p:cNvPr id="28" name="Image 7" descr="gen-dedup-27d062dff674067c162ae25c57f9607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058900" y="1848002"/>
            <a:ext cx="571500" cy="5715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4763902" y="1752905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7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TIMER</a:t>
            </a:r>
            <a:endParaRPr lang="en-US" sz="1500" dirty="0"/>
          </a:p>
        </p:txBody>
      </p:sp>
      <p:sp>
        <p:nvSpPr>
          <p:cNvPr id="30" name="Text 20"/>
          <p:cNvSpPr txBox="1"/>
          <p:nvPr/>
        </p:nvSpPr>
        <p:spPr>
          <a:xfrm>
            <a:off x="14763902" y="2018995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5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r>
              <a:rPr lang="en-US" sz="210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min</a:t>
            </a:r>
            <a:endParaRPr lang="en-US" sz="3850" dirty="0"/>
          </a:p>
        </p:txBody>
      </p:sp>
      <p:sp>
        <p:nvSpPr>
          <p:cNvPr id="31" name="Text 21"/>
          <p:cNvSpPr txBox="1"/>
          <p:nvPr/>
        </p:nvSpPr>
        <p:spPr>
          <a:xfrm>
            <a:off x="1143000" y="2533802"/>
            <a:ext cx="12382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도움말 · “좋은 자산만 적을 필요 없습니다. 기억나는 모든 것을 일단 칸에.”</a:t>
            </a:r>
            <a:endParaRPr lang="en-US" sz="1650" dirty="0"/>
          </a:p>
        </p:txBody>
      </p:sp>
      <p:sp>
        <p:nvSpPr>
          <p:cNvPr id="32" name="Text 22"/>
          <p:cNvSpPr txBox="1"/>
          <p:nvPr/>
        </p:nvSpPr>
        <p:spPr>
          <a:xfrm>
            <a:off x="1352398" y="3372307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 01</a:t>
            </a:r>
            <a:endParaRPr lang="en-US" sz="1500" dirty="0"/>
          </a:p>
        </p:txBody>
      </p:sp>
      <p:sp>
        <p:nvSpPr>
          <p:cNvPr id="33" name="Text 23"/>
          <p:cNvSpPr txBox="1"/>
          <p:nvPr/>
        </p:nvSpPr>
        <p:spPr>
          <a:xfrm>
            <a:off x="1352398" y="3676802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경력</a:t>
            </a:r>
            <a:endParaRPr lang="en-US" sz="2300" dirty="0"/>
          </a:p>
        </p:txBody>
      </p:sp>
      <p:sp>
        <p:nvSpPr>
          <p:cNvPr id="34" name="Text 24"/>
          <p:cNvSpPr txBox="1"/>
          <p:nvPr/>
        </p:nvSpPr>
        <p:spPr>
          <a:xfrm>
            <a:off x="1352398" y="4172407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회사·직책·기간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경력 이전 포함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1485900" y="4914900"/>
            <a:ext cx="2362810" cy="3238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</p:txBody>
      </p:sp>
      <p:sp>
        <p:nvSpPr>
          <p:cNvPr id="36" name="Text 26"/>
          <p:cNvSpPr txBox="1"/>
          <p:nvPr/>
        </p:nvSpPr>
        <p:spPr>
          <a:xfrm>
            <a:off x="4591202" y="3372307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 02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4591202" y="3676802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자격·학력</a:t>
            </a:r>
            <a:endParaRPr lang="en-US" sz="2300" dirty="0"/>
          </a:p>
        </p:txBody>
      </p:sp>
      <p:sp>
        <p:nvSpPr>
          <p:cNvPr id="38" name="Text 28"/>
          <p:cNvSpPr txBox="1"/>
          <p:nvPr/>
        </p:nvSpPr>
        <p:spPr>
          <a:xfrm>
            <a:off x="4591202" y="4172407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학위·자격증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수료증·교육이수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4724705" y="4914900"/>
            <a:ext cx="2362810" cy="3238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</p:txBody>
      </p:sp>
      <p:sp>
        <p:nvSpPr>
          <p:cNvPr id="40" name="Text 30"/>
          <p:cNvSpPr txBox="1"/>
          <p:nvPr/>
        </p:nvSpPr>
        <p:spPr>
          <a:xfrm>
            <a:off x="7830007" y="3372307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 03</a:t>
            </a:r>
            <a:endParaRPr lang="en-US" sz="1500" dirty="0"/>
          </a:p>
        </p:txBody>
      </p:sp>
      <p:sp>
        <p:nvSpPr>
          <p:cNvPr id="41" name="Text 31"/>
          <p:cNvSpPr txBox="1"/>
          <p:nvPr/>
        </p:nvSpPr>
        <p:spPr>
          <a:xfrm>
            <a:off x="7830007" y="3676802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 경험</a:t>
            </a:r>
            <a:endParaRPr lang="en-US" sz="2300" dirty="0"/>
          </a:p>
        </p:txBody>
      </p:sp>
      <p:sp>
        <p:nvSpPr>
          <p:cNvPr id="42" name="Text 32"/>
          <p:cNvSpPr txBox="1"/>
          <p:nvPr/>
        </p:nvSpPr>
        <p:spPr>
          <a:xfrm>
            <a:off x="7830007" y="4172407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강의·교육·발표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1회짜리도 포함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7962595" y="4914900"/>
            <a:ext cx="2362810" cy="3238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</p:txBody>
      </p:sp>
      <p:sp>
        <p:nvSpPr>
          <p:cNvPr id="44" name="Text 34"/>
          <p:cNvSpPr txBox="1"/>
          <p:nvPr/>
        </p:nvSpPr>
        <p:spPr>
          <a:xfrm>
            <a:off x="11067898" y="3372307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 04</a:t>
            </a:r>
            <a:endParaRPr lang="en-US" sz="1500" dirty="0"/>
          </a:p>
        </p:txBody>
      </p:sp>
      <p:sp>
        <p:nvSpPr>
          <p:cNvPr id="45" name="Text 35"/>
          <p:cNvSpPr txBox="1"/>
          <p:nvPr/>
        </p:nvSpPr>
        <p:spPr>
          <a:xfrm>
            <a:off x="11067898" y="3676802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프로젝트</a:t>
            </a:r>
            <a:endParaRPr lang="en-US" sz="2300" dirty="0"/>
          </a:p>
        </p:txBody>
      </p:sp>
      <p:sp>
        <p:nvSpPr>
          <p:cNvPr id="46" name="Text 36"/>
          <p:cNvSpPr txBox="1"/>
          <p:nvPr/>
        </p:nvSpPr>
        <p:spPr>
          <a:xfrm>
            <a:off x="11067898" y="4172407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컨설팅·자문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실무 프로젝트</a:t>
            </a:r>
            <a:endParaRPr lang="en-US" sz="1500" dirty="0"/>
          </a:p>
        </p:txBody>
      </p:sp>
      <p:sp>
        <p:nvSpPr>
          <p:cNvPr id="47" name="Text 37"/>
          <p:cNvSpPr txBox="1"/>
          <p:nvPr/>
        </p:nvSpPr>
        <p:spPr>
          <a:xfrm>
            <a:off x="11201400" y="4914900"/>
            <a:ext cx="2362810" cy="3238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</p:txBody>
      </p:sp>
      <p:sp>
        <p:nvSpPr>
          <p:cNvPr id="48" name="Text 38"/>
          <p:cNvSpPr txBox="1"/>
          <p:nvPr/>
        </p:nvSpPr>
        <p:spPr>
          <a:xfrm>
            <a:off x="14306702" y="3372307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 05</a:t>
            </a:r>
            <a:endParaRPr lang="en-US" sz="1500" dirty="0"/>
          </a:p>
        </p:txBody>
      </p:sp>
      <p:sp>
        <p:nvSpPr>
          <p:cNvPr id="49" name="Text 39"/>
          <p:cNvSpPr txBox="1"/>
          <p:nvPr/>
        </p:nvSpPr>
        <p:spPr>
          <a:xfrm>
            <a:off x="14306702" y="3676802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콘텐츠</a:t>
            </a:r>
            <a:endParaRPr lang="en-US" sz="2300" dirty="0"/>
          </a:p>
        </p:txBody>
      </p:sp>
      <p:sp>
        <p:nvSpPr>
          <p:cNvPr id="50" name="Text 40"/>
          <p:cNvSpPr txBox="1"/>
          <p:nvPr/>
        </p:nvSpPr>
        <p:spPr>
          <a:xfrm>
            <a:off x="14306702" y="4172407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유튜브·블로그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책·뉴스레터</a:t>
            </a:r>
            <a:endParaRPr lang="en-US" sz="1500" dirty="0"/>
          </a:p>
        </p:txBody>
      </p:sp>
      <p:sp>
        <p:nvSpPr>
          <p:cNvPr id="51" name="Text 41"/>
          <p:cNvSpPr txBox="1"/>
          <p:nvPr/>
        </p:nvSpPr>
        <p:spPr>
          <a:xfrm>
            <a:off x="14440205" y="4914900"/>
            <a:ext cx="2362810" cy="3238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</a:t>
            </a:r>
            <a:endParaRPr lang="en-US" sz="1700" dirty="0"/>
          </a:p>
        </p:txBody>
      </p:sp>
      <p:sp>
        <p:nvSpPr>
          <p:cNvPr id="52" name="Text 42"/>
          <p:cNvSpPr txBox="1"/>
          <p:nvPr/>
        </p:nvSpPr>
        <p:spPr>
          <a:xfrm>
            <a:off x="1429207" y="8810244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종이가 — 슬라이드 39의 정체성 문장, 41의 분야 분류, 43의 실적 표 모두의 입력값이 됩니다. </a:t>
            </a:r>
            <a:r>
              <a:rPr lang="en-US" sz="15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버리지 마세요.</a:t>
            </a:r>
            <a:endParaRPr lang="en-US" sz="1550" dirty="0"/>
          </a:p>
        </p:txBody>
      </p:sp>
      <p:sp>
        <p:nvSpPr>
          <p:cNvPr id="53" name="Text 43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03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38 / 60</a:t>
            </a:r>
            <a:endParaRPr lang="en-US" sz="15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42091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5286146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47495" y="4324198"/>
            <a:ext cx="476402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447495" y="6286500"/>
            <a:ext cx="4677156" cy="1923898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505956" y="2952598"/>
            <a:ext cx="5286146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6810451" y="4324198"/>
            <a:ext cx="476402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810451" y="6286500"/>
            <a:ext cx="4677156" cy="1923898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11867998" y="2952598"/>
            <a:ext cx="5277002" cy="53336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gen-dedup-f9c4ee4670abd4f2604d62cf7153445d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2173407" y="4324198"/>
            <a:ext cx="476402" cy="2834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2173407" y="6286500"/>
            <a:ext cx="4686300" cy="192389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gen-dedup-4176338c8211820e0afb13fbe02cb5d7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1143000" y="2952598"/>
            <a:ext cx="5266944" cy="75895"/>
          </a:xfrm>
          <a:prstGeom prst="rect">
            <a:avLst/>
          </a:prstGeom>
        </p:spPr>
      </p:pic>
      <p:pic>
        <p:nvPicPr>
          <p:cNvPr id="15" name="Image 5" descr="gen-dedup-4176338c8211820e0afb13fbe02cb5d7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6505956" y="2952598"/>
            <a:ext cx="5266944" cy="75895"/>
          </a:xfrm>
          <a:prstGeom prst="rect">
            <a:avLst/>
          </a:prstGeom>
        </p:spPr>
      </p:pic>
      <p:pic>
        <p:nvPicPr>
          <p:cNvPr id="16" name="Image 6" descr="gen-dedup-169a695c70329b79560b7ee965e059da.png"/>
          <p:cNvPicPr>
            <a:picLocks noChangeAspect="1"/>
          </p:cNvPicPr>
          <p:nvPr/>
        </p:nvPicPr>
        <p:blipFill>
          <a:blip r:embed="rId6"/>
          <a:srcRect l="-202" r="-202"/>
          <a:stretch/>
        </p:blipFill>
        <p:spPr>
          <a:xfrm>
            <a:off x="11867998" y="2952598"/>
            <a:ext cx="5277002" cy="7589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 · IDENTITY · 누구를·어떤 문제를·어떻게</a:t>
            </a:r>
            <a:endParaRPr lang="en-US" sz="1550" dirty="0"/>
          </a:p>
        </p:txBody>
      </p:sp>
      <p:sp>
        <p:nvSpPr>
          <p:cNvPr id="18" name="Text 9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“나는 어떤 강사인가” — 세 개의 칸으로.</a:t>
            </a:r>
            <a:endParaRPr lang="en-US" sz="4500" dirty="0"/>
          </a:p>
        </p:txBody>
      </p:sp>
      <p:sp>
        <p:nvSpPr>
          <p:cNvPr id="19" name="Text 10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세 칸이 채워지면 다음 슬라이드의 “한 문장 소개”가 자동으로 나옵니다.</a:t>
            </a:r>
            <a:endParaRPr lang="en-US" sz="1700" dirty="0"/>
          </a:p>
        </p:txBody>
      </p:sp>
      <p:sp>
        <p:nvSpPr>
          <p:cNvPr id="20" name="Text 11"/>
          <p:cNvSpPr txBox="1"/>
          <p:nvPr/>
        </p:nvSpPr>
        <p:spPr>
          <a:xfrm>
            <a:off x="1447495" y="3200400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01 · WHO</a:t>
            </a:r>
            <a:endParaRPr lang="en-US" sz="1500" dirty="0"/>
          </a:p>
        </p:txBody>
      </p:sp>
      <p:sp>
        <p:nvSpPr>
          <p:cNvPr id="21" name="Text 12"/>
          <p:cNvSpPr txBox="1"/>
          <p:nvPr/>
        </p:nvSpPr>
        <p:spPr>
          <a:xfrm>
            <a:off x="1447495" y="3504895"/>
            <a:ext cx="46579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누구를</a:t>
            </a:r>
            <a:endParaRPr lang="en-US" sz="2950" dirty="0"/>
          </a:p>
        </p:txBody>
      </p:sp>
      <p:sp>
        <p:nvSpPr>
          <p:cNvPr id="22" name="Text 13"/>
          <p:cNvSpPr txBox="1"/>
          <p:nvPr/>
        </p:nvSpPr>
        <p:spPr>
          <a:xfrm>
            <a:off x="1447495" y="4572000"/>
            <a:ext cx="4657954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당신의 강의를 가장 필요로 하는 사람.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“직장인 전체”가 아니라 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“40대 이상, 강의 경력 0인 전직 직장인”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처럼 좁게.</a:t>
            </a:r>
            <a:endParaRPr lang="en-US" sz="1650" dirty="0"/>
          </a:p>
        </p:txBody>
      </p:sp>
      <p:sp>
        <p:nvSpPr>
          <p:cNvPr id="23" name="Text 14"/>
          <p:cNvSpPr txBox="1"/>
          <p:nvPr/>
        </p:nvSpPr>
        <p:spPr>
          <a:xfrm>
            <a:off x="1447495" y="5962802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예시 입력</a:t>
            </a:r>
            <a:endParaRPr lang="en-US" sz="1500" dirty="0"/>
          </a:p>
        </p:txBody>
      </p:sp>
      <p:sp>
        <p:nvSpPr>
          <p:cNvPr id="24" name="Text 15"/>
          <p:cNvSpPr txBox="1"/>
          <p:nvPr/>
        </p:nvSpPr>
        <p:spPr>
          <a:xfrm>
            <a:off x="1619402" y="6476695"/>
            <a:ext cx="4315054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“중소기업 인사담당자 40명 규모”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“40대 이상, 강의 경력 없는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예비 강사”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“스타트업 마케팅 주니어”</a:t>
            </a:r>
            <a:endParaRPr lang="en-US" sz="1550" dirty="0"/>
          </a:p>
        </p:txBody>
      </p:sp>
      <p:sp>
        <p:nvSpPr>
          <p:cNvPr id="25" name="Text 16"/>
          <p:cNvSpPr txBox="1"/>
          <p:nvPr/>
        </p:nvSpPr>
        <p:spPr>
          <a:xfrm>
            <a:off x="6810451" y="3200400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02 · WHAT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6810451" y="3504895"/>
            <a:ext cx="46579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어떤 문제를</a:t>
            </a:r>
            <a:endParaRPr lang="en-US" sz="2950" dirty="0"/>
          </a:p>
        </p:txBody>
      </p:sp>
      <p:sp>
        <p:nvSpPr>
          <p:cNvPr id="27" name="Text 18"/>
          <p:cNvSpPr txBox="1"/>
          <p:nvPr/>
        </p:nvSpPr>
        <p:spPr>
          <a:xfrm>
            <a:off x="6810451" y="4572000"/>
            <a:ext cx="4657954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당신이 풀어줄 수강생의 진짜 문제.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“지식 부족”이 아니라 </a:t>
            </a:r>
            <a:r>
              <a:rPr lang="en-US" sz="16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“월요일 아침에 무엇부터 해야 할지 모름”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처럼 구체적으로.</a:t>
            </a:r>
            <a:endParaRPr lang="en-US" sz="1650" dirty="0"/>
          </a:p>
        </p:txBody>
      </p:sp>
      <p:sp>
        <p:nvSpPr>
          <p:cNvPr id="28" name="Text 19"/>
          <p:cNvSpPr txBox="1"/>
          <p:nvPr/>
        </p:nvSpPr>
        <p:spPr>
          <a:xfrm>
            <a:off x="6810451" y="5962802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예시 입력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6981444" y="6476695"/>
            <a:ext cx="4315054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“채용 면접 질문 설계 못함”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“강사로 어떻게 시작할지 모름”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“퍼포먼스 마케팅 보고서를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팀장이 못 알아봄”</a:t>
            </a:r>
            <a:endParaRPr lang="en-US" sz="1550" dirty="0"/>
          </a:p>
        </p:txBody>
      </p:sp>
      <p:sp>
        <p:nvSpPr>
          <p:cNvPr id="30" name="Text 21"/>
          <p:cNvSpPr txBox="1"/>
          <p:nvPr/>
        </p:nvSpPr>
        <p:spPr>
          <a:xfrm>
            <a:off x="12173407" y="3200400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03 · HOW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12173407" y="3504895"/>
            <a:ext cx="46680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어떻게 해결</a:t>
            </a:r>
            <a:endParaRPr lang="en-US" sz="2950" dirty="0"/>
          </a:p>
        </p:txBody>
      </p:sp>
      <p:sp>
        <p:nvSpPr>
          <p:cNvPr id="32" name="Text 23"/>
          <p:cNvSpPr txBox="1"/>
          <p:nvPr/>
        </p:nvSpPr>
        <p:spPr>
          <a:xfrm>
            <a:off x="12173407" y="4572000"/>
            <a:ext cx="466801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당신만의 방법 — 강의 후 수강생이 손에 들고 나가는 결과물 형태로.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“알게 한다”가 아니라 “OO을 만들게 한다”.</a:t>
            </a:r>
            <a:endParaRPr lang="en-US" sz="1650" dirty="0"/>
          </a:p>
        </p:txBody>
      </p:sp>
      <p:sp>
        <p:nvSpPr>
          <p:cNvPr id="33" name="Text 24"/>
          <p:cNvSpPr txBox="1"/>
          <p:nvPr/>
        </p:nvSpPr>
        <p:spPr>
          <a:xfrm>
            <a:off x="12173407" y="5962802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FBD2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예시 입력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12344400" y="6476695"/>
            <a:ext cx="4325112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“면접 질문지 1쪽 직접 작성”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“본인 강의용 제안서 초안 1개”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“1쪽 마케팅 보고서 템플릿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완성”</a:t>
            </a:r>
            <a:endParaRPr lang="en-US" sz="1550" dirty="0"/>
          </a:p>
        </p:txBody>
      </p:sp>
      <p:sp>
        <p:nvSpPr>
          <p:cNvPr id="35" name="Text 26"/>
          <p:cNvSpPr txBox="1"/>
          <p:nvPr/>
        </p:nvSpPr>
        <p:spPr>
          <a:xfrm>
            <a:off x="1143000" y="8572500"/>
            <a:ext cx="1600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세 칸이 명확할수록 — 의뢰처가 “이 강사가 우리 회사 어디에 맞다”까지 30초 안에 답합니다.</a:t>
            </a:r>
            <a:endParaRPr lang="en-US" sz="2100" dirty="0"/>
          </a:p>
        </p:txBody>
      </p:sp>
      <p:sp>
        <p:nvSpPr>
          <p:cNvPr id="36" name="Text 27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39 / 60</a:t>
            </a:r>
            <a:endParaRPr lang="en-US" sz="15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88796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21202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5143500"/>
            <a:ext cx="5286146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25ec411562f5c9542e7a3a87ef2211c8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2083" r="-2083"/>
          <a:stretch/>
        </p:blipFill>
        <p:spPr>
          <a:xfrm>
            <a:off x="1447495" y="5734202"/>
            <a:ext cx="4657954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05956" y="5143500"/>
            <a:ext cx="5286146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25ec411562f5c9542e7a3a87ef2211c8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2083" r="-2083"/>
          <a:stretch/>
        </p:blipFill>
        <p:spPr>
          <a:xfrm>
            <a:off x="6810451" y="5734202"/>
            <a:ext cx="465795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867998" y="5143500"/>
            <a:ext cx="5277002" cy="30476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gen-dedup-44e6b1e377adc6178750e28381b8b437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2083" r="-2083"/>
          <a:stretch/>
        </p:blipFill>
        <p:spPr>
          <a:xfrm>
            <a:off x="12173407" y="5734202"/>
            <a:ext cx="4667098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143000" y="8572500"/>
            <a:ext cx="16059607" cy="761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143000" y="8572500"/>
            <a:ext cx="57607" cy="761695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gen-dedup-63d12b76f41a1309aa2123824ae7256d.png"/>
          <p:cNvPicPr>
            <a:picLocks noChangeAspect="1"/>
          </p:cNvPicPr>
          <p:nvPr/>
        </p:nvPicPr>
        <p:blipFill>
          <a:blip r:embed="rId5"/>
          <a:srcRect t="-404" b="-404"/>
          <a:stretch/>
        </p:blipFill>
        <p:spPr>
          <a:xfrm>
            <a:off x="1143000" y="5143500"/>
            <a:ext cx="5266944" cy="57607"/>
          </a:xfrm>
          <a:prstGeom prst="rect">
            <a:avLst/>
          </a:prstGeom>
        </p:spPr>
      </p:pic>
      <p:pic>
        <p:nvPicPr>
          <p:cNvPr id="15" name="Image 5" descr="gen-dedup-63d12b76f41a1309aa2123824ae7256d.png"/>
          <p:cNvPicPr>
            <a:picLocks noChangeAspect="1"/>
          </p:cNvPicPr>
          <p:nvPr/>
        </p:nvPicPr>
        <p:blipFill>
          <a:blip r:embed="rId5"/>
          <a:srcRect t="-404" b="-404"/>
          <a:stretch/>
        </p:blipFill>
        <p:spPr>
          <a:xfrm>
            <a:off x="6505956" y="5143500"/>
            <a:ext cx="5266944" cy="57607"/>
          </a:xfrm>
          <a:prstGeom prst="rect">
            <a:avLst/>
          </a:prstGeom>
        </p:spPr>
      </p:pic>
      <p:pic>
        <p:nvPicPr>
          <p:cNvPr id="16" name="Image 6" descr="gen-dedup-1628c8bf63e851a51a9c4956ecb089dd.png"/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1867998" y="5143500"/>
            <a:ext cx="5277002" cy="57607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· ONE-SENTENCE PITCH · 모든 채널의 첫 줄</a:t>
            </a:r>
            <a:endParaRPr lang="en-US" sz="1550" dirty="0"/>
          </a:p>
        </p:txBody>
      </p:sp>
      <p:sp>
        <p:nvSpPr>
          <p:cNvPr id="18" name="Text 9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한 문장. 빈칸은 두 개뿐이다.</a:t>
            </a:r>
            <a:endParaRPr lang="en-US" sz="4500" dirty="0"/>
          </a:p>
        </p:txBody>
      </p:sp>
      <p:sp>
        <p:nvSpPr>
          <p:cNvPr id="19" name="Text 10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문장이 — 표지 상단, 메일 서명, 인스타 프로필, 명함 뒷면에 그대로 들어갑니다.</a:t>
            </a:r>
            <a:endParaRPr lang="en-US" sz="1700" dirty="0"/>
          </a:p>
        </p:txBody>
      </p:sp>
      <p:sp>
        <p:nvSpPr>
          <p:cNvPr id="20" name="Text 11"/>
          <p:cNvSpPr txBox="1"/>
          <p:nvPr/>
        </p:nvSpPr>
        <p:spPr>
          <a:xfrm>
            <a:off x="1143000" y="3200400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kern="0" spc="189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공식</a:t>
            </a:r>
            <a:endParaRPr lang="en-US" sz="1500" dirty="0"/>
          </a:p>
        </p:txBody>
      </p:sp>
      <p:sp>
        <p:nvSpPr>
          <p:cNvPr id="21" name="Text 12"/>
          <p:cNvSpPr txBox="1"/>
          <p:nvPr/>
        </p:nvSpPr>
        <p:spPr>
          <a:xfrm>
            <a:off x="1143000" y="3619195"/>
            <a:ext cx="16002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550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저는 </a:t>
            </a:r>
            <a:r>
              <a:rPr lang="en-US" sz="35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[누구]</a:t>
            </a:r>
            <a:r>
              <a:rPr lang="en-US" sz="3550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대상에게</a:t>
            </a:r>
            <a:endParaRPr lang="en-US" sz="35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5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[어떤 역량/결과물]</a:t>
            </a:r>
            <a:r>
              <a:rPr lang="en-US" sz="3550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을 만들어주는 강사입니다.</a:t>
            </a:r>
            <a:endParaRPr lang="en-US" sz="3550" dirty="0"/>
          </a:p>
        </p:txBody>
      </p:sp>
      <p:sp>
        <p:nvSpPr>
          <p:cNvPr id="22" name="Text 13"/>
          <p:cNvSpPr txBox="1"/>
          <p:nvPr/>
        </p:nvSpPr>
        <p:spPr>
          <a:xfrm>
            <a:off x="1447495" y="5372100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예시 01 · 강사 트레이너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1447495" y="5943600"/>
            <a:ext cx="4657954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저는 </a:t>
            </a:r>
            <a:r>
              <a:rPr lang="en-US" sz="21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40대 이상 강의 경력 없는 예비 강사</a:t>
            </a:r>
            <a:r>
              <a:rPr lang="en-US" sz="2100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에게</a:t>
            </a:r>
            <a:endParaRPr lang="en-US" sz="2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3개월 안에 첫 강의를 수주할 수 있는 제안서·커리큘럼·포트폴리오</a:t>
            </a:r>
            <a:r>
              <a:rPr lang="en-US" sz="2100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를 만들어주는 강사입니다.</a:t>
            </a:r>
            <a:endParaRPr lang="en-US" sz="2100" dirty="0"/>
          </a:p>
        </p:txBody>
      </p:sp>
      <p:sp>
        <p:nvSpPr>
          <p:cNvPr id="24" name="Text 15"/>
          <p:cNvSpPr txBox="1"/>
          <p:nvPr/>
        </p:nvSpPr>
        <p:spPr>
          <a:xfrm>
            <a:off x="6810451" y="5372100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예시 02 · AI 활용 강사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6810451" y="5943600"/>
            <a:ext cx="4657954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저는 </a:t>
            </a:r>
            <a:r>
              <a:rPr lang="en-US" sz="21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중소기업 인사·교육 담당자</a:t>
            </a:r>
            <a:r>
              <a:rPr lang="en-US" sz="2100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에게</a:t>
            </a:r>
            <a:endParaRPr lang="en-US" sz="2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월요일에 바로 쓸 수 있는 AI 활용 업무 자동화 1개</a:t>
            </a:r>
            <a:r>
              <a:rPr lang="en-US" sz="2100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를 만들어주는 강사입니다.</a:t>
            </a:r>
            <a:endParaRPr lang="en-US" sz="2100" dirty="0"/>
          </a:p>
        </p:txBody>
      </p:sp>
      <p:sp>
        <p:nvSpPr>
          <p:cNvPr id="26" name="Text 17"/>
          <p:cNvSpPr txBox="1"/>
          <p:nvPr/>
        </p:nvSpPr>
        <p:spPr>
          <a:xfrm>
            <a:off x="12173407" y="5372100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예시 03 · 안 좋은 예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12173407" y="5943600"/>
            <a:ext cx="4668012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F4F1E8">
                    <a:alpha val="95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저는 </a:t>
            </a:r>
            <a:r>
              <a:rPr lang="en-US" sz="1900" dirty="0">
                <a:solidFill>
                  <a:srgbClr val="FFBD2E">
                    <a:alpha val="95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기업·기관·일반인</a:t>
            </a:r>
            <a:r>
              <a:rPr lang="en-US" sz="1900" dirty="0">
                <a:solidFill>
                  <a:srgbClr val="F4F1E8">
                    <a:alpha val="95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을 대상으로</a:t>
            </a:r>
            <a:endParaRPr lang="en-US" sz="19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FFBD2E">
                    <a:alpha val="95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리더십·소통·동기부여 등 다양한 주제</a:t>
            </a:r>
            <a:r>
              <a:rPr lang="en-US" sz="1900" dirty="0">
                <a:solidFill>
                  <a:srgbClr val="F4F1E8">
                    <a:alpha val="95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를 가르치는 강사입니다.</a:t>
            </a:r>
            <a:endParaRPr lang="en-US" sz="1900" dirty="0"/>
          </a:p>
          <a:p>
            <a:pPr marL="0" indent="0" algn="l">
              <a:lnSpc>
                <a:spcPct val="110000"/>
              </a:lnSpc>
              <a:buNone/>
            </a:pPr>
            <a:endParaRPr lang="en-US" sz="19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누구도 자기 일이라고 느끼지 않는 문장.</a:t>
            </a:r>
            <a:endParaRPr lang="en-US" sz="1900" dirty="0"/>
          </a:p>
        </p:txBody>
      </p:sp>
      <p:sp>
        <p:nvSpPr>
          <p:cNvPr id="28" name="Text 19"/>
          <p:cNvSpPr txBox="1"/>
          <p:nvPr/>
        </p:nvSpPr>
        <p:spPr>
          <a:xfrm>
            <a:off x="1429207" y="8706002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체크 — 좋은 한 문장의 조건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1429207" y="8991295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대상이 자기 자신을 본 듯이 인식 · ② 결과물이 명사로 떠올라야 · ③ 다른 강사가 따라 쓰지 못함</a:t>
            </a:r>
            <a:endParaRPr lang="en-US" sz="1700" dirty="0"/>
          </a:p>
        </p:txBody>
      </p:sp>
      <p:sp>
        <p:nvSpPr>
          <p:cNvPr id="30" name="Text 21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40 / 60</a:t>
            </a:r>
            <a:endParaRPr lang="en-US" sz="15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580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21202" cy="1733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4858207"/>
            <a:ext cx="16021202" cy="1733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6762902"/>
            <a:ext cx="16002000" cy="17145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193543a1cff0b285b5b233e749cf34bd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1143000" y="2952598"/>
            <a:ext cx="75895" cy="1714500"/>
          </a:xfrm>
          <a:prstGeom prst="rect">
            <a:avLst/>
          </a:prstGeom>
        </p:spPr>
      </p:pic>
      <p:pic>
        <p:nvPicPr>
          <p:cNvPr id="9" name="Image 2" descr="gen-dedup-193543a1cff0b285b5b233e749cf34bd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1143000" y="4858207"/>
            <a:ext cx="75895" cy="1714500"/>
          </a:xfrm>
          <a:prstGeom prst="rect">
            <a:avLst/>
          </a:prstGeom>
        </p:spPr>
      </p:pic>
      <p:pic>
        <p:nvPicPr>
          <p:cNvPr id="10" name="Image 3" descr="gen-dedup-c78301c8e62388393b9eb57bb6cfd8f9.png"/>
          <p:cNvPicPr>
            <a:picLocks noChangeAspect="1"/>
          </p:cNvPicPr>
          <p:nvPr/>
        </p:nvPicPr>
        <p:blipFill>
          <a:blip r:embed="rId4"/>
          <a:srcRect t="-201" b="-201"/>
          <a:stretch/>
        </p:blipFill>
        <p:spPr>
          <a:xfrm>
            <a:off x="1143000" y="6762902"/>
            <a:ext cx="75895" cy="17145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 · FIELD CLASSIFICATION · 주력·확장·미래 — 세 동심원</a:t>
            </a:r>
            <a:endParaRPr lang="en-US" sz="155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“모든 걸 다 한다”는 “아무것도 못 한다”다.</a:t>
            </a:r>
            <a:endParaRPr lang="en-US" sz="45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분야는 항상 셋. 더 많으면 메시지가 흐려지고, 더 적으면 의뢰 채널이 좁아집니다.</a:t>
            </a:r>
            <a:endParaRPr lang="en-US" sz="1700" dirty="0"/>
          </a:p>
        </p:txBody>
      </p:sp>
      <p:sp>
        <p:nvSpPr>
          <p:cNvPr id="14" name="Text 8"/>
          <p:cNvSpPr txBox="1"/>
          <p:nvPr/>
        </p:nvSpPr>
        <p:spPr>
          <a:xfrm>
            <a:off x="1524305" y="312450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3750" dirty="0"/>
          </a:p>
        </p:txBody>
      </p:sp>
      <p:sp>
        <p:nvSpPr>
          <p:cNvPr id="15" name="Text 9"/>
          <p:cNvSpPr txBox="1"/>
          <p:nvPr/>
        </p:nvSpPr>
        <p:spPr>
          <a:xfrm>
            <a:off x="1524305" y="3715207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· 80%의 시간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524305" y="4000500"/>
            <a:ext cx="2667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주력 분야</a:t>
            </a:r>
            <a:endParaRPr lang="en-US" sz="2650" dirty="0"/>
          </a:p>
        </p:txBody>
      </p:sp>
      <p:sp>
        <p:nvSpPr>
          <p:cNvPr id="17" name="Text 11"/>
          <p:cNvSpPr txBox="1"/>
          <p:nvPr/>
        </p:nvSpPr>
        <p:spPr>
          <a:xfrm>
            <a:off x="4572000" y="3161995"/>
            <a:ext cx="8759252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가장 많이 의뢰받고, 가장 잘하는 영역. 1~2개로 좁혀야 합니다.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포트폴리오의 60~70%가 여기서 나옵니다. </a:t>
            </a: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 강의·실적·후기 모두 이 분야 중심.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3521447" y="3161995"/>
            <a:ext cx="3433358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“강사 양성 — 예비 강사 대상”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“AI 업무 활용 — 사무직 대상”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“퍼포먼스 마케팅 — 스타트업 대상”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524305" y="5029200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3750" dirty="0"/>
          </a:p>
        </p:txBody>
      </p:sp>
      <p:sp>
        <p:nvSpPr>
          <p:cNvPr id="20" name="Text 14"/>
          <p:cNvSpPr txBox="1"/>
          <p:nvPr/>
        </p:nvSpPr>
        <p:spPr>
          <a:xfrm>
            <a:off x="1524305" y="5619902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ADJACENT · 15%의 시간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524305" y="5905195"/>
            <a:ext cx="2667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확장 분야</a:t>
            </a:r>
            <a:endParaRPr lang="en-US" sz="26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0" y="5067605"/>
            <a:ext cx="8759252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주력 옆에 붙어있는 영역. 가끔 의뢰가 오면 거절하지 않고 받는 분야.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주력과 다른 사람에게는 “다 한다”로 보이지 않습니다. </a:t>
            </a:r>
            <a:r>
              <a:rPr lang="en-US" sz="170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관련성이 핵심.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3521447" y="5067605"/>
            <a:ext cx="3433358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(주력=강사 양성)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“1인 지식 비즈니스”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“강의 영상 만들기”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524305" y="693389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3750" dirty="0"/>
          </a:p>
        </p:txBody>
      </p:sp>
      <p:sp>
        <p:nvSpPr>
          <p:cNvPr id="25" name="Text 19"/>
          <p:cNvSpPr txBox="1"/>
          <p:nvPr/>
        </p:nvSpPr>
        <p:spPr>
          <a:xfrm>
            <a:off x="1524305" y="7524598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· 5%의 시간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524305" y="7810805"/>
            <a:ext cx="2667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미래 분야</a:t>
            </a:r>
            <a:endParaRPr lang="en-US" sz="26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0" y="6972300"/>
            <a:ext cx="8759252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아직 의뢰는 안 오지만 — 3년 뒤 주력이 될 영역.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지금은 콘텐츠로 미리 보여줍니다. 유튜브 1개, 블로그 1개. </a:t>
            </a:r>
            <a:r>
              <a:rPr lang="en-US" sz="1700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 강사도 OO 한다”의 신호.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13521447" y="6972300"/>
            <a:ext cx="3433358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(주력=강사 양성, 2026)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“AI 기반 학습 설계”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“1인 강사의 데이터 운영”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8762695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원칙 — 세 분야 모두 </a:t>
            </a:r>
            <a:r>
              <a:rPr lang="en-US" sz="1900" b="1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같은 대상</a:t>
            </a:r>
            <a:r>
              <a:rPr lang="en-US" sz="1900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에게 다른 가치를 줘야 합니다. 대상이 분야마다 바뀌면 — 그건 세 명의 강사입니다.</a:t>
            </a:r>
            <a:endParaRPr lang="en-US" sz="1900" dirty="0"/>
          </a:p>
        </p:txBody>
      </p:sp>
      <p:sp>
        <p:nvSpPr>
          <p:cNvPr id="30" name="Text 24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41 / 60</a:t>
            </a:r>
            <a:endParaRPr lang="en-US" sz="15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533681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3829507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1447495" y="4095598"/>
            <a:ext cx="381305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43500" y="2952598"/>
            <a:ext cx="3829507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5447995" y="4095598"/>
            <a:ext cx="381305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144000" y="2952598"/>
            <a:ext cx="3829507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9448495" y="4095598"/>
            <a:ext cx="381305" cy="2834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3144500" y="2952598"/>
            <a:ext cx="4019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13448995" y="4095598"/>
            <a:ext cx="381305" cy="28346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1143000" y="6001207"/>
            <a:ext cx="5162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5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1447495" y="7144207"/>
            <a:ext cx="381305" cy="28346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6476695" y="6001207"/>
            <a:ext cx="5162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6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6782105" y="7144207"/>
            <a:ext cx="381305" cy="28346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11811305" y="6001207"/>
            <a:ext cx="5333695" cy="28575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7" descr="gen-dedup-4e82c2fe96c6a05372bafb2d317bd597.png"/>
          <p:cNvPicPr>
            <a:picLocks noChangeAspect="1"/>
          </p:cNvPicPr>
          <p:nvPr/>
        </p:nvPicPr>
        <p:blipFill>
          <a:blip r:embed="rId4"/>
          <a:srcRect l="-445" r="-445"/>
          <a:stretch/>
        </p:blipFill>
        <p:spPr>
          <a:xfrm>
            <a:off x="12115800" y="7144207"/>
            <a:ext cx="381305" cy="28346"/>
          </a:xfrm>
          <a:prstGeom prst="rect">
            <a:avLst/>
          </a:prstGeom>
        </p:spPr>
      </p:pic>
      <p:pic>
        <p:nvPicPr>
          <p:cNvPr id="19" name="Image 8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143000" y="2952598"/>
            <a:ext cx="57607" cy="2857500"/>
          </a:xfrm>
          <a:prstGeom prst="rect">
            <a:avLst/>
          </a:prstGeom>
        </p:spPr>
      </p:pic>
      <p:pic>
        <p:nvPicPr>
          <p:cNvPr id="20" name="Image 9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5143500" y="2952598"/>
            <a:ext cx="57607" cy="2857500"/>
          </a:xfrm>
          <a:prstGeom prst="rect">
            <a:avLst/>
          </a:prstGeom>
        </p:spPr>
      </p:pic>
      <p:pic>
        <p:nvPicPr>
          <p:cNvPr id="21" name="Image 10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9144000" y="2952598"/>
            <a:ext cx="57607" cy="2857500"/>
          </a:xfrm>
          <a:prstGeom prst="rect">
            <a:avLst/>
          </a:prstGeom>
        </p:spPr>
      </p:pic>
      <p:pic>
        <p:nvPicPr>
          <p:cNvPr id="22" name="Image 11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3144500" y="2952598"/>
            <a:ext cx="57607" cy="2857500"/>
          </a:xfrm>
          <a:prstGeom prst="rect">
            <a:avLst/>
          </a:prstGeom>
        </p:spPr>
      </p:pic>
      <p:pic>
        <p:nvPicPr>
          <p:cNvPr id="23" name="Image 12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143000" y="6001207"/>
            <a:ext cx="57607" cy="2857500"/>
          </a:xfrm>
          <a:prstGeom prst="rect">
            <a:avLst/>
          </a:prstGeom>
        </p:spPr>
      </p:pic>
      <p:pic>
        <p:nvPicPr>
          <p:cNvPr id="24" name="Image 13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476695" y="6001207"/>
            <a:ext cx="57607" cy="2857500"/>
          </a:xfrm>
          <a:prstGeom prst="rect">
            <a:avLst/>
          </a:prstGeom>
        </p:spPr>
      </p:pic>
      <p:pic>
        <p:nvPicPr>
          <p:cNvPr id="25" name="Image 14" descr="gen-dedup-ea46db75aedecbc3301d91495594ff65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11811305" y="6001207"/>
            <a:ext cx="57607" cy="2857500"/>
          </a:xfrm>
          <a:prstGeom prst="rect">
            <a:avLst/>
          </a:prstGeom>
        </p:spPr>
      </p:pic>
      <p:sp>
        <p:nvSpPr>
          <p:cNvPr id="26" name="Text 9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 · PROOF OF EXPERTISE · 일곱 칸 — 비어도 되는 칸은 있어도, 가짜는 안 된다</a:t>
            </a:r>
            <a:endParaRPr lang="en-US" sz="1550" dirty="0"/>
          </a:p>
        </p:txBody>
      </p:sp>
      <p:sp>
        <p:nvSpPr>
          <p:cNvPr id="27" name="Text 10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전문성 = 일곱 칸 중 두 개만 채워도 된다.</a:t>
            </a:r>
            <a:endParaRPr lang="en-US" sz="4500" dirty="0"/>
          </a:p>
        </p:txBody>
      </p:sp>
      <p:sp>
        <p:nvSpPr>
          <p:cNvPr id="28" name="Text 11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교차 증명이 핵심 — 학력만 있고 사례 없는 강사, 사례만 있고 콘텐츠 없는 강사 모두 한쪽 다리만 있는 셈.</a:t>
            </a:r>
            <a:endParaRPr lang="en-US" sz="1700" dirty="0"/>
          </a:p>
        </p:txBody>
      </p:sp>
      <p:sp>
        <p:nvSpPr>
          <p:cNvPr id="29" name="Text 12"/>
          <p:cNvSpPr txBox="1"/>
          <p:nvPr/>
        </p:nvSpPr>
        <p:spPr>
          <a:xfrm>
            <a:off x="1447495" y="31619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학력</a:t>
            </a:r>
            <a:endParaRPr lang="en-US" sz="1500" dirty="0"/>
          </a:p>
        </p:txBody>
      </p:sp>
      <p:sp>
        <p:nvSpPr>
          <p:cNvPr id="30" name="Text 13"/>
          <p:cNvSpPr txBox="1"/>
          <p:nvPr/>
        </p:nvSpPr>
        <p:spPr>
          <a:xfrm>
            <a:off x="1447495" y="3467405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EDUCATION</a:t>
            </a:r>
            <a:endParaRPr lang="en-US" sz="2300" dirty="0"/>
          </a:p>
        </p:txBody>
      </p:sp>
      <p:sp>
        <p:nvSpPr>
          <p:cNvPr id="31" name="Text 14"/>
          <p:cNvSpPr txBox="1"/>
          <p:nvPr/>
        </p:nvSpPr>
        <p:spPr>
          <a:xfrm>
            <a:off x="1447495" y="4304995"/>
            <a:ext cx="3238805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학사·석사·박사. 분야가 강의 주제와 맞을 때 강합니다.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맞지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않으면 한 줄로만.</a:t>
            </a:r>
            <a:endParaRPr lang="en-US" sz="1550" dirty="0"/>
          </a:p>
        </p:txBody>
      </p:sp>
      <p:sp>
        <p:nvSpPr>
          <p:cNvPr id="32" name="Text 15"/>
          <p:cNvSpPr txBox="1"/>
          <p:nvPr/>
        </p:nvSpPr>
        <p:spPr>
          <a:xfrm>
            <a:off x="5447995" y="31619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경력</a:t>
            </a:r>
            <a:endParaRPr lang="en-US" sz="1500" dirty="0"/>
          </a:p>
        </p:txBody>
      </p:sp>
      <p:sp>
        <p:nvSpPr>
          <p:cNvPr id="33" name="Text 16"/>
          <p:cNvSpPr txBox="1"/>
          <p:nvPr/>
        </p:nvSpPr>
        <p:spPr>
          <a:xfrm>
            <a:off x="5447995" y="3467405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CAREER</a:t>
            </a:r>
            <a:endParaRPr lang="en-US" sz="2300" dirty="0"/>
          </a:p>
        </p:txBody>
      </p:sp>
      <p:sp>
        <p:nvSpPr>
          <p:cNvPr id="34" name="Text 17"/>
          <p:cNvSpPr txBox="1"/>
          <p:nvPr/>
        </p:nvSpPr>
        <p:spPr>
          <a:xfrm>
            <a:off x="5447995" y="4304995"/>
            <a:ext cx="3238805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회사·직책·기간. 가장 강력한 증명.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경력 0인 분도 직장 </a:t>
            </a: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경력이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그대로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자산입니다.</a:t>
            </a:r>
            <a:endParaRPr lang="en-US" sz="1550" dirty="0"/>
          </a:p>
        </p:txBody>
      </p:sp>
      <p:sp>
        <p:nvSpPr>
          <p:cNvPr id="35" name="Text 18"/>
          <p:cNvSpPr txBox="1"/>
          <p:nvPr/>
        </p:nvSpPr>
        <p:spPr>
          <a:xfrm>
            <a:off x="9448495" y="31619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자격</a:t>
            </a:r>
            <a:endParaRPr lang="en-US" sz="1500" dirty="0"/>
          </a:p>
        </p:txBody>
      </p:sp>
      <p:sp>
        <p:nvSpPr>
          <p:cNvPr id="36" name="Text 19"/>
          <p:cNvSpPr txBox="1"/>
          <p:nvPr/>
        </p:nvSpPr>
        <p:spPr>
          <a:xfrm>
            <a:off x="9448495" y="3467405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CERTIFICATE</a:t>
            </a:r>
            <a:endParaRPr lang="en-US" sz="2300" dirty="0"/>
          </a:p>
        </p:txBody>
      </p:sp>
      <p:sp>
        <p:nvSpPr>
          <p:cNvPr id="37" name="Text 20"/>
          <p:cNvSpPr txBox="1"/>
          <p:nvPr/>
        </p:nvSpPr>
        <p:spPr>
          <a:xfrm>
            <a:off x="9372600" y="4304995"/>
            <a:ext cx="3525011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국가자격·공인자격·민간자격.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너무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많이 나열하면 오히려 무게 </a:t>
            </a: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떨어짐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강의 주제 관련 3개까지.</a:t>
            </a:r>
            <a:endParaRPr lang="en-US" sz="1550" dirty="0"/>
          </a:p>
        </p:txBody>
      </p:sp>
      <p:sp>
        <p:nvSpPr>
          <p:cNvPr id="38" name="Text 21"/>
          <p:cNvSpPr txBox="1"/>
          <p:nvPr/>
        </p:nvSpPr>
        <p:spPr>
          <a:xfrm>
            <a:off x="13448995" y="3161995"/>
            <a:ext cx="3429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수상</a:t>
            </a:r>
            <a:endParaRPr lang="en-US" sz="1500" dirty="0"/>
          </a:p>
        </p:txBody>
      </p:sp>
      <p:sp>
        <p:nvSpPr>
          <p:cNvPr id="39" name="Text 22"/>
          <p:cNvSpPr txBox="1"/>
          <p:nvPr/>
        </p:nvSpPr>
        <p:spPr>
          <a:xfrm>
            <a:off x="13448995" y="3467405"/>
            <a:ext cx="3429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AWARDS</a:t>
            </a:r>
            <a:endParaRPr lang="en-US" sz="2300" dirty="0"/>
          </a:p>
        </p:txBody>
      </p:sp>
      <p:sp>
        <p:nvSpPr>
          <p:cNvPr id="40" name="Text 23"/>
          <p:cNvSpPr txBox="1"/>
          <p:nvPr/>
        </p:nvSpPr>
        <p:spPr>
          <a:xfrm>
            <a:off x="13448994" y="4304995"/>
            <a:ext cx="3638397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수상·표창·우수강사 선정. 없어도 됩니다. 있으면 표지에서 한 줄로 노출.</a:t>
            </a:r>
            <a:endParaRPr lang="en-US" sz="1550" dirty="0"/>
          </a:p>
        </p:txBody>
      </p:sp>
      <p:sp>
        <p:nvSpPr>
          <p:cNvPr id="41" name="Text 24"/>
          <p:cNvSpPr txBox="1"/>
          <p:nvPr/>
        </p:nvSpPr>
        <p:spPr>
          <a:xfrm>
            <a:off x="1447495" y="62106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연구·논문</a:t>
            </a:r>
            <a:endParaRPr lang="en-US" sz="1500" dirty="0"/>
          </a:p>
        </p:txBody>
      </p:sp>
      <p:sp>
        <p:nvSpPr>
          <p:cNvPr id="42" name="Text 25"/>
          <p:cNvSpPr txBox="1"/>
          <p:nvPr/>
        </p:nvSpPr>
        <p:spPr>
          <a:xfrm>
            <a:off x="1447495" y="6515100"/>
            <a:ext cx="4572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RESEARCH</a:t>
            </a:r>
            <a:endParaRPr lang="en-US" sz="2300" dirty="0"/>
          </a:p>
        </p:txBody>
      </p:sp>
      <p:sp>
        <p:nvSpPr>
          <p:cNvPr id="43" name="Text 26"/>
          <p:cNvSpPr txBox="1"/>
          <p:nvPr/>
        </p:nvSpPr>
        <p:spPr>
          <a:xfrm>
            <a:off x="1447495" y="7353605"/>
            <a:ext cx="4572000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학술 논문, 산업 리포트, 백서.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학술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강의·전문가 강의에서 매우 강함.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일반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기업 강의에선 한 줄로.</a:t>
            </a:r>
            <a:endParaRPr lang="en-US" sz="1550" dirty="0"/>
          </a:p>
        </p:txBody>
      </p:sp>
      <p:sp>
        <p:nvSpPr>
          <p:cNvPr id="44" name="Text 27"/>
          <p:cNvSpPr txBox="1"/>
          <p:nvPr/>
        </p:nvSpPr>
        <p:spPr>
          <a:xfrm>
            <a:off x="6782105" y="62106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프로젝트</a:t>
            </a:r>
            <a:endParaRPr lang="en-US" sz="1500" dirty="0"/>
          </a:p>
        </p:txBody>
      </p:sp>
      <p:sp>
        <p:nvSpPr>
          <p:cNvPr id="45" name="Text 28"/>
          <p:cNvSpPr txBox="1"/>
          <p:nvPr/>
        </p:nvSpPr>
        <p:spPr>
          <a:xfrm>
            <a:off x="6782105" y="6515100"/>
            <a:ext cx="4572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PROJECTS</a:t>
            </a:r>
            <a:endParaRPr lang="en-US" sz="2300" dirty="0"/>
          </a:p>
        </p:txBody>
      </p:sp>
      <p:sp>
        <p:nvSpPr>
          <p:cNvPr id="46" name="Text 29"/>
          <p:cNvSpPr txBox="1"/>
          <p:nvPr/>
        </p:nvSpPr>
        <p:spPr>
          <a:xfrm>
            <a:off x="6782105" y="7353605"/>
            <a:ext cx="4572000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컨설팅·자문·연구과제·도입 프로젝트.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현장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실무 경험의 증명.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수치 1개 같이 — “OO기업 도입, 처리 시간 -40%”.</a:t>
            </a:r>
            <a:endParaRPr lang="en-US" sz="1550" dirty="0"/>
          </a:p>
        </p:txBody>
      </p:sp>
      <p:sp>
        <p:nvSpPr>
          <p:cNvPr id="47" name="Text 30"/>
          <p:cNvSpPr txBox="1"/>
          <p:nvPr/>
        </p:nvSpPr>
        <p:spPr>
          <a:xfrm>
            <a:off x="12115800" y="6210605"/>
            <a:ext cx="476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저서·콘텐츠</a:t>
            </a:r>
            <a:endParaRPr lang="en-US" sz="1500" dirty="0"/>
          </a:p>
        </p:txBody>
      </p:sp>
      <p:sp>
        <p:nvSpPr>
          <p:cNvPr id="48" name="Text 31"/>
          <p:cNvSpPr txBox="1"/>
          <p:nvPr/>
        </p:nvSpPr>
        <p:spPr>
          <a:xfrm>
            <a:off x="12115800" y="6515100"/>
            <a:ext cx="4763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PUBLICATIONS</a:t>
            </a:r>
            <a:endParaRPr lang="en-US" sz="2300" dirty="0"/>
          </a:p>
        </p:txBody>
      </p:sp>
      <p:sp>
        <p:nvSpPr>
          <p:cNvPr id="49" name="Text 32"/>
          <p:cNvSpPr txBox="1"/>
          <p:nvPr/>
        </p:nvSpPr>
        <p:spPr>
          <a:xfrm>
            <a:off x="12115800" y="7353605"/>
            <a:ext cx="4763110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책, 유튜브 채널, 블로그 시리즈, 뉴스레터.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요즘 가장 빠르게 자라는 칸.</a:t>
            </a:r>
            <a:r>
              <a:rPr lang="en-US" sz="155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</a:t>
            </a:r>
            <a:r>
              <a:rPr lang="en-US" sz="155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권보다 꾸준한 콘텐츠 100편이 강함.</a:t>
            </a:r>
            <a:endParaRPr lang="en-US" sz="1550" dirty="0"/>
          </a:p>
        </p:txBody>
      </p:sp>
      <p:sp>
        <p:nvSpPr>
          <p:cNvPr id="50" name="Text 33"/>
          <p:cNvSpPr txBox="1"/>
          <p:nvPr/>
        </p:nvSpPr>
        <p:spPr>
          <a:xfrm>
            <a:off x="1143000" y="9048902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원칙 — 비어 있는 칸을 채우는 것보다 </a:t>
            </a:r>
            <a:r>
              <a:rPr lang="en-US" sz="15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잘 채워진 두 칸을 깊게 보여주는 것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훨씬 효과적입니다.</a:t>
            </a:r>
            <a:endParaRPr lang="en-US" sz="1550" dirty="0"/>
          </a:p>
        </p:txBody>
      </p:sp>
      <p:sp>
        <p:nvSpPr>
          <p:cNvPr id="51" name="Text 34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42 / 60</a:t>
            </a:r>
            <a:endParaRPr lang="en-US" sz="1500" dirty="0"/>
          </a:p>
        </p:txBody>
      </p:sp>
      <p:sp>
        <p:nvSpPr>
          <p:cNvPr id="5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536239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02000" cy="476402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3619195"/>
            <a:ext cx="16021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4667098"/>
            <a:ext cx="16021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5715000"/>
            <a:ext cx="16021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6858000"/>
            <a:ext cx="16002000" cy="17145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c78301c8e62388393b9eb57bb6cfd8f9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1143000" y="6858000"/>
            <a:ext cx="75895" cy="17145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 · TRACK RECORD · 한 줄에 7칸 — 더도 덜도 말고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실적은 ‘목록’이 아니라 ‘표’다.</a:t>
            </a:r>
            <a:endParaRPr lang="en-US" sz="45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 줄당 7칸. 비어 있는 칸은 “—”로 표기해도 OK. 빈 칸을 글로 메우려 하지 마세요.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1410005" y="2952598"/>
            <a:ext cx="32388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기관명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647895" y="2952598"/>
            <a:ext cx="32388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교육명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886700" y="2952598"/>
            <a:ext cx="1905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대상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9791395" y="2952598"/>
            <a:ext cx="1143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시간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934395" y="2952598"/>
            <a:ext cx="1143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인원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2077395" y="2952598"/>
            <a:ext cx="1905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4F1E8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역할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3983005" y="2952598"/>
            <a:ext cx="3048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56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성과 (가장 중요)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1410005" y="3733495"/>
            <a:ext cx="32388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기업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사내 교육팀</a:t>
            </a:r>
            <a:endParaRPr lang="en-US" sz="1550" dirty="0"/>
          </a:p>
        </p:txBody>
      </p:sp>
      <p:sp>
        <p:nvSpPr>
          <p:cNvPr id="22" name="Text 18"/>
          <p:cNvSpPr txBox="1"/>
          <p:nvPr/>
        </p:nvSpPr>
        <p:spPr>
          <a:xfrm>
            <a:off x="4647895" y="3733495"/>
            <a:ext cx="32388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활용 업무 자동화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2026.02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7886700" y="3829507"/>
            <a:ext cx="1905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인사담당자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9791395" y="3829507"/>
            <a:ext cx="11430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h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10934395" y="3829507"/>
            <a:ext cx="11430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명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12077395" y="3829507"/>
            <a:ext cx="1905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단독 강사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설계+진행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13983005" y="3733495"/>
            <a:ext cx="3048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만족도 4.7 / 5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재의뢰 2회, 추천 1건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1410005" y="4781398"/>
            <a:ext cx="32388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공공기관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교육원 위탁</a:t>
            </a:r>
            <a:endParaRPr lang="en-US" sz="1550" dirty="0"/>
          </a:p>
        </p:txBody>
      </p:sp>
      <p:sp>
        <p:nvSpPr>
          <p:cNvPr id="29" name="Text 25"/>
          <p:cNvSpPr txBox="1"/>
          <p:nvPr/>
        </p:nvSpPr>
        <p:spPr>
          <a:xfrm>
            <a:off x="4647895" y="4781398"/>
            <a:ext cx="32388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강사 양성 과정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2025.11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7886700" y="4876495"/>
            <a:ext cx="1905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예비 강사</a:t>
            </a:r>
            <a:endParaRPr lang="en-US" sz="1550" dirty="0"/>
          </a:p>
        </p:txBody>
      </p:sp>
      <p:sp>
        <p:nvSpPr>
          <p:cNvPr id="31" name="Text 27"/>
          <p:cNvSpPr txBox="1"/>
          <p:nvPr/>
        </p:nvSpPr>
        <p:spPr>
          <a:xfrm>
            <a:off x="9791395" y="4876495"/>
            <a:ext cx="11430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h</a:t>
            </a:r>
            <a:endParaRPr lang="en-US" sz="1700" dirty="0"/>
          </a:p>
        </p:txBody>
      </p:sp>
      <p:sp>
        <p:nvSpPr>
          <p:cNvPr id="32" name="Text 28"/>
          <p:cNvSpPr txBox="1"/>
          <p:nvPr/>
        </p:nvSpPr>
        <p:spPr>
          <a:xfrm>
            <a:off x="10934395" y="4876495"/>
            <a:ext cx="11430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명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12077395" y="4876495"/>
            <a:ext cx="1905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공동 진행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모듈 담당</a:t>
            </a:r>
            <a:endParaRPr lang="en-US" sz="1550" dirty="0"/>
          </a:p>
        </p:txBody>
      </p:sp>
      <p:sp>
        <p:nvSpPr>
          <p:cNvPr id="34" name="Text 30"/>
          <p:cNvSpPr txBox="1"/>
          <p:nvPr/>
        </p:nvSpPr>
        <p:spPr>
          <a:xfrm>
            <a:off x="13983005" y="4781398"/>
            <a:ext cx="3048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12명 첫 강의 수주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수료 후 3개월 내</a:t>
            </a:r>
            <a:endParaRPr lang="en-US" sz="1550" dirty="0"/>
          </a:p>
        </p:txBody>
      </p:sp>
      <p:sp>
        <p:nvSpPr>
          <p:cNvPr id="35" name="Text 31"/>
          <p:cNvSpPr txBox="1"/>
          <p:nvPr/>
        </p:nvSpPr>
        <p:spPr>
          <a:xfrm>
            <a:off x="1410005" y="5829300"/>
            <a:ext cx="32388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대학교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경영대학원 특강</a:t>
            </a:r>
            <a:endParaRPr lang="en-US" sz="1550" dirty="0"/>
          </a:p>
        </p:txBody>
      </p:sp>
      <p:sp>
        <p:nvSpPr>
          <p:cNvPr id="36" name="Text 32"/>
          <p:cNvSpPr txBox="1"/>
          <p:nvPr/>
        </p:nvSpPr>
        <p:spPr>
          <a:xfrm>
            <a:off x="4647895" y="5829300"/>
            <a:ext cx="32388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1인 지식 비즈니스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2025.09</a:t>
            </a:r>
            <a:endParaRPr lang="en-US" sz="1550" dirty="0"/>
          </a:p>
        </p:txBody>
      </p:sp>
      <p:sp>
        <p:nvSpPr>
          <p:cNvPr id="37" name="Text 33"/>
          <p:cNvSpPr txBox="1"/>
          <p:nvPr/>
        </p:nvSpPr>
        <p:spPr>
          <a:xfrm>
            <a:off x="7886700" y="5924398"/>
            <a:ext cx="1905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원우 + 외부</a:t>
            </a:r>
            <a:endParaRPr lang="en-US" sz="1550" dirty="0"/>
          </a:p>
        </p:txBody>
      </p:sp>
      <p:sp>
        <p:nvSpPr>
          <p:cNvPr id="38" name="Text 34"/>
          <p:cNvSpPr txBox="1"/>
          <p:nvPr/>
        </p:nvSpPr>
        <p:spPr>
          <a:xfrm>
            <a:off x="9791395" y="5924398"/>
            <a:ext cx="11430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h</a:t>
            </a:r>
            <a:endParaRPr lang="en-US" sz="1700" dirty="0"/>
          </a:p>
        </p:txBody>
      </p:sp>
      <p:sp>
        <p:nvSpPr>
          <p:cNvPr id="39" name="Text 35"/>
          <p:cNvSpPr txBox="1"/>
          <p:nvPr/>
        </p:nvSpPr>
        <p:spPr>
          <a:xfrm>
            <a:off x="10934395" y="5924398"/>
            <a:ext cx="11430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명</a:t>
            </a:r>
            <a:endParaRPr lang="en-US" sz="1700" dirty="0"/>
          </a:p>
        </p:txBody>
      </p:sp>
      <p:sp>
        <p:nvSpPr>
          <p:cNvPr id="40" name="Text 36"/>
          <p:cNvSpPr txBox="1"/>
          <p:nvPr/>
        </p:nvSpPr>
        <p:spPr>
          <a:xfrm>
            <a:off x="12077395" y="5924398"/>
            <a:ext cx="1905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특강 강사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단발 — 90분</a:t>
            </a:r>
            <a:endParaRPr lang="en-US" sz="1550" dirty="0"/>
          </a:p>
        </p:txBody>
      </p:sp>
      <p:sp>
        <p:nvSpPr>
          <p:cNvPr id="41" name="Text 37"/>
          <p:cNvSpPr txBox="1"/>
          <p:nvPr/>
        </p:nvSpPr>
        <p:spPr>
          <a:xfrm>
            <a:off x="13983005" y="5829300"/>
            <a:ext cx="30486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정규 과목으로 편성 제안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봄학기 개설 확정</a:t>
            </a:r>
            <a:endParaRPr lang="en-US" sz="1550" dirty="0"/>
          </a:p>
        </p:txBody>
      </p:sp>
      <p:sp>
        <p:nvSpPr>
          <p:cNvPr id="42" name="Text 38"/>
          <p:cNvSpPr txBox="1"/>
          <p:nvPr/>
        </p:nvSpPr>
        <p:spPr>
          <a:xfrm>
            <a:off x="1524305" y="704819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규칙 — 자주 하는 실수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1524305" y="7391095"/>
            <a:ext cx="49533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흔한 실수 01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“수십 회 강의 진행” 같은 추상적 요약.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한 건이라도 구체적으로.</a:t>
            </a:r>
            <a:endParaRPr lang="en-US" sz="1550" dirty="0"/>
          </a:p>
        </p:txBody>
      </p:sp>
      <p:sp>
        <p:nvSpPr>
          <p:cNvPr id="44" name="Text 40"/>
          <p:cNvSpPr txBox="1"/>
          <p:nvPr/>
        </p:nvSpPr>
        <p:spPr>
          <a:xfrm>
            <a:off x="6858000" y="7391095"/>
            <a:ext cx="49533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흔한 실수 02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“기업 OO 외 다수.”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“외 다수”는 1건도 적은 사람의 표현.</a:t>
            </a:r>
            <a:endParaRPr lang="en-US" sz="1550" dirty="0"/>
          </a:p>
        </p:txBody>
      </p:sp>
      <p:sp>
        <p:nvSpPr>
          <p:cNvPr id="45" name="Text 41"/>
          <p:cNvSpPr txBox="1"/>
          <p:nvPr/>
        </p:nvSpPr>
        <p:spPr>
          <a:xfrm>
            <a:off x="12191695" y="7391095"/>
            <a:ext cx="47631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흔한 실수 03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성과 칸을 비워둠.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만족도·재의뢰·후속 의뢰 중 1개라도.</a:t>
            </a:r>
            <a:endParaRPr lang="en-US" sz="1550" dirty="0"/>
          </a:p>
        </p:txBody>
      </p:sp>
      <p:sp>
        <p:nvSpPr>
          <p:cNvPr id="46" name="Text 42"/>
          <p:cNvSpPr txBox="1"/>
          <p:nvPr/>
        </p:nvSpPr>
        <p:spPr>
          <a:xfrm>
            <a:off x="1143000" y="8953805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실적 표 1장은 — 입찰·기관 등록 시 </a:t>
            </a:r>
            <a:r>
              <a:rPr lang="en-US" sz="15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가장 먼저 펼쳐지는 페이지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입니다. 슬라이드 52(20장형)에서 위치 확정.</a:t>
            </a:r>
            <a:endParaRPr lang="en-US" sz="1550" dirty="0"/>
          </a:p>
        </p:txBody>
      </p:sp>
      <p:sp>
        <p:nvSpPr>
          <p:cNvPr id="47" name="Text 43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43 / 60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713200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40405" cy="5943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447495" y="3676802"/>
            <a:ext cx="10591495" cy="1352398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2210898" y="3676802"/>
            <a:ext cx="4629607" cy="13331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447495" y="5201107"/>
            <a:ext cx="5162702" cy="1638605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782105" y="5201107"/>
            <a:ext cx="5257800" cy="1638605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2210898" y="5201107"/>
            <a:ext cx="4647895" cy="1638605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447495" y="7010705"/>
            <a:ext cx="15392095" cy="1619402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84284b63ffcc090a978c7134fdff4be4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2083" r="-2083"/>
          <a:stretch/>
        </p:blipFill>
        <p:spPr>
          <a:xfrm>
            <a:off x="1714500" y="7487107"/>
            <a:ext cx="14934895" cy="9144"/>
          </a:xfrm>
          <a:prstGeom prst="rect">
            <a:avLst/>
          </a:prstGeom>
        </p:spPr>
      </p:pic>
      <p:pic>
        <p:nvPicPr>
          <p:cNvPr id="13" name="Image 2" descr="gen-dedup-1b8d75405af33a86f3631061f4f20b62.png"/>
          <p:cNvPicPr>
            <a:picLocks noChangeAspect="1"/>
          </p:cNvPicPr>
          <p:nvPr/>
        </p:nvPicPr>
        <p:blipFill>
          <a:blip r:embed="rId4"/>
          <a:srcRect l="-201" r="-201"/>
          <a:stretch/>
        </p:blipFill>
        <p:spPr>
          <a:xfrm>
            <a:off x="1143000" y="2952598"/>
            <a:ext cx="16002000" cy="75895"/>
          </a:xfrm>
          <a:prstGeom prst="rect">
            <a:avLst/>
          </a:prstGeom>
        </p:spPr>
      </p:pic>
      <p:pic>
        <p:nvPicPr>
          <p:cNvPr id="14" name="Image 3" descr="gen-dedup-1aef0e6d24335ac6b4e5a60979357175.png"/>
          <p:cNvPicPr>
            <a:picLocks noChangeAspect="1"/>
          </p:cNvPicPr>
          <p:nvPr/>
        </p:nvPicPr>
        <p:blipFill>
          <a:blip r:embed="rId5"/>
          <a:srcRect l="-395" r="-395"/>
          <a:stretch/>
        </p:blipFill>
        <p:spPr>
          <a:xfrm>
            <a:off x="1447495" y="7010705"/>
            <a:ext cx="57607" cy="16194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 · SIGNATURE COURSE · “이 강사 = 이 강의” 한 줄로 떠올라야 한다</a:t>
            </a:r>
            <a:endParaRPr lang="en-US" sz="155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대표 강의 1쪽 — 여섯 칸으로 완성.</a:t>
            </a:r>
            <a:endParaRPr lang="en-US" sz="45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1쪽이 잘 만들어지면 — 의뢰처에 보낼 “견적 + 약식 제안서”가 동시에 만들어집니다.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447495" y="3200400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SAMPLE PAGE · 대표 강의 1쪽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191695" y="3200400"/>
            <a:ext cx="46488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포트폴리오 본문 1쪽 — A4 세로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638605" y="3829507"/>
            <a:ext cx="10191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과정명 + 부제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638605" y="4134002"/>
            <a:ext cx="101919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강사 업무 프로세스 개선 및 사례 공유</a:t>
            </a:r>
            <a:endParaRPr lang="en-US" sz="2750" dirty="0"/>
          </a:p>
        </p:txBody>
      </p:sp>
      <p:sp>
        <p:nvSpPr>
          <p:cNvPr id="22" name="Text 16"/>
          <p:cNvSpPr txBox="1"/>
          <p:nvPr/>
        </p:nvSpPr>
        <p:spPr>
          <a:xfrm>
            <a:off x="1638605" y="4610405"/>
            <a:ext cx="10191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2E2D2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“매번 새로 만드는 강의에서 매번 발전하는 강의로 — 강사 업무 90분 전환 워크숍”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2402007" y="3829507"/>
            <a:ext cx="42483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대상 / 시간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2402007" y="4134002"/>
            <a:ext cx="424830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40대 이상, 강의 경력 0~2년인 예비 강사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90분 — 1회 or 2시간×2회 분할 가능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1638605" y="5352898"/>
            <a:ext cx="476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학습 목표 (1문장 × 2)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638605" y="5676595"/>
            <a:ext cx="47631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본인 업무 흐름을 한 장에 그릴 수 있다.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7종 템플릿 중 1개를 표준화할 수 있다.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6972300" y="5352898"/>
            <a:ext cx="4858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주요 내용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972300" y="5676595"/>
            <a:ext cx="48582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강사 업무 6단계 흐름도 진단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7종 템플릿 + AI 자동화 5사례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실습 2회 (워크시트 + 프롬프트)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12402007" y="5352898"/>
            <a:ext cx="42483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실습 + 결과물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2402007" y="5676595"/>
            <a:ext cx="42483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종이 워크시트 1장 + 본인 프롬프트 1개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손에 들고 나가는 것: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A4 1쪽 로드맵</a:t>
            </a:r>
            <a:endParaRPr lang="en-US" sz="1550" dirty="0"/>
          </a:p>
        </p:txBody>
      </p:sp>
      <p:sp>
        <p:nvSpPr>
          <p:cNvPr id="31" name="Text 25"/>
          <p:cNvSpPr txBox="1"/>
          <p:nvPr/>
        </p:nvSpPr>
        <p:spPr>
          <a:xfrm>
            <a:off x="1714500" y="716249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최근 실적 (가장 강한 칸)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1714500" y="7677302"/>
            <a:ext cx="4763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기업 / 30명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만족도 4.7 / 5.0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재의뢰 2회</a:t>
            </a:r>
            <a:endParaRPr lang="en-US" sz="1550" dirty="0"/>
          </a:p>
        </p:txBody>
      </p:sp>
      <p:sp>
        <p:nvSpPr>
          <p:cNvPr id="33" name="Text 27"/>
          <p:cNvSpPr txBox="1"/>
          <p:nvPr/>
        </p:nvSpPr>
        <p:spPr>
          <a:xfrm>
            <a:off x="6667805" y="7677302"/>
            <a:ext cx="4763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공공기관 / 18명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수료 후 첫 강의 수주 12명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3개월 내 평균</a:t>
            </a:r>
            <a:endParaRPr lang="en-US" sz="1550" dirty="0"/>
          </a:p>
        </p:txBody>
      </p:sp>
      <p:sp>
        <p:nvSpPr>
          <p:cNvPr id="34" name="Text 28"/>
          <p:cNvSpPr txBox="1"/>
          <p:nvPr/>
        </p:nvSpPr>
        <p:spPr>
          <a:xfrm>
            <a:off x="11620195" y="7677302"/>
            <a:ext cx="52203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“6시간 걸리던 강의 준비가 2시간으로 줄었습니다.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이 차이가 다음 의뢰를 받게 했어요.”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수강생 J씨 (50대, 강의 경력 2년)</a:t>
            </a:r>
            <a:endParaRPr lang="en-US" sz="1700" dirty="0"/>
          </a:p>
        </p:txBody>
      </p:sp>
      <p:sp>
        <p:nvSpPr>
          <p:cNvPr id="35" name="Text 29"/>
          <p:cNvSpPr txBox="1"/>
          <p:nvPr/>
        </p:nvSpPr>
        <p:spPr>
          <a:xfrm>
            <a:off x="1143000" y="9001354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6칸 — 의뢰가 들어오면 “날짜·금액”만 바꿔 그대로 회신할 수 있어야 합니다.</a:t>
            </a:r>
            <a:endParaRPr lang="en-US" sz="1550" dirty="0"/>
          </a:p>
        </p:txBody>
      </p:sp>
      <p:sp>
        <p:nvSpPr>
          <p:cNvPr id="36" name="Text 30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44 / 60</a:t>
            </a:r>
            <a:endParaRPr lang="en-US" sz="15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08570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pic>
        <p:nvPicPr>
          <p:cNvPr id="5" name="Image 1" descr="gen-dedup-6f2f64af5dc46929d50e15271fa9cc14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1143000" y="2952598"/>
            <a:ext cx="7239305" cy="5905195"/>
          </a:xfrm>
          <a:prstGeom prst="rect">
            <a:avLst/>
          </a:prstGeom>
        </p:spPr>
      </p:pic>
      <p:pic>
        <p:nvPicPr>
          <p:cNvPr id="6" name="Image 2" descr="gen-dedup-0263025ef49956fccf30cdac9593587a.png"/>
          <p:cNvPicPr>
            <a:picLocks noChangeAspect="1"/>
          </p:cNvPicPr>
          <p:nvPr/>
        </p:nvPicPr>
        <p:blipFill>
          <a:blip r:embed="rId4">
            <a:alphaModFix amt="18000"/>
          </a:blip>
          <a:srcRect l="-2083" r="-2083"/>
          <a:stretch/>
        </p:blipFill>
        <p:spPr>
          <a:xfrm>
            <a:off x="1410005" y="3504895"/>
            <a:ext cx="6762902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905695" y="2952598"/>
            <a:ext cx="7258507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3" descr="gen-dedup-937dc5747f12b6b111bc852006662cca.png"/>
          <p:cNvPicPr>
            <a:picLocks noChangeAspect="1"/>
          </p:cNvPicPr>
          <p:nvPr/>
        </p:nvPicPr>
        <p:blipFill>
          <a:blip r:embed="rId5">
            <a:alphaModFix amt="20000"/>
          </a:blip>
          <a:srcRect l="-2083" r="-2083"/>
          <a:stretch/>
        </p:blipFill>
        <p:spPr>
          <a:xfrm>
            <a:off x="10211105" y="3504895"/>
            <a:ext cx="6629400" cy="914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572500" y="5524805"/>
            <a:ext cx="1143000" cy="761695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4" descr="gen-dedup-e539652172a53f5b82605e4fb103c09a.png"/>
          <p:cNvPicPr>
            <a:picLocks noChangeAspect="1"/>
          </p:cNvPicPr>
          <p:nvPr/>
        </p:nvPicPr>
        <p:blipFill>
          <a:blip r:embed="rId6"/>
          <a:srcRect l="-203" r="-203"/>
          <a:stretch/>
        </p:blipFill>
        <p:spPr>
          <a:xfrm>
            <a:off x="9905695" y="2952598"/>
            <a:ext cx="7239305" cy="7589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 · CONTENT → ASSET · 강의 한 번 = 자산 다섯 개</a:t>
            </a:r>
            <a:endParaRPr lang="en-US" sz="155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 1회 → 포트폴리오 자료 5개.</a:t>
            </a:r>
            <a:endParaRPr lang="en-US" sz="45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01의 7종 템플릿 + 결과물이 모두 여기서 다시 쓰입니다. 자산은 새로 만드는 게 아니라 발견하는 것.</a:t>
            </a:r>
            <a:endParaRPr lang="en-US" sz="1700" dirty="0"/>
          </a:p>
        </p:txBody>
      </p:sp>
      <p:sp>
        <p:nvSpPr>
          <p:cNvPr id="14" name="Text 7"/>
          <p:cNvSpPr txBox="1"/>
          <p:nvPr/>
        </p:nvSpPr>
        <p:spPr>
          <a:xfrm>
            <a:off x="1410005" y="3181198"/>
            <a:ext cx="6762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4F1E8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 · 강의 끝나면 폴더에 남는 것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1410005" y="3715207"/>
            <a:ext cx="6762902" cy="4953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강의 폴더의 실제 내용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강의안_원본.pptx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강의안_배포.pdf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실습지_수강생.xlsx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만족도_설문결과.csv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강의장_사진_3장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결과보고서.</a:t>
            </a:r>
            <a:r>
              <a:rPr lang="en-US" sz="20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docx</a:t>
            </a:r>
            <a:endParaRPr lang="en-US" dirty="0">
              <a:solidFill>
                <a:srgbClr val="F4F1E8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  <a:p>
            <a:pPr marL="0" indent="0" algn="l">
              <a:lnSpc>
                <a:spcPct val="150000"/>
              </a:lnSpc>
              <a:spcBef>
                <a:spcPts val="1400"/>
              </a:spcBef>
              <a:buNone/>
            </a:pPr>
            <a:r>
              <a:rPr lang="en-US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보통은 — 여기서 끝.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폴더에 묻혀, 다음 의뢰 때 다시 만든다.</a:t>
            </a:r>
          </a:p>
        </p:txBody>
      </p:sp>
      <p:sp>
        <p:nvSpPr>
          <p:cNvPr id="16" name="Text 9"/>
          <p:cNvSpPr txBox="1"/>
          <p:nvPr/>
        </p:nvSpPr>
        <p:spPr>
          <a:xfrm>
            <a:off x="8572500" y="5524805"/>
            <a:ext cx="1143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750" dirty="0"/>
          </a:p>
        </p:txBody>
      </p:sp>
      <p:sp>
        <p:nvSpPr>
          <p:cNvPr id="17" name="Text 10"/>
          <p:cNvSpPr txBox="1"/>
          <p:nvPr/>
        </p:nvSpPr>
        <p:spPr>
          <a:xfrm>
            <a:off x="8382305" y="6381598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kern="0" spc="12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자산화 작업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8382305" y="6590995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kern="0" spc="126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 후 30분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0211105" y="3181198"/>
            <a:ext cx="6762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 · 포트폴리오로 변환된 5개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0211105" y="3715207"/>
            <a:ext cx="4005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2650" dirty="0"/>
          </a:p>
        </p:txBody>
      </p:sp>
      <p:sp>
        <p:nvSpPr>
          <p:cNvPr id="21" name="Text 14"/>
          <p:cNvSpPr txBox="1"/>
          <p:nvPr/>
        </p:nvSpPr>
        <p:spPr>
          <a:xfrm>
            <a:off x="10744200" y="3715207"/>
            <a:ext cx="607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 강의 1쪽</a:t>
            </a: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(슬라이드 44)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강의안 → 6칸 요약본 1쪽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10211105" y="4369003"/>
            <a:ext cx="4005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2650" dirty="0"/>
          </a:p>
        </p:txBody>
      </p:sp>
      <p:sp>
        <p:nvSpPr>
          <p:cNvPr id="23" name="Text 16"/>
          <p:cNvSpPr txBox="1"/>
          <p:nvPr/>
        </p:nvSpPr>
        <p:spPr>
          <a:xfrm>
            <a:off x="10744200" y="4369003"/>
            <a:ext cx="607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실적 표 한 줄</a:t>
            </a: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(슬라이드 43)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기관·인원·만족도 — 표 1행 추가</a:t>
            </a:r>
            <a:endParaRPr lang="en-US" sz="1550" dirty="0"/>
          </a:p>
        </p:txBody>
      </p:sp>
      <p:sp>
        <p:nvSpPr>
          <p:cNvPr id="24" name="Text 17"/>
          <p:cNvSpPr txBox="1"/>
          <p:nvPr/>
        </p:nvSpPr>
        <p:spPr>
          <a:xfrm>
            <a:off x="10211105" y="5022799"/>
            <a:ext cx="4005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2650" dirty="0"/>
          </a:p>
        </p:txBody>
      </p:sp>
      <p:sp>
        <p:nvSpPr>
          <p:cNvPr id="25" name="Text 18"/>
          <p:cNvSpPr txBox="1"/>
          <p:nvPr/>
        </p:nvSpPr>
        <p:spPr>
          <a:xfrm>
            <a:off x="10744200" y="5022799"/>
            <a:ext cx="607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사례 카드 1장</a:t>
            </a: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(슬라이드 46)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만족도 + 한 줄 후기 + 사진 1장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10211105" y="5677510"/>
            <a:ext cx="4005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2650" dirty="0"/>
          </a:p>
        </p:txBody>
      </p:sp>
      <p:sp>
        <p:nvSpPr>
          <p:cNvPr id="27" name="Text 20"/>
          <p:cNvSpPr txBox="1"/>
          <p:nvPr/>
        </p:nvSpPr>
        <p:spPr>
          <a:xfrm>
            <a:off x="10744200" y="5677510"/>
            <a:ext cx="607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콘텐츠 소재 1개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결과물 사진 + 짧은 설명 → SNS 게시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10211105" y="6331306"/>
            <a:ext cx="4005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2650" dirty="0"/>
          </a:p>
        </p:txBody>
      </p:sp>
      <p:sp>
        <p:nvSpPr>
          <p:cNvPr id="29" name="Text 22"/>
          <p:cNvSpPr txBox="1"/>
          <p:nvPr/>
        </p:nvSpPr>
        <p:spPr>
          <a:xfrm>
            <a:off x="10744200" y="6331306"/>
            <a:ext cx="6070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강의 개선점 1개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만족도 주관식 → “다음에 바꿀 것” 메모 → 슬라이드 24 AI 활용</a:t>
            </a:r>
            <a:endParaRPr lang="en-US" sz="1550" dirty="0"/>
          </a:p>
        </p:txBody>
      </p:sp>
      <p:sp>
        <p:nvSpPr>
          <p:cNvPr id="30" name="Text 23"/>
          <p:cNvSpPr txBox="1"/>
          <p:nvPr/>
        </p:nvSpPr>
        <p:spPr>
          <a:xfrm>
            <a:off x="1143000" y="9001354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30분의 자산화가 — 1년 뒤 “포트폴리오 30건” vs “파일 30개”의 차이를 만듭니다.</a:t>
            </a:r>
            <a:endParaRPr lang="en-US" sz="1550" dirty="0"/>
          </a:p>
        </p:txBody>
      </p:sp>
      <p:sp>
        <p:nvSpPr>
          <p:cNvPr id="31" name="Text 24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45 / 60</a:t>
            </a:r>
            <a:endParaRPr lang="en-US" sz="15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395820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7905902" cy="5905195"/>
          </a:xfrm>
          <a:prstGeom prst="roundRect">
            <a:avLst>
              <a:gd name="adj" fmla="val 976"/>
            </a:avLst>
          </a:prstGeom>
          <a:solidFill>
            <a:srgbClr val="1C1B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199c7f6a3a0298b94c3629214fb8b246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410005" y="3504895"/>
            <a:ext cx="7391095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9098" y="2952598"/>
            <a:ext cx="7944307" cy="5943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d0226f2753e533ae11bc548769b0f8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2083" r="-2083"/>
          <a:stretch/>
        </p:blipFill>
        <p:spPr>
          <a:xfrm>
            <a:off x="9506102" y="3504895"/>
            <a:ext cx="7315200" cy="9144"/>
          </a:xfrm>
          <a:prstGeom prst="rect">
            <a:avLst/>
          </a:prstGeom>
        </p:spPr>
      </p:pic>
      <p:pic>
        <p:nvPicPr>
          <p:cNvPr id="9" name="Image 3" descr="gen-dedup-21ef45ce7b5a5c51c3c76f1a539b7da0.png"/>
          <p:cNvPicPr>
            <a:picLocks noChangeAspect="1"/>
          </p:cNvPicPr>
          <p:nvPr/>
        </p:nvPicPr>
        <p:blipFill>
          <a:blip r:embed="rId5"/>
          <a:srcRect l="-403" r="-403"/>
          <a:stretch/>
        </p:blipFill>
        <p:spPr>
          <a:xfrm>
            <a:off x="9239098" y="2952598"/>
            <a:ext cx="57607" cy="590519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 · CASE-DRIVEN · “무엇을 가르쳤다”가 아니라 “어떤 변화를 만들었다”</a:t>
            </a:r>
            <a:endParaRPr lang="en-US" sz="155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의뢰처가 보고 싶은 건 “결과”다.</a:t>
            </a:r>
            <a:endParaRPr lang="en-US" sz="45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같은 강의를 두 가지 방식으로 적어봅니다. 같은 데이터인데 — 채택률이 완전히 달라집니다.</a:t>
            </a:r>
            <a:endParaRPr lang="en-US" sz="1700" dirty="0"/>
          </a:p>
        </p:txBody>
      </p:sp>
      <p:sp>
        <p:nvSpPr>
          <p:cNvPr id="13" name="Text 7"/>
          <p:cNvSpPr txBox="1"/>
          <p:nvPr/>
        </p:nvSpPr>
        <p:spPr>
          <a:xfrm>
            <a:off x="1410005" y="31811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4F1E8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 · 활동 중심 (흔한 표현)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410005" y="3715207"/>
            <a:ext cx="7392010" cy="4953305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 기업 사례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강의명: AI 활용 업무 자동화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일시: 2026.02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대상: 인사담당자 30명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시간: 2시간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내용:</a:t>
            </a:r>
          </a:p>
          <a:p>
            <a:pPr marL="285750" indent="0" algn="l">
              <a:lnSpc>
                <a:spcPct val="155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ChatGPT 기본 사용법</a:t>
            </a:r>
          </a:p>
          <a:p>
            <a:pPr marL="285750" indent="0" algn="l">
              <a:lnSpc>
                <a:spcPct val="155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프롬프트 엔지니어링</a:t>
            </a:r>
          </a:p>
          <a:p>
            <a:pPr marL="285750" indent="0" algn="l">
              <a:lnSpc>
                <a:spcPct val="155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업무 자동화 사례 5가지</a:t>
            </a:r>
          </a:p>
          <a:p>
            <a:pPr marL="285750" indent="0" algn="l">
              <a:lnSpc>
                <a:spcPct val="155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실습 진행</a:t>
            </a:r>
          </a:p>
          <a:p>
            <a:pPr marL="0" indent="0" algn="l">
              <a:lnSpc>
                <a:spcPct val="155000"/>
              </a:lnSpc>
              <a:spcBef>
                <a:spcPts val="1200"/>
              </a:spcBef>
              <a:buNone/>
            </a:pPr>
            <a:r>
              <a:rPr lang="en-US" sz="17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의뢰처 반응 — "수고하셨습니다."로 끝.</a:t>
            </a:r>
          </a:p>
        </p:txBody>
      </p:sp>
      <p:sp>
        <p:nvSpPr>
          <p:cNvPr id="15" name="Text 9"/>
          <p:cNvSpPr txBox="1"/>
          <p:nvPr/>
        </p:nvSpPr>
        <p:spPr>
          <a:xfrm>
            <a:off x="9506102" y="31811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 · 변화 중심 (같은 강의, 다른 표현)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9506102" y="3715207"/>
            <a:ext cx="7315200" cy="49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기업 · 인사담당자 30명 · 2시간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"채용 공고 작성 시간이 60분 → 12분"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강의 직후, 같은 자리에서 실측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전 상태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매주 평균 5개 채용 공고 작성, 각 60분 소요. 결과물도 글이 비슷비슷.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강의가 만든 변화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프롬프트 1개 + 회사용 톤 가이드 1쪽으로 — 1건 12분. 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주당 4시간 절감, 글의 일관성도 같이.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"강의가 끝나고 한 달 뒤 — 인사팀 전체에 이 방식이 표준이 되었습니다." 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A기업 인사팀장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9001354"/>
            <a:ext cx="16002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같은 데이터 — 한 쪽은 “했다”, 다른 쪽은 “바꿨다”. 의뢰처가 결재 올리고 싶은 건 항상 후자입니다.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46 / 60</a:t>
            </a:r>
            <a:endParaRPr lang="en-US" sz="1500" dirty="0"/>
          </a:p>
        </p:txBody>
      </p:sp>
      <p:sp>
        <p:nvSpPr>
          <p:cNvPr id="1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2689643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5162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47495" y="4095598"/>
            <a:ext cx="476402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72707" y="2952598"/>
            <a:ext cx="5162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6877202" y="4095598"/>
            <a:ext cx="476402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01500" y="2952598"/>
            <a:ext cx="5162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2305995" y="4095598"/>
            <a:ext cx="476402" cy="2834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143000" y="6001207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47495" y="7144207"/>
            <a:ext cx="476402" cy="28346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9239098" y="6001207"/>
            <a:ext cx="7905902" cy="28575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5" descr="gen-dedup-f9c4ee4670abd4f2604d62cf7153445d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9544507" y="7144207"/>
            <a:ext cx="476402" cy="28346"/>
          </a:xfrm>
          <a:prstGeom prst="rect">
            <a:avLst/>
          </a:prstGeom>
        </p:spPr>
      </p:pic>
      <p:pic>
        <p:nvPicPr>
          <p:cNvPr id="15" name="Image 6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143000" y="2952598"/>
            <a:ext cx="57607" cy="2857500"/>
          </a:xfrm>
          <a:prstGeom prst="rect">
            <a:avLst/>
          </a:prstGeom>
        </p:spPr>
      </p:pic>
      <p:pic>
        <p:nvPicPr>
          <p:cNvPr id="16" name="Image 7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572707" y="2952598"/>
            <a:ext cx="57607" cy="2857500"/>
          </a:xfrm>
          <a:prstGeom prst="rect">
            <a:avLst/>
          </a:prstGeom>
        </p:spPr>
      </p:pic>
      <p:pic>
        <p:nvPicPr>
          <p:cNvPr id="17" name="Image 8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2001500" y="2952598"/>
            <a:ext cx="57607" cy="2857500"/>
          </a:xfrm>
          <a:prstGeom prst="rect">
            <a:avLst/>
          </a:prstGeom>
        </p:spPr>
      </p:pic>
      <p:pic>
        <p:nvPicPr>
          <p:cNvPr id="18" name="Image 9" descr="gen-dedup-7b2f67a1afac65088981830def3b0bce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143000" y="6001207"/>
            <a:ext cx="57607" cy="2857500"/>
          </a:xfrm>
          <a:prstGeom prst="rect">
            <a:avLst/>
          </a:prstGeom>
        </p:spPr>
      </p:pic>
      <p:pic>
        <p:nvPicPr>
          <p:cNvPr id="19" name="Image 10" descr="gen-dedup-ea46db75aedecbc3301d91495594ff65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9239098" y="6001207"/>
            <a:ext cx="57607" cy="2857500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 · OUTCOME · 다섯 가지 신호 — 한 가지만 강해도 충분</a:t>
            </a:r>
            <a:endParaRPr lang="en-US" sz="1550" dirty="0"/>
          </a:p>
        </p:txBody>
      </p:sp>
      <p:sp>
        <p:nvSpPr>
          <p:cNvPr id="21" name="Text 8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“좋은 강의였습니다”는 신호가 아니다.</a:t>
            </a:r>
            <a:endParaRPr lang="en-US" sz="4500" dirty="0"/>
          </a:p>
        </p:txBody>
      </p:sp>
      <p:sp>
        <p:nvSpPr>
          <p:cNvPr id="22" name="Text 9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의뢰처가 다음 결재를 올릴 수 있는 다섯 가지 ‘구체적 신호’를 골라 적으세요.</a:t>
            </a:r>
            <a:endParaRPr lang="en-US" sz="1700" dirty="0"/>
          </a:p>
        </p:txBody>
      </p:sp>
      <p:sp>
        <p:nvSpPr>
          <p:cNvPr id="23" name="Text 10"/>
          <p:cNvSpPr txBox="1"/>
          <p:nvPr/>
        </p:nvSpPr>
        <p:spPr>
          <a:xfrm>
            <a:off x="1447495" y="316199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3750" dirty="0"/>
          </a:p>
        </p:txBody>
      </p:sp>
      <p:sp>
        <p:nvSpPr>
          <p:cNvPr id="24" name="Text 11"/>
          <p:cNvSpPr txBox="1"/>
          <p:nvPr/>
        </p:nvSpPr>
        <p:spPr>
          <a:xfrm>
            <a:off x="2247595" y="3238805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만족도 점수</a:t>
            </a:r>
            <a:endParaRPr lang="en-US" sz="2400" dirty="0"/>
          </a:p>
        </p:txBody>
      </p:sp>
      <p:sp>
        <p:nvSpPr>
          <p:cNvPr id="25" name="Text 12"/>
          <p:cNvSpPr txBox="1"/>
          <p:nvPr/>
        </p:nvSpPr>
        <p:spPr>
          <a:xfrm>
            <a:off x="2247595" y="3619195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SATISFACTION</a:t>
            </a:r>
            <a:endParaRPr lang="en-US" sz="1500" dirty="0"/>
          </a:p>
        </p:txBody>
      </p:sp>
      <p:sp>
        <p:nvSpPr>
          <p:cNvPr id="26" name="Text 13"/>
          <p:cNvSpPr txBox="1"/>
          <p:nvPr/>
        </p:nvSpPr>
        <p:spPr>
          <a:xfrm>
            <a:off x="1447495" y="4324198"/>
            <a:ext cx="45345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“만족도 4.7 / 5.0 (응답률 93%)”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응답률이</a:t>
            </a:r>
            <a:r>
              <a:rPr lang="en-US" sz="1550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빠지면 의심.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응답률 50% 미만이면 점수만 적고 응답률 생략.</a:t>
            </a:r>
            <a:endParaRPr lang="en-US" sz="1550" dirty="0"/>
          </a:p>
        </p:txBody>
      </p:sp>
      <p:sp>
        <p:nvSpPr>
          <p:cNvPr id="27" name="Text 14"/>
          <p:cNvSpPr txBox="1"/>
          <p:nvPr/>
        </p:nvSpPr>
        <p:spPr>
          <a:xfrm>
            <a:off x="6877202" y="316199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3750" dirty="0"/>
          </a:p>
        </p:txBody>
      </p:sp>
      <p:sp>
        <p:nvSpPr>
          <p:cNvPr id="28" name="Text 15"/>
          <p:cNvSpPr txBox="1"/>
          <p:nvPr/>
        </p:nvSpPr>
        <p:spPr>
          <a:xfrm>
            <a:off x="7677302" y="3238805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참여자 수</a:t>
            </a:r>
            <a:endParaRPr lang="en-US" sz="2400" dirty="0"/>
          </a:p>
        </p:txBody>
      </p:sp>
      <p:sp>
        <p:nvSpPr>
          <p:cNvPr id="29" name="Text 16"/>
          <p:cNvSpPr txBox="1"/>
          <p:nvPr/>
        </p:nvSpPr>
        <p:spPr>
          <a:xfrm>
            <a:off x="7677302" y="3619195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SCALE</a:t>
            </a:r>
            <a:endParaRPr lang="en-US" sz="1500" dirty="0"/>
          </a:p>
        </p:txBody>
      </p:sp>
      <p:sp>
        <p:nvSpPr>
          <p:cNvPr id="30" name="Text 17"/>
          <p:cNvSpPr txBox="1"/>
          <p:nvPr/>
        </p:nvSpPr>
        <p:spPr>
          <a:xfrm>
            <a:off x="6877202" y="4324198"/>
            <a:ext cx="45345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“누적 1,200명 / 35회 강의”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합산은 1년 이상 누적일 때만.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해 안에 만든 숫자는 그대로.</a:t>
            </a:r>
            <a:endParaRPr lang="en-US" sz="1550" dirty="0"/>
          </a:p>
        </p:txBody>
      </p:sp>
      <p:sp>
        <p:nvSpPr>
          <p:cNvPr id="31" name="Text 18"/>
          <p:cNvSpPr txBox="1"/>
          <p:nvPr/>
        </p:nvSpPr>
        <p:spPr>
          <a:xfrm>
            <a:off x="12305995" y="316199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3750" dirty="0"/>
          </a:p>
        </p:txBody>
      </p:sp>
      <p:sp>
        <p:nvSpPr>
          <p:cNvPr id="32" name="Text 19"/>
          <p:cNvSpPr txBox="1"/>
          <p:nvPr/>
        </p:nvSpPr>
        <p:spPr>
          <a:xfrm>
            <a:off x="13106095" y="3238805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재의뢰율</a:t>
            </a:r>
            <a:endParaRPr lang="en-US" sz="2400" dirty="0"/>
          </a:p>
        </p:txBody>
      </p:sp>
      <p:sp>
        <p:nvSpPr>
          <p:cNvPr id="33" name="Text 20"/>
          <p:cNvSpPr txBox="1"/>
          <p:nvPr/>
        </p:nvSpPr>
        <p:spPr>
          <a:xfrm>
            <a:off x="13106095" y="3619195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REPEAT RATE</a:t>
            </a:r>
            <a:endParaRPr lang="en-US" sz="1500" dirty="0"/>
          </a:p>
        </p:txBody>
      </p:sp>
      <p:sp>
        <p:nvSpPr>
          <p:cNvPr id="34" name="Text 21"/>
          <p:cNvSpPr txBox="1"/>
          <p:nvPr/>
        </p:nvSpPr>
        <p:spPr>
          <a:xfrm>
            <a:off x="12305995" y="4324198"/>
            <a:ext cx="45345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 강한 신호.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“A기업 3년 연속 재의뢰”,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“수강생의 50%가 1년 내 재수강.”</a:t>
            </a:r>
            <a:endParaRPr lang="en-US" sz="1550" dirty="0"/>
          </a:p>
        </p:txBody>
      </p:sp>
      <p:sp>
        <p:nvSpPr>
          <p:cNvPr id="35" name="Text 22"/>
          <p:cNvSpPr txBox="1"/>
          <p:nvPr/>
        </p:nvSpPr>
        <p:spPr>
          <a:xfrm>
            <a:off x="1447495" y="621060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3750" dirty="0"/>
          </a:p>
        </p:txBody>
      </p:sp>
      <p:sp>
        <p:nvSpPr>
          <p:cNvPr id="36" name="Text 23"/>
          <p:cNvSpPr txBox="1"/>
          <p:nvPr/>
        </p:nvSpPr>
        <p:spPr>
          <a:xfrm>
            <a:off x="2247595" y="6286500"/>
            <a:ext cx="5715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수강생 결과물</a:t>
            </a:r>
            <a:endParaRPr lang="en-US" sz="2400" dirty="0"/>
          </a:p>
        </p:txBody>
      </p:sp>
      <p:sp>
        <p:nvSpPr>
          <p:cNvPr id="37" name="Text 24"/>
          <p:cNvSpPr txBox="1"/>
          <p:nvPr/>
        </p:nvSpPr>
        <p:spPr>
          <a:xfrm>
            <a:off x="2247595" y="66678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DELIVERABLE</a:t>
            </a:r>
            <a:endParaRPr lang="en-US" sz="1500" dirty="0"/>
          </a:p>
        </p:txBody>
      </p:sp>
      <p:sp>
        <p:nvSpPr>
          <p:cNvPr id="38" name="Text 25"/>
          <p:cNvSpPr txBox="1"/>
          <p:nvPr/>
        </p:nvSpPr>
        <p:spPr>
          <a:xfrm>
            <a:off x="1447495" y="7372807"/>
            <a:ext cx="7296912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 강의 후 손에 들고 나간 것.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사진 1장이 만족도 점수보다 강합니다.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“30명 전원 — 본인 강의 제안서 1쪽 완성. 12명이 3개월 내 실제 의뢰 수주.”</a:t>
            </a:r>
            <a:endParaRPr lang="en-US" sz="1700" dirty="0"/>
          </a:p>
        </p:txBody>
      </p:sp>
      <p:sp>
        <p:nvSpPr>
          <p:cNvPr id="39" name="Text 26"/>
          <p:cNvSpPr txBox="1"/>
          <p:nvPr/>
        </p:nvSpPr>
        <p:spPr>
          <a:xfrm>
            <a:off x="9544507" y="6210605"/>
            <a:ext cx="762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3750" dirty="0"/>
          </a:p>
        </p:txBody>
      </p:sp>
      <p:sp>
        <p:nvSpPr>
          <p:cNvPr id="40" name="Text 27"/>
          <p:cNvSpPr txBox="1"/>
          <p:nvPr/>
        </p:nvSpPr>
        <p:spPr>
          <a:xfrm>
            <a:off x="10344607" y="6286500"/>
            <a:ext cx="5715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현장 반응 한 줄</a:t>
            </a:r>
            <a:endParaRPr lang="en-US" sz="2400" dirty="0"/>
          </a:p>
        </p:txBody>
      </p:sp>
      <p:sp>
        <p:nvSpPr>
          <p:cNvPr id="41" name="Text 28"/>
          <p:cNvSpPr txBox="1"/>
          <p:nvPr/>
        </p:nvSpPr>
        <p:spPr>
          <a:xfrm>
            <a:off x="10344607" y="66678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QUOTE</a:t>
            </a:r>
            <a:endParaRPr lang="en-US" sz="1500" dirty="0"/>
          </a:p>
        </p:txBody>
      </p:sp>
      <p:sp>
        <p:nvSpPr>
          <p:cNvPr id="42" name="Text 29"/>
          <p:cNvSpPr txBox="1"/>
          <p:nvPr/>
        </p:nvSpPr>
        <p:spPr>
          <a:xfrm>
            <a:off x="9544507" y="7391095"/>
            <a:ext cx="523128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i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“이 강의가 끝나고 우리 팀 회의 방식이 바뀌었어요.”</a:t>
            </a:r>
            <a:endParaRPr lang="en-US" sz="1750" dirty="0"/>
          </a:p>
        </p:txBody>
      </p:sp>
      <p:sp>
        <p:nvSpPr>
          <p:cNvPr id="43" name="Text 30"/>
          <p:cNvSpPr txBox="1"/>
          <p:nvPr/>
        </p:nvSpPr>
        <p:spPr>
          <a:xfrm>
            <a:off x="9544507" y="7719365"/>
            <a:ext cx="518007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만족도 설문 주관식에서 그대로 인용. 출처(소속·이름)는 동의 받을 것.</a:t>
            </a:r>
            <a:endParaRPr lang="en-US" sz="1500" dirty="0"/>
          </a:p>
        </p:txBody>
      </p:sp>
      <p:sp>
        <p:nvSpPr>
          <p:cNvPr id="44" name="Text 31"/>
          <p:cNvSpPr txBox="1"/>
          <p:nvPr/>
        </p:nvSpPr>
        <p:spPr>
          <a:xfrm>
            <a:off x="1143000" y="9001354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다섯 중 — 약한 신호 5개를 모으는 것보다 </a:t>
            </a:r>
            <a:r>
              <a:rPr lang="en-US" sz="15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강한 신호 1개를 큰 글씨로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보여주는 게 효과적입니다.</a:t>
            </a:r>
            <a:endParaRPr lang="en-US" sz="1550" dirty="0"/>
          </a:p>
        </p:txBody>
      </p:sp>
      <p:sp>
        <p:nvSpPr>
          <p:cNvPr id="45" name="Text 32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47 / 60</a:t>
            </a:r>
            <a:endParaRPr lang="en-US" sz="15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050177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4143146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5333695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6524244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7715707"/>
            <a:ext cx="16002000" cy="1095451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2952598"/>
            <a:ext cx="1047902" cy="1095451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4143146"/>
            <a:ext cx="1047902" cy="1095451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5333695"/>
            <a:ext cx="1047902" cy="1095451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43000" y="6524244"/>
            <a:ext cx="1047902" cy="1095451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7715707"/>
            <a:ext cx="1047902" cy="1095451"/>
          </a:xfrm>
          <a:prstGeom prst="rect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 · DIFFERENTIATION · 다섯 개의 축 — 본인이 어디에 서 있는지 안다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차별화 = 어떤 ‘기반’에 서 있는가.</a:t>
            </a:r>
            <a:endParaRPr lang="en-US" sz="45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다섯 축 중 — </a:t>
            </a:r>
            <a:r>
              <a:rPr lang="en-US" sz="17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본인이 가장 강하게 서 있는 2축</a:t>
            </a: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차별화 문장의 재료입니다.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066898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4150" dirty="0"/>
          </a:p>
        </p:txBody>
      </p:sp>
      <p:sp>
        <p:nvSpPr>
          <p:cNvPr id="19" name="Text 16"/>
          <p:cNvSpPr txBox="1"/>
          <p:nvPr/>
        </p:nvSpPr>
        <p:spPr>
          <a:xfrm>
            <a:off x="2495398" y="31053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495398" y="3409798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경험 기반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4591455" y="3181198"/>
            <a:ext cx="876244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“내가 그 자리에 있어봤다.” 예) 헤드헌터 출신 채용 강사, 콜센터 출신 CS 강사.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독자가 즉시 신뢰하는 가장 직관적 축.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3525805" y="3181198"/>
            <a:ext cx="342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포트폴리오에 들어갈 형태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회사명·직책·기간 1줄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4257446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4150" dirty="0"/>
          </a:p>
        </p:txBody>
      </p:sp>
      <p:sp>
        <p:nvSpPr>
          <p:cNvPr id="24" name="Text 21"/>
          <p:cNvSpPr txBox="1"/>
          <p:nvPr/>
        </p:nvSpPr>
        <p:spPr>
          <a:xfrm>
            <a:off x="2495398" y="4295851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2495398" y="4600346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실무 기반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4591455" y="4371746"/>
            <a:ext cx="876244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“지금도 그 일을 하고 있다.” 예) 현직 CMO가 가르치는 마케팅, 현직 엔지니어의 코딩.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“이론만 가르치는 강사가 아니다”의 강한 신호.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13525805" y="4371746"/>
            <a:ext cx="342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포트폴리오에 들어갈 형태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현직 프로젝트 1개 노출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5447995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4150" dirty="0"/>
          </a:p>
        </p:txBody>
      </p:sp>
      <p:sp>
        <p:nvSpPr>
          <p:cNvPr id="29" name="Text 26"/>
          <p:cNvSpPr txBox="1"/>
          <p:nvPr/>
        </p:nvSpPr>
        <p:spPr>
          <a:xfrm>
            <a:off x="2495398" y="5486400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RESEARCH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2495398" y="5790895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연구 기반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4591455" y="5562295"/>
            <a:ext cx="876244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“그 분야의 데이터를 직접 다룬다.” 예) 200명 인터뷰 후 만든 강의, 산업 리포트 저자.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학술·전문가 강의에서 가장 강한 축.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13525805" y="5562295"/>
            <a:ext cx="342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포트폴리오에 들어갈 형태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데이터 1개 + 인용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6638544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4150" dirty="0"/>
          </a:p>
        </p:txBody>
      </p:sp>
      <p:sp>
        <p:nvSpPr>
          <p:cNvPr id="34" name="Text 31"/>
          <p:cNvSpPr txBox="1"/>
          <p:nvPr/>
        </p:nvSpPr>
        <p:spPr>
          <a:xfrm>
            <a:off x="2495398" y="6676949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2495398" y="6981444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기술 기반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4591455" y="6752844"/>
            <a:ext cx="876244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 강사는 도구를 다룬다.” 예) AI 자동화 강사, 노션 강사, 데이터 분석 강사.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최근 의뢰가 빠르게 늘고 있는 축.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13525805" y="6752844"/>
            <a:ext cx="342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포트폴리오에 들어갈 형태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도구 화면 캡처 1장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" y="7830007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4150" dirty="0"/>
          </a:p>
        </p:txBody>
      </p:sp>
      <p:sp>
        <p:nvSpPr>
          <p:cNvPr id="39" name="Text 36"/>
          <p:cNvSpPr txBox="1"/>
          <p:nvPr/>
        </p:nvSpPr>
        <p:spPr>
          <a:xfrm>
            <a:off x="2495398" y="78674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MENTORING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2495398" y="8172907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멘토링 기반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4591455" y="7944307"/>
            <a:ext cx="876244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“강의 후에도 옆에 있다.” 예) 1:1 멘토링 패키지, 단톡방 운영, 3개월 후속 관리.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강의료가 아니라 ‘관계의 깊이’로 차별화하는 축.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13525805" y="7944307"/>
            <a:ext cx="342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포트폴리오에 들어갈 형태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멘티 변화 1건 인용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143000" y="9001354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당신에게 가장 강한 축은? 다음 슬라이드 실습 4 — “나의 차별화 문장 3개 + 근거”에서 직접 적습니다.</a:t>
            </a:r>
            <a:endParaRPr lang="en-US" sz="190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48 / 60</a:t>
            </a:r>
            <a:endParaRPr lang="en-US" sz="15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6689146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811098" y="1619402"/>
            <a:ext cx="3333902" cy="1238098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3143707"/>
            <a:ext cx="5286146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447495" y="4000500"/>
            <a:ext cx="4677156" cy="476402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447495" y="4953305"/>
            <a:ext cx="4677156" cy="972007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447495" y="6381598"/>
            <a:ext cx="4677156" cy="1543507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505956" y="3143707"/>
            <a:ext cx="5286146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810451" y="4000500"/>
            <a:ext cx="4677156" cy="476402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810451" y="4953305"/>
            <a:ext cx="4677156" cy="972007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810451" y="6381598"/>
            <a:ext cx="4677156" cy="1543507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11867998" y="3143707"/>
            <a:ext cx="5277002" cy="49533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2173407" y="4000500"/>
            <a:ext cx="4686300" cy="4764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2173407" y="4953305"/>
            <a:ext cx="4686300" cy="972007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12173407" y="6381598"/>
            <a:ext cx="4686300" cy="1543507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143000" y="8287207"/>
            <a:ext cx="16059607" cy="571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1143000" y="8287207"/>
            <a:ext cx="57607" cy="57150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gen-dedup-e2206c5c145e55646b7e2bc1a9630edc.png"/>
          <p:cNvPicPr>
            <a:picLocks noChangeAspect="1"/>
          </p:cNvPicPr>
          <p:nvPr/>
        </p:nvPicPr>
        <p:blipFill>
          <a:blip r:embed="rId3"/>
          <a:srcRect l="-406" r="-406"/>
          <a:stretch/>
        </p:blipFill>
        <p:spPr>
          <a:xfrm>
            <a:off x="13811098" y="1619402"/>
            <a:ext cx="57607" cy="1238098"/>
          </a:xfrm>
          <a:prstGeom prst="rect">
            <a:avLst/>
          </a:prstGeom>
        </p:spPr>
      </p:pic>
      <p:pic>
        <p:nvPicPr>
          <p:cNvPr id="22" name="Image 2" descr="gen-dedup-1979c08265099a7e1698b843526ab93e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1143000" y="3143707"/>
            <a:ext cx="57607" cy="4953305"/>
          </a:xfrm>
          <a:prstGeom prst="rect">
            <a:avLst/>
          </a:prstGeom>
        </p:spPr>
      </p:pic>
      <p:pic>
        <p:nvPicPr>
          <p:cNvPr id="23" name="Image 3" descr="gen-dedup-1979c08265099a7e1698b843526ab93e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6505956" y="3143707"/>
            <a:ext cx="57607" cy="4953305"/>
          </a:xfrm>
          <a:prstGeom prst="rect">
            <a:avLst/>
          </a:prstGeom>
        </p:spPr>
      </p:pic>
      <p:pic>
        <p:nvPicPr>
          <p:cNvPr id="24" name="Image 4" descr="gen-dedup-e9009bf151d2404de74136296aa2ca8e.png"/>
          <p:cNvPicPr>
            <a:picLocks noChangeAspect="1"/>
          </p:cNvPicPr>
          <p:nvPr/>
        </p:nvPicPr>
        <p:blipFill>
          <a:blip r:embed="rId5"/>
          <a:srcRect l="-397" r="-397"/>
          <a:stretch/>
        </p:blipFill>
        <p:spPr>
          <a:xfrm>
            <a:off x="11867998" y="3143707"/>
            <a:ext cx="57607" cy="49533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04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3238805" y="761695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종이 한 장 · 12분 · </a:t>
            </a: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3개 다 채우려 하지 마세요. 1개라도 깊게.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1143000" y="1695298"/>
            <a:ext cx="11430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내 차별화 문장 3개 — 근거와 함께.</a:t>
            </a:r>
            <a:endParaRPr lang="en-US" sz="4350" dirty="0"/>
          </a:p>
        </p:txBody>
      </p:sp>
      <p:pic>
        <p:nvPicPr>
          <p:cNvPr id="28" name="Image 5" descr="gen-dedup-27d062dff674067c162ae25c57f9607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058900" y="1848002"/>
            <a:ext cx="571500" cy="5715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63902" y="1752905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7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TIMER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4763902" y="2018995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5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r>
              <a:rPr lang="en-US" sz="210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min</a:t>
            </a:r>
            <a:endParaRPr lang="en-US" sz="3850" dirty="0"/>
          </a:p>
        </p:txBody>
      </p:sp>
      <p:sp>
        <p:nvSpPr>
          <p:cNvPr id="31" name="Text 23"/>
          <p:cNvSpPr txBox="1"/>
          <p:nvPr/>
        </p:nvSpPr>
        <p:spPr>
          <a:xfrm>
            <a:off x="1143000" y="2533802"/>
            <a:ext cx="12382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도움말 · “문장은 짧게. 근거가 길어야 합니다.”</a:t>
            </a:r>
            <a:endParaRPr lang="en-US" sz="1650" dirty="0"/>
          </a:p>
        </p:txBody>
      </p:sp>
      <p:sp>
        <p:nvSpPr>
          <p:cNvPr id="32" name="Text 24"/>
          <p:cNvSpPr txBox="1"/>
          <p:nvPr/>
        </p:nvSpPr>
        <p:spPr>
          <a:xfrm>
            <a:off x="1447495" y="3372307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STRENGTH · 01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1447495" y="3676802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기반 축 (슬라이드 48 중 1개) →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1561795" y="4095598"/>
            <a:ext cx="44293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750" dirty="0"/>
          </a:p>
        </p:txBody>
      </p:sp>
      <p:sp>
        <p:nvSpPr>
          <p:cNvPr id="35" name="Text 27"/>
          <p:cNvSpPr txBox="1"/>
          <p:nvPr/>
        </p:nvSpPr>
        <p:spPr>
          <a:xfrm>
            <a:off x="1447495" y="4629607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 문장으로 강점 →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1561795" y="5086807"/>
            <a:ext cx="4429354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1447495" y="6057900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근거 사례 1건 →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561795" y="6515100"/>
            <a:ext cx="4429354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39" name="Text 31"/>
          <p:cNvSpPr txBox="1"/>
          <p:nvPr/>
        </p:nvSpPr>
        <p:spPr>
          <a:xfrm>
            <a:off x="6810451" y="3372307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STRENGTH · 02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6810451" y="3676802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기반 축 (슬라이드 48 중 1개) →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6924751" y="4095598"/>
            <a:ext cx="44293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750" dirty="0"/>
          </a:p>
        </p:txBody>
      </p:sp>
      <p:sp>
        <p:nvSpPr>
          <p:cNvPr id="42" name="Text 34"/>
          <p:cNvSpPr txBox="1"/>
          <p:nvPr/>
        </p:nvSpPr>
        <p:spPr>
          <a:xfrm>
            <a:off x="6810451" y="4629607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 문장으로 강점 →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6924751" y="5086807"/>
            <a:ext cx="4429354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700" dirty="0"/>
          </a:p>
        </p:txBody>
      </p:sp>
      <p:sp>
        <p:nvSpPr>
          <p:cNvPr id="44" name="Text 36"/>
          <p:cNvSpPr txBox="1"/>
          <p:nvPr/>
        </p:nvSpPr>
        <p:spPr>
          <a:xfrm>
            <a:off x="6810451" y="6057900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근거 사례 1건 →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6924751" y="6515100"/>
            <a:ext cx="4429354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46" name="Text 38"/>
          <p:cNvSpPr txBox="1"/>
          <p:nvPr/>
        </p:nvSpPr>
        <p:spPr>
          <a:xfrm>
            <a:off x="12173407" y="3372307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STRENGTH · 03</a:t>
            </a:r>
            <a:endParaRPr lang="en-US" sz="1500" dirty="0"/>
          </a:p>
        </p:txBody>
      </p:sp>
      <p:sp>
        <p:nvSpPr>
          <p:cNvPr id="47" name="Text 39"/>
          <p:cNvSpPr txBox="1"/>
          <p:nvPr/>
        </p:nvSpPr>
        <p:spPr>
          <a:xfrm>
            <a:off x="12173407" y="3676802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기반 축 (슬라이드 48 중 1개) →</a:t>
            </a:r>
            <a:endParaRPr lang="en-US" sz="1500" dirty="0"/>
          </a:p>
        </p:txBody>
      </p:sp>
      <p:sp>
        <p:nvSpPr>
          <p:cNvPr id="48" name="Text 40"/>
          <p:cNvSpPr txBox="1"/>
          <p:nvPr/>
        </p:nvSpPr>
        <p:spPr>
          <a:xfrm>
            <a:off x="12287707" y="4095598"/>
            <a:ext cx="44394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750" dirty="0"/>
          </a:p>
        </p:txBody>
      </p:sp>
      <p:sp>
        <p:nvSpPr>
          <p:cNvPr id="49" name="Text 41"/>
          <p:cNvSpPr txBox="1"/>
          <p:nvPr/>
        </p:nvSpPr>
        <p:spPr>
          <a:xfrm>
            <a:off x="12173407" y="4629607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 문장으로 강점 →</a:t>
            </a:r>
            <a:endParaRPr lang="en-US" sz="1500" dirty="0"/>
          </a:p>
        </p:txBody>
      </p:sp>
      <p:sp>
        <p:nvSpPr>
          <p:cNvPr id="50" name="Text 42"/>
          <p:cNvSpPr txBox="1"/>
          <p:nvPr/>
        </p:nvSpPr>
        <p:spPr>
          <a:xfrm>
            <a:off x="12287707" y="5086807"/>
            <a:ext cx="44394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700" dirty="0"/>
          </a:p>
        </p:txBody>
      </p:sp>
      <p:sp>
        <p:nvSpPr>
          <p:cNvPr id="51" name="Text 43"/>
          <p:cNvSpPr txBox="1"/>
          <p:nvPr/>
        </p:nvSpPr>
        <p:spPr>
          <a:xfrm>
            <a:off x="12173407" y="6057900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근거 사례 1건 →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2287707" y="6515100"/>
            <a:ext cx="4439412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53" name="Text 45"/>
          <p:cNvSpPr txBox="1"/>
          <p:nvPr/>
        </p:nvSpPr>
        <p:spPr>
          <a:xfrm>
            <a:off x="1429207" y="8429854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완성한 3개 — 표지 다음 “About” 쪽에 그대로 들어갑니다. 슬라이드 50의 디자인 기본 구조와 연결.</a:t>
            </a:r>
            <a:endParaRPr lang="en-US" sz="1550" dirty="0"/>
          </a:p>
        </p:txBody>
      </p:sp>
      <p:sp>
        <p:nvSpPr>
          <p:cNvPr id="54" name="Text 46"/>
          <p:cNvSpPr txBox="1"/>
          <p:nvPr/>
        </p:nvSpPr>
        <p:spPr>
          <a:xfrm>
            <a:off x="1143000" y="9001354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체크 — 근거가 “OO 회사에서 5년” 정도라면 약합니다. </a:t>
            </a:r>
            <a:r>
              <a:rPr lang="en-US" sz="1650" b="1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구체적 사건·숫자·결과가 들어가야 차별점이 살아납니다.</a:t>
            </a:r>
            <a:endParaRPr lang="en-US" sz="1650" dirty="0"/>
          </a:p>
        </p:txBody>
      </p:sp>
      <p:sp>
        <p:nvSpPr>
          <p:cNvPr id="55" name="Text 47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04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49 / 60</a:t>
            </a:r>
            <a:endParaRPr lang="en-US" sz="1500" dirty="0"/>
          </a:p>
        </p:txBody>
      </p:sp>
      <p:sp>
        <p:nvSpPr>
          <p:cNvPr id="5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379166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2952598"/>
            <a:ext cx="16021202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3866998"/>
            <a:ext cx="16021202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4781398"/>
            <a:ext cx="16021202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5695798"/>
            <a:ext cx="16021202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6610198"/>
            <a:ext cx="16021202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7524598"/>
            <a:ext cx="16021202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8438998"/>
            <a:ext cx="16002000" cy="8385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· 03 DESIGN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이제 콘텐츠가 모였습니다. 어떻게 배열할지의 영역으로.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1695298"/>
            <a:ext cx="1600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포트폴리오의 일곱 페이지 — 순서가 메시지.</a:t>
            </a:r>
            <a:endParaRPr lang="en-US" sz="43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476195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페이지 순서가 곧 결재권자의 사고 흐름입니다. 이 순서를 흐트리면 보는 사람이 길을 잃습니다.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447495" y="3066898"/>
            <a:ext cx="571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2190902" y="3086100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표지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2190902" y="33905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COVER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048402" y="3143707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 + 한 문장 소개 + 사진 + 연락처.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여백 70% 이상.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글자 많으면 무겁다.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3144500" y="3143707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“이 강사 누구?” 답을 5초 안에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47495" y="3981298"/>
            <a:ext cx="571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2190902" y="4000500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목차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2190902" y="43049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048402" y="4058107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페이지 번호와 함께. 10장형이면 생략, 20장형부터 필수.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13144500" y="4058107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어디에 무엇이 있는지 1쪽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447495" y="4895698"/>
            <a:ext cx="571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2190902" y="4914900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프로필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2190902" y="52193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ABOUT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048402" y="4972507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문장 소개 + 차별화 3문장 + 약력 (실습 4 결과 그대로).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13144500" y="4972507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“왜 이 강사를 고르는가”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447495" y="5810098"/>
            <a:ext cx="571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3200" dirty="0"/>
          </a:p>
        </p:txBody>
      </p:sp>
      <p:sp>
        <p:nvSpPr>
          <p:cNvPr id="33" name="Text 30"/>
          <p:cNvSpPr txBox="1"/>
          <p:nvPr/>
        </p:nvSpPr>
        <p:spPr>
          <a:xfrm>
            <a:off x="2190902" y="5829300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대표 강의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2190902" y="61337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SIGNATURE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048402" y="5886907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1~3개. 슬라이드 44의 “6칸 1쪽” 양식 그대로.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13144500" y="5886907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“무엇을 어떻게 가르치는가”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447495" y="6724498"/>
            <a:ext cx="571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3200" dirty="0"/>
          </a:p>
        </p:txBody>
      </p:sp>
      <p:sp>
        <p:nvSpPr>
          <p:cNvPr id="38" name="Text 35"/>
          <p:cNvSpPr txBox="1"/>
          <p:nvPr/>
        </p:nvSpPr>
        <p:spPr>
          <a:xfrm>
            <a:off x="2190902" y="6743700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실적</a:t>
            </a:r>
            <a:endParaRPr lang="en-US" sz="2100" dirty="0"/>
          </a:p>
        </p:txBody>
      </p:sp>
      <p:sp>
        <p:nvSpPr>
          <p:cNvPr id="39" name="Text 36"/>
          <p:cNvSpPr txBox="1"/>
          <p:nvPr/>
        </p:nvSpPr>
        <p:spPr>
          <a:xfrm>
            <a:off x="2190902" y="70481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 RECORD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048402" y="6801307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슬라이드 43의 7칸 표. 한 페이지에 6~8행. 그 이상은 별첨.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13144500" y="6801307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“얼마나, 어디서”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447495" y="7638898"/>
            <a:ext cx="571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06</a:t>
            </a:r>
            <a:endParaRPr lang="en-US" sz="3200" dirty="0"/>
          </a:p>
        </p:txBody>
      </p:sp>
      <p:sp>
        <p:nvSpPr>
          <p:cNvPr id="43" name="Text 40"/>
          <p:cNvSpPr txBox="1"/>
          <p:nvPr/>
        </p:nvSpPr>
        <p:spPr>
          <a:xfrm>
            <a:off x="2190902" y="7658100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사례·후기</a:t>
            </a:r>
            <a:endParaRPr lang="en-US" sz="2100" dirty="0"/>
          </a:p>
        </p:txBody>
      </p:sp>
      <p:sp>
        <p:nvSpPr>
          <p:cNvPr id="44" name="Text 41"/>
          <p:cNvSpPr txBox="1"/>
          <p:nvPr/>
        </p:nvSpPr>
        <p:spPr>
          <a:xfrm>
            <a:off x="2190902" y="79625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CASES &amp; QUOTES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5048402" y="7715707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2~3건. 슬라이드 46의 “변화 중심” 양식. 사진 1장 동반.</a:t>
            </a:r>
            <a:endParaRPr lang="en-US" sz="1700" dirty="0"/>
          </a:p>
        </p:txBody>
      </p:sp>
      <p:sp>
        <p:nvSpPr>
          <p:cNvPr id="46" name="Text 43"/>
          <p:cNvSpPr txBox="1"/>
          <p:nvPr/>
        </p:nvSpPr>
        <p:spPr>
          <a:xfrm>
            <a:off x="13144500" y="7715707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“어떤 변화를 만들었는가”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447495" y="8553298"/>
            <a:ext cx="571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BD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07</a:t>
            </a:r>
            <a:endParaRPr lang="en-US" sz="3200" dirty="0"/>
          </a:p>
        </p:txBody>
      </p:sp>
      <p:sp>
        <p:nvSpPr>
          <p:cNvPr id="48" name="Text 45"/>
          <p:cNvSpPr txBox="1"/>
          <p:nvPr/>
        </p:nvSpPr>
        <p:spPr>
          <a:xfrm>
            <a:off x="2190902" y="8572500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연락처</a:t>
            </a:r>
            <a:endParaRPr lang="en-US" sz="2100" dirty="0"/>
          </a:p>
        </p:txBody>
      </p:sp>
      <p:sp>
        <p:nvSpPr>
          <p:cNvPr id="49" name="Text 46"/>
          <p:cNvSpPr txBox="1"/>
          <p:nvPr/>
        </p:nvSpPr>
        <p:spPr>
          <a:xfrm>
            <a:off x="2190902" y="88769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48402" y="8630107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이메일 + 휴대폰 + 웹 포트폴리오 링크. </a:t>
            </a: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손글씨 폰트 금지.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명함처럼.</a:t>
            </a:r>
            <a:endParaRPr lang="en-US" sz="1700" dirty="0"/>
          </a:p>
        </p:txBody>
      </p:sp>
      <p:sp>
        <p:nvSpPr>
          <p:cNvPr id="51" name="Text 48"/>
          <p:cNvSpPr txBox="1"/>
          <p:nvPr/>
        </p:nvSpPr>
        <p:spPr>
          <a:xfrm>
            <a:off x="13144500" y="8630107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“어떻게 연락하는가”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PART 03 · DESIGN · 50 / 60</a:t>
            </a:r>
            <a:endParaRPr lang="en-US" sz="1500" dirty="0"/>
          </a:p>
        </p:txBody>
      </p:sp>
      <p:sp>
        <p:nvSpPr>
          <p:cNvPr id="5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687632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3066898" cy="2590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1371600" y="3981298"/>
            <a:ext cx="381305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81805" y="2952598"/>
            <a:ext cx="3066898" cy="2590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4610405" y="3981298"/>
            <a:ext cx="381305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19695" y="2952598"/>
            <a:ext cx="3066898" cy="2590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7848295" y="3981298"/>
            <a:ext cx="381305" cy="2834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0858500" y="2952598"/>
            <a:ext cx="3066898" cy="2590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11087100" y="3981298"/>
            <a:ext cx="381305" cy="28346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14097305" y="2952598"/>
            <a:ext cx="3066898" cy="2590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5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14325905" y="3981298"/>
            <a:ext cx="381305" cy="28346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1143000" y="5715000"/>
            <a:ext cx="3066898" cy="2590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6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1371600" y="6743700"/>
            <a:ext cx="381305" cy="28346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381805" y="5715000"/>
            <a:ext cx="3066898" cy="2590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7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4610405" y="6743700"/>
            <a:ext cx="381305" cy="28346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7619695" y="5715000"/>
            <a:ext cx="3066898" cy="2590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8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7848295" y="6743700"/>
            <a:ext cx="381305" cy="28346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10858500" y="5715000"/>
            <a:ext cx="3066898" cy="2590495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9" descr="gen-dedup-8d77b4d255bf0a2204771c3b14eaa8e0.png"/>
          <p:cNvPicPr>
            <a:picLocks noChangeAspect="1"/>
          </p:cNvPicPr>
          <p:nvPr/>
        </p:nvPicPr>
        <p:blipFill>
          <a:blip r:embed="rId3"/>
          <a:srcRect l="-445" r="-445"/>
          <a:stretch/>
        </p:blipFill>
        <p:spPr>
          <a:xfrm>
            <a:off x="11087100" y="6743700"/>
            <a:ext cx="381305" cy="28346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14097305" y="5715000"/>
            <a:ext cx="3047695" cy="2572207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0" descr="gen-dedup-4e82c2fe96c6a05372bafb2d317bd597.png"/>
          <p:cNvPicPr>
            <a:picLocks noChangeAspect="1"/>
          </p:cNvPicPr>
          <p:nvPr/>
        </p:nvPicPr>
        <p:blipFill>
          <a:blip r:embed="rId4"/>
          <a:srcRect l="-445" r="-445"/>
          <a:stretch/>
        </p:blipFill>
        <p:spPr>
          <a:xfrm>
            <a:off x="14325905" y="6743700"/>
            <a:ext cx="381305" cy="28346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1143000" y="8524951"/>
            <a:ext cx="16059607" cy="761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3"/>
          <p:cNvSpPr/>
          <p:nvPr/>
        </p:nvSpPr>
        <p:spPr>
          <a:xfrm>
            <a:off x="1143000" y="8524951"/>
            <a:ext cx="57607" cy="761695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1" descr="gen-dedup-417922e492635d60a3ff0818802156f1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1143000" y="2952598"/>
            <a:ext cx="3047695" cy="57607"/>
          </a:xfrm>
          <a:prstGeom prst="rect">
            <a:avLst/>
          </a:prstGeom>
        </p:spPr>
      </p:pic>
      <p:pic>
        <p:nvPicPr>
          <p:cNvPr id="28" name="Image 12" descr="gen-dedup-417922e492635d60a3ff0818802156f1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4381805" y="2952598"/>
            <a:ext cx="3047695" cy="57607"/>
          </a:xfrm>
          <a:prstGeom prst="rect">
            <a:avLst/>
          </a:prstGeom>
        </p:spPr>
      </p:pic>
      <p:pic>
        <p:nvPicPr>
          <p:cNvPr id="29" name="Image 13" descr="gen-dedup-417922e492635d60a3ff0818802156f1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7619695" y="2952598"/>
            <a:ext cx="3047695" cy="57607"/>
          </a:xfrm>
          <a:prstGeom prst="rect">
            <a:avLst/>
          </a:prstGeom>
        </p:spPr>
      </p:pic>
      <p:pic>
        <p:nvPicPr>
          <p:cNvPr id="30" name="Image 14" descr="gen-dedup-417922e492635d60a3ff0818802156f1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10858500" y="2952598"/>
            <a:ext cx="3047695" cy="57607"/>
          </a:xfrm>
          <a:prstGeom prst="rect">
            <a:avLst/>
          </a:prstGeom>
        </p:spPr>
      </p:pic>
      <p:pic>
        <p:nvPicPr>
          <p:cNvPr id="31" name="Image 15" descr="gen-dedup-417922e492635d60a3ff0818802156f1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14097305" y="2952598"/>
            <a:ext cx="3047695" cy="57607"/>
          </a:xfrm>
          <a:prstGeom prst="rect">
            <a:avLst/>
          </a:prstGeom>
        </p:spPr>
      </p:pic>
      <p:pic>
        <p:nvPicPr>
          <p:cNvPr id="32" name="Image 16" descr="gen-dedup-417922e492635d60a3ff0818802156f1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1143000" y="5715000"/>
            <a:ext cx="3047695" cy="57607"/>
          </a:xfrm>
          <a:prstGeom prst="rect">
            <a:avLst/>
          </a:prstGeom>
        </p:spPr>
      </p:pic>
      <p:pic>
        <p:nvPicPr>
          <p:cNvPr id="33" name="Image 17" descr="gen-dedup-417922e492635d60a3ff0818802156f1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4381805" y="5715000"/>
            <a:ext cx="3047695" cy="57607"/>
          </a:xfrm>
          <a:prstGeom prst="rect">
            <a:avLst/>
          </a:prstGeom>
        </p:spPr>
      </p:pic>
      <p:pic>
        <p:nvPicPr>
          <p:cNvPr id="34" name="Image 18" descr="gen-dedup-417922e492635d60a3ff0818802156f1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7619695" y="5715000"/>
            <a:ext cx="3047695" cy="57607"/>
          </a:xfrm>
          <a:prstGeom prst="rect">
            <a:avLst/>
          </a:prstGeom>
        </p:spPr>
      </p:pic>
      <p:pic>
        <p:nvPicPr>
          <p:cNvPr id="35" name="Image 19" descr="gen-dedup-417922e492635d60a3ff0818802156f1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10858500" y="5715000"/>
            <a:ext cx="3047695" cy="57607"/>
          </a:xfrm>
          <a:prstGeom prst="rect">
            <a:avLst/>
          </a:prstGeom>
        </p:spPr>
      </p:pic>
      <p:pic>
        <p:nvPicPr>
          <p:cNvPr id="36" name="Image 20" descr="gen-dedup-6c3b5dbc751c2d52be96a0364bf4756e.png"/>
          <p:cNvPicPr>
            <a:picLocks noChangeAspect="1"/>
          </p:cNvPicPr>
          <p:nvPr/>
        </p:nvPicPr>
        <p:blipFill>
          <a:blip r:embed="rId6"/>
          <a:srcRect t="-405" b="-405"/>
          <a:stretch/>
        </p:blipFill>
        <p:spPr>
          <a:xfrm>
            <a:off x="14097305" y="5715000"/>
            <a:ext cx="3047695" cy="57607"/>
          </a:xfrm>
          <a:prstGeom prst="rect">
            <a:avLst/>
          </a:prstGeom>
        </p:spPr>
      </p:pic>
      <p:sp>
        <p:nvSpPr>
          <p:cNvPr id="37" name="Text 14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 · TEN-PAGE FORMAT · 짧은 제안용 — 메일 첨부 첫 인상</a:t>
            </a:r>
            <a:endParaRPr lang="en-US" sz="1550" dirty="0"/>
          </a:p>
        </p:txBody>
      </p:sp>
      <p:sp>
        <p:nvSpPr>
          <p:cNvPr id="38" name="Text 15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10장. 메일 첨부 4MB 이하.</a:t>
            </a:r>
            <a:endParaRPr lang="en-US" sz="4500" dirty="0"/>
          </a:p>
        </p:txBody>
      </p:sp>
      <p:sp>
        <p:nvSpPr>
          <p:cNvPr id="39" name="Text 16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의뢰 답장 직후 첨부하는 “30초 결정용”. 두꺼우면 보기도 전에 닫힙니다.</a:t>
            </a:r>
            <a:endParaRPr lang="en-US" sz="1700" dirty="0"/>
          </a:p>
        </p:txBody>
      </p:sp>
      <p:sp>
        <p:nvSpPr>
          <p:cNvPr id="40" name="Text 17"/>
          <p:cNvSpPr txBox="1"/>
          <p:nvPr/>
        </p:nvSpPr>
        <p:spPr>
          <a:xfrm>
            <a:off x="1371600" y="3105302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01</a:t>
            </a:r>
            <a:endParaRPr lang="en-US" sz="1500" dirty="0"/>
          </a:p>
        </p:txBody>
      </p:sp>
      <p:sp>
        <p:nvSpPr>
          <p:cNvPr id="41" name="Text 18"/>
          <p:cNvSpPr txBox="1"/>
          <p:nvPr/>
        </p:nvSpPr>
        <p:spPr>
          <a:xfrm>
            <a:off x="1371600" y="3372307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표지</a:t>
            </a:r>
            <a:endParaRPr lang="en-US" sz="2100" dirty="0"/>
          </a:p>
        </p:txBody>
      </p:sp>
      <p:sp>
        <p:nvSpPr>
          <p:cNvPr id="42" name="Text 19"/>
          <p:cNvSpPr txBox="1"/>
          <p:nvPr/>
        </p:nvSpPr>
        <p:spPr>
          <a:xfrm>
            <a:off x="1371600" y="4172407"/>
            <a:ext cx="25914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 + 한 문장 소개 + </a:t>
            </a:r>
            <a:r>
              <a:rPr lang="en-US" sz="15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사진</a:t>
            </a:r>
            <a:endParaRPr lang="en-US" sz="1500" dirty="0">
              <a:solidFill>
                <a:srgbClr val="2E2D2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강의 주제 키워드 3개</a:t>
            </a:r>
            <a:endParaRPr lang="en-US" sz="1500" dirty="0"/>
          </a:p>
        </p:txBody>
      </p:sp>
      <p:sp>
        <p:nvSpPr>
          <p:cNvPr id="43" name="Text 20"/>
          <p:cNvSpPr txBox="1"/>
          <p:nvPr/>
        </p:nvSpPr>
        <p:spPr>
          <a:xfrm>
            <a:off x="4610405" y="3105302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02</a:t>
            </a:r>
            <a:endParaRPr lang="en-US" sz="1500" dirty="0"/>
          </a:p>
        </p:txBody>
      </p:sp>
      <p:sp>
        <p:nvSpPr>
          <p:cNvPr id="44" name="Text 21"/>
          <p:cNvSpPr txBox="1"/>
          <p:nvPr/>
        </p:nvSpPr>
        <p:spPr>
          <a:xfrm>
            <a:off x="4610405" y="3372307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프로필</a:t>
            </a:r>
            <a:endParaRPr lang="en-US" sz="2100" dirty="0"/>
          </a:p>
        </p:txBody>
      </p:sp>
      <p:sp>
        <p:nvSpPr>
          <p:cNvPr id="45" name="Text 22"/>
          <p:cNvSpPr txBox="1"/>
          <p:nvPr/>
        </p:nvSpPr>
        <p:spPr>
          <a:xfrm>
            <a:off x="4610405" y="4172407"/>
            <a:ext cx="25914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문장 소개 + 차별화 3문장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(슬라이드 49 결과)</a:t>
            </a:r>
            <a:endParaRPr lang="en-US" sz="1500" dirty="0"/>
          </a:p>
        </p:txBody>
      </p:sp>
      <p:sp>
        <p:nvSpPr>
          <p:cNvPr id="46" name="Text 23"/>
          <p:cNvSpPr txBox="1"/>
          <p:nvPr/>
        </p:nvSpPr>
        <p:spPr>
          <a:xfrm>
            <a:off x="7848295" y="3105302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03</a:t>
            </a:r>
            <a:endParaRPr lang="en-US" sz="1500" dirty="0"/>
          </a:p>
        </p:txBody>
      </p:sp>
      <p:sp>
        <p:nvSpPr>
          <p:cNvPr id="47" name="Text 24"/>
          <p:cNvSpPr txBox="1"/>
          <p:nvPr/>
        </p:nvSpPr>
        <p:spPr>
          <a:xfrm>
            <a:off x="7848295" y="3372307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전문 분야</a:t>
            </a:r>
            <a:endParaRPr lang="en-US" sz="2100" dirty="0"/>
          </a:p>
        </p:txBody>
      </p:sp>
      <p:sp>
        <p:nvSpPr>
          <p:cNvPr id="48" name="Text 25"/>
          <p:cNvSpPr txBox="1"/>
          <p:nvPr/>
        </p:nvSpPr>
        <p:spPr>
          <a:xfrm>
            <a:off x="7848295" y="4172407"/>
            <a:ext cx="25914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주력 · 확장 · </a:t>
            </a:r>
            <a:r>
              <a:rPr lang="en-US" sz="15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미래</a:t>
            </a: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3개 영역 표 (슬라이드 41)</a:t>
            </a:r>
            <a:endParaRPr lang="en-US" sz="1500" dirty="0"/>
          </a:p>
        </p:txBody>
      </p:sp>
      <p:sp>
        <p:nvSpPr>
          <p:cNvPr id="49" name="Text 26"/>
          <p:cNvSpPr txBox="1"/>
          <p:nvPr/>
        </p:nvSpPr>
        <p:spPr>
          <a:xfrm>
            <a:off x="11087100" y="3105302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04</a:t>
            </a:r>
            <a:endParaRPr lang="en-US" sz="1500" dirty="0"/>
          </a:p>
        </p:txBody>
      </p:sp>
      <p:sp>
        <p:nvSpPr>
          <p:cNvPr id="50" name="Text 27"/>
          <p:cNvSpPr txBox="1"/>
          <p:nvPr/>
        </p:nvSpPr>
        <p:spPr>
          <a:xfrm>
            <a:off x="11087100" y="3372307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대표 강의 #1</a:t>
            </a:r>
            <a:endParaRPr lang="en-US" sz="2100" dirty="0"/>
          </a:p>
        </p:txBody>
      </p:sp>
      <p:sp>
        <p:nvSpPr>
          <p:cNvPr id="51" name="Text 28"/>
          <p:cNvSpPr txBox="1"/>
          <p:nvPr/>
        </p:nvSpPr>
        <p:spPr>
          <a:xfrm>
            <a:off x="11087100" y="4172407"/>
            <a:ext cx="25914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 자신 있는 강의 1개.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6칸 (슬라이드 44)</a:t>
            </a:r>
            <a:endParaRPr lang="en-US" sz="1500" dirty="0"/>
          </a:p>
        </p:txBody>
      </p:sp>
      <p:sp>
        <p:nvSpPr>
          <p:cNvPr id="52" name="Text 29"/>
          <p:cNvSpPr txBox="1"/>
          <p:nvPr/>
        </p:nvSpPr>
        <p:spPr>
          <a:xfrm>
            <a:off x="14325905" y="3105302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05</a:t>
            </a:r>
            <a:endParaRPr lang="en-US" sz="1500" dirty="0"/>
          </a:p>
        </p:txBody>
      </p:sp>
      <p:sp>
        <p:nvSpPr>
          <p:cNvPr id="53" name="Text 30"/>
          <p:cNvSpPr txBox="1"/>
          <p:nvPr/>
        </p:nvSpPr>
        <p:spPr>
          <a:xfrm>
            <a:off x="14325905" y="3372307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대표 강의 #2</a:t>
            </a:r>
            <a:endParaRPr lang="en-US" sz="2100" dirty="0"/>
          </a:p>
        </p:txBody>
      </p:sp>
      <p:sp>
        <p:nvSpPr>
          <p:cNvPr id="54" name="Text 31"/>
          <p:cNvSpPr txBox="1"/>
          <p:nvPr/>
        </p:nvSpPr>
        <p:spPr>
          <a:xfrm>
            <a:off x="14325905" y="4172407"/>
            <a:ext cx="25914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다른 대상·수준의 강의 1개.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폭이</a:t>
            </a: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있다는 신호.</a:t>
            </a:r>
            <a:endParaRPr lang="en-US" sz="1500" dirty="0"/>
          </a:p>
        </p:txBody>
      </p:sp>
      <p:sp>
        <p:nvSpPr>
          <p:cNvPr id="55" name="Text 32"/>
          <p:cNvSpPr txBox="1"/>
          <p:nvPr/>
        </p:nvSpPr>
        <p:spPr>
          <a:xfrm>
            <a:off x="1371600" y="5867705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06</a:t>
            </a:r>
            <a:endParaRPr lang="en-US" sz="1500" dirty="0"/>
          </a:p>
        </p:txBody>
      </p:sp>
      <p:sp>
        <p:nvSpPr>
          <p:cNvPr id="56" name="Text 33"/>
          <p:cNvSpPr txBox="1"/>
          <p:nvPr/>
        </p:nvSpPr>
        <p:spPr>
          <a:xfrm>
            <a:off x="1371600" y="6133795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실적 표</a:t>
            </a:r>
            <a:endParaRPr lang="en-US" sz="2100" dirty="0"/>
          </a:p>
        </p:txBody>
      </p:sp>
      <p:sp>
        <p:nvSpPr>
          <p:cNvPr id="57" name="Text 34"/>
          <p:cNvSpPr txBox="1"/>
          <p:nvPr/>
        </p:nvSpPr>
        <p:spPr>
          <a:xfrm>
            <a:off x="1371600" y="6933895"/>
            <a:ext cx="25914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최근 12개월 — 6~8건.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기관·인원·만족도</a:t>
            </a: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7칸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(슬라이드 43)</a:t>
            </a:r>
            <a:endParaRPr lang="en-US" sz="1500" dirty="0"/>
          </a:p>
        </p:txBody>
      </p:sp>
      <p:sp>
        <p:nvSpPr>
          <p:cNvPr id="58" name="Text 35"/>
          <p:cNvSpPr txBox="1"/>
          <p:nvPr/>
        </p:nvSpPr>
        <p:spPr>
          <a:xfrm>
            <a:off x="4610405" y="5867705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07</a:t>
            </a:r>
            <a:endParaRPr lang="en-US" sz="1500" dirty="0"/>
          </a:p>
        </p:txBody>
      </p:sp>
      <p:sp>
        <p:nvSpPr>
          <p:cNvPr id="59" name="Text 36"/>
          <p:cNvSpPr txBox="1"/>
          <p:nvPr/>
        </p:nvSpPr>
        <p:spPr>
          <a:xfrm>
            <a:off x="4610405" y="6133795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사례 #1</a:t>
            </a:r>
            <a:endParaRPr lang="en-US" sz="2100" dirty="0"/>
          </a:p>
        </p:txBody>
      </p:sp>
      <p:sp>
        <p:nvSpPr>
          <p:cNvPr id="60" name="Text 37"/>
          <p:cNvSpPr txBox="1"/>
          <p:nvPr/>
        </p:nvSpPr>
        <p:spPr>
          <a:xfrm>
            <a:off x="4610405" y="6933895"/>
            <a:ext cx="25914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변화 중심 사례 1건 + </a:t>
            </a:r>
            <a:r>
              <a:rPr lang="en-US" sz="15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사진</a:t>
            </a:r>
            <a:endParaRPr lang="en-US" sz="1500" dirty="0">
              <a:solidFill>
                <a:srgbClr val="2E2D2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한 줄 후기 (슬라이드 46)</a:t>
            </a:r>
            <a:endParaRPr lang="en-US" sz="1500" dirty="0"/>
          </a:p>
        </p:txBody>
      </p:sp>
      <p:sp>
        <p:nvSpPr>
          <p:cNvPr id="61" name="Text 38"/>
          <p:cNvSpPr txBox="1"/>
          <p:nvPr/>
        </p:nvSpPr>
        <p:spPr>
          <a:xfrm>
            <a:off x="7848295" y="5867705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08</a:t>
            </a:r>
            <a:endParaRPr lang="en-US" sz="1500" dirty="0"/>
          </a:p>
        </p:txBody>
      </p:sp>
      <p:sp>
        <p:nvSpPr>
          <p:cNvPr id="62" name="Text 39"/>
          <p:cNvSpPr txBox="1"/>
          <p:nvPr/>
        </p:nvSpPr>
        <p:spPr>
          <a:xfrm>
            <a:off x="7848295" y="6133795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사례 #2</a:t>
            </a:r>
            <a:endParaRPr lang="en-US" sz="2100" dirty="0"/>
          </a:p>
        </p:txBody>
      </p:sp>
      <p:sp>
        <p:nvSpPr>
          <p:cNvPr id="63" name="Text 40"/>
          <p:cNvSpPr txBox="1"/>
          <p:nvPr/>
        </p:nvSpPr>
        <p:spPr>
          <a:xfrm>
            <a:off x="7848295" y="6933895"/>
            <a:ext cx="25914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다른 대상의 사례 1건.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</a:t>
            </a: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강사가</a:t>
            </a: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다양한</a:t>
            </a: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자리에서 통함.</a:t>
            </a:r>
            <a:endParaRPr lang="en-US" sz="1500" dirty="0"/>
          </a:p>
        </p:txBody>
      </p:sp>
      <p:sp>
        <p:nvSpPr>
          <p:cNvPr id="64" name="Text 41"/>
          <p:cNvSpPr txBox="1"/>
          <p:nvPr/>
        </p:nvSpPr>
        <p:spPr>
          <a:xfrm>
            <a:off x="11087100" y="5867705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09</a:t>
            </a:r>
            <a:endParaRPr lang="en-US" sz="1500" dirty="0"/>
          </a:p>
        </p:txBody>
      </p:sp>
      <p:sp>
        <p:nvSpPr>
          <p:cNvPr id="65" name="Text 42"/>
          <p:cNvSpPr txBox="1"/>
          <p:nvPr/>
        </p:nvSpPr>
        <p:spPr>
          <a:xfrm>
            <a:off x="11087100" y="6133795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콘텐츠·미래</a:t>
            </a:r>
            <a:endParaRPr lang="en-US" sz="2100" dirty="0"/>
          </a:p>
        </p:txBody>
      </p:sp>
      <p:sp>
        <p:nvSpPr>
          <p:cNvPr id="66" name="Text 43"/>
          <p:cNvSpPr txBox="1"/>
          <p:nvPr/>
        </p:nvSpPr>
        <p:spPr>
          <a:xfrm>
            <a:off x="11087100" y="6933895"/>
            <a:ext cx="25914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유튜브·블로그 링크 1개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미래 분야 1줄</a:t>
            </a:r>
            <a:endParaRPr lang="en-US" sz="1500" dirty="0"/>
          </a:p>
        </p:txBody>
      </p:sp>
      <p:sp>
        <p:nvSpPr>
          <p:cNvPr id="67" name="Text 44"/>
          <p:cNvSpPr txBox="1"/>
          <p:nvPr/>
        </p:nvSpPr>
        <p:spPr>
          <a:xfrm>
            <a:off x="14325905" y="5867705"/>
            <a:ext cx="2591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10</a:t>
            </a:r>
            <a:endParaRPr lang="en-US" sz="1500" dirty="0"/>
          </a:p>
        </p:txBody>
      </p:sp>
      <p:sp>
        <p:nvSpPr>
          <p:cNvPr id="68" name="Text 45"/>
          <p:cNvSpPr txBox="1"/>
          <p:nvPr/>
        </p:nvSpPr>
        <p:spPr>
          <a:xfrm>
            <a:off x="14325905" y="6133795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연락처</a:t>
            </a:r>
            <a:endParaRPr lang="en-US" sz="2100" dirty="0"/>
          </a:p>
        </p:txBody>
      </p:sp>
      <p:sp>
        <p:nvSpPr>
          <p:cNvPr id="69" name="Text 46"/>
          <p:cNvSpPr txBox="1"/>
          <p:nvPr/>
        </p:nvSpPr>
        <p:spPr>
          <a:xfrm>
            <a:off x="14325905" y="6933895"/>
            <a:ext cx="272491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이메일·휴대폰·웹 </a:t>
            </a:r>
            <a:r>
              <a:rPr lang="en-US" sz="1500" dirty="0" err="1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포트폴리오</a:t>
            </a:r>
            <a:r>
              <a:rPr lang="en-US" sz="15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 err="1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링크</a:t>
            </a:r>
            <a:r>
              <a:rPr lang="en-US" sz="15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“회신 24시간 이내” 약속</a:t>
            </a:r>
            <a:endParaRPr lang="en-US" sz="1500" dirty="0"/>
          </a:p>
        </p:txBody>
      </p:sp>
      <p:sp>
        <p:nvSpPr>
          <p:cNvPr id="70" name="Text 47"/>
          <p:cNvSpPr txBox="1"/>
          <p:nvPr/>
        </p:nvSpPr>
        <p:spPr>
          <a:xfrm>
            <a:off x="1429207" y="8667598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제출 규격</a:t>
            </a:r>
            <a:endParaRPr lang="en-US" sz="1500" dirty="0"/>
          </a:p>
        </p:txBody>
      </p:sp>
      <p:sp>
        <p:nvSpPr>
          <p:cNvPr id="71" name="Text 48"/>
          <p:cNvSpPr txBox="1"/>
          <p:nvPr/>
        </p:nvSpPr>
        <p:spPr>
          <a:xfrm>
            <a:off x="1429207" y="8953805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· A4 세로 · 10쪽 · 4MB 이하 · 파일명 </a:t>
            </a:r>
            <a:r>
              <a:rPr lang="en-US" sz="170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이름_포트폴리오_요약_2026v1.pdf</a:t>
            </a:r>
            <a:endParaRPr lang="en-US" sz="1700" dirty="0"/>
          </a:p>
        </p:txBody>
      </p:sp>
      <p:sp>
        <p:nvSpPr>
          <p:cNvPr id="72" name="Text 49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51 / 60</a:t>
            </a:r>
            <a:endParaRPr lang="en-US" sz="1500" dirty="0"/>
          </a:p>
        </p:txBody>
      </p:sp>
      <p:sp>
        <p:nvSpPr>
          <p:cNvPr id="7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328198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f841319f9513edff3b6b6c59542857e4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447495" y="4172407"/>
            <a:ext cx="571500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9098" y="2952598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f841319f9513edff3b6b6c59542857e4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9544507" y="4172407"/>
            <a:ext cx="571500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43000" y="6001207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f841319f9513edff3b6b6c59542857e4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447495" y="7220102"/>
            <a:ext cx="571500" cy="2834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9239098" y="6001207"/>
            <a:ext cx="7905902" cy="28575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1056e883e2f55d8a5ba7da29d9787817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9544507" y="7220102"/>
            <a:ext cx="571500" cy="28346"/>
          </a:xfrm>
          <a:prstGeom prst="rect">
            <a:avLst/>
          </a:prstGeom>
        </p:spPr>
      </p:pic>
      <p:pic>
        <p:nvPicPr>
          <p:cNvPr id="13" name="Image 5" descr="gen-dedup-596901a3f1298b91ce24c8203fbdfe7c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1143000" y="2952598"/>
            <a:ext cx="7905902" cy="75895"/>
          </a:xfrm>
          <a:prstGeom prst="rect">
            <a:avLst/>
          </a:prstGeom>
        </p:spPr>
      </p:pic>
      <p:pic>
        <p:nvPicPr>
          <p:cNvPr id="14" name="Image 6" descr="gen-dedup-596901a3f1298b91ce24c8203fbdfe7c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9239098" y="2952598"/>
            <a:ext cx="7905902" cy="75895"/>
          </a:xfrm>
          <a:prstGeom prst="rect">
            <a:avLst/>
          </a:prstGeom>
        </p:spPr>
      </p:pic>
      <p:pic>
        <p:nvPicPr>
          <p:cNvPr id="15" name="Image 7" descr="gen-dedup-596901a3f1298b91ce24c8203fbdfe7c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1143000" y="6001207"/>
            <a:ext cx="7905902" cy="75895"/>
          </a:xfrm>
          <a:prstGeom prst="rect">
            <a:avLst/>
          </a:prstGeom>
        </p:spPr>
      </p:pic>
      <p:pic>
        <p:nvPicPr>
          <p:cNvPr id="16" name="Image 8" descr="gen-dedup-2740c519cb00ac3f3562614e70bc33cf.png"/>
          <p:cNvPicPr>
            <a:picLocks noChangeAspect="1"/>
          </p:cNvPicPr>
          <p:nvPr/>
        </p:nvPicPr>
        <p:blipFill>
          <a:blip r:embed="rId6"/>
          <a:srcRect l="-202" r="-202"/>
          <a:stretch/>
        </p:blipFill>
        <p:spPr>
          <a:xfrm>
            <a:off x="9239098" y="6001207"/>
            <a:ext cx="7905902" cy="7589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 · TWENTY-PAGE FORMAT · 기관 제출용 — 결재 라인 통과</a:t>
            </a:r>
            <a:endParaRPr lang="en-US" sz="1550" dirty="0"/>
          </a:p>
        </p:txBody>
      </p:sp>
      <p:sp>
        <p:nvSpPr>
          <p:cNvPr id="18" name="Text 7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20장. 입찰·기관 등록용 표준 구조.</a:t>
            </a:r>
            <a:endParaRPr lang="en-US" sz="4500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10장형의 모든 페이지 + 증빙·심화 8쪽. </a:t>
            </a:r>
            <a:r>
              <a:rPr lang="en-US" sz="170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섹션 표지로 구간을 끊어 결재권자가 빠르게 훑게.</a:t>
            </a:r>
            <a:endParaRPr lang="en-US" sz="1700" dirty="0"/>
          </a:p>
        </p:txBody>
      </p:sp>
      <p:sp>
        <p:nvSpPr>
          <p:cNvPr id="20" name="Text 9"/>
          <p:cNvSpPr txBox="1"/>
          <p:nvPr/>
        </p:nvSpPr>
        <p:spPr>
          <a:xfrm>
            <a:off x="1447495" y="3181198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A · P. 01–05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1447495" y="3504895"/>
            <a:ext cx="72969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정체성 — 이 강사는 누구</a:t>
            </a:r>
            <a:endParaRPr lang="en-US" sz="2650" dirty="0"/>
          </a:p>
        </p:txBody>
      </p:sp>
      <p:sp>
        <p:nvSpPr>
          <p:cNvPr id="22" name="Text 11"/>
          <p:cNvSpPr txBox="1"/>
          <p:nvPr/>
        </p:nvSpPr>
        <p:spPr>
          <a:xfrm>
            <a:off x="1447495" y="4401007"/>
            <a:ext cx="7296912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01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표지 ·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02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목차 ·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03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한 문장 소개 + 차별화 3문장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04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약력 (학력·경력·자격·수상) ·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05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전문 분야 3원 (주력·확장·미래)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10장형의 P. 01-03을 5쪽으로 분리, 각 칸 깊이를 늘림.</a:t>
            </a:r>
            <a:endParaRPr lang="en-US" sz="1550" dirty="0"/>
          </a:p>
        </p:txBody>
      </p:sp>
      <p:sp>
        <p:nvSpPr>
          <p:cNvPr id="23" name="Text 12"/>
          <p:cNvSpPr txBox="1"/>
          <p:nvPr/>
        </p:nvSpPr>
        <p:spPr>
          <a:xfrm>
            <a:off x="9544507" y="3181198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B · P. 06–10</a:t>
            </a:r>
            <a:endParaRPr lang="en-US" sz="1500" dirty="0"/>
          </a:p>
        </p:txBody>
      </p:sp>
      <p:sp>
        <p:nvSpPr>
          <p:cNvPr id="24" name="Text 13"/>
          <p:cNvSpPr txBox="1"/>
          <p:nvPr/>
        </p:nvSpPr>
        <p:spPr>
          <a:xfrm>
            <a:off x="9544507" y="3504895"/>
            <a:ext cx="72969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강의 — 무엇을, 어떻게</a:t>
            </a:r>
            <a:endParaRPr lang="en-US" sz="2650" dirty="0"/>
          </a:p>
        </p:txBody>
      </p:sp>
      <p:sp>
        <p:nvSpPr>
          <p:cNvPr id="25" name="Text 14"/>
          <p:cNvSpPr txBox="1"/>
          <p:nvPr/>
        </p:nvSpPr>
        <p:spPr>
          <a:xfrm>
            <a:off x="9544507" y="4401007"/>
            <a:ext cx="7296912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06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대표 강의 #1 (6칸) ·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07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대표 강의 #2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08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대표 강의 #3 ·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09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강의 자료 샘플 (목차 캡처)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10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강의 방법론 1쪽 (Show→Try→Break 같은 본인 방식)</a:t>
            </a:r>
            <a:endParaRPr lang="en-US" sz="1550" dirty="0"/>
          </a:p>
        </p:txBody>
      </p:sp>
      <p:sp>
        <p:nvSpPr>
          <p:cNvPr id="26" name="Text 15"/>
          <p:cNvSpPr txBox="1"/>
          <p:nvPr/>
        </p:nvSpPr>
        <p:spPr>
          <a:xfrm>
            <a:off x="1447495" y="6229807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C · P. 11–15</a:t>
            </a:r>
            <a:endParaRPr lang="en-US" sz="1500" dirty="0"/>
          </a:p>
        </p:txBody>
      </p:sp>
      <p:sp>
        <p:nvSpPr>
          <p:cNvPr id="27" name="Text 16"/>
          <p:cNvSpPr txBox="1"/>
          <p:nvPr/>
        </p:nvSpPr>
        <p:spPr>
          <a:xfrm>
            <a:off x="1447495" y="6553505"/>
            <a:ext cx="72969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실적 — 얼마나, 어디서</a:t>
            </a:r>
            <a:endParaRPr lang="en-US" sz="2650" dirty="0"/>
          </a:p>
        </p:txBody>
      </p:sp>
      <p:sp>
        <p:nvSpPr>
          <p:cNvPr id="28" name="Text 17"/>
          <p:cNvSpPr txBox="1"/>
          <p:nvPr/>
        </p:nvSpPr>
        <p:spPr>
          <a:xfrm>
            <a:off x="1447495" y="7448702"/>
            <a:ext cx="7296912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11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최근 1년 실적 표 ·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12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누적 3년 실적 표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13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만족도 통계 (그래프 1개) · </a:t>
            </a: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14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재의뢰·추천 목록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15</a:t>
            </a:r>
            <a:r>
              <a:rPr lang="en-US" sz="15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콘텐츠 자산 (유튜브·블로그·책)</a:t>
            </a:r>
            <a:endParaRPr lang="en-US" sz="1550" dirty="0"/>
          </a:p>
        </p:txBody>
      </p:sp>
      <p:sp>
        <p:nvSpPr>
          <p:cNvPr id="29" name="Text 18"/>
          <p:cNvSpPr txBox="1"/>
          <p:nvPr/>
        </p:nvSpPr>
        <p:spPr>
          <a:xfrm>
            <a:off x="9544507" y="6229807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D · P. 16–20</a:t>
            </a:r>
            <a:endParaRPr lang="en-US" sz="1500" dirty="0"/>
          </a:p>
        </p:txBody>
      </p:sp>
      <p:sp>
        <p:nvSpPr>
          <p:cNvPr id="30" name="Text 19"/>
          <p:cNvSpPr txBox="1"/>
          <p:nvPr/>
        </p:nvSpPr>
        <p:spPr>
          <a:xfrm>
            <a:off x="9544507" y="6553505"/>
            <a:ext cx="72969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변화·미래 — 그래서 어디로</a:t>
            </a:r>
            <a:endParaRPr lang="en-US" sz="2650" dirty="0"/>
          </a:p>
        </p:txBody>
      </p:sp>
      <p:sp>
        <p:nvSpPr>
          <p:cNvPr id="31" name="Text 20"/>
          <p:cNvSpPr txBox="1"/>
          <p:nvPr/>
        </p:nvSpPr>
        <p:spPr>
          <a:xfrm>
            <a:off x="9544507" y="7448702"/>
            <a:ext cx="7296912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16</a:t>
            </a: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사례 #1 (변화 중심) · </a:t>
            </a: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17</a:t>
            </a: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사례 #2 · </a:t>
            </a: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18</a:t>
            </a: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사례 #3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19</a:t>
            </a: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미래 강의 분야 + 3개월 로드맵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20</a:t>
            </a:r>
            <a:r>
              <a:rPr lang="en-US" sz="15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연락처 + 견적 안내 + 회신 약속</a:t>
            </a:r>
            <a:endParaRPr lang="en-US" sz="1550" dirty="0"/>
          </a:p>
        </p:txBody>
      </p:sp>
      <p:sp>
        <p:nvSpPr>
          <p:cNvPr id="32" name="Text 21"/>
          <p:cNvSpPr txBox="1"/>
          <p:nvPr/>
        </p:nvSpPr>
        <p:spPr>
          <a:xfrm>
            <a:off x="1143000" y="9001354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제출 규격 — PDF · A4 세로 · 20쪽 · 8MB 이하. </a:t>
            </a:r>
            <a:r>
              <a:rPr lang="en-US" sz="15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섹션 표지 4장</a:t>
            </a:r>
            <a:r>
              <a:rPr lang="en-US" sz="155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(A·B·C·D)을 사이사이 넣으면 24쪽 — 그것도 OK.</a:t>
            </a:r>
            <a:endParaRPr lang="en-US" sz="1550" dirty="0"/>
          </a:p>
        </p:txBody>
      </p:sp>
      <p:sp>
        <p:nvSpPr>
          <p:cNvPr id="33" name="Text 22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52 / 60</a:t>
            </a:r>
            <a:endParaRPr lang="en-US" sz="15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959190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4143146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5333695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6524244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7715707"/>
            <a:ext cx="16002000" cy="1095451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950e3d29605bee161f2d0d53bfb48222.png"/>
          <p:cNvPicPr>
            <a:picLocks noChangeAspect="1"/>
          </p:cNvPicPr>
          <p:nvPr/>
        </p:nvPicPr>
        <p:blipFill>
          <a:blip r:embed="rId3"/>
          <a:srcRect t="-204" b="-204"/>
          <a:stretch/>
        </p:blipFill>
        <p:spPr>
          <a:xfrm>
            <a:off x="1143000" y="2952598"/>
            <a:ext cx="75895" cy="1095451"/>
          </a:xfrm>
          <a:prstGeom prst="rect">
            <a:avLst/>
          </a:prstGeom>
        </p:spPr>
      </p:pic>
      <p:pic>
        <p:nvPicPr>
          <p:cNvPr id="11" name="Image 2" descr="gen-dedup-950e3d29605bee161f2d0d53bfb48222.png"/>
          <p:cNvPicPr>
            <a:picLocks noChangeAspect="1"/>
          </p:cNvPicPr>
          <p:nvPr/>
        </p:nvPicPr>
        <p:blipFill>
          <a:blip r:embed="rId3"/>
          <a:srcRect t="-204" b="-204"/>
          <a:stretch/>
        </p:blipFill>
        <p:spPr>
          <a:xfrm>
            <a:off x="1143000" y="4143146"/>
            <a:ext cx="75895" cy="1095451"/>
          </a:xfrm>
          <a:prstGeom prst="rect">
            <a:avLst/>
          </a:prstGeom>
        </p:spPr>
      </p:pic>
      <p:pic>
        <p:nvPicPr>
          <p:cNvPr id="12" name="Image 3" descr="gen-dedup-950e3d29605bee161f2d0d53bfb48222.png"/>
          <p:cNvPicPr>
            <a:picLocks noChangeAspect="1"/>
          </p:cNvPicPr>
          <p:nvPr/>
        </p:nvPicPr>
        <p:blipFill>
          <a:blip r:embed="rId3"/>
          <a:srcRect t="-204" b="-204"/>
          <a:stretch/>
        </p:blipFill>
        <p:spPr>
          <a:xfrm>
            <a:off x="1143000" y="5333695"/>
            <a:ext cx="75895" cy="1095451"/>
          </a:xfrm>
          <a:prstGeom prst="rect">
            <a:avLst/>
          </a:prstGeom>
        </p:spPr>
      </p:pic>
      <p:pic>
        <p:nvPicPr>
          <p:cNvPr id="13" name="Image 4" descr="gen-dedup-950e3d29605bee161f2d0d53bfb48222.png"/>
          <p:cNvPicPr>
            <a:picLocks noChangeAspect="1"/>
          </p:cNvPicPr>
          <p:nvPr/>
        </p:nvPicPr>
        <p:blipFill>
          <a:blip r:embed="rId3"/>
          <a:srcRect t="-204" b="-204"/>
          <a:stretch/>
        </p:blipFill>
        <p:spPr>
          <a:xfrm>
            <a:off x="1143000" y="6524244"/>
            <a:ext cx="75895" cy="1095451"/>
          </a:xfrm>
          <a:prstGeom prst="rect">
            <a:avLst/>
          </a:prstGeom>
        </p:spPr>
      </p:pic>
      <p:pic>
        <p:nvPicPr>
          <p:cNvPr id="14" name="Image 5" descr="gen-dedup-f7c47eb72781253a4525e89947d0fd9a.png"/>
          <p:cNvPicPr>
            <a:picLocks noChangeAspect="1"/>
          </p:cNvPicPr>
          <p:nvPr/>
        </p:nvPicPr>
        <p:blipFill>
          <a:blip r:embed="rId4"/>
          <a:srcRect t="-204" b="-204"/>
          <a:stretch/>
        </p:blipFill>
        <p:spPr>
          <a:xfrm>
            <a:off x="1143000" y="7715707"/>
            <a:ext cx="75895" cy="1095451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 · WEB × PDF · 다섯 채널 — 각자 역할이 다르다</a:t>
            </a:r>
            <a:endParaRPr lang="en-US" sz="155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한 포트폴리오, 다섯 군데에 배치.</a:t>
            </a:r>
            <a:endParaRPr lang="en-US" sz="45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하나만 쓰면 — 다섯 군데 중 네 군데에서 “이 강사 누구?”에 답 못 합니다.</a:t>
            </a:r>
            <a:endParaRPr lang="en-US" sz="1700" dirty="0"/>
          </a:p>
        </p:txBody>
      </p:sp>
      <p:sp>
        <p:nvSpPr>
          <p:cNvPr id="18" name="Text 10"/>
          <p:cNvSpPr txBox="1"/>
          <p:nvPr/>
        </p:nvSpPr>
        <p:spPr>
          <a:xfrm>
            <a:off x="1524305" y="3124505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 01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524305" y="3409798"/>
            <a:ext cx="2286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PDF</a:t>
            </a:r>
            <a:endParaRPr lang="en-US" sz="2400" dirty="0"/>
          </a:p>
        </p:txBody>
      </p:sp>
      <p:sp>
        <p:nvSpPr>
          <p:cNvPr id="20" name="Text 12"/>
          <p:cNvSpPr txBox="1"/>
          <p:nvPr/>
        </p:nvSpPr>
        <p:spPr>
          <a:xfrm>
            <a:off x="4893265" y="3200400"/>
            <a:ext cx="9700149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의뢰처 메일 첨부, 결재 첨부, 입찰 제출.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인쇄돼서 위로 올라가는 경로.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10장형(요약) / 20장형(상세) 두 버전 준비.</a:t>
            </a:r>
            <a:endParaRPr lang="en-US" sz="1700" dirty="0"/>
          </a:p>
        </p:txBody>
      </p:sp>
      <p:sp>
        <p:nvSpPr>
          <p:cNvPr id="21" name="Text 13"/>
          <p:cNvSpPr txBox="1"/>
          <p:nvPr/>
        </p:nvSpPr>
        <p:spPr>
          <a:xfrm>
            <a:off x="12191695" y="3200400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역할 — 결재 통과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업데이트 주기 — 분기 1회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524305" y="4315054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 02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1524305" y="4600346"/>
            <a:ext cx="2286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노션 · 웹페이지</a:t>
            </a:r>
            <a:endParaRPr lang="en-US" sz="2400" dirty="0"/>
          </a:p>
        </p:txBody>
      </p:sp>
      <p:sp>
        <p:nvSpPr>
          <p:cNvPr id="24" name="Text 16"/>
          <p:cNvSpPr txBox="1"/>
          <p:nvPr/>
        </p:nvSpPr>
        <p:spPr>
          <a:xfrm>
            <a:off x="4893265" y="4390949"/>
            <a:ext cx="9700149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링크 1개로 공유.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 빠른 첫 인상.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카톡·메일·DM에서 “이거 한번 보세요” 한 줄.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노션 무료 / 카드형 1쪽 ~ 8쪽.</a:t>
            </a:r>
            <a:endParaRPr lang="en-US" sz="1700" dirty="0"/>
          </a:p>
        </p:txBody>
      </p:sp>
      <p:sp>
        <p:nvSpPr>
          <p:cNvPr id="25" name="Text 17"/>
          <p:cNvSpPr txBox="1"/>
          <p:nvPr/>
        </p:nvSpPr>
        <p:spPr>
          <a:xfrm>
            <a:off x="12191695" y="4390949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역할 — 첫 진입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업데이트 주기 — 월 1회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524305" y="5505602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 03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1524305" y="5790895"/>
            <a:ext cx="2286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홈페이지</a:t>
            </a:r>
            <a:endParaRPr lang="en-US" sz="2400" dirty="0"/>
          </a:p>
        </p:txBody>
      </p:sp>
      <p:sp>
        <p:nvSpPr>
          <p:cNvPr id="28" name="Text 20"/>
          <p:cNvSpPr txBox="1"/>
          <p:nvPr/>
        </p:nvSpPr>
        <p:spPr>
          <a:xfrm>
            <a:off x="4893265" y="5581498"/>
            <a:ext cx="9700149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내 도메인. 강의 신청·견적 폼을 받는 곳.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본인 명함의 종착지.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초기엔 노션을 도메인 연결만 해도 충분.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12191695" y="5581498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역할 — 수주 통로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업데이트 주기 — 분기 1회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524305" y="6696151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 04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524305" y="6981444"/>
            <a:ext cx="2286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링크드인</a:t>
            </a:r>
            <a:endParaRPr lang="en-US" sz="2400" dirty="0"/>
          </a:p>
        </p:txBody>
      </p:sp>
      <p:sp>
        <p:nvSpPr>
          <p:cNvPr id="32" name="Text 24"/>
          <p:cNvSpPr txBox="1"/>
          <p:nvPr/>
        </p:nvSpPr>
        <p:spPr>
          <a:xfrm>
            <a:off x="4893265" y="6772046"/>
            <a:ext cx="9700149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기업·HR 담당자가 검색하는 곳.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 사람 진짜인가” 검증 채널.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7A7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줄 소개 + 경력 + 추천글 5개 이상 — 그 이상은 굳이 안 채워도 OK.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12191695" y="6772046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역할 — 신뢰 검증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업데이트 주기 — 반기 1회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1524305" y="7886700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 05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1524305" y="8172907"/>
            <a:ext cx="2286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블로그 · 유튜브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4893266" y="7962595"/>
            <a:ext cx="7429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 강사 어떻게 가르치는지”를 실시간으로 보여주는 곳. </a:t>
            </a: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전달력의 증명.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포트폴리오에 표지·결과만 있고 영상이 없으면, 다섯 번째 칸이 비어 있는 것.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12191695" y="7962595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역할 — 전달력 증명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업데이트 주기 — 주 1회 권장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" y="9001354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원칙 — 모든 채널에 </a:t>
            </a:r>
            <a:r>
              <a:rPr lang="en-US" sz="1900" b="1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같은 한 문장 소개</a:t>
            </a:r>
            <a:r>
              <a:rPr lang="en-US" sz="1900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(슬라이드 40)를 그대로. 같은 강사라는 신호.</a:t>
            </a:r>
            <a:endParaRPr lang="en-US" sz="1900" dirty="0"/>
          </a:p>
        </p:txBody>
      </p:sp>
      <p:sp>
        <p:nvSpPr>
          <p:cNvPr id="39" name="Text 31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53 / 60</a:t>
            </a:r>
            <a:endParaRPr lang="en-US" sz="15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277320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2952598"/>
            <a:ext cx="16021202" cy="13523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4381805"/>
            <a:ext cx="16021202" cy="13523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5810098"/>
            <a:ext cx="16021202" cy="13523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7239305"/>
            <a:ext cx="16002000" cy="13331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2952598"/>
            <a:ext cx="1143000" cy="1333195"/>
          </a:xfrm>
          <a:prstGeom prst="rect">
            <a:avLst/>
          </a:prstGeom>
          <a:solidFill>
            <a:srgbClr val="C73E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4381805"/>
            <a:ext cx="1143000" cy="1333195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5810098"/>
            <a:ext cx="1143000" cy="1333195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43000" y="7239305"/>
            <a:ext cx="1143000" cy="1333195"/>
          </a:xfrm>
          <a:prstGeom prst="rect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· 04 FUTURE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오늘 만들 게 아니라 — 3년 뒤에도 통할 포트폴리오를 만든다.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695298"/>
            <a:ext cx="1600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강사의 역할이 바뀝니다. 네 단계로.</a:t>
            </a:r>
            <a:endParaRPr lang="en-US" sz="435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476195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“지식 전달자”에 머무는 강사는 — AI에게 가장 먼저 대체됩니다. 위로 올라가야 합니다.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066898"/>
            <a:ext cx="1143000" cy="1105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2590495" y="312450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C73E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01 · 가장 위험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590495" y="3429000"/>
            <a:ext cx="5334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지식 전달자</a:t>
            </a:r>
            <a:endParaRPr lang="en-US" sz="2650" dirty="0"/>
          </a:p>
        </p:txBody>
      </p:sp>
      <p:sp>
        <p:nvSpPr>
          <p:cNvPr id="21" name="Text 18"/>
          <p:cNvSpPr txBox="1"/>
          <p:nvPr/>
        </p:nvSpPr>
        <p:spPr>
          <a:xfrm>
            <a:off x="2590495" y="3905402"/>
            <a:ext cx="5334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“OO이란 무엇인가”를 설명하는 강의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6478621" y="3200400"/>
            <a:ext cx="106672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교과서·블로그·AI 모두 같은 답을 합니다.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 err="1">
                <a:solidFill>
                  <a:srgbClr val="C73E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</a:t>
            </a:r>
            <a:r>
              <a:rPr lang="en-US" sz="1700" b="1" dirty="0">
                <a:solidFill>
                  <a:srgbClr val="C73E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ChatGPT에 물어보면 끝나는 질문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90분을 보내고 있다면 위험 신호.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포트폴리오에 “OO의 정의·역사” 같은 단원이 큰 비중이면 위로 옮길 필요.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4496105"/>
            <a:ext cx="1143000" cy="1105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4800" dirty="0"/>
          </a:p>
        </p:txBody>
      </p:sp>
      <p:sp>
        <p:nvSpPr>
          <p:cNvPr id="24" name="Text 21"/>
          <p:cNvSpPr txBox="1"/>
          <p:nvPr/>
        </p:nvSpPr>
        <p:spPr>
          <a:xfrm>
            <a:off x="2590495" y="45527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02 · 출발선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2590495" y="4858207"/>
            <a:ext cx="5334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학습 설계자</a:t>
            </a:r>
            <a:endParaRPr lang="en-US" sz="2650" dirty="0"/>
          </a:p>
        </p:txBody>
      </p:sp>
      <p:sp>
        <p:nvSpPr>
          <p:cNvPr id="26" name="Text 23"/>
          <p:cNvSpPr txBox="1"/>
          <p:nvPr/>
        </p:nvSpPr>
        <p:spPr>
          <a:xfrm>
            <a:off x="2590495" y="5333695"/>
            <a:ext cx="5334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“수강생이 OO을 할 수 있게” 만드는 강의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6478621" y="4629607"/>
            <a:ext cx="106672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개념 설명은 줄이고, 실습 시간을 늘립니다.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후 수강생 손에 결과물 1개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만들게 합니다.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01 슬라이드 12의 “1시간 = 5칸” 구조가 그대로 — 강사가 설계자로 바뀌는 첫 신호.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5924398"/>
            <a:ext cx="1143000" cy="1105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4800" dirty="0"/>
          </a:p>
        </p:txBody>
      </p:sp>
      <p:sp>
        <p:nvSpPr>
          <p:cNvPr id="29" name="Text 26"/>
          <p:cNvSpPr txBox="1"/>
          <p:nvPr/>
        </p:nvSpPr>
        <p:spPr>
          <a:xfrm>
            <a:off x="2590495" y="598200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03 · 차별점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2590495" y="6286500"/>
            <a:ext cx="5334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촉진자 (Facilitator)</a:t>
            </a:r>
            <a:endParaRPr lang="en-US" sz="2650" dirty="0"/>
          </a:p>
        </p:txBody>
      </p:sp>
      <p:sp>
        <p:nvSpPr>
          <p:cNvPr id="31" name="Text 28"/>
          <p:cNvSpPr txBox="1"/>
          <p:nvPr/>
        </p:nvSpPr>
        <p:spPr>
          <a:xfrm>
            <a:off x="2590495" y="6762902"/>
            <a:ext cx="5334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수강생끼리 가르치게 만드는 강의</a:t>
            </a:r>
            <a:endParaRPr lang="en-US" sz="1550" dirty="0"/>
          </a:p>
        </p:txBody>
      </p:sp>
      <p:sp>
        <p:nvSpPr>
          <p:cNvPr id="32" name="Text 29"/>
          <p:cNvSpPr txBox="1"/>
          <p:nvPr/>
        </p:nvSpPr>
        <p:spPr>
          <a:xfrm>
            <a:off x="6478621" y="6057900"/>
            <a:ext cx="106672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페어 디버깅, 그룹 토론, 동료 코드 리뷰. 강사는 줄곧 말하지 않습니다.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수강생이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서로의 차이를 발견하게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합니다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r>
              <a:rPr lang="ko-KR" altLang="en-US" sz="1700" dirty="0"/>
              <a:t> </a:t>
            </a:r>
            <a:endParaRPr lang="en-US" altLang="ko-KR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단계는 AI가 흉내내기 어렵습니다 — “현장의 사람 사이 역학”이 핵심.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7353605"/>
            <a:ext cx="1143000" cy="1105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4800" dirty="0"/>
          </a:p>
        </p:txBody>
      </p:sp>
      <p:sp>
        <p:nvSpPr>
          <p:cNvPr id="34" name="Text 31"/>
          <p:cNvSpPr txBox="1"/>
          <p:nvPr/>
        </p:nvSpPr>
        <p:spPr>
          <a:xfrm>
            <a:off x="2590495" y="74102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04 · 가장 안전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2590495" y="7715707"/>
            <a:ext cx="5334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코치 / 멘토</a:t>
            </a:r>
            <a:endParaRPr lang="en-US" sz="2650" dirty="0"/>
          </a:p>
        </p:txBody>
      </p:sp>
      <p:sp>
        <p:nvSpPr>
          <p:cNvPr id="36" name="Text 33"/>
          <p:cNvSpPr txBox="1"/>
          <p:nvPr/>
        </p:nvSpPr>
        <p:spPr>
          <a:xfrm>
            <a:off x="2590495" y="8191195"/>
            <a:ext cx="5334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후에도 한 명 한 명 옆에 있는 강사</a:t>
            </a:r>
            <a:endParaRPr lang="en-US" sz="1550" dirty="0"/>
          </a:p>
        </p:txBody>
      </p:sp>
      <p:sp>
        <p:nvSpPr>
          <p:cNvPr id="37" name="Text 34"/>
          <p:cNvSpPr txBox="1"/>
          <p:nvPr/>
        </p:nvSpPr>
        <p:spPr>
          <a:xfrm>
            <a:off x="6478621" y="7487107"/>
            <a:ext cx="106672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피드백, 3개월 후속 멘토링, 단톡방. </a:t>
            </a: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AI가 절대 대체할 수 없는 영역.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강의료가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시간당이 아니라 변화당으로 책정됩니다.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포트폴리오의 미래 전략 — 1단계가 아니라 4단계에 본인을 위치시켜야 합니다.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" y="8762695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포트폴리오는 — 본인이 “현재 어느 단계에 있고, 어디로 가는가”를 한 번에 보여줘야 합니다.</a:t>
            </a:r>
            <a:endParaRPr lang="en-US" sz="190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PART 04 · FUTURE · 54 / 60</a:t>
            </a:r>
            <a:endParaRPr lang="en-US" sz="15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558113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2952598"/>
            <a:ext cx="7905902" cy="2857500"/>
          </a:xfrm>
          <a:prstGeom prst="roundRect">
            <a:avLst>
              <a:gd name="adj" fmla="val 2016"/>
            </a:avLst>
          </a:prstGeom>
          <a:solidFill>
            <a:srgbClr val="1C1B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ddf432644b52d8116dd5069edbc759e8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410005" y="3486607"/>
            <a:ext cx="74295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39098" y="2952598"/>
            <a:ext cx="7905902" cy="2857500"/>
          </a:xfrm>
          <a:prstGeom prst="roundRect">
            <a:avLst>
              <a:gd name="adj" fmla="val 2016"/>
            </a:avLst>
          </a:prstGeom>
          <a:solidFill>
            <a:srgbClr val="1C1B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ddf432644b52d8116dd5069edbc759e8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9506102" y="3486607"/>
            <a:ext cx="74295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43000" y="6001207"/>
            <a:ext cx="7905902" cy="2857500"/>
          </a:xfrm>
          <a:prstGeom prst="roundRect">
            <a:avLst>
              <a:gd name="adj" fmla="val 2016"/>
            </a:avLst>
          </a:prstGeom>
          <a:solidFill>
            <a:srgbClr val="1C1B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gen-dedup-ddf432644b52d8116dd5069edbc759e8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410005" y="6534302"/>
            <a:ext cx="74295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239098" y="6001207"/>
            <a:ext cx="7905902" cy="2857500"/>
          </a:xfrm>
          <a:prstGeom prst="roundRect">
            <a:avLst>
              <a:gd name="adj" fmla="val 2016"/>
            </a:avLst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gen-dedup-ddf432644b52d8116dd5069edbc759e8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9506102" y="6534302"/>
            <a:ext cx="7429500" cy="91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143000" y="9048902"/>
            <a:ext cx="16059607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/>
          <p:cNvSpPr/>
          <p:nvPr/>
        </p:nvSpPr>
        <p:spPr>
          <a:xfrm>
            <a:off x="1143000" y="9048902"/>
            <a:ext cx="57607" cy="47640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5" descr="gen-dedup-596901a3f1298b91ce24c8203fbdfe7c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1143000" y="2952598"/>
            <a:ext cx="7905902" cy="75895"/>
          </a:xfrm>
          <a:prstGeom prst="rect">
            <a:avLst/>
          </a:prstGeom>
        </p:spPr>
      </p:pic>
      <p:pic>
        <p:nvPicPr>
          <p:cNvPr id="17" name="Image 6" descr="gen-dedup-596901a3f1298b91ce24c8203fbdfe7c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9239098" y="2952598"/>
            <a:ext cx="7905902" cy="75895"/>
          </a:xfrm>
          <a:prstGeom prst="rect">
            <a:avLst/>
          </a:prstGeom>
        </p:spPr>
      </p:pic>
      <p:pic>
        <p:nvPicPr>
          <p:cNvPr id="18" name="Image 7" descr="gen-dedup-596901a3f1298b91ce24c8203fbdfe7c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1143000" y="6001207"/>
            <a:ext cx="7905902" cy="75895"/>
          </a:xfrm>
          <a:prstGeom prst="rect">
            <a:avLst/>
          </a:prstGeom>
        </p:spPr>
      </p:pic>
      <p:pic>
        <p:nvPicPr>
          <p:cNvPr id="19" name="Image 8" descr="gen-dedup-2740c519cb00ac3f3562614e70bc33cf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9239098" y="6001207"/>
            <a:ext cx="7905902" cy="75895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· BUILD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3238805" y="76169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AI에게 시킬 일 4가지 — 초안만, 완성은 본인이.</a:t>
            </a:r>
            <a:endParaRPr lang="en-US" sz="1550" dirty="0"/>
          </a:p>
        </p:txBody>
      </p:sp>
      <p:sp>
        <p:nvSpPr>
          <p:cNvPr id="22" name="Text 11"/>
          <p:cNvSpPr txBox="1"/>
          <p:nvPr/>
        </p:nvSpPr>
        <p:spPr>
          <a:xfrm>
            <a:off x="1143000" y="1695298"/>
            <a:ext cx="14287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포트폴리오 4쪽 초안 — 합쳐서 1시간.</a:t>
            </a:r>
            <a:endParaRPr lang="en-US" sz="4350" dirty="0"/>
          </a:p>
        </p:txBody>
      </p:sp>
      <p:sp>
        <p:nvSpPr>
          <p:cNvPr id="23" name="Text 12"/>
          <p:cNvSpPr txBox="1"/>
          <p:nvPr/>
        </p:nvSpPr>
        <p:spPr>
          <a:xfrm>
            <a:off x="1143000" y="2476195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3·4의 결과 종이를 입력값으로. AI는 “정리하는 손”, 본인은 “결정하는 머리”.</a:t>
            </a:r>
            <a:endParaRPr lang="en-US" sz="1700" dirty="0"/>
          </a:p>
        </p:txBody>
      </p:sp>
      <p:sp>
        <p:nvSpPr>
          <p:cNvPr id="24" name="Text 13"/>
          <p:cNvSpPr txBox="1"/>
          <p:nvPr/>
        </p:nvSpPr>
        <p:spPr>
          <a:xfrm>
            <a:off x="1410005" y="3161995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4F1E8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· 01 · 자기소개 (한 문장 + 차별화 3문장)</a:t>
            </a:r>
            <a:endParaRPr lang="en-US" sz="1500" dirty="0"/>
          </a:p>
        </p:txBody>
      </p:sp>
      <p:sp>
        <p:nvSpPr>
          <p:cNvPr id="25" name="Text 14"/>
          <p:cNvSpPr txBox="1"/>
          <p:nvPr/>
        </p:nvSpPr>
        <p:spPr>
          <a:xfrm>
            <a:off x="1410005" y="3676802"/>
            <a:ext cx="74295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포트폴리오의 자기소개 페이지 작성.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입력 (실습 3 결과)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경력 / 자격 / 강의 경험: ________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차별화 축(실습 4): 경험기반 / 실무기반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출력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 한 문장 소개 (대상-결과물 형식)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 차별화 3문장 (근거 1개씩)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형식 — 한 줄씩 · 추상어 금지 · 평어체</a:t>
            </a:r>
          </a:p>
        </p:txBody>
      </p:sp>
      <p:sp>
        <p:nvSpPr>
          <p:cNvPr id="26" name="Text 15"/>
          <p:cNvSpPr txBox="1"/>
          <p:nvPr/>
        </p:nvSpPr>
        <p:spPr>
          <a:xfrm>
            <a:off x="9506102" y="3161995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4F1E8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· 02 · 강의소개 (6칸 1쪽)</a:t>
            </a:r>
            <a:endParaRPr lang="en-US" sz="1500" dirty="0"/>
          </a:p>
        </p:txBody>
      </p:sp>
      <p:sp>
        <p:nvSpPr>
          <p:cNvPr id="27" name="Text 16"/>
          <p:cNvSpPr txBox="1"/>
          <p:nvPr/>
        </p:nvSpPr>
        <p:spPr>
          <a:xfrm>
            <a:off x="9506102" y="3676802"/>
            <a:ext cx="74295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포트폴리오의 대표 강의 1쪽 작성.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입력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과정명 / 대상 / 시간: ________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학습 목표 2개 / 최근 실적 1건: ________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출력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44 6칸 양식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(과정명·대상/시간·목표·내용·실습·실적)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빈 칸 추정 금지 — 없으면 [TBD]</a:t>
            </a:r>
          </a:p>
        </p:txBody>
      </p:sp>
      <p:sp>
        <p:nvSpPr>
          <p:cNvPr id="28" name="Text 17"/>
          <p:cNvSpPr txBox="1"/>
          <p:nvPr/>
        </p:nvSpPr>
        <p:spPr>
          <a:xfrm>
            <a:off x="1410005" y="6210605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4F1E8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· 03 · 과정개요 (커리큘럼 1쪽)</a:t>
            </a:r>
            <a:endParaRPr lang="en-US" sz="1500" dirty="0"/>
          </a:p>
        </p:txBody>
      </p:sp>
      <p:sp>
        <p:nvSpPr>
          <p:cNvPr id="29" name="Text 18"/>
          <p:cNvSpPr txBox="1"/>
          <p:nvPr/>
        </p:nvSpPr>
        <p:spPr>
          <a:xfrm>
            <a:off x="1410005" y="6724498"/>
            <a:ext cx="74295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포트폴리오의 커리큘럼 1쪽.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입력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학습 목표 1개 / 대상: ________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시간(총 OO시간): ________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출력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1시간 단위 5칸 표 (목표/내용/실습/산출물/도구)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시간 수만큼 행 자동 생성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실습은 '결과물이 손에 남는' 형태 · 설명 50% 이내</a:t>
            </a:r>
          </a:p>
        </p:txBody>
      </p:sp>
      <p:sp>
        <p:nvSpPr>
          <p:cNvPr id="30" name="Text 19"/>
          <p:cNvSpPr txBox="1"/>
          <p:nvPr/>
        </p:nvSpPr>
        <p:spPr>
          <a:xfrm>
            <a:off x="9506102" y="6210605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3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· 04 · 실적요약 (한 단락 + 표)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9506102" y="6724498"/>
            <a:ext cx="74295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포트폴리오의 실적 요약 페이지.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입력 (실습 3 강의 경험 칸)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 목록 줄별로 — 기관·인원·시간·만족도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7A79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출력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 1단락 요약 — '최근 N년 OO명/OO회/만족도 OO'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 표 7칸 (기관/교육명/대상/시간/인원/역할/성과)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가장 강한 5건만 선별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금지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'외 다수' 금지 · 추정·과장 금지</a:t>
            </a:r>
          </a:p>
        </p:txBody>
      </p:sp>
      <p:sp>
        <p:nvSpPr>
          <p:cNvPr id="32" name="Text 21"/>
          <p:cNvSpPr txBox="1"/>
          <p:nvPr/>
        </p:nvSpPr>
        <p:spPr>
          <a:xfrm>
            <a:off x="1429207" y="9163202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원칙 — AI 출력 그대로 쓰지 않습니다. </a:t>
            </a:r>
            <a:r>
              <a:rPr lang="en-US" sz="1550" b="1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초안 + 본인 30분 편집 = 진짜 포트폴리오.</a:t>
            </a:r>
            <a:r>
              <a:rPr lang="en-US" sz="1550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× 15분 = 1시간.</a:t>
            </a:r>
            <a:endParaRPr lang="en-US" sz="1550" dirty="0"/>
          </a:p>
        </p:txBody>
      </p:sp>
      <p:sp>
        <p:nvSpPr>
          <p:cNvPr id="33" name="Text 22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BUILD · 4 PROMPTS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55 / 60</a:t>
            </a:r>
            <a:endParaRPr lang="en-US" sz="15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7971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7925105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47495" y="4381805"/>
            <a:ext cx="476402" cy="28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9098" y="2952598"/>
            <a:ext cx="7925105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9544507" y="4381805"/>
            <a:ext cx="476402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43000" y="6096305"/>
            <a:ext cx="7925105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d62776392b1bc6feebd37cfd80421698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47495" y="7524598"/>
            <a:ext cx="476402" cy="2834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9239098" y="6096305"/>
            <a:ext cx="7905902" cy="2952598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f9c4ee4670abd4f2604d62cf7153445d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9544507" y="7524598"/>
            <a:ext cx="476402" cy="28346"/>
          </a:xfrm>
          <a:prstGeom prst="rect">
            <a:avLst/>
          </a:prstGeom>
        </p:spPr>
      </p:pic>
      <p:pic>
        <p:nvPicPr>
          <p:cNvPr id="13" name="Image 5" descr="gen-dedup-596901a3f1298b91ce24c8203fbdfe7c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1143000" y="2952598"/>
            <a:ext cx="7905902" cy="75895"/>
          </a:xfrm>
          <a:prstGeom prst="rect">
            <a:avLst/>
          </a:prstGeom>
        </p:spPr>
      </p:pic>
      <p:pic>
        <p:nvPicPr>
          <p:cNvPr id="14" name="Image 6" descr="gen-dedup-596901a3f1298b91ce24c8203fbdfe7c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9239098" y="2952598"/>
            <a:ext cx="7905902" cy="75895"/>
          </a:xfrm>
          <a:prstGeom prst="rect">
            <a:avLst/>
          </a:prstGeom>
        </p:spPr>
      </p:pic>
      <p:pic>
        <p:nvPicPr>
          <p:cNvPr id="15" name="Image 7" descr="gen-dedup-596901a3f1298b91ce24c8203fbdfe7c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1143000" y="6096305"/>
            <a:ext cx="7905902" cy="75895"/>
          </a:xfrm>
          <a:prstGeom prst="rect">
            <a:avLst/>
          </a:prstGeom>
        </p:spPr>
      </p:pic>
      <p:pic>
        <p:nvPicPr>
          <p:cNvPr id="16" name="Image 8" descr="gen-dedup-2740c519cb00ac3f3562614e70bc33cf.png"/>
          <p:cNvPicPr>
            <a:picLocks noChangeAspect="1"/>
          </p:cNvPicPr>
          <p:nvPr/>
        </p:nvPicPr>
        <p:blipFill>
          <a:blip r:embed="rId6"/>
          <a:srcRect l="-202" r="-202"/>
          <a:stretch/>
        </p:blipFill>
        <p:spPr>
          <a:xfrm>
            <a:off x="9239098" y="6096305"/>
            <a:ext cx="7905902" cy="7589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56 · FUTURE SKILLS · 2026~2030 강사가 갖춰야 할 네 가지</a:t>
            </a:r>
            <a:endParaRPr lang="en-US" sz="1550" dirty="0"/>
          </a:p>
        </p:txBody>
      </p:sp>
      <p:sp>
        <p:nvSpPr>
          <p:cNvPr id="18" name="Text 7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미래 강사 = 네 가지 역량의 곱.</a:t>
            </a:r>
            <a:endParaRPr lang="en-US" sz="4500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 네 가지 중 어디에 본인을 위치시킬지가 — 포트폴리오 “미래 분야” 칸의 내용을 결정합니다.</a:t>
            </a:r>
            <a:endParaRPr lang="en-US" sz="1700" dirty="0"/>
          </a:p>
        </p:txBody>
      </p:sp>
      <p:sp>
        <p:nvSpPr>
          <p:cNvPr id="20" name="Text 9"/>
          <p:cNvSpPr txBox="1"/>
          <p:nvPr/>
        </p:nvSpPr>
        <p:spPr>
          <a:xfrm>
            <a:off x="1447495" y="3161995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 01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1447495" y="3467405"/>
            <a:ext cx="72969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AI 활용력</a:t>
            </a:r>
            <a:endParaRPr lang="en-US" sz="2750" dirty="0"/>
          </a:p>
        </p:txBody>
      </p:sp>
      <p:sp>
        <p:nvSpPr>
          <p:cNvPr id="22" name="Text 11"/>
          <p:cNvSpPr txBox="1"/>
          <p:nvPr/>
        </p:nvSpPr>
        <p:spPr>
          <a:xfrm>
            <a:off x="1447495" y="3981298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LITERACY</a:t>
            </a:r>
            <a:endParaRPr lang="en-US" sz="1500" dirty="0"/>
          </a:p>
        </p:txBody>
      </p:sp>
      <p:sp>
        <p:nvSpPr>
          <p:cNvPr id="23" name="Text 12"/>
          <p:cNvSpPr txBox="1"/>
          <p:nvPr/>
        </p:nvSpPr>
        <p:spPr>
          <a:xfrm>
            <a:off x="1447494" y="4629607"/>
            <a:ext cx="76014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수강생보다 AI를 잘 다룬다 — 가 아니라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“AI를 어떻게 쓰는지 시범 보일 수 있다”.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01의 5가지 AI 사례가 그 출발선. 한 강의에 AI 활용 시범 1회 이상.</a:t>
            </a:r>
            <a:endParaRPr lang="en-US" sz="1700" dirty="0"/>
          </a:p>
        </p:txBody>
      </p:sp>
      <p:sp>
        <p:nvSpPr>
          <p:cNvPr id="24" name="Text 13"/>
          <p:cNvSpPr txBox="1"/>
          <p:nvPr/>
        </p:nvSpPr>
        <p:spPr>
          <a:xfrm>
            <a:off x="9544507" y="3161995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 02</a:t>
            </a:r>
            <a:endParaRPr lang="en-US" sz="1500" dirty="0"/>
          </a:p>
        </p:txBody>
      </p:sp>
      <p:sp>
        <p:nvSpPr>
          <p:cNvPr id="25" name="Text 14"/>
          <p:cNvSpPr txBox="1"/>
          <p:nvPr/>
        </p:nvSpPr>
        <p:spPr>
          <a:xfrm>
            <a:off x="9544507" y="3467405"/>
            <a:ext cx="72969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콘텐츠 기획력</a:t>
            </a:r>
            <a:endParaRPr lang="en-US" sz="2750" dirty="0"/>
          </a:p>
        </p:txBody>
      </p:sp>
      <p:sp>
        <p:nvSpPr>
          <p:cNvPr id="26" name="Text 15"/>
          <p:cNvSpPr txBox="1"/>
          <p:nvPr/>
        </p:nvSpPr>
        <p:spPr>
          <a:xfrm>
            <a:off x="9544507" y="3981298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 DESIGN</a:t>
            </a:r>
            <a:endParaRPr lang="en-US" sz="1500" dirty="0"/>
          </a:p>
        </p:txBody>
      </p:sp>
      <p:sp>
        <p:nvSpPr>
          <p:cNvPr id="27" name="Text 16"/>
          <p:cNvSpPr txBox="1"/>
          <p:nvPr/>
        </p:nvSpPr>
        <p:spPr>
          <a:xfrm>
            <a:off x="9544506" y="4629607"/>
            <a:ext cx="76004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“이번 주에 무슨 강의를 할까”가 아니라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 분기에 어떤 시리즈를 만들까”.</a:t>
            </a:r>
            <a:endParaRPr lang="en-US" sz="1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유튜브 시리즈 1개, 책 한 권, 뉴스레터 12회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콘텐츠는 1회성이 아니라 시즌 단위 기획.</a:t>
            </a:r>
            <a:endParaRPr lang="en-US" sz="1700" dirty="0"/>
          </a:p>
        </p:txBody>
      </p:sp>
      <p:sp>
        <p:nvSpPr>
          <p:cNvPr id="28" name="Text 17"/>
          <p:cNvSpPr txBox="1"/>
          <p:nvPr/>
        </p:nvSpPr>
        <p:spPr>
          <a:xfrm>
            <a:off x="1447495" y="6305702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 03</a:t>
            </a:r>
            <a:endParaRPr lang="en-US" sz="1500" dirty="0"/>
          </a:p>
        </p:txBody>
      </p:sp>
      <p:sp>
        <p:nvSpPr>
          <p:cNvPr id="29" name="Text 18"/>
          <p:cNvSpPr txBox="1"/>
          <p:nvPr/>
        </p:nvSpPr>
        <p:spPr>
          <a:xfrm>
            <a:off x="1447495" y="6610198"/>
            <a:ext cx="72969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실습 설계력</a:t>
            </a:r>
            <a:endParaRPr lang="en-US" sz="2750" dirty="0"/>
          </a:p>
        </p:txBody>
      </p:sp>
      <p:sp>
        <p:nvSpPr>
          <p:cNvPr id="30" name="Text 19"/>
          <p:cNvSpPr txBox="1"/>
          <p:nvPr/>
        </p:nvSpPr>
        <p:spPr>
          <a:xfrm>
            <a:off x="1447495" y="7125005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DESIGN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1447495" y="7772400"/>
            <a:ext cx="7296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설명 시간보다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시간을 더 길게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설계할 수 있다.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손에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결과물 1개 남기는 90초 실습 30개를 가진 강사 — AI가 못 만드는 영역.</a:t>
            </a:r>
            <a:endParaRPr lang="en-US" sz="1700" dirty="0"/>
          </a:p>
        </p:txBody>
      </p:sp>
      <p:sp>
        <p:nvSpPr>
          <p:cNvPr id="32" name="Text 21"/>
          <p:cNvSpPr txBox="1"/>
          <p:nvPr/>
        </p:nvSpPr>
        <p:spPr>
          <a:xfrm>
            <a:off x="9544507" y="6305702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 04</a:t>
            </a:r>
            <a:endParaRPr lang="en-US" sz="1500" dirty="0"/>
          </a:p>
        </p:txBody>
      </p:sp>
      <p:sp>
        <p:nvSpPr>
          <p:cNvPr id="33" name="Text 22"/>
          <p:cNvSpPr txBox="1"/>
          <p:nvPr/>
        </p:nvSpPr>
        <p:spPr>
          <a:xfrm>
            <a:off x="9544507" y="6610198"/>
            <a:ext cx="72969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데이터 기반 개선력</a:t>
            </a:r>
            <a:endParaRPr lang="en-US" sz="2750" dirty="0"/>
          </a:p>
        </p:txBody>
      </p:sp>
      <p:sp>
        <p:nvSpPr>
          <p:cNvPr id="34" name="Text 23"/>
          <p:cNvSpPr txBox="1"/>
          <p:nvPr/>
        </p:nvSpPr>
        <p:spPr>
          <a:xfrm>
            <a:off x="9544507" y="7125005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DATA-DRIVEN IMPROVEMENT</a:t>
            </a:r>
            <a:endParaRPr lang="en-US" sz="1500" dirty="0"/>
          </a:p>
        </p:txBody>
      </p:sp>
      <p:sp>
        <p:nvSpPr>
          <p:cNvPr id="35" name="Text 24"/>
          <p:cNvSpPr txBox="1"/>
          <p:nvPr/>
        </p:nvSpPr>
        <p:spPr>
          <a:xfrm>
            <a:off x="9544507" y="7772400"/>
            <a:ext cx="7296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만족도 4.5에서 4.7로 — </a:t>
            </a:r>
            <a:r>
              <a:rPr lang="en-US" sz="1700" b="1" dirty="0">
                <a:solidFill>
                  <a:srgbClr val="FFBD2E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숫자로 강의를 개선할 수 있다.</a:t>
            </a: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01의 슬라이드 24 만족도 AI 분석이 이 역량의 입문 도구.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분기</a:t>
            </a:r>
            <a:r>
              <a:rPr lang="en-US" sz="1700" dirty="0">
                <a:solidFill>
                  <a:srgbClr val="F4F1E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1회 강의 개선 회고.</a:t>
            </a:r>
            <a:endParaRPr lang="en-US" sz="1700" dirty="0"/>
          </a:p>
        </p:txBody>
      </p:sp>
      <p:sp>
        <p:nvSpPr>
          <p:cNvPr id="36" name="Text 25"/>
          <p:cNvSpPr txBox="1"/>
          <p:nvPr/>
        </p:nvSpPr>
        <p:spPr>
          <a:xfrm>
            <a:off x="1143000" y="9239098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네 가지 모두 80점일 필요는 없습니다 — 두 개를 95점으로. 그 두 개가 본인 차별화의 축.</a:t>
            </a:r>
            <a:endParaRPr lang="en-US" sz="1900" dirty="0"/>
          </a:p>
        </p:txBody>
      </p:sp>
      <p:sp>
        <p:nvSpPr>
          <p:cNvPr id="37" name="Text 26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56 / 60</a:t>
            </a:r>
            <a:endParaRPr lang="en-US" sz="15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058972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18140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4143146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5333695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6524244"/>
            <a:ext cx="16021202" cy="11146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7715707"/>
            <a:ext cx="16002000" cy="1095451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2952598"/>
            <a:ext cx="1047902" cy="1095451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4143146"/>
            <a:ext cx="1047902" cy="1095451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5333695"/>
            <a:ext cx="1047902" cy="1095451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43000" y="6524244"/>
            <a:ext cx="1047902" cy="1095451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7715707"/>
            <a:ext cx="1047902" cy="1095451"/>
          </a:xfrm>
          <a:prstGeom prst="rect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761695"/>
            <a:ext cx="1333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57 · BRAND STRATEGY · 다섯 칸 — 매주 하나씩만 다듬어도 충분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5809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45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이름이 검색어가 될 때 — 브랜드가 된다.</a:t>
            </a:r>
            <a:endParaRPr lang="en-US" sz="45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419502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브랜드 = 한 번에 만드는 게 아닙니다. 다섯 칸 — 6개월에 걸쳐 한 칸씩.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066898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4150" dirty="0"/>
          </a:p>
        </p:txBody>
      </p:sp>
      <p:sp>
        <p:nvSpPr>
          <p:cNvPr id="19" name="Text 16"/>
          <p:cNvSpPr txBox="1"/>
          <p:nvPr/>
        </p:nvSpPr>
        <p:spPr>
          <a:xfrm>
            <a:off x="2495398" y="3105302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495398" y="3409798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이름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4961107" y="3181198"/>
            <a:ext cx="976657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검색해보면 동명이인이 몇 명인지부터.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“이름 + 주력 분야”가 한 검색 결과에 같이 뜨는가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 </a:t>
            </a: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출발선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안 뜨면 — 콘텐츠 1개부터.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4287500" y="3181198"/>
            <a:ext cx="2667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이번 주 점검 →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본인 이름 구글 검색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4257446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4150" dirty="0"/>
          </a:p>
        </p:txBody>
      </p:sp>
      <p:sp>
        <p:nvSpPr>
          <p:cNvPr id="24" name="Text 21"/>
          <p:cNvSpPr txBox="1"/>
          <p:nvPr/>
        </p:nvSpPr>
        <p:spPr>
          <a:xfrm>
            <a:off x="2495398" y="4295851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KEYWORDS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2495398" y="4600346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전문 키워드 3개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4961107" y="4371746"/>
            <a:ext cx="976657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 강사 = OO, OO, OO” 세 단어. 모든 SNS 프로필·웹 포트폴리오·메일 서명에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 3개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일관되게.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14287500" y="4371746"/>
            <a:ext cx="2667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예) “강사 코칭”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“AI 활용”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“업무 자동화”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5447995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4150" dirty="0"/>
          </a:p>
        </p:txBody>
      </p:sp>
      <p:sp>
        <p:nvSpPr>
          <p:cNvPr id="29" name="Text 26"/>
          <p:cNvSpPr txBox="1"/>
          <p:nvPr/>
        </p:nvSpPr>
        <p:spPr>
          <a:xfrm>
            <a:off x="2495398" y="5486400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SIGNATURE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2495398" y="5790895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대표 강의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4961107" y="5562295"/>
            <a:ext cx="976657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“이 강사 = 그 강의”로 떠오르는 강의 1개. 같은 강의를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최소 10회 이상 반복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해야 그 자리에 도달합니다.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14287500" y="5562295"/>
            <a:ext cx="2667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44의 한 강의를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10회 반복하는 계획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6638544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4150" dirty="0"/>
          </a:p>
        </p:txBody>
      </p:sp>
      <p:sp>
        <p:nvSpPr>
          <p:cNvPr id="34" name="Text 31"/>
          <p:cNvSpPr txBox="1"/>
          <p:nvPr/>
        </p:nvSpPr>
        <p:spPr>
          <a:xfrm>
            <a:off x="2495398" y="6676949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2495398" y="6981444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콘텐츠 채널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4961107" y="6752844"/>
            <a:ext cx="976657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채널은 </a:t>
            </a: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하나만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유튜브 OR 블로그 OR 뉴스레터.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 err="1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셋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다 하면 셋 다 안 자라요. 주 1회, 1년 = 50편이 손에 남습니다.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14287500" y="6752844"/>
            <a:ext cx="2667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이번 분기 채널 → 하나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주 1회 정기 발행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" y="7830007"/>
            <a:ext cx="104790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1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4150" dirty="0"/>
          </a:p>
        </p:txBody>
      </p:sp>
      <p:sp>
        <p:nvSpPr>
          <p:cNvPr id="39" name="Text 36"/>
          <p:cNvSpPr txBox="1"/>
          <p:nvPr/>
        </p:nvSpPr>
        <p:spPr>
          <a:xfrm>
            <a:off x="2495398" y="7867498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REPUTATION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2495398" y="8172907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평판 관리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4961108" y="7944307"/>
            <a:ext cx="976657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 끝나면 — 만족도 점수만 받지 말고 </a:t>
            </a: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“짧은 후기 1줄 + 이름·소속”을 동의 받고 수집.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12건 모이면 평판이 됩니다.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14287500" y="7944307"/>
            <a:ext cx="2667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매 강의 끝 →</a:t>
            </a:r>
            <a:endParaRPr lang="en-US" sz="15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후기 동의서 1장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143000" y="9001354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매주 한 칸씩 — 5주면 한 바퀴. 다음 분기엔 같은 다섯 칸을 “더 정밀하게” 다시 한 바퀴.</a:t>
            </a:r>
            <a:endParaRPr lang="en-US" sz="190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57 / 60</a:t>
            </a:r>
            <a:endParaRPr lang="en-US" sz="15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5076651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904695" cy="342900"/>
          </a:xfrm>
          <a:prstGeom prst="rect">
            <a:avLst/>
          </a:prstGeom>
          <a:solidFill>
            <a:srgbClr val="8C15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c8cfe17b0230c1d3fd669e94613719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143000" y="1314907"/>
            <a:ext cx="1600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811098" y="1619402"/>
            <a:ext cx="3333902" cy="1238098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3143707"/>
            <a:ext cx="5286146" cy="5162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447495" y="4953305"/>
            <a:ext cx="4677156" cy="3161995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505956" y="3143707"/>
            <a:ext cx="5286146" cy="5162702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810451" y="4953305"/>
            <a:ext cx="4677156" cy="3161995"/>
          </a:xfrm>
          <a:prstGeom prst="rect">
            <a:avLst/>
          </a:prstGeom>
          <a:solidFill>
            <a:srgbClr val="F4F1E8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867998" y="3143707"/>
            <a:ext cx="5277002" cy="5143500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2173407" y="4953305"/>
            <a:ext cx="4686300" cy="3161995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43000" y="8477402"/>
            <a:ext cx="16059607" cy="761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8477402"/>
            <a:ext cx="57607" cy="761695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e2206c5c145e55646b7e2bc1a9630edc.png"/>
          <p:cNvPicPr>
            <a:picLocks noChangeAspect="1"/>
          </p:cNvPicPr>
          <p:nvPr/>
        </p:nvPicPr>
        <p:blipFill>
          <a:blip r:embed="rId3"/>
          <a:srcRect l="-406" r="-406"/>
          <a:stretch/>
        </p:blipFill>
        <p:spPr>
          <a:xfrm>
            <a:off x="13811098" y="1619402"/>
            <a:ext cx="57607" cy="1238098"/>
          </a:xfrm>
          <a:prstGeom prst="rect">
            <a:avLst/>
          </a:prstGeom>
        </p:spPr>
      </p:pic>
      <p:pic>
        <p:nvPicPr>
          <p:cNvPr id="16" name="Image 2" descr="gen-dedup-02a66f17cab8e279ebf039c8eb90fb93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143000" y="3143707"/>
            <a:ext cx="57607" cy="5143500"/>
          </a:xfrm>
          <a:prstGeom prst="rect">
            <a:avLst/>
          </a:prstGeom>
        </p:spPr>
      </p:pic>
      <p:pic>
        <p:nvPicPr>
          <p:cNvPr id="17" name="Image 3" descr="gen-dedup-02a66f17cab8e279ebf039c8eb90fb93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6505956" y="3143707"/>
            <a:ext cx="57607" cy="5143500"/>
          </a:xfrm>
          <a:prstGeom prst="rect">
            <a:avLst/>
          </a:prstGeom>
        </p:spPr>
      </p:pic>
      <p:pic>
        <p:nvPicPr>
          <p:cNvPr id="18" name="Image 4" descr="gen-dedup-349805bd58de80ae85250b28a72c2cab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1867998" y="3143707"/>
            <a:ext cx="57607" cy="51435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43000" y="761695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168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05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3238805" y="761695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종이 한 장 · 10분 · </a:t>
            </a: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현재 / 1년 후 / 3년 후</a:t>
            </a:r>
            <a:endParaRPr lang="en-US" sz="155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1695298"/>
            <a:ext cx="11430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42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내 미래 분야 — 시점별 3칸으로.</a:t>
            </a:r>
            <a:endParaRPr lang="en-US" sz="4350" dirty="0"/>
          </a:p>
        </p:txBody>
      </p:sp>
      <p:pic>
        <p:nvPicPr>
          <p:cNvPr id="22" name="Image 5" descr="gen-dedup-27d062dff674067c162ae25c57f9607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058900" y="1848002"/>
            <a:ext cx="571500" cy="5715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4763902" y="1752905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76" dirty="0">
                <a:solidFill>
                  <a:srgbClr val="F4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TIMER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4763902" y="2018995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5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r>
              <a:rPr lang="en-US" sz="2100" b="1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min</a:t>
            </a:r>
            <a:endParaRPr lang="en-US" sz="3850" dirty="0"/>
          </a:p>
        </p:txBody>
      </p:sp>
      <p:sp>
        <p:nvSpPr>
          <p:cNvPr id="25" name="Text 17"/>
          <p:cNvSpPr txBox="1"/>
          <p:nvPr/>
        </p:nvSpPr>
        <p:spPr>
          <a:xfrm>
            <a:off x="1143000" y="2533802"/>
            <a:ext cx="12382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도움말 · “세 칸을 한 줄로 읽었을 때, 한 사람의 ‘이야기’가 보여야 합니다.”</a:t>
            </a:r>
            <a:endParaRPr lang="en-US" sz="1650" dirty="0"/>
          </a:p>
        </p:txBody>
      </p:sp>
      <p:sp>
        <p:nvSpPr>
          <p:cNvPr id="26" name="Text 18"/>
          <p:cNvSpPr txBox="1"/>
          <p:nvPr/>
        </p:nvSpPr>
        <p:spPr>
          <a:xfrm>
            <a:off x="1447495" y="3372307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 · 현재 분야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1447495" y="3676802"/>
            <a:ext cx="46579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지금 내가 가르치는 것</a:t>
            </a:r>
            <a:endParaRPr lang="en-US" sz="2400" dirty="0"/>
          </a:p>
        </p:txBody>
      </p:sp>
      <p:sp>
        <p:nvSpPr>
          <p:cNvPr id="28" name="Text 20"/>
          <p:cNvSpPr txBox="1"/>
          <p:nvPr/>
        </p:nvSpPr>
        <p:spPr>
          <a:xfrm>
            <a:off x="1447495" y="4209898"/>
            <a:ext cx="4657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41 “주력 분야” + 실습 3의 강의 경험.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최근 1년 의뢰가 들어왔던 분야 1~2개.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1580998" y="5143500"/>
            <a:ext cx="4391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대상 →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580998" y="5429707"/>
            <a:ext cx="4391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31" name="Text 23"/>
          <p:cNvSpPr txBox="1"/>
          <p:nvPr/>
        </p:nvSpPr>
        <p:spPr>
          <a:xfrm>
            <a:off x="1580998" y="6133795"/>
            <a:ext cx="4391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주제 →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580998" y="6420002"/>
            <a:ext cx="4391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1580998" y="7125005"/>
            <a:ext cx="4391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최근 12개월 의뢰 횟수 →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1580998" y="7410298"/>
            <a:ext cx="4391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35" name="Text 27"/>
          <p:cNvSpPr txBox="1"/>
          <p:nvPr/>
        </p:nvSpPr>
        <p:spPr>
          <a:xfrm>
            <a:off x="6810451" y="3372307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 YEAR · 확장 분야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6810451" y="3676802"/>
            <a:ext cx="46579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옆으로 한 걸음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6810451" y="4209898"/>
            <a:ext cx="4657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같은 대상 / 다른 주제, 또는 같은 주제 / 다른 대상.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1년 뒤 “이 강의도 한다”고 답할 분야.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6943954" y="5143500"/>
            <a:ext cx="4391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대상 →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6943954" y="5429707"/>
            <a:ext cx="4391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40" name="Text 32"/>
          <p:cNvSpPr txBox="1"/>
          <p:nvPr/>
        </p:nvSpPr>
        <p:spPr>
          <a:xfrm>
            <a:off x="6943954" y="6133795"/>
            <a:ext cx="4391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새 주제 →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6943954" y="6420002"/>
            <a:ext cx="4391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42" name="Text 34"/>
          <p:cNvSpPr txBox="1"/>
          <p:nvPr/>
        </p:nvSpPr>
        <p:spPr>
          <a:xfrm>
            <a:off x="6943954" y="7125005"/>
            <a:ext cx="4391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8C1515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1년 내 시도해볼 첫 강의 →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6943954" y="7410298"/>
            <a:ext cx="4391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2E2D29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44" name="Text 36"/>
          <p:cNvSpPr txBox="1"/>
          <p:nvPr/>
        </p:nvSpPr>
        <p:spPr>
          <a:xfrm>
            <a:off x="12173407" y="3372307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+3 YEARS · 미래 분야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12173407" y="3676802"/>
            <a:ext cx="4668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미래의 주력</a:t>
            </a:r>
            <a:endParaRPr lang="en-US" sz="2400" dirty="0"/>
          </a:p>
        </p:txBody>
      </p:sp>
      <p:sp>
        <p:nvSpPr>
          <p:cNvPr id="46" name="Text 38"/>
          <p:cNvSpPr txBox="1"/>
          <p:nvPr/>
        </p:nvSpPr>
        <p:spPr>
          <a:xfrm>
            <a:off x="12173407" y="4209898"/>
            <a:ext cx="4668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지금은 의뢰가 안 오지만 3년 뒤엔 메인이 될 분야.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오늘부터 콘텐츠로 미리 신호를 보내는 영역.</a:t>
            </a:r>
            <a:endParaRPr lang="en-US" sz="1500" dirty="0"/>
          </a:p>
        </p:txBody>
      </p:sp>
      <p:sp>
        <p:nvSpPr>
          <p:cNvPr id="47" name="Text 39"/>
          <p:cNvSpPr txBox="1"/>
          <p:nvPr/>
        </p:nvSpPr>
        <p:spPr>
          <a:xfrm>
            <a:off x="12305995" y="5143500"/>
            <a:ext cx="44010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미래 분야 한 문장 →</a:t>
            </a:r>
            <a:endParaRPr lang="en-US" sz="1500" dirty="0"/>
          </a:p>
        </p:txBody>
      </p:sp>
      <p:sp>
        <p:nvSpPr>
          <p:cNvPr id="48" name="Text 40"/>
          <p:cNvSpPr txBox="1"/>
          <p:nvPr/>
        </p:nvSpPr>
        <p:spPr>
          <a:xfrm>
            <a:off x="12305995" y="5429707"/>
            <a:ext cx="44010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49" name="Text 41"/>
          <p:cNvSpPr txBox="1"/>
          <p:nvPr/>
        </p:nvSpPr>
        <p:spPr>
          <a:xfrm>
            <a:off x="12305995" y="6133795"/>
            <a:ext cx="44010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왜 이 분야인가 (1문장) →</a:t>
            </a:r>
            <a:endParaRPr lang="en-US" sz="1500" dirty="0"/>
          </a:p>
        </p:txBody>
      </p:sp>
      <p:sp>
        <p:nvSpPr>
          <p:cNvPr id="50" name="Text 42"/>
          <p:cNvSpPr txBox="1"/>
          <p:nvPr/>
        </p:nvSpPr>
        <p:spPr>
          <a:xfrm>
            <a:off x="12305995" y="6420002"/>
            <a:ext cx="44010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51" name="Text 43"/>
          <p:cNvSpPr txBox="1"/>
          <p:nvPr/>
        </p:nvSpPr>
        <p:spPr>
          <a:xfrm>
            <a:off x="12305995" y="7125005"/>
            <a:ext cx="44010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D2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이번 달부터 만들 콘텐츠 1개 →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2305995" y="7410298"/>
            <a:ext cx="44010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F4F1E8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_______________</a:t>
            </a:r>
            <a:endParaRPr lang="en-US" sz="1550" dirty="0"/>
          </a:p>
        </p:txBody>
      </p:sp>
      <p:sp>
        <p:nvSpPr>
          <p:cNvPr id="53" name="Text 45"/>
          <p:cNvSpPr txBox="1"/>
          <p:nvPr/>
        </p:nvSpPr>
        <p:spPr>
          <a:xfrm>
            <a:off x="1429207" y="8620049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완성 점검 — 세 칸을 한 줄로 읽어보세요</a:t>
            </a:r>
            <a:endParaRPr lang="en-US" sz="1500" dirty="0"/>
          </a:p>
        </p:txBody>
      </p:sp>
      <p:sp>
        <p:nvSpPr>
          <p:cNvPr id="54" name="Text 46"/>
          <p:cNvSpPr txBox="1"/>
          <p:nvPr/>
        </p:nvSpPr>
        <p:spPr>
          <a:xfrm>
            <a:off x="1429207" y="8924544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“현재 OO에서 출발해, 1년 뒤 △△로 넓히고, 3년 뒤 □□의 강사가 됩니다.” — 자연스럽게 읽히면 통과.</a:t>
            </a:r>
            <a:endParaRPr lang="en-US" sz="1750" dirty="0"/>
          </a:p>
        </p:txBody>
      </p:sp>
      <p:sp>
        <p:nvSpPr>
          <p:cNvPr id="55" name="Text 47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· 05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58 / 60</a:t>
            </a:r>
            <a:endParaRPr lang="en-US" sz="1500" dirty="0"/>
          </a:p>
        </p:txBody>
      </p:sp>
      <p:sp>
        <p:nvSpPr>
          <p:cNvPr id="5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555941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43000" y="761695"/>
            <a:ext cx="16002000" cy="476402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2857500"/>
            <a:ext cx="5286146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d62776392b1bc6feebd37cfd80421698.png"/>
          <p:cNvPicPr>
            <a:picLocks noChangeAspect="1"/>
          </p:cNvPicPr>
          <p:nvPr/>
        </p:nvPicPr>
        <p:blipFill>
          <a:blip r:embed="rId2"/>
          <a:srcRect l="-420" r="-420"/>
          <a:stretch/>
        </p:blipFill>
        <p:spPr>
          <a:xfrm>
            <a:off x="1447495" y="4419295"/>
            <a:ext cx="476402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05956" y="2857500"/>
            <a:ext cx="5286146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d62776392b1bc6feebd37cfd80421698.png"/>
          <p:cNvPicPr>
            <a:picLocks noChangeAspect="1"/>
          </p:cNvPicPr>
          <p:nvPr/>
        </p:nvPicPr>
        <p:blipFill>
          <a:blip r:embed="rId2"/>
          <a:srcRect l="-420" r="-420"/>
          <a:stretch/>
        </p:blipFill>
        <p:spPr>
          <a:xfrm>
            <a:off x="6810451" y="4419295"/>
            <a:ext cx="476402" cy="283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867998" y="2857500"/>
            <a:ext cx="5277002" cy="552480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gen-dedup-f9c4ee4670abd4f2604d62cf7153445d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2173407" y="4419295"/>
            <a:ext cx="476402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43000" y="8667598"/>
            <a:ext cx="16059607" cy="6665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1143000" y="8667598"/>
            <a:ext cx="57607" cy="66659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7c30ec54952525a0f40f7a931e0e7694.png"/>
          <p:cNvPicPr>
            <a:picLocks noChangeAspect="1"/>
          </p:cNvPicPr>
          <p:nvPr/>
        </p:nvPicPr>
        <p:blipFill>
          <a:blip r:embed="rId4"/>
          <a:srcRect t="-217" b="-217"/>
          <a:stretch/>
        </p:blipFill>
        <p:spPr>
          <a:xfrm>
            <a:off x="1143000" y="761695"/>
            <a:ext cx="75895" cy="476402"/>
          </a:xfrm>
          <a:prstGeom prst="rect">
            <a:avLst/>
          </a:prstGeom>
        </p:spPr>
      </p:pic>
      <p:pic>
        <p:nvPicPr>
          <p:cNvPr id="14" name="Image 4" descr="gen-dedup-4176338c8211820e0afb13fbe02cb5d7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1143000" y="2857500"/>
            <a:ext cx="5266944" cy="75895"/>
          </a:xfrm>
          <a:prstGeom prst="rect">
            <a:avLst/>
          </a:prstGeom>
        </p:spPr>
      </p:pic>
      <p:pic>
        <p:nvPicPr>
          <p:cNvPr id="15" name="Image 5" descr="gen-dedup-4176338c8211820e0afb13fbe02cb5d7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6505956" y="2857500"/>
            <a:ext cx="5266944" cy="75895"/>
          </a:xfrm>
          <a:prstGeom prst="rect">
            <a:avLst/>
          </a:prstGeom>
        </p:spPr>
      </p:pic>
      <p:pic>
        <p:nvPicPr>
          <p:cNvPr id="16" name="Image 6" descr="gen-dedup-169a695c70329b79560b7ee965e059da.png"/>
          <p:cNvPicPr>
            <a:picLocks noChangeAspect="1"/>
          </p:cNvPicPr>
          <p:nvPr/>
        </p:nvPicPr>
        <p:blipFill>
          <a:blip r:embed="rId6"/>
          <a:srcRect l="-202" r="-202"/>
          <a:stretch/>
        </p:blipFill>
        <p:spPr>
          <a:xfrm>
            <a:off x="11867998" y="2857500"/>
            <a:ext cx="5277002" cy="7589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447495" y="761695"/>
            <a:ext cx="11430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89" dirty="0">
                <a:solidFill>
                  <a:srgbClr val="F4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오늘의 결과물 · 이 한 장을 손에 들고 강의장을 나갑니다 · 다음 의뢰가 그 시험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1143000" y="1466698"/>
            <a:ext cx="16002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50" b="1" kern="0" spc="-43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포트폴리오 완성 — 90일.</a:t>
            </a:r>
            <a:endParaRPr lang="en-US" sz="4450" dirty="0"/>
          </a:p>
        </p:txBody>
      </p:sp>
      <p:sp>
        <p:nvSpPr>
          <p:cNvPr id="20" name="Text 11"/>
          <p:cNvSpPr txBox="1"/>
          <p:nvPr/>
        </p:nvSpPr>
        <p:spPr>
          <a:xfrm>
            <a:off x="1143000" y="2361895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 달에 한 단계. 한 단계당 — 주말 한 번이면 충분. 빨리 하려 하지 마세요.</a:t>
            </a:r>
            <a:endParaRPr lang="en-US" sz="1700" dirty="0"/>
          </a:p>
        </p:txBody>
      </p:sp>
      <p:sp>
        <p:nvSpPr>
          <p:cNvPr id="21" name="Text 12"/>
          <p:cNvSpPr txBox="1"/>
          <p:nvPr/>
        </p:nvSpPr>
        <p:spPr>
          <a:xfrm>
            <a:off x="1447495" y="3086100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 01 · 정리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1447495" y="3409798"/>
            <a:ext cx="4657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자산 정리</a:t>
            </a:r>
            <a:endParaRPr lang="en-US" sz="2950" dirty="0"/>
          </a:p>
        </p:txBody>
      </p:sp>
      <p:sp>
        <p:nvSpPr>
          <p:cNvPr id="23" name="Text 14"/>
          <p:cNvSpPr txBox="1"/>
          <p:nvPr/>
        </p:nvSpPr>
        <p:spPr>
          <a:xfrm>
            <a:off x="1447495" y="4038905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3·4·5의 종이가 입력값</a:t>
            </a:r>
            <a:endParaRPr lang="en-US" sz="1600" dirty="0"/>
          </a:p>
        </p:txBody>
      </p:sp>
      <p:sp>
        <p:nvSpPr>
          <p:cNvPr id="24" name="Text 15"/>
          <p:cNvSpPr txBox="1"/>
          <p:nvPr/>
        </p:nvSpPr>
        <p:spPr>
          <a:xfrm>
            <a:off x="1447495" y="4667098"/>
            <a:ext cx="4657954" cy="362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1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강사 자산 5칸 채우기 (실습 3)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2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한 문장 소개 + 차별화 3문장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3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실적 표 7칸 (최근 1년)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4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대표 강의 1쪽 (6칸)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결과물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A4 5쪽 분량의 원본 자료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(아직 디자인은 하지 않음)</a:t>
            </a:r>
            <a:endParaRPr lang="en-US" sz="1700" dirty="0"/>
          </a:p>
        </p:txBody>
      </p:sp>
      <p:sp>
        <p:nvSpPr>
          <p:cNvPr id="25" name="Text 16"/>
          <p:cNvSpPr txBox="1"/>
          <p:nvPr/>
        </p:nvSpPr>
        <p:spPr>
          <a:xfrm>
            <a:off x="6810451" y="3086100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 02 · 제작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6810451" y="3409798"/>
            <a:ext cx="4657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PDF + 웹 두 갈래</a:t>
            </a:r>
            <a:endParaRPr lang="en-US" sz="2950" dirty="0"/>
          </a:p>
        </p:txBody>
      </p:sp>
      <p:sp>
        <p:nvSpPr>
          <p:cNvPr id="27" name="Text 18"/>
          <p:cNvSpPr txBox="1"/>
          <p:nvPr/>
        </p:nvSpPr>
        <p:spPr>
          <a:xfrm>
            <a:off x="6810451" y="4038905"/>
            <a:ext cx="4657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2E2D29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10장형 + 노션 페이지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6810451" y="4667098"/>
            <a:ext cx="4657954" cy="362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5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PDF 10장형 초안 (AI 4프롬프트)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6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PDF 본인 편집·디자인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7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노션 페이지 1쪽 → 도메인 연결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8</a:t>
            </a: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링크드인 프로필 업데이트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결과물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PDF 10장형 1개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노션 웹 포트폴리오 링크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링크드인 갱신</a:t>
            </a:r>
            <a:endParaRPr lang="en-US" sz="1700" dirty="0"/>
          </a:p>
        </p:txBody>
      </p:sp>
      <p:sp>
        <p:nvSpPr>
          <p:cNvPr id="29" name="Text 20"/>
          <p:cNvSpPr txBox="1"/>
          <p:nvPr/>
        </p:nvSpPr>
        <p:spPr>
          <a:xfrm>
            <a:off x="12173407" y="3086100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 03 · 공개·홍보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12173407" y="3409798"/>
            <a:ext cx="4668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세상에 내보내기</a:t>
            </a:r>
            <a:endParaRPr lang="en-US" sz="2950" dirty="0"/>
          </a:p>
        </p:txBody>
      </p:sp>
      <p:sp>
        <p:nvSpPr>
          <p:cNvPr id="31" name="Text 22"/>
          <p:cNvSpPr txBox="1"/>
          <p:nvPr/>
        </p:nvSpPr>
        <p:spPr>
          <a:xfrm>
            <a:off x="12173407" y="4038905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F4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완벽 ✗ 공개 ✓</a:t>
            </a:r>
            <a:endParaRPr lang="en-US" sz="1600" dirty="0"/>
          </a:p>
        </p:txBody>
      </p:sp>
      <p:sp>
        <p:nvSpPr>
          <p:cNvPr id="32" name="Text 23"/>
          <p:cNvSpPr txBox="1"/>
          <p:nvPr/>
        </p:nvSpPr>
        <p:spPr>
          <a:xfrm>
            <a:off x="12173407" y="4667098"/>
            <a:ext cx="4668012" cy="362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9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이전 의뢰처 5곳에 갱신본 전달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10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기관 강사 풀 3곳 신규 등록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11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콘텐츠 채널 1편 발행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주차 12</a:t>
            </a: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다음 분기 갱신 일정 캘린더 등록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결과물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신규 의뢰 1건 이상 (기대값)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다음 분기 갱신 루틴 정착</a:t>
            </a:r>
            <a:endParaRPr lang="en-US" sz="1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평판 자산 12건 누적 시작</a:t>
            </a:r>
            <a:endParaRPr lang="en-US" sz="1700" dirty="0"/>
          </a:p>
        </p:txBody>
      </p:sp>
      <p:sp>
        <p:nvSpPr>
          <p:cNvPr id="33" name="Text 24"/>
          <p:cNvSpPr txBox="1"/>
          <p:nvPr/>
        </p:nvSpPr>
        <p:spPr>
          <a:xfrm>
            <a:off x="1429207" y="8712969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47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서명 — 본인에게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1429207" y="9038844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“3개월 뒤 ___월 ___일까지 10장형 포트폴리오를 완성해 5곳에 전달한다.” · 이름 ______________</a:t>
            </a:r>
            <a:endParaRPr lang="en-US" sz="1750" dirty="0"/>
          </a:p>
        </p:txBody>
      </p:sp>
      <p:sp>
        <p:nvSpPr>
          <p:cNvPr id="35" name="Text 26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포트폴리오 구축과 미래전략 · Session 02 · </a:t>
            </a:r>
            <a:r>
              <a:rPr lang="en-US" sz="1500" kern="0" spc="117" dirty="0">
                <a:solidFill>
                  <a:srgbClr val="8C1515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ARTIFACT — write this down</a:t>
            </a: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59 / 60</a:t>
            </a:r>
            <a:endParaRPr lang="en-US" sz="15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154541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gen-dedup-af52b958647547ddd9145dc5f7782b74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143000" y="1181405"/>
            <a:ext cx="16002000" cy="192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43000" y="4858207"/>
            <a:ext cx="7925105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2E2D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gen-dedup-f841319f9513edff3b6b6c59542857e4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447495" y="6152998"/>
            <a:ext cx="571500" cy="2834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239098" y="4858207"/>
            <a:ext cx="7905902" cy="3619195"/>
          </a:xfrm>
          <a:prstGeom prst="rect">
            <a:avLst/>
          </a:prstGeom>
          <a:solidFill>
            <a:srgbClr val="2E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3" descr="gen-dedup-1056e883e2f55d8a5ba7da29d9787817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9544507" y="6152998"/>
            <a:ext cx="571500" cy="28346"/>
          </a:xfrm>
          <a:prstGeom prst="rect">
            <a:avLst/>
          </a:prstGeom>
        </p:spPr>
      </p:pic>
      <p:pic>
        <p:nvPicPr>
          <p:cNvPr id="10" name="Image 4" descr="gen-dedup-8c8cfe17b0230c1d3fd669e946137195.png"/>
          <p:cNvPicPr>
            <a:picLocks noChangeAspect="1"/>
          </p:cNvPicPr>
          <p:nvPr/>
        </p:nvPicPr>
        <p:blipFill>
          <a:blip r:embed="rId5">
            <a:alphaModFix amt="30000"/>
          </a:blip>
          <a:srcRect l="-2083" r="-2083"/>
          <a:stretch/>
        </p:blipFill>
        <p:spPr>
          <a:xfrm>
            <a:off x="1143000" y="8667598"/>
            <a:ext cx="16002000" cy="9144"/>
          </a:xfrm>
          <a:prstGeom prst="rect">
            <a:avLst/>
          </a:prstGeom>
        </p:spPr>
      </p:pic>
      <p:pic>
        <p:nvPicPr>
          <p:cNvPr id="11" name="Image 5" descr="gen-dedup-596901a3f1298b91ce24c8203fbdfe7c.png"/>
          <p:cNvPicPr>
            <a:picLocks noChangeAspect="1"/>
          </p:cNvPicPr>
          <p:nvPr/>
        </p:nvPicPr>
        <p:blipFill>
          <a:blip r:embed="rId6"/>
          <a:srcRect l="-202" r="-202"/>
          <a:stretch/>
        </p:blipFill>
        <p:spPr>
          <a:xfrm>
            <a:off x="1143000" y="4858207"/>
            <a:ext cx="7905902" cy="75895"/>
          </a:xfrm>
          <a:prstGeom prst="rect">
            <a:avLst/>
          </a:prstGeom>
        </p:spPr>
      </p:pic>
      <p:pic>
        <p:nvPicPr>
          <p:cNvPr id="12" name="Image 6" descr="gen-dedup-2740c519cb00ac3f3562614e70bc33cf.png"/>
          <p:cNvPicPr>
            <a:picLocks noChangeAspect="1"/>
          </p:cNvPicPr>
          <p:nvPr/>
        </p:nvPicPr>
        <p:blipFill>
          <a:blip r:embed="rId7"/>
          <a:srcRect l="-202" r="-202"/>
          <a:stretch/>
        </p:blipFill>
        <p:spPr>
          <a:xfrm>
            <a:off x="9239098" y="4858207"/>
            <a:ext cx="7905902" cy="75895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1143000" y="761695"/>
            <a:ext cx="1314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· CLOSING · 오늘 작성한 내용 — 실제 제안·홍보·수주에 연결</a:t>
            </a:r>
            <a:endParaRPr lang="en-US" sz="1550" dirty="0"/>
          </a:p>
        </p:txBody>
      </p:sp>
      <p:sp>
        <p:nvSpPr>
          <p:cNvPr id="14" name="Text 5"/>
          <p:cNvSpPr txBox="1"/>
          <p:nvPr/>
        </p:nvSpPr>
        <p:spPr>
          <a:xfrm>
            <a:off x="15430500" y="761695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50" kern="0" spc="168" dirty="0">
                <a:solidFill>
                  <a:srgbClr val="2E2D29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/ 60</a:t>
            </a:r>
            <a:endParaRPr lang="en-US" sz="1550" dirty="0"/>
          </a:p>
        </p:txBody>
      </p:sp>
      <p:sp>
        <p:nvSpPr>
          <p:cNvPr id="15" name="Text 6"/>
          <p:cNvSpPr txBox="1"/>
          <p:nvPr/>
        </p:nvSpPr>
        <p:spPr>
          <a:xfrm>
            <a:off x="1143000" y="1638605"/>
            <a:ext cx="160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300" b="1" kern="0" spc="-126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포트폴리오는</a:t>
            </a:r>
            <a:endParaRPr lang="en-US" sz="6300" dirty="0"/>
          </a:p>
        </p:txBody>
      </p:sp>
      <p:sp>
        <p:nvSpPr>
          <p:cNvPr id="16" name="Text 7"/>
          <p:cNvSpPr txBox="1"/>
          <p:nvPr/>
        </p:nvSpPr>
        <p:spPr>
          <a:xfrm>
            <a:off x="1143000" y="2667305"/>
            <a:ext cx="160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300" b="1" kern="0" spc="-126" dirty="0">
                <a:solidFill>
                  <a:srgbClr val="8C151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당신의 미래 제안서입니다.</a:t>
            </a:r>
            <a:endParaRPr lang="en-US" sz="6300" dirty="0"/>
          </a:p>
        </p:txBody>
      </p:sp>
      <p:sp>
        <p:nvSpPr>
          <p:cNvPr id="17" name="Text 8"/>
          <p:cNvSpPr txBox="1"/>
          <p:nvPr/>
        </p:nvSpPr>
        <p:spPr>
          <a:xfrm>
            <a:off x="1143000" y="3981298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2E2D29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이력서는 어제까지의 기록. 포트폴리오는 내일의 약속. 오늘 종이 한 장을 들고 나갑니다.</a:t>
            </a:r>
            <a:endParaRPr lang="en-US" sz="1900" dirty="0"/>
          </a:p>
        </p:txBody>
      </p:sp>
      <p:sp>
        <p:nvSpPr>
          <p:cNvPr id="18" name="Text 9"/>
          <p:cNvSpPr txBox="1"/>
          <p:nvPr/>
        </p:nvSpPr>
        <p:spPr>
          <a:xfrm>
            <a:off x="1447495" y="5086807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8C15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01 + 02 · 60장 정리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1447495" y="5391302"/>
            <a:ext cx="72969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두 강의가 합쳐졌을 때</a:t>
            </a:r>
            <a:endParaRPr lang="en-US" sz="2750" dirty="0"/>
          </a:p>
        </p:txBody>
      </p:sp>
      <p:sp>
        <p:nvSpPr>
          <p:cNvPr id="20" name="Text 11"/>
          <p:cNvSpPr txBox="1"/>
          <p:nvPr/>
        </p:nvSpPr>
        <p:spPr>
          <a:xfrm>
            <a:off x="1447495" y="6381598"/>
            <a:ext cx="7296912" cy="200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01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프로세스가 만든 7종 템플릿·자료·결과보고서.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02</a:t>
            </a: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그 자료가 그대로 포트폴리오 7쪽으로.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프로세스 없이 포트폴리오 만들면 — 매번 새로 만듭니다.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2E2D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포트폴리오 없이 프로세스만 있으면 — 다음 의뢰가 안 옵니다.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i="1" dirty="0">
                <a:solidFill>
                  <a:srgbClr val="8C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개가 같이 굴러갈 때 — 강사 일이 직업이 됩니다.</a:t>
            </a:r>
            <a:endParaRPr lang="en-US" sz="1650" dirty="0"/>
          </a:p>
        </p:txBody>
      </p:sp>
      <p:sp>
        <p:nvSpPr>
          <p:cNvPr id="21" name="Text 12"/>
          <p:cNvSpPr txBox="1"/>
          <p:nvPr/>
        </p:nvSpPr>
        <p:spPr>
          <a:xfrm>
            <a:off x="9544507" y="5086807"/>
            <a:ext cx="7296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68" dirty="0">
                <a:solidFill>
                  <a:srgbClr val="FFBD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· 오늘 밤 ~ 다음 주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9544507" y="5391302"/>
            <a:ext cx="72969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50" b="1" dirty="0">
                <a:solidFill>
                  <a:srgbClr val="F4F1E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한 가지만 합니다</a:t>
            </a:r>
            <a:endParaRPr lang="en-US" sz="2750" dirty="0"/>
          </a:p>
        </p:txBody>
      </p:sp>
      <p:sp>
        <p:nvSpPr>
          <p:cNvPr id="23" name="Text 14"/>
          <p:cNvSpPr txBox="1"/>
          <p:nvPr/>
        </p:nvSpPr>
        <p:spPr>
          <a:xfrm>
            <a:off x="9544507" y="6847024"/>
            <a:ext cx="7296912" cy="696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밤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슬라이드 59의 “이름·날짜” 칸 채우고 캘린더에 3개월 후 등록.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이번 주 안에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3·4·5의 종이를 한 곳에 모아 “포트폴리오 폴더” 생성. </a:t>
            </a:r>
          </a:p>
          <a:p>
            <a:pPr marL="0" indent="0" algn="l">
              <a:buNone/>
            </a:pP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(슬라이드 17 폴더 규칙 그대로)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B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의뢰가 들어오면</a:t>
            </a:r>
            <a:endParaRPr lang="en-US" sz="16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만든 한 문장 소개부터 회신에 붙여 보내기.</a:t>
            </a:r>
            <a:endParaRPr lang="en-US" sz="1650" dirty="0"/>
          </a:p>
        </p:txBody>
      </p:sp>
      <p:sp>
        <p:nvSpPr>
          <p:cNvPr id="24" name="Text 15"/>
          <p:cNvSpPr txBox="1"/>
          <p:nvPr/>
        </p:nvSpPr>
        <p:spPr>
          <a:xfrm>
            <a:off x="1143000" y="8876995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2E2D2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“포트폴리오는 한 번에 완성되지 않습니다. 매 강의가 — 다음 페이지입니다.”</a:t>
            </a:r>
            <a:endParaRPr lang="en-US" sz="2400" dirty="0"/>
          </a:p>
        </p:txBody>
      </p:sp>
      <p:sp>
        <p:nvSpPr>
          <p:cNvPr id="25" name="Text 16"/>
          <p:cNvSpPr txBox="1"/>
          <p:nvPr/>
        </p:nvSpPr>
        <p:spPr>
          <a:xfrm>
            <a:off x="1143000" y="9715500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kern="0" spc="117" dirty="0">
                <a:solidFill>
                  <a:srgbClr val="2E2D29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업무 프로세스 + 포트폴리오 구축과 미래전략 · Session 01 + 02 · 끝 · 60 / 60</a:t>
            </a:r>
            <a:endParaRPr lang="en-US" sz="15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28089612"/>
      </p:ext>
    </p:extLst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88BE1A-D179-3146-96E3-FAF1EBB1975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9007d51-acb0-4e4f-8fa4-fbf2945e220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14176</Words>
  <Application>Microsoft Macintosh PowerPoint</Application>
  <PresentationFormat>사용자 지정</PresentationFormat>
  <Paragraphs>2190</Paragraphs>
  <Slides>60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5" baseType="lpstr">
      <vt:lpstr>Inter</vt:lpstr>
      <vt:lpstr>JetBrains Mono</vt:lpstr>
      <vt:lpstr>Arial</vt:lpstr>
      <vt:lpstr>Source Serif Pro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10</cp:revision>
  <dcterms:created xsi:type="dcterms:W3CDTF">2026-06-29T02:45:19Z</dcterms:created>
  <dcterms:modified xsi:type="dcterms:W3CDTF">2026-06-30T01:05:15Z</dcterms:modified>
</cp:coreProperties>
</file>