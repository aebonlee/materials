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317" r:id="rId27"/>
    <p:sldId id="318" r:id="rId18"/>
    <p:sldId id="311" r:id="rId2"/>
    <p:sldId id="257" r:id="rId3"/>
    <p:sldId id="258" r:id="rId4"/>
    <p:sldId id="313" r:id="rId5"/>
    <p:sldId id="314" r:id="rId6"/>
    <p:sldId id="268" r:id="rId15"/>
    <p:sldId id="261" r:id="rId8"/>
    <p:sldId id="262" r:id="rId9"/>
    <p:sldId id="263" r:id="rId10"/>
    <p:sldId id="264" r:id="rId11"/>
    <p:sldId id="276" r:id="rId23"/>
    <p:sldId id="269" r:id="rId16"/>
    <p:sldId id="270" r:id="rId17"/>
    <p:sldId id="272" r:id="rId19"/>
    <p:sldId id="274" r:id="rId21"/>
    <p:sldId id="273" r:id="rId20"/>
    <p:sldId id="278" r:id="rId25"/>
    <p:sldId id="275" r:id="rId22"/>
    <p:sldId id="286" r:id="rId33"/>
    <p:sldId id="277" r:id="rId24"/>
    <p:sldId id="265" r:id="rId12"/>
    <p:sldId id="316" r:id="rId13"/>
    <p:sldId id="267" r:id="rId14"/>
    <p:sldId id="279" r:id="rId26"/>
    <p:sldId id="281" r:id="rId28"/>
    <p:sldId id="282" r:id="rId29"/>
    <p:sldId id="283" r:id="rId30"/>
    <p:sldId id="284" r:id="rId31"/>
    <p:sldId id="285" r:id="rId32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0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92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5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21.xml"/><Relationship Id="rId13" Type="http://schemas.openxmlformats.org/officeDocument/2006/relationships/slide" Target="slides/slide22.xml"/><Relationship Id="rId14" Type="http://schemas.openxmlformats.org/officeDocument/2006/relationships/slide" Target="slides/slide23.xml"/><Relationship Id="rId15" Type="http://schemas.openxmlformats.org/officeDocument/2006/relationships/slide" Target="slides/slide6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55.xml"/><Relationship Id="rId19" Type="http://schemas.openxmlformats.org/officeDocument/2006/relationships/slide" Target="slides/slide14.xml"/><Relationship Id="rId20" Type="http://schemas.openxmlformats.org/officeDocument/2006/relationships/slide" Target="slides/slide16.xml"/><Relationship Id="rId21" Type="http://schemas.openxmlformats.org/officeDocument/2006/relationships/slide" Target="slides/slide15.xml"/><Relationship Id="rId22" Type="http://schemas.openxmlformats.org/officeDocument/2006/relationships/slide" Target="slides/slide18.xml"/><Relationship Id="rId23" Type="http://schemas.openxmlformats.org/officeDocument/2006/relationships/slide" Target="slides/slide11.xml"/><Relationship Id="rId24" Type="http://schemas.openxmlformats.org/officeDocument/2006/relationships/slide" Target="slides/slide20.xml"/><Relationship Id="rId25" Type="http://schemas.openxmlformats.org/officeDocument/2006/relationships/slide" Target="slides/slide17.xml"/><Relationship Id="rId26" Type="http://schemas.openxmlformats.org/officeDocument/2006/relationships/slide" Target="slides/slide24.xml"/><Relationship Id="rId27" Type="http://schemas.openxmlformats.org/officeDocument/2006/relationships/slide" Target="slides/slide5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1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27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1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Relationship Id="rId4" Type="http://schemas.openxmlformats.org/officeDocument/2006/relationships/image" Target="../media/image56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37.png"/><Relationship Id="rId8" Type="http://schemas.openxmlformats.org/officeDocument/2006/relationships/image" Target="../media/image6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Relationship Id="rId4" Type="http://schemas.openxmlformats.org/officeDocument/2006/relationships/image" Target="../media/image89.png"/><Relationship Id="rId5" Type="http://schemas.openxmlformats.org/officeDocument/2006/relationships/image" Target="../media/image54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67.png"/><Relationship Id="rId6" Type="http://schemas.openxmlformats.org/officeDocument/2006/relationships/image" Target="../media/image168.png"/><Relationship Id="rId7" Type="http://schemas.openxmlformats.org/officeDocument/2006/relationships/image" Target="../media/image91.png"/><Relationship Id="rId8" Type="http://schemas.openxmlformats.org/officeDocument/2006/relationships/image" Target="../media/image169.png"/><Relationship Id="rId9" Type="http://schemas.openxmlformats.org/officeDocument/2006/relationships/image" Target="../media/image170.png"/><Relationship Id="rId10" Type="http://schemas.openxmlformats.org/officeDocument/2006/relationships/image" Target="../media/image17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jp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13" Type="http://schemas.openxmlformats.org/officeDocument/2006/relationships/image" Target="../media/image114.png"/><Relationship Id="rId14" Type="http://schemas.openxmlformats.org/officeDocument/2006/relationships/image" Target="../media/image115.png"/><Relationship Id="rId15" Type="http://schemas.openxmlformats.org/officeDocument/2006/relationships/image" Target="../media/image116.png"/><Relationship Id="rId16" Type="http://schemas.openxmlformats.org/officeDocument/2006/relationships/image" Target="../media/image117.png"/><Relationship Id="rId17" Type="http://schemas.openxmlformats.org/officeDocument/2006/relationships/image" Target="../media/image1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jp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jpg"/><Relationship Id="rId4" Type="http://schemas.openxmlformats.org/officeDocument/2006/relationships/image" Target="../media/image131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134.png"/><Relationship Id="rId8" Type="http://schemas.openxmlformats.org/officeDocument/2006/relationships/image" Target="../media/image135.png"/><Relationship Id="rId9" Type="http://schemas.openxmlformats.org/officeDocument/2006/relationships/image" Target="../media/image136.png"/><Relationship Id="rId10" Type="http://schemas.openxmlformats.org/officeDocument/2006/relationships/image" Target="../media/image137.png"/><Relationship Id="rId11" Type="http://schemas.openxmlformats.org/officeDocument/2006/relationships/image" Target="../media/image1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jp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png"/><Relationship Id="rId7" Type="http://schemas.openxmlformats.org/officeDocument/2006/relationships/image" Target="../media/image142.png"/><Relationship Id="rId8" Type="http://schemas.openxmlformats.org/officeDocument/2006/relationships/image" Target="../media/image127.png"/><Relationship Id="rId9" Type="http://schemas.openxmlformats.org/officeDocument/2006/relationships/image" Target="../media/image143.png"/><Relationship Id="rId10" Type="http://schemas.openxmlformats.org/officeDocument/2006/relationships/image" Target="../media/image144.png"/><Relationship Id="rId11" Type="http://schemas.openxmlformats.org/officeDocument/2006/relationships/image" Target="../media/image1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jp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149.png"/><Relationship Id="rId9" Type="http://schemas.openxmlformats.org/officeDocument/2006/relationships/image" Target="../media/image150.png"/><Relationship Id="rId10" Type="http://schemas.openxmlformats.org/officeDocument/2006/relationships/image" Target="../media/image151.png"/><Relationship Id="rId11" Type="http://schemas.openxmlformats.org/officeDocument/2006/relationships/image" Target="../media/image152.png"/><Relationship Id="rId12" Type="http://schemas.openxmlformats.org/officeDocument/2006/relationships/image" Target="../media/image153.png"/><Relationship Id="rId13" Type="http://schemas.openxmlformats.org/officeDocument/2006/relationships/image" Target="../media/image154.png"/><Relationship Id="rId14" Type="http://schemas.openxmlformats.org/officeDocument/2006/relationships/image" Target="../media/image155.png"/><Relationship Id="rId15" Type="http://schemas.openxmlformats.org/officeDocument/2006/relationships/image" Target="../media/image156.png"/><Relationship Id="rId16" Type="http://schemas.openxmlformats.org/officeDocument/2006/relationships/image" Target="../media/image157.png"/><Relationship Id="rId17" Type="http://schemas.openxmlformats.org/officeDocument/2006/relationships/image" Target="../media/image158.png"/><Relationship Id="rId18" Type="http://schemas.openxmlformats.org/officeDocument/2006/relationships/image" Target="../media/image15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jpg"/><Relationship Id="rId4" Type="http://schemas.openxmlformats.org/officeDocument/2006/relationships/image" Target="../media/image1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Relationship Id="rId7" Type="http://schemas.openxmlformats.org/officeDocument/2006/relationships/image" Target="../media/image126.png"/><Relationship Id="rId8" Type="http://schemas.openxmlformats.org/officeDocument/2006/relationships/image" Target="../media/image163.png"/><Relationship Id="rId9" Type="http://schemas.openxmlformats.org/officeDocument/2006/relationships/image" Target="../media/image164.png"/><Relationship Id="rId10" Type="http://schemas.openxmlformats.org/officeDocument/2006/relationships/image" Target="../media/image165.png"/><Relationship Id="rId11" Type="http://schemas.openxmlformats.org/officeDocument/2006/relationships/image" Target="../media/image16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105.png"/><Relationship Id="rId4" Type="http://schemas.openxmlformats.org/officeDocument/2006/relationships/image" Target="../media/image172.png"/><Relationship Id="rId5" Type="http://schemas.openxmlformats.org/officeDocument/2006/relationships/image" Target="../media/image173.png"/><Relationship Id="rId6" Type="http://schemas.openxmlformats.org/officeDocument/2006/relationships/image" Target="../media/image174.png"/><Relationship Id="rId7" Type="http://schemas.openxmlformats.org/officeDocument/2006/relationships/image" Target="../media/image175.png"/><Relationship Id="rId8" Type="http://schemas.openxmlformats.org/officeDocument/2006/relationships/image" Target="../media/image176.png"/><Relationship Id="rId9" Type="http://schemas.openxmlformats.org/officeDocument/2006/relationships/image" Target="../media/image177.png"/><Relationship Id="rId10" Type="http://schemas.openxmlformats.org/officeDocument/2006/relationships/image" Target="../media/image178.png"/><Relationship Id="rId11" Type="http://schemas.openxmlformats.org/officeDocument/2006/relationships/image" Target="../media/image179.png"/><Relationship Id="rId12" Type="http://schemas.openxmlformats.org/officeDocument/2006/relationships/image" Target="../media/image18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160.png"/><Relationship Id="rId4" Type="http://schemas.openxmlformats.org/officeDocument/2006/relationships/image" Target="../media/image181.png"/><Relationship Id="rId5" Type="http://schemas.openxmlformats.org/officeDocument/2006/relationships/image" Target="../media/image182.png"/><Relationship Id="rId6" Type="http://schemas.openxmlformats.org/officeDocument/2006/relationships/image" Target="../media/image183.png"/><Relationship Id="rId7" Type="http://schemas.openxmlformats.org/officeDocument/2006/relationships/image" Target="../media/image184.png"/><Relationship Id="rId8" Type="http://schemas.openxmlformats.org/officeDocument/2006/relationships/image" Target="../media/image128.png"/><Relationship Id="rId9" Type="http://schemas.openxmlformats.org/officeDocument/2006/relationships/image" Target="../media/image185.png"/><Relationship Id="rId10" Type="http://schemas.openxmlformats.org/officeDocument/2006/relationships/image" Target="../media/image18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73.png"/><Relationship Id="rId6" Type="http://schemas.openxmlformats.org/officeDocument/2006/relationships/image" Target="../media/image174.png"/><Relationship Id="rId7" Type="http://schemas.openxmlformats.org/officeDocument/2006/relationships/image" Target="../media/image175.png"/><Relationship Id="rId8" Type="http://schemas.openxmlformats.org/officeDocument/2006/relationships/image" Target="../media/image187.png"/><Relationship Id="rId9" Type="http://schemas.openxmlformats.org/officeDocument/2006/relationships/image" Target="../media/image188.png"/><Relationship Id="rId10" Type="http://schemas.openxmlformats.org/officeDocument/2006/relationships/image" Target="../media/image18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190.png"/><Relationship Id="rId4" Type="http://schemas.openxmlformats.org/officeDocument/2006/relationships/image" Target="../media/image191.png"/><Relationship Id="rId5" Type="http://schemas.openxmlformats.org/officeDocument/2006/relationships/image" Target="../media/image192.png"/><Relationship Id="rId6" Type="http://schemas.openxmlformats.org/officeDocument/2006/relationships/image" Target="../media/image193.png"/><Relationship Id="rId7" Type="http://schemas.openxmlformats.org/officeDocument/2006/relationships/image" Target="../media/image194.png"/><Relationship Id="rId8" Type="http://schemas.openxmlformats.org/officeDocument/2006/relationships/image" Target="../media/image195.png"/><Relationship Id="rId9" Type="http://schemas.openxmlformats.org/officeDocument/2006/relationships/image" Target="../media/image196.png"/><Relationship Id="rId10" Type="http://schemas.openxmlformats.org/officeDocument/2006/relationships/image" Target="../media/image197.png"/><Relationship Id="rId11" Type="http://schemas.openxmlformats.org/officeDocument/2006/relationships/image" Target="../media/image198.png"/><Relationship Id="rId12" Type="http://schemas.openxmlformats.org/officeDocument/2006/relationships/image" Target="../media/image199.png"/><Relationship Id="rId13" Type="http://schemas.openxmlformats.org/officeDocument/2006/relationships/image" Target="../media/image200.png"/><Relationship Id="rId14" Type="http://schemas.openxmlformats.org/officeDocument/2006/relationships/image" Target="../media/image20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202.png"/><Relationship Id="rId4" Type="http://schemas.openxmlformats.org/officeDocument/2006/relationships/image" Target="../media/image203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204.png"/><Relationship Id="rId9" Type="http://schemas.openxmlformats.org/officeDocument/2006/relationships/image" Target="../media/image205.png"/><Relationship Id="rId10" Type="http://schemas.openxmlformats.org/officeDocument/2006/relationships/image" Target="../media/image206.png"/><Relationship Id="rId11" Type="http://schemas.openxmlformats.org/officeDocument/2006/relationships/image" Target="../media/image207.png"/><Relationship Id="rId12" Type="http://schemas.openxmlformats.org/officeDocument/2006/relationships/image" Target="../media/image208.png"/><Relationship Id="rId13" Type="http://schemas.openxmlformats.org/officeDocument/2006/relationships/image" Target="../media/image209.png"/><Relationship Id="rId14" Type="http://schemas.openxmlformats.org/officeDocument/2006/relationships/image" Target="../media/image210.png"/><Relationship Id="rId15" Type="http://schemas.openxmlformats.org/officeDocument/2006/relationships/image" Target="../media/image211.png"/><Relationship Id="rId16" Type="http://schemas.openxmlformats.org/officeDocument/2006/relationships/image" Target="../media/image212.png"/><Relationship Id="rId17" Type="http://schemas.openxmlformats.org/officeDocument/2006/relationships/image" Target="../media/image213.png"/><Relationship Id="rId18" Type="http://schemas.openxmlformats.org/officeDocument/2006/relationships/image" Target="../media/image2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16.png"/><Relationship Id="rId8" Type="http://schemas.openxmlformats.org/officeDocument/2006/relationships/image" Target="../media/image219.png"/><Relationship Id="rId9" Type="http://schemas.openxmlformats.org/officeDocument/2006/relationships/image" Target="../media/image220.png"/><Relationship Id="rId10" Type="http://schemas.openxmlformats.org/officeDocument/2006/relationships/image" Target="../media/image221.png"/><Relationship Id="rId11" Type="http://schemas.openxmlformats.org/officeDocument/2006/relationships/image" Target="../media/image2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16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229.png"/><Relationship Id="rId4" Type="http://schemas.openxmlformats.org/officeDocument/2006/relationships/image" Target="../media/image230.png"/><Relationship Id="rId5" Type="http://schemas.openxmlformats.org/officeDocument/2006/relationships/image" Target="../media/image17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231.png"/><Relationship Id="rId4" Type="http://schemas.openxmlformats.org/officeDocument/2006/relationships/image" Target="../media/image232.png"/><Relationship Id="rId5" Type="http://schemas.openxmlformats.org/officeDocument/2006/relationships/image" Target="../media/image233.png"/><Relationship Id="rId6" Type="http://schemas.openxmlformats.org/officeDocument/2006/relationships/image" Target="../media/image234.png"/><Relationship Id="rId7" Type="http://schemas.openxmlformats.org/officeDocument/2006/relationships/image" Target="../media/image235.png"/><Relationship Id="rId8" Type="http://schemas.openxmlformats.org/officeDocument/2006/relationships/image" Target="../media/image236.png"/><Relationship Id="rId9" Type="http://schemas.openxmlformats.org/officeDocument/2006/relationships/image" Target="../media/image237.png"/><Relationship Id="rId10" Type="http://schemas.openxmlformats.org/officeDocument/2006/relationships/image" Target="../media/image238.png"/><Relationship Id="rId11" Type="http://schemas.openxmlformats.org/officeDocument/2006/relationships/image" Target="../media/image239.png"/><Relationship Id="rId12" Type="http://schemas.openxmlformats.org/officeDocument/2006/relationships/image" Target="../media/image240.png"/><Relationship Id="rId13" Type="http://schemas.openxmlformats.org/officeDocument/2006/relationships/image" Target="../media/image241.png"/><Relationship Id="rId14" Type="http://schemas.openxmlformats.org/officeDocument/2006/relationships/image" Target="../media/image242.png"/><Relationship Id="rId15" Type="http://schemas.openxmlformats.org/officeDocument/2006/relationships/image" Target="../media/image24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244.png"/><Relationship Id="rId4" Type="http://schemas.openxmlformats.org/officeDocument/2006/relationships/image" Target="../media/image245.png"/><Relationship Id="rId5" Type="http://schemas.openxmlformats.org/officeDocument/2006/relationships/image" Target="../media/image246.png"/><Relationship Id="rId6" Type="http://schemas.openxmlformats.org/officeDocument/2006/relationships/image" Target="../media/image247.png"/><Relationship Id="rId7" Type="http://schemas.openxmlformats.org/officeDocument/2006/relationships/image" Target="../media/image24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249.png"/><Relationship Id="rId4" Type="http://schemas.openxmlformats.org/officeDocument/2006/relationships/image" Target="../media/image250.png"/><Relationship Id="rId5" Type="http://schemas.openxmlformats.org/officeDocument/2006/relationships/image" Target="../media/image251.png"/><Relationship Id="rId6" Type="http://schemas.openxmlformats.org/officeDocument/2006/relationships/image" Target="../media/image252.png"/><Relationship Id="rId7" Type="http://schemas.openxmlformats.org/officeDocument/2006/relationships/image" Target="../media/image253.png"/><Relationship Id="rId8" Type="http://schemas.openxmlformats.org/officeDocument/2006/relationships/image" Target="../media/image254.png"/><Relationship Id="rId9" Type="http://schemas.openxmlformats.org/officeDocument/2006/relationships/image" Target="../media/image25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256.png"/><Relationship Id="rId4" Type="http://schemas.openxmlformats.org/officeDocument/2006/relationships/image" Target="../media/image257.png"/><Relationship Id="rId5" Type="http://schemas.openxmlformats.org/officeDocument/2006/relationships/image" Target="../media/image258.png"/><Relationship Id="rId6" Type="http://schemas.openxmlformats.org/officeDocument/2006/relationships/image" Target="../media/image259.png"/><Relationship Id="rId7" Type="http://schemas.openxmlformats.org/officeDocument/2006/relationships/image" Target="../media/image260.png"/><Relationship Id="rId8" Type="http://schemas.openxmlformats.org/officeDocument/2006/relationships/image" Target="../media/image261.png"/><Relationship Id="rId9" Type="http://schemas.openxmlformats.org/officeDocument/2006/relationships/image" Target="../media/image262.png"/><Relationship Id="rId10" Type="http://schemas.openxmlformats.org/officeDocument/2006/relationships/image" Target="../media/image263.png"/><Relationship Id="rId11" Type="http://schemas.openxmlformats.org/officeDocument/2006/relationships/image" Target="../media/image264.png"/><Relationship Id="rId12" Type="http://schemas.openxmlformats.org/officeDocument/2006/relationships/image" Target="../media/image26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266.png"/><Relationship Id="rId4" Type="http://schemas.openxmlformats.org/officeDocument/2006/relationships/image" Target="../media/image267.png"/><Relationship Id="rId5" Type="http://schemas.openxmlformats.org/officeDocument/2006/relationships/image" Target="../media/image268.png"/><Relationship Id="rId6" Type="http://schemas.openxmlformats.org/officeDocument/2006/relationships/image" Target="../media/image269.png"/><Relationship Id="rId7" Type="http://schemas.openxmlformats.org/officeDocument/2006/relationships/image" Target="../media/image270.png"/><Relationship Id="rId8" Type="http://schemas.openxmlformats.org/officeDocument/2006/relationships/image" Target="../media/image271.png"/><Relationship Id="rId9" Type="http://schemas.openxmlformats.org/officeDocument/2006/relationships/image" Target="../media/image27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273.png"/><Relationship Id="rId4" Type="http://schemas.openxmlformats.org/officeDocument/2006/relationships/image" Target="../media/image274.png"/><Relationship Id="rId5" Type="http://schemas.openxmlformats.org/officeDocument/2006/relationships/image" Target="../media/image275.png"/><Relationship Id="rId6" Type="http://schemas.openxmlformats.org/officeDocument/2006/relationships/image" Target="../media/image27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277.png"/><Relationship Id="rId4" Type="http://schemas.openxmlformats.org/officeDocument/2006/relationships/image" Target="../media/image278.png"/><Relationship Id="rId5" Type="http://schemas.openxmlformats.org/officeDocument/2006/relationships/image" Target="../media/image279.png"/><Relationship Id="rId6" Type="http://schemas.openxmlformats.org/officeDocument/2006/relationships/image" Target="../media/image280.png"/><Relationship Id="rId7" Type="http://schemas.openxmlformats.org/officeDocument/2006/relationships/image" Target="../media/image281.png"/><Relationship Id="rId8" Type="http://schemas.openxmlformats.org/officeDocument/2006/relationships/image" Target="../media/image282.png"/><Relationship Id="rId9" Type="http://schemas.openxmlformats.org/officeDocument/2006/relationships/image" Target="../media/image283.png"/><Relationship Id="rId10" Type="http://schemas.openxmlformats.org/officeDocument/2006/relationships/image" Target="../media/image284.png"/><Relationship Id="rId11" Type="http://schemas.openxmlformats.org/officeDocument/2006/relationships/image" Target="../media/image28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286.png"/><Relationship Id="rId4" Type="http://schemas.openxmlformats.org/officeDocument/2006/relationships/image" Target="../media/image287.png"/><Relationship Id="rId5" Type="http://schemas.openxmlformats.org/officeDocument/2006/relationships/image" Target="../media/image288.png"/><Relationship Id="rId6" Type="http://schemas.openxmlformats.org/officeDocument/2006/relationships/image" Target="../media/image289.png"/><Relationship Id="rId7" Type="http://schemas.openxmlformats.org/officeDocument/2006/relationships/image" Target="../media/image29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291.png"/><Relationship Id="rId4" Type="http://schemas.openxmlformats.org/officeDocument/2006/relationships/image" Target="../media/image292.png"/><Relationship Id="rId5" Type="http://schemas.openxmlformats.org/officeDocument/2006/relationships/image" Target="../media/image293.png"/><Relationship Id="rId6" Type="http://schemas.openxmlformats.org/officeDocument/2006/relationships/image" Target="../media/image294.png"/><Relationship Id="rId7" Type="http://schemas.openxmlformats.org/officeDocument/2006/relationships/image" Target="../media/image29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291.png"/><Relationship Id="rId4" Type="http://schemas.openxmlformats.org/officeDocument/2006/relationships/image" Target="../media/image292.png"/><Relationship Id="rId5" Type="http://schemas.openxmlformats.org/officeDocument/2006/relationships/image" Target="../media/image296.png"/><Relationship Id="rId6" Type="http://schemas.openxmlformats.org/officeDocument/2006/relationships/image" Target="../media/image297.png"/><Relationship Id="rId7" Type="http://schemas.openxmlformats.org/officeDocument/2006/relationships/image" Target="../media/image298.png"/><Relationship Id="rId8" Type="http://schemas.openxmlformats.org/officeDocument/2006/relationships/image" Target="../media/image299.png"/><Relationship Id="rId9" Type="http://schemas.openxmlformats.org/officeDocument/2006/relationships/image" Target="../media/image300.png"/><Relationship Id="rId10" Type="http://schemas.openxmlformats.org/officeDocument/2006/relationships/image" Target="../media/image301.png"/><Relationship Id="rId11" Type="http://schemas.openxmlformats.org/officeDocument/2006/relationships/image" Target="../media/image302.png"/><Relationship Id="rId12" Type="http://schemas.openxmlformats.org/officeDocument/2006/relationships/image" Target="../media/image120.png"/><Relationship Id="rId13" Type="http://schemas.openxmlformats.org/officeDocument/2006/relationships/image" Target="../media/image303.png"/><Relationship Id="rId14" Type="http://schemas.openxmlformats.org/officeDocument/2006/relationships/image" Target="../media/image30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305.png"/><Relationship Id="rId4" Type="http://schemas.openxmlformats.org/officeDocument/2006/relationships/image" Target="../media/image306.png"/><Relationship Id="rId5" Type="http://schemas.openxmlformats.org/officeDocument/2006/relationships/image" Target="../media/image307.png"/><Relationship Id="rId6" Type="http://schemas.openxmlformats.org/officeDocument/2006/relationships/image" Target="../media/image308.png"/><Relationship Id="rId7" Type="http://schemas.openxmlformats.org/officeDocument/2006/relationships/image" Target="../media/image309.png"/><Relationship Id="rId8" Type="http://schemas.openxmlformats.org/officeDocument/2006/relationships/image" Target="../media/image310.png"/><Relationship Id="rId9" Type="http://schemas.openxmlformats.org/officeDocument/2006/relationships/image" Target="../media/image31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312.png"/><Relationship Id="rId4" Type="http://schemas.openxmlformats.org/officeDocument/2006/relationships/image" Target="../media/image313.png"/><Relationship Id="rId5" Type="http://schemas.openxmlformats.org/officeDocument/2006/relationships/image" Target="../media/image314.png"/><Relationship Id="rId6" Type="http://schemas.openxmlformats.org/officeDocument/2006/relationships/image" Target="../media/image315.png"/><Relationship Id="rId7" Type="http://schemas.openxmlformats.org/officeDocument/2006/relationships/image" Target="../media/image316.png"/><Relationship Id="rId8" Type="http://schemas.openxmlformats.org/officeDocument/2006/relationships/image" Target="../media/image317.png"/><Relationship Id="rId9" Type="http://schemas.openxmlformats.org/officeDocument/2006/relationships/image" Target="../media/image318.png"/><Relationship Id="rId10" Type="http://schemas.openxmlformats.org/officeDocument/2006/relationships/image" Target="../media/image31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320.png"/><Relationship Id="rId4" Type="http://schemas.openxmlformats.org/officeDocument/2006/relationships/image" Target="../media/image321.png"/><Relationship Id="rId5" Type="http://schemas.openxmlformats.org/officeDocument/2006/relationships/image" Target="../media/image322.png"/><Relationship Id="rId6" Type="http://schemas.openxmlformats.org/officeDocument/2006/relationships/image" Target="../media/image323.png"/><Relationship Id="rId7" Type="http://schemas.openxmlformats.org/officeDocument/2006/relationships/image" Target="../media/image324.png"/><Relationship Id="rId8" Type="http://schemas.openxmlformats.org/officeDocument/2006/relationships/image" Target="../media/image325.png"/><Relationship Id="rId9" Type="http://schemas.openxmlformats.org/officeDocument/2006/relationships/image" Target="../media/image326.png"/><Relationship Id="rId10" Type="http://schemas.openxmlformats.org/officeDocument/2006/relationships/image" Target="../media/image32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336.png"/><Relationship Id="rId4" Type="http://schemas.openxmlformats.org/officeDocument/2006/relationships/image" Target="../media/image337.png"/><Relationship Id="rId5" Type="http://schemas.openxmlformats.org/officeDocument/2006/relationships/image" Target="../media/image338.png"/><Relationship Id="rId6" Type="http://schemas.openxmlformats.org/officeDocument/2006/relationships/image" Target="../media/image339.png"/><Relationship Id="rId7" Type="http://schemas.openxmlformats.org/officeDocument/2006/relationships/image" Target="../media/image34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341.png"/><Relationship Id="rId4" Type="http://schemas.openxmlformats.org/officeDocument/2006/relationships/image" Target="../media/image342.png"/><Relationship Id="rId5" Type="http://schemas.openxmlformats.org/officeDocument/2006/relationships/image" Target="../media/image343.png"/><Relationship Id="rId6" Type="http://schemas.openxmlformats.org/officeDocument/2006/relationships/image" Target="../media/image344.png"/><Relationship Id="rId7" Type="http://schemas.openxmlformats.org/officeDocument/2006/relationships/image" Target="../media/image345.png"/><Relationship Id="rId8" Type="http://schemas.openxmlformats.org/officeDocument/2006/relationships/image" Target="../media/image346.png"/><Relationship Id="rId9" Type="http://schemas.openxmlformats.org/officeDocument/2006/relationships/image" Target="../media/image347.png"/><Relationship Id="rId10" Type="http://schemas.openxmlformats.org/officeDocument/2006/relationships/image" Target="../media/image348.png"/><Relationship Id="rId11" Type="http://schemas.openxmlformats.org/officeDocument/2006/relationships/image" Target="../media/image34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9bb4e189755c71735a6ca613e8ebbea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0096805" y="381305"/>
            <a:ext cx="1714500" cy="57607"/>
          </a:xfrm>
          <a:prstGeom prst="rect">
            <a:avLst/>
          </a:prstGeom>
        </p:spPr>
      </p:pic>
      <p:pic>
        <p:nvPicPr>
          <p:cNvPr id="5" name="Image 2" descr="gen-dedup-414e9a0ba8cdeefdbfc9a6e4578186b9.png"/>
          <p:cNvPicPr>
            <a:picLocks noChangeAspect="1"/>
          </p:cNvPicPr>
          <p:nvPr/>
        </p:nvPicPr>
        <p:blipFill>
          <a:blip r:embed="rId4"/>
          <a:srcRect t="-412" b="-412"/>
          <a:stretch/>
        </p:blipFill>
        <p:spPr>
          <a:xfrm>
            <a:off x="609905" y="6420002"/>
            <a:ext cx="1333195" cy="5760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609905" y="476402"/>
            <a:ext cx="533095" cy="533095"/>
          </a:xfrm>
          <a:prstGeom prst="ellipse">
            <a:avLst/>
          </a:prstGeom>
          <a:solidFill>
            <a:srgbClr val="007B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3" descr="gen-dedup-7539a822de0338c9c430ba5252f962ff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629107"/>
            <a:ext cx="228600" cy="22860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285646" y="552298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 혁신 교육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1285646" y="819302"/>
            <a:ext cx="2857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활용으로</a:t>
            </a: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</a:t>
            </a: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</a:t>
            </a: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</a:t>
            </a:r>
            <a:endParaRPr lang="en-US" sz="1500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B88B81F-26AF-7BB8-F5E9-085537807BF5}"/>
              </a:ext>
            </a:extLst>
          </p:cNvPr>
          <p:cNvGrpSpPr/>
          <p:nvPr/>
        </p:nvGrpSpPr>
        <p:grpSpPr>
          <a:xfrm>
            <a:off x="1364064" y="1831328"/>
            <a:ext cx="8824965" cy="3051634"/>
            <a:chOff x="1143000" y="2095805"/>
            <a:chExt cx="9906610" cy="3504895"/>
          </a:xfrm>
        </p:grpSpPr>
        <p:pic>
          <p:nvPicPr>
            <p:cNvPr id="10" name="Image 4" descr="gen-dedup-5ab70f1224a4b3b60bce179b774841cb.png"/>
            <p:cNvPicPr>
              <a:picLocks noChangeAspect="1"/>
            </p:cNvPicPr>
            <p:nvPr/>
          </p:nvPicPr>
          <p:blipFill>
            <a:blip r:embed="rId6"/>
            <a:srcRect l="-8" r="-8"/>
            <a:stretch/>
          </p:blipFill>
          <p:spPr>
            <a:xfrm>
              <a:off x="1143000" y="2095805"/>
              <a:ext cx="2171700" cy="504749"/>
            </a:xfrm>
            <a:prstGeom prst="rect">
              <a:avLst/>
            </a:prstGeom>
          </p:spPr>
        </p:pic>
        <p:sp>
          <p:nvSpPr>
            <p:cNvPr id="11" name="Text 4"/>
            <p:cNvSpPr/>
            <p:nvPr/>
          </p:nvSpPr>
          <p:spPr>
            <a:xfrm>
              <a:off x="1714500" y="2095805"/>
              <a:ext cx="1600200" cy="505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D4ED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일하는 방식 혁신 </a:t>
              </a:r>
              <a:endParaRPr lang="en-US" sz="1500" dirty="0"/>
            </a:p>
          </p:txBody>
        </p:sp>
        <p:pic>
          <p:nvPicPr>
            <p:cNvPr id="12" name="Image 5" descr="gen-dedup-089a278adf4a7e300858e9333c8e399b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410005" y="2262226"/>
              <a:ext cx="190195" cy="190195"/>
            </a:xfrm>
            <a:prstGeom prst="rect">
              <a:avLst/>
            </a:prstGeom>
          </p:spPr>
        </p:pic>
        <p:sp>
          <p:nvSpPr>
            <p:cNvPr id="13" name="Text 5"/>
            <p:cNvSpPr txBox="1"/>
            <p:nvPr/>
          </p:nvSpPr>
          <p:spPr>
            <a:xfrm>
              <a:off x="1143000" y="2857500"/>
              <a:ext cx="9906610" cy="20199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900" b="1" kern="0" spc="-138" dirty="0" err="1">
                  <a:solidFill>
                    <a:srgbClr val="007B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업무프로세스</a:t>
              </a:r>
              <a:r>
                <a:rPr lang="en-US" sz="6900" b="1" kern="0" spc="-138" dirty="0">
                  <a:solidFill>
                    <a:srgbClr val="007B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6900" b="1" kern="0" spc="-138" dirty="0" err="1">
                  <a:solidFill>
                    <a:srgbClr val="007B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개선</a:t>
              </a:r>
              <a:r>
                <a:rPr lang="en-US" sz="6900" b="1" kern="0" spc="-138" dirty="0" err="1">
                  <a:solidFill>
                    <a:srgbClr val="1E3A5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과</a:t>
              </a:r>
              <a:endParaRPr lang="en-US" sz="6900" dirty="0"/>
            </a:p>
            <a:p>
              <a:pPr marL="0" indent="0" algn="l">
                <a:buNone/>
              </a:pPr>
              <a:r>
                <a:rPr lang="en-US" sz="6900" b="1" kern="0" spc="-138" dirty="0" err="1">
                  <a:solidFill>
                    <a:srgbClr val="1E3A5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사례</a:t>
              </a:r>
              <a:r>
                <a:rPr lang="en-US" sz="6900" b="1" kern="0" spc="-138" dirty="0">
                  <a:solidFill>
                    <a:srgbClr val="1E3A5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6900" b="1" kern="0" spc="-138" dirty="0" err="1">
                  <a:solidFill>
                    <a:srgbClr val="1E3A5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공유</a:t>
              </a:r>
              <a:r>
                <a:rPr lang="en-US" sz="6900" b="1" kern="0" spc="-138" dirty="0">
                  <a:solidFill>
                    <a:srgbClr val="1E3A5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endParaRPr lang="en-US" sz="6900" dirty="0"/>
            </a:p>
          </p:txBody>
        </p:sp>
        <p:sp>
          <p:nvSpPr>
            <p:cNvPr id="14" name="Text 6"/>
            <p:cNvSpPr txBox="1"/>
            <p:nvPr/>
          </p:nvSpPr>
          <p:spPr>
            <a:xfrm>
              <a:off x="1143000" y="5143500"/>
              <a:ext cx="990661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500" dirty="0">
                  <a:solidFill>
                    <a:srgbClr val="47556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반복업무를 줄이고 성과를 높이는 </a:t>
              </a:r>
              <a:r>
                <a:rPr lang="en-US" sz="2500" b="1" dirty="0">
                  <a:solidFill>
                    <a:srgbClr val="007B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일하는 방식 혁신</a:t>
              </a:r>
              <a:endParaRPr lang="en-US" sz="2500" dirty="0"/>
            </a:p>
          </p:txBody>
        </p:sp>
      </p:grpSp>
      <p:sp>
        <p:nvSpPr>
          <p:cNvPr id="15" name="Text 3">
            <a:extLst>
              <a:ext uri="{FF2B5EF4-FFF2-40B4-BE49-F238E27FC236}">
                <a16:creationId xmlns:a16="http://schemas.microsoft.com/office/drawing/2014/main" id="{596DB568-57AF-3002-3BCD-A0B737D0F43B}"/>
              </a:ext>
            </a:extLst>
          </p:cNvPr>
          <p:cNvSpPr txBox="1"/>
          <p:nvPr/>
        </p:nvSpPr>
        <p:spPr>
          <a:xfrm>
            <a:off x="8078875" y="5706097"/>
            <a:ext cx="3851222" cy="260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Ph.D. </a:t>
            </a:r>
            <a:r>
              <a:rPr lang="ko-KR" alt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이애본 · 드림아이티비즈(DreamIT Biz</a:t>
            </a:r>
            <a:r>
              <a:rPr lang="en-US" altLang="ko-KR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ko-KR" alt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altLang="ko-KR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ko-KR" alt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altLang="ko-KR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aebon@dreamitbiz.com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55439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1695" y="2381098"/>
            <a:ext cx="5219395" cy="1904695"/>
          </a:xfrm>
          <a:prstGeom prst="roundRect">
            <a:avLst>
              <a:gd name="adj" fmla="val 7681"/>
            </a:avLst>
          </a:prstGeom>
          <a:solidFill>
            <a:srgbClr val="FFFFFF">
              <a:alpha val="95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61695" y="2381098"/>
            <a:ext cx="75895" cy="1904695"/>
          </a:xfrm>
          <a:prstGeom prst="roundRect">
            <a:avLst>
              <a:gd name="adj" fmla="val 192772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2381098"/>
            <a:ext cx="5219395" cy="1904695"/>
          </a:xfrm>
          <a:prstGeom prst="roundRect">
            <a:avLst>
              <a:gd name="adj" fmla="val 7681"/>
            </a:avLst>
          </a:prstGeom>
          <a:solidFill>
            <a:srgbClr val="FFFFFF">
              <a:alpha val="95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286500" y="2381098"/>
            <a:ext cx="75895" cy="1904695"/>
          </a:xfrm>
          <a:prstGeom prst="roundRect">
            <a:avLst>
              <a:gd name="adj" fmla="val 192772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4572000"/>
            <a:ext cx="5219395" cy="1904695"/>
          </a:xfrm>
          <a:prstGeom prst="roundRect">
            <a:avLst>
              <a:gd name="adj" fmla="val 7681"/>
            </a:avLst>
          </a:prstGeom>
          <a:solidFill>
            <a:srgbClr val="FFFFFF">
              <a:alpha val="95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4572000"/>
            <a:ext cx="75895" cy="1904695"/>
          </a:xfrm>
          <a:prstGeom prst="roundRect">
            <a:avLst>
              <a:gd name="adj" fmla="val 19277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4572000"/>
            <a:ext cx="5219395" cy="2000707"/>
          </a:xfrm>
          <a:prstGeom prst="roundRect">
            <a:avLst>
              <a:gd name="adj" fmla="val 6964"/>
            </a:avLst>
          </a:prstGeom>
          <a:solidFill>
            <a:srgbClr val="FFFFFF">
              <a:alpha val="95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4572000"/>
            <a:ext cx="75895" cy="2000707"/>
          </a:xfrm>
          <a:prstGeom prst="roundRect">
            <a:avLst>
              <a:gd name="adj" fmla="val 183592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571500"/>
            <a:ext cx="2857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</a:rPr>
              <a:t>DreamIT</a:t>
            </a: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</a:rPr>
              <a:t> Biz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10668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 혁신 교육</a:t>
            </a:r>
            <a:r>
              <a:rPr lang="en-US" sz="4200" b="1" kern="0" spc="-84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개요 </a:t>
            </a:r>
            <a:endParaRPr lang="en-US" sz="4200" dirty="0"/>
          </a:p>
        </p:txBody>
      </p:sp>
      <p:sp>
        <p:nvSpPr>
          <p:cNvPr id="14" name="Shape 11"/>
          <p:cNvSpPr/>
          <p:nvPr/>
        </p:nvSpPr>
        <p:spPr>
          <a:xfrm>
            <a:off x="1143000" y="2667305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007B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829924311be40306cb30fa840725b49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57300" y="2781605"/>
            <a:ext cx="381305" cy="3813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000707" y="2667305"/>
            <a:ext cx="3620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목적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2000707" y="3143707"/>
            <a:ext cx="36201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 진단 및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실무 교육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667805" y="2667305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0EA5E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gen-dedup-ee8195886d99c603efa6f83d1ec114bc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82105" y="2781605"/>
            <a:ext cx="381305" cy="3813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524598" y="2667305"/>
            <a:ext cx="3620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시간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7524598" y="3143707"/>
            <a:ext cx="3620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2시간</a:t>
            </a:r>
            <a:endParaRPr lang="en-US" sz="3100" dirty="0"/>
          </a:p>
        </p:txBody>
      </p:sp>
      <p:sp>
        <p:nvSpPr>
          <p:cNvPr id="22" name="Shape 17"/>
          <p:cNvSpPr/>
          <p:nvPr/>
        </p:nvSpPr>
        <p:spPr>
          <a:xfrm>
            <a:off x="1143000" y="4858207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gen-dedup-4abfce4734983a359e7af4795d02ce26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1257300" y="4972507"/>
            <a:ext cx="381305" cy="3813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000707" y="4858207"/>
            <a:ext cx="3620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대상</a:t>
            </a:r>
            <a:endParaRPr lang="en-US" sz="2100" dirty="0"/>
          </a:p>
        </p:txBody>
      </p:sp>
      <p:sp>
        <p:nvSpPr>
          <p:cNvPr id="25" name="Text 19"/>
          <p:cNvSpPr txBox="1"/>
          <p:nvPr/>
        </p:nvSpPr>
        <p:spPr>
          <a:xfrm>
            <a:off x="2229307" y="5333695"/>
            <a:ext cx="33915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사무직원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2229307" y="5627218"/>
            <a:ext cx="33915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기획/관리/운영 담당자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2229307" y="5920740"/>
            <a:ext cx="33915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팀장급 관리자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6667805" y="4858207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gen-dedup-d684c09f0abd3c9519a0a92ef3dc5401.png"/>
          <p:cNvPicPr>
            <a:picLocks noChangeAspect="1"/>
          </p:cNvPicPr>
          <p:nvPr/>
        </p:nvPicPr>
        <p:blipFill>
          <a:blip r:embed="rId7"/>
          <a:srcRect t="-12500" b="-12500"/>
          <a:stretch/>
        </p:blipFill>
        <p:spPr>
          <a:xfrm>
            <a:off x="6782105" y="4972507"/>
            <a:ext cx="381305" cy="38130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524598" y="4858207"/>
            <a:ext cx="3620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형식</a:t>
            </a:r>
            <a:endParaRPr lang="en-US" sz="2100" dirty="0"/>
          </a:p>
        </p:txBody>
      </p:sp>
      <p:sp>
        <p:nvSpPr>
          <p:cNvPr id="31" name="Text 24"/>
          <p:cNvSpPr txBox="1"/>
          <p:nvPr/>
        </p:nvSpPr>
        <p:spPr>
          <a:xfrm>
            <a:off x="7524598" y="5315407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7524598" y="5676595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공유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7524598" y="6038698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</a:t>
            </a:r>
            <a:endParaRPr lang="en-US" sz="16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1857146"/>
            <a:ext cx="3486607" cy="1380744"/>
          </a:xfrm>
          <a:prstGeom prst="roundRect">
            <a:avLst>
              <a:gd name="adj" fmla="val 1461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500" y="1857146"/>
            <a:ext cx="57607" cy="1380744"/>
          </a:xfrm>
          <a:prstGeom prst="roundRect">
            <a:avLst>
              <a:gd name="adj" fmla="val 350302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381805" y="1857146"/>
            <a:ext cx="3486607" cy="1380744"/>
          </a:xfrm>
          <a:prstGeom prst="roundRect">
            <a:avLst>
              <a:gd name="adj" fmla="val 1461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381805" y="1857146"/>
            <a:ext cx="57607" cy="1380744"/>
          </a:xfrm>
          <a:prstGeom prst="roundRect">
            <a:avLst>
              <a:gd name="adj" fmla="val 350302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191195" y="1857146"/>
            <a:ext cx="3486607" cy="1380744"/>
          </a:xfrm>
          <a:prstGeom prst="roundRect">
            <a:avLst>
              <a:gd name="adj" fmla="val 1461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191195" y="1857146"/>
            <a:ext cx="57607" cy="1380744"/>
          </a:xfrm>
          <a:prstGeom prst="roundRect">
            <a:avLst>
              <a:gd name="adj" fmla="val 350302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71500" y="3476549"/>
            <a:ext cx="3486607" cy="1380744"/>
          </a:xfrm>
          <a:prstGeom prst="roundRect">
            <a:avLst>
              <a:gd name="adj" fmla="val 1461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3476549"/>
            <a:ext cx="57607" cy="1380744"/>
          </a:xfrm>
          <a:prstGeom prst="roundRect">
            <a:avLst>
              <a:gd name="adj" fmla="val 350302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381805" y="3476549"/>
            <a:ext cx="3486607" cy="1380744"/>
          </a:xfrm>
          <a:prstGeom prst="roundRect">
            <a:avLst>
              <a:gd name="adj" fmla="val 1461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381805" y="3476549"/>
            <a:ext cx="57607" cy="1380744"/>
          </a:xfrm>
          <a:prstGeom prst="roundRect">
            <a:avLst>
              <a:gd name="adj" fmla="val 350302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191195" y="3476549"/>
            <a:ext cx="3486607" cy="1380744"/>
          </a:xfrm>
          <a:prstGeom prst="roundRect">
            <a:avLst>
              <a:gd name="adj" fmla="val 1461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191195" y="3476549"/>
            <a:ext cx="57607" cy="1380744"/>
          </a:xfrm>
          <a:prstGeom prst="roundRect">
            <a:avLst>
              <a:gd name="adj" fmla="val 350302"/>
            </a:avLst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71500" y="5095951"/>
            <a:ext cx="3486607" cy="1380744"/>
          </a:xfrm>
          <a:prstGeom prst="roundRect">
            <a:avLst>
              <a:gd name="adj" fmla="val 1461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71500" y="5095951"/>
            <a:ext cx="57607" cy="1380744"/>
          </a:xfrm>
          <a:prstGeom prst="roundRect">
            <a:avLst>
              <a:gd name="adj" fmla="val 350302"/>
            </a:avLst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381805" y="5095951"/>
            <a:ext cx="3486607" cy="1380744"/>
          </a:xfrm>
          <a:prstGeom prst="roundRect">
            <a:avLst>
              <a:gd name="adj" fmla="val 1461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381805" y="5095951"/>
            <a:ext cx="57607" cy="1380744"/>
          </a:xfrm>
          <a:prstGeom prst="roundRect">
            <a:avLst>
              <a:gd name="adj" fmla="val 350302"/>
            </a:avLst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191195" y="5095951"/>
            <a:ext cx="3486607" cy="1380744"/>
          </a:xfrm>
          <a:prstGeom prst="roundRect">
            <a:avLst>
              <a:gd name="adj" fmla="val 14615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191195" y="5095951"/>
            <a:ext cx="57607" cy="1380744"/>
          </a:xfrm>
          <a:prstGeom prst="roundRect">
            <a:avLst>
              <a:gd name="adj" fmla="val 350302"/>
            </a:avLst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571500" y="571500"/>
            <a:ext cx="95253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75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아젠다 </a:t>
            </a:r>
            <a:r>
              <a:rPr lang="en-US" sz="3400" b="1" kern="0" spc="-75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1부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" y="1285646"/>
            <a:ext cx="9525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및 AI 활용 (1~9번 주제)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1695" y="204825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94283" y="2100377"/>
            <a:ext cx="124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85646" y="2095805"/>
            <a:ext cx="2572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업무프로세스개선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61695" y="2619756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필요성과 기본 개념 정리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204825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4704588" y="2100377"/>
            <a:ext cx="124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095951" y="2095805"/>
            <a:ext cx="2572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 정의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2619756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흐름과 단계별 기준 정의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82305" y="204825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8514893" y="2100377"/>
            <a:ext cx="124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906256" y="2095805"/>
            <a:ext cx="2572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비효율 업무 유형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382305" y="2619756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8가지 대표적인 비효율 유형 점검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1695" y="366674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894283" y="3719779"/>
            <a:ext cx="124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285646" y="3715207"/>
            <a:ext cx="2572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 진단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61695" y="4238244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목록화부터 시각화까지 5단계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0" y="366674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4704588" y="3719779"/>
            <a:ext cx="124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095951" y="3715207"/>
            <a:ext cx="2572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우선순위 설정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0" y="4238244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효과성/실행가능성 2x2 매트릭스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82305" y="366674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8514893" y="3719779"/>
            <a:ext cx="124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8906256" y="3715207"/>
            <a:ext cx="2572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지원 가능 업무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8382305" y="4238244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작성, 요약, 데이터 분석 활용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61695" y="528614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894283" y="5339182"/>
            <a:ext cx="124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1285646" y="5333695"/>
            <a:ext cx="2572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주의사항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761695" y="5810098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적용시 핵심 Do's &amp; Don'ts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0" y="528614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4704588" y="5339182"/>
            <a:ext cx="124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5095951" y="5333695"/>
            <a:ext cx="2572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 설계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0" y="5810098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분석부터 모니터링까지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382305" y="528614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8514893" y="5339182"/>
            <a:ext cx="124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8906256" y="5333695"/>
            <a:ext cx="2572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 플로우 예시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8382305" y="5810098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작성 업무 단계별 시간</a:t>
            </a:r>
            <a:endParaRPr lang="en-US" sz="1200" dirty="0"/>
          </a:p>
        </p:txBody>
      </p:sp>
      <p:sp>
        <p:nvSpPr>
          <p:cNvPr id="6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476402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3abb61d3e328b05c9625fc85447b411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6598" y="571500"/>
            <a:ext cx="228600" cy="228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381305"/>
            <a:ext cx="448238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아젠다 </a:t>
            </a:r>
            <a:r>
              <a:rPr lang="en-US" sz="2400" b="1" kern="0" spc="-66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(2부)</a:t>
            </a:r>
            <a:endParaRPr lang="en-US" sz="33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1067105"/>
            <a:ext cx="7620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업무프로세스개선과 사례 공유 - 가상 사례(수치는 예시)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447A12-37C8-B94F-A2BE-1AEAA174C0E5}"/>
              </a:ext>
            </a:extLst>
          </p:cNvPr>
          <p:cNvSpPr/>
          <p:nvPr/>
        </p:nvSpPr>
        <p:spPr>
          <a:xfrm>
            <a:off x="571500" y="2286000"/>
            <a:ext cx="3492500" cy="1384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EBE0ED-6A32-124A-8785-6D111C464E6D}"/>
              </a:ext>
            </a:extLst>
          </p:cNvPr>
          <p:cNvSpPr/>
          <p:nvPr/>
        </p:nvSpPr>
        <p:spPr>
          <a:xfrm>
            <a:off x="571500" y="2286000"/>
            <a:ext cx="63500" cy="13843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3B67A97-877C-074C-A85D-D90FB73BCEE2}"/>
              </a:ext>
            </a:extLst>
          </p:cNvPr>
          <p:cNvSpPr/>
          <p:nvPr/>
        </p:nvSpPr>
        <p:spPr>
          <a:xfrm>
            <a:off x="762000" y="2476500"/>
            <a:ext cx="381000" cy="381000"/>
          </a:xfrm>
          <a:prstGeom prst="ellipse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2563EB"/>
                </a:solidFill>
                <a:latin typeface="Noto Sans KR"/>
              </a:rPr>
              <a:t>10</a:t>
            </a:r>
            <a:endParaRPr lang="ko-KR" altLang="en-US" sz="1300" b="1">
              <a:solidFill>
                <a:srgbClr val="2563EB"/>
              </a:solidFill>
              <a:latin typeface="Noto Sans KR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280803-6122-9E4E-9D77-EF0F70CAE353}"/>
              </a:ext>
            </a:extLst>
          </p:cNvPr>
          <p:cNvSpPr txBox="1"/>
          <p:nvPr/>
        </p:nvSpPr>
        <p:spPr>
          <a:xfrm>
            <a:off x="1282700" y="25400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E293B"/>
                </a:solidFill>
                <a:latin typeface="Noto Sans KR"/>
              </a:rPr>
              <a:t>회의록 작성 개선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C123AF-FA8A-1C48-8355-7AA3D5257846}"/>
              </a:ext>
            </a:extLst>
          </p:cNvPr>
          <p:cNvSpPr txBox="1"/>
          <p:nvPr/>
        </p:nvSpPr>
        <p:spPr>
          <a:xfrm>
            <a:off x="762000" y="3073400"/>
            <a:ext cx="311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>
                <a:solidFill>
                  <a:srgbClr val="64748B"/>
                </a:solidFill>
                <a:latin typeface="Noto Sans KR"/>
              </a:rPr>
              <a:t>AI </a:t>
            </a:r>
            <a:r>
              <a:rPr lang="ko-KR" altLang="en-US" sz="1200">
                <a:solidFill>
                  <a:srgbClr val="64748B"/>
                </a:solidFill>
                <a:latin typeface="Noto Sans KR"/>
              </a:rPr>
              <a:t>요약 활용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97D5C7E-575E-2C43-A929-07BBEFF14FE5}"/>
              </a:ext>
            </a:extLst>
          </p:cNvPr>
          <p:cNvSpPr/>
          <p:nvPr/>
        </p:nvSpPr>
        <p:spPr>
          <a:xfrm>
            <a:off x="4381500" y="2286000"/>
            <a:ext cx="3492500" cy="1384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6B4B4A4-E669-7F42-B488-F05AD6DE8FE0}"/>
              </a:ext>
            </a:extLst>
          </p:cNvPr>
          <p:cNvSpPr/>
          <p:nvPr/>
        </p:nvSpPr>
        <p:spPr>
          <a:xfrm>
            <a:off x="4381500" y="2286000"/>
            <a:ext cx="63500" cy="13843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8893D52B-8D53-1F40-996A-5B6882C4719D}"/>
              </a:ext>
            </a:extLst>
          </p:cNvPr>
          <p:cNvSpPr/>
          <p:nvPr/>
        </p:nvSpPr>
        <p:spPr>
          <a:xfrm>
            <a:off x="4572000" y="2476500"/>
            <a:ext cx="381000" cy="381000"/>
          </a:xfrm>
          <a:prstGeom prst="ellipse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2563EB"/>
                </a:solidFill>
                <a:latin typeface="Noto Sans KR"/>
              </a:rPr>
              <a:t>11</a:t>
            </a:r>
            <a:endParaRPr lang="ko-KR" altLang="en-US" sz="1300" b="1">
              <a:solidFill>
                <a:srgbClr val="2563EB"/>
              </a:solidFill>
              <a:latin typeface="Noto Sans K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CBBDAC-65FF-594C-9DF5-9FB2A4719867}"/>
              </a:ext>
            </a:extLst>
          </p:cNvPr>
          <p:cNvSpPr txBox="1"/>
          <p:nvPr/>
        </p:nvSpPr>
        <p:spPr>
          <a:xfrm>
            <a:off x="5092700" y="25400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E293B"/>
                </a:solidFill>
                <a:latin typeface="Noto Sans KR"/>
              </a:rPr>
              <a:t>보고서 작성 개선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7E8AF9-78BE-4946-ADCA-838AFD063D8E}"/>
              </a:ext>
            </a:extLst>
          </p:cNvPr>
          <p:cNvSpPr txBox="1"/>
          <p:nvPr/>
        </p:nvSpPr>
        <p:spPr>
          <a:xfrm>
            <a:off x="4572000" y="3073400"/>
            <a:ext cx="311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64748B"/>
                </a:solidFill>
                <a:latin typeface="Noto Sans KR"/>
              </a:rPr>
              <a:t>목차</a:t>
            </a:r>
            <a:r>
              <a:rPr lang="en-US" altLang="ko-KR" sz="1200">
                <a:solidFill>
                  <a:srgbClr val="64748B"/>
                </a:solidFill>
                <a:latin typeface="Noto Sans KR"/>
              </a:rPr>
              <a:t>·</a:t>
            </a:r>
            <a:r>
              <a:rPr lang="ko-KR" altLang="en-US" sz="1200">
                <a:solidFill>
                  <a:srgbClr val="64748B"/>
                </a:solidFill>
                <a:latin typeface="Noto Sans KR"/>
              </a:rPr>
              <a:t>초안 자동화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C9A00FE-E6BA-494C-BD0D-1AE6932A7EC9}"/>
              </a:ext>
            </a:extLst>
          </p:cNvPr>
          <p:cNvSpPr/>
          <p:nvPr/>
        </p:nvSpPr>
        <p:spPr>
          <a:xfrm>
            <a:off x="8191500" y="2286000"/>
            <a:ext cx="3492500" cy="1384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F276487-3E75-FE4D-9689-927520DD0D4E}"/>
              </a:ext>
            </a:extLst>
          </p:cNvPr>
          <p:cNvSpPr/>
          <p:nvPr/>
        </p:nvSpPr>
        <p:spPr>
          <a:xfrm>
            <a:off x="8191500" y="2286000"/>
            <a:ext cx="63500" cy="13843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6904B3DF-7269-934E-BA73-841A552B6980}"/>
              </a:ext>
            </a:extLst>
          </p:cNvPr>
          <p:cNvSpPr/>
          <p:nvPr/>
        </p:nvSpPr>
        <p:spPr>
          <a:xfrm>
            <a:off x="8382000" y="2476500"/>
            <a:ext cx="381000" cy="381000"/>
          </a:xfrm>
          <a:prstGeom prst="ellipse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2563EB"/>
                </a:solidFill>
                <a:latin typeface="Noto Sans KR"/>
              </a:rPr>
              <a:t>12</a:t>
            </a:r>
            <a:endParaRPr lang="ko-KR" altLang="en-US" sz="1300" b="1">
              <a:solidFill>
                <a:srgbClr val="2563EB"/>
              </a:solidFill>
              <a:latin typeface="Noto Sans K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856C90-B458-954D-8CCB-9FF730A48F9B}"/>
              </a:ext>
            </a:extLst>
          </p:cNvPr>
          <p:cNvSpPr txBox="1"/>
          <p:nvPr/>
        </p:nvSpPr>
        <p:spPr>
          <a:xfrm>
            <a:off x="8902700" y="25400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E293B"/>
                </a:solidFill>
                <a:latin typeface="Noto Sans KR"/>
              </a:rPr>
              <a:t>반복 이메일 템플릿화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3C5740-4B69-6D41-9575-9B869B3155BE}"/>
              </a:ext>
            </a:extLst>
          </p:cNvPr>
          <p:cNvSpPr txBox="1"/>
          <p:nvPr/>
        </p:nvSpPr>
        <p:spPr>
          <a:xfrm>
            <a:off x="8382000" y="3073400"/>
            <a:ext cx="311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64748B"/>
                </a:solidFill>
                <a:latin typeface="Noto Sans KR"/>
              </a:rPr>
              <a:t>표준화 적용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B580D79-BF92-324D-8F06-05E9CF688890}"/>
              </a:ext>
            </a:extLst>
          </p:cNvPr>
          <p:cNvSpPr/>
          <p:nvPr/>
        </p:nvSpPr>
        <p:spPr>
          <a:xfrm>
            <a:off x="571500" y="4064000"/>
            <a:ext cx="3492500" cy="1384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8E002C3-83BD-D149-AC8C-E9CAEBF3660D}"/>
              </a:ext>
            </a:extLst>
          </p:cNvPr>
          <p:cNvSpPr/>
          <p:nvPr/>
        </p:nvSpPr>
        <p:spPr>
          <a:xfrm>
            <a:off x="571500" y="4064000"/>
            <a:ext cx="63500" cy="13843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FDD8CF88-1143-5149-922D-E89C36CA8B9E}"/>
              </a:ext>
            </a:extLst>
          </p:cNvPr>
          <p:cNvSpPr/>
          <p:nvPr/>
        </p:nvSpPr>
        <p:spPr>
          <a:xfrm>
            <a:off x="762000" y="4254500"/>
            <a:ext cx="381000" cy="381000"/>
          </a:xfrm>
          <a:prstGeom prst="ellipse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2563EB"/>
                </a:solidFill>
                <a:latin typeface="Noto Sans KR"/>
              </a:rPr>
              <a:t>13</a:t>
            </a:r>
            <a:endParaRPr lang="ko-KR" altLang="en-US" sz="1300" b="1">
              <a:solidFill>
                <a:srgbClr val="2563EB"/>
              </a:solidFill>
              <a:latin typeface="Noto Sans K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C2259E-E17C-454C-BCEA-FCCE06D82BF6}"/>
              </a:ext>
            </a:extLst>
          </p:cNvPr>
          <p:cNvSpPr txBox="1"/>
          <p:nvPr/>
        </p:nvSpPr>
        <p:spPr>
          <a:xfrm>
            <a:off x="1282700" y="43180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E293B"/>
                </a:solidFill>
                <a:latin typeface="Noto Sans KR"/>
              </a:rPr>
              <a:t>고객 응대 개선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55BA031-678E-1642-8D24-68F06E18C1E6}"/>
              </a:ext>
            </a:extLst>
          </p:cNvPr>
          <p:cNvSpPr txBox="1"/>
          <p:nvPr/>
        </p:nvSpPr>
        <p:spPr>
          <a:xfrm>
            <a:off x="762000" y="4851400"/>
            <a:ext cx="311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>
                <a:solidFill>
                  <a:srgbClr val="64748B"/>
                </a:solidFill>
                <a:latin typeface="Noto Sans KR"/>
              </a:rPr>
              <a:t>FAQ </a:t>
            </a:r>
            <a:r>
              <a:rPr lang="ko-KR" altLang="en-US" sz="1200">
                <a:solidFill>
                  <a:srgbClr val="64748B"/>
                </a:solidFill>
                <a:latin typeface="Noto Sans KR"/>
              </a:rPr>
              <a:t>기반 답변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B4A3BD7-3731-B04D-8BC3-DEC370DAB7B9}"/>
              </a:ext>
            </a:extLst>
          </p:cNvPr>
          <p:cNvSpPr/>
          <p:nvPr/>
        </p:nvSpPr>
        <p:spPr>
          <a:xfrm>
            <a:off x="4381500" y="4064000"/>
            <a:ext cx="3492500" cy="1384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111A104-9AF4-F244-92CE-B3AA4926F091}"/>
              </a:ext>
            </a:extLst>
          </p:cNvPr>
          <p:cNvSpPr/>
          <p:nvPr/>
        </p:nvSpPr>
        <p:spPr>
          <a:xfrm>
            <a:off x="4381500" y="4064000"/>
            <a:ext cx="63500" cy="13843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DCA36992-47F6-DB43-B3A8-A8751087E349}"/>
              </a:ext>
            </a:extLst>
          </p:cNvPr>
          <p:cNvSpPr/>
          <p:nvPr/>
        </p:nvSpPr>
        <p:spPr>
          <a:xfrm>
            <a:off x="4572000" y="4254500"/>
            <a:ext cx="381000" cy="381000"/>
          </a:xfrm>
          <a:prstGeom prst="ellipse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2563EB"/>
                </a:solidFill>
                <a:latin typeface="Noto Sans KR"/>
              </a:rPr>
              <a:t>14</a:t>
            </a:r>
            <a:endParaRPr lang="ko-KR" altLang="en-US" sz="1300" b="1">
              <a:solidFill>
                <a:srgbClr val="2563EB"/>
              </a:solidFill>
              <a:latin typeface="Noto Sans KR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B6D9B8D-EC7B-FC4E-A896-A288505CF2BD}"/>
              </a:ext>
            </a:extLst>
          </p:cNvPr>
          <p:cNvSpPr txBox="1"/>
          <p:nvPr/>
        </p:nvSpPr>
        <p:spPr>
          <a:xfrm>
            <a:off x="5092700" y="43180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E293B"/>
                </a:solidFill>
                <a:latin typeface="Noto Sans KR"/>
              </a:rPr>
              <a:t>자료 조사 개선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7A1C612-2425-CB40-B642-54A8C80E2F12}"/>
              </a:ext>
            </a:extLst>
          </p:cNvPr>
          <p:cNvSpPr txBox="1"/>
          <p:nvPr/>
        </p:nvSpPr>
        <p:spPr>
          <a:xfrm>
            <a:off x="4572000" y="4851400"/>
            <a:ext cx="311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64748B"/>
                </a:solidFill>
                <a:latin typeface="Noto Sans KR"/>
              </a:rPr>
              <a:t>요약 및 분석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CFF31B5-4305-854C-9871-0376394DC03D}"/>
              </a:ext>
            </a:extLst>
          </p:cNvPr>
          <p:cNvSpPr/>
          <p:nvPr/>
        </p:nvSpPr>
        <p:spPr>
          <a:xfrm>
            <a:off x="8191500" y="4064000"/>
            <a:ext cx="3492500" cy="1384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2BACC70-578A-414D-AC2D-73639325D6CF}"/>
              </a:ext>
            </a:extLst>
          </p:cNvPr>
          <p:cNvSpPr/>
          <p:nvPr/>
        </p:nvSpPr>
        <p:spPr>
          <a:xfrm>
            <a:off x="8191500" y="4064000"/>
            <a:ext cx="63500" cy="13843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AC59D199-220D-1648-B3E6-0F6DC298D538}"/>
              </a:ext>
            </a:extLst>
          </p:cNvPr>
          <p:cNvSpPr/>
          <p:nvPr/>
        </p:nvSpPr>
        <p:spPr>
          <a:xfrm>
            <a:off x="8382000" y="4254500"/>
            <a:ext cx="381000" cy="381000"/>
          </a:xfrm>
          <a:prstGeom prst="ellipse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2563EB"/>
                </a:solidFill>
                <a:latin typeface="Noto Sans KR"/>
              </a:rPr>
              <a:t>15</a:t>
            </a:r>
            <a:endParaRPr lang="ko-KR" altLang="en-US" sz="1300" b="1">
              <a:solidFill>
                <a:srgbClr val="2563EB"/>
              </a:solidFill>
              <a:latin typeface="Noto Sans KR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20CFBA2-2406-044E-A89C-EB7CF5248A5C}"/>
              </a:ext>
            </a:extLst>
          </p:cNvPr>
          <p:cNvSpPr txBox="1"/>
          <p:nvPr/>
        </p:nvSpPr>
        <p:spPr>
          <a:xfrm>
            <a:off x="8902700" y="43180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E293B"/>
                </a:solidFill>
                <a:latin typeface="Noto Sans KR"/>
              </a:rPr>
              <a:t>행사 운영 개선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3017197-2684-DD40-A00D-404BF798810F}"/>
              </a:ext>
            </a:extLst>
          </p:cNvPr>
          <p:cNvSpPr txBox="1"/>
          <p:nvPr/>
        </p:nvSpPr>
        <p:spPr>
          <a:xfrm>
            <a:off x="8382000" y="4851400"/>
            <a:ext cx="311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64748B"/>
                </a:solidFill>
                <a:latin typeface="Noto Sans KR"/>
              </a:rPr>
              <a:t>템플릿화 적용</a:t>
            </a:r>
          </a:p>
        </p:txBody>
      </p:sp>
      <p:sp>
        <p:nvSpPr>
          <p:cNvPr id="8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9201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476402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3abb61d3e328b05c9625fc85447b411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6598" y="571500"/>
            <a:ext cx="228600" cy="228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381305"/>
            <a:ext cx="448238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아젠다 </a:t>
            </a:r>
            <a:r>
              <a:rPr lang="en-US" sz="2400" b="1" kern="0" spc="-66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(2부)</a:t>
            </a:r>
            <a:endParaRPr lang="en-US" sz="33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1067105"/>
            <a:ext cx="7620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업무프로세스개선과 사례공유 - 실습 및 마무리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7D9E4D-1A72-CA45-8094-72C339629F09}"/>
              </a:ext>
            </a:extLst>
          </p:cNvPr>
          <p:cNvSpPr/>
          <p:nvPr/>
        </p:nvSpPr>
        <p:spPr>
          <a:xfrm>
            <a:off x="571500" y="2286000"/>
            <a:ext cx="3492500" cy="1384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F13E12-8943-6B46-B16D-6E3B6B7DD663}"/>
              </a:ext>
            </a:extLst>
          </p:cNvPr>
          <p:cNvSpPr/>
          <p:nvPr/>
        </p:nvSpPr>
        <p:spPr>
          <a:xfrm>
            <a:off x="571500" y="2286000"/>
            <a:ext cx="63500" cy="13843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300D5D7-6041-E14E-A26E-4E78B2B5A786}"/>
              </a:ext>
            </a:extLst>
          </p:cNvPr>
          <p:cNvSpPr/>
          <p:nvPr/>
        </p:nvSpPr>
        <p:spPr>
          <a:xfrm>
            <a:off x="762000" y="2476500"/>
            <a:ext cx="381000" cy="381000"/>
          </a:xfrm>
          <a:prstGeom prst="ellipse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2563EB"/>
                </a:solidFill>
                <a:latin typeface="Noto Sans KR"/>
              </a:rPr>
              <a:t>16</a:t>
            </a:r>
            <a:endParaRPr lang="ko-KR" altLang="en-US" sz="1300" b="1">
              <a:solidFill>
                <a:srgbClr val="2563EB"/>
              </a:solidFill>
              <a:latin typeface="Noto Sans K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BCD8C9-E0F8-4D4C-8A3E-69238E0F0703}"/>
              </a:ext>
            </a:extLst>
          </p:cNvPr>
          <p:cNvSpPr txBox="1"/>
          <p:nvPr/>
        </p:nvSpPr>
        <p:spPr>
          <a:xfrm>
            <a:off x="1282700" y="25400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E293B"/>
                </a:solidFill>
                <a:latin typeface="Noto Sans KR"/>
              </a:rPr>
              <a:t>개선 전후 비교 방법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D6F38B-C207-B54C-AA16-D541DFF9B703}"/>
              </a:ext>
            </a:extLst>
          </p:cNvPr>
          <p:cNvSpPr txBox="1"/>
          <p:nvPr/>
        </p:nvSpPr>
        <p:spPr>
          <a:xfrm>
            <a:off x="762000" y="3073400"/>
            <a:ext cx="311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64748B"/>
                </a:solidFill>
                <a:latin typeface="Noto Sans KR"/>
              </a:rPr>
              <a:t>수치화</a:t>
            </a:r>
            <a:r>
              <a:rPr lang="en-US" altLang="ko-KR" sz="1200">
                <a:solidFill>
                  <a:srgbClr val="64748B"/>
                </a:solidFill>
                <a:latin typeface="Noto Sans KR"/>
              </a:rPr>
              <a:t>·</a:t>
            </a:r>
            <a:r>
              <a:rPr lang="ko-KR" altLang="en-US" sz="1200">
                <a:solidFill>
                  <a:srgbClr val="64748B"/>
                </a:solidFill>
                <a:latin typeface="Noto Sans KR"/>
              </a:rPr>
              <a:t>측정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4311B85-BE31-D148-AEB6-79039CC88F2C}"/>
              </a:ext>
            </a:extLst>
          </p:cNvPr>
          <p:cNvSpPr/>
          <p:nvPr/>
        </p:nvSpPr>
        <p:spPr>
          <a:xfrm>
            <a:off x="4381500" y="2286000"/>
            <a:ext cx="3492500" cy="1384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25EA98-2C35-1F40-AA60-AC8D290A7E2C}"/>
              </a:ext>
            </a:extLst>
          </p:cNvPr>
          <p:cNvSpPr/>
          <p:nvPr/>
        </p:nvSpPr>
        <p:spPr>
          <a:xfrm>
            <a:off x="4381500" y="2286000"/>
            <a:ext cx="63500" cy="13843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3AD3F3E-840A-5C47-9A1C-403F9251EB96}"/>
              </a:ext>
            </a:extLst>
          </p:cNvPr>
          <p:cNvSpPr/>
          <p:nvPr/>
        </p:nvSpPr>
        <p:spPr>
          <a:xfrm>
            <a:off x="4572000" y="2476500"/>
            <a:ext cx="381000" cy="381000"/>
          </a:xfrm>
          <a:prstGeom prst="ellipse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2563EB"/>
                </a:solidFill>
                <a:latin typeface="Noto Sans KR"/>
              </a:rPr>
              <a:t>17</a:t>
            </a:r>
            <a:endParaRPr lang="ko-KR" altLang="en-US" sz="1300" b="1">
              <a:solidFill>
                <a:srgbClr val="2563EB"/>
              </a:solidFill>
              <a:latin typeface="Noto Sans K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92BCB3-8998-C44F-92C8-0AD0310B9A6F}"/>
              </a:ext>
            </a:extLst>
          </p:cNvPr>
          <p:cNvSpPr txBox="1"/>
          <p:nvPr/>
        </p:nvSpPr>
        <p:spPr>
          <a:xfrm>
            <a:off x="5092700" y="25400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E293B"/>
                </a:solidFill>
                <a:latin typeface="Noto Sans KR"/>
              </a:rPr>
              <a:t>사례공유 문화 만들기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ADF868-2ADB-514F-9D40-9B371D406D79}"/>
              </a:ext>
            </a:extLst>
          </p:cNvPr>
          <p:cNvSpPr txBox="1"/>
          <p:nvPr/>
        </p:nvSpPr>
        <p:spPr>
          <a:xfrm>
            <a:off x="4572000" y="3073400"/>
            <a:ext cx="311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64748B"/>
                </a:solidFill>
                <a:latin typeface="Noto Sans KR"/>
              </a:rPr>
              <a:t>조직 내 확산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41178E9-0625-004D-BF68-83CDD3C7A426}"/>
              </a:ext>
            </a:extLst>
          </p:cNvPr>
          <p:cNvSpPr/>
          <p:nvPr/>
        </p:nvSpPr>
        <p:spPr>
          <a:xfrm>
            <a:off x="8191500" y="2286000"/>
            <a:ext cx="3492500" cy="1384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C42A754-A16B-9848-8D2B-1B2D333619BC}"/>
              </a:ext>
            </a:extLst>
          </p:cNvPr>
          <p:cNvSpPr/>
          <p:nvPr/>
        </p:nvSpPr>
        <p:spPr>
          <a:xfrm>
            <a:off x="8191500" y="2286000"/>
            <a:ext cx="63500" cy="13843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BC940D6-446B-8F40-A056-DE8DB730127C}"/>
              </a:ext>
            </a:extLst>
          </p:cNvPr>
          <p:cNvSpPr/>
          <p:nvPr/>
        </p:nvSpPr>
        <p:spPr>
          <a:xfrm>
            <a:off x="8382000" y="2476500"/>
            <a:ext cx="381000" cy="381000"/>
          </a:xfrm>
          <a:prstGeom prst="ellipse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2563EB"/>
                </a:solidFill>
                <a:latin typeface="Noto Sans KR"/>
              </a:rPr>
              <a:t>18</a:t>
            </a:r>
            <a:endParaRPr lang="ko-KR" altLang="en-US" sz="1300" b="1">
              <a:solidFill>
                <a:srgbClr val="2563EB"/>
              </a:solidFill>
              <a:latin typeface="Noto Sans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1BCD7C-3003-C044-863F-57C588B8C373}"/>
              </a:ext>
            </a:extLst>
          </p:cNvPr>
          <p:cNvSpPr txBox="1"/>
          <p:nvPr/>
        </p:nvSpPr>
        <p:spPr>
          <a:xfrm>
            <a:off x="8902700" y="25400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E293B"/>
                </a:solidFill>
                <a:latin typeface="Noto Sans KR"/>
              </a:rPr>
              <a:t>실습</a:t>
            </a:r>
            <a:r>
              <a:rPr lang="en-US" altLang="ko-KR" sz="1500" b="1">
                <a:solidFill>
                  <a:srgbClr val="1E293B"/>
                </a:solidFill>
                <a:latin typeface="Noto Sans KR"/>
              </a:rPr>
              <a:t>: </a:t>
            </a:r>
            <a:r>
              <a:rPr lang="ko-KR" altLang="en-US" sz="1500" b="1">
                <a:solidFill>
                  <a:srgbClr val="1E293B"/>
                </a:solidFill>
                <a:latin typeface="Noto Sans KR"/>
              </a:rPr>
              <a:t>내 업무 개선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9B0E9-18A1-F146-AE51-00FF89AC8EAE}"/>
              </a:ext>
            </a:extLst>
          </p:cNvPr>
          <p:cNvSpPr txBox="1"/>
          <p:nvPr/>
        </p:nvSpPr>
        <p:spPr>
          <a:xfrm>
            <a:off x="8382000" y="3073400"/>
            <a:ext cx="311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64748B"/>
                </a:solidFill>
                <a:latin typeface="Noto Sans KR"/>
              </a:rPr>
              <a:t>아이디어 찾기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B0BF8D-3B6D-734B-88E1-7DF0AA40BCDA}"/>
              </a:ext>
            </a:extLst>
          </p:cNvPr>
          <p:cNvSpPr/>
          <p:nvPr/>
        </p:nvSpPr>
        <p:spPr>
          <a:xfrm>
            <a:off x="2451100" y="4064000"/>
            <a:ext cx="3492500" cy="1384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2F29EA1-C728-B442-B7C6-C8018F32A386}"/>
              </a:ext>
            </a:extLst>
          </p:cNvPr>
          <p:cNvSpPr/>
          <p:nvPr/>
        </p:nvSpPr>
        <p:spPr>
          <a:xfrm>
            <a:off x="2451100" y="4064000"/>
            <a:ext cx="63500" cy="13843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41173AE-DBDF-4647-9959-EB890074BCA5}"/>
              </a:ext>
            </a:extLst>
          </p:cNvPr>
          <p:cNvSpPr/>
          <p:nvPr/>
        </p:nvSpPr>
        <p:spPr>
          <a:xfrm>
            <a:off x="2641600" y="4254500"/>
            <a:ext cx="381000" cy="381000"/>
          </a:xfrm>
          <a:prstGeom prst="ellipse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2563EB"/>
                </a:solidFill>
                <a:latin typeface="Noto Sans KR"/>
              </a:rPr>
              <a:t>19</a:t>
            </a:r>
            <a:endParaRPr lang="ko-KR" altLang="en-US" sz="1300" b="1">
              <a:solidFill>
                <a:srgbClr val="2563EB"/>
              </a:solidFill>
              <a:latin typeface="Noto Sans K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3EB894-7901-484E-B7C4-953E84BC6726}"/>
              </a:ext>
            </a:extLst>
          </p:cNvPr>
          <p:cNvSpPr txBox="1"/>
          <p:nvPr/>
        </p:nvSpPr>
        <p:spPr>
          <a:xfrm>
            <a:off x="3162300" y="43180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E293B"/>
                </a:solidFill>
                <a:latin typeface="Noto Sans KR"/>
              </a:rPr>
              <a:t>조별 공유 및 피드백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52C007-6342-944A-A144-4F51539306E7}"/>
              </a:ext>
            </a:extLst>
          </p:cNvPr>
          <p:cNvSpPr txBox="1"/>
          <p:nvPr/>
        </p:nvSpPr>
        <p:spPr>
          <a:xfrm>
            <a:off x="2641600" y="4851400"/>
            <a:ext cx="311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64748B"/>
                </a:solidFill>
                <a:latin typeface="Noto Sans KR"/>
              </a:rPr>
              <a:t>팀별 발표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20FAF9D-E8FE-F649-9C4A-96F8FD89EA98}"/>
              </a:ext>
            </a:extLst>
          </p:cNvPr>
          <p:cNvSpPr/>
          <p:nvPr/>
        </p:nvSpPr>
        <p:spPr>
          <a:xfrm>
            <a:off x="6261100" y="4064000"/>
            <a:ext cx="3492500" cy="13843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B438ACC-FC51-5545-B625-C9B44B011D1D}"/>
              </a:ext>
            </a:extLst>
          </p:cNvPr>
          <p:cNvSpPr/>
          <p:nvPr/>
        </p:nvSpPr>
        <p:spPr>
          <a:xfrm>
            <a:off x="6261100" y="4064000"/>
            <a:ext cx="63500" cy="13843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D73FF39-AF32-C146-B85C-9CE286F0A593}"/>
              </a:ext>
            </a:extLst>
          </p:cNvPr>
          <p:cNvSpPr/>
          <p:nvPr/>
        </p:nvSpPr>
        <p:spPr>
          <a:xfrm>
            <a:off x="6451600" y="4254500"/>
            <a:ext cx="381000" cy="381000"/>
          </a:xfrm>
          <a:prstGeom prst="ellipse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2563EB"/>
                </a:solidFill>
                <a:latin typeface="Noto Sans KR"/>
              </a:rPr>
              <a:t>20</a:t>
            </a:r>
            <a:endParaRPr lang="ko-KR" altLang="en-US" sz="1300" b="1">
              <a:solidFill>
                <a:srgbClr val="2563EB"/>
              </a:solidFill>
              <a:latin typeface="Noto Sans K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DBF356-D67D-D24D-A126-785B9259C484}"/>
              </a:ext>
            </a:extLst>
          </p:cNvPr>
          <p:cNvSpPr txBox="1"/>
          <p:nvPr/>
        </p:nvSpPr>
        <p:spPr>
          <a:xfrm>
            <a:off x="6972300" y="43180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1E293B"/>
                </a:solidFill>
                <a:latin typeface="Noto Sans KR"/>
              </a:rPr>
              <a:t>일하는 방식의 변화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C13B58-0028-A640-A053-8F614D529F70}"/>
              </a:ext>
            </a:extLst>
          </p:cNvPr>
          <p:cNvSpPr txBox="1"/>
          <p:nvPr/>
        </p:nvSpPr>
        <p:spPr>
          <a:xfrm>
            <a:off x="6451600" y="4851400"/>
            <a:ext cx="311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64748B"/>
                </a:solidFill>
                <a:latin typeface="Noto Sans KR"/>
              </a:rPr>
              <a:t>마무리</a:t>
            </a: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92673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286000"/>
            <a:ext cx="11106302" cy="1333195"/>
          </a:xfrm>
          <a:prstGeom prst="roundRect">
            <a:avLst>
              <a:gd name="adj" fmla="val 11758"/>
            </a:avLst>
          </a:prstGeom>
          <a:solidFill>
            <a:srgbClr val="FFFFFF">
              <a:alpha val="95000"/>
            </a:srgbClr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571500" y="2286000"/>
            <a:ext cx="57607" cy="1333195"/>
          </a:xfrm>
          <a:prstGeom prst="roundRect">
            <a:avLst>
              <a:gd name="adj" fmla="val 272110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571500" y="3762756"/>
            <a:ext cx="11106302" cy="1333195"/>
          </a:xfrm>
          <a:prstGeom prst="roundRect">
            <a:avLst>
              <a:gd name="adj" fmla="val 11758"/>
            </a:avLst>
          </a:prstGeom>
          <a:solidFill>
            <a:srgbClr val="FFFFFF">
              <a:alpha val="95000"/>
            </a:srgbClr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71500" y="3762756"/>
            <a:ext cx="57607" cy="1333195"/>
          </a:xfrm>
          <a:prstGeom prst="roundRect">
            <a:avLst>
              <a:gd name="adj" fmla="val 272110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71500" y="5238598"/>
            <a:ext cx="11106302" cy="1333195"/>
          </a:xfrm>
          <a:prstGeom prst="roundRect">
            <a:avLst>
              <a:gd name="adj" fmla="val 11758"/>
            </a:avLst>
          </a:prstGeom>
          <a:solidFill>
            <a:srgbClr val="FFFFFF">
              <a:alpha val="95000"/>
            </a:srgbClr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238598"/>
            <a:ext cx="57607" cy="1333195"/>
          </a:xfrm>
          <a:prstGeom prst="roundRect">
            <a:avLst>
              <a:gd name="adj" fmla="val 272110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3539ade24535c3f7ef871765ffa2119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476402"/>
            <a:ext cx="152705" cy="1527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" y="381305"/>
            <a:ext cx="1285646" cy="342900"/>
          </a:xfrm>
          <a:prstGeom prst="roundRect">
            <a:avLst>
              <a:gd name="adj" fmla="val 2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952805" y="381305"/>
            <a:ext cx="7525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필요성 분석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857707"/>
            <a:ext cx="110496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 </a:t>
            </a:r>
            <a:r>
              <a:rPr lang="en-US" sz="3300" b="1" kern="0" spc="-66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업무프로세스개선</a:t>
            </a:r>
            <a:r>
              <a:rPr lang="en-US" sz="3300" b="1" kern="0" spc="-66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</a:t>
            </a:r>
            <a:endParaRPr lang="en-US" sz="3300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1571854"/>
            <a:ext cx="110496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 조직의 업무는 단순히 일을 많이 하는 방식에서 벗어나, 같은 시간 안에 더 정확하고 빠르게 성과를 만드는 방식으로 변화하고 있습니다.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57707" y="2667305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007B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gen-dedup-857410646b431981a2826f15ee00f6fa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1009498" y="2819095"/>
            <a:ext cx="267005" cy="2670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14500" y="2476195"/>
            <a:ext cx="9525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보편화와 업무 방식 변화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1714500" y="2885846"/>
            <a:ext cx="9525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AI가 보편화되면서 보고서 작성, 회의록 정리 등 다양한 업무를 보조할 수 있게 되었습니다.</a:t>
            </a:r>
            <a:endParaRPr lang="en-US" sz="1500" dirty="0"/>
          </a:p>
          <a:p>
            <a:pPr marL="0" indent="0" algn="l">
              <a:buNone/>
            </a:pPr>
            <a:r>
              <a:rPr lang="en-US" sz="15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업무프로세스개선은 단순한 효율화를 넘어, AI 시대에 맞는 일하는 방식의 재구성입니다.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57707" y="414314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007B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gen-dedup-a7a07a80bf3e99a4aa38a967638fa0a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9498" y="4295851"/>
            <a:ext cx="267005" cy="2670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714500" y="3952951"/>
            <a:ext cx="9525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업무량과 복잡도 증가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1714500" y="4362602"/>
            <a:ext cx="9525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환경이 다변화되면서 처리해야 할 정보의 양과 의사결정의 복잡도가 크게 증가했습니다.</a:t>
            </a:r>
            <a:endParaRPr lang="en-US" sz="1500" dirty="0"/>
          </a:p>
          <a:p>
            <a:pPr marL="0" indent="0" algn="l">
              <a:buNone/>
            </a:pPr>
            <a:r>
              <a:rPr lang="en-US" sz="15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채널의 분산과 관리 비용 상승을 통제하기 위해 체계적인 프로세스 정립이 필수적입니다.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57707" y="5619902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007B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gen-dedup-9a58017c819069e4be983fe59623d5ba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9498" y="5772607"/>
            <a:ext cx="267005" cy="2670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14500" y="5429707"/>
            <a:ext cx="9525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개선의 본질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1714500" y="5838444"/>
            <a:ext cx="9525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업무를 무조건 줄이는 것이 아니라, 불필요한 절차를 제거하고 반복업무를 표준화하는 것입니다.</a:t>
            </a:r>
            <a:endParaRPr lang="en-US" sz="1500" dirty="0"/>
          </a:p>
          <a:p>
            <a:pPr marL="0" indent="0" algn="l">
              <a:buNone/>
            </a:pPr>
            <a:r>
              <a:rPr lang="en-US" sz="1500" kern="0" spc="-37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결과적으로 사람의 창의적 판단이 필요한 핵심 업무에 더 많은 시간을 투입할 수 있도록 돕습니다.</a:t>
            </a:r>
            <a:endParaRPr lang="en-US" sz="15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1695" y="476402"/>
            <a:ext cx="1524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c2253ccbdc37852f571cb2b58bf487f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253" y="590702"/>
            <a:ext cx="152705" cy="1527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36853" y="476402"/>
            <a:ext cx="76325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61695" y="1047902"/>
            <a:ext cx="680953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프로세스 개선 기대효과</a:t>
            </a:r>
            <a:endParaRPr lang="en-US" sz="3300" dirty="0"/>
          </a:p>
        </p:txBody>
      </p:sp>
      <p:pic>
        <p:nvPicPr>
          <p:cNvPr id="8" name="Image 2" descr="gen-dedup-62f7c8c57b3070b2fd98f0b67f08c49f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761695" y="2095805"/>
            <a:ext cx="3333902" cy="419069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143000" y="2476195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32a714f7048fa8e475ed30e9d9389613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1314907" y="2648102"/>
            <a:ext cx="267005" cy="26700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3314700"/>
            <a:ext cx="2572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효율성 증대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4011260"/>
            <a:ext cx="2572207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중복 프로세스를 제거하고 자동화 시스템을 도입하여 전체적인 업무 처리 속도를 향상시킵니다.</a:t>
            </a:r>
            <a:endParaRPr lang="en-US" sz="1300" dirty="0"/>
          </a:p>
        </p:txBody>
      </p:sp>
      <p:pic>
        <p:nvPicPr>
          <p:cNvPr id="13" name="Image 4" descr="gen-dedup-62f7c8c57b3070b2fd98f0b67f08c49f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4429354" y="2095805"/>
            <a:ext cx="3333902" cy="4190695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809744" y="2476195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5" descr="gen-dedup-c4de7730c3d1d8a9c445d6fe57dba98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81651" y="2648102"/>
            <a:ext cx="267005" cy="26700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09744" y="3314700"/>
            <a:ext cx="2572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정확도 향상</a:t>
            </a:r>
            <a:endParaRPr lang="en-US" sz="1800" dirty="0"/>
          </a:p>
        </p:txBody>
      </p:sp>
      <p:sp>
        <p:nvSpPr>
          <p:cNvPr id="17" name="Text 9"/>
          <p:cNvSpPr txBox="1"/>
          <p:nvPr/>
        </p:nvSpPr>
        <p:spPr>
          <a:xfrm>
            <a:off x="4809744" y="4011260"/>
            <a:ext cx="2572207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수기 입력 과정을 디지털로 전환하여 휴먼 에러를 최소화하고 실시간 데이터 동기화를 통해 정보의 신뢰성을 확보합니다.</a:t>
            </a:r>
            <a:endParaRPr lang="en-US" sz="1300" dirty="0"/>
          </a:p>
        </p:txBody>
      </p:sp>
      <p:pic>
        <p:nvPicPr>
          <p:cNvPr id="18" name="Image 6" descr="gen-dedup-62f7c8c57b3070b2fd98f0b67f08c49f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8096098" y="2095805"/>
            <a:ext cx="3333902" cy="4190695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8477402" y="2476195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7" descr="gen-dedup-b1ed31b1737c74f3c472764577b2c4e8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648395" y="2648102"/>
            <a:ext cx="267005" cy="26700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8477402" y="3314700"/>
            <a:ext cx="2572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비용 절감</a:t>
            </a:r>
            <a:endParaRPr lang="en-US" sz="1800" dirty="0"/>
          </a:p>
        </p:txBody>
      </p:sp>
      <p:sp>
        <p:nvSpPr>
          <p:cNvPr id="22" name="Text 12"/>
          <p:cNvSpPr txBox="1"/>
          <p:nvPr/>
        </p:nvSpPr>
        <p:spPr>
          <a:xfrm>
            <a:off x="8477402" y="4011260"/>
            <a:ext cx="2572207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리소스 낭비를 방지하고 최적화된 업무 배분을 통해 운영 비용을 줄이고 인적 자원이 고부가가치 업무에 집중하도록 돕습니다.</a:t>
            </a:r>
            <a:endParaRPr lang="en-US" sz="13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1695" y="1904695"/>
            <a:ext cx="10744200" cy="1333195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61695" y="1904695"/>
            <a:ext cx="75895" cy="1333195"/>
          </a:xfrm>
          <a:prstGeom prst="roundRect">
            <a:avLst>
              <a:gd name="adj" fmla="val 27538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3524098"/>
            <a:ext cx="10744200" cy="1333195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3524098"/>
            <a:ext cx="75895" cy="1333195"/>
          </a:xfrm>
          <a:prstGeom prst="roundRect">
            <a:avLst>
              <a:gd name="adj" fmla="val 27538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5143500"/>
            <a:ext cx="10744200" cy="1333195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143500"/>
            <a:ext cx="75895" cy="1333195"/>
          </a:xfrm>
          <a:prstGeom prst="roundRect">
            <a:avLst>
              <a:gd name="adj" fmla="val 27538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83292" y="2371050"/>
            <a:ext cx="4286707" cy="381305"/>
          </a:xfrm>
          <a:prstGeom prst="roundRect">
            <a:avLst>
              <a:gd name="adj" fmla="val 239808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583292" y="3990452"/>
            <a:ext cx="4286707" cy="381305"/>
          </a:xfrm>
          <a:prstGeom prst="roundRect">
            <a:avLst>
              <a:gd name="adj" fmla="val 239808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583292" y="5609854"/>
            <a:ext cx="4286707" cy="381305"/>
          </a:xfrm>
          <a:prstGeom prst="roundRect">
            <a:avLst>
              <a:gd name="adj" fmla="val 239808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583292" y="2371050"/>
            <a:ext cx="1714500" cy="381305"/>
          </a:xfrm>
          <a:prstGeom prst="roundRect">
            <a:avLst>
              <a:gd name="adj" fmla="val 239808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583292" y="3990452"/>
            <a:ext cx="2572207" cy="381305"/>
          </a:xfrm>
          <a:prstGeom prst="roundRect">
            <a:avLst>
              <a:gd name="adj" fmla="val 239808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583292" y="5609854"/>
            <a:ext cx="1495044" cy="381305"/>
          </a:xfrm>
          <a:prstGeom prst="roundRect">
            <a:avLst>
              <a:gd name="adj" fmla="val 239808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61695" y="476402"/>
            <a:ext cx="1524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gen-dedup-c2253ccbdc37852f571cb2b58bf487f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253" y="590702"/>
            <a:ext cx="152705" cy="1527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36853" y="476402"/>
            <a:ext cx="8536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61695" y="1047902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업무프로세스개선 </a:t>
            </a:r>
            <a:r>
              <a:rPr lang="en-US" sz="3300" b="1" kern="0" spc="-66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 (목표 예시)</a:t>
            </a:r>
            <a:endParaRPr lang="en-US" sz="3300" dirty="0"/>
          </a:p>
        </p:txBody>
      </p:sp>
      <p:pic>
        <p:nvPicPr>
          <p:cNvPr id="20" name="Image 2" descr="gen-dedup-861eb3804599c7a43fe11a1755e884d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90549" y="2381098"/>
            <a:ext cx="381305" cy="3813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809598" y="2238451"/>
            <a:ext cx="236006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시간 단축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1809598" y="2651760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요약 및 자동화 도입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665208" y="2286000"/>
            <a:ext cx="1485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-40%</a:t>
            </a:r>
            <a:endParaRPr lang="en-US" sz="4500" dirty="0"/>
          </a:p>
        </p:txBody>
      </p:sp>
      <p:pic>
        <p:nvPicPr>
          <p:cNvPr id="24" name="Image 3" descr="gen-dedup-3000938b25ac3e6c230a4a201c16871f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90549" y="4000500"/>
            <a:ext cx="381305" cy="3813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809598" y="3857854"/>
            <a:ext cx="2095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오류율 감소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1809598" y="4271162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 제거 및 템플릿화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665208" y="3905402"/>
            <a:ext cx="1485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5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-60%</a:t>
            </a:r>
            <a:endParaRPr lang="en-US" sz="4500" dirty="0"/>
          </a:p>
        </p:txBody>
      </p:sp>
      <p:pic>
        <p:nvPicPr>
          <p:cNvPr id="28" name="Image 4" descr="gen-dedup-319d431eed62ab2fb24754dd2afc245a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90549" y="5619902"/>
            <a:ext cx="381305" cy="3813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809598" y="5429707"/>
            <a:ext cx="236006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만족도 향상</a:t>
            </a:r>
            <a:endParaRPr lang="en-US" sz="2400" dirty="0"/>
          </a:p>
        </p:txBody>
      </p:sp>
      <p:sp>
        <p:nvSpPr>
          <p:cNvPr id="30" name="Text 23"/>
          <p:cNvSpPr txBox="1"/>
          <p:nvPr/>
        </p:nvSpPr>
        <p:spPr>
          <a:xfrm>
            <a:off x="1809598" y="6207862"/>
            <a:ext cx="2095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 품질 및 일관성 확보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9536278" y="5524805"/>
            <a:ext cx="16102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5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+35%</a:t>
            </a:r>
            <a:endParaRPr lang="en-US" sz="45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81305"/>
            <a:ext cx="1333195" cy="342900"/>
          </a:xfrm>
          <a:prstGeom prst="roundRect">
            <a:avLst>
              <a:gd name="adj" fmla="val 2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gen-dedup-1d5830366955ad56d2ea9257d4151057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761695" y="2095805"/>
            <a:ext cx="10705795" cy="3086100"/>
          </a:xfrm>
          <a:prstGeom prst="rect">
            <a:avLst/>
          </a:prstGeom>
        </p:spPr>
      </p:pic>
      <p:pic>
        <p:nvPicPr>
          <p:cNvPr id="5" name="Image 2" descr="gen-dedup-dd8a31e16cabf4f86131f640b5bf0eab.png"/>
          <p:cNvPicPr>
            <a:picLocks noChangeAspect="1"/>
          </p:cNvPicPr>
          <p:nvPr/>
        </p:nvPicPr>
        <p:blipFill>
          <a:blip r:embed="rId5"/>
          <a:srcRect t="-6250" b="-6250"/>
          <a:stretch/>
        </p:blipFill>
        <p:spPr>
          <a:xfrm>
            <a:off x="733349" y="476402"/>
            <a:ext cx="152705" cy="15270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000354" y="437998"/>
            <a:ext cx="810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개념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952805"/>
            <a:ext cx="110496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업무프로세스의 </a:t>
            </a:r>
            <a:r>
              <a:rPr lang="en-US" sz="3900" b="1" kern="0" spc="-78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</a:t>
            </a:r>
            <a:endParaRPr lang="en-US" sz="3900" dirty="0"/>
          </a:p>
        </p:txBody>
      </p:sp>
      <p:pic>
        <p:nvPicPr>
          <p:cNvPr id="8" name="Image 3" descr="gen-dedup-aac97a2eea3b6b192577528a68369a52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1143000" y="2547518"/>
            <a:ext cx="571500" cy="571500"/>
          </a:xfrm>
          <a:prstGeom prst="rect">
            <a:avLst/>
          </a:prstGeom>
        </p:spPr>
      </p:pic>
      <p:pic>
        <p:nvPicPr>
          <p:cNvPr id="9" name="Image 4" descr="gen-dedup-116615db672b1f0fb3482afd8676859c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10477195" y="4358030"/>
            <a:ext cx="571500" cy="571500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945605" y="2764262"/>
            <a:ext cx="9144000" cy="175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3400" b="1" kern="0" spc="-34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</a:t>
            </a:r>
            <a:r>
              <a:rPr lang="en-US" sz="3400" b="1" kern="0" spc="-34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특정한</a:t>
            </a:r>
            <a:r>
              <a:rPr lang="en-US" sz="3400" b="1" kern="0" spc="-34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</a:t>
            </a:r>
            <a:r>
              <a:rPr lang="en-US" sz="3400" b="1" kern="0" spc="-34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</a:t>
            </a:r>
            <a:r>
              <a:rPr lang="en-US" sz="3400" b="1" kern="0" spc="-34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만들기 위해</a:t>
            </a:r>
            <a:endParaRPr lang="en-US" sz="3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3400" b="1" kern="0" spc="-34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여러 업무 단계가 " </a:t>
            </a:r>
            <a:endParaRPr lang="en-US" sz="3400" dirty="0"/>
          </a:p>
        </p:txBody>
      </p:sp>
      <p:sp>
        <p:nvSpPr>
          <p:cNvPr id="11" name="Shape 4"/>
          <p:cNvSpPr/>
          <p:nvPr/>
        </p:nvSpPr>
        <p:spPr>
          <a:xfrm>
            <a:off x="3693937" y="2820191"/>
            <a:ext cx="1543507" cy="866851"/>
          </a:xfrm>
          <a:prstGeom prst="roundRect">
            <a:avLst>
              <a:gd name="adj" fmla="val 18547"/>
            </a:avLst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5"/>
          <p:cNvSpPr txBox="1"/>
          <p:nvPr/>
        </p:nvSpPr>
        <p:spPr>
          <a:xfrm>
            <a:off x="3542765" y="2841986"/>
            <a:ext cx="1768289" cy="8668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38100" rIns="152400" bIns="38100" rtlCol="0" anchor="ctr"/>
          <a:lstStyle/>
          <a:p>
            <a:pPr marL="0" indent="0" algn="ctr">
              <a:buNone/>
            </a:pPr>
            <a:r>
              <a:rPr lang="en-US" sz="3400" b="1" kern="0" spc="-34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endParaRPr lang="en-US" sz="3400" dirty="0"/>
          </a:p>
        </p:txBody>
      </p:sp>
      <p:sp>
        <p:nvSpPr>
          <p:cNvPr id="13" name="Shape 6"/>
          <p:cNvSpPr/>
          <p:nvPr/>
        </p:nvSpPr>
        <p:spPr>
          <a:xfrm>
            <a:off x="5744480" y="3841425"/>
            <a:ext cx="4172407" cy="866851"/>
          </a:xfrm>
          <a:prstGeom prst="roundRect">
            <a:avLst>
              <a:gd name="adj" fmla="val 18547"/>
            </a:avLst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 txBox="1"/>
          <p:nvPr/>
        </p:nvSpPr>
        <p:spPr>
          <a:xfrm>
            <a:off x="5153219" y="3881809"/>
            <a:ext cx="5449824" cy="8668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38100" rIns="152400" bIns="38100" rtlCol="0" anchor="ctr"/>
          <a:lstStyle/>
          <a:p>
            <a:pPr marL="0" indent="0" algn="ctr">
              <a:buNone/>
            </a:pPr>
            <a:r>
              <a:rPr lang="en-US" sz="3400" b="1" kern="0" spc="-34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순서대로 연결된 흐름</a:t>
            </a:r>
            <a:endParaRPr lang="en-US" sz="3400" dirty="0"/>
          </a:p>
        </p:txBody>
      </p:sp>
      <p:sp>
        <p:nvSpPr>
          <p:cNvPr id="15" name="Text 8"/>
          <p:cNvSpPr txBox="1"/>
          <p:nvPr/>
        </p:nvSpPr>
        <p:spPr>
          <a:xfrm>
            <a:off x="761695" y="5810098"/>
            <a:ext cx="10668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프로세스를 이해하는 것이 모든 업무 개선의 첫 걸음입니다.</a:t>
            </a:r>
            <a:endParaRPr lang="en-US" sz="1800" dirty="0"/>
          </a:p>
        </p:txBody>
      </p:sp>
      <p:sp>
        <p:nvSpPr>
          <p:cNvPr id="1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1333195" cy="342900"/>
          </a:xfrm>
          <a:prstGeom prst="roundRect">
            <a:avLst>
              <a:gd name="adj" fmla="val 2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ecbdb6050b1377fe6de170c3605981a3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761695" y="2095805"/>
            <a:ext cx="3258007" cy="427664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47902" y="2476195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2" descr="gen-dedup-ecbdb6050b1377fe6de170c3605981a3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4476902" y="2095805"/>
            <a:ext cx="3258007" cy="4276649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762195" y="2476195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3" descr="gen-dedup-ecbdb6050b1377fe6de170c3605981a3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8191195" y="2095805"/>
            <a:ext cx="3258007" cy="4276649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477402" y="2476195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4" descr="gen-dedup-2d9fddbaf7e80afac52dec7080072f6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3349" y="476402"/>
            <a:ext cx="152705" cy="15270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00354" y="437998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특징</a:t>
            </a:r>
            <a:endParaRPr lang="en-US" sz="1200" dirty="0"/>
          </a:p>
        </p:txBody>
      </p:sp>
      <p:sp>
        <p:nvSpPr>
          <p:cNvPr id="13" name="Text 6"/>
          <p:cNvSpPr txBox="1"/>
          <p:nvPr/>
        </p:nvSpPr>
        <p:spPr>
          <a:xfrm>
            <a:off x="571500" y="952805"/>
            <a:ext cx="110496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업무프로세스의 </a:t>
            </a:r>
            <a:r>
              <a:rPr lang="en-US" sz="3900" b="1" kern="0" spc="-78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3가지 핵심 특징</a:t>
            </a:r>
            <a:endParaRPr lang="en-US" sz="3900" dirty="0"/>
          </a:p>
        </p:txBody>
      </p:sp>
      <p:pic>
        <p:nvPicPr>
          <p:cNvPr id="14" name="Image 5" descr="gen-dedup-dc70dcaba782f3ac45d9440c01aacb29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57300" y="2686507"/>
            <a:ext cx="342900" cy="3429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047902" y="3476549"/>
            <a:ext cx="2667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목표와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kern="0" spc="-48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endParaRPr lang="en-US" sz="2400" dirty="0"/>
          </a:p>
        </p:txBody>
      </p:sp>
      <p:sp>
        <p:nvSpPr>
          <p:cNvPr id="16" name="Text 8"/>
          <p:cNvSpPr txBox="1"/>
          <p:nvPr/>
        </p:nvSpPr>
        <p:spPr>
          <a:xfrm>
            <a:off x="1047902" y="4600179"/>
            <a:ext cx="2667305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프로세스는 특정한 목적을 달성하기 위해 존재하며, 각 단계마다 기대되는 구체적인 산출물이 명확히 정의되어야 합니다.</a:t>
            </a:r>
            <a:endParaRPr lang="en-US" sz="1400" dirty="0"/>
          </a:p>
        </p:txBody>
      </p:sp>
      <p:pic>
        <p:nvPicPr>
          <p:cNvPr id="17" name="Image 6" descr="gen-dedup-b125adf59da33784fd64939658ff20d3.png"/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4972507" y="2686507"/>
            <a:ext cx="342900" cy="34290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4762195" y="3476549"/>
            <a:ext cx="2667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순차적 단계와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kern="0" spc="-48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</a:t>
            </a:r>
            <a:endParaRPr lang="en-US" sz="2400" dirty="0"/>
          </a:p>
        </p:txBody>
      </p:sp>
      <p:sp>
        <p:nvSpPr>
          <p:cNvPr id="19" name="Text 10"/>
          <p:cNvSpPr txBox="1"/>
          <p:nvPr/>
        </p:nvSpPr>
        <p:spPr>
          <a:xfrm>
            <a:off x="4762195" y="4600179"/>
            <a:ext cx="266730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업무는 시간과 논리의 순서에 따라 단계별로 자연스럽게 연결되며, 병목 현상 없이 유기적으로 흘러가도록 설계되어야 합니다.</a:t>
            </a:r>
            <a:endParaRPr lang="en-US" sz="1400" dirty="0"/>
          </a:p>
        </p:txBody>
      </p:sp>
      <p:pic>
        <p:nvPicPr>
          <p:cNvPr id="20" name="Image 7" descr="gen-dedup-a01cfad304fe350a7270d6cfe3395d84.png"/>
          <p:cNvPicPr>
            <a:picLocks noChangeAspect="1"/>
          </p:cNvPicPr>
          <p:nvPr/>
        </p:nvPicPr>
        <p:blipFill>
          <a:blip r:embed="rId8"/>
          <a:srcRect t="-12500" b="-12500"/>
          <a:stretch/>
        </p:blipFill>
        <p:spPr>
          <a:xfrm>
            <a:off x="8686800" y="2686507"/>
            <a:ext cx="342900" cy="3429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8477402" y="3476549"/>
            <a:ext cx="2667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담당자와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kern="0" spc="-48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분담</a:t>
            </a:r>
            <a:endParaRPr lang="en-US" sz="2400" dirty="0"/>
          </a:p>
        </p:txBody>
      </p:sp>
      <p:sp>
        <p:nvSpPr>
          <p:cNvPr id="22" name="Text 12"/>
          <p:cNvSpPr txBox="1"/>
          <p:nvPr/>
        </p:nvSpPr>
        <p:spPr>
          <a:xfrm>
            <a:off x="8477402" y="4600179"/>
            <a:ext cx="266730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업무 단계별로 수행 주체와 권한, 책임 소재가 명확하게 지정되어 관련 부서나 담당자 간에 혼선 없이 원활한 협업이 이루어져야 합니다.</a:t>
            </a:r>
            <a:endParaRPr lang="en-US" sz="14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6402" y="333756"/>
            <a:ext cx="1047902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76402" y="2000707"/>
            <a:ext cx="5429707" cy="2143354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76402" y="2000707"/>
            <a:ext cx="57607" cy="2143354"/>
          </a:xfrm>
          <a:prstGeom prst="roundRect">
            <a:avLst>
              <a:gd name="adj" fmla="val 169313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286500" y="2000707"/>
            <a:ext cx="5429707" cy="2143354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286500" y="2000707"/>
            <a:ext cx="57607" cy="2143354"/>
          </a:xfrm>
          <a:prstGeom prst="roundRect">
            <a:avLst>
              <a:gd name="adj" fmla="val 169313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402" y="4381805"/>
            <a:ext cx="5429707" cy="2143354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402" y="4381805"/>
            <a:ext cx="57607" cy="2143354"/>
          </a:xfrm>
          <a:prstGeom prst="roundRect">
            <a:avLst>
              <a:gd name="adj" fmla="val 169313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4381805"/>
            <a:ext cx="5429707" cy="2143354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381805"/>
            <a:ext cx="57607" cy="2143354"/>
          </a:xfrm>
          <a:prstGeom prst="roundRect">
            <a:avLst>
              <a:gd name="adj" fmla="val 169313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gen-dedup-0f901661b4fd15aad032082ae934fb6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0702" y="426110"/>
            <a:ext cx="133502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09244" y="390449"/>
            <a:ext cx="667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분석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76402" y="761695"/>
            <a:ext cx="7620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비효율 업무의 </a:t>
            </a:r>
            <a:r>
              <a:rPr lang="en-US" sz="3100" b="1" kern="0" spc="-63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유형 (1-4)</a:t>
            </a:r>
            <a:endParaRPr lang="en-US" sz="3100" dirty="0"/>
          </a:p>
        </p:txBody>
      </p:sp>
      <p:sp>
        <p:nvSpPr>
          <p:cNvPr id="16" name="Text 12"/>
          <p:cNvSpPr txBox="1"/>
          <p:nvPr/>
        </p:nvSpPr>
        <p:spPr>
          <a:xfrm>
            <a:off x="476402" y="1429207"/>
            <a:ext cx="10478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업무프로세스개선에서 가장 먼저 찾아야 할 것은 '비효율'입니다. 대표적인 비효율 8가지 중 1~4번을 확인하세요.</a:t>
            </a:r>
            <a:endParaRPr lang="en-US" sz="1500" dirty="0"/>
          </a:p>
        </p:txBody>
      </p:sp>
      <p:pic>
        <p:nvPicPr>
          <p:cNvPr id="17" name="Image 2" descr="gen-dedup-af99a86c9e09effd8cc4151105948d2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4146" y="2367382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38098" y="2333549"/>
            <a:ext cx="4764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238098" y="2714854"/>
            <a:ext cx="4381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업무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1238098" y="3200400"/>
            <a:ext cx="4381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작업을 매번 수작업으로 수행하는 경우.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같은 양식의 주간 보고서를 </a:t>
            </a: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다시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작성하는 것이 대표적인 예시입니다.</a:t>
            </a:r>
            <a:endParaRPr lang="en-US" sz="1300" dirty="0"/>
          </a:p>
        </p:txBody>
      </p:sp>
      <p:pic>
        <p:nvPicPr>
          <p:cNvPr id="21" name="Image 3" descr="gen-dedup-27eb34438827acc4280776ba539d2a4a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6524244" y="2367382"/>
            <a:ext cx="267005" cy="2670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48195" y="2333549"/>
            <a:ext cx="4764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048195" y="2714854"/>
            <a:ext cx="4381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입력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7048195" y="3200400"/>
            <a:ext cx="4381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데이터를 여러 시스템이나 문서에 반복해서 입력하는 경우. 엑셀, 그룹웨어, 사내 메신저에 동일한 내용을 중복해서 복사/붙여넣기 합니다.</a:t>
            </a:r>
            <a:endParaRPr lang="en-US" sz="1300" dirty="0"/>
          </a:p>
        </p:txBody>
      </p:sp>
      <p:pic>
        <p:nvPicPr>
          <p:cNvPr id="25" name="Image 4" descr="gen-dedup-b0e27c76eca344eeaeeef60c05f7e3ae.png"/>
          <p:cNvPicPr>
            <a:picLocks noChangeAspect="1"/>
          </p:cNvPicPr>
          <p:nvPr/>
        </p:nvPicPr>
        <p:blipFill>
          <a:blip r:embed="rId7"/>
          <a:srcRect t="-12500" b="-12500"/>
          <a:stretch/>
        </p:blipFill>
        <p:spPr>
          <a:xfrm>
            <a:off x="714146" y="4748479"/>
            <a:ext cx="267005" cy="2670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8098" y="4714646"/>
            <a:ext cx="4764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238098" y="5095951"/>
            <a:ext cx="4381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과도한 승인</a:t>
            </a:r>
            <a:endParaRPr lang="en-US" sz="1900" dirty="0"/>
          </a:p>
        </p:txBody>
      </p:sp>
      <p:sp>
        <p:nvSpPr>
          <p:cNvPr id="28" name="Text 21"/>
          <p:cNvSpPr txBox="1"/>
          <p:nvPr/>
        </p:nvSpPr>
        <p:spPr>
          <a:xfrm>
            <a:off x="1238098" y="5581498"/>
            <a:ext cx="4381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단계가 불필요하게 많아 지연이 발생하는 경우.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안내 문서나 적은 예산의 품의서도 3~4단계의 </a:t>
            </a: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결재를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거쳐야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승인됩니다.</a:t>
            </a:r>
            <a:endParaRPr lang="en-US" sz="1300" dirty="0"/>
          </a:p>
        </p:txBody>
      </p:sp>
      <p:pic>
        <p:nvPicPr>
          <p:cNvPr id="29" name="Image 5" descr="gen-dedup-a05b52f4f121362ce8a0466a32875969.png"/>
          <p:cNvPicPr>
            <a:picLocks noChangeAspect="1"/>
          </p:cNvPicPr>
          <p:nvPr/>
        </p:nvPicPr>
        <p:blipFill>
          <a:blip r:embed="rId8"/>
          <a:srcRect t="-12500" b="-12500"/>
          <a:stretch/>
        </p:blipFill>
        <p:spPr>
          <a:xfrm>
            <a:off x="6524244" y="4748479"/>
            <a:ext cx="267005" cy="26700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048195" y="4714646"/>
            <a:ext cx="4764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7048195" y="5095951"/>
            <a:ext cx="4381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단절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7048195" y="5581498"/>
            <a:ext cx="4381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업무에 필요한 자료가 여러 곳에 흩어져 있어 찾기 힘든 경우. 이메일, 메신저, 사내 노션, 개인 PC 파일서버 등으로 정보가 분산되어 있습니다.</a:t>
            </a:r>
            <a:endParaRPr lang="en-US" sz="13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6402" y="333756"/>
            <a:ext cx="1143000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76402" y="2000707"/>
            <a:ext cx="5495544" cy="2210105"/>
          </a:xfrm>
          <a:prstGeom prst="roundRect">
            <a:avLst>
              <a:gd name="adj" fmla="val 42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76402" y="2000707"/>
            <a:ext cx="57607" cy="2210105"/>
          </a:xfrm>
          <a:prstGeom prst="roundRect">
            <a:avLst>
              <a:gd name="adj" fmla="val 164204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286500" y="2000707"/>
            <a:ext cx="5495544" cy="2210105"/>
          </a:xfrm>
          <a:prstGeom prst="roundRect">
            <a:avLst>
              <a:gd name="adj" fmla="val 42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286500" y="2000707"/>
            <a:ext cx="57607" cy="2210105"/>
          </a:xfrm>
          <a:prstGeom prst="roundRect">
            <a:avLst>
              <a:gd name="adj" fmla="val 164204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402" y="4381805"/>
            <a:ext cx="5495544" cy="2210105"/>
          </a:xfrm>
          <a:prstGeom prst="roundRect">
            <a:avLst>
              <a:gd name="adj" fmla="val 42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402" y="4381805"/>
            <a:ext cx="57607" cy="2210105"/>
          </a:xfrm>
          <a:prstGeom prst="roundRect">
            <a:avLst>
              <a:gd name="adj" fmla="val 164204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4381805"/>
            <a:ext cx="5495544" cy="2210105"/>
          </a:xfrm>
          <a:prstGeom prst="roundRect">
            <a:avLst>
              <a:gd name="adj" fmla="val 42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381805"/>
            <a:ext cx="57607" cy="2210105"/>
          </a:xfrm>
          <a:prstGeom prst="roundRect">
            <a:avLst>
              <a:gd name="adj" fmla="val 164204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gen-dedup-0f901661b4fd15aad032082ae934fb6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426110"/>
            <a:ext cx="133502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57707" y="390449"/>
            <a:ext cx="715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분석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76402" y="761695"/>
            <a:ext cx="7620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비효율 업무의 </a:t>
            </a:r>
            <a:r>
              <a:rPr lang="en-US" sz="3100" b="1" kern="0" spc="-63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유형 (5-8)</a:t>
            </a:r>
            <a:endParaRPr lang="en-US" sz="3100" dirty="0"/>
          </a:p>
        </p:txBody>
      </p:sp>
      <p:sp>
        <p:nvSpPr>
          <p:cNvPr id="16" name="Text 12"/>
          <p:cNvSpPr txBox="1"/>
          <p:nvPr/>
        </p:nvSpPr>
        <p:spPr>
          <a:xfrm>
            <a:off x="476402" y="1429207"/>
            <a:ext cx="10478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이어서 업무 효율을 떨어뜨리는 5~8번 비효율 유형을 살펴봅니다.</a:t>
            </a:r>
            <a:endParaRPr lang="en-US" sz="1500" dirty="0"/>
          </a:p>
        </p:txBody>
      </p:sp>
      <p:pic>
        <p:nvPicPr>
          <p:cNvPr id="17" name="Image 2" descr="gen-dedup-2b79116d4569cb413c8f57afc6cbaaa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4146" y="2357323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38098" y="2333549"/>
            <a:ext cx="476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238098" y="2714854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재작업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1238099" y="3181198"/>
            <a:ext cx="417149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요구사항이나 목표가 불명확하여 작업 완료 후 처음부터 다시 수행해야 하는 경우. 기획 방향이 뒤늦게 변경되는 것이 대표적입니다.</a:t>
            </a:r>
            <a:endParaRPr lang="en-US" sz="1300" dirty="0"/>
          </a:p>
        </p:txBody>
      </p:sp>
      <p:pic>
        <p:nvPicPr>
          <p:cNvPr id="21" name="Image 3" descr="gen-dedup-c564123432c8b13a4dafb109d04609f2.png"/>
          <p:cNvPicPr>
            <a:picLocks noChangeAspect="1"/>
          </p:cNvPicPr>
          <p:nvPr/>
        </p:nvPicPr>
        <p:blipFill>
          <a:blip r:embed="rId6"/>
          <a:srcRect l="-16667" r="-16667"/>
          <a:stretch/>
        </p:blipFill>
        <p:spPr>
          <a:xfrm>
            <a:off x="6524244" y="2357323"/>
            <a:ext cx="267005" cy="2670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48195" y="2333549"/>
            <a:ext cx="476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048195" y="2714854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 집계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7048196" y="3181198"/>
            <a:ext cx="417149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수집과 분석을 자동화 도구 없이 사람이 직접 엑셀로 수행하는 경우. 단순 수치 합산이나 통계 산출에 많은 시간이 소요됩니다.</a:t>
            </a:r>
            <a:endParaRPr lang="en-US" sz="1300" dirty="0"/>
          </a:p>
        </p:txBody>
      </p:sp>
      <p:pic>
        <p:nvPicPr>
          <p:cNvPr id="25" name="Image 4" descr="gen-dedup-7ab6d6cf39f23b279a7888c0d7929fc2.png"/>
          <p:cNvPicPr>
            <a:picLocks noChangeAspect="1"/>
          </p:cNvPicPr>
          <p:nvPr/>
        </p:nvPicPr>
        <p:blipFill>
          <a:blip r:embed="rId7"/>
          <a:srcRect t="-12500" b="-12500"/>
          <a:stretch/>
        </p:blipFill>
        <p:spPr>
          <a:xfrm>
            <a:off x="714146" y="4738421"/>
            <a:ext cx="267005" cy="2670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8098" y="4714646"/>
            <a:ext cx="476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238098" y="5095951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 과다</a:t>
            </a:r>
            <a:endParaRPr lang="en-US" sz="1900" dirty="0"/>
          </a:p>
        </p:txBody>
      </p:sp>
      <p:sp>
        <p:nvSpPr>
          <p:cNvPr id="28" name="Text 21"/>
          <p:cNvSpPr txBox="1"/>
          <p:nvPr/>
        </p:nvSpPr>
        <p:spPr>
          <a:xfrm>
            <a:off x="1238099" y="5562295"/>
            <a:ext cx="417149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목적이나 산출물 없이 진행되는 회의. 정보 공유만으로 끝나는 회의나 관련 없는 참석자까지 호출하는 경우가 포함됩니다.</a:t>
            </a:r>
            <a:endParaRPr lang="en-US" sz="1300" dirty="0"/>
          </a:p>
        </p:txBody>
      </p:sp>
      <p:pic>
        <p:nvPicPr>
          <p:cNvPr id="29" name="Image 5" descr="gen-dedup-78fbf09dcbf81425a94dd3d67047945f.png"/>
          <p:cNvPicPr>
            <a:picLocks noChangeAspect="1"/>
          </p:cNvPicPr>
          <p:nvPr/>
        </p:nvPicPr>
        <p:blipFill>
          <a:blip r:embed="rId8"/>
          <a:srcRect l="-16667" r="-16667"/>
          <a:stretch/>
        </p:blipFill>
        <p:spPr>
          <a:xfrm>
            <a:off x="6524244" y="4738421"/>
            <a:ext cx="267005" cy="26700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048195" y="4714646"/>
            <a:ext cx="476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7048195" y="5095951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비표준화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7048196" y="5562295"/>
            <a:ext cx="417149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담당자마다 서로 다른 양식과 구조로 문서를 작성하는 경우. 일관성이 없어 검토 시간이 늘어나고 인수인계 시 어려움이 발생합니다.</a:t>
            </a:r>
            <a:endParaRPr lang="en-US" sz="13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gen-dedup-ec0f65daa5f62823e34be470db854054.png"/>
          <p:cNvPicPr>
            <a:picLocks noChangeAspect="1"/>
          </p:cNvPicPr>
          <p:nvPr/>
        </p:nvPicPr>
        <p:blipFill>
          <a:blip r:embed="rId4"/>
          <a:srcRect t="-624" b="-624"/>
          <a:stretch/>
        </p:blipFill>
        <p:spPr>
          <a:xfrm>
            <a:off x="571500" y="381305"/>
            <a:ext cx="1218895" cy="3712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2007" y="381305"/>
            <a:ext cx="8193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진단 방법</a:t>
            </a:r>
            <a:endParaRPr lang="en-US" sz="1300" dirty="0"/>
          </a:p>
        </p:txBody>
      </p:sp>
      <p:pic>
        <p:nvPicPr>
          <p:cNvPr id="6" name="Image 2" descr="gen-dedup-36f73fc10a80b98b18a644f9aa4249bf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4205" y="478231"/>
            <a:ext cx="171907" cy="171907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861365"/>
            <a:ext cx="110496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 진단 </a:t>
            </a:r>
            <a:r>
              <a:rPr lang="en-US" sz="4200" b="1" kern="0" spc="-84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(1-3단계)</a:t>
            </a:r>
            <a:endParaRPr lang="en-US" sz="4200" dirty="0"/>
          </a:p>
        </p:txBody>
      </p:sp>
      <p:sp>
        <p:nvSpPr>
          <p:cNvPr id="8" name="Text 3"/>
          <p:cNvSpPr txBox="1"/>
          <p:nvPr/>
        </p:nvSpPr>
        <p:spPr>
          <a:xfrm>
            <a:off x="571500" y="1524305"/>
            <a:ext cx="11049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흐름을 체계적으로 분석하고 현상을 파악하는 초기 3단계</a:t>
            </a:r>
            <a:endParaRPr lang="en-US" sz="1800" dirty="0"/>
          </a:p>
        </p:txBody>
      </p:sp>
      <p:pic>
        <p:nvPicPr>
          <p:cNvPr id="9" name="Image 3" descr="gen-dedup-7a057725410c60293edd56183093d9d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1500" y="2238451"/>
            <a:ext cx="3492094" cy="4238244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09244" y="2600554"/>
            <a:ext cx="514807" cy="514807"/>
          </a:xfrm>
          <a:prstGeom prst="ellipse">
            <a:avLst/>
          </a:prstGeom>
          <a:solidFill>
            <a:srgbClr val="007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809244" y="2600554"/>
            <a:ext cx="514807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900" dirty="0"/>
          </a:p>
        </p:txBody>
      </p:sp>
      <p:pic>
        <p:nvPicPr>
          <p:cNvPr id="12" name="Image 4" descr="gen-dedup-181726c51b54ef9ec27bbef760480282.png"/>
          <p:cNvPicPr>
            <a:picLocks noChangeAspect="1"/>
          </p:cNvPicPr>
          <p:nvPr/>
        </p:nvPicPr>
        <p:blipFill>
          <a:blip r:embed="rId7">
            <a:alphaModFix amt="80000"/>
          </a:blip>
          <a:srcRect/>
          <a:stretch/>
        </p:blipFill>
        <p:spPr>
          <a:xfrm>
            <a:off x="3549701" y="2600554"/>
            <a:ext cx="276149" cy="27614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09244" y="3353105"/>
            <a:ext cx="30202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목록화</a:t>
            </a:r>
            <a:endParaRPr lang="en-US" sz="2100" dirty="0"/>
          </a:p>
        </p:txBody>
      </p:sp>
      <p:sp>
        <p:nvSpPr>
          <p:cNvPr id="14" name="Text 7"/>
          <p:cNvSpPr txBox="1"/>
          <p:nvPr/>
        </p:nvSpPr>
        <p:spPr>
          <a:xfrm>
            <a:off x="809244" y="3916375"/>
            <a:ext cx="302026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수행 중인 모든 업무를 빠짐없이 나열하여 가시화합니다. 반복도와 빈도를 체크합니다.</a:t>
            </a:r>
            <a:endParaRPr lang="en-US" sz="1500" dirty="0"/>
          </a:p>
        </p:txBody>
      </p:sp>
      <p:pic>
        <p:nvPicPr>
          <p:cNvPr id="15" name="Image 5" descr="gen-dedup-e9fa6593d9606d57488568bf3771bb8e.png"/>
          <p:cNvPicPr>
            <a:picLocks noChangeAspect="1"/>
          </p:cNvPicPr>
          <p:nvPr/>
        </p:nvPicPr>
        <p:blipFill>
          <a:blip r:embed="rId8"/>
          <a:srcRect t="-227" b="-227"/>
          <a:stretch/>
        </p:blipFill>
        <p:spPr>
          <a:xfrm>
            <a:off x="809244" y="5395874"/>
            <a:ext cx="3019349" cy="80010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809244" y="5395874"/>
            <a:ext cx="38405" cy="800100"/>
          </a:xfrm>
          <a:prstGeom prst="roundRect">
            <a:avLst>
              <a:gd name="adj" fmla="val 68026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9"/>
          <p:cNvSpPr txBox="1"/>
          <p:nvPr/>
        </p:nvSpPr>
        <p:spPr>
          <a:xfrm>
            <a:off x="1438351" y="5395874"/>
            <a:ext cx="2391156" cy="8001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52400" rIns="152400" bIns="152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반복적으로 </a:t>
            </a:r>
            <a:r>
              <a:rPr lang="en-US" sz="1300" b="1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수행하는</a:t>
            </a: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b="1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업무는</a:t>
            </a: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구체적으로 무엇인가? </a:t>
            </a:r>
            <a:endParaRPr lang="en-US" sz="1300" dirty="0"/>
          </a:p>
        </p:txBody>
      </p:sp>
      <p:pic>
        <p:nvPicPr>
          <p:cNvPr id="18" name="Image 6" descr="gen-dedup-f68e6ef45829b04c4dfa039123d0f484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00354" y="5588813"/>
            <a:ext cx="171907" cy="171907"/>
          </a:xfrm>
          <a:prstGeom prst="rect">
            <a:avLst/>
          </a:prstGeom>
        </p:spPr>
      </p:pic>
      <p:pic>
        <p:nvPicPr>
          <p:cNvPr id="19" name="Image 7" descr="gen-dedup-3653b0c599ebd4bd354b5b873883a5d1.png"/>
          <p:cNvPicPr>
            <a:picLocks noChangeAspect="1"/>
          </p:cNvPicPr>
          <p:nvPr/>
        </p:nvPicPr>
        <p:blipFill>
          <a:blip r:embed="rId10"/>
          <a:srcRect t="-2" b="-2"/>
          <a:stretch/>
        </p:blipFill>
        <p:spPr>
          <a:xfrm>
            <a:off x="4349801" y="2238451"/>
            <a:ext cx="3492094" cy="4238244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4587545" y="2600554"/>
            <a:ext cx="514807" cy="514807"/>
          </a:xfrm>
          <a:prstGeom prst="ellipse">
            <a:avLst/>
          </a:prstGeom>
          <a:solidFill>
            <a:srgbClr val="007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1"/>
          <p:cNvSpPr/>
          <p:nvPr/>
        </p:nvSpPr>
        <p:spPr>
          <a:xfrm>
            <a:off x="4587545" y="2600554"/>
            <a:ext cx="514807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900" dirty="0"/>
          </a:p>
        </p:txBody>
      </p:sp>
      <p:pic>
        <p:nvPicPr>
          <p:cNvPr id="22" name="Image 8" descr="gen-dedup-cf0db44a5d6d9a8fe1dd2f381c1210a9.png"/>
          <p:cNvPicPr>
            <a:picLocks noChangeAspect="1"/>
          </p:cNvPicPr>
          <p:nvPr/>
        </p:nvPicPr>
        <p:blipFill>
          <a:blip r:embed="rId11">
            <a:alphaModFix amt="80000"/>
          </a:blip>
          <a:srcRect t="-1013" b="-1013"/>
          <a:stretch/>
        </p:blipFill>
        <p:spPr>
          <a:xfrm>
            <a:off x="7299655" y="2600554"/>
            <a:ext cx="304495" cy="276149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4587545" y="3353105"/>
            <a:ext cx="30202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시각화</a:t>
            </a:r>
            <a:endParaRPr lang="en-US" sz="2100" dirty="0"/>
          </a:p>
        </p:txBody>
      </p:sp>
      <p:sp>
        <p:nvSpPr>
          <p:cNvPr id="24" name="Text 13"/>
          <p:cNvSpPr txBox="1"/>
          <p:nvPr/>
        </p:nvSpPr>
        <p:spPr>
          <a:xfrm>
            <a:off x="4587545" y="3916375"/>
            <a:ext cx="302026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목록화된 업무의 진행 순서와 각 단계별 담당자를 도식화하여 전체 흐름을 구조화합니다.</a:t>
            </a:r>
            <a:endParaRPr lang="en-US" sz="1500" dirty="0"/>
          </a:p>
        </p:txBody>
      </p:sp>
      <p:pic>
        <p:nvPicPr>
          <p:cNvPr id="25" name="Image 9" descr="gen-dedup-c1cbe5496fd4bf3dc274a904bfed6d0c.png"/>
          <p:cNvPicPr>
            <a:picLocks noChangeAspect="1"/>
          </p:cNvPicPr>
          <p:nvPr/>
        </p:nvPicPr>
        <p:blipFill>
          <a:blip r:embed="rId12"/>
          <a:srcRect t="-230" b="-230"/>
          <a:stretch/>
        </p:blipFill>
        <p:spPr>
          <a:xfrm>
            <a:off x="4587545" y="5395874"/>
            <a:ext cx="3019349" cy="800100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4587545" y="5395874"/>
            <a:ext cx="38405" cy="800100"/>
          </a:xfrm>
          <a:prstGeom prst="roundRect">
            <a:avLst>
              <a:gd name="adj" fmla="val 68026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5"/>
          <p:cNvSpPr txBox="1"/>
          <p:nvPr/>
        </p:nvSpPr>
        <p:spPr>
          <a:xfrm>
            <a:off x="5216652" y="5395874"/>
            <a:ext cx="2391156" cy="8001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52400" rIns="152400" bIns="152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업무는 정확히 어떤 순서와 과정을 거쳐 진행되는가? </a:t>
            </a:r>
            <a:endParaRPr lang="en-US" sz="1300" dirty="0"/>
          </a:p>
        </p:txBody>
      </p:sp>
      <p:pic>
        <p:nvPicPr>
          <p:cNvPr id="28" name="Image 10" descr="gen-dedup-f68e6ef45829b04c4dfa039123d0f484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78654" y="5588813"/>
            <a:ext cx="171907" cy="171907"/>
          </a:xfrm>
          <a:prstGeom prst="rect">
            <a:avLst/>
          </a:prstGeom>
        </p:spPr>
      </p:pic>
      <p:pic>
        <p:nvPicPr>
          <p:cNvPr id="29" name="Image 11" descr="gen-dedup-3653b0c599ebd4bd354b5b873883a5d1.png"/>
          <p:cNvPicPr>
            <a:picLocks noChangeAspect="1"/>
          </p:cNvPicPr>
          <p:nvPr/>
        </p:nvPicPr>
        <p:blipFill>
          <a:blip r:embed="rId10"/>
          <a:srcRect t="-2" b="-2"/>
          <a:stretch/>
        </p:blipFill>
        <p:spPr>
          <a:xfrm>
            <a:off x="8128102" y="2238451"/>
            <a:ext cx="3492094" cy="4238244"/>
          </a:xfrm>
          <a:prstGeom prst="rect">
            <a:avLst/>
          </a:prstGeom>
        </p:spPr>
      </p:pic>
      <p:sp>
        <p:nvSpPr>
          <p:cNvPr id="30" name="Shape 16"/>
          <p:cNvSpPr/>
          <p:nvPr/>
        </p:nvSpPr>
        <p:spPr>
          <a:xfrm>
            <a:off x="8365846" y="2600554"/>
            <a:ext cx="514807" cy="514807"/>
          </a:xfrm>
          <a:prstGeom prst="ellipse">
            <a:avLst/>
          </a:prstGeom>
          <a:solidFill>
            <a:srgbClr val="007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17"/>
          <p:cNvSpPr/>
          <p:nvPr/>
        </p:nvSpPr>
        <p:spPr>
          <a:xfrm>
            <a:off x="8365846" y="2600554"/>
            <a:ext cx="514807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900" dirty="0"/>
          </a:p>
        </p:txBody>
      </p:sp>
      <p:pic>
        <p:nvPicPr>
          <p:cNvPr id="32" name="Image 12" descr="gen-dedup-7aa0dc18a27b65ff36730884bb111856.png"/>
          <p:cNvPicPr>
            <a:picLocks noChangeAspect="1"/>
          </p:cNvPicPr>
          <p:nvPr/>
        </p:nvPicPr>
        <p:blipFill>
          <a:blip r:embed="rId13">
            <a:alphaModFix amt="80000"/>
          </a:blip>
          <a:srcRect/>
          <a:stretch/>
        </p:blipFill>
        <p:spPr>
          <a:xfrm>
            <a:off x="11106302" y="2600554"/>
            <a:ext cx="276149" cy="276149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8365846" y="3353105"/>
            <a:ext cx="30202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문제점 발견</a:t>
            </a:r>
            <a:endParaRPr lang="en-US" sz="2100" dirty="0"/>
          </a:p>
        </p:txBody>
      </p:sp>
      <p:sp>
        <p:nvSpPr>
          <p:cNvPr id="34" name="Text 19"/>
          <p:cNvSpPr txBox="1"/>
          <p:nvPr/>
        </p:nvSpPr>
        <p:spPr>
          <a:xfrm>
            <a:off x="8365846" y="3916375"/>
            <a:ext cx="302026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도식화된 흐름 속에서 병목 구간, 중복 작업, 불필요한 대기 시간, 잦은 오류 지점을 찾아냅니다.</a:t>
            </a:r>
            <a:endParaRPr lang="en-US" sz="1500" dirty="0"/>
          </a:p>
        </p:txBody>
      </p:sp>
      <p:pic>
        <p:nvPicPr>
          <p:cNvPr id="35" name="Image 13" descr="gen-dedup-c1cbe5496fd4bf3dc274a904bfed6d0c.png"/>
          <p:cNvPicPr>
            <a:picLocks noChangeAspect="1"/>
          </p:cNvPicPr>
          <p:nvPr/>
        </p:nvPicPr>
        <p:blipFill>
          <a:blip r:embed="rId12"/>
          <a:srcRect t="-230" b="-230"/>
          <a:stretch/>
        </p:blipFill>
        <p:spPr>
          <a:xfrm>
            <a:off x="8365846" y="5395874"/>
            <a:ext cx="3019349" cy="800100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>
            <a:off x="8365846" y="5395874"/>
            <a:ext cx="38405" cy="800100"/>
          </a:xfrm>
          <a:prstGeom prst="roundRect">
            <a:avLst>
              <a:gd name="adj" fmla="val 68026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1"/>
          <p:cNvSpPr txBox="1"/>
          <p:nvPr/>
        </p:nvSpPr>
        <p:spPr>
          <a:xfrm>
            <a:off x="8994953" y="5395874"/>
            <a:ext cx="2391156" cy="8001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52400" rIns="152400" bIns="152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어느 단계에서 가장 많은 시간과 자원이 낭비되고 있는가? </a:t>
            </a:r>
            <a:endParaRPr lang="en-US" sz="1300" dirty="0"/>
          </a:p>
        </p:txBody>
      </p:sp>
      <p:pic>
        <p:nvPicPr>
          <p:cNvPr id="38" name="Image 14" descr="gen-dedup-f68e6ef45829b04c4dfa039123d0f484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556955" y="5588813"/>
            <a:ext cx="171907" cy="171907"/>
          </a:xfrm>
          <a:prstGeom prst="rect">
            <a:avLst/>
          </a:prstGeom>
        </p:spPr>
      </p:pic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gen-dedup-393ecc36308c98afe17d6b90d1ec6322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761695" y="2095805"/>
            <a:ext cx="5143500" cy="42675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43000" y="4667098"/>
            <a:ext cx="4419295" cy="1238098"/>
          </a:xfrm>
          <a:prstGeom prst="roundRect">
            <a:avLst>
              <a:gd name="adj" fmla="val 1363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/>
          <p:cNvSpPr/>
          <p:nvPr/>
        </p:nvSpPr>
        <p:spPr>
          <a:xfrm>
            <a:off x="1143000" y="4667098"/>
            <a:ext cx="38405" cy="1238098"/>
          </a:xfrm>
          <a:prstGeom prst="roundRect">
            <a:avLst>
              <a:gd name="adj" fmla="val 439558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2" descr="gen-dedup-393ecc36308c98afe17d6b90d1ec6322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6286500" y="2095805"/>
            <a:ext cx="5143500" cy="426750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667805" y="4667098"/>
            <a:ext cx="4419295" cy="1238098"/>
          </a:xfrm>
          <a:prstGeom prst="roundRect">
            <a:avLst>
              <a:gd name="adj" fmla="val 1363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6667805" y="4667098"/>
            <a:ext cx="38405" cy="1238098"/>
          </a:xfrm>
          <a:prstGeom prst="roundRect">
            <a:avLst>
              <a:gd name="adj" fmla="val 439558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6"/>
          <p:cNvSpPr txBox="1"/>
          <p:nvPr/>
        </p:nvSpPr>
        <p:spPr>
          <a:xfrm>
            <a:off x="761695" y="1047902"/>
            <a:ext cx="106683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 진단 5단계 </a:t>
            </a:r>
            <a:r>
              <a:rPr lang="en-US" sz="3600" b="1" kern="0" spc="-72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(4-5단계)</a:t>
            </a:r>
            <a:endParaRPr lang="en-US" sz="3600" dirty="0"/>
          </a:p>
        </p:txBody>
      </p:sp>
      <p:sp>
        <p:nvSpPr>
          <p:cNvPr id="13" name="Text 7"/>
          <p:cNvSpPr txBox="1"/>
          <p:nvPr/>
        </p:nvSpPr>
        <p:spPr>
          <a:xfrm>
            <a:off x="761695" y="1657806"/>
            <a:ext cx="10668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문제점을 바탕으로 개선안을 도출하고 조직 내에 적용 및 공유합니다.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761695" y="571500"/>
            <a:ext cx="1276502" cy="362102"/>
          </a:xfrm>
          <a:prstGeom prst="roundRect">
            <a:avLst>
              <a:gd name="adj" fmla="val 252526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1143000" y="2476195"/>
            <a:ext cx="571500" cy="571500"/>
          </a:xfrm>
          <a:prstGeom prst="ellipse">
            <a:avLst/>
          </a:prstGeom>
          <a:solidFill>
            <a:srgbClr val="007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/>
          <p:nvPr/>
        </p:nvSpPr>
        <p:spPr>
          <a:xfrm>
            <a:off x="1143000" y="2476195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 </a:t>
            </a:r>
            <a:endParaRPr lang="en-US" sz="2100" dirty="0"/>
          </a:p>
        </p:txBody>
      </p:sp>
      <p:pic>
        <p:nvPicPr>
          <p:cNvPr id="17" name="Image 4" descr="gen-dedup-b87087a80c0be33bb79505c5ba44d670.png"/>
          <p:cNvPicPr>
            <a:picLocks noChangeAspect="1"/>
          </p:cNvPicPr>
          <p:nvPr/>
        </p:nvPicPr>
        <p:blipFill>
          <a:blip r:embed="rId5"/>
          <a:srcRect l="-16667" r="-16667"/>
          <a:stretch/>
        </p:blipFill>
        <p:spPr>
          <a:xfrm>
            <a:off x="5086807" y="2704795"/>
            <a:ext cx="304495" cy="3044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43000" y="3238805"/>
            <a:ext cx="4381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개선안 도출</a:t>
            </a:r>
            <a:endParaRPr lang="en-US" sz="270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3877056"/>
            <a:ext cx="43818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제거, 통합, 자동화, 표준화 방안을 </a:t>
            </a:r>
            <a:r>
              <a:rPr lang="en-US" sz="16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수립하여</a:t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6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</a:t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개선안을 도출합니다.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333195" y="4809744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1561795" y="5181905"/>
            <a:ext cx="37719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부분을 바꿀 수 있는가?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1561795" y="5456225"/>
            <a:ext cx="37719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도구(AI 등)를 활용할 수 있는가?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667805" y="2476195"/>
            <a:ext cx="571500" cy="571500"/>
          </a:xfrm>
          <a:prstGeom prst="ellipse">
            <a:avLst/>
          </a:prstGeom>
          <a:solidFill>
            <a:srgbClr val="007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/>
          <p:nvPr/>
        </p:nvSpPr>
        <p:spPr>
          <a:xfrm>
            <a:off x="6667805" y="2476195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 </a:t>
            </a:r>
            <a:endParaRPr lang="en-US" sz="2100" dirty="0"/>
          </a:p>
        </p:txBody>
      </p:sp>
      <p:pic>
        <p:nvPicPr>
          <p:cNvPr id="25" name="Image 5" descr="gen-dedup-a93f31c391fcebadf840701124ecc581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10610698" y="2704795"/>
            <a:ext cx="304495" cy="30449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667805" y="3238805"/>
            <a:ext cx="4381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및 공유</a:t>
            </a:r>
            <a:endParaRPr lang="en-US" sz="2700" dirty="0"/>
          </a:p>
        </p:txBody>
      </p:sp>
      <p:sp>
        <p:nvSpPr>
          <p:cNvPr id="27" name="Text 19"/>
          <p:cNvSpPr txBox="1"/>
          <p:nvPr/>
        </p:nvSpPr>
        <p:spPr>
          <a:xfrm>
            <a:off x="6667805" y="3877056"/>
            <a:ext cx="43818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결과를 실제 업무에 시범 </a:t>
            </a:r>
            <a:r>
              <a:rPr lang="en-US" sz="16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적용하고</a:t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6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</a:t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효과를 사례로 공유합니다.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6858000" y="4809744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절차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7086600" y="5181905"/>
            <a:ext cx="37719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시범 적용 → 효과 측정 → 확산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7086600" y="5456225"/>
            <a:ext cx="37719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효과를 어떻게 조직 내에 전파할 것인가?</a:t>
            </a:r>
            <a:endParaRPr lang="en-US" sz="1300" dirty="0"/>
          </a:p>
        </p:txBody>
      </p:sp>
      <p:pic>
        <p:nvPicPr>
          <p:cNvPr id="31" name="Image 6" descr="gen-dedup-1128c0ca07888be1fc0d0cd2af0fbe3a.png"/>
          <p:cNvPicPr>
            <a:picLocks noChangeAspect="1"/>
          </p:cNvPicPr>
          <p:nvPr/>
        </p:nvPicPr>
        <p:blipFill>
          <a:blip r:embed="rId7"/>
          <a:srcRect l="-30000" r="-30000"/>
          <a:stretch/>
        </p:blipFill>
        <p:spPr>
          <a:xfrm>
            <a:off x="5982005" y="4076395"/>
            <a:ext cx="228600" cy="228600"/>
          </a:xfrm>
          <a:prstGeom prst="rect">
            <a:avLst/>
          </a:prstGeom>
        </p:spPr>
      </p:pic>
      <p:pic>
        <p:nvPicPr>
          <p:cNvPr id="10" name="Image 3" descr="gen-dedup-36f73fc10a80b98b18a644f9aa4249bf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3602" y="666598"/>
            <a:ext cx="171907" cy="171907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81405" y="571500"/>
            <a:ext cx="8567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방법</a:t>
            </a:r>
            <a:endParaRPr lang="en-US" sz="13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853c3120cdeea83055107311974e4072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571500" y="2095805"/>
            <a:ext cx="5238598" cy="4476902"/>
          </a:xfrm>
          <a:prstGeom prst="rect">
            <a:avLst/>
          </a:prstGeom>
        </p:spPr>
      </p:pic>
      <p:pic>
        <p:nvPicPr>
          <p:cNvPr id="4" name="Image 2" descr="gen-dedup-97b3c090a59cd5ea7c8b539acba0ec14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6381598" y="2095805"/>
            <a:ext cx="5238598" cy="447690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71500" y="895198"/>
            <a:ext cx="11049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69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우선순위 </a:t>
            </a:r>
            <a:r>
              <a:rPr lang="en-US" sz="3400" b="1" kern="0" spc="-69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기준</a:t>
            </a:r>
            <a:endParaRPr lang="en-US" sz="3400" dirty="0"/>
          </a:p>
        </p:txBody>
      </p:sp>
      <p:sp>
        <p:nvSpPr>
          <p:cNvPr id="8" name="Text 2"/>
          <p:cNvSpPr txBox="1"/>
          <p:nvPr/>
        </p:nvSpPr>
        <p:spPr>
          <a:xfrm>
            <a:off x="571500" y="1600200"/>
            <a:ext cx="11049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프로세스 개선을 위해 </a:t>
            </a:r>
            <a:r>
              <a:rPr lang="en-US" sz="18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효과성</a:t>
            </a: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8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실행가능성</a:t>
            </a: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2가지 핵심 기준을 평가합니다.</a:t>
            </a:r>
            <a:endParaRPr lang="en-US" sz="1800" dirty="0"/>
          </a:p>
        </p:txBody>
      </p:sp>
      <p:sp>
        <p:nvSpPr>
          <p:cNvPr id="9" name="Shape 3"/>
          <p:cNvSpPr/>
          <p:nvPr/>
        </p:nvSpPr>
        <p:spPr>
          <a:xfrm>
            <a:off x="571500" y="381305"/>
            <a:ext cx="1362456" cy="400507"/>
          </a:xfrm>
          <a:prstGeom prst="roundRect">
            <a:avLst>
              <a:gd name="adj" fmla="val 228311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2809951" y="2476195"/>
            <a:ext cx="761695" cy="7616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4" descr="gen-dedup-a2ce3399f6eef3460ddf474fa05cbb25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19349" y="2686507"/>
            <a:ext cx="342900" cy="3429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57707" y="3381451"/>
            <a:ext cx="46680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효과성</a:t>
            </a:r>
            <a:endParaRPr lang="en-US" sz="3000" dirty="0"/>
          </a:p>
        </p:txBody>
      </p:sp>
      <p:sp>
        <p:nvSpPr>
          <p:cNvPr id="13" name="Text 6"/>
          <p:cNvSpPr txBox="1"/>
          <p:nvPr/>
        </p:nvSpPr>
        <p:spPr>
          <a:xfrm>
            <a:off x="857707" y="4048049"/>
            <a:ext cx="4668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개선을 통해 얻을 수 있는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성과나 가치의 크기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2350922" y="4842662"/>
            <a:ext cx="197144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처리 시간 단축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2350922" y="5251399"/>
            <a:ext cx="235366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감소 및 품질 향상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2350922" y="5661050"/>
            <a:ext cx="254294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및 직원 만족도 증가</a:t>
            </a:r>
            <a:endParaRPr lang="en-US" sz="1500" dirty="0"/>
          </a:p>
        </p:txBody>
      </p:sp>
      <p:pic>
        <p:nvPicPr>
          <p:cNvPr id="17" name="Image 5" descr="gen-dedup-9cbb4fb9e072e9b22bd9a42861047e02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2064715" y="4894783"/>
            <a:ext cx="171907" cy="190195"/>
          </a:xfrm>
          <a:prstGeom prst="rect">
            <a:avLst/>
          </a:prstGeom>
        </p:spPr>
      </p:pic>
      <p:pic>
        <p:nvPicPr>
          <p:cNvPr id="18" name="Image 6" descr="gen-dedup-9cbb4fb9e072e9b22bd9a42861047e02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2064715" y="5304434"/>
            <a:ext cx="171907" cy="190195"/>
          </a:xfrm>
          <a:prstGeom prst="rect">
            <a:avLst/>
          </a:prstGeom>
        </p:spPr>
      </p:pic>
      <p:pic>
        <p:nvPicPr>
          <p:cNvPr id="19" name="Image 7" descr="gen-dedup-9cbb4fb9e072e9b22bd9a42861047e02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2064715" y="5714086"/>
            <a:ext cx="171907" cy="190195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8620049" y="2476195"/>
            <a:ext cx="761695" cy="76169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8" descr="gen-dedup-aa586d8df5d190f1ca0f8b50b93f2bd3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29446" y="2686507"/>
            <a:ext cx="342900" cy="34290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667805" y="3381451"/>
            <a:ext cx="46680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실행가능성</a:t>
            </a:r>
            <a:endParaRPr lang="en-US" sz="3000" dirty="0"/>
          </a:p>
        </p:txBody>
      </p:sp>
      <p:sp>
        <p:nvSpPr>
          <p:cNvPr id="23" name="Text 12"/>
          <p:cNvSpPr txBox="1"/>
          <p:nvPr/>
        </p:nvSpPr>
        <p:spPr>
          <a:xfrm>
            <a:off x="6667805" y="4048049"/>
            <a:ext cx="4668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업무 환경에 적용하고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정착시킬 수 있는 용이성</a:t>
            </a:r>
            <a:endParaRPr lang="en-US" sz="1600" dirty="0"/>
          </a:p>
        </p:txBody>
      </p:sp>
      <p:sp>
        <p:nvSpPr>
          <p:cNvPr id="24" name="Text 13"/>
          <p:cNvSpPr txBox="1"/>
          <p:nvPr/>
        </p:nvSpPr>
        <p:spPr>
          <a:xfrm>
            <a:off x="8046720" y="4842662"/>
            <a:ext cx="220004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구현의 난이도</a:t>
            </a:r>
            <a:endParaRPr lang="en-US" sz="1500" dirty="0"/>
          </a:p>
        </p:txBody>
      </p:sp>
      <p:sp>
        <p:nvSpPr>
          <p:cNvPr id="25" name="Text 14"/>
          <p:cNvSpPr txBox="1"/>
          <p:nvPr/>
        </p:nvSpPr>
        <p:spPr>
          <a:xfrm>
            <a:off x="8046720" y="5251399"/>
            <a:ext cx="220004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소요되는 시간 및 예산</a:t>
            </a:r>
            <a:endParaRPr lang="en-US" sz="1500" dirty="0"/>
          </a:p>
        </p:txBody>
      </p:sp>
      <p:sp>
        <p:nvSpPr>
          <p:cNvPr id="26" name="Text 15"/>
          <p:cNvSpPr txBox="1"/>
          <p:nvPr/>
        </p:nvSpPr>
        <p:spPr>
          <a:xfrm>
            <a:off x="8046720" y="5661050"/>
            <a:ext cx="2859329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내 수용성 및 저항 수준</a:t>
            </a:r>
            <a:endParaRPr lang="en-US" sz="1500" dirty="0"/>
          </a:p>
        </p:txBody>
      </p:sp>
      <p:pic>
        <p:nvPicPr>
          <p:cNvPr id="27" name="Image 9" descr="gen-dedup-0fcf024d4e03a44e782f5db315113821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7760513" y="4894783"/>
            <a:ext cx="171907" cy="190195"/>
          </a:xfrm>
          <a:prstGeom prst="rect">
            <a:avLst/>
          </a:prstGeom>
        </p:spPr>
      </p:pic>
      <p:pic>
        <p:nvPicPr>
          <p:cNvPr id="28" name="Image 10" descr="gen-dedup-0fcf024d4e03a44e782f5db315113821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7760513" y="5304434"/>
            <a:ext cx="171907" cy="190195"/>
          </a:xfrm>
          <a:prstGeom prst="rect">
            <a:avLst/>
          </a:prstGeom>
        </p:spPr>
      </p:pic>
      <p:pic>
        <p:nvPicPr>
          <p:cNvPr id="29" name="Image 11" descr="gen-dedup-0fcf024d4e03a44e782f5db315113821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7760513" y="5714086"/>
            <a:ext cx="171907" cy="190195"/>
          </a:xfrm>
          <a:prstGeom prst="rect">
            <a:avLst/>
          </a:prstGeom>
        </p:spPr>
      </p:pic>
      <p:pic>
        <p:nvPicPr>
          <p:cNvPr id="5" name="Image 3" descr="gen-dedup-4adba93b63eaae235212f09f7e81bede.png"/>
          <p:cNvPicPr>
            <a:picLocks noChangeAspect="1"/>
          </p:cNvPicPr>
          <p:nvPr/>
        </p:nvPicPr>
        <p:blipFill>
          <a:blip r:embed="rId10"/>
          <a:srcRect l="-1064" r="-1064"/>
          <a:stretch/>
        </p:blipFill>
        <p:spPr>
          <a:xfrm>
            <a:off x="761695" y="495605"/>
            <a:ext cx="219456" cy="171907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057045" y="381305"/>
            <a:ext cx="7918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설정</a:t>
            </a:r>
            <a:endParaRPr lang="en-US" sz="13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4305" y="1524305"/>
            <a:ext cx="9562795" cy="4800600"/>
          </a:xfrm>
          <a:prstGeom prst="roundRect">
            <a:avLst>
              <a:gd name="adj" fmla="val 907"/>
            </a:avLst>
          </a:prstGeom>
          <a:solidFill>
            <a:srgbClr val="FFFFFF">
              <a:alpha val="50000"/>
            </a:srgbClr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gen-dedup-e325fb86128d5f2cf787dd604c165cba.png"/>
          <p:cNvPicPr>
            <a:picLocks noChangeAspect="1"/>
          </p:cNvPicPr>
          <p:nvPr/>
        </p:nvPicPr>
        <p:blipFill>
          <a:blip r:embed="rId4"/>
          <a:srcRect l="-396" r="-396"/>
          <a:stretch/>
        </p:blipFill>
        <p:spPr>
          <a:xfrm>
            <a:off x="1143000" y="1714500"/>
            <a:ext cx="38405" cy="4381805"/>
          </a:xfrm>
          <a:prstGeom prst="rect">
            <a:avLst/>
          </a:prstGeom>
        </p:spPr>
      </p:pic>
      <p:pic>
        <p:nvPicPr>
          <p:cNvPr id="5" name="Image 2" descr="gen-dedup-3e87091e2c087171f925ee62d0bef3b6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333195" y="6476695"/>
            <a:ext cx="9715500" cy="3840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6381598" y="1619402"/>
            <a:ext cx="4610405" cy="2324405"/>
          </a:xfrm>
          <a:prstGeom prst="roundRect">
            <a:avLst>
              <a:gd name="adj" fmla="val 3869"/>
            </a:avLst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2"/>
          <p:cNvSpPr/>
          <p:nvPr/>
        </p:nvSpPr>
        <p:spPr>
          <a:xfrm>
            <a:off x="1619402" y="1619402"/>
            <a:ext cx="4610405" cy="2324405"/>
          </a:xfrm>
          <a:prstGeom prst="roundRect">
            <a:avLst>
              <a:gd name="adj" fmla="val 3869"/>
            </a:avLst>
          </a:prstGeom>
          <a:solidFill>
            <a:srgbClr val="FDF4FF"/>
          </a:solidFill>
          <a:ln w="25400">
            <a:solidFill>
              <a:srgbClr val="FBCF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"/>
          <p:cNvSpPr/>
          <p:nvPr/>
        </p:nvSpPr>
        <p:spPr>
          <a:xfrm>
            <a:off x="6381598" y="4000500"/>
            <a:ext cx="4610405" cy="2229307"/>
          </a:xfrm>
          <a:prstGeom prst="roundRect">
            <a:avLst>
              <a:gd name="adj" fmla="val 4207"/>
            </a:avLst>
          </a:prstGeom>
          <a:solidFill>
            <a:srgbClr val="F0FDF4"/>
          </a:solidFill>
          <a:ln w="254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1619402" y="4000500"/>
            <a:ext cx="4610405" cy="2229307"/>
          </a:xfrm>
          <a:prstGeom prst="roundRect">
            <a:avLst>
              <a:gd name="adj" fmla="val 4207"/>
            </a:avLst>
          </a:prstGeom>
          <a:solidFill>
            <a:srgbClr val="F1F5F9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/>
          <p:cNvSpPr txBox="1"/>
          <p:nvPr/>
        </p:nvSpPr>
        <p:spPr>
          <a:xfrm>
            <a:off x="571500" y="381305"/>
            <a:ext cx="11049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69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우선순위 </a:t>
            </a:r>
            <a:r>
              <a:rPr lang="en-US" sz="3400" b="1" kern="0" spc="-69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매트릭스</a:t>
            </a:r>
            <a:endParaRPr lang="en-US" sz="34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086307"/>
            <a:ext cx="11049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2×2 매트릭스로 분석하여 즉시 실행 가능한 </a:t>
            </a: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</a:t>
            </a: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과제를 도출합니다.</a:t>
            </a:r>
            <a:endParaRPr lang="en-US" sz="1800" dirty="0"/>
          </a:p>
        </p:txBody>
      </p:sp>
      <p:pic>
        <p:nvPicPr>
          <p:cNvPr id="12" name="Image 3" descr="gen-dedup-64ce69a436be84f10df45ef32feda43c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1067105" y="1543507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76402" y="3429000"/>
            <a:ext cx="333756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효과성</a:t>
            </a:r>
            <a:endParaRPr lang="en-US" sz="1800" dirty="0"/>
          </a:p>
        </p:txBody>
      </p:sp>
      <p:pic>
        <p:nvPicPr>
          <p:cNvPr id="14" name="Image 4" descr="gen-dedup-56721a68f187fa65c75869da0cccb263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8695" y="6467551"/>
            <a:ext cx="114300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524805" y="6515100"/>
            <a:ext cx="1524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실행가능성</a:t>
            </a:r>
            <a:endParaRPr lang="en-US" sz="1800" dirty="0"/>
          </a:p>
        </p:txBody>
      </p:sp>
      <p:pic>
        <p:nvPicPr>
          <p:cNvPr id="16" name="Image 5" descr="gen-dedup-4ad5bef626eb6d275ac29dacec3fe094.png"/>
          <p:cNvPicPr>
            <a:picLocks noChangeAspect="1"/>
          </p:cNvPicPr>
          <p:nvPr/>
        </p:nvPicPr>
        <p:blipFill>
          <a:blip r:embed="rId8"/>
          <a:srcRect l="-685" r="-685"/>
          <a:stretch/>
        </p:blipFill>
        <p:spPr>
          <a:xfrm>
            <a:off x="6572707" y="1867205"/>
            <a:ext cx="304495" cy="26700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991502" y="1809598"/>
            <a:ext cx="29132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Wins (1순위)</a:t>
            </a:r>
            <a:endParaRPr lang="en-US" sz="2100" dirty="0"/>
          </a:p>
        </p:txBody>
      </p:sp>
      <p:sp>
        <p:nvSpPr>
          <p:cNvPr id="18" name="Text 10"/>
          <p:cNvSpPr txBox="1"/>
          <p:nvPr/>
        </p:nvSpPr>
        <p:spPr>
          <a:xfrm>
            <a:off x="6572707" y="2305202"/>
            <a:ext cx="4191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효과성 높음 / 실행가능성 높음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6572707" y="2657246"/>
            <a:ext cx="41916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도입하여 가시적인 성과를 낼 수 </a:t>
            </a: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있는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최우선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개선 </a:t>
            </a: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영역입니다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단순 반복 데이터 입력 자동화, 이메일 템플릿 도입</a:t>
            </a:r>
            <a:endParaRPr lang="en-US" sz="1300" dirty="0"/>
          </a:p>
        </p:txBody>
      </p:sp>
      <p:pic>
        <p:nvPicPr>
          <p:cNvPr id="20" name="Image 6" descr="gen-dedup-688f8495786aa8d0e2e9a00cdaa06e20.png"/>
          <p:cNvPicPr>
            <a:picLocks noChangeAspect="1"/>
          </p:cNvPicPr>
          <p:nvPr/>
        </p:nvPicPr>
        <p:blipFill>
          <a:blip r:embed="rId9"/>
          <a:srcRect l="-685" r="-685"/>
          <a:stretch/>
        </p:blipFill>
        <p:spPr>
          <a:xfrm>
            <a:off x="1809598" y="1867205"/>
            <a:ext cx="304495" cy="26700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2229307" y="1809598"/>
            <a:ext cx="25749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과제 (2순위)</a:t>
            </a:r>
            <a:endParaRPr lang="en-US" sz="2100" dirty="0"/>
          </a:p>
        </p:txBody>
      </p:sp>
      <p:sp>
        <p:nvSpPr>
          <p:cNvPr id="22" name="Text 13"/>
          <p:cNvSpPr txBox="1"/>
          <p:nvPr/>
        </p:nvSpPr>
        <p:spPr>
          <a:xfrm>
            <a:off x="1809598" y="2305202"/>
            <a:ext cx="4191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94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효과성 높음 / 실행가능성 낮음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1809598" y="2657246"/>
            <a:ext cx="4191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효과는 크나 자원 투입이 필요한 장기 전략 과제입니다.</a:t>
            </a:r>
            <a:endParaRPr lang="en-US" sz="1300" dirty="0"/>
          </a:p>
          <a:p>
            <a:pPr marL="0" indent="0" algn="l">
              <a:buNone/>
            </a:pPr>
            <a:endParaRPr lang="en-US" sz="1300" dirty="0">
              <a:solidFill>
                <a:srgbClr val="475569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전사 ERP 시스템 교체, 부서 간 통합 워크플로우 구축</a:t>
            </a:r>
            <a:endParaRPr lang="en-US" sz="1300" dirty="0"/>
          </a:p>
        </p:txBody>
      </p:sp>
      <p:pic>
        <p:nvPicPr>
          <p:cNvPr id="24" name="Image 7" descr="gen-dedup-8bf020ff627480b7a3a47e824be399f7.png"/>
          <p:cNvPicPr>
            <a:picLocks noChangeAspect="1"/>
          </p:cNvPicPr>
          <p:nvPr/>
        </p:nvPicPr>
        <p:blipFill>
          <a:blip r:embed="rId10"/>
          <a:srcRect l="-881" r="-881"/>
          <a:stretch/>
        </p:blipFill>
        <p:spPr>
          <a:xfrm>
            <a:off x="6572707" y="4248302"/>
            <a:ext cx="237744" cy="267005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924751" y="4190695"/>
            <a:ext cx="25749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개선 (3순위)</a:t>
            </a:r>
            <a:endParaRPr lang="en-US" sz="2100" dirty="0"/>
          </a:p>
        </p:txBody>
      </p:sp>
      <p:sp>
        <p:nvSpPr>
          <p:cNvPr id="26" name="Text 16"/>
          <p:cNvSpPr txBox="1"/>
          <p:nvPr/>
        </p:nvSpPr>
        <p:spPr>
          <a:xfrm>
            <a:off x="6572707" y="4686300"/>
            <a:ext cx="4191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효과성 낮음 / 실행가능성 높음</a:t>
            </a:r>
            <a:endParaRPr lang="en-US" sz="1500" dirty="0"/>
          </a:p>
        </p:txBody>
      </p:sp>
      <p:sp>
        <p:nvSpPr>
          <p:cNvPr id="27" name="Text 17"/>
          <p:cNvSpPr txBox="1"/>
          <p:nvPr/>
        </p:nvSpPr>
        <p:spPr>
          <a:xfrm>
            <a:off x="6572707" y="5038344"/>
            <a:ext cx="41916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없이 쉽게 적용 가능하지만 조직 전체의 </a:t>
            </a: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효과는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크지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않은 </a:t>
            </a: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과제입니다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개인 파일 폴더 구조화, 단축키 활용</a:t>
            </a:r>
            <a:endParaRPr lang="en-US" sz="1300" dirty="0"/>
          </a:p>
        </p:txBody>
      </p:sp>
      <p:pic>
        <p:nvPicPr>
          <p:cNvPr id="28" name="Image 8" descr="gen-dedup-b76117083bb29d995f8c0b3382eaf677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809598" y="4248302"/>
            <a:ext cx="267005" cy="26700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2190902" y="4190695"/>
            <a:ext cx="239847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보류/폐기 (제외)</a:t>
            </a:r>
            <a:endParaRPr lang="en-US" sz="2100" dirty="0"/>
          </a:p>
        </p:txBody>
      </p:sp>
      <p:sp>
        <p:nvSpPr>
          <p:cNvPr id="30" name="Text 19"/>
          <p:cNvSpPr txBox="1"/>
          <p:nvPr/>
        </p:nvSpPr>
        <p:spPr>
          <a:xfrm>
            <a:off x="1809598" y="4686300"/>
            <a:ext cx="4191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효과성 낮음 / 실행가능성 낮음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1809598" y="5038344"/>
            <a:ext cx="4191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대비 효용이 떨어지므로 우선순위에서 제외합니다.</a:t>
            </a:r>
            <a:endParaRPr lang="en-US" sz="1300" dirty="0"/>
          </a:p>
          <a:p>
            <a:pPr marL="0" indent="0" algn="l">
              <a:buNone/>
            </a:pPr>
            <a:endParaRPr lang="en-US" sz="1300" dirty="0">
              <a:solidFill>
                <a:srgbClr val="475569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3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안 쓰는 구형 시스템의 화면 UI 소폭 개선</a:t>
            </a:r>
            <a:endParaRPr lang="en-US" sz="13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476402"/>
            <a:ext cx="1333195" cy="342900"/>
          </a:xfrm>
          <a:prstGeom prst="roundRect">
            <a:avLst>
              <a:gd name="adj" fmla="val 2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00d20d35b3065a7f1d6755d51c49680f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571500" y="2381098"/>
            <a:ext cx="3429000" cy="39054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57707" y="2762402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007B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3047695" y="2905049"/>
            <a:ext cx="666598" cy="323698"/>
          </a:xfrm>
          <a:prstGeom prst="roundRect">
            <a:avLst>
              <a:gd name="adj" fmla="val 99701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00d20d35b3065a7f1d6755d51c49680f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4381805" y="2381098"/>
            <a:ext cx="3429000" cy="390540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667098" y="2762402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007B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6858000" y="2905049"/>
            <a:ext cx="666598" cy="323698"/>
          </a:xfrm>
          <a:prstGeom prst="roundRect">
            <a:avLst>
              <a:gd name="adj" fmla="val 99701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gen-dedup-00d20d35b3065a7f1d6755d51c49680f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8191195" y="2381098"/>
            <a:ext cx="3429000" cy="390540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477402" y="2762402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007B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668305" y="2905049"/>
            <a:ext cx="666598" cy="323698"/>
          </a:xfrm>
          <a:prstGeom prst="roundRect">
            <a:avLst>
              <a:gd name="adj" fmla="val 99701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gen-dedup-6cfbfbc0a884e6f3fea9d71cfa8ad493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724205" y="599846"/>
            <a:ext cx="190195" cy="15270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990295" y="533095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571500" y="1000354"/>
            <a:ext cx="11049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69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도와줄 수 있는 </a:t>
            </a:r>
            <a:r>
              <a:rPr lang="en-US" sz="3400" b="1" kern="0" spc="-69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(1/2)</a:t>
            </a:r>
            <a:endParaRPr lang="en-US" sz="3400" dirty="0"/>
          </a:p>
        </p:txBody>
      </p:sp>
      <p:sp>
        <p:nvSpPr>
          <p:cNvPr id="17" name="Text 10"/>
          <p:cNvSpPr txBox="1"/>
          <p:nvPr/>
        </p:nvSpPr>
        <p:spPr>
          <a:xfrm>
            <a:off x="571500" y="1714500"/>
            <a:ext cx="11049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AI를 활용하여 업무 효율을 극대화할 수 있는 대표적인 3가지 영역을 확인하세요.</a:t>
            </a:r>
            <a:endParaRPr lang="en-US" sz="1600" dirty="0"/>
          </a:p>
        </p:txBody>
      </p:sp>
      <p:pic>
        <p:nvPicPr>
          <p:cNvPr id="18" name="Image 5" descr="gen-dedup-bd4d43cadba90703409a5715820923e9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1009498" y="2995574"/>
            <a:ext cx="304495" cy="26700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619402" y="2905049"/>
            <a:ext cx="5715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2982773" y="2905049"/>
            <a:ext cx="79827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적합도 높음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857707" y="3619195"/>
            <a:ext cx="2857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작성</a:t>
            </a:r>
            <a:endParaRPr lang="en-US" sz="2200" dirty="0"/>
          </a:p>
        </p:txBody>
      </p:sp>
      <p:sp>
        <p:nvSpPr>
          <p:cNvPr id="22" name="Text 14"/>
          <p:cNvSpPr txBox="1"/>
          <p:nvPr/>
        </p:nvSpPr>
        <p:spPr>
          <a:xfrm>
            <a:off x="857707" y="4190695"/>
            <a:ext cx="285750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초안, 기획안, 공문, 이메일 등 다양한 문서의 </a:t>
            </a:r>
            <a:r>
              <a:rPr lang="en-US" sz="15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생성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최적화되어 있습니다. 빈 화면에서 시작하는 막막함과 시간을 크게 줄여줍니다.</a:t>
            </a:r>
            <a:endParaRPr lang="en-US" sz="1500" dirty="0"/>
          </a:p>
        </p:txBody>
      </p:sp>
      <p:pic>
        <p:nvPicPr>
          <p:cNvPr id="23" name="Image 6" descr="gen-dedup-475dd65aaf213099a80ea7b6fd5ba86c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19802" y="2995574"/>
            <a:ext cx="267005" cy="26700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429707" y="2905049"/>
            <a:ext cx="5715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6793078" y="2905049"/>
            <a:ext cx="79827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적합도 높음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4667098" y="3619195"/>
            <a:ext cx="2857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요약</a:t>
            </a:r>
            <a:endParaRPr lang="en-US" sz="2200" dirty="0"/>
          </a:p>
        </p:txBody>
      </p:sp>
      <p:sp>
        <p:nvSpPr>
          <p:cNvPr id="27" name="Text 18"/>
          <p:cNvSpPr txBox="1"/>
          <p:nvPr/>
        </p:nvSpPr>
        <p:spPr>
          <a:xfrm>
            <a:off x="4667098" y="4190695"/>
            <a:ext cx="285750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정리, 방대한 정책자료 파악, 긴 보고서의 </a:t>
            </a:r>
            <a:r>
              <a:rPr lang="en-US" sz="15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내용 추출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강력합니다. 정보 파악에 드는 시간을 크게 줄일 수 있습니다.</a:t>
            </a:r>
            <a:endParaRPr lang="en-US" sz="1500" dirty="0"/>
          </a:p>
        </p:txBody>
      </p:sp>
      <p:pic>
        <p:nvPicPr>
          <p:cNvPr id="28" name="Image 7" descr="gen-dedup-abea11bc8e04dc6588d1c7dc16bcc922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667598" y="2995574"/>
            <a:ext cx="200254" cy="26700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239098" y="2905049"/>
            <a:ext cx="5715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0"/>
          <p:cNvSpPr txBox="1"/>
          <p:nvPr/>
        </p:nvSpPr>
        <p:spPr>
          <a:xfrm>
            <a:off x="10602468" y="2905049"/>
            <a:ext cx="79827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적합도 높음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8477402" y="3619195"/>
            <a:ext cx="2857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도출</a:t>
            </a:r>
            <a:endParaRPr lang="en-US" sz="2200" dirty="0"/>
          </a:p>
        </p:txBody>
      </p:sp>
      <p:sp>
        <p:nvSpPr>
          <p:cNvPr id="32" name="Text 22"/>
          <p:cNvSpPr txBox="1"/>
          <p:nvPr/>
        </p:nvSpPr>
        <p:spPr>
          <a:xfrm>
            <a:off x="8477402" y="4190695"/>
            <a:ext cx="28575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교육 기획, 마케팅 문구 작성, 행사 이벤트 기획 등 </a:t>
            </a:r>
            <a:r>
              <a:rPr lang="en-US" sz="15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브레인스토밍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파트너로 활용하여 팀의 창의적 한계를 넓혀줍니다.</a:t>
            </a:r>
            <a:endParaRPr lang="en-US" sz="15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6402" y="333756"/>
            <a:ext cx="1047902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5" name="Shape 2"/>
          <p:cNvSpPr/>
          <p:nvPr/>
        </p:nvSpPr>
        <p:spPr>
          <a:xfrm>
            <a:off x="476402" y="2000707"/>
            <a:ext cx="5429707" cy="2143354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76402" y="2000707"/>
            <a:ext cx="57607" cy="2143354"/>
          </a:xfrm>
          <a:prstGeom prst="roundRect">
            <a:avLst>
              <a:gd name="adj" fmla="val 169313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286500" y="2000707"/>
            <a:ext cx="5429707" cy="2143354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286500" y="2000707"/>
            <a:ext cx="57607" cy="2143354"/>
          </a:xfrm>
          <a:prstGeom prst="roundRect">
            <a:avLst>
              <a:gd name="adj" fmla="val 169313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402" y="4381805"/>
            <a:ext cx="11239805" cy="2048256"/>
          </a:xfrm>
          <a:prstGeom prst="roundRect">
            <a:avLst>
              <a:gd name="adj" fmla="val 4983"/>
            </a:avLst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402" y="4381805"/>
            <a:ext cx="57607" cy="2048256"/>
          </a:xfrm>
          <a:prstGeom prst="roundRect">
            <a:avLst>
              <a:gd name="adj" fmla="val 17718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gen-dedup-292a71c518bdfaab31d9c99149d8f984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590702" y="426110"/>
            <a:ext cx="171907" cy="1335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8505" y="390449"/>
            <a:ext cx="685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76402" y="761695"/>
            <a:ext cx="7620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도와줄 수 있는 </a:t>
            </a:r>
            <a:r>
              <a:rPr lang="en-US" sz="3100" b="1" kern="0" spc="-63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(4-5)</a:t>
            </a:r>
            <a:endParaRPr lang="en-US" sz="3100" dirty="0"/>
          </a:p>
        </p:txBody>
      </p:sp>
      <p:sp>
        <p:nvSpPr>
          <p:cNvPr id="14" name="Text 10"/>
          <p:cNvSpPr txBox="1"/>
          <p:nvPr/>
        </p:nvSpPr>
        <p:spPr>
          <a:xfrm>
            <a:off x="476402" y="1429207"/>
            <a:ext cx="10478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AI를 활용하여 업무 효율을 높일 수 있는 영역 중 데이터 해석과 단순 반복 입력을 살펴봅니다.</a:t>
            </a:r>
            <a:endParaRPr lang="en-US" sz="1500" dirty="0"/>
          </a:p>
        </p:txBody>
      </p:sp>
      <p:pic>
        <p:nvPicPr>
          <p:cNvPr id="15" name="Image 2" descr="gen-dedup-a7a07a80bf3e99a4aa38a967638fa0a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4146" y="2367382"/>
            <a:ext cx="267005" cy="2670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8098" y="2333549"/>
            <a:ext cx="4764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238098" y="2714854"/>
            <a:ext cx="4381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해석 </a:t>
            </a:r>
            <a:r>
              <a:rPr lang="en-US" sz="12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(중간 난이도)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238098" y="3200400"/>
            <a:ext cx="4381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결과 해석, 표 요약, 기초적인 경향 분석을 지원합니다. 단, 결과에 대한 교차 검증이 필요합니다.</a:t>
            </a:r>
            <a:endParaRPr lang="en-US" sz="1500" dirty="0"/>
          </a:p>
        </p:txBody>
      </p:sp>
      <p:pic>
        <p:nvPicPr>
          <p:cNvPr id="19" name="Image 3" descr="gen-dedup-8b45ecfc3d5c513569c9285528795ac3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6524244" y="2367382"/>
            <a:ext cx="304495" cy="2670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048195" y="2333549"/>
            <a:ext cx="4764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7048195" y="2714854"/>
            <a:ext cx="4381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반복 입력 </a:t>
            </a:r>
            <a:r>
              <a:rPr lang="en-US" sz="12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(높은 자동화)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7048194" y="3200400"/>
            <a:ext cx="455765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도구(RPA)나 매크로와 결합하여 </a:t>
            </a:r>
            <a:r>
              <a:rPr lang="en-US" sz="15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정형화된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데이터의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반복 입력을 효과적으로 처리할 수 있습니다.</a:t>
            </a:r>
            <a:endParaRPr lang="en-US" sz="1500" dirty="0"/>
          </a:p>
        </p:txBody>
      </p:sp>
      <p:pic>
        <p:nvPicPr>
          <p:cNvPr id="23" name="Image 4" descr="gen-dedup-8c1321c98cbafdb480b9c96a986efc69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4146" y="4748479"/>
            <a:ext cx="200254" cy="2670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38098" y="4667098"/>
            <a:ext cx="10001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3가지 핵심 팁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1429207" y="5181905"/>
            <a:ext cx="9811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프롬프트 작성:</a:t>
            </a:r>
            <a:r>
              <a:rPr lang="en-US" sz="150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배경, 목적, 형식을 구체적으로 지시하세요.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429207" y="5486400"/>
            <a:ext cx="9811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개선 (Iteration):</a:t>
            </a:r>
            <a:r>
              <a:rPr lang="en-US" sz="150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첫 결과물에 만족하지 말고 추가 질문으로 다듬으세요.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429207" y="5790895"/>
            <a:ext cx="9811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인간의 최종 검토:</a:t>
            </a:r>
            <a:r>
              <a:rPr lang="en-US" sz="150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AI는 도구일 뿐, 최종 책임과 판단은 항상 사람의 몫입니다.</a:t>
            </a:r>
            <a:endParaRPr lang="en-US" sz="15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46966f61cd5e401cc83442129f2e5a3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1714500"/>
            <a:ext cx="4209898" cy="4781398"/>
          </a:xfrm>
          <a:prstGeom prst="rect">
            <a:avLst/>
          </a:prstGeom>
        </p:spPr>
      </p:pic>
      <p:pic>
        <p:nvPicPr>
          <p:cNvPr id="4" name="Image 2" descr="gen-dedup-cb740237685b59306fa8d40025d106a8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4953305" y="1714500"/>
            <a:ext cx="6782105" cy="478139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76402" y="923544"/>
            <a:ext cx="112398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활용 시 </a:t>
            </a:r>
            <a:r>
              <a:rPr lang="en-US" sz="3900" b="1" kern="0" spc="-78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해야 할 것 (Do's)</a:t>
            </a:r>
            <a:endParaRPr lang="en-US" sz="3900" dirty="0"/>
          </a:p>
        </p:txBody>
      </p:sp>
      <p:sp>
        <p:nvSpPr>
          <p:cNvPr id="6" name="Text 1"/>
          <p:cNvSpPr txBox="1"/>
          <p:nvPr/>
        </p:nvSpPr>
        <p:spPr>
          <a:xfrm>
            <a:off x="8118355" y="1123797"/>
            <a:ext cx="383559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AI 도입을 </a:t>
            </a:r>
            <a:r>
              <a:rPr lang="en-US" sz="18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위해</a:t>
            </a: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8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</a:t>
            </a: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실천해야 할 핵심 행동 지침</a:t>
            </a:r>
            <a:endParaRPr lang="en-US" sz="1800" dirty="0"/>
          </a:p>
        </p:txBody>
      </p:sp>
      <p:pic>
        <p:nvPicPr>
          <p:cNvPr id="7" name="Image 3" descr="gen-dedup-e63faf90f8dc028c6b09352e4400e184.png"/>
          <p:cNvPicPr>
            <a:picLocks noChangeAspect="1"/>
          </p:cNvPicPr>
          <p:nvPr/>
        </p:nvPicPr>
        <p:blipFill>
          <a:blip r:embed="rId5"/>
          <a:srcRect l="-193" r="-193"/>
          <a:stretch/>
        </p:blipFill>
        <p:spPr>
          <a:xfrm>
            <a:off x="476402" y="381305"/>
            <a:ext cx="1647749" cy="42885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33602" y="381305"/>
            <a:ext cx="11914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원칙 </a:t>
            </a:r>
            <a:endParaRPr lang="en-US" sz="1500" dirty="0"/>
          </a:p>
        </p:txBody>
      </p:sp>
      <p:pic>
        <p:nvPicPr>
          <p:cNvPr id="9" name="Image 4" descr="gen-dedup-746e86b6036099d460ae8f2207ed815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6598" y="509321"/>
            <a:ext cx="190195" cy="190195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61695" y="2839212"/>
            <a:ext cx="36191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4"/>
          <p:cNvSpPr/>
          <p:nvPr/>
        </p:nvSpPr>
        <p:spPr>
          <a:xfrm>
            <a:off x="761695" y="2057400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5" descr="gen-dedup-8c1321c98cbafdb480b9c96a986efc69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9030" y="2190902"/>
            <a:ext cx="200254" cy="2670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485900" y="2000707"/>
            <a:ext cx="1524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마인드</a:t>
            </a:r>
            <a:endParaRPr lang="en-US" sz="2100" dirty="0"/>
          </a:p>
        </p:txBody>
      </p:sp>
      <p:sp>
        <p:nvSpPr>
          <p:cNvPr id="14" name="Text 6"/>
          <p:cNvSpPr txBox="1"/>
          <p:nvPr/>
        </p:nvSpPr>
        <p:spPr>
          <a:xfrm>
            <a:off x="1485900" y="2400300"/>
            <a:ext cx="180959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활용의 열쇠</a:t>
            </a:r>
            <a:endParaRPr lang="en-US" sz="1300" dirty="0"/>
          </a:p>
        </p:txBody>
      </p:sp>
      <p:sp>
        <p:nvSpPr>
          <p:cNvPr id="15" name="Text 7"/>
          <p:cNvSpPr txBox="1"/>
          <p:nvPr/>
        </p:nvSpPr>
        <p:spPr>
          <a:xfrm>
            <a:off x="761695" y="3143707"/>
            <a:ext cx="3620110" cy="2600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해결사가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아닌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</a:t>
            </a:r>
            <a:r>
              <a:rPr lang="en-US" sz="1900" b="1" dirty="0" err="1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강력한</a:t>
            </a:r>
            <a:r>
              <a:rPr lang="en-US" sz="1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b="1" dirty="0" err="1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</a:t>
            </a:r>
            <a:r>
              <a:rPr lang="en-US" sz="1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b="1" dirty="0" err="1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도구'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기준과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사람의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판단이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결합될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큰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시너지를</a:t>
            </a:r>
            <a:r>
              <a:rPr lang="en-US" sz="1900" dirty="0"/>
              <a:t> </a:t>
            </a:r>
            <a:r>
              <a:rPr lang="en-US" sz="19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발휘합니다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lang="en-US" sz="1900" dirty="0"/>
          </a:p>
        </p:txBody>
      </p:sp>
      <p:sp>
        <p:nvSpPr>
          <p:cNvPr id="16" name="Shape 8"/>
          <p:cNvSpPr/>
          <p:nvPr/>
        </p:nvSpPr>
        <p:spPr>
          <a:xfrm>
            <a:off x="5191049" y="1904695"/>
            <a:ext cx="6286500" cy="1304849"/>
          </a:xfrm>
          <a:prstGeom prst="roundRect">
            <a:avLst>
              <a:gd name="adj" fmla="val 12276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5191049" y="1904695"/>
            <a:ext cx="75895" cy="1304849"/>
          </a:xfrm>
          <a:prstGeom prst="roundRect">
            <a:avLst>
              <a:gd name="adj" fmla="val 211064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0"/>
          <p:cNvSpPr txBox="1"/>
          <p:nvPr/>
        </p:nvSpPr>
        <p:spPr>
          <a:xfrm>
            <a:off x="5959145" y="2095805"/>
            <a:ext cx="52898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01. 초안 생성 후 반드시 검토 </a:t>
            </a:r>
            <a:endParaRPr lang="en-US" sz="1800" dirty="0"/>
          </a:p>
        </p:txBody>
      </p:sp>
      <p:sp>
        <p:nvSpPr>
          <p:cNvPr id="19" name="Text 11"/>
          <p:cNvSpPr txBox="1"/>
          <p:nvPr/>
        </p:nvSpPr>
        <p:spPr>
          <a:xfrm>
            <a:off x="5495544" y="2486254"/>
            <a:ext cx="57534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AI로 빠르게 초안을 생성하되,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사실관계 확인과 최종 책임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반드시 실무 담당자가 직접 수행해야 합니다. 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5191049" y="3323844"/>
            <a:ext cx="6286500" cy="1304849"/>
          </a:xfrm>
          <a:prstGeom prst="roundRect">
            <a:avLst>
              <a:gd name="adj" fmla="val 12276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5191049" y="3323844"/>
            <a:ext cx="75895" cy="1304849"/>
          </a:xfrm>
          <a:prstGeom prst="roundRect">
            <a:avLst>
              <a:gd name="adj" fmla="val 211064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4"/>
          <p:cNvSpPr txBox="1"/>
          <p:nvPr/>
        </p:nvSpPr>
        <p:spPr>
          <a:xfrm>
            <a:off x="5959145" y="3514954"/>
            <a:ext cx="52898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02. 프롬프트(지시어) 표준화 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5495544" y="3905402"/>
            <a:ext cx="57534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원하는 결과물을 얻기 위한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최적의 지시어 구조를 템플릿화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팀원들과 공유하고 프로세스로 정착시킵니다. 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5191049" y="4743907"/>
            <a:ext cx="6286500" cy="1304849"/>
          </a:xfrm>
          <a:prstGeom prst="roundRect">
            <a:avLst>
              <a:gd name="adj" fmla="val 12276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5191049" y="4743907"/>
            <a:ext cx="75895" cy="1304849"/>
          </a:xfrm>
          <a:prstGeom prst="roundRect">
            <a:avLst>
              <a:gd name="adj" fmla="val 211064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5959145" y="4934102"/>
            <a:ext cx="52898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03. 명확한 문서 형식 제시 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5495544" y="5324551"/>
            <a:ext cx="57534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AI에게 요청할 때,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 작성 양식, 분량, 어조, 포함할 목차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사전에 명확하게 지정해야 합니다. </a:t>
            </a:r>
            <a:endParaRPr lang="en-US" sz="1500" dirty="0"/>
          </a:p>
        </p:txBody>
      </p:sp>
      <p:pic>
        <p:nvPicPr>
          <p:cNvPr id="28" name="Image 6" descr="gen-dedup-76cd3078b5ea3c7b6755910414d4e468.png"/>
          <p:cNvPicPr>
            <a:picLocks noChangeAspect="1"/>
          </p:cNvPicPr>
          <p:nvPr/>
        </p:nvPicPr>
        <p:blipFill>
          <a:blip r:embed="rId8"/>
          <a:srcRect l="-12600" r="-12600"/>
          <a:stretch/>
        </p:blipFill>
        <p:spPr>
          <a:xfrm>
            <a:off x="5495544" y="2162556"/>
            <a:ext cx="286207" cy="228600"/>
          </a:xfrm>
          <a:prstGeom prst="rect">
            <a:avLst/>
          </a:prstGeom>
        </p:spPr>
      </p:pic>
      <p:pic>
        <p:nvPicPr>
          <p:cNvPr id="29" name="Image 7" descr="gen-dedup-bddca01755be53badfd72ffffbc6ed76.png"/>
          <p:cNvPicPr>
            <a:picLocks noChangeAspect="1"/>
          </p:cNvPicPr>
          <p:nvPr/>
        </p:nvPicPr>
        <p:blipFill>
          <a:blip r:embed="rId9"/>
          <a:srcRect l="-5644" r="-5644"/>
          <a:stretch/>
        </p:blipFill>
        <p:spPr>
          <a:xfrm>
            <a:off x="5495544" y="3581705"/>
            <a:ext cx="286207" cy="228600"/>
          </a:xfrm>
          <a:prstGeom prst="rect">
            <a:avLst/>
          </a:prstGeom>
        </p:spPr>
      </p:pic>
      <p:pic>
        <p:nvPicPr>
          <p:cNvPr id="30" name="Image 8" descr="gen-dedup-5c99341df5a3b9f70c95cc2c53897bb8.png"/>
          <p:cNvPicPr>
            <a:picLocks noChangeAspect="1"/>
          </p:cNvPicPr>
          <p:nvPr/>
        </p:nvPicPr>
        <p:blipFill>
          <a:blip r:embed="rId10"/>
          <a:srcRect l="-33467" r="-33467"/>
          <a:stretch/>
        </p:blipFill>
        <p:spPr>
          <a:xfrm>
            <a:off x="5495544" y="5000854"/>
            <a:ext cx="286207" cy="228600"/>
          </a:xfrm>
          <a:prstGeom prst="rect">
            <a:avLst/>
          </a:prstGeom>
        </p:spPr>
      </p:pic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81305"/>
            <a:ext cx="1714500" cy="342900"/>
          </a:xfrm>
          <a:prstGeom prst="roundRect">
            <a:avLst>
              <a:gd name="adj" fmla="val 266667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571500" y="2286000"/>
            <a:ext cx="11125505" cy="1238098"/>
          </a:xfrm>
          <a:prstGeom prst="roundRect">
            <a:avLst>
              <a:gd name="adj" fmla="val 13635"/>
            </a:avLst>
          </a:prstGeom>
          <a:solidFill>
            <a:srgbClr val="FFFFFF">
              <a:alpha val="90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571500" y="2286000"/>
            <a:ext cx="75895" cy="1238098"/>
          </a:xfrm>
          <a:prstGeom prst="roundRect">
            <a:avLst>
              <a:gd name="adj" fmla="val 222429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71500" y="3715207"/>
            <a:ext cx="11125505" cy="1238098"/>
          </a:xfrm>
          <a:prstGeom prst="roundRect">
            <a:avLst>
              <a:gd name="adj" fmla="val 13635"/>
            </a:avLst>
          </a:prstGeom>
          <a:solidFill>
            <a:srgbClr val="FFFFFF">
              <a:alpha val="90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71500" y="3715207"/>
            <a:ext cx="75895" cy="1238098"/>
          </a:xfrm>
          <a:prstGeom prst="roundRect">
            <a:avLst>
              <a:gd name="adj" fmla="val 222429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143500"/>
            <a:ext cx="11125505" cy="1238098"/>
          </a:xfrm>
          <a:prstGeom prst="roundRect">
            <a:avLst>
              <a:gd name="adj" fmla="val 13635"/>
            </a:avLst>
          </a:prstGeom>
          <a:solidFill>
            <a:srgbClr val="FFFFFF">
              <a:alpha val="90000"/>
            </a:srgbClr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" y="5143500"/>
            <a:ext cx="75895" cy="1238098"/>
          </a:xfrm>
          <a:prstGeom prst="roundRect">
            <a:avLst>
              <a:gd name="adj" fmla="val 222429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d99cd60c468c864c01fc323aa00a2cb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3407" y="476402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90295" y="437998"/>
            <a:ext cx="1377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주의사항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905256"/>
            <a:ext cx="11049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69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시 </a:t>
            </a:r>
            <a:r>
              <a:rPr lang="en-US" sz="3400" b="1" kern="0" spc="-69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하지 말아야 할 것 (Don'ts)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1666951"/>
            <a:ext cx="11049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및 품질 리스크를 방지하기 위해 반드시 피해야 할 3가지 금지 사항입니다.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857707" y="2619756"/>
            <a:ext cx="571500" cy="5715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gen-dedup-fac2bc6b446a4c74e7b26f1a7f2e07c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9498" y="2771546"/>
            <a:ext cx="267005" cy="2670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14500" y="2523744"/>
            <a:ext cx="9525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무조건 신뢰하지 않기 (환각 현상 주의)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1714500" y="2980944"/>
            <a:ext cx="977127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생성한 정보는 사실과 다를 수 있습니다. 반드시 교차 검증과 팩트 체크를 수행해야 합니다.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57707" y="4048049"/>
            <a:ext cx="571500" cy="5715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gen-dedup-fcbd554f411863c2eb0622aecdabd253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1009498" y="4200754"/>
            <a:ext cx="267005" cy="2670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714500" y="3952951"/>
            <a:ext cx="9525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민감정보 입력 금지</a:t>
            </a:r>
            <a:endParaRPr lang="en-US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1714500" y="4410151"/>
            <a:ext cx="11179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고객의 개인정보, 회사의 재무 데이터, 미공개 핵심 기술 등 기밀정보는 절대 프롬프트에 입력해서는 안 됩니다.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857707" y="5477256"/>
            <a:ext cx="571500" cy="5715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gen-dedup-835e8b2062c5d9b1e56207eaa59ba76f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9498" y="5629046"/>
            <a:ext cx="267005" cy="2670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14500" y="5381244"/>
            <a:ext cx="9525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결정 위임 금지</a:t>
            </a:r>
            <a:endParaRPr lang="en-US" sz="2100" dirty="0"/>
          </a:p>
        </p:txBody>
      </p:sp>
      <p:sp>
        <p:nvSpPr>
          <p:cNvPr id="25" name="Text 18"/>
          <p:cNvSpPr txBox="1"/>
          <p:nvPr/>
        </p:nvSpPr>
        <p:spPr>
          <a:xfrm>
            <a:off x="1714500" y="5838444"/>
            <a:ext cx="105759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판단을 보조하는 도구일 뿐입니다. 업무에 대한 최종 승인과 책임은 항상 인간 담당자에게 있습니다.</a:t>
            </a:r>
            <a:endParaRPr lang="en-US" sz="16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1333195" cy="342900"/>
          </a:xfrm>
          <a:prstGeom prst="roundRect">
            <a:avLst>
              <a:gd name="adj" fmla="val 2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dae9eece0e870da4fa14a772ace49f6c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761695" y="2286000"/>
            <a:ext cx="3258007" cy="2829154"/>
          </a:xfrm>
          <a:prstGeom prst="rect">
            <a:avLst/>
          </a:prstGeom>
        </p:spPr>
      </p:pic>
      <p:pic>
        <p:nvPicPr>
          <p:cNvPr id="6" name="Image 2" descr="gen-dedup-dae9eece0e870da4fa14a772ace49f6c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4286707" y="2286000"/>
            <a:ext cx="3258007" cy="2829154"/>
          </a:xfrm>
          <a:prstGeom prst="rect">
            <a:avLst/>
          </a:prstGeom>
        </p:spPr>
      </p:pic>
      <p:pic>
        <p:nvPicPr>
          <p:cNvPr id="7" name="Image 3" descr="gen-dedup-dae9eece0e870da4fa14a772ace49f6c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7810805" y="2286000"/>
            <a:ext cx="3258007" cy="282915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761695" y="5429707"/>
            <a:ext cx="10705795" cy="1086307"/>
          </a:xfrm>
          <a:prstGeom prst="roundRect">
            <a:avLst>
              <a:gd name="adj" fmla="val 17721"/>
            </a:avLst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3"/>
          <p:cNvSpPr/>
          <p:nvPr/>
        </p:nvSpPr>
        <p:spPr>
          <a:xfrm>
            <a:off x="952805" y="2476195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4476902" y="2476195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8001000" y="2476195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gen-dedup-dd8a31e16cabf4f86131f640b5bf0eab.png"/>
          <p:cNvPicPr>
            <a:picLocks noChangeAspect="1"/>
          </p:cNvPicPr>
          <p:nvPr/>
        </p:nvPicPr>
        <p:blipFill>
          <a:blip r:embed="rId5"/>
          <a:srcRect t="-6250" b="-6250"/>
          <a:stretch/>
        </p:blipFill>
        <p:spPr>
          <a:xfrm>
            <a:off x="733349" y="476402"/>
            <a:ext cx="152705" cy="15270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000354" y="437998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방법</a:t>
            </a:r>
            <a:endParaRPr lang="en-US" sz="1200" dirty="0"/>
          </a:p>
        </p:txBody>
      </p:sp>
      <p:sp>
        <p:nvSpPr>
          <p:cNvPr id="14" name="Text 7"/>
          <p:cNvSpPr txBox="1"/>
          <p:nvPr/>
        </p:nvSpPr>
        <p:spPr>
          <a:xfrm>
            <a:off x="571500" y="952805"/>
            <a:ext cx="110496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 설계 </a:t>
            </a:r>
            <a:r>
              <a:rPr lang="en-US" sz="3900" b="1" kern="0" spc="-78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1-3단계</a:t>
            </a:r>
            <a:endParaRPr lang="en-US" sz="3900" dirty="0"/>
          </a:p>
        </p:txBody>
      </p:sp>
      <p:sp>
        <p:nvSpPr>
          <p:cNvPr id="15" name="Text 8"/>
          <p:cNvSpPr txBox="1"/>
          <p:nvPr/>
        </p:nvSpPr>
        <p:spPr>
          <a:xfrm>
            <a:off x="571500" y="1762049"/>
            <a:ext cx="11049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프로세스 설계를 위한 핵심 3단계</a:t>
            </a:r>
            <a:endParaRPr lang="en-US" sz="1600" dirty="0"/>
          </a:p>
        </p:txBody>
      </p:sp>
      <p:pic>
        <p:nvPicPr>
          <p:cNvPr id="16" name="Image 5" descr="gen-dedup-c1bd3365e2ccc8c0776f20680638238f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67105" y="2590495"/>
            <a:ext cx="228600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571854" y="2523744"/>
            <a:ext cx="2238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1200" dirty="0"/>
          </a:p>
        </p:txBody>
      </p:sp>
      <p:sp>
        <p:nvSpPr>
          <p:cNvPr id="18" name="Text 10"/>
          <p:cNvSpPr txBox="1"/>
          <p:nvPr/>
        </p:nvSpPr>
        <p:spPr>
          <a:xfrm>
            <a:off x="952805" y="3000146"/>
            <a:ext cx="28575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분석</a:t>
            </a:r>
            <a:endParaRPr lang="en-US" sz="2100" dirty="0"/>
          </a:p>
        </p:txBody>
      </p:sp>
      <p:sp>
        <p:nvSpPr>
          <p:cNvPr id="19" name="Text 11"/>
          <p:cNvSpPr txBox="1"/>
          <p:nvPr/>
        </p:nvSpPr>
        <p:spPr>
          <a:xfrm>
            <a:off x="952805" y="3702274"/>
            <a:ext cx="29761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니즈 파악 및 비즈니스 </a:t>
            </a:r>
            <a:r>
              <a:rPr lang="en-US" sz="15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5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</a:t>
            </a: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이해관계자 매핑 리포트 작성</a:t>
            </a:r>
            <a:endParaRPr lang="en-US" sz="1500" dirty="0"/>
          </a:p>
        </p:txBody>
      </p:sp>
      <p:pic>
        <p:nvPicPr>
          <p:cNvPr id="20" name="Image 6" descr="gen-dedup-c7a82e254909fdd79abfaa10c906869c.png"/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4591202" y="2590495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095951" y="2523744"/>
            <a:ext cx="2238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1200" dirty="0"/>
          </a:p>
        </p:txBody>
      </p:sp>
      <p:sp>
        <p:nvSpPr>
          <p:cNvPr id="22" name="Text 13"/>
          <p:cNvSpPr txBox="1"/>
          <p:nvPr/>
        </p:nvSpPr>
        <p:spPr>
          <a:xfrm>
            <a:off x="4476902" y="3000146"/>
            <a:ext cx="28575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 매핑</a:t>
            </a:r>
            <a:endParaRPr lang="en-US" sz="2100" dirty="0"/>
          </a:p>
        </p:txBody>
      </p:sp>
      <p:sp>
        <p:nvSpPr>
          <p:cNvPr id="23" name="Text 14"/>
          <p:cNvSpPr txBox="1"/>
          <p:nvPr/>
        </p:nvSpPr>
        <p:spPr>
          <a:xfrm>
            <a:off x="4476902" y="3702274"/>
            <a:ext cx="28575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프로세스 진단 및 TO-BE 모델 설계, 프로세스 플로우 차트 작성</a:t>
            </a:r>
            <a:endParaRPr lang="en-US" sz="1500" dirty="0"/>
          </a:p>
        </p:txBody>
      </p:sp>
      <p:pic>
        <p:nvPicPr>
          <p:cNvPr id="24" name="Image 7" descr="gen-dedup-a1ab2577deba6ac4ff183eb06f3282b0.png"/>
          <p:cNvPicPr>
            <a:picLocks noChangeAspect="1"/>
          </p:cNvPicPr>
          <p:nvPr/>
        </p:nvPicPr>
        <p:blipFill>
          <a:blip r:embed="rId8"/>
          <a:srcRect t="-12500" b="-12500"/>
          <a:stretch/>
        </p:blipFill>
        <p:spPr>
          <a:xfrm>
            <a:off x="8115300" y="2590495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8620049" y="2523744"/>
            <a:ext cx="2238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1200" dirty="0"/>
          </a:p>
        </p:txBody>
      </p:sp>
      <p:sp>
        <p:nvSpPr>
          <p:cNvPr id="26" name="Text 16"/>
          <p:cNvSpPr txBox="1"/>
          <p:nvPr/>
        </p:nvSpPr>
        <p:spPr>
          <a:xfrm>
            <a:off x="8001000" y="3000146"/>
            <a:ext cx="28575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인터페이스</a:t>
            </a:r>
            <a:endParaRPr lang="en-US" sz="2100" dirty="0"/>
          </a:p>
        </p:txBody>
      </p:sp>
      <p:sp>
        <p:nvSpPr>
          <p:cNvPr id="27" name="Text 17"/>
          <p:cNvSpPr txBox="1"/>
          <p:nvPr/>
        </p:nvSpPr>
        <p:spPr>
          <a:xfrm>
            <a:off x="8001000" y="3702274"/>
            <a:ext cx="285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간 데이터 흐름 및 연동 규격 정의, 데이터 아키텍처 다이어그램 작성</a:t>
            </a:r>
            <a:endParaRPr lang="en-US" sz="1500" dirty="0"/>
          </a:p>
        </p:txBody>
      </p:sp>
      <p:pic>
        <p:nvPicPr>
          <p:cNvPr id="28" name="Image 8" descr="gen-dedup-1128c0ca07888be1fc0d0cd2af0fbe3a.png"/>
          <p:cNvPicPr>
            <a:picLocks noChangeAspect="1"/>
          </p:cNvPicPr>
          <p:nvPr/>
        </p:nvPicPr>
        <p:blipFill>
          <a:blip r:embed="rId9"/>
          <a:srcRect l="-30000" r="-30000"/>
          <a:stretch/>
        </p:blipFill>
        <p:spPr>
          <a:xfrm>
            <a:off x="4028846" y="3504895"/>
            <a:ext cx="228600" cy="228600"/>
          </a:xfrm>
          <a:prstGeom prst="rect">
            <a:avLst/>
          </a:prstGeom>
        </p:spPr>
      </p:pic>
      <p:pic>
        <p:nvPicPr>
          <p:cNvPr id="29" name="Image 9" descr="gen-dedup-1128c0ca07888be1fc0d0cd2af0fbe3a.png"/>
          <p:cNvPicPr>
            <a:picLocks noChangeAspect="1"/>
          </p:cNvPicPr>
          <p:nvPr/>
        </p:nvPicPr>
        <p:blipFill>
          <a:blip r:embed="rId9"/>
          <a:srcRect l="-30000" r="-30000"/>
          <a:stretch/>
        </p:blipFill>
        <p:spPr>
          <a:xfrm>
            <a:off x="7552944" y="3504895"/>
            <a:ext cx="228600" cy="228600"/>
          </a:xfrm>
          <a:prstGeom prst="rect">
            <a:avLst/>
          </a:prstGeom>
        </p:spPr>
      </p:pic>
      <p:pic>
        <p:nvPicPr>
          <p:cNvPr id="30" name="Image 10" descr="gen-dedup-2eff5cc3a0b0d59393c0868fb063a7ca.png"/>
          <p:cNvPicPr>
            <a:picLocks noChangeAspect="1"/>
          </p:cNvPicPr>
          <p:nvPr/>
        </p:nvPicPr>
        <p:blipFill>
          <a:blip r:embed="rId10"/>
          <a:srcRect l="-16667" r="-16667"/>
          <a:stretch/>
        </p:blipFill>
        <p:spPr>
          <a:xfrm>
            <a:off x="1190549" y="5810098"/>
            <a:ext cx="381305" cy="381305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1809598" y="5572354"/>
            <a:ext cx="9335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1-3단계는 프로세스 </a:t>
            </a:r>
            <a:r>
              <a:rPr lang="en-US" sz="1800" b="1" dirty="0" err="1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설계의</a:t>
            </a: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</a:t>
            </a:r>
            <a:r>
              <a:rPr lang="en-US" sz="1800" b="1" dirty="0" err="1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</a:t>
            </a: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구축하는 단계입니다.</a:t>
            </a:r>
            <a:endParaRPr lang="en-US" sz="1800" dirty="0"/>
          </a:p>
        </p:txBody>
      </p:sp>
      <p:sp>
        <p:nvSpPr>
          <p:cNvPr id="32" name="Text 19"/>
          <p:cNvSpPr txBox="1"/>
          <p:nvPr/>
        </p:nvSpPr>
        <p:spPr>
          <a:xfrm>
            <a:off x="1809598" y="5968289"/>
            <a:ext cx="9335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분석 → 프로세스 매핑 → 시스템 인터페이스 순으로 진행됩니다.</a:t>
            </a:r>
            <a:endParaRPr lang="en-US" sz="1300" dirty="0"/>
          </a:p>
        </p:txBody>
      </p:sp>
      <p:sp>
        <p:nvSpPr>
          <p:cNvPr id="33" name="Shape 20"/>
          <p:cNvSpPr/>
          <p:nvPr/>
        </p:nvSpPr>
        <p:spPr>
          <a:xfrm>
            <a:off x="4570065" y="5544007"/>
            <a:ext cx="1104595" cy="371246"/>
          </a:xfrm>
          <a:prstGeom prst="roundRect">
            <a:avLst>
              <a:gd name="adj" fmla="val 10104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1"/>
          <p:cNvSpPr txBox="1"/>
          <p:nvPr/>
        </p:nvSpPr>
        <p:spPr>
          <a:xfrm>
            <a:off x="4570061" y="5544007"/>
            <a:ext cx="1237886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기반</a:t>
            </a:r>
            <a:endParaRPr lang="en-US" sz="18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1333195" cy="342900"/>
          </a:xfrm>
          <a:prstGeom prst="roundRect">
            <a:avLst>
              <a:gd name="adj" fmla="val 2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1607dd2878b1e1cc9ac16292525a3e09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761695" y="2286000"/>
            <a:ext cx="4972507" cy="397215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52805" y="4762195"/>
            <a:ext cx="4591202" cy="1257300"/>
          </a:xfrm>
          <a:prstGeom prst="roundRect">
            <a:avLst>
              <a:gd name="adj" fmla="val 881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2" descr="gen-dedup-1607dd2878b1e1cc9ac16292525a3e09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6476695" y="2286000"/>
            <a:ext cx="4972507" cy="397215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667805" y="4762195"/>
            <a:ext cx="4591202" cy="1257300"/>
          </a:xfrm>
          <a:prstGeom prst="roundRect">
            <a:avLst>
              <a:gd name="adj" fmla="val 881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761695" y="6334049"/>
            <a:ext cx="10705795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952805" y="2476195"/>
            <a:ext cx="571500" cy="5715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6667805" y="2476195"/>
            <a:ext cx="571500" cy="5715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gen-dedup-6e03fda44d95adb1e628f4a8e9aeb36c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3349" y="476402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00354" y="437998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방법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952805"/>
            <a:ext cx="110496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업무프로세스 설계 </a:t>
            </a:r>
            <a:r>
              <a:rPr lang="en-US" sz="3900" b="1" kern="0" spc="-78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4-5단계</a:t>
            </a:r>
            <a:endParaRPr lang="en-US" sz="3900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1762049"/>
            <a:ext cx="11049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프로세스 설계를 위한 최종 검증 및 실행 단계</a:t>
            </a:r>
            <a:endParaRPr lang="en-US" sz="1600" dirty="0"/>
          </a:p>
        </p:txBody>
      </p:sp>
      <p:pic>
        <p:nvPicPr>
          <p:cNvPr id="16" name="Image 4" descr="gen-dedup-9c925f2e9c74704ed77b06b4432f5622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1104595" y="2628900"/>
            <a:ext cx="267005" cy="2670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714500" y="252374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04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952805" y="3143707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검증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952805" y="3715207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프로세스가 실제 업무 환경에서 원활하게 작동하는지 확인하는 단계입니다. 예상치 못한 문제를 식별하고 수정합니다.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390802" y="4953305"/>
            <a:ext cx="39438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활동: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5277002"/>
            <a:ext cx="4191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파일럿 테스트 수행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이해관계자 피드백 수집</a:t>
            </a:r>
            <a:endParaRPr lang="en-US" sz="1200" dirty="0"/>
          </a:p>
        </p:txBody>
      </p:sp>
      <p:pic>
        <p:nvPicPr>
          <p:cNvPr id="22" name="Image 5" descr="gen-dedup-7a140ea81b7918078382925b47c3a2b9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43000" y="5002682"/>
            <a:ext cx="171907" cy="171907"/>
          </a:xfrm>
          <a:prstGeom prst="rect">
            <a:avLst/>
          </a:prstGeom>
        </p:spPr>
      </p:pic>
      <p:pic>
        <p:nvPicPr>
          <p:cNvPr id="23" name="Image 6" descr="gen-dedup-7ba694d81f2d689b0b11fbfb6a954273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19595" y="2628900"/>
            <a:ext cx="267005" cy="26700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429500" y="252374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05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6667805" y="3143707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및 모니터링</a:t>
            </a:r>
            <a:endParaRPr lang="en-US" sz="2100" dirty="0"/>
          </a:p>
        </p:txBody>
      </p:sp>
      <p:sp>
        <p:nvSpPr>
          <p:cNvPr id="26" name="Text 17"/>
          <p:cNvSpPr txBox="1"/>
          <p:nvPr/>
        </p:nvSpPr>
        <p:spPr>
          <a:xfrm>
            <a:off x="6667805" y="3715207"/>
            <a:ext cx="4572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프로세스를 전사적으로 배포하고 지속적인 성과 모니터링을 통해 개선 기회를 발굴합니다.</a:t>
            </a:r>
            <a:endParaRPr lang="en-US" sz="1500" dirty="0"/>
          </a:p>
        </p:txBody>
      </p:sp>
      <p:sp>
        <p:nvSpPr>
          <p:cNvPr id="27" name="Text 18"/>
          <p:cNvSpPr txBox="1"/>
          <p:nvPr/>
        </p:nvSpPr>
        <p:spPr>
          <a:xfrm>
            <a:off x="7105802" y="4953305"/>
            <a:ext cx="39438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활동: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6858000" y="5277002"/>
            <a:ext cx="4191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전사 배포 및 교육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성과 지표 모니터링</a:t>
            </a:r>
            <a:endParaRPr lang="en-US" sz="1200" dirty="0"/>
          </a:p>
        </p:txBody>
      </p:sp>
      <p:pic>
        <p:nvPicPr>
          <p:cNvPr id="29" name="Image 7" descr="gen-dedup-2aa1a09a2ba48f96588ea7b110659cb5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858000" y="5002682"/>
            <a:ext cx="171907" cy="171907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390802" y="6381598"/>
            <a:ext cx="92775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4-5단계는 프로세스 설계의 완성과 지속적 개선을 위한 단계입니다.</a:t>
            </a:r>
            <a:endParaRPr lang="en-US" sz="1300" dirty="0"/>
          </a:p>
        </p:txBody>
      </p:sp>
      <p:pic>
        <p:nvPicPr>
          <p:cNvPr id="31" name="Image 8" descr="gen-dedup-4fa5bf5d6b7f5db7effc61845ffcfec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43000" y="6441034"/>
            <a:ext cx="171907" cy="171907"/>
          </a:xfrm>
          <a:prstGeom prst="rect">
            <a:avLst/>
          </a:prstGeom>
        </p:spPr>
      </p:pic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692555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133319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5b854fc218dff9794a7ec73f4740a0c8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428854" y="2381098"/>
            <a:ext cx="1943100" cy="1619402"/>
          </a:xfrm>
          <a:prstGeom prst="rect">
            <a:avLst/>
          </a:prstGeom>
        </p:spPr>
      </p:pic>
      <p:pic>
        <p:nvPicPr>
          <p:cNvPr id="6" name="Image 2" descr="gen-dedup-5b854fc218dff9794a7ec73f4740a0c8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2809951" y="2381098"/>
            <a:ext cx="1943100" cy="1619402"/>
          </a:xfrm>
          <a:prstGeom prst="rect">
            <a:avLst/>
          </a:prstGeom>
        </p:spPr>
      </p:pic>
      <p:pic>
        <p:nvPicPr>
          <p:cNvPr id="7" name="Image 3" descr="gen-dedup-af27eebd4791266ccab9eda093ed7fa6.png"/>
          <p:cNvPicPr>
            <a:picLocks noChangeAspect="1"/>
          </p:cNvPicPr>
          <p:nvPr/>
        </p:nvPicPr>
        <p:blipFill>
          <a:blip r:embed="rId5"/>
          <a:srcRect t="-5" b="-5"/>
          <a:stretch/>
        </p:blipFill>
        <p:spPr>
          <a:xfrm>
            <a:off x="5191049" y="2381098"/>
            <a:ext cx="1943100" cy="1619402"/>
          </a:xfrm>
          <a:prstGeom prst="rect">
            <a:avLst/>
          </a:prstGeom>
        </p:spPr>
      </p:pic>
      <p:pic>
        <p:nvPicPr>
          <p:cNvPr id="8" name="Image 4" descr="gen-dedup-5b854fc218dff9794a7ec73f4740a0c8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7572146" y="2381098"/>
            <a:ext cx="1943100" cy="1619402"/>
          </a:xfrm>
          <a:prstGeom prst="rect">
            <a:avLst/>
          </a:prstGeom>
        </p:spPr>
      </p:pic>
      <p:pic>
        <p:nvPicPr>
          <p:cNvPr id="9" name="Image 5" descr="gen-dedup-dbd5f78a1daae9a4051d599201387b94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9953244" y="2381098"/>
            <a:ext cx="1848002" cy="1619402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571500" y="4572000"/>
            <a:ext cx="11087100" cy="1752905"/>
          </a:xfrm>
          <a:prstGeom prst="roundRect">
            <a:avLst>
              <a:gd name="adj" fmla="val 9072"/>
            </a:avLst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6" descr="gen-dedup-291c60ad5ab1118460e77f575cbe0d38.png"/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714146" y="507492"/>
            <a:ext cx="171907" cy="171907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1000354" y="457200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예시</a:t>
            </a:r>
            <a:endParaRPr lang="en-US" sz="1200" dirty="0"/>
          </a:p>
        </p:txBody>
      </p:sp>
      <p:sp>
        <p:nvSpPr>
          <p:cNvPr id="13" name="Text 4"/>
          <p:cNvSpPr txBox="1"/>
          <p:nvPr/>
        </p:nvSpPr>
        <p:spPr>
          <a:xfrm>
            <a:off x="571500" y="952805"/>
            <a:ext cx="110496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작성 업무 </a:t>
            </a:r>
            <a:r>
              <a:rPr lang="en-US" sz="3900" b="1" kern="0" spc="-78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 플로우</a:t>
            </a:r>
            <a:endParaRPr lang="en-US" sz="3900" dirty="0"/>
          </a:p>
        </p:txBody>
      </p:sp>
      <p:sp>
        <p:nvSpPr>
          <p:cNvPr id="14" name="Text 5"/>
          <p:cNvSpPr txBox="1"/>
          <p:nvPr/>
        </p:nvSpPr>
        <p:spPr>
          <a:xfrm>
            <a:off x="523951" y="2572207"/>
            <a:ext cx="1714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</a:t>
            </a:r>
            <a:endParaRPr lang="en-US" sz="1500" dirty="0"/>
          </a:p>
        </p:txBody>
      </p:sp>
      <p:sp>
        <p:nvSpPr>
          <p:cNvPr id="15" name="Text 6"/>
          <p:cNvSpPr txBox="1"/>
          <p:nvPr/>
        </p:nvSpPr>
        <p:spPr>
          <a:xfrm>
            <a:off x="523951" y="2905049"/>
            <a:ext cx="1714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수집</a:t>
            </a:r>
            <a:endParaRPr lang="en-US" sz="2100" dirty="0"/>
          </a:p>
        </p:txBody>
      </p:sp>
      <p:sp>
        <p:nvSpPr>
          <p:cNvPr id="16" name="Text 7"/>
          <p:cNvSpPr txBox="1"/>
          <p:nvPr/>
        </p:nvSpPr>
        <p:spPr>
          <a:xfrm>
            <a:off x="1279246" y="3381451"/>
            <a:ext cx="95920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10분</a:t>
            </a:r>
            <a:endParaRPr lang="en-US" sz="1900" dirty="0"/>
          </a:p>
        </p:txBody>
      </p:sp>
      <p:pic>
        <p:nvPicPr>
          <p:cNvPr id="17" name="Image 7" descr="gen-dedup-3d1c8cf35f17ecfec5ba12dddfea613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2863" y="3450031"/>
            <a:ext cx="247802" cy="247802"/>
          </a:xfrm>
          <a:prstGeom prst="rect">
            <a:avLst/>
          </a:prstGeom>
        </p:spPr>
      </p:pic>
      <p:pic>
        <p:nvPicPr>
          <p:cNvPr id="18" name="Image 8" descr="gen-dedup-2bc4f5108c9e1dba59e7fc10b7d7946d.png"/>
          <p:cNvPicPr>
            <a:picLocks noChangeAspect="1"/>
          </p:cNvPicPr>
          <p:nvPr/>
        </p:nvPicPr>
        <p:blipFill>
          <a:blip r:embed="rId9"/>
          <a:srcRect l="-30000" r="-30000"/>
          <a:stretch/>
        </p:blipFill>
        <p:spPr>
          <a:xfrm>
            <a:off x="2428646" y="3083357"/>
            <a:ext cx="286207" cy="286207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2905049" y="2572207"/>
            <a:ext cx="1714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</a:t>
            </a:r>
            <a:endParaRPr lang="en-US" sz="1500" dirty="0"/>
          </a:p>
        </p:txBody>
      </p:sp>
      <p:sp>
        <p:nvSpPr>
          <p:cNvPr id="20" name="Text 9"/>
          <p:cNvSpPr txBox="1"/>
          <p:nvPr/>
        </p:nvSpPr>
        <p:spPr>
          <a:xfrm>
            <a:off x="2905049" y="2905049"/>
            <a:ext cx="1714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정리</a:t>
            </a:r>
            <a:endParaRPr lang="en-US" sz="2100" dirty="0"/>
          </a:p>
        </p:txBody>
      </p:sp>
      <p:sp>
        <p:nvSpPr>
          <p:cNvPr id="21" name="Text 10"/>
          <p:cNvSpPr txBox="1"/>
          <p:nvPr/>
        </p:nvSpPr>
        <p:spPr>
          <a:xfrm>
            <a:off x="3660343" y="3381451"/>
            <a:ext cx="95920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15분</a:t>
            </a:r>
            <a:endParaRPr lang="en-US" sz="1900" dirty="0"/>
          </a:p>
        </p:txBody>
      </p:sp>
      <p:pic>
        <p:nvPicPr>
          <p:cNvPr id="22" name="Image 9" descr="gen-dedup-3d1c8cf35f17ecfec5ba12dddfea613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343961" y="3450031"/>
            <a:ext cx="247802" cy="247802"/>
          </a:xfrm>
          <a:prstGeom prst="rect">
            <a:avLst/>
          </a:prstGeom>
        </p:spPr>
      </p:pic>
      <p:pic>
        <p:nvPicPr>
          <p:cNvPr id="23" name="Image 10" descr="gen-dedup-2bc4f5108c9e1dba59e7fc10b7d7946d.png"/>
          <p:cNvPicPr>
            <a:picLocks noChangeAspect="1"/>
          </p:cNvPicPr>
          <p:nvPr/>
        </p:nvPicPr>
        <p:blipFill>
          <a:blip r:embed="rId9"/>
          <a:srcRect l="-30000" r="-30000"/>
          <a:stretch/>
        </p:blipFill>
        <p:spPr>
          <a:xfrm>
            <a:off x="4809744" y="3083357"/>
            <a:ext cx="286207" cy="286207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5286146" y="2572207"/>
            <a:ext cx="1714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</a:t>
            </a:r>
            <a:endParaRPr lang="en-US" sz="1500" dirty="0"/>
          </a:p>
        </p:txBody>
      </p:sp>
      <p:sp>
        <p:nvSpPr>
          <p:cNvPr id="25" name="Text 12"/>
          <p:cNvSpPr txBox="1"/>
          <p:nvPr/>
        </p:nvSpPr>
        <p:spPr>
          <a:xfrm>
            <a:off x="5286146" y="2905049"/>
            <a:ext cx="1714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작성</a:t>
            </a:r>
            <a:endParaRPr lang="en-US" sz="2100" dirty="0"/>
          </a:p>
        </p:txBody>
      </p:sp>
      <p:sp>
        <p:nvSpPr>
          <p:cNvPr id="26" name="Text 13"/>
          <p:cNvSpPr txBox="1"/>
          <p:nvPr/>
        </p:nvSpPr>
        <p:spPr>
          <a:xfrm>
            <a:off x="6041441" y="3381451"/>
            <a:ext cx="95920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30분</a:t>
            </a:r>
            <a:endParaRPr lang="en-US" sz="1900" dirty="0"/>
          </a:p>
        </p:txBody>
      </p:sp>
      <p:pic>
        <p:nvPicPr>
          <p:cNvPr id="27" name="Image 11" descr="gen-dedup-3d1c8cf35f17ecfec5ba12dddfea613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25058" y="3450031"/>
            <a:ext cx="247802" cy="247802"/>
          </a:xfrm>
          <a:prstGeom prst="rect">
            <a:avLst/>
          </a:prstGeom>
        </p:spPr>
      </p:pic>
      <p:pic>
        <p:nvPicPr>
          <p:cNvPr id="28" name="Image 12" descr="gen-dedup-2bc4f5108c9e1dba59e7fc10b7d7946d.png"/>
          <p:cNvPicPr>
            <a:picLocks noChangeAspect="1"/>
          </p:cNvPicPr>
          <p:nvPr/>
        </p:nvPicPr>
        <p:blipFill>
          <a:blip r:embed="rId9"/>
          <a:srcRect l="-30000" r="-30000"/>
          <a:stretch/>
        </p:blipFill>
        <p:spPr>
          <a:xfrm>
            <a:off x="7191756" y="3083357"/>
            <a:ext cx="286207" cy="286207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7667244" y="2572207"/>
            <a:ext cx="1714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</a:t>
            </a:r>
            <a:endParaRPr lang="en-US" sz="1500" dirty="0"/>
          </a:p>
        </p:txBody>
      </p:sp>
      <p:sp>
        <p:nvSpPr>
          <p:cNvPr id="30" name="Text 15"/>
          <p:cNvSpPr txBox="1"/>
          <p:nvPr/>
        </p:nvSpPr>
        <p:spPr>
          <a:xfrm>
            <a:off x="7667244" y="2905049"/>
            <a:ext cx="1714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검토·수정</a:t>
            </a:r>
            <a:endParaRPr lang="en-US" sz="2100" dirty="0"/>
          </a:p>
        </p:txBody>
      </p:sp>
      <p:sp>
        <p:nvSpPr>
          <p:cNvPr id="31" name="Text 16"/>
          <p:cNvSpPr txBox="1"/>
          <p:nvPr/>
        </p:nvSpPr>
        <p:spPr>
          <a:xfrm>
            <a:off x="8422538" y="3381451"/>
            <a:ext cx="95920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20분</a:t>
            </a:r>
            <a:endParaRPr lang="en-US" sz="1900" dirty="0"/>
          </a:p>
        </p:txBody>
      </p:sp>
      <p:pic>
        <p:nvPicPr>
          <p:cNvPr id="32" name="Image 13" descr="gen-dedup-3d1c8cf35f17ecfec5ba12dddfea613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06156" y="3450031"/>
            <a:ext cx="247802" cy="247802"/>
          </a:xfrm>
          <a:prstGeom prst="rect">
            <a:avLst/>
          </a:prstGeom>
        </p:spPr>
      </p:pic>
      <p:pic>
        <p:nvPicPr>
          <p:cNvPr id="33" name="Image 14" descr="gen-dedup-2bc4f5108c9e1dba59e7fc10b7d7946d.png"/>
          <p:cNvPicPr>
            <a:picLocks noChangeAspect="1"/>
          </p:cNvPicPr>
          <p:nvPr/>
        </p:nvPicPr>
        <p:blipFill>
          <a:blip r:embed="rId9"/>
          <a:srcRect l="-30000" r="-30000"/>
          <a:stretch/>
        </p:blipFill>
        <p:spPr>
          <a:xfrm>
            <a:off x="9572854" y="3083357"/>
            <a:ext cx="286207" cy="286207"/>
          </a:xfrm>
          <a:prstGeom prst="rect">
            <a:avLst/>
          </a:prstGeom>
        </p:spPr>
      </p:pic>
      <p:sp>
        <p:nvSpPr>
          <p:cNvPr id="34" name="Text 17"/>
          <p:cNvSpPr txBox="1"/>
          <p:nvPr/>
        </p:nvSpPr>
        <p:spPr>
          <a:xfrm>
            <a:off x="10049256" y="2572207"/>
            <a:ext cx="1619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</a:t>
            </a:r>
            <a:endParaRPr lang="en-US" sz="1500" dirty="0"/>
          </a:p>
        </p:txBody>
      </p:sp>
      <p:sp>
        <p:nvSpPr>
          <p:cNvPr id="35" name="Text 18"/>
          <p:cNvSpPr txBox="1"/>
          <p:nvPr/>
        </p:nvSpPr>
        <p:spPr>
          <a:xfrm>
            <a:off x="10049256" y="2905049"/>
            <a:ext cx="16194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제출</a:t>
            </a:r>
            <a:endParaRPr lang="en-US" sz="2100" dirty="0"/>
          </a:p>
        </p:txBody>
      </p:sp>
      <p:sp>
        <p:nvSpPr>
          <p:cNvPr id="36" name="Text 19"/>
          <p:cNvSpPr txBox="1"/>
          <p:nvPr/>
        </p:nvSpPr>
        <p:spPr>
          <a:xfrm>
            <a:off x="10830154" y="3381451"/>
            <a:ext cx="8385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5분</a:t>
            </a:r>
            <a:endParaRPr lang="en-US" sz="1900" dirty="0"/>
          </a:p>
        </p:txBody>
      </p:sp>
      <p:pic>
        <p:nvPicPr>
          <p:cNvPr id="37" name="Image 15" descr="gen-dedup-3d1c8cf35f17ecfec5ba12dddfea613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12857" y="3450031"/>
            <a:ext cx="247802" cy="247802"/>
          </a:xfrm>
          <a:prstGeom prst="rect">
            <a:avLst/>
          </a:prstGeom>
        </p:spPr>
      </p:pic>
      <p:pic>
        <p:nvPicPr>
          <p:cNvPr id="38" name="Image 16" descr="gen-dedup-fbff1836d5a48c6b2fa8752f35ad4df0.png"/>
          <p:cNvPicPr>
            <a:picLocks noChangeAspect="1"/>
          </p:cNvPicPr>
          <p:nvPr/>
        </p:nvPicPr>
        <p:blipFill>
          <a:blip r:embed="rId10"/>
          <a:srcRect l="-7143" r="-7143"/>
          <a:stretch/>
        </p:blipFill>
        <p:spPr>
          <a:xfrm>
            <a:off x="1143000" y="5309921"/>
            <a:ext cx="571500" cy="571500"/>
          </a:xfrm>
          <a:prstGeom prst="rect">
            <a:avLst/>
          </a:prstGeom>
        </p:spPr>
      </p:pic>
      <p:sp>
        <p:nvSpPr>
          <p:cNvPr id="39" name="Text 20"/>
          <p:cNvSpPr txBox="1"/>
          <p:nvPr/>
        </p:nvSpPr>
        <p:spPr>
          <a:xfrm>
            <a:off x="2095805" y="5162702"/>
            <a:ext cx="67153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프로세스의  입니다.</a:t>
            </a:r>
            <a:endParaRPr lang="en-US" sz="3000" dirty="0"/>
          </a:p>
        </p:txBody>
      </p:sp>
      <p:sp>
        <p:nvSpPr>
          <p:cNvPr id="40" name="Shape 21"/>
          <p:cNvSpPr/>
          <p:nvPr/>
        </p:nvSpPr>
        <p:spPr>
          <a:xfrm>
            <a:off x="4411980" y="5152644"/>
            <a:ext cx="3114446" cy="552298"/>
          </a:xfrm>
          <a:prstGeom prst="roundRect">
            <a:avLst>
              <a:gd name="adj" fmla="val 4567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2"/>
          <p:cNvSpPr txBox="1"/>
          <p:nvPr/>
        </p:nvSpPr>
        <p:spPr>
          <a:xfrm>
            <a:off x="4411980" y="5152644"/>
            <a:ext cx="4178808" cy="5532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0" rIns="10160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소요시간: 80분</a:t>
            </a:r>
            <a:endParaRPr lang="en-US" sz="30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40f37072f673e7acf943ed19e988b9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402" y="1714500"/>
            <a:ext cx="4229100" cy="4800600"/>
          </a:xfrm>
          <a:prstGeom prst="rect">
            <a:avLst/>
          </a:prstGeom>
        </p:spPr>
      </p:pic>
      <p:pic>
        <p:nvPicPr>
          <p:cNvPr id="4" name="Image 2" descr="gen-dedup-f3503fb290d1aaa379c9097ed6bdcdb7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4953305" y="1714500"/>
            <a:ext cx="6782105" cy="48006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76402" y="923544"/>
            <a:ext cx="112398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사례1: 회의록 작성 </a:t>
            </a:r>
            <a:r>
              <a:rPr lang="en-US" sz="3900" b="1" kern="0" spc="-78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(개선 후)</a:t>
            </a:r>
            <a:endParaRPr lang="en-US" sz="3900" dirty="0"/>
          </a:p>
        </p:txBody>
      </p:sp>
      <p:sp>
        <p:nvSpPr>
          <p:cNvPr id="6" name="Text 1"/>
          <p:cNvSpPr txBox="1"/>
          <p:nvPr/>
        </p:nvSpPr>
        <p:spPr>
          <a:xfrm>
            <a:off x="7355394" y="1251585"/>
            <a:ext cx="449144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요약 활용을 통한 효율성 향상 · 가상 사례</a:t>
            </a:r>
            <a:endParaRPr lang="en-US" sz="1800" dirty="0"/>
          </a:p>
        </p:txBody>
      </p:sp>
      <p:pic>
        <p:nvPicPr>
          <p:cNvPr id="7" name="Image 3" descr="gen-dedup-1df78c15d032186271a2bc9dbf707406.png"/>
          <p:cNvPicPr>
            <a:picLocks noChangeAspect="1"/>
          </p:cNvPicPr>
          <p:nvPr/>
        </p:nvPicPr>
        <p:blipFill>
          <a:blip r:embed="rId6"/>
          <a:srcRect l="-206" r="-206"/>
          <a:stretch/>
        </p:blipFill>
        <p:spPr>
          <a:xfrm>
            <a:off x="476402" y="381305"/>
            <a:ext cx="1867205" cy="42885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33602" y="381305"/>
            <a:ext cx="1410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1: 개선 후 </a:t>
            </a:r>
            <a:endParaRPr lang="en-US" sz="1500" dirty="0"/>
          </a:p>
        </p:txBody>
      </p:sp>
      <p:pic>
        <p:nvPicPr>
          <p:cNvPr id="9" name="Image 4" descr="gen-dedup-600d2d35b1d165dfce4a303b2dceeda9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6598" y="509321"/>
            <a:ext cx="190195" cy="190195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61695" y="2868244"/>
            <a:ext cx="36383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4"/>
          <p:cNvSpPr/>
          <p:nvPr/>
        </p:nvSpPr>
        <p:spPr>
          <a:xfrm>
            <a:off x="761695" y="2178786"/>
            <a:ext cx="495605" cy="495605"/>
          </a:xfrm>
          <a:prstGeom prst="roundRect">
            <a:avLst>
              <a:gd name="adj" fmla="val 99347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5" descr="gen-dedup-fbf446847ed3dff6e5cec6954ff5bd51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6054" y="2302230"/>
            <a:ext cx="247802" cy="247802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399946" y="2125751"/>
            <a:ext cx="190286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개선 효과</a:t>
            </a:r>
            <a:endParaRPr lang="en-US" sz="1900" dirty="0"/>
          </a:p>
        </p:txBody>
      </p:sp>
      <p:sp>
        <p:nvSpPr>
          <p:cNvPr id="14" name="Text 6"/>
          <p:cNvSpPr txBox="1"/>
          <p:nvPr/>
        </p:nvSpPr>
        <p:spPr>
          <a:xfrm>
            <a:off x="1399946" y="2497912"/>
            <a:ext cx="1515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자동화 도입</a:t>
            </a:r>
            <a:endParaRPr lang="en-US" sz="1200" dirty="0"/>
          </a:p>
        </p:txBody>
      </p:sp>
      <p:sp>
        <p:nvSpPr>
          <p:cNvPr id="15" name="Text 7"/>
          <p:cNvSpPr txBox="1"/>
          <p:nvPr/>
        </p:nvSpPr>
        <p:spPr>
          <a:xfrm>
            <a:off x="761695" y="3031007"/>
            <a:ext cx="36393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회의 후 수작업 작성 방식을 탈피해,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압도적인 시간 단축과 품질 향상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이루어 냈습니다. </a:t>
            </a:r>
            <a:endParaRPr lang="en-US" sz="1500" dirty="0"/>
          </a:p>
        </p:txBody>
      </p:sp>
      <p:sp>
        <p:nvSpPr>
          <p:cNvPr id="16" name="Shape 8"/>
          <p:cNvSpPr/>
          <p:nvPr/>
        </p:nvSpPr>
        <p:spPr>
          <a:xfrm>
            <a:off x="761695" y="4078910"/>
            <a:ext cx="3638398" cy="1505102"/>
          </a:xfrm>
          <a:prstGeom prst="roundRect">
            <a:avLst>
              <a:gd name="adj" fmla="val 92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9"/>
          <p:cNvSpPr txBox="1"/>
          <p:nvPr/>
        </p:nvSpPr>
        <p:spPr>
          <a:xfrm>
            <a:off x="914400" y="42307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시간 변화</a:t>
            </a:r>
            <a:endParaRPr lang="en-US" sz="1200" dirty="0"/>
          </a:p>
        </p:txBody>
      </p:sp>
      <p:sp>
        <p:nvSpPr>
          <p:cNvPr id="18" name="Text 10"/>
          <p:cNvSpPr txBox="1"/>
          <p:nvPr/>
        </p:nvSpPr>
        <p:spPr>
          <a:xfrm>
            <a:off x="1787652" y="4507763"/>
            <a:ext cx="246065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 </a:t>
            </a:r>
            <a:r>
              <a:rPr lang="en-US" altLang="ko-KR" sz="18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-&gt;</a:t>
            </a:r>
            <a:r>
              <a:rPr lang="en-US" sz="18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2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15분</a:t>
            </a:r>
            <a:endParaRPr lang="en-US" sz="2800" dirty="0"/>
          </a:p>
        </p:txBody>
      </p:sp>
      <p:pic>
        <p:nvPicPr>
          <p:cNvPr id="19" name="Image 6" descr="gen-dedup-64fc22b4f6bef9884af71ce2e916ccae.png"/>
          <p:cNvPicPr>
            <a:picLocks noChangeAspect="1"/>
          </p:cNvPicPr>
          <p:nvPr/>
        </p:nvPicPr>
        <p:blipFill>
          <a:blip r:embed="rId9"/>
          <a:srcRect l="-71" r="-71"/>
          <a:stretch/>
        </p:blipFill>
        <p:spPr>
          <a:xfrm>
            <a:off x="966521" y="5145100"/>
            <a:ext cx="961949" cy="286207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242670" y="5145100"/>
            <a:ext cx="6867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75% 단축</a:t>
            </a:r>
            <a:endParaRPr lang="en-US" sz="1000" dirty="0"/>
          </a:p>
        </p:txBody>
      </p:sp>
      <p:pic>
        <p:nvPicPr>
          <p:cNvPr id="21" name="Image 7" descr="gen-dedup-182c459bcc0d34ac1320b7a44394c52c.png"/>
          <p:cNvPicPr>
            <a:picLocks noChangeAspect="1"/>
          </p:cNvPicPr>
          <p:nvPr/>
        </p:nvPicPr>
        <p:blipFill>
          <a:blip r:embed="rId10"/>
          <a:srcRect l="-95" r="-95"/>
          <a:stretch/>
        </p:blipFill>
        <p:spPr>
          <a:xfrm>
            <a:off x="2002536" y="5145100"/>
            <a:ext cx="1104595" cy="286207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2297887" y="5145100"/>
            <a:ext cx="8101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95% 만족도</a:t>
            </a:r>
            <a:endParaRPr lang="en-US" sz="1000" dirty="0"/>
          </a:p>
        </p:txBody>
      </p:sp>
      <p:pic>
        <p:nvPicPr>
          <p:cNvPr id="23" name="Image 8" descr="gen-dedup-22ed85228b2549c6649a15e0851754fe.png"/>
          <p:cNvPicPr>
            <a:picLocks noChangeAspect="1"/>
          </p:cNvPicPr>
          <p:nvPr/>
        </p:nvPicPr>
        <p:blipFill>
          <a:blip r:embed="rId11"/>
          <a:srcRect l="-78" r="-78"/>
          <a:stretch/>
        </p:blipFill>
        <p:spPr>
          <a:xfrm>
            <a:off x="3179369" y="5145100"/>
            <a:ext cx="1019556" cy="286207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3474720" y="5145100"/>
            <a:ext cx="7242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3배 생산성</a:t>
            </a:r>
            <a:endParaRPr lang="en-US" sz="1000" dirty="0"/>
          </a:p>
        </p:txBody>
      </p:sp>
      <p:pic>
        <p:nvPicPr>
          <p:cNvPr id="26" name="Image 10" descr="gen-dedup-3979e558187189b59144253a6b98a0c1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1080821" y="5229225"/>
            <a:ext cx="114300" cy="133502"/>
          </a:xfrm>
          <a:prstGeom prst="rect">
            <a:avLst/>
          </a:prstGeom>
        </p:spPr>
      </p:pic>
      <p:pic>
        <p:nvPicPr>
          <p:cNvPr id="27" name="Image 11" descr="gen-dedup-11754483a2dcc4fb14e0fc851c7d8332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116836" y="5229225"/>
            <a:ext cx="133502" cy="133502"/>
          </a:xfrm>
          <a:prstGeom prst="rect">
            <a:avLst/>
          </a:prstGeom>
        </p:spPr>
      </p:pic>
      <p:pic>
        <p:nvPicPr>
          <p:cNvPr id="28" name="Image 12" descr="gen-dedup-add12d4fb0344942d024be46322866ee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293669" y="5229225"/>
            <a:ext cx="133502" cy="133502"/>
          </a:xfrm>
          <a:prstGeom prst="rect">
            <a:avLst/>
          </a:prstGeom>
        </p:spPr>
      </p:pic>
      <p:sp>
        <p:nvSpPr>
          <p:cNvPr id="29" name="Shape 14"/>
          <p:cNvSpPr/>
          <p:nvPr/>
        </p:nvSpPr>
        <p:spPr>
          <a:xfrm>
            <a:off x="5191049" y="2125751"/>
            <a:ext cx="6286500" cy="1238098"/>
          </a:xfrm>
          <a:prstGeom prst="roundRect">
            <a:avLst>
              <a:gd name="adj" fmla="val 1363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15"/>
          <p:cNvSpPr/>
          <p:nvPr/>
        </p:nvSpPr>
        <p:spPr>
          <a:xfrm>
            <a:off x="5191049" y="2125751"/>
            <a:ext cx="75895" cy="1238098"/>
          </a:xfrm>
          <a:prstGeom prst="roundRect">
            <a:avLst>
              <a:gd name="adj" fmla="val 22242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16"/>
          <p:cNvSpPr txBox="1"/>
          <p:nvPr/>
        </p:nvSpPr>
        <p:spPr>
          <a:xfrm>
            <a:off x="5954573" y="2297658"/>
            <a:ext cx="529437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01. 녹취·메모 기반 AI 요약 </a:t>
            </a:r>
            <a:endParaRPr lang="en-US" sz="1600" dirty="0"/>
          </a:p>
        </p:txBody>
      </p:sp>
      <p:sp>
        <p:nvSpPr>
          <p:cNvPr id="32" name="Text 17"/>
          <p:cNvSpPr txBox="1"/>
          <p:nvPr/>
        </p:nvSpPr>
        <p:spPr>
          <a:xfrm>
            <a:off x="5495544" y="2659761"/>
            <a:ext cx="57534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회의 중 기록된 메모나 녹취 텍스트를 바탕으로 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안건과 결정사항을 자동으로 구조화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초안을 즉시 생성합니다. </a:t>
            </a:r>
            <a:endParaRPr lang="en-US" sz="1400" dirty="0"/>
          </a:p>
        </p:txBody>
      </p:sp>
      <p:sp>
        <p:nvSpPr>
          <p:cNvPr id="33" name="Shape 18"/>
          <p:cNvSpPr/>
          <p:nvPr/>
        </p:nvSpPr>
        <p:spPr>
          <a:xfrm>
            <a:off x="5191049" y="3469919"/>
            <a:ext cx="6286500" cy="1238098"/>
          </a:xfrm>
          <a:prstGeom prst="roundRect">
            <a:avLst>
              <a:gd name="adj" fmla="val 1363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19"/>
          <p:cNvSpPr/>
          <p:nvPr/>
        </p:nvSpPr>
        <p:spPr>
          <a:xfrm>
            <a:off x="5191049" y="3469919"/>
            <a:ext cx="75895" cy="1238098"/>
          </a:xfrm>
          <a:prstGeom prst="roundRect">
            <a:avLst>
              <a:gd name="adj" fmla="val 22242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0"/>
          <p:cNvSpPr txBox="1"/>
          <p:nvPr/>
        </p:nvSpPr>
        <p:spPr>
          <a:xfrm>
            <a:off x="5954573" y="3641826"/>
            <a:ext cx="529437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02. 담당자 핵심 내용 검토 </a:t>
            </a:r>
            <a:endParaRPr lang="en-US" sz="1600" dirty="0"/>
          </a:p>
        </p:txBody>
      </p:sp>
      <p:sp>
        <p:nvSpPr>
          <p:cNvPr id="36" name="Text 21"/>
          <p:cNvSpPr txBox="1"/>
          <p:nvPr/>
        </p:nvSpPr>
        <p:spPr>
          <a:xfrm>
            <a:off x="5495544" y="4003014"/>
            <a:ext cx="57534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처음부터 끝까지 작성할 필요 없이, 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사실관계 확인 및 민감 정보 등 핵심적인 부분만 빠르게 검토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수정하여 완성합니다. </a:t>
            </a:r>
            <a:endParaRPr lang="en-US" sz="1400" dirty="0"/>
          </a:p>
        </p:txBody>
      </p:sp>
      <p:sp>
        <p:nvSpPr>
          <p:cNvPr id="37" name="Shape 22"/>
          <p:cNvSpPr/>
          <p:nvPr/>
        </p:nvSpPr>
        <p:spPr>
          <a:xfrm>
            <a:off x="5191049" y="4814087"/>
            <a:ext cx="6286500" cy="1238098"/>
          </a:xfrm>
          <a:prstGeom prst="roundRect">
            <a:avLst>
              <a:gd name="adj" fmla="val 1363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3"/>
          <p:cNvSpPr/>
          <p:nvPr/>
        </p:nvSpPr>
        <p:spPr>
          <a:xfrm>
            <a:off x="5191049" y="4814087"/>
            <a:ext cx="75895" cy="1238098"/>
          </a:xfrm>
          <a:prstGeom prst="roundRect">
            <a:avLst>
              <a:gd name="adj" fmla="val 22242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4"/>
          <p:cNvSpPr txBox="1"/>
          <p:nvPr/>
        </p:nvSpPr>
        <p:spPr>
          <a:xfrm>
            <a:off x="5954573" y="4985080"/>
            <a:ext cx="529437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03. 후속조치 명확화 </a:t>
            </a:r>
            <a:endParaRPr lang="en-US" sz="1600" dirty="0"/>
          </a:p>
        </p:txBody>
      </p:sp>
      <p:sp>
        <p:nvSpPr>
          <p:cNvPr id="40" name="Text 25"/>
          <p:cNvSpPr txBox="1"/>
          <p:nvPr/>
        </p:nvSpPr>
        <p:spPr>
          <a:xfrm>
            <a:off x="5495544" y="5347182"/>
            <a:ext cx="57534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결정사항에 따른 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실행 과제, 담당자, 기한을 명확히 리스트화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업무의 연속성과 강력한 실행력을 보장합니다. </a:t>
            </a:r>
            <a:endParaRPr lang="en-US" sz="1400" dirty="0"/>
          </a:p>
        </p:txBody>
      </p:sp>
      <p:pic>
        <p:nvPicPr>
          <p:cNvPr id="41" name="Image 13" descr="gen-dedup-46c6cee01aecc4b2aabdeca64ccd9b7c.png"/>
          <p:cNvPicPr>
            <a:picLocks noChangeAspect="1"/>
          </p:cNvPicPr>
          <p:nvPr/>
        </p:nvPicPr>
        <p:blipFill>
          <a:blip r:embed="rId15"/>
          <a:srcRect l="-41121" r="-41121"/>
          <a:stretch/>
        </p:blipFill>
        <p:spPr>
          <a:xfrm>
            <a:off x="5495544" y="2361666"/>
            <a:ext cx="286207" cy="209398"/>
          </a:xfrm>
          <a:prstGeom prst="rect">
            <a:avLst/>
          </a:prstGeom>
        </p:spPr>
      </p:pic>
      <p:pic>
        <p:nvPicPr>
          <p:cNvPr id="42" name="Image 14" descr="gen-dedup-db69ea1521dbe8ef30b69a081378d6bf.png"/>
          <p:cNvPicPr>
            <a:picLocks noChangeAspect="1"/>
          </p:cNvPicPr>
          <p:nvPr/>
        </p:nvPicPr>
        <p:blipFill>
          <a:blip r:embed="rId16"/>
          <a:srcRect l="-4672" r="-4672"/>
          <a:stretch/>
        </p:blipFill>
        <p:spPr>
          <a:xfrm>
            <a:off x="5495544" y="3705834"/>
            <a:ext cx="286207" cy="209398"/>
          </a:xfrm>
          <a:prstGeom prst="rect">
            <a:avLst/>
          </a:prstGeom>
        </p:spPr>
      </p:pic>
      <p:pic>
        <p:nvPicPr>
          <p:cNvPr id="43" name="Image 15" descr="gen-dedup-5ab71c16118873cdf1f046e6060ab61e.png"/>
          <p:cNvPicPr>
            <a:picLocks noChangeAspect="1"/>
          </p:cNvPicPr>
          <p:nvPr/>
        </p:nvPicPr>
        <p:blipFill>
          <a:blip r:embed="rId17"/>
          <a:srcRect l="-18340" r="-18340"/>
          <a:stretch/>
        </p:blipFill>
        <p:spPr>
          <a:xfrm>
            <a:off x="5495544" y="5050002"/>
            <a:ext cx="286207" cy="209398"/>
          </a:xfrm>
          <a:prstGeom prst="rect">
            <a:avLst/>
          </a:prstGeom>
        </p:spPr>
      </p:pic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46966f61cd5e401cc83442129f2e5a3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402" y="1714500"/>
            <a:ext cx="4209898" cy="4781398"/>
          </a:xfrm>
          <a:prstGeom prst="rect">
            <a:avLst/>
          </a:prstGeom>
        </p:spPr>
      </p:pic>
      <p:pic>
        <p:nvPicPr>
          <p:cNvPr id="4" name="Image 2" descr="gen-dedup-cb740237685b59306fa8d40025d106a8.png"/>
          <p:cNvPicPr>
            <a:picLocks noChangeAspect="1"/>
          </p:cNvPicPr>
          <p:nvPr/>
        </p:nvPicPr>
        <p:blipFill>
          <a:blip r:embed="rId5"/>
          <a:srcRect l="-4" r="-4"/>
          <a:stretch/>
        </p:blipFill>
        <p:spPr>
          <a:xfrm>
            <a:off x="4953305" y="1714500"/>
            <a:ext cx="6782105" cy="478139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76402" y="923544"/>
            <a:ext cx="112398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사례2: 보고서 초안 작성 </a:t>
            </a:r>
            <a:r>
              <a:rPr lang="en-US" sz="3900" b="1" kern="0" spc="-78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(개선 전)</a:t>
            </a:r>
            <a:endParaRPr lang="en-US" sz="3900" dirty="0"/>
          </a:p>
        </p:txBody>
      </p:sp>
      <p:sp>
        <p:nvSpPr>
          <p:cNvPr id="6" name="Text 1"/>
          <p:cNvSpPr txBox="1"/>
          <p:nvPr/>
        </p:nvSpPr>
        <p:spPr>
          <a:xfrm>
            <a:off x="7782981" y="1262676"/>
            <a:ext cx="407390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 방식의 문제점 · 가상 사례</a:t>
            </a:r>
            <a:endParaRPr lang="en-US" sz="1800" dirty="0"/>
          </a:p>
        </p:txBody>
      </p:sp>
      <p:pic>
        <p:nvPicPr>
          <p:cNvPr id="7" name="Image 3" descr="gen-dedup-5491164a9871070962381798791699d5.png"/>
          <p:cNvPicPr>
            <a:picLocks noChangeAspect="1"/>
          </p:cNvPicPr>
          <p:nvPr/>
        </p:nvPicPr>
        <p:blipFill>
          <a:blip r:embed="rId6"/>
          <a:srcRect l="-206" r="-206"/>
          <a:stretch/>
        </p:blipFill>
        <p:spPr>
          <a:xfrm>
            <a:off x="476402" y="381305"/>
            <a:ext cx="1867205" cy="42885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33602" y="381305"/>
            <a:ext cx="1410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2: 개선 전 </a:t>
            </a:r>
            <a:endParaRPr lang="en-US" sz="1500" dirty="0"/>
          </a:p>
        </p:txBody>
      </p:sp>
      <p:pic>
        <p:nvPicPr>
          <p:cNvPr id="9" name="Image 4" descr="gen-dedup-d9a90530c0988a622bcfa830d4e586c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6598" y="509321"/>
            <a:ext cx="190195" cy="190195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61695" y="2839212"/>
            <a:ext cx="36191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4"/>
          <p:cNvSpPr/>
          <p:nvPr/>
        </p:nvSpPr>
        <p:spPr>
          <a:xfrm>
            <a:off x="761695" y="2057400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5" descr="gen-dedup-ecd17252a47e3f08301d3a77d0740433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5198" y="2190902"/>
            <a:ext cx="267005" cy="2670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485900" y="2000707"/>
            <a:ext cx="159288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문제점</a:t>
            </a:r>
            <a:endParaRPr lang="en-US" sz="2100" dirty="0"/>
          </a:p>
        </p:txBody>
      </p:sp>
      <p:sp>
        <p:nvSpPr>
          <p:cNvPr id="14" name="Text 6"/>
          <p:cNvSpPr txBox="1"/>
          <p:nvPr/>
        </p:nvSpPr>
        <p:spPr>
          <a:xfrm>
            <a:off x="1485900" y="2400300"/>
            <a:ext cx="1305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수작업의 한계</a:t>
            </a:r>
            <a:endParaRPr lang="en-US" sz="1300" dirty="0"/>
          </a:p>
        </p:txBody>
      </p:sp>
      <p:sp>
        <p:nvSpPr>
          <p:cNvPr id="15" name="Text 7"/>
          <p:cNvSpPr txBox="1"/>
          <p:nvPr/>
        </p:nvSpPr>
        <p:spPr>
          <a:xfrm>
            <a:off x="761695" y="3143707"/>
            <a:ext cx="3620110" cy="198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보고서 시작 단계부터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구조화에 많은 시간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소요되며,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작성자의 컨디션과 역량에 따라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결과물의 편차가 큽니다. </a:t>
            </a:r>
            <a:endParaRPr lang="en-US" sz="1900" dirty="0"/>
          </a:p>
        </p:txBody>
      </p:sp>
      <p:sp>
        <p:nvSpPr>
          <p:cNvPr id="16" name="Shape 8"/>
          <p:cNvSpPr/>
          <p:nvPr/>
        </p:nvSpPr>
        <p:spPr>
          <a:xfrm>
            <a:off x="5191049" y="1904695"/>
            <a:ext cx="6286500" cy="1343254"/>
          </a:xfrm>
          <a:prstGeom prst="roundRect">
            <a:avLst>
              <a:gd name="adj" fmla="val 11587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5191049" y="1904695"/>
            <a:ext cx="75895" cy="1343254"/>
          </a:xfrm>
          <a:prstGeom prst="roundRect">
            <a:avLst>
              <a:gd name="adj" fmla="val 20507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0"/>
          <p:cNvSpPr txBox="1"/>
          <p:nvPr/>
        </p:nvSpPr>
        <p:spPr>
          <a:xfrm>
            <a:off x="5959145" y="2095805"/>
            <a:ext cx="52898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01. 과도한 시간 소요 </a:t>
            </a:r>
            <a:endParaRPr lang="en-US" sz="1800" dirty="0"/>
          </a:p>
        </p:txBody>
      </p:sp>
      <p:sp>
        <p:nvSpPr>
          <p:cNvPr id="19" name="Text 11"/>
          <p:cNvSpPr txBox="1"/>
          <p:nvPr/>
        </p:nvSpPr>
        <p:spPr>
          <a:xfrm>
            <a:off x="5495544" y="2486254"/>
            <a:ext cx="57534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백지 상태에서 목차와 개요를 기획하는 데만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2~3시간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걸려 다른 주요 업무에 지장을 줍니다. 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5191049" y="3362249"/>
            <a:ext cx="6286500" cy="1343254"/>
          </a:xfrm>
          <a:prstGeom prst="roundRect">
            <a:avLst>
              <a:gd name="adj" fmla="val 11587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5191049" y="3362249"/>
            <a:ext cx="75895" cy="1343254"/>
          </a:xfrm>
          <a:prstGeom prst="roundRect">
            <a:avLst>
              <a:gd name="adj" fmla="val 20507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4"/>
          <p:cNvSpPr txBox="1"/>
          <p:nvPr/>
        </p:nvSpPr>
        <p:spPr>
          <a:xfrm>
            <a:off x="5959145" y="3552444"/>
            <a:ext cx="52898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02. 핵심 내용 누락 위험 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5495544" y="3943807"/>
            <a:ext cx="57534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수동으로 자료를 취합하고 요약하는 과정에서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중요한 데이터나 인사이트가 누락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될 가능성이 존재합니다. 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5191049" y="4819802"/>
            <a:ext cx="6286500" cy="1343254"/>
          </a:xfrm>
          <a:prstGeom prst="roundRect">
            <a:avLst>
              <a:gd name="adj" fmla="val 11587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5191049" y="4819802"/>
            <a:ext cx="75895" cy="1343254"/>
          </a:xfrm>
          <a:prstGeom prst="roundRect">
            <a:avLst>
              <a:gd name="adj" fmla="val 20507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5959145" y="5009998"/>
            <a:ext cx="52898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03. 보고서 품질 불균일 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5495544" y="5400446"/>
            <a:ext cx="57534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담당자의 문서 작성 스킬에 따라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보고서의 논리 구조와 퀄리티가 크게 달라져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표준화가 어렵습니다. </a:t>
            </a:r>
            <a:endParaRPr lang="en-US" sz="1500" dirty="0"/>
          </a:p>
        </p:txBody>
      </p:sp>
      <p:pic>
        <p:nvPicPr>
          <p:cNvPr id="28" name="Image 6" descr="gen-dedup-00bd14284e74c079e2802cb636922598.png"/>
          <p:cNvPicPr>
            <a:picLocks noChangeAspect="1"/>
          </p:cNvPicPr>
          <p:nvPr/>
        </p:nvPicPr>
        <p:blipFill>
          <a:blip r:embed="rId9"/>
          <a:srcRect l="-12600" r="-12600"/>
          <a:stretch/>
        </p:blipFill>
        <p:spPr>
          <a:xfrm>
            <a:off x="5495544" y="2162556"/>
            <a:ext cx="286207" cy="228600"/>
          </a:xfrm>
          <a:prstGeom prst="rect">
            <a:avLst/>
          </a:prstGeom>
        </p:spPr>
      </p:pic>
      <p:pic>
        <p:nvPicPr>
          <p:cNvPr id="29" name="Image 7" descr="gen-dedup-666b6b95e6343e8fd4c1693d84ffd009.png"/>
          <p:cNvPicPr>
            <a:picLocks noChangeAspect="1"/>
          </p:cNvPicPr>
          <p:nvPr/>
        </p:nvPicPr>
        <p:blipFill>
          <a:blip r:embed="rId10"/>
          <a:srcRect l="-33467" r="-33467"/>
          <a:stretch/>
        </p:blipFill>
        <p:spPr>
          <a:xfrm>
            <a:off x="5495544" y="3619195"/>
            <a:ext cx="286207" cy="228600"/>
          </a:xfrm>
          <a:prstGeom prst="rect">
            <a:avLst/>
          </a:prstGeom>
        </p:spPr>
      </p:pic>
      <p:pic>
        <p:nvPicPr>
          <p:cNvPr id="30" name="Image 8" descr="gen-dedup-89680692389911d46a44846cac1ee328.png"/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5495544" y="5076749"/>
            <a:ext cx="286207" cy="228600"/>
          </a:xfrm>
          <a:prstGeom prst="rect">
            <a:avLst/>
          </a:prstGeom>
        </p:spPr>
      </p:pic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b9c380973fd29c2965d045ae1b07e885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476402" y="1857146"/>
            <a:ext cx="4209898" cy="4543654"/>
          </a:xfrm>
          <a:prstGeom prst="rect">
            <a:avLst/>
          </a:prstGeom>
        </p:spPr>
      </p:pic>
      <p:pic>
        <p:nvPicPr>
          <p:cNvPr id="4" name="Image 2" descr="gen-dedup-18595320ecc171ad1fd8d158651d268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53305" y="1857146"/>
            <a:ext cx="6782105" cy="454365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76402" y="838505"/>
            <a:ext cx="11239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보고서 초안 작성 </a:t>
            </a:r>
            <a:r>
              <a:rPr lang="en-US" sz="3600" b="1" kern="0" spc="-72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 개선</a:t>
            </a:r>
            <a:endParaRPr lang="en-US" sz="3600" dirty="0"/>
          </a:p>
        </p:txBody>
      </p:sp>
      <p:sp>
        <p:nvSpPr>
          <p:cNvPr id="6" name="Text 1"/>
          <p:cNvSpPr txBox="1"/>
          <p:nvPr/>
        </p:nvSpPr>
        <p:spPr>
          <a:xfrm>
            <a:off x="476402" y="1417320"/>
            <a:ext cx="11239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활용하여 초안 작성의 부담을 덜고, 시간 단축과 품질의 표준화를 달성한 가상 사례입니다.</a:t>
            </a:r>
            <a:endParaRPr lang="en-US" sz="1600" dirty="0"/>
          </a:p>
        </p:txBody>
      </p:sp>
      <p:pic>
        <p:nvPicPr>
          <p:cNvPr id="7" name="Image 3" descr="gen-dedup-f3f442abc765adced8b3e8d331c7bb0f.png"/>
          <p:cNvPicPr>
            <a:picLocks noChangeAspect="1"/>
          </p:cNvPicPr>
          <p:nvPr/>
        </p:nvPicPr>
        <p:blipFill>
          <a:blip r:embed="rId6"/>
          <a:srcRect l="-18" r="-18"/>
          <a:stretch/>
        </p:blipFill>
        <p:spPr>
          <a:xfrm>
            <a:off x="476402" y="381305"/>
            <a:ext cx="1438351" cy="36210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76910" y="381305"/>
            <a:ext cx="103784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후 효과 </a:t>
            </a:r>
            <a:endParaRPr lang="en-US" sz="1300" dirty="0"/>
          </a:p>
        </p:txBody>
      </p:sp>
      <p:pic>
        <p:nvPicPr>
          <p:cNvPr id="9" name="Image 4" descr="gen-dedup-038b612ae3a3ae96ada06d1f6633ef9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9107" y="488290"/>
            <a:ext cx="171907" cy="171907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61695" y="2981858"/>
            <a:ext cx="36191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4"/>
          <p:cNvSpPr/>
          <p:nvPr/>
        </p:nvSpPr>
        <p:spPr>
          <a:xfrm>
            <a:off x="761695" y="2200046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5" descr="gen-dedup-23d247f2d360575eed42f2e9efd6a8f7.png"/>
          <p:cNvPicPr>
            <a:picLocks noChangeAspect="1"/>
          </p:cNvPicPr>
          <p:nvPr/>
        </p:nvPicPr>
        <p:blipFill>
          <a:blip r:embed="rId8"/>
          <a:srcRect l="-881" r="-881"/>
          <a:stretch/>
        </p:blipFill>
        <p:spPr>
          <a:xfrm>
            <a:off x="909828" y="2333549"/>
            <a:ext cx="237744" cy="2670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485900" y="2143354"/>
            <a:ext cx="13624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78% 단축</a:t>
            </a:r>
            <a:endParaRPr lang="en-US" sz="2100" dirty="0"/>
          </a:p>
        </p:txBody>
      </p:sp>
      <p:sp>
        <p:nvSpPr>
          <p:cNvPr id="14" name="Text 6"/>
          <p:cNvSpPr txBox="1"/>
          <p:nvPr/>
        </p:nvSpPr>
        <p:spPr>
          <a:xfrm>
            <a:off x="1485900" y="2542946"/>
            <a:ext cx="163220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압도적인 시간 절약</a:t>
            </a:r>
            <a:endParaRPr lang="en-US" sz="1300" dirty="0"/>
          </a:p>
        </p:txBody>
      </p:sp>
      <p:sp>
        <p:nvSpPr>
          <p:cNvPr id="15" name="Text 7"/>
          <p:cNvSpPr txBox="1"/>
          <p:nvPr/>
        </p:nvSpPr>
        <p:spPr>
          <a:xfrm>
            <a:off x="761695" y="3238805"/>
            <a:ext cx="3620110" cy="2076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기존 </a:t>
            </a:r>
            <a:r>
              <a:rPr lang="en-US" sz="21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3시간</a:t>
            </a:r>
            <a:r>
              <a:rPr lang="en-US" sz="2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걸리던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초안 작성 작업이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활용을 통해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40분</a:t>
            </a:r>
            <a:r>
              <a:rPr lang="en-US" sz="2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크게 단축되었습니다. </a:t>
            </a:r>
            <a:endParaRPr lang="en-US" sz="2100" dirty="0"/>
          </a:p>
        </p:txBody>
      </p:sp>
      <p:sp>
        <p:nvSpPr>
          <p:cNvPr id="16" name="Shape 8"/>
          <p:cNvSpPr/>
          <p:nvPr/>
        </p:nvSpPr>
        <p:spPr>
          <a:xfrm>
            <a:off x="5191049" y="2048256"/>
            <a:ext cx="6286500" cy="1248156"/>
          </a:xfrm>
          <a:prstGeom prst="roundRect">
            <a:avLst>
              <a:gd name="adj" fmla="val 13422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5191049" y="2048256"/>
            <a:ext cx="75895" cy="1248156"/>
          </a:xfrm>
          <a:prstGeom prst="roundRect">
            <a:avLst>
              <a:gd name="adj" fmla="val 22073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0"/>
          <p:cNvSpPr txBox="1"/>
          <p:nvPr/>
        </p:nvSpPr>
        <p:spPr>
          <a:xfrm>
            <a:off x="5940857" y="2219249"/>
            <a:ext cx="530809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01. 목적/대상/분량 지정 </a:t>
            </a:r>
            <a:endParaRPr lang="en-US" sz="1800" dirty="0"/>
          </a:p>
        </p:txBody>
      </p:sp>
      <p:sp>
        <p:nvSpPr>
          <p:cNvPr id="19" name="Text 11"/>
          <p:cNvSpPr txBox="1"/>
          <p:nvPr/>
        </p:nvSpPr>
        <p:spPr>
          <a:xfrm>
            <a:off x="5495544" y="2609698"/>
            <a:ext cx="57534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보고서의 핵심 목적, 읽는 대상, 원하는 분량과 문체(격식체 등)를 구체적으로 명시하여 방향을 설정합니다.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5191049" y="3409798"/>
            <a:ext cx="6286500" cy="1248156"/>
          </a:xfrm>
          <a:prstGeom prst="roundRect">
            <a:avLst>
              <a:gd name="adj" fmla="val 13422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5191049" y="3409798"/>
            <a:ext cx="75895" cy="1248156"/>
          </a:xfrm>
          <a:prstGeom prst="roundRect">
            <a:avLst>
              <a:gd name="adj" fmla="val 22073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4"/>
          <p:cNvSpPr txBox="1"/>
          <p:nvPr/>
        </p:nvSpPr>
        <p:spPr>
          <a:xfrm>
            <a:off x="5940857" y="3581705"/>
            <a:ext cx="530809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02. 목차 및 초안 생성 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5495544" y="3972154"/>
            <a:ext cx="57534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구조를 잡기 위해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목차를 생성하여 확인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후, 세부적인 각 항목별 내용을 자동으로 작성하게 합니다. 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5191049" y="4772254"/>
            <a:ext cx="6286500" cy="1248156"/>
          </a:xfrm>
          <a:prstGeom prst="roundRect">
            <a:avLst>
              <a:gd name="adj" fmla="val 13422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5191049" y="4772254"/>
            <a:ext cx="75895" cy="1248156"/>
          </a:xfrm>
          <a:prstGeom prst="roundRect">
            <a:avLst>
              <a:gd name="adj" fmla="val 22073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5940857" y="4943246"/>
            <a:ext cx="530809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03. 담당자 수정 및 보완 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5495544" y="5333695"/>
            <a:ext cx="57534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만든 초안을 바탕으로 실무자가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수치와 사실관계를 검증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조직의 톤에 맞게 최종적으로 다듬습니다. </a:t>
            </a:r>
            <a:endParaRPr lang="en-US" sz="1500" dirty="0"/>
          </a:p>
        </p:txBody>
      </p:sp>
      <p:pic>
        <p:nvPicPr>
          <p:cNvPr id="28" name="Image 6" descr="gen-dedup-0f5e3b7671d669dbcb9fe4ed8cdd0156.png"/>
          <p:cNvPicPr>
            <a:picLocks noChangeAspect="1"/>
          </p:cNvPicPr>
          <p:nvPr/>
        </p:nvPicPr>
        <p:blipFill>
          <a:blip r:embed="rId9"/>
          <a:srcRect l="-8400" r="-8400"/>
          <a:stretch/>
        </p:blipFill>
        <p:spPr>
          <a:xfrm>
            <a:off x="5495544" y="2286000"/>
            <a:ext cx="267005" cy="228600"/>
          </a:xfrm>
          <a:prstGeom prst="rect">
            <a:avLst/>
          </a:prstGeom>
        </p:spPr>
      </p:pic>
      <p:pic>
        <p:nvPicPr>
          <p:cNvPr id="29" name="Image 7" descr="gen-dedup-50f4766859915508966c0eabd636e0f7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5495544" y="3648456"/>
            <a:ext cx="267005" cy="228600"/>
          </a:xfrm>
          <a:prstGeom prst="rect">
            <a:avLst/>
          </a:prstGeom>
        </p:spPr>
      </p:pic>
      <p:pic>
        <p:nvPicPr>
          <p:cNvPr id="30" name="Image 8" descr="gen-dedup-7de2d35807374dc9a6217f05689e7a92.png"/>
          <p:cNvPicPr>
            <a:picLocks noChangeAspect="1"/>
          </p:cNvPicPr>
          <p:nvPr/>
        </p:nvPicPr>
        <p:blipFill>
          <a:blip r:embed="rId11"/>
          <a:srcRect t="-3510" b="-3510"/>
          <a:stretch/>
        </p:blipFill>
        <p:spPr>
          <a:xfrm>
            <a:off x="5495544" y="5009998"/>
            <a:ext cx="267005" cy="228600"/>
          </a:xfrm>
          <a:prstGeom prst="rect">
            <a:avLst/>
          </a:prstGeom>
        </p:spPr>
      </p:pic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0ae10f92fb3cd58f0cc905272ff72a48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476402" y="2000707"/>
            <a:ext cx="4209898" cy="4496105"/>
          </a:xfrm>
          <a:prstGeom prst="rect">
            <a:avLst/>
          </a:prstGeom>
        </p:spPr>
      </p:pic>
      <p:pic>
        <p:nvPicPr>
          <p:cNvPr id="4" name="Image 2" descr="gen-dedup-2937827aa1aa7b1b7435e4beeedd8aeb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4953305" y="2000707"/>
            <a:ext cx="6782105" cy="44961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76402" y="923544"/>
            <a:ext cx="112398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반복 이메일 작성 </a:t>
            </a:r>
            <a:r>
              <a:rPr lang="en-US" sz="3900" b="1" kern="0" spc="-78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전 (Before)</a:t>
            </a:r>
            <a:endParaRPr lang="en-US" sz="3900" dirty="0"/>
          </a:p>
        </p:txBody>
      </p:sp>
      <p:sp>
        <p:nvSpPr>
          <p:cNvPr id="6" name="Text 1"/>
          <p:cNvSpPr txBox="1"/>
          <p:nvPr/>
        </p:nvSpPr>
        <p:spPr>
          <a:xfrm>
            <a:off x="586934" y="1623974"/>
            <a:ext cx="11239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유사한 안내 메일을 매번 새로 작성하여 생기는 비효율 · 가상 사례</a:t>
            </a:r>
            <a:endParaRPr lang="en-US" sz="1800" dirty="0"/>
          </a:p>
        </p:txBody>
      </p:sp>
      <p:pic>
        <p:nvPicPr>
          <p:cNvPr id="7" name="Image 3" descr="gen-dedup-8dba91d4f6d2c2860c3b6b3a924607d2.png"/>
          <p:cNvPicPr>
            <a:picLocks noChangeAspect="1"/>
          </p:cNvPicPr>
          <p:nvPr/>
        </p:nvPicPr>
        <p:blipFill>
          <a:blip r:embed="rId6"/>
          <a:srcRect l="-114" r="-114"/>
          <a:stretch/>
        </p:blipFill>
        <p:spPr>
          <a:xfrm>
            <a:off x="476402" y="381305"/>
            <a:ext cx="2971800" cy="42885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33602" y="381305"/>
            <a:ext cx="25146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3: 반복 이메일 템플릿화 </a:t>
            </a:r>
            <a:endParaRPr lang="en-US" sz="1500" dirty="0"/>
          </a:p>
        </p:txBody>
      </p:sp>
      <p:pic>
        <p:nvPicPr>
          <p:cNvPr id="9" name="Image 4" descr="gen-dedup-45e18b61428997e12bee3f1356f6e44b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6598" y="509321"/>
            <a:ext cx="190195" cy="190195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61695" y="3124505"/>
            <a:ext cx="36191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4"/>
          <p:cNvSpPr/>
          <p:nvPr/>
        </p:nvSpPr>
        <p:spPr>
          <a:xfrm>
            <a:off x="761695" y="2343607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5" descr="gen-dedup-ecd17252a47e3f08301d3a77d0740433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5198" y="2476195"/>
            <a:ext cx="267005" cy="2670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485900" y="2286000"/>
            <a:ext cx="1677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문제점</a:t>
            </a:r>
            <a:endParaRPr lang="en-US" sz="2100" dirty="0"/>
          </a:p>
        </p:txBody>
      </p:sp>
      <p:sp>
        <p:nvSpPr>
          <p:cNvPr id="14" name="Text 6"/>
          <p:cNvSpPr txBox="1"/>
          <p:nvPr/>
        </p:nvSpPr>
        <p:spPr>
          <a:xfrm>
            <a:off x="1485900" y="2686507"/>
            <a:ext cx="19860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작성의 비효율성</a:t>
            </a:r>
            <a:endParaRPr lang="en-US" sz="1300" dirty="0"/>
          </a:p>
        </p:txBody>
      </p:sp>
      <p:sp>
        <p:nvSpPr>
          <p:cNvPr id="15" name="Text 7"/>
          <p:cNvSpPr txBox="1"/>
          <p:nvPr/>
        </p:nvSpPr>
        <p:spPr>
          <a:xfrm>
            <a:off x="761695" y="3429000"/>
            <a:ext cx="3620110" cy="238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안내 메일 작성에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시간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낭비하고,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담당자마다 문장 표현과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형식이 달라 </a:t>
            </a:r>
            <a:r>
              <a:rPr lang="en-US" sz="1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소통의 혼선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초래하고 있습니다. </a:t>
            </a:r>
            <a:endParaRPr lang="en-US" sz="1900" dirty="0"/>
          </a:p>
        </p:txBody>
      </p:sp>
      <p:sp>
        <p:nvSpPr>
          <p:cNvPr id="16" name="Shape 8"/>
          <p:cNvSpPr/>
          <p:nvPr/>
        </p:nvSpPr>
        <p:spPr>
          <a:xfrm>
            <a:off x="5191049" y="2238451"/>
            <a:ext cx="6286500" cy="1190549"/>
          </a:xfrm>
          <a:prstGeom prst="roundRect">
            <a:avLst>
              <a:gd name="adj" fmla="val 14747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5191049" y="2238451"/>
            <a:ext cx="75895" cy="1190549"/>
          </a:xfrm>
          <a:prstGeom prst="roundRect">
            <a:avLst>
              <a:gd name="adj" fmla="val 23132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0"/>
          <p:cNvSpPr txBox="1"/>
          <p:nvPr/>
        </p:nvSpPr>
        <p:spPr>
          <a:xfrm>
            <a:off x="5959145" y="2391156"/>
            <a:ext cx="52898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01. 매번 반복되는 새로 작성 </a:t>
            </a:r>
            <a:endParaRPr lang="en-US" sz="1800" dirty="0"/>
          </a:p>
        </p:txBody>
      </p:sp>
      <p:sp>
        <p:nvSpPr>
          <p:cNvPr id="19" name="Text 11"/>
          <p:cNvSpPr txBox="1"/>
          <p:nvPr/>
        </p:nvSpPr>
        <p:spPr>
          <a:xfrm>
            <a:off x="5495544" y="2762402"/>
            <a:ext cx="57534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과거에 보냈던 유사한 내용의 메일을 찾거나, 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다시 문안을 고민하며 작성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패턴이 반복됩니다. 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5191049" y="3535985"/>
            <a:ext cx="6286500" cy="1190549"/>
          </a:xfrm>
          <a:prstGeom prst="roundRect">
            <a:avLst>
              <a:gd name="adj" fmla="val 14747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5191049" y="3535985"/>
            <a:ext cx="75895" cy="1190549"/>
          </a:xfrm>
          <a:prstGeom prst="roundRect">
            <a:avLst>
              <a:gd name="adj" fmla="val 23132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4"/>
          <p:cNvSpPr txBox="1"/>
          <p:nvPr/>
        </p:nvSpPr>
        <p:spPr>
          <a:xfrm>
            <a:off x="5959145" y="3687775"/>
            <a:ext cx="52898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02. 과도한 시간 소요 (15-20분/통) 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5495544" y="4059022"/>
            <a:ext cx="57534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안내나 자료 요청 메일임에도 불구하고, 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인사말과 어조를 고민하느라 통당 15-20분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시간이 소요됩니다. 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5191049" y="4832604"/>
            <a:ext cx="6286500" cy="1190549"/>
          </a:xfrm>
          <a:prstGeom prst="roundRect">
            <a:avLst>
              <a:gd name="adj" fmla="val 14747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5191049" y="4832604"/>
            <a:ext cx="75895" cy="1190549"/>
          </a:xfrm>
          <a:prstGeom prst="roundRect">
            <a:avLst>
              <a:gd name="adj" fmla="val 23132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5959145" y="4985309"/>
            <a:ext cx="52898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03. 담당자별 품질 불균일 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5495544" y="5356555"/>
            <a:ext cx="57534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개인의 작문 능력에 따라 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안내의 명확성과 친절도 편차가 크며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기관/부서의 공식적인 톤앤매너 유지가 어렵습니다. </a:t>
            </a:r>
            <a:endParaRPr lang="en-US" sz="1400" dirty="0"/>
          </a:p>
        </p:txBody>
      </p:sp>
      <p:pic>
        <p:nvPicPr>
          <p:cNvPr id="28" name="Image 6" descr="gen-dedup-f422ff0ae5569da82ed5227eb79d6753.png"/>
          <p:cNvPicPr>
            <a:picLocks noChangeAspect="1"/>
          </p:cNvPicPr>
          <p:nvPr/>
        </p:nvPicPr>
        <p:blipFill>
          <a:blip r:embed="rId9"/>
          <a:srcRect l="-5644" r="-5644"/>
          <a:stretch/>
        </p:blipFill>
        <p:spPr>
          <a:xfrm>
            <a:off x="5495544" y="2457907"/>
            <a:ext cx="286207" cy="228600"/>
          </a:xfrm>
          <a:prstGeom prst="rect">
            <a:avLst/>
          </a:prstGeom>
        </p:spPr>
      </p:pic>
      <p:pic>
        <p:nvPicPr>
          <p:cNvPr id="29" name="Image 7" descr="gen-dedup-306fc74cbbf942b34609ecc53662c8fc.png"/>
          <p:cNvPicPr>
            <a:picLocks noChangeAspect="1"/>
          </p:cNvPicPr>
          <p:nvPr/>
        </p:nvPicPr>
        <p:blipFill>
          <a:blip r:embed="rId10"/>
          <a:srcRect l="-33467" r="-33467"/>
          <a:stretch/>
        </p:blipFill>
        <p:spPr>
          <a:xfrm>
            <a:off x="5495544" y="3754526"/>
            <a:ext cx="286207" cy="228600"/>
          </a:xfrm>
          <a:prstGeom prst="rect">
            <a:avLst/>
          </a:prstGeom>
        </p:spPr>
      </p:pic>
      <p:pic>
        <p:nvPicPr>
          <p:cNvPr id="30" name="Image 8" descr="gen-dedup-89680692389911d46a44846cac1ee328.png"/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5495544" y="5052060"/>
            <a:ext cx="286207" cy="228600"/>
          </a:xfrm>
          <a:prstGeom prst="rect">
            <a:avLst/>
          </a:prstGeom>
        </p:spPr>
      </p:pic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b44916d6938758144e73326e395659b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402" y="1857146"/>
            <a:ext cx="4209898" cy="4895698"/>
          </a:xfrm>
          <a:prstGeom prst="rect">
            <a:avLst/>
          </a:prstGeom>
        </p:spPr>
      </p:pic>
      <p:pic>
        <p:nvPicPr>
          <p:cNvPr id="4" name="Image 2" descr="gen-dedup-0ea15634f33133e9602b5b23a50f4abc.png"/>
          <p:cNvPicPr>
            <a:picLocks noChangeAspect="1"/>
          </p:cNvPicPr>
          <p:nvPr/>
        </p:nvPicPr>
        <p:blipFill>
          <a:blip r:embed="rId5"/>
          <a:srcRect l="-4" r="-4"/>
          <a:stretch/>
        </p:blipFill>
        <p:spPr>
          <a:xfrm>
            <a:off x="4953305" y="1857146"/>
            <a:ext cx="6782105" cy="489569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432036" y="381305"/>
            <a:ext cx="2284171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시간 1/3 이하 </a:t>
            </a:r>
            <a:endParaRPr lang="en-US" sz="1200" dirty="0"/>
          </a:p>
        </p:txBody>
      </p:sp>
      <p:pic>
        <p:nvPicPr>
          <p:cNvPr id="6" name="Image 3" descr="gen-dedup-c818e68e5e62a0117ee6a97b6067aa74.png"/>
          <p:cNvPicPr>
            <a:picLocks noChangeAspect="1"/>
          </p:cNvPicPr>
          <p:nvPr/>
        </p:nvPicPr>
        <p:blipFill>
          <a:blip r:embed="rId6"/>
          <a:srcRect l="-215" r="-215"/>
          <a:stretch/>
        </p:blipFill>
        <p:spPr>
          <a:xfrm>
            <a:off x="476402" y="381305"/>
            <a:ext cx="1638605" cy="428854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33602" y="381305"/>
            <a:ext cx="11814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후 효과 </a:t>
            </a:r>
            <a:endParaRPr lang="en-US" sz="1500" dirty="0"/>
          </a:p>
        </p:txBody>
      </p:sp>
      <p:sp>
        <p:nvSpPr>
          <p:cNvPr id="8" name="Text 2"/>
          <p:cNvSpPr txBox="1"/>
          <p:nvPr/>
        </p:nvSpPr>
        <p:spPr>
          <a:xfrm>
            <a:off x="2166213" y="389534"/>
            <a:ext cx="112398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사례3: 반복 이메일 </a:t>
            </a:r>
            <a:r>
              <a:rPr lang="en-US" sz="3900" b="1" kern="0" spc="-78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템플릿화</a:t>
            </a:r>
            <a:endParaRPr lang="en-US" sz="3900" dirty="0"/>
          </a:p>
        </p:txBody>
      </p:sp>
      <p:sp>
        <p:nvSpPr>
          <p:cNvPr id="9" name="Text 3"/>
          <p:cNvSpPr txBox="1"/>
          <p:nvPr/>
        </p:nvSpPr>
        <p:spPr>
          <a:xfrm>
            <a:off x="568525" y="1341882"/>
            <a:ext cx="11239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유사한 안내 메일을 매번 새로 작성하는 비효율을 해소하는 프로세스 개선</a:t>
            </a:r>
            <a:endParaRPr lang="en-US" sz="1800" dirty="0"/>
          </a:p>
        </p:txBody>
      </p:sp>
      <p:pic>
        <p:nvPicPr>
          <p:cNvPr id="10" name="Image 4" descr="gen-dedup-75d8fca3dd643ca79d9618b73de07cfb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6598" y="509321"/>
            <a:ext cx="190195" cy="190195"/>
          </a:xfrm>
          <a:prstGeom prst="rect">
            <a:avLst/>
          </a:prstGeom>
        </p:spPr>
      </p:pic>
      <p:pic>
        <p:nvPicPr>
          <p:cNvPr id="11" name="Image 5" descr="gen-dedup-c81803d563782343a11e634ed4005142.png"/>
          <p:cNvPicPr>
            <a:picLocks noChangeAspect="1"/>
          </p:cNvPicPr>
          <p:nvPr/>
        </p:nvPicPr>
        <p:blipFill>
          <a:blip r:embed="rId8"/>
          <a:srcRect l="-685" r="-685"/>
          <a:stretch/>
        </p:blipFill>
        <p:spPr>
          <a:xfrm>
            <a:off x="9050731" y="533095"/>
            <a:ext cx="304495" cy="267005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761695" y="2790749"/>
            <a:ext cx="36191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5"/>
          <p:cNvSpPr/>
          <p:nvPr/>
        </p:nvSpPr>
        <p:spPr>
          <a:xfrm>
            <a:off x="761695" y="2109521"/>
            <a:ext cx="476402" cy="476402"/>
          </a:xfrm>
          <a:prstGeom prst="roundRect">
            <a:avLst>
              <a:gd name="adj" fmla="val 107486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6" descr="gen-dedup-d95638209130c81b60ba68a3a526da6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86054" y="2233879"/>
            <a:ext cx="228600" cy="22860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429207" y="2048256"/>
            <a:ext cx="10287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후</a:t>
            </a:r>
            <a:endParaRPr lang="en-US" sz="1900" dirty="0"/>
          </a:p>
        </p:txBody>
      </p:sp>
      <p:sp>
        <p:nvSpPr>
          <p:cNvPr id="16" name="Text 7"/>
          <p:cNvSpPr txBox="1"/>
          <p:nvPr/>
        </p:nvSpPr>
        <p:spPr>
          <a:xfrm>
            <a:off x="1429207" y="2419502"/>
            <a:ext cx="1235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효율적 프로세스</a:t>
            </a:r>
            <a:endParaRPr lang="en-US" sz="1200" dirty="0"/>
          </a:p>
        </p:txBody>
      </p:sp>
      <p:sp>
        <p:nvSpPr>
          <p:cNvPr id="17" name="Text 8"/>
          <p:cNvSpPr txBox="1"/>
          <p:nvPr/>
        </p:nvSpPr>
        <p:spPr>
          <a:xfrm>
            <a:off x="761695" y="3000146"/>
            <a:ext cx="362011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1. 상황별 이메일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구축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2. AI를 활용한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자동 생성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3. 조직 내 양식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 및 전파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761695" y="5753405"/>
            <a:ext cx="3619195" cy="828446"/>
          </a:xfrm>
          <a:prstGeom prst="roundRect">
            <a:avLst>
              <a:gd name="adj" fmla="val 30448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0"/>
          <p:cNvSpPr txBox="1"/>
          <p:nvPr/>
        </p:nvSpPr>
        <p:spPr>
          <a:xfrm>
            <a:off x="1162202" y="5905195"/>
            <a:ext cx="306689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시간: 3-5분/통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표준화 달성 </a:t>
            </a:r>
            <a:endParaRPr lang="en-US" sz="1300" dirty="0"/>
          </a:p>
        </p:txBody>
      </p:sp>
      <p:pic>
        <p:nvPicPr>
          <p:cNvPr id="20" name="Image 7" descr="gen-dedup-f1bee4639209f0e741bf495193bc585b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14400" y="5955487"/>
            <a:ext cx="171907" cy="171907"/>
          </a:xfrm>
          <a:prstGeom prst="rect">
            <a:avLst/>
          </a:prstGeom>
        </p:spPr>
      </p:pic>
      <p:pic>
        <p:nvPicPr>
          <p:cNvPr id="21" name="Image 8" descr="gen-dedup-b0cd1800086be17dcc6bf5269c666864.png"/>
          <p:cNvPicPr>
            <a:picLocks noChangeAspect="1"/>
          </p:cNvPicPr>
          <p:nvPr/>
        </p:nvPicPr>
        <p:blipFill>
          <a:blip r:embed="rId11"/>
          <a:srcRect l="-760" r="-760"/>
          <a:stretch/>
        </p:blipFill>
        <p:spPr>
          <a:xfrm>
            <a:off x="914400" y="6229807"/>
            <a:ext cx="152705" cy="171907"/>
          </a:xfrm>
          <a:prstGeom prst="rect">
            <a:avLst/>
          </a:prstGeom>
        </p:spPr>
      </p:pic>
      <p:pic>
        <p:nvPicPr>
          <p:cNvPr id="22" name="Image 9" descr="gen-dedup-482ffd488875cd17107f012941dffc16.png"/>
          <p:cNvPicPr>
            <a:picLocks noChangeAspect="1"/>
          </p:cNvPicPr>
          <p:nvPr/>
        </p:nvPicPr>
        <p:blipFill>
          <a:blip r:embed="rId12"/>
          <a:srcRect t="-476" b="-476"/>
          <a:stretch/>
        </p:blipFill>
        <p:spPr>
          <a:xfrm>
            <a:off x="5238598" y="2100377"/>
            <a:ext cx="276149" cy="247802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5667451" y="2048256"/>
            <a:ext cx="326166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이메일 템플릿 유형</a:t>
            </a:r>
            <a:endParaRPr lang="en-US" sz="1900" dirty="0"/>
          </a:p>
        </p:txBody>
      </p:sp>
      <p:sp>
        <p:nvSpPr>
          <p:cNvPr id="24" name="Shape 12"/>
          <p:cNvSpPr/>
          <p:nvPr/>
        </p:nvSpPr>
        <p:spPr>
          <a:xfrm>
            <a:off x="5238598" y="2590495"/>
            <a:ext cx="3038551" cy="819302"/>
          </a:xfrm>
          <a:prstGeom prst="roundRect">
            <a:avLst>
              <a:gd name="adj" fmla="val 311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3"/>
          <p:cNvSpPr/>
          <p:nvPr/>
        </p:nvSpPr>
        <p:spPr>
          <a:xfrm>
            <a:off x="5400446" y="2790749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10" descr="gen-dedup-c9e2046199d8602f4f1f60d335f84e10.png"/>
          <p:cNvPicPr>
            <a:picLocks noChangeAspect="1"/>
          </p:cNvPicPr>
          <p:nvPr/>
        </p:nvPicPr>
        <p:blipFill>
          <a:blip r:embed="rId13"/>
          <a:srcRect l="-1004" r="-1004"/>
          <a:stretch/>
        </p:blipFill>
        <p:spPr>
          <a:xfrm>
            <a:off x="5477256" y="2895905"/>
            <a:ext cx="267005" cy="209398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5952744" y="2752344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안내</a:t>
            </a:r>
            <a:endParaRPr lang="en-US" sz="1500" dirty="0"/>
          </a:p>
        </p:txBody>
      </p:sp>
      <p:sp>
        <p:nvSpPr>
          <p:cNvPr id="28" name="Text 15"/>
          <p:cNvSpPr txBox="1"/>
          <p:nvPr/>
        </p:nvSpPr>
        <p:spPr>
          <a:xfrm>
            <a:off x="5952744" y="3047695"/>
            <a:ext cx="18333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일정 및 준비물 안내</a:t>
            </a:r>
            <a:endParaRPr lang="en-US" sz="1100" dirty="0"/>
          </a:p>
        </p:txBody>
      </p:sp>
      <p:sp>
        <p:nvSpPr>
          <p:cNvPr id="29" name="Shape 16"/>
          <p:cNvSpPr/>
          <p:nvPr/>
        </p:nvSpPr>
        <p:spPr>
          <a:xfrm>
            <a:off x="8391449" y="2590495"/>
            <a:ext cx="3038551" cy="819302"/>
          </a:xfrm>
          <a:prstGeom prst="roundRect">
            <a:avLst>
              <a:gd name="adj" fmla="val 311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17"/>
          <p:cNvSpPr/>
          <p:nvPr/>
        </p:nvSpPr>
        <p:spPr>
          <a:xfrm>
            <a:off x="8553298" y="2790749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11" descr="gen-dedup-bf4163f70ba63359e644493f48f1a97e.png"/>
          <p:cNvPicPr>
            <a:picLocks noChangeAspect="1"/>
          </p:cNvPicPr>
          <p:nvPr/>
        </p:nvPicPr>
        <p:blipFill>
          <a:blip r:embed="rId14"/>
          <a:srcRect t="-600" b="-600"/>
          <a:stretch/>
        </p:blipFill>
        <p:spPr>
          <a:xfrm>
            <a:off x="8672170" y="2895905"/>
            <a:ext cx="181051" cy="209398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9105595" y="2752344"/>
            <a:ext cx="11814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조율</a:t>
            </a:r>
            <a:endParaRPr lang="en-US" sz="1500" dirty="0"/>
          </a:p>
        </p:txBody>
      </p:sp>
      <p:sp>
        <p:nvSpPr>
          <p:cNvPr id="33" name="Text 19"/>
          <p:cNvSpPr txBox="1"/>
          <p:nvPr/>
        </p:nvSpPr>
        <p:spPr>
          <a:xfrm>
            <a:off x="9105595" y="3047695"/>
            <a:ext cx="14493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미팅 일정 조율</a:t>
            </a:r>
            <a:endParaRPr lang="en-US" sz="1100" dirty="0"/>
          </a:p>
        </p:txBody>
      </p:sp>
      <p:sp>
        <p:nvSpPr>
          <p:cNvPr id="34" name="Shape 20"/>
          <p:cNvSpPr/>
          <p:nvPr/>
        </p:nvSpPr>
        <p:spPr>
          <a:xfrm>
            <a:off x="5238598" y="3524098"/>
            <a:ext cx="3038551" cy="819302"/>
          </a:xfrm>
          <a:prstGeom prst="roundRect">
            <a:avLst>
              <a:gd name="adj" fmla="val 311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1"/>
          <p:cNvSpPr/>
          <p:nvPr/>
        </p:nvSpPr>
        <p:spPr>
          <a:xfrm>
            <a:off x="5400446" y="3724351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12" descr="gen-dedup-9b03484dd128bee99fd2f01b553b1d66.png"/>
          <p:cNvPicPr>
            <a:picLocks noChangeAspect="1"/>
          </p:cNvPicPr>
          <p:nvPr/>
        </p:nvPicPr>
        <p:blipFill>
          <a:blip r:embed="rId15"/>
          <a:srcRect l="-1528" r="-1528"/>
          <a:stretch/>
        </p:blipFill>
        <p:spPr>
          <a:xfrm>
            <a:off x="5529377" y="3829507"/>
            <a:ext cx="161849" cy="209398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5952744" y="3685946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요청</a:t>
            </a:r>
            <a:endParaRPr lang="en-US" sz="1500" dirty="0"/>
          </a:p>
        </p:txBody>
      </p:sp>
      <p:sp>
        <p:nvSpPr>
          <p:cNvPr id="38" name="Text 23"/>
          <p:cNvSpPr txBox="1"/>
          <p:nvPr/>
        </p:nvSpPr>
        <p:spPr>
          <a:xfrm>
            <a:off x="5952744" y="3981298"/>
            <a:ext cx="18333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자료 및 데이터 요청</a:t>
            </a:r>
            <a:endParaRPr lang="en-US" sz="1100" dirty="0"/>
          </a:p>
        </p:txBody>
      </p:sp>
      <p:sp>
        <p:nvSpPr>
          <p:cNvPr id="39" name="Shape 24"/>
          <p:cNvSpPr/>
          <p:nvPr/>
        </p:nvSpPr>
        <p:spPr>
          <a:xfrm>
            <a:off x="8391449" y="3524098"/>
            <a:ext cx="3038551" cy="819302"/>
          </a:xfrm>
          <a:prstGeom prst="roundRect">
            <a:avLst>
              <a:gd name="adj" fmla="val 311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5"/>
          <p:cNvSpPr/>
          <p:nvPr/>
        </p:nvSpPr>
        <p:spPr>
          <a:xfrm>
            <a:off x="8553298" y="3724351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3" descr="gen-dedup-098d2fe06a5e2e86ff189e14be8995d8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58454" y="3829507"/>
            <a:ext cx="209398" cy="209398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9105595" y="3685946"/>
            <a:ext cx="11814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보고</a:t>
            </a:r>
            <a:endParaRPr lang="en-US" sz="1500" dirty="0"/>
          </a:p>
        </p:txBody>
      </p:sp>
      <p:sp>
        <p:nvSpPr>
          <p:cNvPr id="43" name="Text 27"/>
          <p:cNvSpPr txBox="1"/>
          <p:nvPr/>
        </p:nvSpPr>
        <p:spPr>
          <a:xfrm>
            <a:off x="9105595" y="3981298"/>
            <a:ext cx="14493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진행 결과 보고</a:t>
            </a:r>
            <a:endParaRPr lang="en-US" sz="1100" dirty="0"/>
          </a:p>
        </p:txBody>
      </p:sp>
      <p:sp>
        <p:nvSpPr>
          <p:cNvPr id="44" name="Shape 28"/>
          <p:cNvSpPr/>
          <p:nvPr/>
        </p:nvSpPr>
        <p:spPr>
          <a:xfrm>
            <a:off x="5238598" y="4457700"/>
            <a:ext cx="3038551" cy="819302"/>
          </a:xfrm>
          <a:prstGeom prst="roundRect">
            <a:avLst>
              <a:gd name="adj" fmla="val 311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29"/>
          <p:cNvSpPr/>
          <p:nvPr/>
        </p:nvSpPr>
        <p:spPr>
          <a:xfrm>
            <a:off x="5400446" y="4657954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4" descr="gen-dedup-b8aebd259a890568948033ac01d3f3ee.png"/>
          <p:cNvPicPr>
            <a:picLocks noChangeAspect="1"/>
          </p:cNvPicPr>
          <p:nvPr/>
        </p:nvPicPr>
        <p:blipFill>
          <a:blip r:embed="rId17"/>
          <a:srcRect l="-1004" r="-1004"/>
          <a:stretch/>
        </p:blipFill>
        <p:spPr>
          <a:xfrm>
            <a:off x="5477256" y="4762195"/>
            <a:ext cx="267005" cy="209398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5952744" y="4619549"/>
            <a:ext cx="13533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협조 요청</a:t>
            </a:r>
            <a:endParaRPr lang="en-US" sz="1500" dirty="0"/>
          </a:p>
        </p:txBody>
      </p:sp>
      <p:sp>
        <p:nvSpPr>
          <p:cNvPr id="48" name="Text 31"/>
          <p:cNvSpPr txBox="1"/>
          <p:nvPr/>
        </p:nvSpPr>
        <p:spPr>
          <a:xfrm>
            <a:off x="5952744" y="4914900"/>
            <a:ext cx="1686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부서 업무 협조 요청</a:t>
            </a:r>
            <a:endParaRPr lang="en-US" sz="1100" dirty="0"/>
          </a:p>
        </p:txBody>
      </p:sp>
      <p:sp>
        <p:nvSpPr>
          <p:cNvPr id="49" name="Shape 32"/>
          <p:cNvSpPr/>
          <p:nvPr/>
        </p:nvSpPr>
        <p:spPr>
          <a:xfrm>
            <a:off x="8391449" y="4457700"/>
            <a:ext cx="3038551" cy="819302"/>
          </a:xfrm>
          <a:prstGeom prst="roundRect">
            <a:avLst>
              <a:gd name="adj" fmla="val 311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3"/>
          <p:cNvSpPr/>
          <p:nvPr/>
        </p:nvSpPr>
        <p:spPr>
          <a:xfrm>
            <a:off x="8553298" y="4657954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FDF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5" descr="gen-dedup-db2b01a27d40d9b8448b864e27fedea4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58454" y="4762195"/>
            <a:ext cx="209398" cy="209398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105595" y="4619549"/>
            <a:ext cx="13624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메일</a:t>
            </a:r>
            <a:endParaRPr lang="en-US" sz="1500" dirty="0"/>
          </a:p>
        </p:txBody>
      </p:sp>
      <p:sp>
        <p:nvSpPr>
          <p:cNvPr id="53" name="Text 35"/>
          <p:cNvSpPr txBox="1"/>
          <p:nvPr/>
        </p:nvSpPr>
        <p:spPr>
          <a:xfrm>
            <a:off x="9105595" y="4914900"/>
            <a:ext cx="16870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행사/미팅 후 감사 표현</a:t>
            </a:r>
            <a:endParaRPr lang="en-US" sz="1100" dirty="0"/>
          </a:p>
        </p:txBody>
      </p:sp>
      <p:sp>
        <p:nvSpPr>
          <p:cNvPr id="5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6c8e9a111a2828afcdbc872631cd2ab5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476402" y="1904695"/>
            <a:ext cx="4209898" cy="4591202"/>
          </a:xfrm>
          <a:prstGeom prst="rect">
            <a:avLst/>
          </a:prstGeom>
        </p:spPr>
      </p:pic>
      <p:pic>
        <p:nvPicPr>
          <p:cNvPr id="4" name="Image 2" descr="gen-dedup-51ff11541e85fadfb82830e76987ccc2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4953305" y="1904695"/>
            <a:ext cx="6782105" cy="459120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76402" y="863256"/>
            <a:ext cx="112398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민원·고객 문의 응대 </a:t>
            </a:r>
            <a:r>
              <a:rPr lang="en-US" sz="3900" b="1" kern="0" spc="-78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전 (Before)</a:t>
            </a:r>
            <a:endParaRPr lang="en-US" sz="3900" dirty="0"/>
          </a:p>
        </p:txBody>
      </p:sp>
      <p:sp>
        <p:nvSpPr>
          <p:cNvPr id="6" name="Text 1"/>
          <p:cNvSpPr txBox="1"/>
          <p:nvPr/>
        </p:nvSpPr>
        <p:spPr>
          <a:xfrm>
            <a:off x="603273" y="1511108"/>
            <a:ext cx="11239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수작업 고객 응대의 비효율과 한계 · 가상 사례</a:t>
            </a:r>
            <a:endParaRPr lang="en-US" sz="1800" dirty="0"/>
          </a:p>
        </p:txBody>
      </p:sp>
      <p:pic>
        <p:nvPicPr>
          <p:cNvPr id="7" name="Image 3" descr="gen-dedup-017186ac9b5f3360fabb254bbc1a2271.png"/>
          <p:cNvPicPr>
            <a:picLocks noChangeAspect="1"/>
          </p:cNvPicPr>
          <p:nvPr/>
        </p:nvPicPr>
        <p:blipFill>
          <a:blip r:embed="rId6"/>
          <a:srcRect l="-93" r="-93"/>
          <a:stretch/>
        </p:blipFill>
        <p:spPr>
          <a:xfrm>
            <a:off x="476402" y="381305"/>
            <a:ext cx="1809598" cy="42885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33602" y="381305"/>
            <a:ext cx="13533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4: 문제점 </a:t>
            </a:r>
            <a:endParaRPr lang="en-US" sz="1500" dirty="0"/>
          </a:p>
        </p:txBody>
      </p:sp>
      <p:pic>
        <p:nvPicPr>
          <p:cNvPr id="9" name="Image 4" descr="gen-dedup-d9a90530c0988a622bcfa830d4e586c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6598" y="509321"/>
            <a:ext cx="190195" cy="190195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61695" y="3029407"/>
            <a:ext cx="36191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4"/>
          <p:cNvSpPr/>
          <p:nvPr/>
        </p:nvSpPr>
        <p:spPr>
          <a:xfrm>
            <a:off x="761695" y="2247595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5" descr="gen-dedup-9b295881cd80a540b1880df9790d729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5198" y="2381098"/>
            <a:ext cx="267005" cy="2670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485900" y="2190902"/>
            <a:ext cx="18772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프로세스</a:t>
            </a:r>
            <a:endParaRPr lang="en-US" sz="2100" dirty="0"/>
          </a:p>
        </p:txBody>
      </p:sp>
      <p:sp>
        <p:nvSpPr>
          <p:cNvPr id="14" name="Text 6"/>
          <p:cNvSpPr txBox="1"/>
          <p:nvPr/>
        </p:nvSpPr>
        <p:spPr>
          <a:xfrm>
            <a:off x="1485900" y="2590495"/>
            <a:ext cx="15526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 답변 작성</a:t>
            </a:r>
            <a:endParaRPr lang="en-US" sz="1300" dirty="0"/>
          </a:p>
        </p:txBody>
      </p:sp>
      <p:sp>
        <p:nvSpPr>
          <p:cNvPr id="15" name="Text 7"/>
          <p:cNvSpPr txBox="1"/>
          <p:nvPr/>
        </p:nvSpPr>
        <p:spPr>
          <a:xfrm>
            <a:off x="761695" y="3333902"/>
            <a:ext cx="3620110" cy="2382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담당자가 모든 문의를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개별적으로 확인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과거 이력이나 규정을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일일이 찾아가며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답변을 </a:t>
            </a:r>
            <a:r>
              <a:rPr lang="en-US" sz="1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 작성</a:t>
            </a: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</a:t>
            </a:r>
            <a:endParaRPr lang="en-US" sz="1900" dirty="0"/>
          </a:p>
        </p:txBody>
      </p:sp>
      <p:sp>
        <p:nvSpPr>
          <p:cNvPr id="16" name="Shape 8"/>
          <p:cNvSpPr/>
          <p:nvPr/>
        </p:nvSpPr>
        <p:spPr>
          <a:xfrm>
            <a:off x="5191049" y="2095805"/>
            <a:ext cx="6286500" cy="1304849"/>
          </a:xfrm>
          <a:prstGeom prst="roundRect">
            <a:avLst>
              <a:gd name="adj" fmla="val 12276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5191049" y="2095805"/>
            <a:ext cx="75895" cy="1304849"/>
          </a:xfrm>
          <a:prstGeom prst="roundRect">
            <a:avLst>
              <a:gd name="adj" fmla="val 211064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0"/>
          <p:cNvSpPr txBox="1"/>
          <p:nvPr/>
        </p:nvSpPr>
        <p:spPr>
          <a:xfrm>
            <a:off x="5961888" y="2266798"/>
            <a:ext cx="52870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01. 긴 응대 대기 시간 </a:t>
            </a:r>
            <a:endParaRPr lang="en-US" sz="1800" dirty="0"/>
          </a:p>
        </p:txBody>
      </p:sp>
      <p:sp>
        <p:nvSpPr>
          <p:cNvPr id="19" name="Text 11"/>
          <p:cNvSpPr txBox="1"/>
          <p:nvPr/>
        </p:nvSpPr>
        <p:spPr>
          <a:xfrm>
            <a:off x="5495544" y="2667305"/>
            <a:ext cx="57534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평균 응대 시간 </a:t>
            </a: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45분 소요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단순 문의조차 담당자 확인을 거쳐야 하므로 처리가 지연됩니다. 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5191049" y="3541471"/>
            <a:ext cx="6286500" cy="1304849"/>
          </a:xfrm>
          <a:prstGeom prst="roundRect">
            <a:avLst>
              <a:gd name="adj" fmla="val 12276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5191049" y="3541471"/>
            <a:ext cx="75895" cy="1304849"/>
          </a:xfrm>
          <a:prstGeom prst="roundRect">
            <a:avLst>
              <a:gd name="adj" fmla="val 211064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4"/>
          <p:cNvSpPr txBox="1"/>
          <p:nvPr/>
        </p:nvSpPr>
        <p:spPr>
          <a:xfrm>
            <a:off x="5961888" y="3712464"/>
            <a:ext cx="52870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02. 답변의 일관성 부족 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5495544" y="4112971"/>
            <a:ext cx="57534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담당자의 </a:t>
            </a: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숙련도와 당일 컨디션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따라 제공되는 정보의 깊이와 어조가 크게 달라집니다. 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5191049" y="4987138"/>
            <a:ext cx="6286500" cy="1304849"/>
          </a:xfrm>
          <a:prstGeom prst="roundRect">
            <a:avLst>
              <a:gd name="adj" fmla="val 12276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5191049" y="4987138"/>
            <a:ext cx="75895" cy="1304849"/>
          </a:xfrm>
          <a:prstGeom prst="roundRect">
            <a:avLst>
              <a:gd name="adj" fmla="val 211064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5961888" y="5159045"/>
            <a:ext cx="52870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03. 고객 만족도 저하 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5495544" y="5558638"/>
            <a:ext cx="57534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지연된 답변과 불균일한 서비스 품질로 인해 전반적인 </a:t>
            </a: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만족도(CSAT)가 저하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됩니다. (평균 4.2/5.0) </a:t>
            </a:r>
            <a:endParaRPr lang="en-US" sz="1500" dirty="0"/>
          </a:p>
        </p:txBody>
      </p:sp>
      <p:pic>
        <p:nvPicPr>
          <p:cNvPr id="28" name="Image 6" descr="gen-dedup-48da1f0926909ff7ce0a13defbe171c4.png"/>
          <p:cNvPicPr>
            <a:picLocks noChangeAspect="1"/>
          </p:cNvPicPr>
          <p:nvPr/>
        </p:nvPicPr>
        <p:blipFill>
          <a:blip r:embed="rId9"/>
          <a:srcRect l="-30256" r="-30256"/>
          <a:stretch/>
        </p:blipFill>
        <p:spPr>
          <a:xfrm>
            <a:off x="5495544" y="2334463"/>
            <a:ext cx="286207" cy="237744"/>
          </a:xfrm>
          <a:prstGeom prst="rect">
            <a:avLst/>
          </a:prstGeom>
        </p:spPr>
      </p:pic>
      <p:pic>
        <p:nvPicPr>
          <p:cNvPr id="29" name="Image 7" descr="gen-dedup-ff51a3967b791e6629c7c63266ab365d.png"/>
          <p:cNvPicPr>
            <a:picLocks noChangeAspect="1"/>
          </p:cNvPicPr>
          <p:nvPr/>
        </p:nvPicPr>
        <p:blipFill>
          <a:blip r:embed="rId10"/>
          <a:srcRect t="-1917" b="-1917"/>
          <a:stretch/>
        </p:blipFill>
        <p:spPr>
          <a:xfrm>
            <a:off x="5495544" y="3781044"/>
            <a:ext cx="286207" cy="237744"/>
          </a:xfrm>
          <a:prstGeom prst="rect">
            <a:avLst/>
          </a:prstGeom>
        </p:spPr>
      </p:pic>
      <p:pic>
        <p:nvPicPr>
          <p:cNvPr id="30" name="Image 8" descr="gen-dedup-cac63f1417faf858c15d01a56a72f252.png"/>
          <p:cNvPicPr>
            <a:picLocks noChangeAspect="1"/>
          </p:cNvPicPr>
          <p:nvPr/>
        </p:nvPicPr>
        <p:blipFill>
          <a:blip r:embed="rId11"/>
          <a:srcRect l="-10192" r="-10192"/>
          <a:stretch/>
        </p:blipFill>
        <p:spPr>
          <a:xfrm>
            <a:off x="5495544" y="5226710"/>
            <a:ext cx="286207" cy="237744"/>
          </a:xfrm>
          <a:prstGeom prst="rect">
            <a:avLst/>
          </a:prstGeom>
        </p:spPr>
      </p:pic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40f37072f673e7acf943ed19e988b9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1714500"/>
            <a:ext cx="4229100" cy="4800600"/>
          </a:xfrm>
          <a:prstGeom prst="rect">
            <a:avLst/>
          </a:prstGeom>
        </p:spPr>
      </p:pic>
      <p:pic>
        <p:nvPicPr>
          <p:cNvPr id="4" name="Image 2" descr="gen-dedup-c620db2febe472e1858e49113b97104a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4953305" y="1714500"/>
            <a:ext cx="6801307" cy="48006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76402" y="923544"/>
            <a:ext cx="112398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사례4: 민원·고객 응대 </a:t>
            </a:r>
            <a:r>
              <a:rPr lang="en-US" sz="3900" b="1" kern="0" spc="-78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(개선 후)</a:t>
            </a:r>
            <a:endParaRPr lang="en-US" sz="3900" dirty="0"/>
          </a:p>
        </p:txBody>
      </p:sp>
      <p:sp>
        <p:nvSpPr>
          <p:cNvPr id="6" name="Text 1"/>
          <p:cNvSpPr txBox="1"/>
          <p:nvPr/>
        </p:nvSpPr>
        <p:spPr>
          <a:xfrm>
            <a:off x="7704734" y="1204722"/>
            <a:ext cx="424921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도입으로 응대 효율·품질 향상 · 가상 사례</a:t>
            </a:r>
            <a:endParaRPr lang="en-US" sz="1800" dirty="0"/>
          </a:p>
        </p:txBody>
      </p:sp>
      <p:pic>
        <p:nvPicPr>
          <p:cNvPr id="7" name="Image 3" descr="gen-dedup-03d37442db0e25e3e1e0c8ab84002715.png"/>
          <p:cNvPicPr>
            <a:picLocks noChangeAspect="1"/>
          </p:cNvPicPr>
          <p:nvPr/>
        </p:nvPicPr>
        <p:blipFill>
          <a:blip r:embed="rId5"/>
          <a:srcRect l="-206" r="-206"/>
          <a:stretch/>
        </p:blipFill>
        <p:spPr>
          <a:xfrm>
            <a:off x="476402" y="381305"/>
            <a:ext cx="1867205" cy="42885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33602" y="381305"/>
            <a:ext cx="1410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4: 개선 후 </a:t>
            </a:r>
            <a:endParaRPr lang="en-US" sz="1500" dirty="0"/>
          </a:p>
        </p:txBody>
      </p:sp>
      <p:pic>
        <p:nvPicPr>
          <p:cNvPr id="9" name="Image 4" descr="gen-dedup-ac28834820be7265908614bb33f9e73f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6598" y="509321"/>
            <a:ext cx="190195" cy="190195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61695" y="2839212"/>
            <a:ext cx="36383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4"/>
          <p:cNvSpPr/>
          <p:nvPr/>
        </p:nvSpPr>
        <p:spPr>
          <a:xfrm>
            <a:off x="761695" y="2057400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5" descr="gen-dedup-8d734e62257aff71191e19522fa68c8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5198" y="2190902"/>
            <a:ext cx="267005" cy="2670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485900" y="2000707"/>
            <a:ext cx="20491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개선 효과</a:t>
            </a:r>
            <a:endParaRPr lang="en-US" sz="2100" dirty="0"/>
          </a:p>
        </p:txBody>
      </p:sp>
      <p:sp>
        <p:nvSpPr>
          <p:cNvPr id="14" name="Text 6"/>
          <p:cNvSpPr txBox="1"/>
          <p:nvPr/>
        </p:nvSpPr>
        <p:spPr>
          <a:xfrm>
            <a:off x="1485900" y="2400300"/>
            <a:ext cx="16294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성과</a:t>
            </a:r>
            <a:endParaRPr lang="en-US" sz="1300" dirty="0"/>
          </a:p>
        </p:txBody>
      </p:sp>
      <p:sp>
        <p:nvSpPr>
          <p:cNvPr id="15" name="Shape 7"/>
          <p:cNvSpPr/>
          <p:nvPr/>
        </p:nvSpPr>
        <p:spPr>
          <a:xfrm>
            <a:off x="761695" y="3143707"/>
            <a:ext cx="3638398" cy="1228954"/>
          </a:xfrm>
          <a:prstGeom prst="roundRect">
            <a:avLst>
              <a:gd name="adj" fmla="val 13843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8"/>
          <p:cNvSpPr txBox="1"/>
          <p:nvPr/>
        </p:nvSpPr>
        <p:spPr>
          <a:xfrm>
            <a:off x="952805" y="3333902"/>
            <a:ext cx="32580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67% 단축</a:t>
            </a:r>
            <a:endParaRPr lang="en-US" sz="1500" dirty="0"/>
          </a:p>
        </p:txBody>
      </p:sp>
      <p:sp>
        <p:nvSpPr>
          <p:cNvPr id="17" name="Text 9"/>
          <p:cNvSpPr txBox="1"/>
          <p:nvPr/>
        </p:nvSpPr>
        <p:spPr>
          <a:xfrm>
            <a:off x="1557223" y="3685946"/>
            <a:ext cx="265358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45분  15분</a:t>
            </a:r>
            <a:endParaRPr lang="en-US" sz="2700" dirty="0"/>
          </a:p>
        </p:txBody>
      </p:sp>
      <p:sp>
        <p:nvSpPr>
          <p:cNvPr id="18" name="Shape 10"/>
          <p:cNvSpPr/>
          <p:nvPr/>
        </p:nvSpPr>
        <p:spPr>
          <a:xfrm>
            <a:off x="761695" y="4562856"/>
            <a:ext cx="3638398" cy="1552651"/>
          </a:xfrm>
          <a:prstGeom prst="roundRect">
            <a:avLst>
              <a:gd name="adj" fmla="val 8671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1"/>
          <p:cNvSpPr txBox="1"/>
          <p:nvPr/>
        </p:nvSpPr>
        <p:spPr>
          <a:xfrm>
            <a:off x="952805" y="4753051"/>
            <a:ext cx="32580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만족도 향상</a:t>
            </a:r>
            <a:endParaRPr lang="en-US" sz="1500" dirty="0"/>
          </a:p>
        </p:txBody>
      </p:sp>
      <p:sp>
        <p:nvSpPr>
          <p:cNvPr id="20" name="Text 12"/>
          <p:cNvSpPr txBox="1"/>
          <p:nvPr/>
        </p:nvSpPr>
        <p:spPr>
          <a:xfrm>
            <a:off x="952805" y="5105095"/>
            <a:ext cx="32580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CSAT 4.8</a:t>
            </a:r>
            <a:r>
              <a:rPr lang="en-US" sz="18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/5.0</a:t>
            </a:r>
            <a:endParaRPr lang="en-US" sz="2700" dirty="0"/>
          </a:p>
        </p:txBody>
      </p:sp>
      <p:sp>
        <p:nvSpPr>
          <p:cNvPr id="21" name="Text 13"/>
          <p:cNvSpPr txBox="1"/>
          <p:nvPr/>
        </p:nvSpPr>
        <p:spPr>
          <a:xfrm>
            <a:off x="2177186" y="5676595"/>
            <a:ext cx="20336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만족도 +14%</a:t>
            </a:r>
            <a:endParaRPr lang="en-US" sz="1300" dirty="0"/>
          </a:p>
        </p:txBody>
      </p:sp>
      <p:pic>
        <p:nvPicPr>
          <p:cNvPr id="22" name="Image 6" descr="gen-dedup-c8d51dfe4981fff68f9eb915b8e6dac8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2481682" y="3878885"/>
            <a:ext cx="200254" cy="228600"/>
          </a:xfrm>
          <a:prstGeom prst="rect">
            <a:avLst/>
          </a:prstGeom>
        </p:spPr>
      </p:pic>
      <p:pic>
        <p:nvPicPr>
          <p:cNvPr id="23" name="Image 7" descr="gen-dedup-3f01148fc0c9fcc3565b51a99c36c063.png"/>
          <p:cNvPicPr>
            <a:picLocks noChangeAspect="1"/>
          </p:cNvPicPr>
          <p:nvPr/>
        </p:nvPicPr>
        <p:blipFill>
          <a:blip r:embed="rId9"/>
          <a:srcRect l="-1773" r="-1773"/>
          <a:stretch/>
        </p:blipFill>
        <p:spPr>
          <a:xfrm>
            <a:off x="1995221" y="5726887"/>
            <a:ext cx="133502" cy="171907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5191049" y="1904695"/>
            <a:ext cx="6305702" cy="1285646"/>
          </a:xfrm>
          <a:prstGeom prst="roundRect">
            <a:avLst>
              <a:gd name="adj" fmla="val 12644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5"/>
          <p:cNvSpPr/>
          <p:nvPr/>
        </p:nvSpPr>
        <p:spPr>
          <a:xfrm>
            <a:off x="5191049" y="1904695"/>
            <a:ext cx="75895" cy="1285646"/>
          </a:xfrm>
          <a:prstGeom prst="roundRect">
            <a:avLst>
              <a:gd name="adj" fmla="val 214191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6"/>
          <p:cNvSpPr txBox="1"/>
          <p:nvPr/>
        </p:nvSpPr>
        <p:spPr>
          <a:xfrm>
            <a:off x="5997550" y="2076602"/>
            <a:ext cx="52706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01. FAQ 기반 답변 초안 생성 </a:t>
            </a:r>
            <a:endParaRPr lang="en-US" sz="1800" dirty="0"/>
          </a:p>
        </p:txBody>
      </p:sp>
      <p:sp>
        <p:nvSpPr>
          <p:cNvPr id="27" name="Text 17"/>
          <p:cNvSpPr txBox="1"/>
          <p:nvPr/>
        </p:nvSpPr>
        <p:spPr>
          <a:xfrm>
            <a:off x="5495544" y="2467051"/>
            <a:ext cx="57726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기존 FAQ 데이터를 학습한 AI가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문의 유형을 자동 분류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적절한 답변의 뼈대를 즉시 구성합니다. </a:t>
            </a:r>
            <a:endParaRPr lang="en-US" sz="1500" dirty="0"/>
          </a:p>
        </p:txBody>
      </p:sp>
      <p:sp>
        <p:nvSpPr>
          <p:cNvPr id="28" name="Shape 18"/>
          <p:cNvSpPr/>
          <p:nvPr/>
        </p:nvSpPr>
        <p:spPr>
          <a:xfrm>
            <a:off x="5191049" y="3305556"/>
            <a:ext cx="6305702" cy="1285646"/>
          </a:xfrm>
          <a:prstGeom prst="roundRect">
            <a:avLst>
              <a:gd name="adj" fmla="val 12644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19"/>
          <p:cNvSpPr/>
          <p:nvPr/>
        </p:nvSpPr>
        <p:spPr>
          <a:xfrm>
            <a:off x="5191049" y="3305556"/>
            <a:ext cx="75895" cy="1285646"/>
          </a:xfrm>
          <a:prstGeom prst="roundRect">
            <a:avLst>
              <a:gd name="adj" fmla="val 214191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0"/>
          <p:cNvSpPr txBox="1"/>
          <p:nvPr/>
        </p:nvSpPr>
        <p:spPr>
          <a:xfrm>
            <a:off x="5997550" y="3476549"/>
            <a:ext cx="52706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02. AI로 맞춤형 응답 문서 작성 </a:t>
            </a:r>
            <a:endParaRPr lang="en-US" sz="1800" dirty="0"/>
          </a:p>
        </p:txBody>
      </p:sp>
      <p:sp>
        <p:nvSpPr>
          <p:cNvPr id="31" name="Text 21"/>
          <p:cNvSpPr txBox="1"/>
          <p:nvPr/>
        </p:nvSpPr>
        <p:spPr>
          <a:xfrm>
            <a:off x="5495544" y="3866998"/>
            <a:ext cx="57726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고객의 개별 상황과 어조에 맞춰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자연스럽고 전문적인 안내 문서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AI가 완성하여 일관된 품질을 제공합니다. </a:t>
            </a:r>
            <a:endParaRPr lang="en-US" sz="1500" dirty="0"/>
          </a:p>
        </p:txBody>
      </p:sp>
      <p:sp>
        <p:nvSpPr>
          <p:cNvPr id="32" name="Shape 22"/>
          <p:cNvSpPr/>
          <p:nvPr/>
        </p:nvSpPr>
        <p:spPr>
          <a:xfrm>
            <a:off x="5191049" y="4705502"/>
            <a:ext cx="6305702" cy="1285646"/>
          </a:xfrm>
          <a:prstGeom prst="roundRect">
            <a:avLst>
              <a:gd name="adj" fmla="val 12644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3"/>
          <p:cNvSpPr/>
          <p:nvPr/>
        </p:nvSpPr>
        <p:spPr>
          <a:xfrm>
            <a:off x="5191049" y="4705502"/>
            <a:ext cx="75895" cy="1285646"/>
          </a:xfrm>
          <a:prstGeom prst="roundRect">
            <a:avLst>
              <a:gd name="adj" fmla="val 214191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4"/>
          <p:cNvSpPr txBox="1"/>
          <p:nvPr/>
        </p:nvSpPr>
        <p:spPr>
          <a:xfrm>
            <a:off x="5997550" y="4876495"/>
            <a:ext cx="52706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03. 담당자의 최종 검토 및 발송 </a:t>
            </a:r>
            <a:endParaRPr lang="en-US" sz="1800" dirty="0"/>
          </a:p>
        </p:txBody>
      </p:sp>
      <p:sp>
        <p:nvSpPr>
          <p:cNvPr id="35" name="Text 25"/>
          <p:cNvSpPr txBox="1"/>
          <p:nvPr/>
        </p:nvSpPr>
        <p:spPr>
          <a:xfrm>
            <a:off x="5495544" y="5266944"/>
            <a:ext cx="57726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담당자는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 관계와 민감한 정보만을 빠르게 확인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후 최종 발송하여 업무 피로도를 대폭 낮춥니다. </a:t>
            </a:r>
            <a:endParaRPr lang="en-US" sz="1500" dirty="0"/>
          </a:p>
        </p:txBody>
      </p:sp>
      <p:pic>
        <p:nvPicPr>
          <p:cNvPr id="36" name="Image 8" descr="gen-dedup-c8287aff736ba480db431788749a07ba.png"/>
          <p:cNvPicPr>
            <a:picLocks noChangeAspect="1"/>
          </p:cNvPicPr>
          <p:nvPr/>
        </p:nvPicPr>
        <p:blipFill>
          <a:blip r:embed="rId10"/>
          <a:srcRect l="-30914" r="-30914"/>
          <a:stretch/>
        </p:blipFill>
        <p:spPr>
          <a:xfrm>
            <a:off x="5495544" y="2143354"/>
            <a:ext cx="323698" cy="228600"/>
          </a:xfrm>
          <a:prstGeom prst="rect">
            <a:avLst/>
          </a:prstGeom>
        </p:spPr>
      </p:pic>
      <p:pic>
        <p:nvPicPr>
          <p:cNvPr id="37" name="Image 9" descr="gen-dedup-4ef2153e49bfbb6fae5948dbe4c18609.png"/>
          <p:cNvPicPr>
            <a:picLocks noChangeAspect="1"/>
          </p:cNvPicPr>
          <p:nvPr/>
        </p:nvPicPr>
        <p:blipFill>
          <a:blip r:embed="rId11"/>
          <a:srcRect l="-6640" r="-6640"/>
          <a:stretch/>
        </p:blipFill>
        <p:spPr>
          <a:xfrm>
            <a:off x="5495544" y="3543300"/>
            <a:ext cx="323698" cy="228600"/>
          </a:xfrm>
          <a:prstGeom prst="rect">
            <a:avLst/>
          </a:prstGeom>
        </p:spPr>
      </p:pic>
      <p:pic>
        <p:nvPicPr>
          <p:cNvPr id="38" name="Image 10" descr="gen-dedup-e4abfca71787e9ceda22ef25a31dc8f1.png"/>
          <p:cNvPicPr>
            <a:picLocks noChangeAspect="1"/>
          </p:cNvPicPr>
          <p:nvPr/>
        </p:nvPicPr>
        <p:blipFill>
          <a:blip r:embed="rId12"/>
          <a:srcRect l="-6640" r="-6640"/>
          <a:stretch/>
        </p:blipFill>
        <p:spPr>
          <a:xfrm>
            <a:off x="5495544" y="4943246"/>
            <a:ext cx="323698" cy="228600"/>
          </a:xfrm>
          <a:prstGeom prst="rect">
            <a:avLst/>
          </a:prstGeom>
        </p:spPr>
      </p:pic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6c8e9a111a2828afcdbc872631cd2ab5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476402" y="1904695"/>
            <a:ext cx="4209898" cy="4591202"/>
          </a:xfrm>
          <a:prstGeom prst="rect">
            <a:avLst/>
          </a:prstGeom>
        </p:spPr>
      </p:pic>
      <p:pic>
        <p:nvPicPr>
          <p:cNvPr id="4" name="Image 2" descr="gen-dedup-99cbd4b4970537a7f13de41b841c6099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4953305" y="1904695"/>
            <a:ext cx="6782105" cy="4733849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76402" y="981151"/>
            <a:ext cx="112398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사례5: 자료 조사·요약 </a:t>
            </a:r>
            <a:r>
              <a:rPr lang="en-US" sz="3900" b="1" kern="0" spc="-78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(개선 전)</a:t>
            </a:r>
            <a:endParaRPr lang="en-US" sz="3900" dirty="0"/>
          </a:p>
        </p:txBody>
      </p:sp>
      <p:sp>
        <p:nvSpPr>
          <p:cNvPr id="6" name="Text 1"/>
          <p:cNvSpPr txBox="1"/>
          <p:nvPr/>
        </p:nvSpPr>
        <p:spPr>
          <a:xfrm>
            <a:off x="8922936" y="1246784"/>
            <a:ext cx="47545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자료를 </a:t>
            </a:r>
            <a:r>
              <a:rPr lang="en-US" sz="21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조사하고</a:t>
            </a:r>
            <a:r>
              <a:rPr lang="en-US" sz="2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1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요약하는</a:t>
            </a:r>
            <a:r>
              <a:rPr lang="en-US" sz="2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프로세스 변화</a:t>
            </a:r>
            <a:endParaRPr lang="en-US" sz="2100" dirty="0"/>
          </a:p>
        </p:txBody>
      </p:sp>
      <p:pic>
        <p:nvPicPr>
          <p:cNvPr id="7" name="Image 3" descr="gen-dedup-9d0534b0d59dca7eb610ae00582a39e4.png"/>
          <p:cNvPicPr>
            <a:picLocks noChangeAspect="1"/>
          </p:cNvPicPr>
          <p:nvPr/>
        </p:nvPicPr>
        <p:blipFill>
          <a:blip r:embed="rId5"/>
          <a:srcRect l="-119" r="-119"/>
          <a:stretch/>
        </p:blipFill>
        <p:spPr>
          <a:xfrm>
            <a:off x="476402" y="381305"/>
            <a:ext cx="2219249" cy="48554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09498" y="381305"/>
            <a:ext cx="168706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5: 개선 전 </a:t>
            </a:r>
            <a:endParaRPr lang="en-US" sz="1800" dirty="0"/>
          </a:p>
        </p:txBody>
      </p:sp>
      <p:pic>
        <p:nvPicPr>
          <p:cNvPr id="9" name="Image 4" descr="gen-dedup-38136f1517b8ab537a618c031406021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5002" y="523951"/>
            <a:ext cx="228600" cy="22860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61695" y="3124505"/>
            <a:ext cx="36191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4"/>
          <p:cNvSpPr/>
          <p:nvPr/>
        </p:nvSpPr>
        <p:spPr>
          <a:xfrm>
            <a:off x="761695" y="2257654"/>
            <a:ext cx="609905" cy="609905"/>
          </a:xfrm>
          <a:prstGeom prst="roundRect">
            <a:avLst>
              <a:gd name="adj" fmla="val 65592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5" descr="gen-dedup-bc8f3aee038b0db0e5e24413b210b9aa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4400" y="2409444"/>
            <a:ext cx="304495" cy="30449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561795" y="2190902"/>
            <a:ext cx="16669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문제점</a:t>
            </a:r>
            <a:endParaRPr lang="en-US" sz="2200" dirty="0"/>
          </a:p>
        </p:txBody>
      </p:sp>
      <p:sp>
        <p:nvSpPr>
          <p:cNvPr id="14" name="Text 6"/>
          <p:cNvSpPr txBox="1"/>
          <p:nvPr/>
        </p:nvSpPr>
        <p:spPr>
          <a:xfrm>
            <a:off x="1561795" y="2628900"/>
            <a:ext cx="199430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 조사의 한계</a:t>
            </a:r>
            <a:endParaRPr lang="en-US" sz="1600" dirty="0"/>
          </a:p>
        </p:txBody>
      </p:sp>
      <p:sp>
        <p:nvSpPr>
          <p:cNvPr id="15" name="Text 7"/>
          <p:cNvSpPr txBox="1"/>
          <p:nvPr/>
        </p:nvSpPr>
        <p:spPr>
          <a:xfrm>
            <a:off x="761695" y="3429000"/>
            <a:ext cx="3620110" cy="256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방대한 자료 속에서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정보를 찾고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요약하는 데 한계</a:t>
            </a:r>
            <a:r>
              <a:rPr lang="en-US" sz="2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있으며,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다양한 채널의 정보를 취합하기 어렵습니다. </a:t>
            </a:r>
            <a:endParaRPr lang="en-US" sz="2100" dirty="0"/>
          </a:p>
        </p:txBody>
      </p:sp>
      <p:sp>
        <p:nvSpPr>
          <p:cNvPr id="16" name="Shape 8"/>
          <p:cNvSpPr/>
          <p:nvPr/>
        </p:nvSpPr>
        <p:spPr>
          <a:xfrm>
            <a:off x="5191049" y="2095805"/>
            <a:ext cx="6286500" cy="1304849"/>
          </a:xfrm>
          <a:prstGeom prst="roundRect">
            <a:avLst>
              <a:gd name="adj" fmla="val 12276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5191049" y="2095805"/>
            <a:ext cx="75895" cy="1304849"/>
          </a:xfrm>
          <a:prstGeom prst="roundRect">
            <a:avLst>
              <a:gd name="adj" fmla="val 211064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0"/>
          <p:cNvSpPr txBox="1"/>
          <p:nvPr/>
        </p:nvSpPr>
        <p:spPr>
          <a:xfrm>
            <a:off x="5997550" y="2266798"/>
            <a:ext cx="521390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01. 과도한 시간 소요 </a:t>
            </a:r>
            <a:endParaRPr lang="en-US" sz="1800" dirty="0"/>
          </a:p>
        </p:txBody>
      </p:sp>
      <p:sp>
        <p:nvSpPr>
          <p:cNvPr id="19" name="Text 11"/>
          <p:cNvSpPr txBox="1"/>
          <p:nvPr/>
        </p:nvSpPr>
        <p:spPr>
          <a:xfrm>
            <a:off x="5533949" y="2638044"/>
            <a:ext cx="56775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수작업으로 자료를 검색하고 읽어보는 과정에서 </a:t>
            </a:r>
            <a:r>
              <a:rPr lang="en-US" sz="16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2-3시간</a:t>
            </a: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낭비됩니다. 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191049" y="3511296"/>
            <a:ext cx="6286500" cy="1304849"/>
          </a:xfrm>
          <a:prstGeom prst="roundRect">
            <a:avLst>
              <a:gd name="adj" fmla="val 12276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5191049" y="3511296"/>
            <a:ext cx="75895" cy="1304849"/>
          </a:xfrm>
          <a:prstGeom prst="roundRect">
            <a:avLst>
              <a:gd name="adj" fmla="val 211064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4"/>
          <p:cNvSpPr txBox="1"/>
          <p:nvPr/>
        </p:nvSpPr>
        <p:spPr>
          <a:xfrm>
            <a:off x="5997550" y="3682289"/>
            <a:ext cx="521390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02. 자료 분산으로 인한 지연 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5533949" y="4053535"/>
            <a:ext cx="56775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여러 출처에 자료가 흩어져 있어 </a:t>
            </a:r>
            <a:r>
              <a:rPr lang="en-US" sz="16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취합하고 대조하는 조사 시간</a:t>
            </a: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불필요하게 길어집니다. </a:t>
            </a: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5191049" y="4925873"/>
            <a:ext cx="6286500" cy="1304849"/>
          </a:xfrm>
          <a:prstGeom prst="roundRect">
            <a:avLst>
              <a:gd name="adj" fmla="val 12276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5191049" y="4925873"/>
            <a:ext cx="75895" cy="1304849"/>
          </a:xfrm>
          <a:prstGeom prst="roundRect">
            <a:avLst>
              <a:gd name="adj" fmla="val 211064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5997550" y="5097780"/>
            <a:ext cx="521390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03. 핵심 내용 파악 어려움 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5533949" y="5469026"/>
            <a:ext cx="56775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방대한 텍스트 속에서 </a:t>
            </a:r>
            <a:r>
              <a:rPr lang="en-US" sz="16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진짜 필요한 핵심 쟁점과 통찰</a:t>
            </a: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신속하게 파악하기 어렵습니다. </a:t>
            </a:r>
            <a:endParaRPr lang="en-US" sz="1600" dirty="0"/>
          </a:p>
        </p:txBody>
      </p:sp>
      <p:pic>
        <p:nvPicPr>
          <p:cNvPr id="28" name="Image 6" descr="gen-dedup-00bd14284e74c079e2802cb636922598.png"/>
          <p:cNvPicPr>
            <a:picLocks noChangeAspect="1"/>
          </p:cNvPicPr>
          <p:nvPr/>
        </p:nvPicPr>
        <p:blipFill>
          <a:blip r:embed="rId8"/>
          <a:srcRect l="-12600" r="-12600"/>
          <a:stretch/>
        </p:blipFill>
        <p:spPr>
          <a:xfrm>
            <a:off x="5533949" y="2333549"/>
            <a:ext cx="286207" cy="228600"/>
          </a:xfrm>
          <a:prstGeom prst="rect">
            <a:avLst/>
          </a:prstGeom>
        </p:spPr>
      </p:pic>
      <p:pic>
        <p:nvPicPr>
          <p:cNvPr id="29" name="Image 7" descr="gen-dedup-7f8b0fa894ebb48d499fcb4600d43277.png"/>
          <p:cNvPicPr>
            <a:picLocks noChangeAspect="1"/>
          </p:cNvPicPr>
          <p:nvPr/>
        </p:nvPicPr>
        <p:blipFill>
          <a:blip r:embed="rId9"/>
          <a:srcRect l="-5644" r="-5644"/>
          <a:stretch/>
        </p:blipFill>
        <p:spPr>
          <a:xfrm>
            <a:off x="5533949" y="3749040"/>
            <a:ext cx="286207" cy="228600"/>
          </a:xfrm>
          <a:prstGeom prst="rect">
            <a:avLst/>
          </a:prstGeom>
        </p:spPr>
      </p:pic>
      <p:pic>
        <p:nvPicPr>
          <p:cNvPr id="30" name="Image 8" descr="gen-dedup-dc88a05bfc3b98cdee353396194048e6.png"/>
          <p:cNvPicPr>
            <a:picLocks noChangeAspect="1"/>
          </p:cNvPicPr>
          <p:nvPr/>
        </p:nvPicPr>
        <p:blipFill>
          <a:blip r:embed="rId10"/>
          <a:srcRect l="-12600" r="-12600"/>
          <a:stretch/>
        </p:blipFill>
        <p:spPr>
          <a:xfrm>
            <a:off x="5533949" y="5164531"/>
            <a:ext cx="286207" cy="228600"/>
          </a:xfrm>
          <a:prstGeom prst="rect">
            <a:avLst/>
          </a:prstGeom>
        </p:spPr>
      </p:pic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46966f61cd5e401cc83442129f2e5a3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1809598"/>
            <a:ext cx="4209898" cy="4781398"/>
          </a:xfrm>
          <a:prstGeom prst="rect">
            <a:avLst/>
          </a:prstGeom>
        </p:spPr>
      </p:pic>
      <p:pic>
        <p:nvPicPr>
          <p:cNvPr id="4" name="Image 2" descr="gen-dedup-cb740237685b59306fa8d40025d106a8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4953305" y="1809598"/>
            <a:ext cx="6782105" cy="478139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76402" y="923544"/>
            <a:ext cx="112398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사례5: 자료 조사·요약 </a:t>
            </a:r>
            <a:r>
              <a:rPr lang="en-US" sz="3900" b="1" kern="0" spc="-78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(개선 후)</a:t>
            </a:r>
            <a:endParaRPr lang="en-US" sz="3900" dirty="0"/>
          </a:p>
        </p:txBody>
      </p:sp>
      <p:sp>
        <p:nvSpPr>
          <p:cNvPr id="6" name="Text 1"/>
          <p:cNvSpPr txBox="1"/>
          <p:nvPr/>
        </p:nvSpPr>
        <p:spPr>
          <a:xfrm>
            <a:off x="7240370" y="1333195"/>
            <a:ext cx="481748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비교 분석과 검토 시간 단축 · 가상 사례</a:t>
            </a:r>
            <a:endParaRPr lang="en-US" sz="1800" dirty="0"/>
          </a:p>
        </p:txBody>
      </p:sp>
      <p:pic>
        <p:nvPicPr>
          <p:cNvPr id="7" name="Image 3" descr="gen-dedup-03d37442db0e25e3e1e0c8ab84002715.png"/>
          <p:cNvPicPr>
            <a:picLocks noChangeAspect="1"/>
          </p:cNvPicPr>
          <p:nvPr/>
        </p:nvPicPr>
        <p:blipFill>
          <a:blip r:embed="rId5"/>
          <a:srcRect l="-206" r="-206"/>
          <a:stretch/>
        </p:blipFill>
        <p:spPr>
          <a:xfrm>
            <a:off x="476402" y="381305"/>
            <a:ext cx="1867205" cy="42885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33602" y="381305"/>
            <a:ext cx="1410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5: 개선 후 </a:t>
            </a:r>
            <a:endParaRPr lang="en-US" sz="1500" dirty="0"/>
          </a:p>
        </p:txBody>
      </p:sp>
      <p:pic>
        <p:nvPicPr>
          <p:cNvPr id="9" name="Image 4" descr="gen-dedup-ac28834820be7265908614bb33f9e73f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6598" y="509321"/>
            <a:ext cx="190195" cy="190195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61695" y="2839212"/>
            <a:ext cx="36191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4"/>
          <p:cNvSpPr/>
          <p:nvPr/>
        </p:nvSpPr>
        <p:spPr>
          <a:xfrm>
            <a:off x="761695" y="2057400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5" descr="gen-dedup-8d734e62257aff71191e19522fa68c8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5198" y="2190902"/>
            <a:ext cx="267005" cy="2670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485900" y="2000707"/>
            <a:ext cx="20491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개선 효과</a:t>
            </a:r>
            <a:endParaRPr lang="en-US" sz="2100" dirty="0"/>
          </a:p>
        </p:txBody>
      </p:sp>
      <p:sp>
        <p:nvSpPr>
          <p:cNvPr id="14" name="Text 6"/>
          <p:cNvSpPr txBox="1"/>
          <p:nvPr/>
        </p:nvSpPr>
        <p:spPr>
          <a:xfrm>
            <a:off x="1485900" y="2400300"/>
            <a:ext cx="16294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자료 분석</a:t>
            </a:r>
            <a:endParaRPr lang="en-US" sz="1300" dirty="0"/>
          </a:p>
        </p:txBody>
      </p:sp>
      <p:sp>
        <p:nvSpPr>
          <p:cNvPr id="15" name="Text 7"/>
          <p:cNvSpPr txBox="1"/>
          <p:nvPr/>
        </p:nvSpPr>
        <p:spPr>
          <a:xfrm>
            <a:off x="761695" y="3143707"/>
            <a:ext cx="3620110" cy="2781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다양한 자료를 AI로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요약·비교하여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검토 시간을 대폭 단축합니다.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조사가 아닌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가치 있는 인사이트 도출에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집중할 수 있습니다. </a:t>
            </a:r>
            <a:endParaRPr lang="en-US" sz="1900" dirty="0"/>
          </a:p>
        </p:txBody>
      </p:sp>
      <p:sp>
        <p:nvSpPr>
          <p:cNvPr id="16" name="Shape 8"/>
          <p:cNvSpPr/>
          <p:nvPr/>
        </p:nvSpPr>
        <p:spPr>
          <a:xfrm>
            <a:off x="5191049" y="2048256"/>
            <a:ext cx="6286500" cy="137160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5191049" y="2048256"/>
            <a:ext cx="75895" cy="1371600"/>
          </a:xfrm>
          <a:prstGeom prst="roundRect">
            <a:avLst>
              <a:gd name="adj" fmla="val 200804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0"/>
          <p:cNvSpPr txBox="1"/>
          <p:nvPr/>
        </p:nvSpPr>
        <p:spPr>
          <a:xfrm>
            <a:off x="5959145" y="2238451"/>
            <a:ext cx="52898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53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01. 조사·요약 시간 80% 이상 단축 </a:t>
            </a:r>
            <a:endParaRPr lang="en-US" sz="1800" dirty="0"/>
          </a:p>
        </p:txBody>
      </p:sp>
      <p:sp>
        <p:nvSpPr>
          <p:cNvPr id="19" name="Text 11"/>
          <p:cNvSpPr txBox="1"/>
          <p:nvPr/>
        </p:nvSpPr>
        <p:spPr>
          <a:xfrm>
            <a:off x="5495544" y="2628900"/>
            <a:ext cx="57534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기존 2~3시간 소요되던 자료 조사와 요약 작업이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15~20분 내외로 획기적으로 감소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5191049" y="3562502"/>
            <a:ext cx="6286500" cy="137160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5191049" y="3562502"/>
            <a:ext cx="75895" cy="1371600"/>
          </a:xfrm>
          <a:prstGeom prst="roundRect">
            <a:avLst>
              <a:gd name="adj" fmla="val 200804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4"/>
          <p:cNvSpPr txBox="1"/>
          <p:nvPr/>
        </p:nvSpPr>
        <p:spPr>
          <a:xfrm>
            <a:off x="5959145" y="3752698"/>
            <a:ext cx="52898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53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02. 방대한 자료 속 핵심 정보 파악 용이 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5495544" y="4143146"/>
            <a:ext cx="57534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복잡한 문서를 AI가 핵심 위주로 정리해주어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쟁점과 중요 정보를 빠르고 명확하게 파악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수 있습니다. 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5191049" y="5076749"/>
            <a:ext cx="6286500" cy="137160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5191049" y="5076749"/>
            <a:ext cx="75895" cy="1371600"/>
          </a:xfrm>
          <a:prstGeom prst="roundRect">
            <a:avLst>
              <a:gd name="adj" fmla="val 200804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5959145" y="5266944"/>
            <a:ext cx="52898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53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03. 다양한 AI 도구로 비교 분석 효율화 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5495544" y="5658307"/>
            <a:ext cx="57534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Claude, Gemini, ChatGPT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목적에 맞는 AI를 복합 활용하여 시장 동향이나 경쟁사를 다각도로 빠르게 분석합니다. </a:t>
            </a:r>
            <a:endParaRPr lang="en-US" sz="1500" dirty="0"/>
          </a:p>
        </p:txBody>
      </p:sp>
      <p:pic>
        <p:nvPicPr>
          <p:cNvPr id="28" name="Image 6" descr="gen-dedup-68731c21d1d72bf96dadec4a3f170258.png"/>
          <p:cNvPicPr>
            <a:picLocks noChangeAspect="1"/>
          </p:cNvPicPr>
          <p:nvPr/>
        </p:nvPicPr>
        <p:blipFill>
          <a:blip r:embed="rId8"/>
          <a:srcRect l="-33467" r="-33467"/>
          <a:stretch/>
        </p:blipFill>
        <p:spPr>
          <a:xfrm>
            <a:off x="5495544" y="2305202"/>
            <a:ext cx="286207" cy="228600"/>
          </a:xfrm>
          <a:prstGeom prst="rect">
            <a:avLst/>
          </a:prstGeom>
        </p:spPr>
      </p:pic>
      <p:pic>
        <p:nvPicPr>
          <p:cNvPr id="29" name="Image 7" descr="gen-dedup-d3fd1f98f6a10153241a7f059385e517.png"/>
          <p:cNvPicPr>
            <a:picLocks noChangeAspect="1"/>
          </p:cNvPicPr>
          <p:nvPr/>
        </p:nvPicPr>
        <p:blipFill>
          <a:blip r:embed="rId9"/>
          <a:srcRect l="-12600" r="-12600"/>
          <a:stretch/>
        </p:blipFill>
        <p:spPr>
          <a:xfrm>
            <a:off x="5495544" y="3819449"/>
            <a:ext cx="286207" cy="228600"/>
          </a:xfrm>
          <a:prstGeom prst="rect">
            <a:avLst/>
          </a:prstGeom>
        </p:spPr>
      </p:pic>
      <p:pic>
        <p:nvPicPr>
          <p:cNvPr id="30" name="Image 8" descr="gen-dedup-e3affe9005d3fe9a1833ff2faa7d61ee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5495544" y="5333695"/>
            <a:ext cx="286207" cy="228600"/>
          </a:xfrm>
          <a:prstGeom prst="rect">
            <a:avLst/>
          </a:prstGeom>
        </p:spPr>
      </p:pic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ebba884cd78f5609c3d38f91a4c17ad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1904695"/>
            <a:ext cx="4019702" cy="4591202"/>
          </a:xfrm>
          <a:prstGeom prst="rect">
            <a:avLst/>
          </a:prstGeom>
        </p:spPr>
      </p:pic>
      <p:pic>
        <p:nvPicPr>
          <p:cNvPr id="4" name="Image 2" descr="gen-dedup-4de11613502d19b67a557684c76374b2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4667098" y="1904695"/>
            <a:ext cx="7067398" cy="459120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76402" y="838505"/>
            <a:ext cx="11239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사례6: 교육·행사 운영 </a:t>
            </a:r>
            <a:r>
              <a:rPr lang="en-US" sz="3600" b="1" kern="0" spc="-72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(개선 전)</a:t>
            </a:r>
            <a:endParaRPr lang="en-US" sz="3600" dirty="0"/>
          </a:p>
        </p:txBody>
      </p:sp>
      <p:sp>
        <p:nvSpPr>
          <p:cNvPr id="6" name="Text 1"/>
          <p:cNvSpPr txBox="1"/>
          <p:nvPr/>
        </p:nvSpPr>
        <p:spPr>
          <a:xfrm>
            <a:off x="581547" y="1523389"/>
            <a:ext cx="11239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수작업으로 비효율적인 행사 준비 · 가상 사례</a:t>
            </a:r>
            <a:endParaRPr lang="en-US" sz="1600" dirty="0"/>
          </a:p>
        </p:txBody>
      </p:sp>
      <p:pic>
        <p:nvPicPr>
          <p:cNvPr id="7" name="Image 3" descr="gen-dedup-5ac3ae3a668c9af8dd9984af054a9763.png"/>
          <p:cNvPicPr>
            <a:picLocks noChangeAspect="1"/>
          </p:cNvPicPr>
          <p:nvPr/>
        </p:nvPicPr>
        <p:blipFill>
          <a:blip r:embed="rId5"/>
          <a:srcRect l="-150" r="-150"/>
          <a:stretch/>
        </p:blipFill>
        <p:spPr>
          <a:xfrm>
            <a:off x="476402" y="381305"/>
            <a:ext cx="1686154" cy="36210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95198" y="381305"/>
            <a:ext cx="12673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6: 개선 전 </a:t>
            </a:r>
            <a:endParaRPr lang="en-US" sz="1300" dirty="0"/>
          </a:p>
        </p:txBody>
      </p:sp>
      <p:pic>
        <p:nvPicPr>
          <p:cNvPr id="9" name="Image 4" descr="gen-dedup-0dcc9be46c3e99461ae598a35b8f2bd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7395" y="488290"/>
            <a:ext cx="171907" cy="171907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61695" y="2933395"/>
            <a:ext cx="3429000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4"/>
          <p:cNvSpPr/>
          <p:nvPr/>
        </p:nvSpPr>
        <p:spPr>
          <a:xfrm>
            <a:off x="761695" y="2219249"/>
            <a:ext cx="495605" cy="495605"/>
          </a:xfrm>
          <a:prstGeom prst="roundRect">
            <a:avLst>
              <a:gd name="adj" fmla="val 9934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5" descr="gen-dedup-03ca75aacbadace280ba0f7a561ad97a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6054" y="2343607"/>
            <a:ext cx="247802" cy="247802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399946" y="2190902"/>
            <a:ext cx="13661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문제점</a:t>
            </a:r>
            <a:endParaRPr lang="en-US" sz="1800" dirty="0"/>
          </a:p>
        </p:txBody>
      </p:sp>
      <p:sp>
        <p:nvSpPr>
          <p:cNvPr id="14" name="Text 6"/>
          <p:cNvSpPr txBox="1"/>
          <p:nvPr/>
        </p:nvSpPr>
        <p:spPr>
          <a:xfrm>
            <a:off x="1399946" y="2542946"/>
            <a:ext cx="12737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비효율적인 수작업</a:t>
            </a:r>
            <a:endParaRPr lang="en-US" sz="1100" dirty="0"/>
          </a:p>
        </p:txBody>
      </p:sp>
      <p:sp>
        <p:nvSpPr>
          <p:cNvPr id="15" name="Text 7"/>
          <p:cNvSpPr txBox="1"/>
          <p:nvPr/>
        </p:nvSpPr>
        <p:spPr>
          <a:xfrm>
            <a:off x="761695" y="3191256"/>
            <a:ext cx="34290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행사마다 필요한 문서들을 </a:t>
            </a:r>
            <a:r>
              <a:rPr lang="en-US" sz="14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처음부터 새로 작성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많은 시간과 노력이 낭비되고 있습니다. </a:t>
            </a:r>
            <a:endParaRPr lang="en-US" sz="1400" dirty="0"/>
          </a:p>
        </p:txBody>
      </p:sp>
      <p:sp>
        <p:nvSpPr>
          <p:cNvPr id="16" name="Shape 8"/>
          <p:cNvSpPr/>
          <p:nvPr/>
        </p:nvSpPr>
        <p:spPr>
          <a:xfrm>
            <a:off x="761695" y="4345229"/>
            <a:ext cx="3429000" cy="1705356"/>
          </a:xfrm>
          <a:prstGeom prst="roundRect">
            <a:avLst>
              <a:gd name="adj" fmla="val 71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9"/>
          <p:cNvSpPr txBox="1"/>
          <p:nvPr/>
        </p:nvSpPr>
        <p:spPr>
          <a:xfrm>
            <a:off x="914400" y="4593031"/>
            <a:ext cx="3124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준비 시간</a:t>
            </a:r>
            <a:endParaRPr lang="en-US" sz="1200" dirty="0"/>
          </a:p>
        </p:txBody>
      </p:sp>
      <p:sp>
        <p:nvSpPr>
          <p:cNvPr id="18" name="Text 10"/>
          <p:cNvSpPr txBox="1"/>
          <p:nvPr/>
        </p:nvSpPr>
        <p:spPr>
          <a:xfrm>
            <a:off x="914400" y="4869180"/>
            <a:ext cx="31245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3시간 이상 소요</a:t>
            </a:r>
            <a:endParaRPr lang="en-US" sz="2700" dirty="0"/>
          </a:p>
        </p:txBody>
      </p:sp>
      <p:pic>
        <p:nvPicPr>
          <p:cNvPr id="19" name="Image 6" descr="gen-dedup-28f0c14a6d6584073be9fd3fabce2a9b.png"/>
          <p:cNvPicPr>
            <a:picLocks noChangeAspect="1"/>
          </p:cNvPicPr>
          <p:nvPr/>
        </p:nvPicPr>
        <p:blipFill>
          <a:blip r:embed="rId8"/>
          <a:srcRect l="-281" r="-281"/>
          <a:stretch/>
        </p:blipFill>
        <p:spPr>
          <a:xfrm>
            <a:off x="1407262" y="5507431"/>
            <a:ext cx="905256" cy="29535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683410" y="5507431"/>
            <a:ext cx="6291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낭비</a:t>
            </a:r>
            <a:endParaRPr lang="en-US" sz="900" dirty="0"/>
          </a:p>
        </p:txBody>
      </p:sp>
      <p:pic>
        <p:nvPicPr>
          <p:cNvPr id="21" name="Image 7" descr="gen-dedup-abc1bc9d4c1bd55afbbd65294d34684e.png"/>
          <p:cNvPicPr>
            <a:picLocks noChangeAspect="1"/>
          </p:cNvPicPr>
          <p:nvPr/>
        </p:nvPicPr>
        <p:blipFill>
          <a:blip r:embed="rId9"/>
          <a:srcRect l="-368" r="-368"/>
          <a:stretch/>
        </p:blipFill>
        <p:spPr>
          <a:xfrm>
            <a:off x="2382926" y="5507431"/>
            <a:ext cx="1171346" cy="295351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2659075" y="5507431"/>
            <a:ext cx="8961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유실 위험</a:t>
            </a:r>
            <a:endParaRPr lang="en-US" sz="900" dirty="0"/>
          </a:p>
        </p:txBody>
      </p:sp>
      <p:pic>
        <p:nvPicPr>
          <p:cNvPr id="23" name="Image 8" descr="gen-dedup-778ede87db2e55e8d19b95e36e26340b.png"/>
          <p:cNvPicPr>
            <a:picLocks noChangeAspect="1"/>
          </p:cNvPicPr>
          <p:nvPr/>
        </p:nvPicPr>
        <p:blipFill>
          <a:blip r:embed="rId10"/>
          <a:srcRect l="-1358" r="-1358"/>
          <a:stretch/>
        </p:blipFill>
        <p:spPr>
          <a:xfrm>
            <a:off x="1540764" y="5598871"/>
            <a:ext cx="95098" cy="123444"/>
          </a:xfrm>
          <a:prstGeom prst="rect">
            <a:avLst/>
          </a:prstGeom>
        </p:spPr>
      </p:pic>
      <p:pic>
        <p:nvPicPr>
          <p:cNvPr id="24" name="Image 9" descr="gen-dedup-b24690be87e9a9eabd992147abb2fe3a.png"/>
          <p:cNvPicPr>
            <a:picLocks noChangeAspect="1"/>
          </p:cNvPicPr>
          <p:nvPr/>
        </p:nvPicPr>
        <p:blipFill>
          <a:blip r:embed="rId11"/>
          <a:srcRect l="-1358" r="-1358"/>
          <a:stretch/>
        </p:blipFill>
        <p:spPr>
          <a:xfrm>
            <a:off x="2516429" y="5598871"/>
            <a:ext cx="95098" cy="123444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4905756" y="2143354"/>
            <a:ext cx="6572707" cy="1181405"/>
          </a:xfrm>
          <a:prstGeom prst="roundRect">
            <a:avLst>
              <a:gd name="adj" fmla="val 14981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4"/>
          <p:cNvSpPr/>
          <p:nvPr/>
        </p:nvSpPr>
        <p:spPr>
          <a:xfrm>
            <a:off x="4905756" y="2143354"/>
            <a:ext cx="57607" cy="1181405"/>
          </a:xfrm>
          <a:prstGeom prst="roundRect">
            <a:avLst>
              <a:gd name="adj" fmla="val 30722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5"/>
          <p:cNvSpPr txBox="1"/>
          <p:nvPr/>
        </p:nvSpPr>
        <p:spPr>
          <a:xfrm>
            <a:off x="5586984" y="2314346"/>
            <a:ext cx="566196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01. 매번 새로 작성하는 문서 </a:t>
            </a:r>
            <a:endParaRPr lang="en-US" sz="1500" dirty="0"/>
          </a:p>
        </p:txBody>
      </p:sp>
      <p:sp>
        <p:nvSpPr>
          <p:cNvPr id="28" name="Text 16"/>
          <p:cNvSpPr txBox="1"/>
          <p:nvPr/>
        </p:nvSpPr>
        <p:spPr>
          <a:xfrm>
            <a:off x="5191049" y="2667305"/>
            <a:ext cx="60579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안내문, 일정표, 만족도 설문 문항 등 </a:t>
            </a: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유사한 형태의 문서들을 행사 때마다 수작업으로 새롭게 기획하고 작성</a:t>
            </a: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해야 합니다. </a:t>
            </a:r>
            <a:endParaRPr lang="en-US" sz="1200" dirty="0"/>
          </a:p>
        </p:txBody>
      </p:sp>
      <p:sp>
        <p:nvSpPr>
          <p:cNvPr id="29" name="Shape 17"/>
          <p:cNvSpPr/>
          <p:nvPr/>
        </p:nvSpPr>
        <p:spPr>
          <a:xfrm>
            <a:off x="4905756" y="3467405"/>
            <a:ext cx="6572707" cy="1181405"/>
          </a:xfrm>
          <a:prstGeom prst="roundRect">
            <a:avLst>
              <a:gd name="adj" fmla="val 14981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18"/>
          <p:cNvSpPr/>
          <p:nvPr/>
        </p:nvSpPr>
        <p:spPr>
          <a:xfrm>
            <a:off x="4905756" y="3467405"/>
            <a:ext cx="57607" cy="1181405"/>
          </a:xfrm>
          <a:prstGeom prst="roundRect">
            <a:avLst>
              <a:gd name="adj" fmla="val 30722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19"/>
          <p:cNvSpPr txBox="1"/>
          <p:nvPr/>
        </p:nvSpPr>
        <p:spPr>
          <a:xfrm>
            <a:off x="5586984" y="3638398"/>
            <a:ext cx="566196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02. 준비 문서 관리의 한계 및 분실 위험 </a:t>
            </a:r>
            <a:endParaRPr lang="en-US" sz="1500" dirty="0"/>
          </a:p>
        </p:txBody>
      </p:sp>
      <p:sp>
        <p:nvSpPr>
          <p:cNvPr id="32" name="Text 20"/>
          <p:cNvSpPr txBox="1"/>
          <p:nvPr/>
        </p:nvSpPr>
        <p:spPr>
          <a:xfrm>
            <a:off x="5191049" y="3991356"/>
            <a:ext cx="60579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과거 행사 자료들이 체계적으로 아카이빙되지 않아, </a:t>
            </a: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양식을 찾지 못하고 분실하여 처음부터 다시 작업하는 경우</a:t>
            </a: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빈번합니다. </a:t>
            </a:r>
            <a:endParaRPr lang="en-US" sz="1200" dirty="0"/>
          </a:p>
        </p:txBody>
      </p:sp>
      <p:sp>
        <p:nvSpPr>
          <p:cNvPr id="33" name="Shape 21"/>
          <p:cNvSpPr/>
          <p:nvPr/>
        </p:nvSpPr>
        <p:spPr>
          <a:xfrm>
            <a:off x="4905756" y="4791456"/>
            <a:ext cx="6572707" cy="1181405"/>
          </a:xfrm>
          <a:prstGeom prst="roundRect">
            <a:avLst>
              <a:gd name="adj" fmla="val 14981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2"/>
          <p:cNvSpPr/>
          <p:nvPr/>
        </p:nvSpPr>
        <p:spPr>
          <a:xfrm>
            <a:off x="4905756" y="4791456"/>
            <a:ext cx="57607" cy="1181405"/>
          </a:xfrm>
          <a:prstGeom prst="roundRect">
            <a:avLst>
              <a:gd name="adj" fmla="val 30722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3"/>
          <p:cNvSpPr txBox="1"/>
          <p:nvPr/>
        </p:nvSpPr>
        <p:spPr>
          <a:xfrm>
            <a:off x="5586984" y="4962449"/>
            <a:ext cx="566196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03. 담당자별 품질 편차 발생 </a:t>
            </a:r>
            <a:endParaRPr lang="en-US" sz="1500" dirty="0"/>
          </a:p>
        </p:txBody>
      </p:sp>
      <p:sp>
        <p:nvSpPr>
          <p:cNvPr id="36" name="Text 24"/>
          <p:cNvSpPr txBox="1"/>
          <p:nvPr/>
        </p:nvSpPr>
        <p:spPr>
          <a:xfrm>
            <a:off x="5191049" y="5315407"/>
            <a:ext cx="60579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표준화된 템플릿과 가이드가 부재하여, 행사를 준비하는 </a:t>
            </a: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담당자의 역량과 경험에 따라 행사 안내 및 운영 문서의 품질 차이</a:t>
            </a: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크게 발생합니다. </a:t>
            </a:r>
            <a:endParaRPr lang="en-US" sz="1200" dirty="0"/>
          </a:p>
        </p:txBody>
      </p:sp>
      <p:pic>
        <p:nvPicPr>
          <p:cNvPr id="37" name="Image 10" descr="gen-dedup-c0bbfe15a153a2dfed38dddf3557f612.png"/>
          <p:cNvPicPr>
            <a:picLocks noChangeAspect="1"/>
          </p:cNvPicPr>
          <p:nvPr/>
        </p:nvPicPr>
        <p:blipFill>
          <a:blip r:embed="rId12"/>
          <a:srcRect l="-10096" r="-10096"/>
          <a:stretch/>
        </p:blipFill>
        <p:spPr>
          <a:xfrm>
            <a:off x="5191049" y="2367382"/>
            <a:ext cx="228600" cy="190195"/>
          </a:xfrm>
          <a:prstGeom prst="rect">
            <a:avLst/>
          </a:prstGeom>
        </p:spPr>
      </p:pic>
      <p:pic>
        <p:nvPicPr>
          <p:cNvPr id="38" name="Image 11" descr="gen-dedup-d3ae25557c45f6238c14f8a4e7f11af1.png"/>
          <p:cNvPicPr>
            <a:picLocks noChangeAspect="1"/>
          </p:cNvPicPr>
          <p:nvPr/>
        </p:nvPicPr>
        <p:blipFill>
          <a:blip r:embed="rId13"/>
          <a:srcRect l="-10096" r="-10096"/>
          <a:stretch/>
        </p:blipFill>
        <p:spPr>
          <a:xfrm>
            <a:off x="5191049" y="3690518"/>
            <a:ext cx="228600" cy="190195"/>
          </a:xfrm>
          <a:prstGeom prst="rect">
            <a:avLst/>
          </a:prstGeom>
        </p:spPr>
      </p:pic>
      <p:pic>
        <p:nvPicPr>
          <p:cNvPr id="39" name="Image 12" descr="gen-dedup-f1cf7db382ca91c4e7e1e23d0f1ea5d0.png"/>
          <p:cNvPicPr>
            <a:picLocks noChangeAspect="1"/>
          </p:cNvPicPr>
          <p:nvPr/>
        </p:nvPicPr>
        <p:blipFill>
          <a:blip r:embed="rId14"/>
          <a:srcRect t="-2000" b="-2000"/>
          <a:stretch/>
        </p:blipFill>
        <p:spPr>
          <a:xfrm>
            <a:off x="5191049" y="5014570"/>
            <a:ext cx="228600" cy="190195"/>
          </a:xfrm>
          <a:prstGeom prst="rect">
            <a:avLst/>
          </a:prstGeom>
        </p:spPr>
      </p:pic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feb412f2357882566d0a56132ad05146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476402" y="2048256"/>
            <a:ext cx="4229100" cy="4448556"/>
          </a:xfrm>
          <a:prstGeom prst="rect">
            <a:avLst/>
          </a:prstGeom>
        </p:spPr>
      </p:pic>
      <p:pic>
        <p:nvPicPr>
          <p:cNvPr id="4" name="Image 2" descr="gen-dedup-623a332e632764c8136bb0af28e6e6a2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4953305" y="2048256"/>
            <a:ext cx="6782105" cy="4448556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76402" y="923544"/>
            <a:ext cx="112398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사례6: 교육·행사 운영 </a:t>
            </a:r>
            <a:r>
              <a:rPr lang="en-US" sz="3900" b="1" kern="0" spc="-78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(개선 후)</a:t>
            </a:r>
            <a:endParaRPr lang="en-US" sz="3900" dirty="0"/>
          </a:p>
        </p:txBody>
      </p:sp>
      <p:sp>
        <p:nvSpPr>
          <p:cNvPr id="6" name="Text 1"/>
          <p:cNvSpPr txBox="1"/>
          <p:nvPr/>
        </p:nvSpPr>
        <p:spPr>
          <a:xfrm>
            <a:off x="566837" y="1632661"/>
            <a:ext cx="11239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템플릿화와 AI 도구로 효율적인 행사 운영 · 가상 사례</a:t>
            </a:r>
            <a:endParaRPr lang="en-US" sz="1800" dirty="0"/>
          </a:p>
        </p:txBody>
      </p:sp>
      <p:pic>
        <p:nvPicPr>
          <p:cNvPr id="7" name="Image 3" descr="gen-dedup-1df78c15d032186271a2bc9dbf707406.png"/>
          <p:cNvPicPr>
            <a:picLocks noChangeAspect="1"/>
          </p:cNvPicPr>
          <p:nvPr/>
        </p:nvPicPr>
        <p:blipFill>
          <a:blip r:embed="rId5"/>
          <a:srcRect l="-206" r="-206"/>
          <a:stretch/>
        </p:blipFill>
        <p:spPr>
          <a:xfrm>
            <a:off x="476402" y="381305"/>
            <a:ext cx="1867205" cy="42885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33602" y="381305"/>
            <a:ext cx="1410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6: 개선 후 </a:t>
            </a:r>
            <a:endParaRPr lang="en-US" sz="1500" dirty="0"/>
          </a:p>
        </p:txBody>
      </p:sp>
      <p:pic>
        <p:nvPicPr>
          <p:cNvPr id="9" name="Image 4" descr="gen-dedup-600d2d35b1d165dfce4a303b2dceeda9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6598" y="509321"/>
            <a:ext cx="190195" cy="190195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61695" y="3028493"/>
            <a:ext cx="36383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4"/>
          <p:cNvSpPr/>
          <p:nvPr/>
        </p:nvSpPr>
        <p:spPr>
          <a:xfrm>
            <a:off x="761695" y="2290572"/>
            <a:ext cx="495605" cy="495605"/>
          </a:xfrm>
          <a:prstGeom prst="roundRect">
            <a:avLst>
              <a:gd name="adj" fmla="val 99347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5" descr="gen-dedup-fbf446847ed3dff6e5cec6954ff5bd5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6054" y="2414930"/>
            <a:ext cx="247802" cy="247802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399946" y="2238451"/>
            <a:ext cx="190286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개선 효과</a:t>
            </a:r>
            <a:endParaRPr lang="en-US" sz="1900" dirty="0"/>
          </a:p>
        </p:txBody>
      </p:sp>
      <p:sp>
        <p:nvSpPr>
          <p:cNvPr id="14" name="Text 6"/>
          <p:cNvSpPr txBox="1"/>
          <p:nvPr/>
        </p:nvSpPr>
        <p:spPr>
          <a:xfrm>
            <a:off x="1399946" y="2609698"/>
            <a:ext cx="17126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및 자동화 도입</a:t>
            </a:r>
            <a:endParaRPr lang="en-US" sz="1200" dirty="0"/>
          </a:p>
        </p:txBody>
      </p:sp>
      <p:sp>
        <p:nvSpPr>
          <p:cNvPr id="15" name="Text 7"/>
          <p:cNvSpPr txBox="1"/>
          <p:nvPr/>
        </p:nvSpPr>
        <p:spPr>
          <a:xfrm>
            <a:off x="761695" y="3286354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매번 새로 작성하던 방식에서 벗어나,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템플릿과 AI 활용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준비 시간을 대폭 줄였습니다. </a:t>
            </a:r>
            <a:endParaRPr lang="en-US" sz="1500" dirty="0"/>
          </a:p>
        </p:txBody>
      </p:sp>
      <p:sp>
        <p:nvSpPr>
          <p:cNvPr id="16" name="Shape 8"/>
          <p:cNvSpPr/>
          <p:nvPr/>
        </p:nvSpPr>
        <p:spPr>
          <a:xfrm>
            <a:off x="761695" y="4533595"/>
            <a:ext cx="3638398" cy="1466698"/>
          </a:xfrm>
          <a:prstGeom prst="roundRect">
            <a:avLst>
              <a:gd name="adj" fmla="val 97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9"/>
          <p:cNvSpPr txBox="1"/>
          <p:nvPr/>
        </p:nvSpPr>
        <p:spPr>
          <a:xfrm>
            <a:off x="961949" y="4733849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활용 도구</a:t>
            </a:r>
            <a:endParaRPr lang="en-US" sz="1200" dirty="0"/>
          </a:p>
        </p:txBody>
      </p:sp>
      <p:pic>
        <p:nvPicPr>
          <p:cNvPr id="18" name="Image 6" descr="gen-dedup-bb579a94e2db34ab37e5fb91c2ccc41e.png"/>
          <p:cNvPicPr>
            <a:picLocks noChangeAspect="1"/>
          </p:cNvPicPr>
          <p:nvPr/>
        </p:nvPicPr>
        <p:blipFill>
          <a:blip r:embed="rId8"/>
          <a:srcRect l="-323" r="-323"/>
          <a:stretch/>
        </p:blipFill>
        <p:spPr>
          <a:xfrm>
            <a:off x="1402690" y="5057546"/>
            <a:ext cx="1123798" cy="32369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754734" y="5057546"/>
            <a:ext cx="7726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ChatGPT</a:t>
            </a:r>
            <a:endParaRPr lang="en-US" sz="1200" dirty="0"/>
          </a:p>
        </p:txBody>
      </p:sp>
      <p:pic>
        <p:nvPicPr>
          <p:cNvPr id="20" name="Image 7" descr="gen-dedup-4a5723b5782d27106cf95ad40db34764.png"/>
          <p:cNvPicPr>
            <a:picLocks noChangeAspect="1"/>
          </p:cNvPicPr>
          <p:nvPr/>
        </p:nvPicPr>
        <p:blipFill>
          <a:blip r:embed="rId9"/>
          <a:srcRect l="-378" r="-378"/>
          <a:stretch/>
        </p:blipFill>
        <p:spPr>
          <a:xfrm>
            <a:off x="2615184" y="5057546"/>
            <a:ext cx="1152144" cy="32369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2910535" y="5057546"/>
            <a:ext cx="8577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Genspark</a:t>
            </a:r>
            <a:endParaRPr lang="en-US" sz="1200" dirty="0"/>
          </a:p>
        </p:txBody>
      </p:sp>
      <p:pic>
        <p:nvPicPr>
          <p:cNvPr id="22" name="Image 8" descr="gen-dedup-fbd818d84c14ad18f8bf311cf8cd52f8.png"/>
          <p:cNvPicPr>
            <a:picLocks noChangeAspect="1"/>
          </p:cNvPicPr>
          <p:nvPr/>
        </p:nvPicPr>
        <p:blipFill>
          <a:blip r:embed="rId10"/>
          <a:srcRect l="-297" r="-297"/>
          <a:stretch/>
        </p:blipFill>
        <p:spPr>
          <a:xfrm>
            <a:off x="1359713" y="5477256"/>
            <a:ext cx="1438351" cy="32369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635862" y="5477256"/>
            <a:ext cx="11622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Forms</a:t>
            </a:r>
            <a:endParaRPr lang="en-US" sz="1200" dirty="0"/>
          </a:p>
        </p:txBody>
      </p:sp>
      <p:pic>
        <p:nvPicPr>
          <p:cNvPr id="24" name="Image 9" descr="gen-dedup-def13beb315689055f6c8e2f96f3890e.png"/>
          <p:cNvPicPr>
            <a:picLocks noChangeAspect="1"/>
          </p:cNvPicPr>
          <p:nvPr/>
        </p:nvPicPr>
        <p:blipFill>
          <a:blip r:embed="rId11"/>
          <a:srcRect l="-335" r="-335"/>
          <a:stretch/>
        </p:blipFill>
        <p:spPr>
          <a:xfrm>
            <a:off x="2884932" y="5477256"/>
            <a:ext cx="923544" cy="32369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3180283" y="5477256"/>
            <a:ext cx="6291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</a:t>
            </a:r>
            <a:endParaRPr lang="en-US" sz="1200" dirty="0"/>
          </a:p>
        </p:txBody>
      </p:sp>
      <p:pic>
        <p:nvPicPr>
          <p:cNvPr id="26" name="Image 10" descr="gen-dedup-686f9e722515f5d11269bcc6875a609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1516990" y="5152644"/>
            <a:ext cx="190195" cy="152705"/>
          </a:xfrm>
          <a:prstGeom prst="rect">
            <a:avLst/>
          </a:prstGeom>
        </p:spPr>
      </p:pic>
      <p:pic>
        <p:nvPicPr>
          <p:cNvPr id="27" name="Image 11" descr="gen-dedup-96e46989a0d3c4474bf144ed7feee1f5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2729484" y="5152644"/>
            <a:ext cx="133502" cy="152705"/>
          </a:xfrm>
          <a:prstGeom prst="rect">
            <a:avLst/>
          </a:prstGeom>
        </p:spPr>
      </p:pic>
      <p:pic>
        <p:nvPicPr>
          <p:cNvPr id="28" name="Image 12" descr="gen-dedup-eceb0cac8e7503389cb46a23c1038f2e.png"/>
          <p:cNvPicPr>
            <a:picLocks noChangeAspect="1"/>
          </p:cNvPicPr>
          <p:nvPr/>
        </p:nvPicPr>
        <p:blipFill>
          <a:blip r:embed="rId14"/>
          <a:srcRect t="-100" b="-100"/>
          <a:stretch/>
        </p:blipFill>
        <p:spPr>
          <a:xfrm>
            <a:off x="1474013" y="5572354"/>
            <a:ext cx="114300" cy="152705"/>
          </a:xfrm>
          <a:prstGeom prst="rect">
            <a:avLst/>
          </a:prstGeom>
        </p:spPr>
      </p:pic>
      <p:pic>
        <p:nvPicPr>
          <p:cNvPr id="29" name="Image 13" descr="gen-dedup-c56445f6da9059e088bf7c1244bfc121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2999232" y="5572354"/>
            <a:ext cx="133502" cy="152705"/>
          </a:xfrm>
          <a:prstGeom prst="rect">
            <a:avLst/>
          </a:prstGeom>
        </p:spPr>
      </p:pic>
      <p:sp>
        <p:nvSpPr>
          <p:cNvPr id="30" name="Shape 14"/>
          <p:cNvSpPr/>
          <p:nvPr/>
        </p:nvSpPr>
        <p:spPr>
          <a:xfrm>
            <a:off x="5191049" y="2178162"/>
            <a:ext cx="6286500" cy="1162389"/>
          </a:xfrm>
          <a:prstGeom prst="roundRect">
            <a:avLst>
              <a:gd name="adj" fmla="val 11587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5"/>
          <p:cNvSpPr/>
          <p:nvPr/>
        </p:nvSpPr>
        <p:spPr>
          <a:xfrm>
            <a:off x="5191049" y="2178162"/>
            <a:ext cx="75895" cy="1162389"/>
          </a:xfrm>
          <a:prstGeom prst="roundRect">
            <a:avLst>
              <a:gd name="adj" fmla="val 20507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6"/>
          <p:cNvSpPr txBox="1"/>
          <p:nvPr/>
        </p:nvSpPr>
        <p:spPr>
          <a:xfrm>
            <a:off x="5954573" y="2247818"/>
            <a:ext cx="5294376" cy="264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01. 행사 유형별 문서 템플릿화 </a:t>
            </a:r>
            <a:endParaRPr lang="en-US" sz="1600" dirty="0"/>
          </a:p>
        </p:txBody>
      </p:sp>
      <p:sp>
        <p:nvSpPr>
          <p:cNvPr id="33" name="Text 17"/>
          <p:cNvSpPr txBox="1"/>
          <p:nvPr/>
        </p:nvSpPr>
        <p:spPr>
          <a:xfrm>
            <a:off x="5495544" y="2661135"/>
            <a:ext cx="5753405" cy="47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안내문, 일정표, 체크리스트 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사용하는 문서를 템플릿으로 구축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반복 작업 최소화. </a:t>
            </a:r>
            <a:endParaRPr lang="en-US" sz="1400" dirty="0"/>
          </a:p>
        </p:txBody>
      </p:sp>
      <p:sp>
        <p:nvSpPr>
          <p:cNvPr id="34" name="Shape 18"/>
          <p:cNvSpPr/>
          <p:nvPr/>
        </p:nvSpPr>
        <p:spPr>
          <a:xfrm>
            <a:off x="5191049" y="3692409"/>
            <a:ext cx="6286500" cy="1162389"/>
          </a:xfrm>
          <a:prstGeom prst="roundRect">
            <a:avLst>
              <a:gd name="adj" fmla="val 11587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19"/>
          <p:cNvSpPr/>
          <p:nvPr/>
        </p:nvSpPr>
        <p:spPr>
          <a:xfrm>
            <a:off x="5191049" y="3692409"/>
            <a:ext cx="75895" cy="1162389"/>
          </a:xfrm>
          <a:prstGeom prst="roundRect">
            <a:avLst>
              <a:gd name="adj" fmla="val 20507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0"/>
          <p:cNvSpPr txBox="1"/>
          <p:nvPr/>
        </p:nvSpPr>
        <p:spPr>
          <a:xfrm>
            <a:off x="5954573" y="3762064"/>
            <a:ext cx="5294376" cy="264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02. 행사 준비시간 75% 단축 </a:t>
            </a:r>
            <a:endParaRPr lang="en-US" sz="1600" dirty="0"/>
          </a:p>
        </p:txBody>
      </p:sp>
      <p:sp>
        <p:nvSpPr>
          <p:cNvPr id="37" name="Text 21"/>
          <p:cNvSpPr txBox="1"/>
          <p:nvPr/>
        </p:nvSpPr>
        <p:spPr>
          <a:xfrm>
            <a:off x="5495544" y="4175381"/>
            <a:ext cx="5753405" cy="47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AI로 초기 기획안을 빠르게 작성하고 템플릿을 </a:t>
            </a: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활용하여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3시간 이상 걸리던 준비 시간을 45분으로 대폭 단축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lang="en-US" sz="1400" dirty="0"/>
          </a:p>
        </p:txBody>
      </p:sp>
      <p:sp>
        <p:nvSpPr>
          <p:cNvPr id="38" name="Shape 22"/>
          <p:cNvSpPr/>
          <p:nvPr/>
        </p:nvSpPr>
        <p:spPr>
          <a:xfrm>
            <a:off x="5191049" y="5206655"/>
            <a:ext cx="6286500" cy="1162389"/>
          </a:xfrm>
          <a:prstGeom prst="roundRect">
            <a:avLst>
              <a:gd name="adj" fmla="val 11587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3"/>
          <p:cNvSpPr/>
          <p:nvPr/>
        </p:nvSpPr>
        <p:spPr>
          <a:xfrm>
            <a:off x="5191049" y="5206655"/>
            <a:ext cx="75895" cy="1162389"/>
          </a:xfrm>
          <a:prstGeom prst="roundRect">
            <a:avLst>
              <a:gd name="adj" fmla="val 20507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4"/>
          <p:cNvSpPr txBox="1"/>
          <p:nvPr/>
        </p:nvSpPr>
        <p:spPr>
          <a:xfrm>
            <a:off x="5954573" y="5277225"/>
            <a:ext cx="5294376" cy="264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03. 품질 향상 및 인수인계 용이 </a:t>
            </a:r>
            <a:endParaRPr lang="en-US" sz="1600" dirty="0"/>
          </a:p>
        </p:txBody>
      </p:sp>
      <p:sp>
        <p:nvSpPr>
          <p:cNvPr id="41" name="Text 25"/>
          <p:cNvSpPr txBox="1"/>
          <p:nvPr/>
        </p:nvSpPr>
        <p:spPr>
          <a:xfrm>
            <a:off x="5495544" y="5689627"/>
            <a:ext cx="5753405" cy="47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표준화된 양식 사용으로 </a:t>
            </a: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 운영 품질이 일관되게 향상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되며,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담당자에게도 쉽게 인수인계 가능. </a:t>
            </a:r>
            <a:endParaRPr lang="en-US" sz="1400" dirty="0"/>
          </a:p>
        </p:txBody>
      </p:sp>
      <p:pic>
        <p:nvPicPr>
          <p:cNvPr id="42" name="Image 14" descr="gen-dedup-357a931d0a5c7cb6f55e049a8289fc0e.png"/>
          <p:cNvPicPr>
            <a:picLocks noChangeAspect="1"/>
          </p:cNvPicPr>
          <p:nvPr/>
        </p:nvPicPr>
        <p:blipFill>
          <a:blip r:embed="rId16"/>
          <a:srcRect l="-28103" r="-28103"/>
          <a:stretch/>
        </p:blipFill>
        <p:spPr>
          <a:xfrm>
            <a:off x="5495544" y="2298898"/>
            <a:ext cx="286207" cy="181203"/>
          </a:xfrm>
          <a:prstGeom prst="rect">
            <a:avLst/>
          </a:prstGeom>
        </p:spPr>
      </p:pic>
      <p:pic>
        <p:nvPicPr>
          <p:cNvPr id="43" name="Image 15" descr="gen-dedup-d3d49746bb332fc1edbc5c0be798916f.png"/>
          <p:cNvPicPr>
            <a:picLocks noChangeAspect="1"/>
          </p:cNvPicPr>
          <p:nvPr/>
        </p:nvPicPr>
        <p:blipFill>
          <a:blip r:embed="rId17"/>
          <a:srcRect l="-18340" r="-18340"/>
          <a:stretch/>
        </p:blipFill>
        <p:spPr>
          <a:xfrm>
            <a:off x="5495544" y="3814059"/>
            <a:ext cx="286207" cy="181203"/>
          </a:xfrm>
          <a:prstGeom prst="rect">
            <a:avLst/>
          </a:prstGeom>
        </p:spPr>
      </p:pic>
      <p:pic>
        <p:nvPicPr>
          <p:cNvPr id="44" name="Image 16" descr="gen-dedup-b6bbadc6ef7771df2fc4951d23964ab3.png"/>
          <p:cNvPicPr>
            <a:picLocks noChangeAspect="1"/>
          </p:cNvPicPr>
          <p:nvPr/>
        </p:nvPicPr>
        <p:blipFill>
          <a:blip r:embed="rId18"/>
          <a:srcRect l="-41121" r="-41121"/>
          <a:stretch/>
        </p:blipFill>
        <p:spPr>
          <a:xfrm>
            <a:off x="5495544" y="5328305"/>
            <a:ext cx="286207" cy="181203"/>
          </a:xfrm>
          <a:prstGeom prst="rect">
            <a:avLst/>
          </a:prstGeom>
        </p:spPr>
      </p:pic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6402" y="381305"/>
            <a:ext cx="152430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ec22fe0f73b9c72ddd6898a557e4ffcc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476402" y="2286000"/>
            <a:ext cx="5447995" cy="1971446"/>
          </a:xfrm>
          <a:prstGeom prst="rect">
            <a:avLst/>
          </a:prstGeom>
        </p:spPr>
      </p:pic>
      <p:pic>
        <p:nvPicPr>
          <p:cNvPr id="6" name="Image 2" descr="gen-dedup-cdc2fb7b7d9ac78b796d5820576074d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286500" y="2286000"/>
            <a:ext cx="5447995" cy="1971446"/>
          </a:xfrm>
          <a:prstGeom prst="rect">
            <a:avLst/>
          </a:prstGeom>
        </p:spPr>
      </p:pic>
      <p:pic>
        <p:nvPicPr>
          <p:cNvPr id="7" name="Image 3" descr="gen-dedup-cb1514acefe8f9b9c8a0c5b1a72b6789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476402" y="4476902"/>
            <a:ext cx="5447995" cy="2066544"/>
          </a:xfrm>
          <a:prstGeom prst="rect">
            <a:avLst/>
          </a:prstGeom>
        </p:spPr>
      </p:pic>
      <p:pic>
        <p:nvPicPr>
          <p:cNvPr id="8" name="Image 4" descr="gen-dedup-3d1d9e9ec0e98f7c894884095cbf7fb8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6286500" y="4476902"/>
            <a:ext cx="5447995" cy="2066544"/>
          </a:xfrm>
          <a:prstGeom prst="rect">
            <a:avLst/>
          </a:prstGeom>
        </p:spPr>
      </p:pic>
      <p:pic>
        <p:nvPicPr>
          <p:cNvPr id="9" name="Image 5" descr="gen-dedup-c2253ccbdc37852f571cb2b58bf487f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8251" y="457200"/>
            <a:ext cx="152705" cy="152705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905256" y="418795"/>
            <a:ext cx="748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측정</a:t>
            </a:r>
            <a:endParaRPr lang="en-US" sz="1200" dirty="0"/>
          </a:p>
        </p:txBody>
      </p:sp>
      <p:sp>
        <p:nvSpPr>
          <p:cNvPr id="11" name="Text 3"/>
          <p:cNvSpPr txBox="1"/>
          <p:nvPr/>
        </p:nvSpPr>
        <p:spPr>
          <a:xfrm>
            <a:off x="476402" y="809244"/>
            <a:ext cx="11239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전후 비교 방법 </a:t>
            </a:r>
            <a:r>
              <a:rPr lang="en-US" sz="3600" b="1" kern="0" spc="-72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(측정 지표)</a:t>
            </a:r>
            <a:endParaRPr lang="en-US" sz="3600" dirty="0"/>
          </a:p>
        </p:txBody>
      </p:sp>
      <p:sp>
        <p:nvSpPr>
          <p:cNvPr id="12" name="Text 4"/>
          <p:cNvSpPr txBox="1"/>
          <p:nvPr/>
        </p:nvSpPr>
        <p:spPr>
          <a:xfrm>
            <a:off x="476402" y="1571854"/>
            <a:ext cx="11239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프로세스 개선 효과를 정량적·정성적으로 증명하기 위한 4가지 핵심 지표</a:t>
            </a:r>
            <a:endParaRPr lang="en-US" sz="1900" dirty="0"/>
          </a:p>
        </p:txBody>
      </p:sp>
      <p:sp>
        <p:nvSpPr>
          <p:cNvPr id="13" name="Shape 5"/>
          <p:cNvSpPr/>
          <p:nvPr/>
        </p:nvSpPr>
        <p:spPr>
          <a:xfrm>
            <a:off x="761695" y="2667305"/>
            <a:ext cx="761695" cy="761695"/>
          </a:xfrm>
          <a:prstGeom prst="roundRect">
            <a:avLst>
              <a:gd name="adj" fmla="val 6002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6" descr="gen-dedup-2f4c9f83ebfc60aa7ddd441656bc0c5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990295" y="2876702"/>
            <a:ext cx="304495" cy="34290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809598" y="2667305"/>
            <a:ext cx="3810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시간 </a:t>
            </a:r>
            <a:r>
              <a:rPr lang="en-US" sz="15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(Time)</a:t>
            </a:r>
            <a:endParaRPr lang="en-US" sz="2200" dirty="0"/>
          </a:p>
        </p:txBody>
      </p:sp>
      <p:sp>
        <p:nvSpPr>
          <p:cNvPr id="16" name="Text 7"/>
          <p:cNvSpPr txBox="1"/>
          <p:nvPr/>
        </p:nvSpPr>
        <p:spPr>
          <a:xfrm>
            <a:off x="1809598" y="3181198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업무를 시작해서 완료하기까지 걸리는 </a:t>
            </a:r>
            <a:r>
              <a:rPr lang="en-US" sz="15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소요 시간의 감소량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객관적으로 측정합니다.</a:t>
            </a:r>
            <a:endParaRPr lang="en-US" sz="1500" dirty="0"/>
          </a:p>
        </p:txBody>
      </p:sp>
      <p:sp>
        <p:nvSpPr>
          <p:cNvPr id="17" name="Shape 8"/>
          <p:cNvSpPr/>
          <p:nvPr/>
        </p:nvSpPr>
        <p:spPr>
          <a:xfrm>
            <a:off x="6572707" y="2667305"/>
            <a:ext cx="761695" cy="761695"/>
          </a:xfrm>
          <a:prstGeom prst="roundRect">
            <a:avLst>
              <a:gd name="adj" fmla="val 6002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7" descr="gen-dedup-071baa274caf24bc5bdb9cbf7f691409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82105" y="2876702"/>
            <a:ext cx="342900" cy="34290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7619695" y="2667305"/>
            <a:ext cx="3810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오류율 </a:t>
            </a:r>
            <a:r>
              <a:rPr lang="en-US" sz="15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(Error)</a:t>
            </a:r>
            <a:endParaRPr lang="en-US" sz="2200" dirty="0"/>
          </a:p>
        </p:txBody>
      </p:sp>
      <p:sp>
        <p:nvSpPr>
          <p:cNvPr id="20" name="Text 10"/>
          <p:cNvSpPr txBox="1"/>
          <p:nvPr/>
        </p:nvSpPr>
        <p:spPr>
          <a:xfrm>
            <a:off x="7619695" y="3181198"/>
            <a:ext cx="3810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중 발생하는 실수나 정보 누락으로 인한 </a:t>
            </a: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재작업 발생 빈도의 감소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확인합니다.</a:t>
            </a:r>
            <a:endParaRPr lang="en-US" sz="1500" dirty="0"/>
          </a:p>
        </p:txBody>
      </p:sp>
      <p:sp>
        <p:nvSpPr>
          <p:cNvPr id="21" name="Shape 11"/>
          <p:cNvSpPr/>
          <p:nvPr/>
        </p:nvSpPr>
        <p:spPr>
          <a:xfrm>
            <a:off x="761695" y="4858207"/>
            <a:ext cx="761695" cy="761695"/>
          </a:xfrm>
          <a:prstGeom prst="roundRect">
            <a:avLst>
              <a:gd name="adj" fmla="val 60024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8" descr="gen-dedup-ea1d13635283acb99442e0240b09b344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72007" y="5067605"/>
            <a:ext cx="342900" cy="34290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1809598" y="4858207"/>
            <a:ext cx="39054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만족도 </a:t>
            </a:r>
            <a:r>
              <a:rPr lang="en-US" sz="15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(Satisfaction)</a:t>
            </a:r>
            <a:endParaRPr lang="en-US" sz="2200" dirty="0"/>
          </a:p>
        </p:txBody>
      </p:sp>
      <p:sp>
        <p:nvSpPr>
          <p:cNvPr id="24" name="Text 13"/>
          <p:cNvSpPr txBox="1"/>
          <p:nvPr/>
        </p:nvSpPr>
        <p:spPr>
          <a:xfrm>
            <a:off x="1809598" y="5372100"/>
            <a:ext cx="390540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서비스를 제공받는 외부 고객과 업무를 수행하는 내부 직원의 </a:t>
            </a:r>
            <a:r>
              <a:rPr lang="en-US" sz="15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주관적 체감 만족도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향상을 평가합니다.</a:t>
            </a:r>
            <a:endParaRPr lang="en-US" sz="1500" dirty="0"/>
          </a:p>
        </p:txBody>
      </p:sp>
      <p:sp>
        <p:nvSpPr>
          <p:cNvPr id="25" name="Shape 14"/>
          <p:cNvSpPr/>
          <p:nvPr/>
        </p:nvSpPr>
        <p:spPr>
          <a:xfrm>
            <a:off x="6572707" y="4858207"/>
            <a:ext cx="761695" cy="761695"/>
          </a:xfrm>
          <a:prstGeom prst="roundRect">
            <a:avLst>
              <a:gd name="adj" fmla="val 60024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9" descr="gen-dedup-c9a3c190aa97c98688d96ede771ddea1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782105" y="5067605"/>
            <a:ext cx="342900" cy="34290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619695" y="4858207"/>
            <a:ext cx="39054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횟수 </a:t>
            </a:r>
            <a:r>
              <a:rPr lang="en-US" sz="15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(Repetition)</a:t>
            </a:r>
            <a:endParaRPr lang="en-US" sz="2200" dirty="0"/>
          </a:p>
        </p:txBody>
      </p:sp>
      <p:sp>
        <p:nvSpPr>
          <p:cNvPr id="28" name="Text 16"/>
          <p:cNvSpPr txBox="1"/>
          <p:nvPr/>
        </p:nvSpPr>
        <p:spPr>
          <a:xfrm>
            <a:off x="7619695" y="5372100"/>
            <a:ext cx="3905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데이터의 중복 입력, 불필요한 다단계 승인 등 </a:t>
            </a:r>
            <a:r>
              <a:rPr lang="en-US" sz="15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소모적인 반복 업무의 제거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측정합니다.</a:t>
            </a:r>
            <a:endParaRPr lang="en-US" sz="15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6402" y="381305"/>
            <a:ext cx="1714500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gen-dedup-c2253ccbdc37852f571cb2b58bf487f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457200"/>
            <a:ext cx="152705" cy="15270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57707" y="418795"/>
            <a:ext cx="13469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방법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76402" y="809244"/>
            <a:ext cx="11239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전후 비교 방법: </a:t>
            </a:r>
            <a:r>
              <a:rPr lang="en-US" sz="3600" b="1" kern="0" spc="-72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및 시각화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476402" y="1571854"/>
            <a:ext cx="11239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효과적인 측정과 설득력을 위한 데이터 수집부터 분석, 시각화까지의 핵심 가이드</a:t>
            </a:r>
            <a:endParaRPr lang="en-US" sz="1900" dirty="0"/>
          </a:p>
        </p:txBody>
      </p:sp>
      <p:pic>
        <p:nvPicPr>
          <p:cNvPr id="8" name="Image 2" descr="gen-dedup-08e0bf5f62fa7b68fb1098412878383f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476402" y="2190902"/>
            <a:ext cx="3590849" cy="4401007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1695" y="247619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680b9152495303b53b75ee6dea08a0a9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914400" y="2600554"/>
            <a:ext cx="171907" cy="2286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380744" y="2523744"/>
            <a:ext cx="23820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전략</a:t>
            </a:r>
            <a:endParaRPr lang="en-US" sz="1900" dirty="0"/>
          </a:p>
        </p:txBody>
      </p:sp>
      <p:sp>
        <p:nvSpPr>
          <p:cNvPr id="12" name="Shape 6"/>
          <p:cNvSpPr/>
          <p:nvPr/>
        </p:nvSpPr>
        <p:spPr>
          <a:xfrm>
            <a:off x="761695" y="3143707"/>
            <a:ext cx="2980944" cy="1343254"/>
          </a:xfrm>
          <a:prstGeom prst="roundRect">
            <a:avLst>
              <a:gd name="adj" fmla="val 77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761695" y="3143707"/>
            <a:ext cx="47549" cy="1343254"/>
          </a:xfrm>
          <a:prstGeom prst="roundRect">
            <a:avLst>
              <a:gd name="adj" fmla="val 21822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/>
          <p:cNvSpPr txBox="1"/>
          <p:nvPr/>
        </p:nvSpPr>
        <p:spPr>
          <a:xfrm>
            <a:off x="952805" y="3286354"/>
            <a:ext cx="2648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전 (Before)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23798" y="3619195"/>
            <a:ext cx="2477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2주간의 현행 업무 기준선 측정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1123798" y="4099255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불편사항 및 오류 이력 기록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61695" y="4625035"/>
            <a:ext cx="2980944" cy="1343254"/>
          </a:xfrm>
          <a:prstGeom prst="roundRect">
            <a:avLst>
              <a:gd name="adj" fmla="val 7725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761695" y="4625035"/>
            <a:ext cx="47549" cy="1343254"/>
          </a:xfrm>
          <a:prstGeom prst="roundRect">
            <a:avLst>
              <a:gd name="adj" fmla="val 218221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952805" y="4768596"/>
            <a:ext cx="26481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후 (After)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123798" y="5101438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도입 후 1개월 성과 측정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123798" y="5341925"/>
            <a:ext cx="2477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조건 하에서의 정량적 변화 추적</a:t>
            </a:r>
            <a:endParaRPr lang="en-US" sz="1300" dirty="0"/>
          </a:p>
        </p:txBody>
      </p:sp>
      <p:pic>
        <p:nvPicPr>
          <p:cNvPr id="22" name="Image 4" descr="gen-dedup-08e0bf5f62fa7b68fb1098412878383f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4315054" y="2190902"/>
            <a:ext cx="3590849" cy="4401007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600346" y="247619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gen-dedup-a8695abd0868d84be8da9b4022e064ff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4710074" y="2600554"/>
            <a:ext cx="256946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19395" y="2523744"/>
            <a:ext cx="23820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분석 절차</a:t>
            </a:r>
            <a:endParaRPr lang="en-US" sz="1900" dirty="0"/>
          </a:p>
        </p:txBody>
      </p:sp>
      <p:sp>
        <p:nvSpPr>
          <p:cNvPr id="26" name="Shape 18"/>
          <p:cNvSpPr/>
          <p:nvPr/>
        </p:nvSpPr>
        <p:spPr>
          <a:xfrm>
            <a:off x="4600346" y="3143707"/>
            <a:ext cx="2980944" cy="1047902"/>
          </a:xfrm>
          <a:prstGeom prst="roundRect">
            <a:avLst>
              <a:gd name="adj" fmla="val 12692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9"/>
          <p:cNvSpPr txBox="1"/>
          <p:nvPr/>
        </p:nvSpPr>
        <p:spPr>
          <a:xfrm>
            <a:off x="4743907" y="3286354"/>
            <a:ext cx="26956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데이터 정제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743907" y="3600907"/>
            <a:ext cx="26956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 제거 및 단위를 통일하여 분석 기반 마련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4600346" y="4303166"/>
            <a:ext cx="2980944" cy="1047902"/>
          </a:xfrm>
          <a:prstGeom prst="roundRect">
            <a:avLst>
              <a:gd name="adj" fmla="val 12692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4743907" y="4445813"/>
            <a:ext cx="26956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핵심 지표 연산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743907" y="4760366"/>
            <a:ext cx="26956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절대적 증감량 및 상대적 증감률(%) 산출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4600346" y="5463540"/>
            <a:ext cx="2980944" cy="1047902"/>
          </a:xfrm>
          <a:prstGeom prst="roundRect">
            <a:avLst>
              <a:gd name="adj" fmla="val 12692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5"/>
          <p:cNvSpPr txBox="1"/>
          <p:nvPr/>
        </p:nvSpPr>
        <p:spPr>
          <a:xfrm>
            <a:off x="4743907" y="5606186"/>
            <a:ext cx="26956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정성적 요인 결합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4743907" y="5920740"/>
            <a:ext cx="26956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수치로 보이지 않는 담당자 체감 만족도 보완</a:t>
            </a:r>
            <a:endParaRPr lang="en-US" sz="1300" dirty="0"/>
          </a:p>
        </p:txBody>
      </p:sp>
      <p:pic>
        <p:nvPicPr>
          <p:cNvPr id="35" name="Image 6" descr="gen-dedup-08e0bf5f62fa7b68fb1098412878383f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8153705" y="2190902"/>
            <a:ext cx="3590849" cy="4401007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8438998" y="247619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7" descr="gen-dedup-d3c235f6f4c128bbe777645901bc98f8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534095" y="2600554"/>
            <a:ext cx="286207" cy="2286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9058046" y="2523744"/>
            <a:ext cx="23820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 도구 활용</a:t>
            </a:r>
            <a:endParaRPr lang="en-US" sz="1900" dirty="0"/>
          </a:p>
        </p:txBody>
      </p:sp>
      <p:sp>
        <p:nvSpPr>
          <p:cNvPr id="39" name="Shape 29"/>
          <p:cNvSpPr/>
          <p:nvPr/>
        </p:nvSpPr>
        <p:spPr>
          <a:xfrm>
            <a:off x="8438998" y="3143707"/>
            <a:ext cx="2980944" cy="1476756"/>
          </a:xfrm>
          <a:prstGeom prst="roundRect">
            <a:avLst>
              <a:gd name="adj" fmla="val 9588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8" descr="gen-dedup-db071ae9123e386e879c91a0799856f9.png"/>
          <p:cNvPicPr>
            <a:picLocks noChangeAspect="1"/>
          </p:cNvPicPr>
          <p:nvPr/>
        </p:nvPicPr>
        <p:blipFill>
          <a:blip r:embed="rId8"/>
          <a:srcRect l="-50" r="-50"/>
          <a:stretch/>
        </p:blipFill>
        <p:spPr>
          <a:xfrm>
            <a:off x="9815170" y="3295498"/>
            <a:ext cx="228600" cy="30449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8591702" y="3705149"/>
            <a:ext cx="26773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 Excel</a:t>
            </a:r>
            <a:endParaRPr lang="en-US" sz="1500" dirty="0"/>
          </a:p>
        </p:txBody>
      </p:sp>
      <p:sp>
        <p:nvSpPr>
          <p:cNvPr id="42" name="Text 31"/>
          <p:cNvSpPr txBox="1"/>
          <p:nvPr/>
        </p:nvSpPr>
        <p:spPr>
          <a:xfrm>
            <a:off x="8591702" y="4019702"/>
            <a:ext cx="267736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서식, 스파크라인을 활용한 빠른 비교표 작성</a:t>
            </a:r>
            <a:endParaRPr lang="en-US" sz="1300" dirty="0"/>
          </a:p>
        </p:txBody>
      </p:sp>
      <p:sp>
        <p:nvSpPr>
          <p:cNvPr id="43" name="Shape 32"/>
          <p:cNvSpPr/>
          <p:nvPr/>
        </p:nvSpPr>
        <p:spPr>
          <a:xfrm>
            <a:off x="8438998" y="4760366"/>
            <a:ext cx="2980944" cy="1476756"/>
          </a:xfrm>
          <a:prstGeom prst="roundRect">
            <a:avLst>
              <a:gd name="adj" fmla="val 9588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9" descr="gen-dedup-a256b019949414133caf16e9a495cb61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777679" y="4913071"/>
            <a:ext cx="304495" cy="304495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91702" y="5322722"/>
            <a:ext cx="26773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Sheets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91702" y="5636362"/>
            <a:ext cx="267736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협업을 통한 대시보드 구축 및 차트 시각화</a:t>
            </a:r>
            <a:endParaRPr lang="en-US" sz="13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81305"/>
            <a:ext cx="1904695" cy="304495"/>
          </a:xfrm>
          <a:prstGeom prst="roundRect">
            <a:avLst>
              <a:gd name="adj" fmla="val 300300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1240841" y="437998"/>
            <a:ext cx="6702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문화</a:t>
            </a:r>
            <a:endParaRPr lang="en-US" sz="1000" dirty="0"/>
          </a:p>
        </p:txBody>
      </p:sp>
      <p:pic>
        <p:nvPicPr>
          <p:cNvPr id="5" name="Image 1" descr="gen-dedup-0a3829674d38be62902888ca71ffb06f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1050646" y="473659"/>
            <a:ext cx="114300" cy="1335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838505"/>
            <a:ext cx="11278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사례공유 문화 만들기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1524305"/>
            <a:ext cx="112782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명의 담당자가 혼자 해결하는 활동이 아니라, 조직 전체의 일하는 방식을 바꾸는 과정입니다.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457200" y="2171700"/>
            <a:ext cx="11315700" cy="2000707"/>
          </a:xfrm>
          <a:prstGeom prst="roundRect">
            <a:avLst>
              <a:gd name="adj" fmla="val 5223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457200" y="2171700"/>
            <a:ext cx="38405" cy="2000707"/>
          </a:xfrm>
          <a:prstGeom prst="roundRect">
            <a:avLst>
              <a:gd name="adj" fmla="val 272107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457200" y="4381805"/>
            <a:ext cx="11315700" cy="2095805"/>
          </a:xfrm>
          <a:prstGeom prst="roundRect">
            <a:avLst>
              <a:gd name="adj" fmla="val 4760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457200" y="4381805"/>
            <a:ext cx="38405" cy="2095805"/>
          </a:xfrm>
          <a:prstGeom prst="roundRect">
            <a:avLst>
              <a:gd name="adj" fmla="val 259739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685800" y="5181905"/>
            <a:ext cx="3258007" cy="1067105"/>
          </a:xfrm>
          <a:prstGeom prst="roundRect">
            <a:avLst>
              <a:gd name="adj" fmla="val 122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4419295" y="5181905"/>
            <a:ext cx="3258007" cy="1067105"/>
          </a:xfrm>
          <a:prstGeom prst="roundRect">
            <a:avLst>
              <a:gd name="adj" fmla="val 12241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8153705" y="5181905"/>
            <a:ext cx="3258007" cy="1067105"/>
          </a:xfrm>
          <a:prstGeom prst="roundRect">
            <a:avLst>
              <a:gd name="adj" fmla="val 1224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85800" y="2400300"/>
            <a:ext cx="609905" cy="609905"/>
          </a:xfrm>
          <a:prstGeom prst="roundRect">
            <a:avLst>
              <a:gd name="adj" fmla="val 37481"/>
            </a:avLst>
          </a:prstGeom>
          <a:solidFill>
            <a:srgbClr val="007B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gen-dedup-6b42dcc4166b7fd24449173148d69fde.png"/>
          <p:cNvPicPr>
            <a:picLocks noChangeAspect="1"/>
          </p:cNvPicPr>
          <p:nvPr/>
        </p:nvPicPr>
        <p:blipFill>
          <a:blip r:embed="rId4"/>
          <a:srcRect l="-50" r="-50"/>
          <a:stretch/>
        </p:blipFill>
        <p:spPr>
          <a:xfrm>
            <a:off x="875995" y="2553005"/>
            <a:ext cx="228600" cy="3044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24305" y="2400300"/>
            <a:ext cx="9982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사례공유의 필요성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1524305" y="2933395"/>
            <a:ext cx="99825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부서에서 성공한 개선 사례는 다른 부서에도 응용될 수 있습니다. 개선 사례를 공유하면 시행착오를 줄이고, 조직 내 업무 혁신 속도를 높일 수 있습니다.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4610405"/>
            <a:ext cx="10821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사례공유 3단계 핵심 프로세스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780898" y="5362956"/>
            <a:ext cx="3048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문서화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80898" y="5772607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방법과 효과 기록</a:t>
            </a:r>
            <a:endParaRPr lang="en-US" sz="1500" dirty="0"/>
          </a:p>
        </p:txBody>
      </p:sp>
      <p:pic>
        <p:nvPicPr>
          <p:cNvPr id="22" name="Image 3" descr="gen-dedup-c8d51dfe4981fff68f9eb915b8e6dac8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4071823" y="5591556"/>
            <a:ext cx="200254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515307" y="5362956"/>
            <a:ext cx="3048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공유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4515307" y="5772607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채널을 통한 전파</a:t>
            </a:r>
            <a:endParaRPr lang="en-US" sz="1500" dirty="0"/>
          </a:p>
        </p:txBody>
      </p:sp>
      <p:pic>
        <p:nvPicPr>
          <p:cNvPr id="25" name="Image 4" descr="gen-dedup-c8d51dfe4981fff68f9eb915b8e6dac8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7805318" y="5591556"/>
            <a:ext cx="200254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48802" y="5362956"/>
            <a:ext cx="3048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확산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8248802" y="5772607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부서 적용 및 피드백</a:t>
            </a:r>
            <a:endParaRPr lang="en-US" sz="15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ea562673859030d03f22f480ce91fd4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2048256"/>
            <a:ext cx="6687007" cy="4496105"/>
          </a:xfrm>
          <a:prstGeom prst="rect">
            <a:avLst/>
          </a:prstGeom>
        </p:spPr>
      </p:pic>
      <p:pic>
        <p:nvPicPr>
          <p:cNvPr id="4" name="Image 2" descr="gen-dedup-0747b8ba141cc0b376391c9a7bedc9b4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7429500" y="2048256"/>
            <a:ext cx="4304995" cy="4496105"/>
          </a:xfrm>
          <a:prstGeom prst="rect">
            <a:avLst/>
          </a:prstGeom>
        </p:spPr>
      </p:pic>
      <p:pic>
        <p:nvPicPr>
          <p:cNvPr id="6" name="Image 4" descr="gen-dedup-d7965ba2dff5451c134e6b1b2080e2a9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476402" y="381305"/>
            <a:ext cx="1676095" cy="40050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914400" y="381305"/>
            <a:ext cx="12390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문화 확산 </a:t>
            </a:r>
            <a:endParaRPr lang="en-US" sz="1300" dirty="0"/>
          </a:p>
        </p:txBody>
      </p:sp>
      <p:sp>
        <p:nvSpPr>
          <p:cNvPr id="8" name="Text 1"/>
          <p:cNvSpPr txBox="1"/>
          <p:nvPr/>
        </p:nvSpPr>
        <p:spPr>
          <a:xfrm>
            <a:off x="476402" y="857707"/>
            <a:ext cx="11239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사례공유 </a:t>
            </a:r>
            <a:r>
              <a:rPr lang="en-US" sz="3600" b="1" kern="0" spc="-72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구조와 운영 방법</a:t>
            </a:r>
            <a:endParaRPr lang="en-US" sz="3600" dirty="0"/>
          </a:p>
        </p:txBody>
      </p:sp>
      <p:sp>
        <p:nvSpPr>
          <p:cNvPr id="9" name="Text 2"/>
          <p:cNvSpPr txBox="1"/>
          <p:nvPr/>
        </p:nvSpPr>
        <p:spPr>
          <a:xfrm>
            <a:off x="476402" y="1524305"/>
            <a:ext cx="11239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전체의 일하는 방식을 바꾸는 사례공유의 핵심 5요소와 성공 사례</a:t>
            </a:r>
            <a:endParaRPr lang="en-US" sz="1900" dirty="0"/>
          </a:p>
        </p:txBody>
      </p:sp>
      <p:sp>
        <p:nvSpPr>
          <p:cNvPr id="10" name="Shape 3"/>
          <p:cNvSpPr/>
          <p:nvPr/>
        </p:nvSpPr>
        <p:spPr>
          <a:xfrm>
            <a:off x="761695" y="2286000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5" descr="gen-dedup-6b0f13e8cc4a298a30ff2b5f49ead87b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871423" y="2409444"/>
            <a:ext cx="256946" cy="228600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380744" y="2286000"/>
            <a:ext cx="54772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사례공유 핵심 구조</a:t>
            </a:r>
            <a:endParaRPr lang="en-US" sz="2100" dirty="0"/>
          </a:p>
        </p:txBody>
      </p:sp>
      <p:sp>
        <p:nvSpPr>
          <p:cNvPr id="13" name="Shape 5"/>
          <p:cNvSpPr/>
          <p:nvPr/>
        </p:nvSpPr>
        <p:spPr>
          <a:xfrm>
            <a:off x="761695" y="3000146"/>
            <a:ext cx="2952598" cy="1047902"/>
          </a:xfrm>
          <a:prstGeom prst="roundRect">
            <a:avLst>
              <a:gd name="adj" fmla="val 1903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6"/>
          <p:cNvSpPr/>
          <p:nvPr/>
        </p:nvSpPr>
        <p:spPr>
          <a:xfrm>
            <a:off x="761695" y="3000146"/>
            <a:ext cx="75895" cy="1047902"/>
          </a:xfrm>
          <a:prstGeom prst="roundRect">
            <a:avLst>
              <a:gd name="adj" fmla="val 26287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6" descr="gen-dedup-ce0db5e6634cdad495c2708f6c7cc871.png"/>
          <p:cNvPicPr>
            <a:picLocks noChangeAspect="1"/>
          </p:cNvPicPr>
          <p:nvPr/>
        </p:nvPicPr>
        <p:blipFill>
          <a:blip r:embed="rId7"/>
          <a:srcRect l="-43894" r="-43894"/>
          <a:stretch/>
        </p:blipFill>
        <p:spPr>
          <a:xfrm>
            <a:off x="1028700" y="3372307"/>
            <a:ext cx="428854" cy="304495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457554" y="3172054"/>
            <a:ext cx="13432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01. 문서</a:t>
            </a:r>
            <a:endParaRPr lang="en-US" sz="1900" dirty="0"/>
          </a:p>
        </p:txBody>
      </p:sp>
      <p:sp>
        <p:nvSpPr>
          <p:cNvPr id="17" name="Text 8"/>
          <p:cNvSpPr txBox="1"/>
          <p:nvPr/>
        </p:nvSpPr>
        <p:spPr>
          <a:xfrm>
            <a:off x="1457554" y="3571646"/>
            <a:ext cx="156636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1페이지 사례집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3905402" y="3000146"/>
            <a:ext cx="2952598" cy="1047902"/>
          </a:xfrm>
          <a:prstGeom prst="roundRect">
            <a:avLst>
              <a:gd name="adj" fmla="val 1903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0"/>
          <p:cNvSpPr/>
          <p:nvPr/>
        </p:nvSpPr>
        <p:spPr>
          <a:xfrm>
            <a:off x="3905402" y="3000146"/>
            <a:ext cx="75895" cy="1047902"/>
          </a:xfrm>
          <a:prstGeom prst="roundRect">
            <a:avLst>
              <a:gd name="adj" fmla="val 26287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7" descr="gen-dedup-aeb33f83bab4b0a47097e4cd43fda62b.png"/>
          <p:cNvPicPr>
            <a:picLocks noChangeAspect="1"/>
          </p:cNvPicPr>
          <p:nvPr/>
        </p:nvPicPr>
        <p:blipFill>
          <a:blip r:embed="rId8"/>
          <a:srcRect l="-20421" r="-20421"/>
          <a:stretch/>
        </p:blipFill>
        <p:spPr>
          <a:xfrm>
            <a:off x="4172407" y="3372307"/>
            <a:ext cx="428854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4600346" y="3172054"/>
            <a:ext cx="12765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02. 목표</a:t>
            </a:r>
            <a:endParaRPr lang="en-US" sz="1900" dirty="0"/>
          </a:p>
        </p:txBody>
      </p:sp>
      <p:sp>
        <p:nvSpPr>
          <p:cNvPr id="22" name="Text 12"/>
          <p:cNvSpPr txBox="1"/>
          <p:nvPr/>
        </p:nvSpPr>
        <p:spPr>
          <a:xfrm>
            <a:off x="4600346" y="3571646"/>
            <a:ext cx="156088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효과 공유</a:t>
            </a:r>
            <a:endParaRPr lang="en-US" sz="1600" dirty="0"/>
          </a:p>
        </p:txBody>
      </p:sp>
      <p:sp>
        <p:nvSpPr>
          <p:cNvPr id="23" name="Shape 13"/>
          <p:cNvSpPr/>
          <p:nvPr/>
        </p:nvSpPr>
        <p:spPr>
          <a:xfrm>
            <a:off x="761695" y="4190695"/>
            <a:ext cx="2952598" cy="1047902"/>
          </a:xfrm>
          <a:prstGeom prst="roundRect">
            <a:avLst>
              <a:gd name="adj" fmla="val 1903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4"/>
          <p:cNvSpPr/>
          <p:nvPr/>
        </p:nvSpPr>
        <p:spPr>
          <a:xfrm>
            <a:off x="761695" y="4190695"/>
            <a:ext cx="75895" cy="1047902"/>
          </a:xfrm>
          <a:prstGeom prst="roundRect">
            <a:avLst>
              <a:gd name="adj" fmla="val 26287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8" descr="gen-dedup-b8c6f1c34e5d4550947785cb866ce8e4.png"/>
          <p:cNvPicPr>
            <a:picLocks noChangeAspect="1"/>
          </p:cNvPicPr>
          <p:nvPr/>
        </p:nvPicPr>
        <p:blipFill>
          <a:blip r:embed="rId9"/>
          <a:srcRect l="-20421" r="-20421"/>
          <a:stretch/>
        </p:blipFill>
        <p:spPr>
          <a:xfrm>
            <a:off x="1028700" y="4562856"/>
            <a:ext cx="428854" cy="304495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1457554" y="4362602"/>
            <a:ext cx="14767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03. 방법</a:t>
            </a:r>
            <a:endParaRPr lang="en-US" sz="1900" dirty="0"/>
          </a:p>
        </p:txBody>
      </p:sp>
      <p:sp>
        <p:nvSpPr>
          <p:cNvPr id="27" name="Text 16"/>
          <p:cNvSpPr txBox="1"/>
          <p:nvPr/>
        </p:nvSpPr>
        <p:spPr>
          <a:xfrm>
            <a:off x="1457554" y="4762195"/>
            <a:ext cx="177850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방식과 도구</a:t>
            </a:r>
            <a:endParaRPr lang="en-US" sz="1600" dirty="0"/>
          </a:p>
        </p:txBody>
      </p:sp>
      <p:sp>
        <p:nvSpPr>
          <p:cNvPr id="28" name="Shape 17"/>
          <p:cNvSpPr/>
          <p:nvPr/>
        </p:nvSpPr>
        <p:spPr>
          <a:xfrm>
            <a:off x="3905402" y="4190695"/>
            <a:ext cx="2952598" cy="1047902"/>
          </a:xfrm>
          <a:prstGeom prst="roundRect">
            <a:avLst>
              <a:gd name="adj" fmla="val 1903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18"/>
          <p:cNvSpPr/>
          <p:nvPr/>
        </p:nvSpPr>
        <p:spPr>
          <a:xfrm>
            <a:off x="3905402" y="4190695"/>
            <a:ext cx="75895" cy="1047902"/>
          </a:xfrm>
          <a:prstGeom prst="roundRect">
            <a:avLst>
              <a:gd name="adj" fmla="val 262870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9" descr="gen-dedup-67a5bf559ba825d1b0f27e8bcdb2d3ed.png"/>
          <p:cNvPicPr>
            <a:picLocks noChangeAspect="1"/>
          </p:cNvPicPr>
          <p:nvPr/>
        </p:nvPicPr>
        <p:blipFill>
          <a:blip r:embed="rId10"/>
          <a:srcRect l="-20421" r="-20421"/>
          <a:stretch/>
        </p:blipFill>
        <p:spPr>
          <a:xfrm>
            <a:off x="4172407" y="4562856"/>
            <a:ext cx="428854" cy="304495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4600346" y="4362602"/>
            <a:ext cx="114940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04. 효과</a:t>
            </a:r>
            <a:endParaRPr lang="en-US" sz="1900" dirty="0"/>
          </a:p>
        </p:txBody>
      </p:sp>
      <p:sp>
        <p:nvSpPr>
          <p:cNvPr id="32" name="Text 20"/>
          <p:cNvSpPr txBox="1"/>
          <p:nvPr/>
        </p:nvSpPr>
        <p:spPr>
          <a:xfrm>
            <a:off x="4600346" y="4762195"/>
            <a:ext cx="134416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후 변화</a:t>
            </a:r>
            <a:endParaRPr lang="en-US" sz="1600" dirty="0"/>
          </a:p>
        </p:txBody>
      </p:sp>
      <p:sp>
        <p:nvSpPr>
          <p:cNvPr id="33" name="Shape 21"/>
          <p:cNvSpPr/>
          <p:nvPr/>
        </p:nvSpPr>
        <p:spPr>
          <a:xfrm>
            <a:off x="761695" y="5381244"/>
            <a:ext cx="6096305" cy="857707"/>
          </a:xfrm>
          <a:prstGeom prst="roundRect">
            <a:avLst>
              <a:gd name="adj" fmla="val 2842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2"/>
          <p:cNvSpPr/>
          <p:nvPr/>
        </p:nvSpPr>
        <p:spPr>
          <a:xfrm>
            <a:off x="761695" y="5381244"/>
            <a:ext cx="75895" cy="857707"/>
          </a:xfrm>
          <a:prstGeom prst="roundRect">
            <a:avLst>
              <a:gd name="adj" fmla="val 32128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0" descr="gen-dedup-75ec1019d8e56dc79d7d184fba2581d9.png"/>
          <p:cNvPicPr>
            <a:picLocks noChangeAspect="1"/>
          </p:cNvPicPr>
          <p:nvPr/>
        </p:nvPicPr>
        <p:blipFill>
          <a:blip r:embed="rId11"/>
          <a:srcRect l="-30480" r="-30480"/>
          <a:stretch/>
        </p:blipFill>
        <p:spPr>
          <a:xfrm>
            <a:off x="1028700" y="5658307"/>
            <a:ext cx="428854" cy="304495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1600200" y="5633618"/>
            <a:ext cx="108813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05. 공유</a:t>
            </a:r>
            <a:endParaRPr lang="en-US" sz="1900" dirty="0"/>
          </a:p>
        </p:txBody>
      </p:sp>
      <p:sp>
        <p:nvSpPr>
          <p:cNvPr id="37" name="Text 24"/>
          <p:cNvSpPr txBox="1"/>
          <p:nvPr/>
        </p:nvSpPr>
        <p:spPr>
          <a:xfrm>
            <a:off x="2799893" y="5648249"/>
            <a:ext cx="294711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내 전파 및 문화 확산</a:t>
            </a:r>
            <a:endParaRPr lang="en-US" sz="1700" dirty="0"/>
          </a:p>
        </p:txBody>
      </p:sp>
      <p:sp>
        <p:nvSpPr>
          <p:cNvPr id="38" name="Shape 25"/>
          <p:cNvSpPr/>
          <p:nvPr/>
        </p:nvSpPr>
        <p:spPr>
          <a:xfrm>
            <a:off x="7715707" y="2286000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05966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11" descr="gen-dedup-c19ca1e1625c5f394d9bf16e0d89aee5.png"/>
          <p:cNvPicPr>
            <a:picLocks noChangeAspect="1"/>
          </p:cNvPicPr>
          <p:nvPr/>
        </p:nvPicPr>
        <p:blipFill>
          <a:blip r:embed="rId12"/>
          <a:srcRect t="-45" b="-45"/>
          <a:stretch/>
        </p:blipFill>
        <p:spPr>
          <a:xfrm>
            <a:off x="7824521" y="2409444"/>
            <a:ext cx="256946" cy="228600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8334756" y="2286000"/>
            <a:ext cx="3096158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사례 확산 예시</a:t>
            </a:r>
            <a:endParaRPr lang="en-US" sz="2100" dirty="0"/>
          </a:p>
        </p:txBody>
      </p:sp>
      <p:sp>
        <p:nvSpPr>
          <p:cNvPr id="41" name="Shape 27"/>
          <p:cNvSpPr/>
          <p:nvPr/>
        </p:nvSpPr>
        <p:spPr>
          <a:xfrm>
            <a:off x="7715707" y="3000146"/>
            <a:ext cx="3715207" cy="952805"/>
          </a:xfrm>
          <a:prstGeom prst="roundRect">
            <a:avLst>
              <a:gd name="adj" fmla="val 2303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28"/>
          <p:cNvSpPr txBox="1"/>
          <p:nvPr/>
        </p:nvSpPr>
        <p:spPr>
          <a:xfrm>
            <a:off x="8258861" y="3105302"/>
            <a:ext cx="29434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1: 회의록 작성</a:t>
            </a:r>
            <a:endParaRPr lang="en-US" sz="1700" dirty="0"/>
          </a:p>
        </p:txBody>
      </p:sp>
      <p:sp>
        <p:nvSpPr>
          <p:cNvPr id="43" name="Text 29"/>
          <p:cNvSpPr txBox="1"/>
          <p:nvPr/>
        </p:nvSpPr>
        <p:spPr>
          <a:xfrm>
            <a:off x="7944307" y="3504895"/>
            <a:ext cx="32580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  15분 단축</a:t>
            </a:r>
            <a:endParaRPr lang="en-US" sz="1800" dirty="0"/>
          </a:p>
        </p:txBody>
      </p:sp>
      <p:pic>
        <p:nvPicPr>
          <p:cNvPr id="44" name="Image 12" descr="gen-dedup-387f0a64ec8faca04b70b9506ba4c152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944307" y="3170225"/>
            <a:ext cx="219456" cy="219456"/>
          </a:xfrm>
          <a:prstGeom prst="rect">
            <a:avLst/>
          </a:prstGeom>
        </p:spPr>
      </p:pic>
      <p:pic>
        <p:nvPicPr>
          <p:cNvPr id="45" name="Image 13" descr="gen-dedup-d4580a50b4022d24e8d2cc7521498439.png"/>
          <p:cNvPicPr>
            <a:picLocks noChangeAspect="1"/>
          </p:cNvPicPr>
          <p:nvPr/>
        </p:nvPicPr>
        <p:blipFill>
          <a:blip r:embed="rId14"/>
          <a:srcRect l="-330" r="-330"/>
          <a:stretch/>
        </p:blipFill>
        <p:spPr>
          <a:xfrm>
            <a:off x="8606333" y="3573475"/>
            <a:ext cx="209398" cy="237744"/>
          </a:xfrm>
          <a:prstGeom prst="rect">
            <a:avLst/>
          </a:prstGeom>
        </p:spPr>
      </p:pic>
      <p:sp>
        <p:nvSpPr>
          <p:cNvPr id="46" name="Shape 30"/>
          <p:cNvSpPr/>
          <p:nvPr/>
        </p:nvSpPr>
        <p:spPr>
          <a:xfrm>
            <a:off x="7715707" y="4095598"/>
            <a:ext cx="3715207" cy="952805"/>
          </a:xfrm>
          <a:prstGeom prst="roundRect">
            <a:avLst>
              <a:gd name="adj" fmla="val 2303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1"/>
          <p:cNvSpPr txBox="1"/>
          <p:nvPr/>
        </p:nvSpPr>
        <p:spPr>
          <a:xfrm>
            <a:off x="8258861" y="4200754"/>
            <a:ext cx="29434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2: 보고서 초안</a:t>
            </a:r>
            <a:endParaRPr lang="en-US" sz="1700" dirty="0"/>
          </a:p>
        </p:txBody>
      </p:sp>
      <p:sp>
        <p:nvSpPr>
          <p:cNvPr id="48" name="Text 32"/>
          <p:cNvSpPr txBox="1"/>
          <p:nvPr/>
        </p:nvSpPr>
        <p:spPr>
          <a:xfrm>
            <a:off x="7944307" y="4600346"/>
            <a:ext cx="32580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3시간  40분 완료</a:t>
            </a:r>
            <a:endParaRPr lang="en-US" sz="1800" dirty="0"/>
          </a:p>
        </p:txBody>
      </p:sp>
      <p:pic>
        <p:nvPicPr>
          <p:cNvPr id="49" name="Image 14" descr="gen-dedup-387f0a64ec8faca04b70b9506ba4c152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944307" y="4265676"/>
            <a:ext cx="219456" cy="219456"/>
          </a:xfrm>
          <a:prstGeom prst="rect">
            <a:avLst/>
          </a:prstGeom>
        </p:spPr>
      </p:pic>
      <p:pic>
        <p:nvPicPr>
          <p:cNvPr id="50" name="Image 15" descr="gen-dedup-d4580a50b4022d24e8d2cc7521498439.png"/>
          <p:cNvPicPr>
            <a:picLocks noChangeAspect="1"/>
          </p:cNvPicPr>
          <p:nvPr/>
        </p:nvPicPr>
        <p:blipFill>
          <a:blip r:embed="rId14"/>
          <a:srcRect l="-330" r="-330"/>
          <a:stretch/>
        </p:blipFill>
        <p:spPr>
          <a:xfrm>
            <a:off x="8684971" y="4668012"/>
            <a:ext cx="209398" cy="237744"/>
          </a:xfrm>
          <a:prstGeom prst="rect">
            <a:avLst/>
          </a:prstGeom>
        </p:spPr>
      </p:pic>
      <p:sp>
        <p:nvSpPr>
          <p:cNvPr id="51" name="Shape 33"/>
          <p:cNvSpPr/>
          <p:nvPr/>
        </p:nvSpPr>
        <p:spPr>
          <a:xfrm>
            <a:off x="7715707" y="5191049"/>
            <a:ext cx="3715207" cy="952805"/>
          </a:xfrm>
          <a:prstGeom prst="roundRect">
            <a:avLst>
              <a:gd name="adj" fmla="val 2303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4"/>
          <p:cNvSpPr txBox="1"/>
          <p:nvPr/>
        </p:nvSpPr>
        <p:spPr>
          <a:xfrm>
            <a:off x="8258861" y="5296205"/>
            <a:ext cx="29434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3: 고객 응대</a:t>
            </a:r>
            <a:endParaRPr lang="en-US" sz="1700" dirty="0"/>
          </a:p>
        </p:txBody>
      </p:sp>
      <p:sp>
        <p:nvSpPr>
          <p:cNvPr id="53" name="Text 35"/>
          <p:cNvSpPr txBox="1"/>
          <p:nvPr/>
        </p:nvSpPr>
        <p:spPr>
          <a:xfrm>
            <a:off x="7944307" y="5695798"/>
            <a:ext cx="32580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45분  15분 감소</a:t>
            </a:r>
            <a:endParaRPr lang="en-US" sz="1800" dirty="0"/>
          </a:p>
        </p:txBody>
      </p:sp>
      <p:pic>
        <p:nvPicPr>
          <p:cNvPr id="54" name="Image 16" descr="gen-dedup-387f0a64ec8faca04b70b9506ba4c152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944307" y="5361127"/>
            <a:ext cx="219456" cy="219456"/>
          </a:xfrm>
          <a:prstGeom prst="rect">
            <a:avLst/>
          </a:prstGeom>
        </p:spPr>
      </p:pic>
      <p:pic>
        <p:nvPicPr>
          <p:cNvPr id="55" name="Image 17" descr="gen-dedup-d4580a50b4022d24e8d2cc7521498439.png"/>
          <p:cNvPicPr>
            <a:picLocks noChangeAspect="1"/>
          </p:cNvPicPr>
          <p:nvPr/>
        </p:nvPicPr>
        <p:blipFill>
          <a:blip r:embed="rId14"/>
          <a:srcRect l="-330" r="-330"/>
          <a:stretch/>
        </p:blipFill>
        <p:spPr>
          <a:xfrm>
            <a:off x="8606333" y="5763463"/>
            <a:ext cx="209398" cy="237744"/>
          </a:xfrm>
          <a:prstGeom prst="rect">
            <a:avLst/>
          </a:prstGeom>
        </p:spPr>
      </p:pic>
      <p:pic>
        <p:nvPicPr>
          <p:cNvPr id="5" name="Image 3" descr="gen-dedup-129527a6ed11c85a227dd73ec4666120.png"/>
          <p:cNvPicPr>
            <a:picLocks noChangeAspect="1"/>
          </p:cNvPicPr>
          <p:nvPr/>
        </p:nvPicPr>
        <p:blipFill>
          <a:blip r:embed="rId15"/>
          <a:srcRect l="-760" r="-760"/>
          <a:stretch/>
        </p:blipFill>
        <p:spPr>
          <a:xfrm>
            <a:off x="666598" y="495605"/>
            <a:ext cx="152705" cy="171907"/>
          </a:xfrm>
          <a:prstGeom prst="rect">
            <a:avLst/>
          </a:prstGeom>
        </p:spPr>
      </p:pic>
      <p:sp>
        <p:nvSpPr>
          <p:cNvPr id="5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6402" y="381305"/>
            <a:ext cx="1333195" cy="342900"/>
          </a:xfrm>
          <a:prstGeom prst="roundRect">
            <a:avLst>
              <a:gd name="adj" fmla="val 2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476402" y="2048256"/>
            <a:ext cx="5352898" cy="4401007"/>
          </a:xfrm>
          <a:prstGeom prst="roundRect">
            <a:avLst>
              <a:gd name="adj" fmla="val 10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14146" y="2286000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007B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14146" y="4095598"/>
            <a:ext cx="2352751" cy="590702"/>
          </a:xfrm>
          <a:prstGeom prst="roundRect">
            <a:avLst>
              <a:gd name="adj" fmla="val 599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3238805" y="4095598"/>
            <a:ext cx="2352751" cy="590702"/>
          </a:xfrm>
          <a:prstGeom prst="roundRect">
            <a:avLst>
              <a:gd name="adj" fmla="val 599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14146" y="4858207"/>
            <a:ext cx="2352751" cy="590702"/>
          </a:xfrm>
          <a:prstGeom prst="roundRect">
            <a:avLst>
              <a:gd name="adj" fmla="val 599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238805" y="4858207"/>
            <a:ext cx="2352751" cy="590702"/>
          </a:xfrm>
          <a:prstGeom prst="roundRect">
            <a:avLst>
              <a:gd name="adj" fmla="val 599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14146" y="5619902"/>
            <a:ext cx="4876495" cy="733349"/>
          </a:xfrm>
          <a:prstGeom prst="roundRect">
            <a:avLst>
              <a:gd name="adj" fmla="val 3886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204825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2667305"/>
            <a:ext cx="2638044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096451" y="2667305"/>
            <a:ext cx="2638044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286500" y="3657600"/>
            <a:ext cx="2638044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096451" y="3657600"/>
            <a:ext cx="2638044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286500" y="4647895"/>
            <a:ext cx="2638044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9096451" y="4647895"/>
            <a:ext cx="2638044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286500" y="5639105"/>
            <a:ext cx="2638044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9096451" y="5639105"/>
            <a:ext cx="2638044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gen-dedup-ce2e0de8452a80c9cf69c3ccb10ad6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29146" y="2895905"/>
            <a:ext cx="342900" cy="342900"/>
          </a:xfrm>
          <a:prstGeom prst="rect">
            <a:avLst/>
          </a:prstGeom>
        </p:spPr>
      </p:pic>
      <p:pic>
        <p:nvPicPr>
          <p:cNvPr id="21" name="Image 2" descr="gen-dedup-ce2e0de8452a80c9cf69c3ccb10ad6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9098" y="2895905"/>
            <a:ext cx="342900" cy="342900"/>
          </a:xfrm>
          <a:prstGeom prst="rect">
            <a:avLst/>
          </a:prstGeom>
        </p:spPr>
      </p:pic>
      <p:pic>
        <p:nvPicPr>
          <p:cNvPr id="22" name="Image 3" descr="gen-dedup-ce2e0de8452a80c9cf69c3ccb10ad6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29146" y="3886200"/>
            <a:ext cx="342900" cy="342900"/>
          </a:xfrm>
          <a:prstGeom prst="rect">
            <a:avLst/>
          </a:prstGeom>
        </p:spPr>
      </p:pic>
      <p:pic>
        <p:nvPicPr>
          <p:cNvPr id="23" name="Image 4" descr="gen-dedup-ce2e0de8452a80c9cf69c3ccb10ad6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9098" y="3886200"/>
            <a:ext cx="342900" cy="342900"/>
          </a:xfrm>
          <a:prstGeom prst="rect">
            <a:avLst/>
          </a:prstGeom>
        </p:spPr>
      </p:pic>
      <p:pic>
        <p:nvPicPr>
          <p:cNvPr id="24" name="Image 5" descr="gen-dedup-ce2e0de8452a80c9cf69c3ccb10ad6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29146" y="4876495"/>
            <a:ext cx="342900" cy="342900"/>
          </a:xfrm>
          <a:prstGeom prst="rect">
            <a:avLst/>
          </a:prstGeom>
        </p:spPr>
      </p:pic>
      <p:pic>
        <p:nvPicPr>
          <p:cNvPr id="25" name="Image 6" descr="gen-dedup-ce2e0de8452a80c9cf69c3ccb10ad6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9098" y="4876495"/>
            <a:ext cx="342900" cy="342900"/>
          </a:xfrm>
          <a:prstGeom prst="rect">
            <a:avLst/>
          </a:prstGeom>
        </p:spPr>
      </p:pic>
      <p:pic>
        <p:nvPicPr>
          <p:cNvPr id="26" name="Image 7" descr="gen-dedup-ce2e0de8452a80c9cf69c3ccb10ad6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29146" y="5867705"/>
            <a:ext cx="342900" cy="342900"/>
          </a:xfrm>
          <a:prstGeom prst="rect">
            <a:avLst/>
          </a:prstGeom>
        </p:spPr>
      </p:pic>
      <p:pic>
        <p:nvPicPr>
          <p:cNvPr id="27" name="Image 8" descr="gen-dedup-ce2e0de8452a80c9cf69c3ccb10ad6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9098" y="5867705"/>
            <a:ext cx="342900" cy="342900"/>
          </a:xfrm>
          <a:prstGeom prst="rect">
            <a:avLst/>
          </a:prstGeom>
        </p:spPr>
      </p:pic>
      <p:pic>
        <p:nvPicPr>
          <p:cNvPr id="28" name="Image 9" descr="gen-dedup-3ba62522d578dd06447a7b97df2b828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509321"/>
            <a:ext cx="190195" cy="190195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905256" y="437998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활동</a:t>
            </a:r>
            <a:endParaRPr lang="en-US" sz="1200" dirty="0"/>
          </a:p>
        </p:txBody>
      </p:sp>
      <p:sp>
        <p:nvSpPr>
          <p:cNvPr id="30" name="Text 18"/>
          <p:cNvSpPr txBox="1"/>
          <p:nvPr/>
        </p:nvSpPr>
        <p:spPr>
          <a:xfrm>
            <a:off x="476402" y="857707"/>
            <a:ext cx="112398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7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실습: </a:t>
            </a:r>
            <a:r>
              <a:rPr lang="en-US" sz="3300" b="1" kern="0" spc="-67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업무 중 개선 아이디어 찾기</a:t>
            </a:r>
            <a:endParaRPr lang="en-US" sz="3300" dirty="0"/>
          </a:p>
        </p:txBody>
      </p:sp>
      <p:sp>
        <p:nvSpPr>
          <p:cNvPr id="31" name="Text 19"/>
          <p:cNvSpPr txBox="1"/>
          <p:nvPr/>
        </p:nvSpPr>
        <p:spPr>
          <a:xfrm>
            <a:off x="476402" y="1524305"/>
            <a:ext cx="11239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수행 중인 업무 중 시간이 많이 걸리거나 반복되는 업무 1개를 선택하여 개선 아이디어를 작성해보세요</a:t>
            </a:r>
            <a:endParaRPr lang="en-US" sz="1500" dirty="0"/>
          </a:p>
        </p:txBody>
      </p:sp>
      <p:pic>
        <p:nvPicPr>
          <p:cNvPr id="32" name="Image 10" descr="gen-dedup-671d213f4d6c7127cb7f822bb2d28b02.png"/>
          <p:cNvPicPr>
            <a:picLocks noChangeAspect="1"/>
          </p:cNvPicPr>
          <p:nvPr/>
        </p:nvPicPr>
        <p:blipFill>
          <a:blip r:embed="rId5"/>
          <a:srcRect l="-1528" r="-1528"/>
          <a:stretch/>
        </p:blipFill>
        <p:spPr>
          <a:xfrm>
            <a:off x="838505" y="2455164"/>
            <a:ext cx="161849" cy="209398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1285646" y="2286000"/>
            <a:ext cx="1905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과제</a:t>
            </a:r>
            <a:endParaRPr lang="en-US" sz="1800" dirty="0"/>
          </a:p>
        </p:txBody>
      </p:sp>
      <p:sp>
        <p:nvSpPr>
          <p:cNvPr id="34" name="Text 21"/>
          <p:cNvSpPr txBox="1"/>
          <p:nvPr/>
        </p:nvSpPr>
        <p:spPr>
          <a:xfrm>
            <a:off x="1285646" y="2657246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또는 조별로 진행</a:t>
            </a:r>
            <a:endParaRPr lang="en-US" sz="1000" dirty="0"/>
          </a:p>
        </p:txBody>
      </p:sp>
      <p:sp>
        <p:nvSpPr>
          <p:cNvPr id="35" name="Text 22"/>
          <p:cNvSpPr txBox="1"/>
          <p:nvPr/>
        </p:nvSpPr>
        <p:spPr>
          <a:xfrm>
            <a:off x="714146" y="2952598"/>
            <a:ext cx="48582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수행 중인 업무 중 </a:t>
            </a: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많이 걸리거나 반복되는 업무 1개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선택하여, 개선 아이디어를 작성하세요. 우측의 8가지 항목을 모두 채워 보세요.</a:t>
            </a:r>
            <a:endParaRPr lang="en-US" sz="1500" dirty="0"/>
          </a:p>
        </p:txBody>
      </p:sp>
      <p:sp>
        <p:nvSpPr>
          <p:cNvPr id="36" name="Text 23"/>
          <p:cNvSpPr txBox="1"/>
          <p:nvPr/>
        </p:nvSpPr>
        <p:spPr>
          <a:xfrm>
            <a:off x="905256" y="4257446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업무명</a:t>
            </a:r>
            <a:endParaRPr lang="en-US" sz="1200" dirty="0"/>
          </a:p>
        </p:txBody>
      </p:sp>
      <p:sp>
        <p:nvSpPr>
          <p:cNvPr id="37" name="Text 24"/>
          <p:cNvSpPr txBox="1"/>
          <p:nvPr/>
        </p:nvSpPr>
        <p:spPr>
          <a:xfrm>
            <a:off x="3429000" y="4257446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문제점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905256" y="5020056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주기</a:t>
            </a:r>
            <a:endParaRPr lang="en-US" sz="1200" dirty="0"/>
          </a:p>
        </p:txBody>
      </p:sp>
      <p:sp>
        <p:nvSpPr>
          <p:cNvPr id="39" name="Text 26"/>
          <p:cNvSpPr txBox="1"/>
          <p:nvPr/>
        </p:nvSpPr>
        <p:spPr>
          <a:xfrm>
            <a:off x="3429000" y="5020056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담당자</a:t>
            </a:r>
            <a:endParaRPr lang="en-US" sz="1200" dirty="0"/>
          </a:p>
        </p:txBody>
      </p:sp>
      <p:sp>
        <p:nvSpPr>
          <p:cNvPr id="40" name="Text 27"/>
          <p:cNvSpPr txBox="1"/>
          <p:nvPr/>
        </p:nvSpPr>
        <p:spPr>
          <a:xfrm>
            <a:off x="1133856" y="5715000"/>
            <a:ext cx="42483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항목 5-8</a:t>
            </a:r>
            <a:endParaRPr lang="en-US" sz="1200" dirty="0"/>
          </a:p>
        </p:txBody>
      </p:sp>
      <p:pic>
        <p:nvPicPr>
          <p:cNvPr id="41" name="Image 11" descr="gen-dedup-ff93112c038b4c64c16f0a3710d6fa4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5256" y="5762549"/>
            <a:ext cx="152705" cy="152705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905256" y="6001207"/>
            <a:ext cx="447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방식, 활용 도구, 기대 효과, 주의사항</a:t>
            </a:r>
            <a:endParaRPr lang="en-US" sz="1200" dirty="0"/>
          </a:p>
        </p:txBody>
      </p:sp>
      <p:pic>
        <p:nvPicPr>
          <p:cNvPr id="43" name="Image 12" descr="gen-dedup-9af6c03131e655efec565768887a07bf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09944" y="2216506"/>
            <a:ext cx="209398" cy="209398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6858000" y="2048256"/>
            <a:ext cx="1905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항목 8가지</a:t>
            </a:r>
            <a:endParaRPr lang="en-US" sz="1800" dirty="0"/>
          </a:p>
        </p:txBody>
      </p:sp>
      <p:sp>
        <p:nvSpPr>
          <p:cNvPr id="45" name="Text 30"/>
          <p:cNvSpPr txBox="1"/>
          <p:nvPr/>
        </p:nvSpPr>
        <p:spPr>
          <a:xfrm>
            <a:off x="6858000" y="2419502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작성 내용</a:t>
            </a:r>
            <a:endParaRPr lang="en-US" sz="1000" dirty="0"/>
          </a:p>
        </p:txBody>
      </p:sp>
      <p:sp>
        <p:nvSpPr>
          <p:cNvPr id="46" name="Text 31"/>
          <p:cNvSpPr txBox="1"/>
          <p:nvPr/>
        </p:nvSpPr>
        <p:spPr>
          <a:xfrm>
            <a:off x="6429146" y="2952598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Text 32"/>
          <p:cNvSpPr txBox="1"/>
          <p:nvPr/>
        </p:nvSpPr>
        <p:spPr>
          <a:xfrm>
            <a:off x="6905549" y="2857500"/>
            <a:ext cx="1858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업무명</a:t>
            </a:r>
            <a:endParaRPr lang="en-US" sz="1300" dirty="0"/>
          </a:p>
        </p:txBody>
      </p:sp>
      <p:sp>
        <p:nvSpPr>
          <p:cNvPr id="48" name="Text 33"/>
          <p:cNvSpPr txBox="1"/>
          <p:nvPr/>
        </p:nvSpPr>
        <p:spPr>
          <a:xfrm>
            <a:off x="6905549" y="3143707"/>
            <a:ext cx="1858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주간 보고서 작성</a:t>
            </a:r>
            <a:endParaRPr lang="en-US" sz="1100" dirty="0"/>
          </a:p>
        </p:txBody>
      </p:sp>
      <p:sp>
        <p:nvSpPr>
          <p:cNvPr id="49" name="Text 34"/>
          <p:cNvSpPr txBox="1"/>
          <p:nvPr/>
        </p:nvSpPr>
        <p:spPr>
          <a:xfrm>
            <a:off x="9239098" y="2952598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Text 35"/>
          <p:cNvSpPr txBox="1"/>
          <p:nvPr/>
        </p:nvSpPr>
        <p:spPr>
          <a:xfrm>
            <a:off x="9715500" y="2857500"/>
            <a:ext cx="1858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문제점</a:t>
            </a:r>
            <a:endParaRPr lang="en-US" sz="1300" dirty="0"/>
          </a:p>
        </p:txBody>
      </p:sp>
      <p:sp>
        <p:nvSpPr>
          <p:cNvPr id="51" name="Text 36"/>
          <p:cNvSpPr txBox="1"/>
          <p:nvPr/>
        </p:nvSpPr>
        <p:spPr>
          <a:xfrm>
            <a:off x="9715500" y="3143707"/>
            <a:ext cx="1858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자료 취합 지연</a:t>
            </a:r>
            <a:endParaRPr lang="en-US" sz="1100" dirty="0"/>
          </a:p>
        </p:txBody>
      </p:sp>
      <p:sp>
        <p:nvSpPr>
          <p:cNvPr id="52" name="Text 37"/>
          <p:cNvSpPr txBox="1"/>
          <p:nvPr/>
        </p:nvSpPr>
        <p:spPr>
          <a:xfrm>
            <a:off x="6429146" y="3943807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Text 38"/>
          <p:cNvSpPr txBox="1"/>
          <p:nvPr/>
        </p:nvSpPr>
        <p:spPr>
          <a:xfrm>
            <a:off x="6905549" y="3847795"/>
            <a:ext cx="1858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주기</a:t>
            </a:r>
            <a:endParaRPr lang="en-US" sz="1300" dirty="0"/>
          </a:p>
        </p:txBody>
      </p:sp>
      <p:sp>
        <p:nvSpPr>
          <p:cNvPr id="54" name="Text 39"/>
          <p:cNvSpPr txBox="1"/>
          <p:nvPr/>
        </p:nvSpPr>
        <p:spPr>
          <a:xfrm>
            <a:off x="6905549" y="4134002"/>
            <a:ext cx="1858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매주 1회</a:t>
            </a:r>
            <a:endParaRPr lang="en-US" sz="1100" dirty="0"/>
          </a:p>
        </p:txBody>
      </p:sp>
      <p:sp>
        <p:nvSpPr>
          <p:cNvPr id="55" name="Text 40"/>
          <p:cNvSpPr txBox="1"/>
          <p:nvPr/>
        </p:nvSpPr>
        <p:spPr>
          <a:xfrm>
            <a:off x="9239098" y="3943807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6" name="Text 41"/>
          <p:cNvSpPr txBox="1"/>
          <p:nvPr/>
        </p:nvSpPr>
        <p:spPr>
          <a:xfrm>
            <a:off x="9715500" y="3847795"/>
            <a:ext cx="1858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담당자</a:t>
            </a:r>
            <a:endParaRPr lang="en-US" sz="1300" dirty="0"/>
          </a:p>
        </p:txBody>
      </p:sp>
      <p:sp>
        <p:nvSpPr>
          <p:cNvPr id="57" name="Text 42"/>
          <p:cNvSpPr txBox="1"/>
          <p:nvPr/>
        </p:nvSpPr>
        <p:spPr>
          <a:xfrm>
            <a:off x="9715500" y="4134002"/>
            <a:ext cx="1858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팀원, 팀장</a:t>
            </a:r>
            <a:endParaRPr lang="en-US" sz="1100" dirty="0"/>
          </a:p>
        </p:txBody>
      </p:sp>
      <p:sp>
        <p:nvSpPr>
          <p:cNvPr id="58" name="Text 43"/>
          <p:cNvSpPr txBox="1"/>
          <p:nvPr/>
        </p:nvSpPr>
        <p:spPr>
          <a:xfrm>
            <a:off x="6429146" y="4934102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Text 44"/>
          <p:cNvSpPr txBox="1"/>
          <p:nvPr/>
        </p:nvSpPr>
        <p:spPr>
          <a:xfrm>
            <a:off x="6905549" y="4839005"/>
            <a:ext cx="1858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방식</a:t>
            </a:r>
            <a:endParaRPr lang="en-US" sz="1300" dirty="0"/>
          </a:p>
        </p:txBody>
      </p:sp>
      <p:sp>
        <p:nvSpPr>
          <p:cNvPr id="60" name="Text 45"/>
          <p:cNvSpPr txBox="1"/>
          <p:nvPr/>
        </p:nvSpPr>
        <p:spPr>
          <a:xfrm>
            <a:off x="6905549" y="5124298"/>
            <a:ext cx="1858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양식 표준화, 자동화</a:t>
            </a:r>
            <a:endParaRPr lang="en-US" sz="1100" dirty="0"/>
          </a:p>
        </p:txBody>
      </p:sp>
      <p:sp>
        <p:nvSpPr>
          <p:cNvPr id="61" name="Text 46"/>
          <p:cNvSpPr txBox="1"/>
          <p:nvPr/>
        </p:nvSpPr>
        <p:spPr>
          <a:xfrm>
            <a:off x="9239098" y="4934102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200" dirty="0"/>
          </a:p>
        </p:txBody>
      </p:sp>
      <p:sp>
        <p:nvSpPr>
          <p:cNvPr id="62" name="Text 47"/>
          <p:cNvSpPr txBox="1"/>
          <p:nvPr/>
        </p:nvSpPr>
        <p:spPr>
          <a:xfrm>
            <a:off x="9715500" y="4839005"/>
            <a:ext cx="1858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도구</a:t>
            </a:r>
            <a:endParaRPr lang="en-US" sz="1300" dirty="0"/>
          </a:p>
        </p:txBody>
      </p:sp>
      <p:sp>
        <p:nvSpPr>
          <p:cNvPr id="63" name="Text 48"/>
          <p:cNvSpPr txBox="1"/>
          <p:nvPr/>
        </p:nvSpPr>
        <p:spPr>
          <a:xfrm>
            <a:off x="9715500" y="5124298"/>
            <a:ext cx="1858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ChatGPT, Excel</a:t>
            </a:r>
            <a:endParaRPr lang="en-US" sz="1100" dirty="0"/>
          </a:p>
        </p:txBody>
      </p:sp>
      <p:sp>
        <p:nvSpPr>
          <p:cNvPr id="64" name="Text 49"/>
          <p:cNvSpPr txBox="1"/>
          <p:nvPr/>
        </p:nvSpPr>
        <p:spPr>
          <a:xfrm>
            <a:off x="6429146" y="5924398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200" dirty="0"/>
          </a:p>
        </p:txBody>
      </p:sp>
      <p:sp>
        <p:nvSpPr>
          <p:cNvPr id="65" name="Text 50"/>
          <p:cNvSpPr txBox="1"/>
          <p:nvPr/>
        </p:nvSpPr>
        <p:spPr>
          <a:xfrm>
            <a:off x="6905549" y="5829300"/>
            <a:ext cx="1858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300" dirty="0"/>
          </a:p>
        </p:txBody>
      </p:sp>
      <p:sp>
        <p:nvSpPr>
          <p:cNvPr id="66" name="Text 51"/>
          <p:cNvSpPr txBox="1"/>
          <p:nvPr/>
        </p:nvSpPr>
        <p:spPr>
          <a:xfrm>
            <a:off x="6905549" y="6115507"/>
            <a:ext cx="1858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시간 50% 단축</a:t>
            </a:r>
            <a:endParaRPr lang="en-US" sz="1100" dirty="0"/>
          </a:p>
        </p:txBody>
      </p:sp>
      <p:sp>
        <p:nvSpPr>
          <p:cNvPr id="67" name="Text 52"/>
          <p:cNvSpPr txBox="1"/>
          <p:nvPr/>
        </p:nvSpPr>
        <p:spPr>
          <a:xfrm>
            <a:off x="9239098" y="5924398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200" dirty="0"/>
          </a:p>
        </p:txBody>
      </p:sp>
      <p:sp>
        <p:nvSpPr>
          <p:cNvPr id="68" name="Text 53"/>
          <p:cNvSpPr txBox="1"/>
          <p:nvPr/>
        </p:nvSpPr>
        <p:spPr>
          <a:xfrm>
            <a:off x="9715500" y="5829300"/>
            <a:ext cx="1858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주의사항</a:t>
            </a:r>
            <a:endParaRPr lang="en-US" sz="1300" dirty="0"/>
          </a:p>
        </p:txBody>
      </p:sp>
      <p:sp>
        <p:nvSpPr>
          <p:cNvPr id="69" name="Text 54"/>
          <p:cNvSpPr txBox="1"/>
          <p:nvPr/>
        </p:nvSpPr>
        <p:spPr>
          <a:xfrm>
            <a:off x="9715500" y="6115507"/>
            <a:ext cx="22064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AI 결과물 수치 검증 필수</a:t>
            </a:r>
            <a:endParaRPr lang="en-US" sz="1100" dirty="0"/>
          </a:p>
        </p:txBody>
      </p:sp>
      <p:sp>
        <p:nvSpPr>
          <p:cNvPr id="7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6402" y="381305"/>
            <a:ext cx="13331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gen-dedup-ebd3f73137726214ab7b1adee2d0880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457200"/>
            <a:ext cx="152705" cy="15270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57707" y="418795"/>
            <a:ext cx="857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활동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76402" y="809244"/>
            <a:ext cx="1286195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실습: 내 업무 중 </a:t>
            </a:r>
            <a:r>
              <a:rPr lang="en-US" sz="3600" b="1" kern="0" spc="-72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아이디어 찾기</a:t>
            </a:r>
            <a:r>
              <a:rPr lang="en-US" sz="3600" b="1" kern="0" spc="-72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(작성 예시)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476402" y="1571854"/>
            <a:ext cx="11239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업무 프로세스 개선을 위한 아이디어 도출 양식 예시입니다.</a:t>
            </a:r>
            <a:endParaRPr lang="en-US" sz="1800" dirty="0"/>
          </a:p>
        </p:txBody>
      </p:sp>
      <p:pic>
        <p:nvPicPr>
          <p:cNvPr id="8" name="Image 2" descr="gen-dedup-af3d5b92905d942eaaf2487faa5653ec.png"/>
          <p:cNvPicPr>
            <a:picLocks noChangeAspect="1"/>
          </p:cNvPicPr>
          <p:nvPr/>
        </p:nvPicPr>
        <p:blipFill>
          <a:blip r:embed="rId4"/>
          <a:srcRect l="-6" r="-6"/>
          <a:stretch/>
        </p:blipFill>
        <p:spPr>
          <a:xfrm>
            <a:off x="476402" y="2190902"/>
            <a:ext cx="11259007" cy="4304995"/>
          </a:xfrm>
          <a:prstGeom prst="rect">
            <a:avLst/>
          </a:prstGeom>
        </p:spPr>
      </p:pic>
      <p:pic>
        <p:nvPicPr>
          <p:cNvPr id="9" name="Image 3" descr="gen-dedup-4dfa3def4755199f4ac94f69b0de5aa0.png"/>
          <p:cNvPicPr>
            <a:picLocks noChangeAspect="1"/>
          </p:cNvPicPr>
          <p:nvPr/>
        </p:nvPicPr>
        <p:blipFill>
          <a:blip r:embed="rId5"/>
          <a:srcRect t="-12" b="-12"/>
          <a:stretch/>
        </p:blipFill>
        <p:spPr>
          <a:xfrm>
            <a:off x="476402" y="2190902"/>
            <a:ext cx="11239805" cy="59070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66598" y="2333549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600" dirty="0"/>
          </a:p>
        </p:txBody>
      </p:sp>
      <p:sp>
        <p:nvSpPr>
          <p:cNvPr id="11" name="Text 5"/>
          <p:cNvSpPr txBox="1"/>
          <p:nvPr/>
        </p:nvSpPr>
        <p:spPr>
          <a:xfrm>
            <a:off x="3810305" y="2333549"/>
            <a:ext cx="7620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내용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476402" y="3429914"/>
            <a:ext cx="112398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 txBox="1"/>
          <p:nvPr/>
        </p:nvSpPr>
        <p:spPr>
          <a:xfrm>
            <a:off x="666598" y="2952598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업무명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3810305" y="2952598"/>
            <a:ext cx="7620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주간보고서 작성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476402" y="3429000"/>
            <a:ext cx="11239805" cy="676656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476402" y="4096512"/>
            <a:ext cx="112398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 txBox="1"/>
          <p:nvPr/>
        </p:nvSpPr>
        <p:spPr>
          <a:xfrm>
            <a:off x="666598" y="3619195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문제점 (Before)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114800" y="3619195"/>
            <a:ext cx="73161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 자료 취합 및 초안 작성에 3시간 이상 소요</a:t>
            </a:r>
            <a:endParaRPr lang="en-US" sz="1800" dirty="0"/>
          </a:p>
        </p:txBody>
      </p:sp>
      <p:pic>
        <p:nvPicPr>
          <p:cNvPr id="19" name="Image 4" descr="gen-dedup-eeb1a3488aa646f8269427d4d8a4653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10305" y="3685946"/>
            <a:ext cx="228600" cy="2286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76402" y="4763110"/>
            <a:ext cx="112398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4"/>
          <p:cNvSpPr txBox="1"/>
          <p:nvPr/>
        </p:nvSpPr>
        <p:spPr>
          <a:xfrm>
            <a:off x="666598" y="4286707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빈도 및 관련 담당자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3810305" y="4286707"/>
            <a:ext cx="7620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 1회 / 기획팀 김프로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476402" y="4762195"/>
            <a:ext cx="11239805" cy="676656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476402" y="5429707"/>
            <a:ext cx="112398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8"/>
          <p:cNvSpPr txBox="1"/>
          <p:nvPr/>
        </p:nvSpPr>
        <p:spPr>
          <a:xfrm>
            <a:off x="666598" y="4953305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방법 (After)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4058107" y="4953305"/>
            <a:ext cx="73728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도구를 활용하여 기초 데이터 요약 및 초안 자동 생성 후 검토</a:t>
            </a:r>
            <a:endParaRPr lang="en-US" sz="1800" dirty="0"/>
          </a:p>
        </p:txBody>
      </p:sp>
      <p:pic>
        <p:nvPicPr>
          <p:cNvPr id="27" name="Image 5" descr="gen-dedup-559b46bb273c0ea6ce5f6f2749331625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3810305" y="5020056"/>
            <a:ext cx="171907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66598" y="5810098"/>
            <a:ext cx="2857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 및 도구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114800" y="5633618"/>
            <a:ext cx="73161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50% 단축 (3시간 → 1.5시간)</a:t>
            </a:r>
            <a:endParaRPr lang="en-US" sz="1800" dirty="0"/>
          </a:p>
        </p:txBody>
      </p:sp>
      <p:pic>
        <p:nvPicPr>
          <p:cNvPr id="30" name="Image 6" descr="gen-dedup-b1aa1f3e9606e4cd5af2791551ddb163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810305" y="5700370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077310" y="6043270"/>
            <a:ext cx="73536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도구: ChatGPT, 사내 데이터 취합 시스템</a:t>
            </a:r>
            <a:endParaRPr lang="en-US" sz="1500" dirty="0"/>
          </a:p>
        </p:txBody>
      </p:sp>
      <p:pic>
        <p:nvPicPr>
          <p:cNvPr id="32" name="Image 7" descr="gen-dedup-b6d5f51e11388cf2ff3513ce27eab365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10305" y="6096305"/>
            <a:ext cx="190195" cy="190195"/>
          </a:xfrm>
          <a:prstGeom prst="rect">
            <a:avLst/>
          </a:prstGeom>
        </p:spPr>
      </p:pic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6402" y="333756"/>
            <a:ext cx="1429207" cy="342900"/>
          </a:xfrm>
          <a:prstGeom prst="roundRect">
            <a:avLst>
              <a:gd name="adj" fmla="val 266667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436074cf1d964c9e4c916890b5c0d9f1.png"/>
          <p:cNvPicPr>
            <a:picLocks noChangeAspect="1"/>
          </p:cNvPicPr>
          <p:nvPr/>
        </p:nvPicPr>
        <p:blipFill>
          <a:blip r:embed="rId3"/>
          <a:srcRect l="-7" r="-7"/>
          <a:stretch/>
        </p:blipFill>
        <p:spPr>
          <a:xfrm>
            <a:off x="476402" y="2095805"/>
            <a:ext cx="4038905" cy="4419295"/>
          </a:xfrm>
          <a:prstGeom prst="rect">
            <a:avLst/>
          </a:prstGeom>
        </p:spPr>
      </p:pic>
      <p:pic>
        <p:nvPicPr>
          <p:cNvPr id="6" name="Image 2" descr="gen-dedup-116ded14b13b8e17be66c55c6a454a62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4762195" y="2095805"/>
            <a:ext cx="6972300" cy="440100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61695" y="3619195"/>
            <a:ext cx="3448202" cy="1067105"/>
          </a:xfrm>
          <a:prstGeom prst="roundRect">
            <a:avLst>
              <a:gd name="adj" fmla="val 18362"/>
            </a:avLst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"/>
          <p:cNvSpPr/>
          <p:nvPr/>
        </p:nvSpPr>
        <p:spPr>
          <a:xfrm>
            <a:off x="761695" y="4953305"/>
            <a:ext cx="3448202" cy="1067105"/>
          </a:xfrm>
          <a:prstGeom prst="roundRect">
            <a:avLst>
              <a:gd name="adj" fmla="val 18362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5143500" y="2952598"/>
            <a:ext cx="6267298" cy="1047902"/>
          </a:xfrm>
          <a:prstGeom prst="roundRect">
            <a:avLst>
              <a:gd name="adj" fmla="val 1903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5143500" y="2952598"/>
            <a:ext cx="75895" cy="1047902"/>
          </a:xfrm>
          <a:prstGeom prst="roundRect">
            <a:avLst>
              <a:gd name="adj" fmla="val 26287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143500" y="4143146"/>
            <a:ext cx="6267298" cy="1047902"/>
          </a:xfrm>
          <a:prstGeom prst="roundRect">
            <a:avLst>
              <a:gd name="adj" fmla="val 1903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143500" y="4143146"/>
            <a:ext cx="75895" cy="1047902"/>
          </a:xfrm>
          <a:prstGeom prst="roundRect">
            <a:avLst>
              <a:gd name="adj" fmla="val 26287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143500" y="5333695"/>
            <a:ext cx="6267298" cy="1047902"/>
          </a:xfrm>
          <a:prstGeom prst="roundRect">
            <a:avLst>
              <a:gd name="adj" fmla="val 1903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143500" y="5333695"/>
            <a:ext cx="75895" cy="1047902"/>
          </a:xfrm>
          <a:prstGeom prst="roundRect">
            <a:avLst>
              <a:gd name="adj" fmla="val 262870"/>
            </a:avLst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gen-dedup-47bd75b31f37b751e8f542f48e159f88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604418" y="418795"/>
            <a:ext cx="219456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05256" y="381305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조별 활동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476402" y="809244"/>
            <a:ext cx="11239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조별 공유 방식 및 </a:t>
            </a:r>
            <a:r>
              <a:rPr lang="en-US" sz="3600" b="1" kern="0" spc="-72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가이드라인</a:t>
            </a:r>
            <a:endParaRPr lang="en-US" sz="3600" dirty="0"/>
          </a:p>
        </p:txBody>
      </p:sp>
      <p:sp>
        <p:nvSpPr>
          <p:cNvPr id="18" name="Text 12"/>
          <p:cNvSpPr txBox="1"/>
          <p:nvPr/>
        </p:nvSpPr>
        <p:spPr>
          <a:xfrm>
            <a:off x="476402" y="1571854"/>
            <a:ext cx="11239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팀별로 개선 아이디어를 효율적으로 공유하고 피드백을 주고받는 시간입니다.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761695" y="2381098"/>
            <a:ext cx="3429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소요 시간</a:t>
            </a:r>
            <a:endParaRPr lang="en-US" sz="1900" dirty="0"/>
          </a:p>
        </p:txBody>
      </p:sp>
      <p:pic>
        <p:nvPicPr>
          <p:cNvPr id="20" name="Image 4" descr="gen-dedup-bde7b846eb2f42d1d4bfc459437b5d62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1533449" y="2943454"/>
            <a:ext cx="267005" cy="3044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952244" y="2857500"/>
            <a:ext cx="1429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15분</a:t>
            </a:r>
            <a:endParaRPr lang="en-US" sz="3000" dirty="0"/>
          </a:p>
        </p:txBody>
      </p:sp>
      <p:sp>
        <p:nvSpPr>
          <p:cNvPr id="22" name="Shape 15"/>
          <p:cNvSpPr/>
          <p:nvPr/>
        </p:nvSpPr>
        <p:spPr>
          <a:xfrm>
            <a:off x="1000354" y="3905402"/>
            <a:ext cx="476402" cy="47640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gen-dedup-a62b06d53051468fd3fc3d26715280be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1152144" y="4028846"/>
            <a:ext cx="171907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66951" y="3847795"/>
            <a:ext cx="2286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팀당 2분 피치</a:t>
            </a:r>
            <a:endParaRPr lang="en-US" sz="1900" dirty="0"/>
          </a:p>
        </p:txBody>
      </p:sp>
      <p:sp>
        <p:nvSpPr>
          <p:cNvPr id="25" name="Text 17"/>
          <p:cNvSpPr txBox="1"/>
          <p:nvPr/>
        </p:nvSpPr>
        <p:spPr>
          <a:xfrm>
            <a:off x="1666951" y="4238244"/>
            <a:ext cx="2286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준비한 아이디어 발표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1000354" y="5238598"/>
            <a:ext cx="476402" cy="47640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6" descr="gen-dedup-07521c9dfc6a9861e0962bb707a394eb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1095451" y="5362956"/>
            <a:ext cx="286207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666951" y="5181905"/>
            <a:ext cx="2286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팀당 1분 피드백</a:t>
            </a:r>
            <a:endParaRPr lang="en-US" sz="1900" dirty="0"/>
          </a:p>
        </p:txBody>
      </p:sp>
      <p:sp>
        <p:nvSpPr>
          <p:cNvPr id="29" name="Text 20"/>
          <p:cNvSpPr txBox="1"/>
          <p:nvPr/>
        </p:nvSpPr>
        <p:spPr>
          <a:xfrm>
            <a:off x="1666951" y="5572354"/>
            <a:ext cx="2286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상호 의견 및 조언 교환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5524805" y="2381098"/>
            <a:ext cx="58100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가이드라인 3가지</a:t>
            </a:r>
            <a:endParaRPr lang="en-US" sz="2100" dirty="0"/>
          </a:p>
        </p:txBody>
      </p:sp>
      <p:pic>
        <p:nvPicPr>
          <p:cNvPr id="31" name="Image 7" descr="gen-dedup-f93bd2e9634d507e2109859a1485571a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143500" y="2452421"/>
            <a:ext cx="267005" cy="267005"/>
          </a:xfrm>
          <a:prstGeom prst="rect">
            <a:avLst/>
          </a:prstGeom>
        </p:spPr>
      </p:pic>
      <p:pic>
        <p:nvPicPr>
          <p:cNvPr id="32" name="Image 8" descr="gen-dedup-7029e9a48325f63d083b319b927d8af4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467198" y="3323844"/>
            <a:ext cx="304495" cy="30449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048756" y="3010205"/>
            <a:ext cx="50959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01. 핵심만 명확하게 전달</a:t>
            </a:r>
            <a:endParaRPr lang="en-US" sz="2100" dirty="0"/>
          </a:p>
        </p:txBody>
      </p:sp>
      <p:sp>
        <p:nvSpPr>
          <p:cNvPr id="34" name="Text 23"/>
          <p:cNvSpPr txBox="1"/>
          <p:nvPr/>
        </p:nvSpPr>
        <p:spPr>
          <a:xfrm>
            <a:off x="6048756" y="3448202"/>
            <a:ext cx="50959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서론은 생략하고 </a:t>
            </a:r>
            <a:r>
              <a:rPr lang="en-US" sz="15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문제점과 해결책 위주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간결하게 발표합니다.</a:t>
            </a:r>
            <a:endParaRPr lang="en-US" sz="1500" dirty="0"/>
          </a:p>
        </p:txBody>
      </p:sp>
      <p:pic>
        <p:nvPicPr>
          <p:cNvPr id="35" name="Image 9" descr="gen-dedup-80f9cefc07acff9095991b5fbd574e10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467198" y="4515307"/>
            <a:ext cx="304495" cy="304495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6048756" y="4200754"/>
            <a:ext cx="50959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02. 효과는 숫자로 표현</a:t>
            </a:r>
            <a:endParaRPr lang="en-US" sz="2100" dirty="0"/>
          </a:p>
        </p:txBody>
      </p:sp>
      <p:sp>
        <p:nvSpPr>
          <p:cNvPr id="37" name="Text 25"/>
          <p:cNvSpPr txBox="1"/>
          <p:nvPr/>
        </p:nvSpPr>
        <p:spPr>
          <a:xfrm>
            <a:off x="6048756" y="4638751"/>
            <a:ext cx="50959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기대되는 개선 효과를 </a:t>
            </a:r>
            <a:r>
              <a:rPr lang="en-US" sz="15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단축되는 시간이나 비율 등의 수치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구체화합니다.</a:t>
            </a:r>
            <a:endParaRPr lang="en-US" sz="1500" dirty="0"/>
          </a:p>
        </p:txBody>
      </p:sp>
      <p:pic>
        <p:nvPicPr>
          <p:cNvPr id="38" name="Image 10" descr="gen-dedup-f77b8a2926e6af249009bdb1ebeff80c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467198" y="5705856"/>
            <a:ext cx="304495" cy="304495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6048756" y="5391302"/>
            <a:ext cx="50959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03. 즉시 실행 가능성 강조</a:t>
            </a:r>
            <a:endParaRPr lang="en-US" sz="2100" dirty="0"/>
          </a:p>
        </p:txBody>
      </p:sp>
      <p:sp>
        <p:nvSpPr>
          <p:cNvPr id="40" name="Text 27"/>
          <p:cNvSpPr txBox="1"/>
          <p:nvPr/>
        </p:nvSpPr>
        <p:spPr>
          <a:xfrm>
            <a:off x="6048756" y="5829300"/>
            <a:ext cx="50959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거창한 시스템 도입이 아닌 </a:t>
            </a:r>
            <a:r>
              <a:rPr lang="en-US" sz="1500" b="1" dirty="0">
                <a:solidFill>
                  <a:srgbClr val="EC48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당장 내일부터 업무에 적용할 수 있는 방식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어필합니다.</a:t>
            </a:r>
            <a:endParaRPr lang="en-US" sz="15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6402" y="2095805"/>
            <a:ext cx="3562502" cy="2085746"/>
          </a:xfrm>
          <a:prstGeom prst="roundRect">
            <a:avLst>
              <a:gd name="adj" fmla="val 6406"/>
            </a:avLst>
          </a:prstGeom>
          <a:solidFill>
            <a:srgbClr val="FFFFFF"/>
          </a:solidFill>
          <a:ln w="25400">
            <a:solidFill>
              <a:srgbClr val="E0E7FF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334256" y="2095805"/>
            <a:ext cx="3562502" cy="2085746"/>
          </a:xfrm>
          <a:prstGeom prst="roundRect">
            <a:avLst>
              <a:gd name="adj" fmla="val 6406"/>
            </a:avLst>
          </a:prstGeom>
          <a:solidFill>
            <a:srgbClr val="FFFFFF"/>
          </a:solidFill>
          <a:ln w="25400">
            <a:solidFill>
              <a:srgbClr val="E0E7FF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191195" y="2095805"/>
            <a:ext cx="3562502" cy="2085746"/>
          </a:xfrm>
          <a:prstGeom prst="roundRect">
            <a:avLst>
              <a:gd name="adj" fmla="val 6406"/>
            </a:avLst>
          </a:prstGeom>
          <a:solidFill>
            <a:srgbClr val="FFFFFF"/>
          </a:solidFill>
          <a:ln w="25400">
            <a:solidFill>
              <a:srgbClr val="E0E7FF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2381098" y="4381805"/>
            <a:ext cx="3562502" cy="2085746"/>
          </a:xfrm>
          <a:prstGeom prst="roundRect">
            <a:avLst>
              <a:gd name="adj" fmla="val 6406"/>
            </a:avLst>
          </a:prstGeom>
          <a:solidFill>
            <a:srgbClr val="FFFFFF"/>
          </a:solidFill>
          <a:ln w="25400">
            <a:solidFill>
              <a:srgbClr val="E0E7FF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286500" y="4381805"/>
            <a:ext cx="3562502" cy="2085746"/>
          </a:xfrm>
          <a:prstGeom prst="roundRect">
            <a:avLst>
              <a:gd name="adj" fmla="val 6406"/>
            </a:avLst>
          </a:prstGeom>
          <a:solidFill>
            <a:srgbClr val="FFFFFF"/>
          </a:solidFill>
          <a:ln w="25400">
            <a:solidFill>
              <a:srgbClr val="E0E7FF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0de17bad8633a2d1ace3dc7a8ec652eb.png"/>
          <p:cNvPicPr>
            <a:picLocks noChangeAspect="1"/>
          </p:cNvPicPr>
          <p:nvPr/>
        </p:nvPicPr>
        <p:blipFill>
          <a:blip r:embed="rId3"/>
          <a:srcRect l="-1064" r="-1064"/>
          <a:stretch/>
        </p:blipFill>
        <p:spPr>
          <a:xfrm>
            <a:off x="705002" y="495605"/>
            <a:ext cx="219456" cy="1719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6402" y="895198"/>
            <a:ext cx="11239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조별 </a:t>
            </a:r>
            <a:r>
              <a:rPr lang="en-US" sz="3600" b="1" kern="0" spc="-72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기준</a:t>
            </a:r>
            <a:endParaRPr lang="en-US" sz="3600" dirty="0"/>
          </a:p>
        </p:txBody>
      </p:sp>
      <p:pic>
        <p:nvPicPr>
          <p:cNvPr id="11" name="Image 2" descr="gen-dedup-3de694383082609ef25a900b36b95599.png"/>
          <p:cNvPicPr>
            <a:picLocks noChangeAspect="1"/>
          </p:cNvPicPr>
          <p:nvPr/>
        </p:nvPicPr>
        <p:blipFill>
          <a:blip r:embed="rId4"/>
          <a:srcRect l="-185" r="-185"/>
          <a:stretch/>
        </p:blipFill>
        <p:spPr>
          <a:xfrm>
            <a:off x="476402" y="381305"/>
            <a:ext cx="1438351" cy="40050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0354" y="381305"/>
            <a:ext cx="9144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조별 활동 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76402" y="1476756"/>
            <a:ext cx="11239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효과적인 피드백을 위한 5가지 핵심 질문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761695" y="2381098"/>
            <a:ext cx="476402" cy="47640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gen-dedup-91b8c4f4fa341683b647715c7dd84a5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7649" y="2467051"/>
            <a:ext cx="304495" cy="3044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61695" y="2952598"/>
            <a:ext cx="2953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실현 가능한가?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3381451"/>
            <a:ext cx="29535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조직의 자원과 환경에서 실행할 수 있는 아이디어인가?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619549" y="2381098"/>
            <a:ext cx="476402" cy="476402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gen-dedup-dfbaed8c93971d49d7e2877dbe17b56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5502" y="2467051"/>
            <a:ext cx="304495" cy="3044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619549" y="2952598"/>
            <a:ext cx="2953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효과가 명확한가?</a:t>
            </a:r>
            <a:endParaRPr lang="en-US" sz="1900" dirty="0"/>
          </a:p>
        </p:txBody>
      </p:sp>
      <p:sp>
        <p:nvSpPr>
          <p:cNvPr id="21" name="Text 14"/>
          <p:cNvSpPr txBox="1"/>
          <p:nvPr/>
        </p:nvSpPr>
        <p:spPr>
          <a:xfrm>
            <a:off x="4619549" y="3381451"/>
            <a:ext cx="29535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단축, 오류 감소 등 구체적인 기대 효과가 제시되었는가?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8477402" y="2381098"/>
            <a:ext cx="476402" cy="476402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gen-dedup-0f3a993ccc43c7beefcf5b8df14279ae.png"/>
          <p:cNvPicPr>
            <a:picLocks noChangeAspect="1"/>
          </p:cNvPicPr>
          <p:nvPr/>
        </p:nvPicPr>
        <p:blipFill>
          <a:blip r:embed="rId7"/>
          <a:srcRect l="-107" r="-107"/>
          <a:stretch/>
        </p:blipFill>
        <p:spPr>
          <a:xfrm>
            <a:off x="8581644" y="2467051"/>
            <a:ext cx="267005" cy="30449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477402" y="2952598"/>
            <a:ext cx="2953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적용 가능한가?</a:t>
            </a:r>
            <a:endParaRPr lang="en-US" sz="1900" dirty="0"/>
          </a:p>
        </p:txBody>
      </p:sp>
      <p:sp>
        <p:nvSpPr>
          <p:cNvPr id="25" name="Text 17"/>
          <p:cNvSpPr txBox="1"/>
          <p:nvPr/>
        </p:nvSpPr>
        <p:spPr>
          <a:xfrm>
            <a:off x="8477402" y="3381451"/>
            <a:ext cx="29535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아이디어를 다른 팀이나 유사 업무에도 확산할 수 있는가?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2667305" y="4667098"/>
            <a:ext cx="476402" cy="47640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6" descr="gen-dedup-8e52cd099a34e44d87babf6113f00d53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752344" y="4753051"/>
            <a:ext cx="304495" cy="30449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2667305" y="5238598"/>
            <a:ext cx="2953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리스크는 없는가?</a:t>
            </a:r>
            <a:endParaRPr lang="en-US" sz="1900" dirty="0"/>
          </a:p>
        </p:txBody>
      </p:sp>
      <p:sp>
        <p:nvSpPr>
          <p:cNvPr id="29" name="Text 20"/>
          <p:cNvSpPr txBox="1"/>
          <p:nvPr/>
        </p:nvSpPr>
        <p:spPr>
          <a:xfrm>
            <a:off x="2667305" y="5667451"/>
            <a:ext cx="29535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문제나 컴플라이언스 위반 등의 잠재적 위험은 없는가?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6572707" y="4667098"/>
            <a:ext cx="476402" cy="476402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7" descr="gen-dedup-1f86991258e12173a0d33175ea9231c2.png"/>
          <p:cNvPicPr>
            <a:picLocks noChangeAspect="1"/>
          </p:cNvPicPr>
          <p:nvPr/>
        </p:nvPicPr>
        <p:blipFill>
          <a:blip r:embed="rId9"/>
          <a:srcRect l="-107" r="-107"/>
          <a:stretch/>
        </p:blipFill>
        <p:spPr>
          <a:xfrm>
            <a:off x="6676949" y="4753051"/>
            <a:ext cx="267005" cy="30449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572707" y="5238598"/>
            <a:ext cx="2953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언제부터인가?</a:t>
            </a:r>
            <a:endParaRPr lang="en-US" sz="1900" dirty="0"/>
          </a:p>
        </p:txBody>
      </p:sp>
      <p:sp>
        <p:nvSpPr>
          <p:cNvPr id="33" name="Text 23"/>
          <p:cNvSpPr txBox="1"/>
          <p:nvPr/>
        </p:nvSpPr>
        <p:spPr>
          <a:xfrm>
            <a:off x="6572707" y="5667451"/>
            <a:ext cx="29535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당장 내일부터라도 테스트해 볼 수 있는 첫 번째 액션 플랜은?</a:t>
            </a:r>
            <a:endParaRPr lang="en-US" sz="14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ba8b84cc695490ed31573f570667758d.png"/>
          <p:cNvPicPr>
            <a:picLocks noChangeAspect="1"/>
          </p:cNvPicPr>
          <p:nvPr/>
        </p:nvPicPr>
        <p:blipFill>
          <a:blip r:embed="rId3"/>
          <a:srcRect l="-253" r="-253"/>
          <a:stretch/>
        </p:blipFill>
        <p:spPr>
          <a:xfrm>
            <a:off x="476402" y="381305"/>
            <a:ext cx="866851" cy="3044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9302" y="381305"/>
            <a:ext cx="5239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 </a:t>
            </a:r>
            <a:endParaRPr lang="en-US" sz="1000" dirty="0"/>
          </a:p>
        </p:txBody>
      </p:sp>
      <p:pic>
        <p:nvPicPr>
          <p:cNvPr id="5" name="Image 2" descr="gen-dedup-c5c3191d4e91dc4d7119f0b62113a865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629107" y="473659"/>
            <a:ext cx="114300" cy="133502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76402" y="800100"/>
            <a:ext cx="76206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일하는 방식의 </a:t>
            </a:r>
            <a:r>
              <a:rPr lang="en-US" sz="3300" b="1" kern="0" spc="-66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</a:t>
            </a:r>
            <a:endParaRPr lang="en-US" sz="3300" dirty="0"/>
          </a:p>
        </p:txBody>
      </p:sp>
      <p:sp>
        <p:nvSpPr>
          <p:cNvPr id="7" name="Text 2"/>
          <p:cNvSpPr txBox="1"/>
          <p:nvPr/>
        </p:nvSpPr>
        <p:spPr>
          <a:xfrm>
            <a:off x="476402" y="1485900"/>
            <a:ext cx="7620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개선이 쌓이면 조직 혁신으로 연결됩니다</a:t>
            </a:r>
            <a:endParaRPr lang="en-US" sz="1500" dirty="0"/>
          </a:p>
        </p:txBody>
      </p:sp>
      <p:sp>
        <p:nvSpPr>
          <p:cNvPr id="8" name="Shape 3"/>
          <p:cNvSpPr/>
          <p:nvPr/>
        </p:nvSpPr>
        <p:spPr>
          <a:xfrm>
            <a:off x="476402" y="1838858"/>
            <a:ext cx="11259007" cy="1609344"/>
          </a:xfrm>
          <a:prstGeom prst="roundRect">
            <a:avLst>
              <a:gd name="adj" fmla="val 695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3" descr="gen-dedup-4835d2844359acd7dd4581932bdf9a1e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5962802" y="2000707"/>
            <a:ext cx="267005" cy="30449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61695" y="2467051"/>
            <a:ext cx="106683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75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"작은 개선이 </a:t>
            </a:r>
            <a:r>
              <a:rPr lang="en-US" sz="3600" b="1" kern="0" spc="-75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혁신</a:t>
            </a:r>
            <a:r>
              <a:rPr lang="en-US" sz="3600" b="1" kern="0" spc="-75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연결됩니다" </a:t>
            </a:r>
            <a:endParaRPr lang="en-US" sz="3600" dirty="0"/>
          </a:p>
        </p:txBody>
      </p:sp>
      <p:sp>
        <p:nvSpPr>
          <p:cNvPr id="11" name="Shape 5"/>
          <p:cNvSpPr/>
          <p:nvPr/>
        </p:nvSpPr>
        <p:spPr>
          <a:xfrm>
            <a:off x="476402" y="3666744"/>
            <a:ext cx="11259007" cy="2971800"/>
          </a:xfrm>
          <a:prstGeom prst="roundRect">
            <a:avLst>
              <a:gd name="adj" fmla="val 23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6"/>
          <p:cNvSpPr txBox="1"/>
          <p:nvPr/>
        </p:nvSpPr>
        <p:spPr>
          <a:xfrm>
            <a:off x="1113739" y="3905402"/>
            <a:ext cx="103162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3가지 핵심 실천 사항 </a:t>
            </a:r>
            <a:endParaRPr lang="en-US" sz="2100" dirty="0"/>
          </a:p>
        </p:txBody>
      </p:sp>
      <p:pic>
        <p:nvPicPr>
          <p:cNvPr id="13" name="Image 4" descr="gen-dedup-b12f22a1583c3c35371fa5d2079680aa.png"/>
          <p:cNvPicPr>
            <a:picLocks noChangeAspect="1"/>
          </p:cNvPicPr>
          <p:nvPr/>
        </p:nvPicPr>
        <p:blipFill>
          <a:blip r:embed="rId6"/>
          <a:srcRect l="-881" r="-881"/>
          <a:stretch/>
        </p:blipFill>
        <p:spPr>
          <a:xfrm>
            <a:off x="761695" y="3962095"/>
            <a:ext cx="237744" cy="267005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61695" y="4476902"/>
            <a:ext cx="3409798" cy="2210105"/>
          </a:xfrm>
          <a:prstGeom prst="roundRect">
            <a:avLst>
              <a:gd name="adj" fmla="val 428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8"/>
          <p:cNvSpPr/>
          <p:nvPr/>
        </p:nvSpPr>
        <p:spPr>
          <a:xfrm>
            <a:off x="761695" y="4476902"/>
            <a:ext cx="3409798" cy="38405"/>
          </a:xfrm>
          <a:prstGeom prst="roundRect">
            <a:avLst>
              <a:gd name="adj" fmla="val 246304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990295" y="4743907"/>
            <a:ext cx="381305" cy="381305"/>
          </a:xfrm>
          <a:prstGeom prst="ellipse">
            <a:avLst/>
          </a:prstGeom>
          <a:solidFill>
            <a:srgbClr val="007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/>
          <p:cNvSpPr/>
          <p:nvPr/>
        </p:nvSpPr>
        <p:spPr>
          <a:xfrm>
            <a:off x="990295" y="4743907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990295" y="5277002"/>
            <a:ext cx="2953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 과제 선정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990295" y="5695798"/>
            <a:ext cx="29535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배운 내용 중 가장 시급한 개선 과제 1개를 선택합니다.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394606" y="4476902"/>
            <a:ext cx="3409798" cy="2210105"/>
          </a:xfrm>
          <a:prstGeom prst="roundRect">
            <a:avLst>
              <a:gd name="adj" fmla="val 428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4394606" y="4476902"/>
            <a:ext cx="3409798" cy="38405"/>
          </a:xfrm>
          <a:prstGeom prst="roundRect">
            <a:avLst>
              <a:gd name="adj" fmla="val 246304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4623206" y="4743907"/>
            <a:ext cx="381305" cy="38130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/>
          <p:nvPr/>
        </p:nvSpPr>
        <p:spPr>
          <a:xfrm>
            <a:off x="4623206" y="4743907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4623206" y="5277002"/>
            <a:ext cx="2953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 내 시작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4623206" y="5695798"/>
            <a:ext cx="29535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미루지 않고 이번 주 안에 즉시 개선 파일럿을 시작합니다.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8026603" y="4476902"/>
            <a:ext cx="3409798" cy="2210105"/>
          </a:xfrm>
          <a:prstGeom prst="roundRect">
            <a:avLst>
              <a:gd name="adj" fmla="val 428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8026603" y="4476902"/>
            <a:ext cx="3409798" cy="38405"/>
          </a:xfrm>
          <a:prstGeom prst="roundRect">
            <a:avLst>
              <a:gd name="adj" fmla="val 246304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1"/>
          <p:cNvSpPr/>
          <p:nvPr/>
        </p:nvSpPr>
        <p:spPr>
          <a:xfrm>
            <a:off x="8255203" y="4743907"/>
            <a:ext cx="381305" cy="381305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/>
          <p:nvPr/>
        </p:nvSpPr>
        <p:spPr>
          <a:xfrm>
            <a:off x="8255203" y="4743907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255203" y="5277002"/>
            <a:ext cx="2953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팀과 결과 공유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8255203" y="5695798"/>
            <a:ext cx="29535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성공 경험이라도 반드시 팀원들과 결과를 공유합니다.</a:t>
            </a:r>
            <a:endParaRPr lang="en-US" sz="13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gen-dedup-8bc233f33444bb19d3f9793e9d7132e9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571500" y="2095805"/>
            <a:ext cx="5352898" cy="4401007"/>
          </a:xfrm>
          <a:prstGeom prst="rect">
            <a:avLst/>
          </a:prstGeom>
        </p:spPr>
      </p:pic>
      <p:pic>
        <p:nvPicPr>
          <p:cNvPr id="4" name="Image 2" descr="gen-dedup-8bc233f33444bb19d3f9793e9d7132e9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6286500" y="2095805"/>
            <a:ext cx="5352898" cy="4401007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571500" y="1057046"/>
            <a:ext cx="1152875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지속적인 실천을 위한 </a:t>
            </a:r>
            <a:r>
              <a:rPr lang="en-US" sz="3600" b="1" kern="0" spc="-72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지원 및 기대 KPI</a:t>
            </a:r>
            <a:endParaRPr lang="en-US" sz="3600" dirty="0"/>
          </a:p>
        </p:txBody>
      </p:sp>
      <p:sp>
        <p:nvSpPr>
          <p:cNvPr id="7" name="Text 1"/>
          <p:cNvSpPr txBox="1"/>
          <p:nvPr/>
        </p:nvSpPr>
        <p:spPr>
          <a:xfrm>
            <a:off x="571500" y="1741018"/>
            <a:ext cx="11049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전체의 일하는 방식 변화를 위해 갖추면 좋은 지원 체계와 목표 KPI 예시입니다.</a:t>
            </a:r>
            <a:endParaRPr lang="en-US" sz="1900" dirty="0"/>
          </a:p>
        </p:txBody>
      </p:sp>
      <p:pic>
        <p:nvPicPr>
          <p:cNvPr id="8" name="Image 4" descr="gen-dedup-02d5f243cbe36efb29acc3c59d92c2f5.png"/>
          <p:cNvPicPr>
            <a:picLocks noChangeAspect="1"/>
          </p:cNvPicPr>
          <p:nvPr/>
        </p:nvPicPr>
        <p:blipFill>
          <a:blip r:embed="rId4"/>
          <a:srcRect l="-72" r="-72"/>
          <a:stretch/>
        </p:blipFill>
        <p:spPr>
          <a:xfrm>
            <a:off x="571500" y="476402"/>
            <a:ext cx="2115007" cy="428854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067105" y="476402"/>
            <a:ext cx="16194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후 지원 사항 </a:t>
            </a:r>
            <a:endParaRPr lang="en-US" sz="1500" dirty="0"/>
          </a:p>
        </p:txBody>
      </p:sp>
      <p:sp>
        <p:nvSpPr>
          <p:cNvPr id="10" name="Shape 3"/>
          <p:cNvSpPr/>
          <p:nvPr/>
        </p:nvSpPr>
        <p:spPr>
          <a:xfrm>
            <a:off x="952805" y="3105302"/>
            <a:ext cx="4572000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4"/>
          <p:cNvSpPr/>
          <p:nvPr/>
        </p:nvSpPr>
        <p:spPr>
          <a:xfrm>
            <a:off x="952805" y="2381098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007B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5" descr="gen-dedup-e59f25cf581c7787d179925f0af00d0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2474" y="2514600"/>
            <a:ext cx="333756" cy="2670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676095" y="2457907"/>
            <a:ext cx="30678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후 지원 프로그램</a:t>
            </a:r>
            <a:endParaRPr lang="en-US" sz="2100" dirty="0"/>
          </a:p>
        </p:txBody>
      </p:sp>
      <p:sp>
        <p:nvSpPr>
          <p:cNvPr id="14" name="Text 6"/>
          <p:cNvSpPr txBox="1"/>
          <p:nvPr/>
        </p:nvSpPr>
        <p:spPr>
          <a:xfrm>
            <a:off x="1295705" y="3457346"/>
            <a:ext cx="42291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01. AI 도구 활용 가이드 </a:t>
            </a:r>
            <a:endParaRPr lang="en-US" sz="1800" dirty="0"/>
          </a:p>
        </p:txBody>
      </p:sp>
      <p:pic>
        <p:nvPicPr>
          <p:cNvPr id="15" name="Image 6" descr="gen-dedup-d248fcbd511f8f34672929b030f047c8.png"/>
          <p:cNvPicPr>
            <a:picLocks noChangeAspect="1"/>
          </p:cNvPicPr>
          <p:nvPr/>
        </p:nvPicPr>
        <p:blipFill>
          <a:blip r:embed="rId6"/>
          <a:srcRect t="-6250" b="-6250"/>
          <a:stretch/>
        </p:blipFill>
        <p:spPr>
          <a:xfrm>
            <a:off x="952805" y="3510382"/>
            <a:ext cx="228600" cy="22860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295705" y="3866998"/>
            <a:ext cx="46488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직무별 프롬프트 예제 및 도구별 매뉴얼 상시 제공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1295705" y="4438498"/>
            <a:ext cx="42291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02. 월 1회 개선 사례 공유회 </a:t>
            </a:r>
            <a:endParaRPr lang="en-US" sz="1800" dirty="0"/>
          </a:p>
        </p:txBody>
      </p:sp>
      <p:pic>
        <p:nvPicPr>
          <p:cNvPr id="18" name="Image 7" descr="gen-dedup-02eb7c021cdc29f6fb22079315365bfe.png"/>
          <p:cNvPicPr>
            <a:picLocks noChangeAspect="1"/>
          </p:cNvPicPr>
          <p:nvPr/>
        </p:nvPicPr>
        <p:blipFill>
          <a:blip r:embed="rId7"/>
          <a:srcRect t="-12500" b="-12500"/>
          <a:stretch/>
        </p:blipFill>
        <p:spPr>
          <a:xfrm>
            <a:off x="952805" y="4490618"/>
            <a:ext cx="228600" cy="22860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295705" y="4848149"/>
            <a:ext cx="462595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부서별 우수 사례 발표 및 시상 (노션/위키 공유)</a:t>
            </a:r>
            <a:endParaRPr lang="en-US" sz="1500" dirty="0"/>
          </a:p>
        </p:txBody>
      </p:sp>
      <p:sp>
        <p:nvSpPr>
          <p:cNvPr id="20" name="Text 10"/>
          <p:cNvSpPr txBox="1"/>
          <p:nvPr/>
        </p:nvSpPr>
        <p:spPr>
          <a:xfrm>
            <a:off x="1295705" y="5419649"/>
            <a:ext cx="42291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03. 상시 질의응답 채널 </a:t>
            </a:r>
            <a:endParaRPr lang="en-US" sz="1800" dirty="0"/>
          </a:p>
        </p:txBody>
      </p:sp>
      <p:pic>
        <p:nvPicPr>
          <p:cNvPr id="21" name="Image 8" descr="gen-dedup-62c2b9f84bbf07943a1928a2ae0a476b.png"/>
          <p:cNvPicPr>
            <a:picLocks noChangeAspect="1"/>
          </p:cNvPicPr>
          <p:nvPr/>
        </p:nvPicPr>
        <p:blipFill>
          <a:blip r:embed="rId8"/>
          <a:srcRect t="-12500" b="-12500"/>
          <a:stretch/>
        </p:blipFill>
        <p:spPr>
          <a:xfrm>
            <a:off x="952805" y="5471770"/>
            <a:ext cx="228600" cy="22860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1295705" y="5829300"/>
            <a:ext cx="455737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슬랙/팀즈 전용 채널을 통한 실무 적용 관련 Q&amp;A</a:t>
            </a:r>
            <a:endParaRPr lang="en-US" sz="1500" dirty="0"/>
          </a:p>
        </p:txBody>
      </p:sp>
      <p:sp>
        <p:nvSpPr>
          <p:cNvPr id="23" name="Shape 12"/>
          <p:cNvSpPr/>
          <p:nvPr/>
        </p:nvSpPr>
        <p:spPr>
          <a:xfrm>
            <a:off x="6667805" y="3066898"/>
            <a:ext cx="4572000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3"/>
          <p:cNvSpPr/>
          <p:nvPr/>
        </p:nvSpPr>
        <p:spPr>
          <a:xfrm>
            <a:off x="6667805" y="2381098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9" descr="gen-dedup-12e18c87dd9993e73a0f06f2ba2f0009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801307" y="2514600"/>
            <a:ext cx="267005" cy="267005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391095" y="2457907"/>
            <a:ext cx="219913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KPI (예시)</a:t>
            </a:r>
            <a:endParaRPr lang="en-US" sz="2100" dirty="0"/>
          </a:p>
        </p:txBody>
      </p:sp>
      <p:sp>
        <p:nvSpPr>
          <p:cNvPr id="27" name="Shape 15"/>
          <p:cNvSpPr/>
          <p:nvPr/>
        </p:nvSpPr>
        <p:spPr>
          <a:xfrm>
            <a:off x="6667805" y="3314700"/>
            <a:ext cx="1429207" cy="1067105"/>
          </a:xfrm>
          <a:prstGeom prst="roundRect">
            <a:avLst>
              <a:gd name="adj" fmla="val 1836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6"/>
          <p:cNvSpPr txBox="1"/>
          <p:nvPr/>
        </p:nvSpPr>
        <p:spPr>
          <a:xfrm>
            <a:off x="6829654" y="3476549"/>
            <a:ext cx="1105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시간</a:t>
            </a:r>
            <a:endParaRPr lang="en-US" sz="1200" dirty="0"/>
          </a:p>
        </p:txBody>
      </p:sp>
      <p:sp>
        <p:nvSpPr>
          <p:cNvPr id="29" name="Text 17"/>
          <p:cNvSpPr txBox="1"/>
          <p:nvPr/>
        </p:nvSpPr>
        <p:spPr>
          <a:xfrm>
            <a:off x="6829654" y="3781044"/>
            <a:ext cx="11055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-50%</a:t>
            </a:r>
            <a:endParaRPr lang="en-US" sz="2400" dirty="0"/>
          </a:p>
        </p:txBody>
      </p:sp>
      <p:sp>
        <p:nvSpPr>
          <p:cNvPr id="30" name="Shape 18"/>
          <p:cNvSpPr/>
          <p:nvPr/>
        </p:nvSpPr>
        <p:spPr>
          <a:xfrm>
            <a:off x="8242402" y="3314700"/>
            <a:ext cx="1429207" cy="1067105"/>
          </a:xfrm>
          <a:prstGeom prst="roundRect">
            <a:avLst>
              <a:gd name="adj" fmla="val 1836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19"/>
          <p:cNvSpPr txBox="1"/>
          <p:nvPr/>
        </p:nvSpPr>
        <p:spPr>
          <a:xfrm>
            <a:off x="8404250" y="3476549"/>
            <a:ext cx="1105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오류율</a:t>
            </a:r>
            <a:endParaRPr lang="en-US" sz="1200" dirty="0"/>
          </a:p>
        </p:txBody>
      </p:sp>
      <p:sp>
        <p:nvSpPr>
          <p:cNvPr id="32" name="Text 20"/>
          <p:cNvSpPr txBox="1"/>
          <p:nvPr/>
        </p:nvSpPr>
        <p:spPr>
          <a:xfrm>
            <a:off x="8404250" y="3781044"/>
            <a:ext cx="11055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-30%</a:t>
            </a:r>
            <a:endParaRPr lang="en-US" sz="2400" dirty="0"/>
          </a:p>
        </p:txBody>
      </p:sp>
      <p:sp>
        <p:nvSpPr>
          <p:cNvPr id="33" name="Shape 21"/>
          <p:cNvSpPr/>
          <p:nvPr/>
        </p:nvSpPr>
        <p:spPr>
          <a:xfrm>
            <a:off x="9816998" y="3314700"/>
            <a:ext cx="1429207" cy="1067105"/>
          </a:xfrm>
          <a:prstGeom prst="roundRect">
            <a:avLst>
              <a:gd name="adj" fmla="val 1836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2"/>
          <p:cNvSpPr txBox="1"/>
          <p:nvPr/>
        </p:nvSpPr>
        <p:spPr>
          <a:xfrm>
            <a:off x="9978847" y="3476549"/>
            <a:ext cx="1105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만족도</a:t>
            </a:r>
            <a:endParaRPr lang="en-US" sz="1200" dirty="0"/>
          </a:p>
        </p:txBody>
      </p:sp>
      <p:sp>
        <p:nvSpPr>
          <p:cNvPr id="35" name="Text 23"/>
          <p:cNvSpPr txBox="1"/>
          <p:nvPr/>
        </p:nvSpPr>
        <p:spPr>
          <a:xfrm>
            <a:off x="9978847" y="3781044"/>
            <a:ext cx="11055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+20%</a:t>
            </a:r>
            <a:endParaRPr lang="en-US" sz="2400" dirty="0"/>
          </a:p>
        </p:txBody>
      </p:sp>
      <p:pic>
        <p:nvPicPr>
          <p:cNvPr id="5" name="Image 3" descr="gen-dedup-38664bdb1761b7f0cc731437616a30e7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00100" y="595274"/>
            <a:ext cx="190195" cy="190195"/>
          </a:xfrm>
          <a:prstGeom prst="rect">
            <a:avLst/>
          </a:prstGeom>
        </p:spPr>
      </p:pic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6402" y="381305"/>
            <a:ext cx="1285646" cy="342900"/>
          </a:xfrm>
          <a:prstGeom prst="roundRect">
            <a:avLst>
              <a:gd name="adj" fmla="val 266667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76402" y="1714500"/>
            <a:ext cx="5352898" cy="4781398"/>
          </a:xfrm>
          <a:prstGeom prst="roundRect">
            <a:avLst>
              <a:gd name="adj" fmla="val 121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4762195"/>
            <a:ext cx="4839005" cy="1524305"/>
          </a:xfrm>
          <a:prstGeom prst="roundRect">
            <a:avLst>
              <a:gd name="adj" fmla="val 899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4762195"/>
            <a:ext cx="38405" cy="1524305"/>
          </a:xfrm>
          <a:prstGeom prst="roundRect">
            <a:avLst>
              <a:gd name="adj" fmla="val 35714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1714500"/>
            <a:ext cx="5658307" cy="2257654"/>
          </a:xfrm>
          <a:prstGeom prst="roundRect">
            <a:avLst>
              <a:gd name="adj" fmla="val 546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6305" y="4095598"/>
            <a:ext cx="5658307" cy="2400300"/>
          </a:xfrm>
          <a:prstGeom prst="roundRect">
            <a:avLst>
              <a:gd name="adj" fmla="val 483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ee2d79b61c7c848ed4aa8c6edc8e2f3d.png"/>
          <p:cNvPicPr>
            <a:picLocks noChangeAspect="1"/>
          </p:cNvPicPr>
          <p:nvPr/>
        </p:nvPicPr>
        <p:blipFill>
          <a:blip r:embed="rId3"/>
          <a:srcRect l="-16666" r="-16666"/>
          <a:stretch/>
        </p:blipFill>
        <p:spPr>
          <a:xfrm>
            <a:off x="609905" y="476402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38505" y="428854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1-2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76402" y="857707"/>
            <a:ext cx="11239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작성 </a:t>
            </a:r>
            <a:r>
              <a:rPr lang="en-US" sz="3300" b="1" kern="0" spc="-66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프롬프트 및 가이드</a:t>
            </a:r>
            <a:endParaRPr lang="en-US" sz="3300" dirty="0"/>
          </a:p>
        </p:txBody>
      </p:sp>
      <p:pic>
        <p:nvPicPr>
          <p:cNvPr id="13" name="Image 2" descr="gen-dedup-61dfc536713c50fc90af00eed3a1ea19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780898" y="2066544"/>
            <a:ext cx="267005" cy="2670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90549" y="2018995"/>
            <a:ext cx="4286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프롬프트 예제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761695" y="2523744"/>
            <a:ext cx="4762195" cy="2095805"/>
          </a:xfrm>
          <a:prstGeom prst="roundRect">
            <a:avLst>
              <a:gd name="adj" fmla="val 317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942746" y="2704795"/>
            <a:ext cx="46789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"다음 회의 녹취록을 바탕으로 회의록을 작성해줘."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942746" y="3057754"/>
            <a:ext cx="44010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회의 목적과 핵심 안건을 먼저 요약해줘.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942746" y="3362249"/>
            <a:ext cx="44010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결정된 사항과 보류된 사항을 구분해서 정리해줘.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42746" y="3666744"/>
            <a:ext cx="44010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참석자별 향후 To-Do List(담당자, 기한)를 표 형식으로 만들어줘.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942746" y="4219956"/>
            <a:ext cx="44010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어조는 비즈니스 격식체로 작성해줘.</a:t>
            </a:r>
            <a:endParaRPr lang="en-US" sz="1300" dirty="0"/>
          </a:p>
        </p:txBody>
      </p:sp>
      <p:pic>
        <p:nvPicPr>
          <p:cNvPr id="21" name="Image 3" descr="gen-dedup-5181e9772bf1b9e78e75adf90e9b9034.png"/>
          <p:cNvPicPr>
            <a:picLocks noChangeAspect="1"/>
          </p:cNvPicPr>
          <p:nvPr/>
        </p:nvPicPr>
        <p:blipFill>
          <a:blip r:embed="rId5"/>
          <a:srcRect l="-16667" r="-16667"/>
          <a:stretch/>
        </p:blipFill>
        <p:spPr>
          <a:xfrm>
            <a:off x="990295" y="4990795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80744" y="4934102"/>
            <a:ext cx="39529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활용 팁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380744" y="5315407"/>
            <a:ext cx="395295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실행 후 결과가 너무 길다면 </a:t>
            </a:r>
            <a:r>
              <a:rPr lang="en-US" sz="13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"핵심만 3줄로 다시 요약해줘"</a:t>
            </a:r>
            <a:r>
              <a:rPr lang="en-US" sz="13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추가 입력하여 경영진 보고용으로 활용하세요.</a:t>
            </a:r>
            <a:endParaRPr lang="en-US" sz="1300" dirty="0"/>
          </a:p>
        </p:txBody>
      </p:sp>
      <p:pic>
        <p:nvPicPr>
          <p:cNvPr id="24" name="Image 4" descr="gen-dedup-0fe67e250a551f650ce5c38f8f529906.png"/>
          <p:cNvPicPr>
            <a:picLocks noChangeAspect="1"/>
          </p:cNvPicPr>
          <p:nvPr/>
        </p:nvPicPr>
        <p:blipFill>
          <a:blip r:embed="rId6"/>
          <a:srcRect t="-6250" b="-6250"/>
          <a:stretch/>
        </p:blipFill>
        <p:spPr>
          <a:xfrm>
            <a:off x="6400800" y="2066544"/>
            <a:ext cx="267005" cy="2670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810451" y="2018995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출력 형식 3가지</a:t>
            </a:r>
            <a:endParaRPr lang="en-US" sz="2100" dirty="0"/>
          </a:p>
        </p:txBody>
      </p:sp>
      <p:sp>
        <p:nvSpPr>
          <p:cNvPr id="26" name="Text 19"/>
          <p:cNvSpPr txBox="1"/>
          <p:nvPr/>
        </p:nvSpPr>
        <p:spPr>
          <a:xfrm>
            <a:off x="6476695" y="2523744"/>
            <a:ext cx="53592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간단형: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주요 결정사항과 To-Do 리스트만 1페이지 내외 요약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476695" y="2885846"/>
            <a:ext cx="54900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표준형: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논의 배경, 안건별 주요 발언, 결론을 균형 있게 정리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6476695" y="3247949"/>
            <a:ext cx="55769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상세형:</a:t>
            </a: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발언자별 내용을 상세히 포함하여 히스토리 추적용 구성</a:t>
            </a:r>
            <a:endParaRPr lang="en-US" sz="1400" dirty="0"/>
          </a:p>
        </p:txBody>
      </p:sp>
      <p:pic>
        <p:nvPicPr>
          <p:cNvPr id="29" name="Image 5" descr="gen-dedup-748697050b7888df1052391b3f5d198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00800" y="4448556"/>
            <a:ext cx="267005" cy="26700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810451" y="4401007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작성본 검토 체크리스트</a:t>
            </a:r>
            <a:endParaRPr lang="en-US" sz="2100" dirty="0"/>
          </a:p>
        </p:txBody>
      </p:sp>
      <p:sp>
        <p:nvSpPr>
          <p:cNvPr id="31" name="Text 23"/>
          <p:cNvSpPr txBox="1"/>
          <p:nvPr/>
        </p:nvSpPr>
        <p:spPr>
          <a:xfrm>
            <a:off x="6476695" y="4905756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</a:t>
            </a:r>
            <a:r>
              <a:rPr lang="en-US" sz="13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고유명사</a:t>
            </a: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숫자(예산, 날짜 등)의 정확성 확인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6476695" y="5210251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</a:t>
            </a:r>
            <a:r>
              <a:rPr lang="en-US" sz="13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논의</a:t>
            </a: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 결정된 사항이 누락되지 않았는지 점검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476695" y="5514746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</a:t>
            </a: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To-Do List의 담당자와 기한이 실제와 일치하는지 확인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6476695" y="5820156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</a:t>
            </a:r>
            <a:r>
              <a:rPr lang="en-US" sz="13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</a:t>
            </a: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유출 시 보안에 위배되는 민감한 기밀 정보 제외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6476695" y="6124651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 </a:t>
            </a:r>
            <a:r>
              <a:rPr lang="en-US" sz="1300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전체적인</a:t>
            </a: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문맥과 비즈니스 어조의 적절성 최종 확인</a:t>
            </a:r>
            <a:endParaRPr lang="en-US" sz="13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6402" y="1714500"/>
            <a:ext cx="11315700" cy="1524305"/>
          </a:xfrm>
          <a:prstGeom prst="roundRect">
            <a:avLst>
              <a:gd name="adj" fmla="val 8998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476402" y="1714500"/>
            <a:ext cx="75895" cy="1524305"/>
          </a:xfrm>
          <a:prstGeom prst="roundRect">
            <a:avLst>
              <a:gd name="adj" fmla="val 18072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76402" y="3381451"/>
            <a:ext cx="11315700" cy="1524305"/>
          </a:xfrm>
          <a:prstGeom prst="roundRect">
            <a:avLst>
              <a:gd name="adj" fmla="val 8998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76402" y="3381451"/>
            <a:ext cx="75895" cy="1524305"/>
          </a:xfrm>
          <a:prstGeom prst="roundRect">
            <a:avLst>
              <a:gd name="adj" fmla="val 180723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76402" y="5048402"/>
            <a:ext cx="11315700" cy="1524305"/>
          </a:xfrm>
          <a:prstGeom prst="roundRect">
            <a:avLst>
              <a:gd name="adj" fmla="val 8998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76402" y="5048402"/>
            <a:ext cx="75895" cy="1524305"/>
          </a:xfrm>
          <a:prstGeom prst="roundRect">
            <a:avLst>
              <a:gd name="adj" fmla="val 180723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8f9a27e704e94eee6120ab3a9dea64d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5002" y="500177"/>
            <a:ext cx="142646" cy="190195"/>
          </a:xfrm>
          <a:prstGeom prst="rect">
            <a:avLst/>
          </a:prstGeom>
        </p:spPr>
      </p:pic>
      <p:pic>
        <p:nvPicPr>
          <p:cNvPr id="10" name="Image 2" descr="gen-dedup-45c89a91dfe17924590ebaf5ceaa63b7.png"/>
          <p:cNvPicPr>
            <a:picLocks noChangeAspect="1"/>
          </p:cNvPicPr>
          <p:nvPr/>
        </p:nvPicPr>
        <p:blipFill>
          <a:blip r:embed="rId4"/>
          <a:srcRect l="-172" r="-172"/>
          <a:stretch/>
        </p:blipFill>
        <p:spPr>
          <a:xfrm>
            <a:off x="476402" y="381305"/>
            <a:ext cx="1429207" cy="4288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1949" y="381305"/>
            <a:ext cx="9436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2-2 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476402" y="914400"/>
            <a:ext cx="11239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작성 </a:t>
            </a:r>
            <a:r>
              <a:rPr lang="en-US" sz="3300" b="1" kern="0" spc="-66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프롬프트 예제</a:t>
            </a:r>
            <a:endParaRPr lang="en-US" sz="3300" dirty="0"/>
          </a:p>
        </p:txBody>
      </p:sp>
      <p:pic>
        <p:nvPicPr>
          <p:cNvPr id="13" name="Image 3" descr="gen-dedup-c2018fcbd35943fd94991a3228161f4c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8446" y="2018995"/>
            <a:ext cx="247802" cy="2478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8098" y="1981505"/>
            <a:ext cx="381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보고서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2599639" y="2005279"/>
            <a:ext cx="857707" cy="30449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 txBox="1"/>
          <p:nvPr/>
        </p:nvSpPr>
        <p:spPr>
          <a:xfrm>
            <a:off x="2599639" y="2005279"/>
            <a:ext cx="97757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분석/현황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2476195"/>
            <a:ext cx="10668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"지난 분기의</a:t>
            </a:r>
            <a:r>
              <a:rPr lang="en-US" sz="16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업무 현황을 분석하여 보고서를 작성해 줘.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16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</a:t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KPI와 성과 지표를 포함하고, 개선이 필요한 영역을 식별해 줘." 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2087425" y="2457907"/>
            <a:ext cx="895198" cy="342900"/>
          </a:xfrm>
          <a:prstGeom prst="roundRect">
            <a:avLst>
              <a:gd name="adj" fmla="val 5925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2198165" y="2467052"/>
            <a:ext cx="896112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[부서명]</a:t>
            </a:r>
            <a:endParaRPr lang="en-US" sz="1600" dirty="0"/>
          </a:p>
        </p:txBody>
      </p:sp>
      <p:pic>
        <p:nvPicPr>
          <p:cNvPr id="20" name="Image 4" descr="gen-dedup-a08141072bb20de6b40ba3cec148a97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8446" y="3685946"/>
            <a:ext cx="247802" cy="2478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38098" y="3648456"/>
            <a:ext cx="381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보고서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2599639" y="3672230"/>
            <a:ext cx="857707" cy="30449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 txBox="1"/>
          <p:nvPr/>
        </p:nvSpPr>
        <p:spPr>
          <a:xfrm>
            <a:off x="2599639" y="3672230"/>
            <a:ext cx="97757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분석/진단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72369" y="4142233"/>
            <a:ext cx="10668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           </a:t>
            </a:r>
            <a:r>
              <a:rPr lang="en-US" sz="16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</a:t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문제점을 분석하고, 원인과 해결책을 제시하는 보고서를 작성해 줘.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r>
              <a:rPr lang="en-US" sz="16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 분석을 포함해 줘." 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871423" y="4123944"/>
            <a:ext cx="1276502" cy="342900"/>
          </a:xfrm>
          <a:prstGeom prst="roundRect">
            <a:avLst>
              <a:gd name="adj" fmla="val 5925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9"/>
          <p:cNvSpPr txBox="1"/>
          <p:nvPr/>
        </p:nvSpPr>
        <p:spPr>
          <a:xfrm>
            <a:off x="871423" y="4123944"/>
            <a:ext cx="1401775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1600" dirty="0"/>
          </a:p>
        </p:txBody>
      </p:sp>
      <p:pic>
        <p:nvPicPr>
          <p:cNvPr id="27" name="Image 5" descr="gen-dedup-95d9611d04f421518e46d43e23685e34.png"/>
          <p:cNvPicPr>
            <a:picLocks noChangeAspect="1"/>
          </p:cNvPicPr>
          <p:nvPr/>
        </p:nvPicPr>
        <p:blipFill>
          <a:blip r:embed="rId7"/>
          <a:srcRect l="-1169" r="-1169"/>
          <a:stretch/>
        </p:blipFill>
        <p:spPr>
          <a:xfrm>
            <a:off x="857707" y="5352898"/>
            <a:ext cx="190195" cy="24780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238098" y="5315407"/>
            <a:ext cx="3810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2073859" y="5339182"/>
            <a:ext cx="857707" cy="304495"/>
          </a:xfrm>
          <a:prstGeom prst="roundRect">
            <a:avLst>
              <a:gd name="adj" fmla="val 11261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2073859" y="5339182"/>
            <a:ext cx="857707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제안/기획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761695" y="5810098"/>
            <a:ext cx="1163208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“               </a:t>
            </a:r>
            <a:r>
              <a:rPr lang="en-US" sz="16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달성하기 위한 새로운 프로세스/시스템을 제안하는 보고서를 작성해 줘. 비용-효과 분석을 포함해 줘." 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871423" y="5790895"/>
            <a:ext cx="705002" cy="342900"/>
          </a:xfrm>
          <a:prstGeom prst="roundRect">
            <a:avLst>
              <a:gd name="adj" fmla="val 5925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5"/>
          <p:cNvSpPr txBox="1"/>
          <p:nvPr/>
        </p:nvSpPr>
        <p:spPr>
          <a:xfrm>
            <a:off x="871423" y="5790895"/>
            <a:ext cx="705002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[목표]</a:t>
            </a:r>
            <a:endParaRPr lang="en-US" sz="16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6402" y="1714500"/>
            <a:ext cx="3524098" cy="2343607"/>
          </a:xfrm>
          <a:prstGeom prst="roundRect">
            <a:avLst>
              <a:gd name="adj" fmla="val 380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476402" y="1714500"/>
            <a:ext cx="3524098" cy="57607"/>
          </a:xfrm>
          <a:prstGeom prst="roundRect">
            <a:avLst>
              <a:gd name="adj" fmla="val 15485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334256" y="1714500"/>
            <a:ext cx="3524098" cy="2343607"/>
          </a:xfrm>
          <a:prstGeom prst="roundRect">
            <a:avLst>
              <a:gd name="adj" fmla="val 380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334256" y="1714500"/>
            <a:ext cx="3524098" cy="57607"/>
          </a:xfrm>
          <a:prstGeom prst="roundRect">
            <a:avLst>
              <a:gd name="adj" fmla="val 154859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191195" y="1714500"/>
            <a:ext cx="3524098" cy="2343607"/>
          </a:xfrm>
          <a:prstGeom prst="roundRect">
            <a:avLst>
              <a:gd name="adj" fmla="val 380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191195" y="1714500"/>
            <a:ext cx="3524098" cy="57607"/>
          </a:xfrm>
          <a:prstGeom prst="roundRect">
            <a:avLst>
              <a:gd name="adj" fmla="val 15485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381098" y="4190695"/>
            <a:ext cx="3524098" cy="2343607"/>
          </a:xfrm>
          <a:prstGeom prst="roundRect">
            <a:avLst>
              <a:gd name="adj" fmla="val 380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381098" y="4190695"/>
            <a:ext cx="3524098" cy="57607"/>
          </a:xfrm>
          <a:prstGeom prst="roundRect">
            <a:avLst>
              <a:gd name="adj" fmla="val 154859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4190695"/>
            <a:ext cx="3524098" cy="2343607"/>
          </a:xfrm>
          <a:prstGeom prst="roundRect">
            <a:avLst>
              <a:gd name="adj" fmla="val 380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190695"/>
            <a:ext cx="3524098" cy="57607"/>
          </a:xfrm>
          <a:prstGeom prst="roundRect">
            <a:avLst>
              <a:gd name="adj" fmla="val 154859"/>
            </a:avLst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gen-dedup-8f9a27e704e94eee6120ab3a9dea64d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5002" y="500177"/>
            <a:ext cx="142646" cy="190195"/>
          </a:xfrm>
          <a:prstGeom prst="rect">
            <a:avLst/>
          </a:prstGeom>
        </p:spPr>
      </p:pic>
      <p:pic>
        <p:nvPicPr>
          <p:cNvPr id="14" name="Image 2" descr="gen-dedup-45c89a91dfe17924590ebaf5ceaa63b7.png"/>
          <p:cNvPicPr>
            <a:picLocks noChangeAspect="1"/>
          </p:cNvPicPr>
          <p:nvPr/>
        </p:nvPicPr>
        <p:blipFill>
          <a:blip r:embed="rId4"/>
          <a:srcRect l="-172" r="-172"/>
          <a:stretch/>
        </p:blipFill>
        <p:spPr>
          <a:xfrm>
            <a:off x="476402" y="381305"/>
            <a:ext cx="1429207" cy="42885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1949" y="381305"/>
            <a:ext cx="9436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2-3 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76402" y="914400"/>
            <a:ext cx="11239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작성 </a:t>
            </a:r>
            <a:r>
              <a:rPr lang="en-US" sz="3300" b="1" kern="0" spc="-66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구조 템플릿</a:t>
            </a:r>
            <a:endParaRPr lang="en-US" sz="3300" dirty="0"/>
          </a:p>
        </p:txBody>
      </p:sp>
      <p:sp>
        <p:nvSpPr>
          <p:cNvPr id="17" name="Shape 12"/>
          <p:cNvSpPr/>
          <p:nvPr/>
        </p:nvSpPr>
        <p:spPr>
          <a:xfrm>
            <a:off x="666598" y="19046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gen-dedup-76a6e7cb4ae5b88eb1e12a2cedf0c7dc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3407" y="1981505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1923898"/>
            <a:ext cx="2667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요약 (Exec. Summary)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666598" y="2523744"/>
            <a:ext cx="3143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내용: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875995" y="2866644"/>
            <a:ext cx="32634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보고서의 목적과 핵심 결론을 3~5줄로 요약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875995" y="3156509"/>
            <a:ext cx="29343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경영진이 이 부분만 읽어도 의사결정이 가능하도록 작성</a:t>
            </a:r>
            <a:endParaRPr lang="en-US" sz="1200" dirty="0"/>
          </a:p>
        </p:txBody>
      </p:sp>
      <p:pic>
        <p:nvPicPr>
          <p:cNvPr id="23" name="Image 4" descr="gen-dedup-3397ebb5635ce4717b85909f2320530c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666598" y="2905049"/>
            <a:ext cx="133502" cy="152705"/>
          </a:xfrm>
          <a:prstGeom prst="rect">
            <a:avLst/>
          </a:prstGeom>
        </p:spPr>
      </p:pic>
      <p:pic>
        <p:nvPicPr>
          <p:cNvPr id="24" name="Image 5" descr="gen-dedup-3397ebb5635ce4717b85909f2320530c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666598" y="3194914"/>
            <a:ext cx="133502" cy="15270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524451" y="19046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6" descr="gen-dedup-20a5471e210971058fdfd20b4dc4e383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00346" y="1981505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000854" y="1923898"/>
            <a:ext cx="2667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추진 배경 (Background)</a:t>
            </a:r>
            <a:endParaRPr lang="en-US" sz="1800" dirty="0"/>
          </a:p>
        </p:txBody>
      </p:sp>
      <p:sp>
        <p:nvSpPr>
          <p:cNvPr id="28" name="Text 19"/>
          <p:cNvSpPr txBox="1"/>
          <p:nvPr/>
        </p:nvSpPr>
        <p:spPr>
          <a:xfrm>
            <a:off x="4524451" y="2523744"/>
            <a:ext cx="3143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내용: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4733849" y="2866644"/>
            <a:ext cx="29343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보고서가 작성되었는지(문제 인식)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4733849" y="3156509"/>
            <a:ext cx="33732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관련된 대내외 환경 변화나 트렌드 간략 제시</a:t>
            </a:r>
            <a:endParaRPr lang="en-US" sz="1200" dirty="0"/>
          </a:p>
        </p:txBody>
      </p:sp>
      <p:pic>
        <p:nvPicPr>
          <p:cNvPr id="31" name="Image 7" descr="gen-dedup-336753728b197e61316da2acba24b7f3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4524451" y="2905049"/>
            <a:ext cx="133502" cy="152705"/>
          </a:xfrm>
          <a:prstGeom prst="rect">
            <a:avLst/>
          </a:prstGeom>
        </p:spPr>
      </p:pic>
      <p:pic>
        <p:nvPicPr>
          <p:cNvPr id="32" name="Image 8" descr="gen-dedup-336753728b197e61316da2acba24b7f3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4524451" y="3194914"/>
            <a:ext cx="133502" cy="152705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8382305" y="19046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9" descr="gen-dedup-ad3d26efebe2dbb483174f1129bc6c0a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8443570" y="1981505"/>
            <a:ext cx="256946" cy="22860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8858707" y="1923898"/>
            <a:ext cx="31400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현황 분석 (Analysis)</a:t>
            </a:r>
            <a:endParaRPr lang="en-US" sz="1800" dirty="0"/>
          </a:p>
        </p:txBody>
      </p:sp>
      <p:sp>
        <p:nvSpPr>
          <p:cNvPr id="36" name="Text 24"/>
          <p:cNvSpPr txBox="1"/>
          <p:nvPr/>
        </p:nvSpPr>
        <p:spPr>
          <a:xfrm>
            <a:off x="8382305" y="2523744"/>
            <a:ext cx="3143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내용:</a:t>
            </a:r>
            <a:endParaRPr lang="en-US" sz="1300" dirty="0"/>
          </a:p>
        </p:txBody>
      </p:sp>
      <p:sp>
        <p:nvSpPr>
          <p:cNvPr id="37" name="Text 25"/>
          <p:cNvSpPr txBox="1"/>
          <p:nvPr/>
        </p:nvSpPr>
        <p:spPr>
          <a:xfrm>
            <a:off x="8591702" y="2866644"/>
            <a:ext cx="29343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현재의 객관적인 사실과 데이터 제시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8591702" y="3156509"/>
            <a:ext cx="29343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통한 인사이트 도출 및 근본 원인(Root Cause) 파악</a:t>
            </a:r>
            <a:endParaRPr lang="en-US" sz="1200" dirty="0"/>
          </a:p>
        </p:txBody>
      </p:sp>
      <p:pic>
        <p:nvPicPr>
          <p:cNvPr id="39" name="Image 10" descr="gen-dedup-d8c8761a16de9014d8ab174b9af50527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8382305" y="2905049"/>
            <a:ext cx="133502" cy="152705"/>
          </a:xfrm>
          <a:prstGeom prst="rect">
            <a:avLst/>
          </a:prstGeom>
        </p:spPr>
      </p:pic>
      <p:pic>
        <p:nvPicPr>
          <p:cNvPr id="40" name="Image 11" descr="gen-dedup-d8c8761a16de9014d8ab174b9af50527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8382305" y="3194914"/>
            <a:ext cx="133502" cy="152705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2572207" y="438180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12" descr="gen-dedup-b8964accabb628fcf1b50da04215da93.png"/>
          <p:cNvPicPr>
            <a:picLocks noChangeAspect="1"/>
          </p:cNvPicPr>
          <p:nvPr/>
        </p:nvPicPr>
        <p:blipFill>
          <a:blip r:embed="rId11"/>
          <a:srcRect l="-133" r="-133"/>
          <a:stretch/>
        </p:blipFill>
        <p:spPr>
          <a:xfrm>
            <a:off x="2676449" y="4457700"/>
            <a:ext cx="171907" cy="228600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3047695" y="4401007"/>
            <a:ext cx="31400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해결 방안 (Solution)</a:t>
            </a:r>
            <a:endParaRPr lang="en-US" sz="1800" dirty="0"/>
          </a:p>
        </p:txBody>
      </p:sp>
      <p:sp>
        <p:nvSpPr>
          <p:cNvPr id="44" name="Text 29"/>
          <p:cNvSpPr txBox="1"/>
          <p:nvPr/>
        </p:nvSpPr>
        <p:spPr>
          <a:xfrm>
            <a:off x="2572207" y="5000854"/>
            <a:ext cx="3143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내용:</a:t>
            </a:r>
            <a:endParaRPr lang="en-US" sz="1300" dirty="0"/>
          </a:p>
        </p:txBody>
      </p:sp>
      <p:sp>
        <p:nvSpPr>
          <p:cNvPr id="45" name="Text 30"/>
          <p:cNvSpPr txBox="1"/>
          <p:nvPr/>
        </p:nvSpPr>
        <p:spPr>
          <a:xfrm>
            <a:off x="2781605" y="5343754"/>
            <a:ext cx="29343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구체적이고 실행 가능한 대안 제시 (1안, 2안 비교)</a:t>
            </a:r>
            <a:endParaRPr lang="en-US" sz="1200" dirty="0"/>
          </a:p>
        </p:txBody>
      </p:sp>
      <p:sp>
        <p:nvSpPr>
          <p:cNvPr id="46" name="Text 31"/>
          <p:cNvSpPr txBox="1"/>
          <p:nvPr/>
        </p:nvSpPr>
        <p:spPr>
          <a:xfrm>
            <a:off x="2781605" y="5846674"/>
            <a:ext cx="29343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예상되는 문제점과 대응 방안(Risk &amp; Mitigation) 포함</a:t>
            </a:r>
            <a:endParaRPr lang="en-US" sz="1200" dirty="0"/>
          </a:p>
        </p:txBody>
      </p:sp>
      <p:pic>
        <p:nvPicPr>
          <p:cNvPr id="47" name="Image 13" descr="gen-dedup-2fb9427119a4bcee967d063096f2a170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2572207" y="5381244"/>
            <a:ext cx="133502" cy="152705"/>
          </a:xfrm>
          <a:prstGeom prst="rect">
            <a:avLst/>
          </a:prstGeom>
        </p:spPr>
      </p:pic>
      <p:pic>
        <p:nvPicPr>
          <p:cNvPr id="48" name="Image 14" descr="gen-dedup-2fb9427119a4bcee967d063096f2a170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2572207" y="5884164"/>
            <a:ext cx="133502" cy="152705"/>
          </a:xfrm>
          <a:prstGeom prst="rect">
            <a:avLst/>
          </a:prstGeom>
        </p:spPr>
      </p:pic>
      <p:sp>
        <p:nvSpPr>
          <p:cNvPr id="49" name="Shape 32"/>
          <p:cNvSpPr/>
          <p:nvPr/>
        </p:nvSpPr>
        <p:spPr>
          <a:xfrm>
            <a:off x="6476695" y="438180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15" descr="gen-dedup-886876e6547dfdcab8db528f3b7133ef.png"/>
          <p:cNvPicPr>
            <a:picLocks noChangeAspect="1"/>
          </p:cNvPicPr>
          <p:nvPr/>
        </p:nvPicPr>
        <p:blipFill>
          <a:blip r:embed="rId13"/>
          <a:srcRect l="-57" r="-57"/>
          <a:stretch/>
        </p:blipFill>
        <p:spPr>
          <a:xfrm>
            <a:off x="6567221" y="4457700"/>
            <a:ext cx="200254" cy="228600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6953098" y="4401007"/>
            <a:ext cx="2667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결론 및 향후 계획 (Conclusion)</a:t>
            </a:r>
            <a:endParaRPr lang="en-US" sz="1800" dirty="0"/>
          </a:p>
        </p:txBody>
      </p:sp>
      <p:sp>
        <p:nvSpPr>
          <p:cNvPr id="52" name="Text 34"/>
          <p:cNvSpPr txBox="1"/>
          <p:nvPr/>
        </p:nvSpPr>
        <p:spPr>
          <a:xfrm>
            <a:off x="6476695" y="5000854"/>
            <a:ext cx="3143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내용:</a:t>
            </a:r>
            <a:endParaRPr lang="en-US" sz="1300" dirty="0"/>
          </a:p>
        </p:txBody>
      </p:sp>
      <p:sp>
        <p:nvSpPr>
          <p:cNvPr id="53" name="Text 35"/>
          <p:cNvSpPr txBox="1"/>
          <p:nvPr/>
        </p:nvSpPr>
        <p:spPr>
          <a:xfrm>
            <a:off x="6686093" y="5343754"/>
            <a:ext cx="29343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제안 사항 명시 및 의사결정 요청</a:t>
            </a:r>
            <a:endParaRPr lang="en-US" sz="1200" dirty="0"/>
          </a:p>
        </p:txBody>
      </p:sp>
      <p:sp>
        <p:nvSpPr>
          <p:cNvPr id="54" name="Text 36"/>
          <p:cNvSpPr txBox="1"/>
          <p:nvPr/>
        </p:nvSpPr>
        <p:spPr>
          <a:xfrm>
            <a:off x="6686093" y="5632704"/>
            <a:ext cx="29343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시 즉각 실행할 타임라인(Timeline) 및 담당자 명시</a:t>
            </a:r>
            <a:endParaRPr lang="en-US" sz="1200" dirty="0"/>
          </a:p>
        </p:txBody>
      </p:sp>
      <p:pic>
        <p:nvPicPr>
          <p:cNvPr id="55" name="Image 16" descr="gen-dedup-c5f6b28d96a7be1f84b38276a212736a.png"/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6476695" y="5381244"/>
            <a:ext cx="133502" cy="152705"/>
          </a:xfrm>
          <a:prstGeom prst="rect">
            <a:avLst/>
          </a:prstGeom>
        </p:spPr>
      </p:pic>
      <p:pic>
        <p:nvPicPr>
          <p:cNvPr id="56" name="Image 17" descr="gen-dedup-c5f6b28d96a7be1f84b38276a212736a.png"/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6476695" y="5671109"/>
            <a:ext cx="133502" cy="152705"/>
          </a:xfrm>
          <a:prstGeom prst="rect">
            <a:avLst/>
          </a:prstGeom>
        </p:spPr>
      </p:pic>
      <p:sp>
        <p:nvSpPr>
          <p:cNvPr id="5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6402" y="1904695"/>
            <a:ext cx="11324844" cy="828446"/>
          </a:xfrm>
          <a:prstGeom prst="roundRect">
            <a:avLst>
              <a:gd name="adj" fmla="val 30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76402" y="1904695"/>
            <a:ext cx="75895" cy="828446"/>
          </a:xfrm>
          <a:prstGeom prst="roundRect">
            <a:avLst>
              <a:gd name="adj" fmla="val 33236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76402" y="2857500"/>
            <a:ext cx="11324844" cy="828446"/>
          </a:xfrm>
          <a:prstGeom prst="roundRect">
            <a:avLst>
              <a:gd name="adj" fmla="val 30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76402" y="2857500"/>
            <a:ext cx="75895" cy="828446"/>
          </a:xfrm>
          <a:prstGeom prst="roundRect">
            <a:avLst>
              <a:gd name="adj" fmla="val 33236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76402" y="3810305"/>
            <a:ext cx="11324844" cy="828446"/>
          </a:xfrm>
          <a:prstGeom prst="roundRect">
            <a:avLst>
              <a:gd name="adj" fmla="val 30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402" y="3810305"/>
            <a:ext cx="75895" cy="828446"/>
          </a:xfrm>
          <a:prstGeom prst="roundRect">
            <a:avLst>
              <a:gd name="adj" fmla="val 332365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402" y="4762195"/>
            <a:ext cx="11324844" cy="828446"/>
          </a:xfrm>
          <a:prstGeom prst="roundRect">
            <a:avLst>
              <a:gd name="adj" fmla="val 30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402" y="4762195"/>
            <a:ext cx="75895" cy="828446"/>
          </a:xfrm>
          <a:prstGeom prst="roundRect">
            <a:avLst>
              <a:gd name="adj" fmla="val 332365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402" y="5715000"/>
            <a:ext cx="11324844" cy="828446"/>
          </a:xfrm>
          <a:prstGeom prst="roundRect">
            <a:avLst>
              <a:gd name="adj" fmla="val 30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6402" y="5715000"/>
            <a:ext cx="75895" cy="828446"/>
          </a:xfrm>
          <a:prstGeom prst="roundRect">
            <a:avLst>
              <a:gd name="adj" fmla="val 332365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gen-dedup-892b51ce67bccc94d0b6f78d3ce2e62a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629107" y="476402"/>
            <a:ext cx="152705" cy="171907"/>
          </a:xfrm>
          <a:prstGeom prst="rect">
            <a:avLst/>
          </a:prstGeom>
        </p:spPr>
      </p:pic>
      <p:pic>
        <p:nvPicPr>
          <p:cNvPr id="15" name="Image 2" descr="gen-dedup-6652facacb4b71fae066fc3747ffe63f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476402" y="381305"/>
            <a:ext cx="2104949" cy="3621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7707" y="381305"/>
            <a:ext cx="17245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3: 이메일 템플릿 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76402" y="857707"/>
            <a:ext cx="11239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</a:t>
            </a:r>
            <a:r>
              <a:rPr lang="en-US" sz="3300" b="1" kern="0" spc="-66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톤앤매너 설정 가이드</a:t>
            </a:r>
            <a:endParaRPr lang="en-US" sz="3300" dirty="0"/>
          </a:p>
        </p:txBody>
      </p:sp>
      <p:sp>
        <p:nvSpPr>
          <p:cNvPr id="18" name="Text 13"/>
          <p:cNvSpPr txBox="1"/>
          <p:nvPr/>
        </p:nvSpPr>
        <p:spPr>
          <a:xfrm>
            <a:off x="476402" y="1476756"/>
            <a:ext cx="11239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5가지 주요 상황에 맞춘 효과적인 이메일 어조와 실무 작성 예시</a:t>
            </a:r>
            <a:endParaRPr lang="en-US" sz="1600" dirty="0"/>
          </a:p>
        </p:txBody>
      </p:sp>
      <p:pic>
        <p:nvPicPr>
          <p:cNvPr id="19" name="Image 3" descr="gen-dedup-168d1d0d3ba969c0c5bc9240ef5c4d7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85470" y="2171700"/>
            <a:ext cx="333756" cy="2670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38098" y="2115007"/>
            <a:ext cx="14767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요청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2762402" y="2143354"/>
            <a:ext cx="2667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존댓말, 정중한 표현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524805" y="2048256"/>
            <a:ext cx="5905195" cy="523951"/>
          </a:xfrm>
          <a:prstGeom prst="roundRect">
            <a:avLst>
              <a:gd name="adj" fmla="val 50769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 txBox="1"/>
          <p:nvPr/>
        </p:nvSpPr>
        <p:spPr>
          <a:xfrm>
            <a:off x="5724144" y="2167128"/>
            <a:ext cx="398312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"귀사의 적극적인 협조를 부탁드립니다."</a:t>
            </a:r>
            <a:endParaRPr lang="en-US" sz="1500" dirty="0"/>
          </a:p>
        </p:txBody>
      </p:sp>
      <p:pic>
        <p:nvPicPr>
          <p:cNvPr id="24" name="Image 4" descr="gen-dedup-c67cda1271035f699bd6248b437304af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9302" y="3124505"/>
            <a:ext cx="267005" cy="2670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38098" y="3066898"/>
            <a:ext cx="14767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긍정 응답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2762402" y="3095244"/>
            <a:ext cx="2667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표현, 확정·수락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5524805" y="3000146"/>
            <a:ext cx="5905195" cy="523951"/>
          </a:xfrm>
          <a:prstGeom prst="roundRect">
            <a:avLst>
              <a:gd name="adj" fmla="val 50769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5724144" y="3119018"/>
            <a:ext cx="556778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"요청하신 내용 확인했습니다. 일정대로 진행하겠습니다."</a:t>
            </a:r>
            <a:endParaRPr lang="en-US" sz="1500" dirty="0"/>
          </a:p>
        </p:txBody>
      </p:sp>
      <p:pic>
        <p:nvPicPr>
          <p:cNvPr id="29" name="Image 5" descr="gen-dedup-0e54f7b5a3dfa88f810fa83401d05a65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19302" y="4076395"/>
            <a:ext cx="267005" cy="26700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238098" y="4019702"/>
            <a:ext cx="14767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거절·난색</a:t>
            </a:r>
            <a:endParaRPr lang="en-US" sz="1900" dirty="0"/>
          </a:p>
        </p:txBody>
      </p:sp>
      <p:sp>
        <p:nvSpPr>
          <p:cNvPr id="31" name="Text 23"/>
          <p:cNvSpPr txBox="1"/>
          <p:nvPr/>
        </p:nvSpPr>
        <p:spPr>
          <a:xfrm>
            <a:off x="2762402" y="4048049"/>
            <a:ext cx="304952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부드러운 거절, 대안 제시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5524805" y="3952951"/>
            <a:ext cx="5905195" cy="523951"/>
          </a:xfrm>
          <a:prstGeom prst="roundRect">
            <a:avLst>
              <a:gd name="adj" fmla="val 50769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5"/>
          <p:cNvSpPr txBox="1"/>
          <p:nvPr/>
        </p:nvSpPr>
        <p:spPr>
          <a:xfrm>
            <a:off x="5724144" y="4071823"/>
            <a:ext cx="568756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"죄송하지만 어렵습니다. 대신 다른 방법을 제안드립니다."</a:t>
            </a:r>
            <a:endParaRPr lang="en-US" sz="1500" dirty="0"/>
          </a:p>
        </p:txBody>
      </p:sp>
      <p:pic>
        <p:nvPicPr>
          <p:cNvPr id="34" name="Image 6" descr="gen-dedup-88e180b29ac30afeb2432cd18a1cc5ea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9302" y="5029200"/>
            <a:ext cx="267005" cy="26700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8098" y="4972507"/>
            <a:ext cx="14767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사과·해결</a:t>
            </a:r>
            <a:endParaRPr lang="en-US" sz="1900" dirty="0"/>
          </a:p>
        </p:txBody>
      </p:sp>
      <p:sp>
        <p:nvSpPr>
          <p:cNvPr id="36" name="Text 27"/>
          <p:cNvSpPr txBox="1"/>
          <p:nvPr/>
        </p:nvSpPr>
        <p:spPr>
          <a:xfrm>
            <a:off x="2762402" y="5000854"/>
            <a:ext cx="304952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정중한 사과, 해결책 안내</a:t>
            </a:r>
            <a:endParaRPr lang="en-US" sz="1600" dirty="0"/>
          </a:p>
        </p:txBody>
      </p:sp>
      <p:sp>
        <p:nvSpPr>
          <p:cNvPr id="37" name="Shape 28"/>
          <p:cNvSpPr/>
          <p:nvPr/>
        </p:nvSpPr>
        <p:spPr>
          <a:xfrm>
            <a:off x="5524805" y="4905756"/>
            <a:ext cx="5905195" cy="571500"/>
          </a:xfrm>
          <a:prstGeom prst="roundRect">
            <a:avLst>
              <a:gd name="adj" fmla="val 4266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/>
          <p:cNvSpPr txBox="1"/>
          <p:nvPr/>
        </p:nvSpPr>
        <p:spPr>
          <a:xfrm>
            <a:off x="5724144" y="5061204"/>
            <a:ext cx="65041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"불편을 드려 대단히 죄송합니다. 즉시 조치 방안을 안내드립니다."</a:t>
            </a:r>
            <a:endParaRPr lang="en-US" sz="1500" dirty="0"/>
          </a:p>
        </p:txBody>
      </p:sp>
      <p:pic>
        <p:nvPicPr>
          <p:cNvPr id="39" name="Image 7" descr="gen-dedup-239cfccba52c45c91ac918d1f825f863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85470" y="5982005"/>
            <a:ext cx="333756" cy="26700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238098" y="5924398"/>
            <a:ext cx="14767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 협조</a:t>
            </a:r>
            <a:endParaRPr lang="en-US" sz="1900" dirty="0"/>
          </a:p>
        </p:txBody>
      </p:sp>
      <p:sp>
        <p:nvSpPr>
          <p:cNvPr id="41" name="Text 31"/>
          <p:cNvSpPr txBox="1"/>
          <p:nvPr/>
        </p:nvSpPr>
        <p:spPr>
          <a:xfrm>
            <a:off x="2762402" y="5952744"/>
            <a:ext cx="2667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r>
              <a:rPr lang="en-US" sz="16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친근한 표현, 업무 협의</a:t>
            </a:r>
            <a:endParaRPr lang="en-US" sz="1600" dirty="0"/>
          </a:p>
        </p:txBody>
      </p:sp>
      <p:sp>
        <p:nvSpPr>
          <p:cNvPr id="42" name="Shape 32"/>
          <p:cNvSpPr/>
          <p:nvPr/>
        </p:nvSpPr>
        <p:spPr>
          <a:xfrm>
            <a:off x="5524805" y="5857646"/>
            <a:ext cx="5905195" cy="571500"/>
          </a:xfrm>
          <a:prstGeom prst="roundRect">
            <a:avLst>
              <a:gd name="adj" fmla="val 42667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3"/>
          <p:cNvSpPr txBox="1"/>
          <p:nvPr/>
        </p:nvSpPr>
        <p:spPr>
          <a:xfrm>
            <a:off x="5724144" y="6013094"/>
            <a:ext cx="643189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"함께 진행해 보시죠. 이 부분에 대한 의견 편하게 부탁드립니다."</a:t>
            </a:r>
            <a:endParaRPr lang="en-US" sz="15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6402" y="1714500"/>
            <a:ext cx="5533949" cy="1476756"/>
          </a:xfrm>
          <a:prstGeom prst="roundRect">
            <a:avLst>
              <a:gd name="adj" fmla="val 9588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76402" y="1714500"/>
            <a:ext cx="57607" cy="1476756"/>
          </a:xfrm>
          <a:prstGeom prst="roundRect">
            <a:avLst>
              <a:gd name="adj" fmla="val 24577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38951" y="1714500"/>
            <a:ext cx="5533949" cy="1476756"/>
          </a:xfrm>
          <a:prstGeom prst="roundRect">
            <a:avLst>
              <a:gd name="adj" fmla="val 9588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238951" y="1714500"/>
            <a:ext cx="57607" cy="1476756"/>
          </a:xfrm>
          <a:prstGeom prst="roundRect">
            <a:avLst>
              <a:gd name="adj" fmla="val 24577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76402" y="3381451"/>
            <a:ext cx="5533949" cy="1476756"/>
          </a:xfrm>
          <a:prstGeom prst="roundRect">
            <a:avLst>
              <a:gd name="adj" fmla="val 9588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402" y="3381451"/>
            <a:ext cx="57607" cy="1476756"/>
          </a:xfrm>
          <a:prstGeom prst="roundRect">
            <a:avLst>
              <a:gd name="adj" fmla="val 24577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38951" y="3381451"/>
            <a:ext cx="5533949" cy="1476756"/>
          </a:xfrm>
          <a:prstGeom prst="roundRect">
            <a:avLst>
              <a:gd name="adj" fmla="val 9588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38951" y="3381451"/>
            <a:ext cx="57607" cy="1476756"/>
          </a:xfrm>
          <a:prstGeom prst="roundRect">
            <a:avLst>
              <a:gd name="adj" fmla="val 245777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402" y="5048402"/>
            <a:ext cx="5533949" cy="1476756"/>
          </a:xfrm>
          <a:prstGeom prst="roundRect">
            <a:avLst>
              <a:gd name="adj" fmla="val 9588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6402" y="5048402"/>
            <a:ext cx="57607" cy="1476756"/>
          </a:xfrm>
          <a:prstGeom prst="roundRect">
            <a:avLst>
              <a:gd name="adj" fmla="val 245777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238951" y="5048402"/>
            <a:ext cx="5533949" cy="1476756"/>
          </a:xfrm>
          <a:prstGeom prst="roundRect">
            <a:avLst>
              <a:gd name="adj" fmla="val 9588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238951" y="5048402"/>
            <a:ext cx="57607" cy="1476756"/>
          </a:xfrm>
          <a:prstGeom prst="roundRect">
            <a:avLst>
              <a:gd name="adj" fmla="val 24577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gen-dedup-c742f40f0819f28755e9d01ad4a7f68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9107" y="476402"/>
            <a:ext cx="171907" cy="171907"/>
          </a:xfrm>
          <a:prstGeom prst="rect">
            <a:avLst/>
          </a:prstGeom>
        </p:spPr>
      </p:pic>
      <p:pic>
        <p:nvPicPr>
          <p:cNvPr id="17" name="Image 2" descr="gen-dedup-f030602aa441bc62d446a31df1f6a16f.png"/>
          <p:cNvPicPr>
            <a:picLocks noChangeAspect="1"/>
          </p:cNvPicPr>
          <p:nvPr/>
        </p:nvPicPr>
        <p:blipFill>
          <a:blip r:embed="rId4"/>
          <a:srcRect l="-128" r="-128"/>
          <a:stretch/>
        </p:blipFill>
        <p:spPr>
          <a:xfrm>
            <a:off x="476402" y="381305"/>
            <a:ext cx="1971446" cy="3621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6910" y="381305"/>
            <a:ext cx="15718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3: 이메일 보안 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76402" y="857707"/>
            <a:ext cx="11239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발송 전 </a:t>
            </a:r>
            <a:r>
              <a:rPr lang="en-US" sz="3300" b="1" kern="0" spc="-66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보안 체크리스트 6가지</a:t>
            </a:r>
            <a:endParaRPr lang="en-US" sz="3300" dirty="0"/>
          </a:p>
        </p:txBody>
      </p:sp>
      <p:pic>
        <p:nvPicPr>
          <p:cNvPr id="20" name="Image 3" descr="gen-dedup-8d1d6dcd1dd3fb2adcf178990b5b974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2009851"/>
            <a:ext cx="267005" cy="2670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90549" y="1952244"/>
            <a:ext cx="4572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수신자 이메일 주소 재확인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190549" y="2361895"/>
            <a:ext cx="4572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동명이인, 자동 완성으로 인한 오발송 방지. 특히 외부 발송 시 도메인 주소를 한 번 더 확인합니다.</a:t>
            </a:r>
            <a:endParaRPr lang="en-US" sz="1300" dirty="0"/>
          </a:p>
        </p:txBody>
      </p:sp>
      <p:pic>
        <p:nvPicPr>
          <p:cNvPr id="23" name="Image 4" descr="gen-dedup-83e8900a02d4cfd53990243ad61bc0a9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6534302" y="2009851"/>
            <a:ext cx="267005" cy="2670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1952244"/>
            <a:ext cx="4572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 파일 검사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8" y="2361895"/>
            <a:ext cx="4572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의도한 파일이 맞는지 파일명과 용량 확인. 대용량 파일은 링크로 변환하고 중요 파일은 암호를 설정합니다.</a:t>
            </a:r>
            <a:endParaRPr lang="en-US" sz="1300" dirty="0"/>
          </a:p>
        </p:txBody>
      </p:sp>
      <p:pic>
        <p:nvPicPr>
          <p:cNvPr id="26" name="Image 5" descr="gen-dedup-8412cf3e416ecf3eb26a3e2e2a961ff0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771754" y="3676802"/>
            <a:ext cx="267005" cy="2670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190549" y="3619195"/>
            <a:ext cx="4572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기밀 정보 포함 여부 점검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1190549" y="4028846"/>
            <a:ext cx="4572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개인정보, 회사 기밀, 미공개 실적 등이 본문이나 이전 답장 히스토리에 포함되어 있는지 검토합니다.</a:t>
            </a:r>
            <a:endParaRPr lang="en-US" sz="1300" dirty="0"/>
          </a:p>
        </p:txBody>
      </p:sp>
      <p:pic>
        <p:nvPicPr>
          <p:cNvPr id="29" name="Image 6" descr="gen-dedup-20c427bd7a4137f0a04eb20bc7998222.png"/>
          <p:cNvPicPr>
            <a:picLocks noChangeAspect="1"/>
          </p:cNvPicPr>
          <p:nvPr/>
        </p:nvPicPr>
        <p:blipFill>
          <a:blip r:embed="rId8"/>
          <a:srcRect t="-6250" b="-6250"/>
          <a:stretch/>
        </p:blipFill>
        <p:spPr>
          <a:xfrm>
            <a:off x="6534302" y="3676802"/>
            <a:ext cx="267005" cy="26700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953098" y="3619195"/>
            <a:ext cx="4572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회신(전체 회신) 대상자 확인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6953098" y="4028846"/>
            <a:ext cx="4572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참조(CC) 및 숨은 참조(BCC) 대상자가 적절한지 파악하여 불필요한 정보 노출을 방지합니다.</a:t>
            </a:r>
            <a:endParaRPr lang="en-US" sz="1300" dirty="0"/>
          </a:p>
        </p:txBody>
      </p:sp>
      <p:pic>
        <p:nvPicPr>
          <p:cNvPr id="32" name="Image 7" descr="gen-dedup-8efe14bd4ba59643aad2ba13a2be20a2.png"/>
          <p:cNvPicPr>
            <a:picLocks noChangeAspect="1"/>
          </p:cNvPicPr>
          <p:nvPr/>
        </p:nvPicPr>
        <p:blipFill>
          <a:blip r:embed="rId9"/>
          <a:srcRect t="-12500" b="-12500"/>
          <a:stretch/>
        </p:blipFill>
        <p:spPr>
          <a:xfrm>
            <a:off x="771754" y="5343754"/>
            <a:ext cx="267005" cy="2670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190549" y="5286146"/>
            <a:ext cx="4572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링크 안전성 점검</a:t>
            </a:r>
            <a:endParaRPr lang="en-US" sz="1800" dirty="0"/>
          </a:p>
        </p:txBody>
      </p:sp>
      <p:sp>
        <p:nvSpPr>
          <p:cNvPr id="34" name="Text 24"/>
          <p:cNvSpPr txBox="1"/>
          <p:nvPr/>
        </p:nvSpPr>
        <p:spPr>
          <a:xfrm>
            <a:off x="1190549" y="5695798"/>
            <a:ext cx="4572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삽입된 URL이 정상적으로 작동하는지, 잘못된 피싱 사이트로 연결되지는 않는지 발송 전 클릭해 봅니다.</a:t>
            </a:r>
            <a:endParaRPr lang="en-US" sz="1300" dirty="0"/>
          </a:p>
        </p:txBody>
      </p:sp>
      <p:pic>
        <p:nvPicPr>
          <p:cNvPr id="35" name="Image 8" descr="gen-dedup-419dce4467d32d525cbec13260aa5303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34302" y="5343754"/>
            <a:ext cx="267005" cy="26700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953098" y="5286146"/>
            <a:ext cx="4572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발송 시간 및 예약 발송 설정</a:t>
            </a:r>
            <a:endParaRPr lang="en-US" sz="1800" dirty="0"/>
          </a:p>
        </p:txBody>
      </p:sp>
      <p:sp>
        <p:nvSpPr>
          <p:cNvPr id="37" name="Text 26"/>
          <p:cNvSpPr txBox="1"/>
          <p:nvPr/>
        </p:nvSpPr>
        <p:spPr>
          <a:xfrm>
            <a:off x="6953098" y="5695798"/>
            <a:ext cx="4572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심야 시간 등 부적절한 시간대를 피하고, 필요시 '예약 발송'이나 '보내기 취소' 설정 시간을 확보합니다.</a:t>
            </a:r>
            <a:endParaRPr lang="en-US" sz="13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gen-dedup-a849dcc212ebc970ffe1d1fc166fb765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476402" y="2095805"/>
            <a:ext cx="7448702" cy="4496105"/>
          </a:xfrm>
          <a:prstGeom prst="rect">
            <a:avLst/>
          </a:prstGeom>
        </p:spPr>
      </p:pic>
      <p:pic>
        <p:nvPicPr>
          <p:cNvPr id="5" name="Image 2" descr="gen-dedup-52205f4f317770fe9270fcbd9e82b7b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8143646" y="2095805"/>
            <a:ext cx="3590849" cy="4496105"/>
          </a:xfrm>
          <a:prstGeom prst="rect">
            <a:avLst/>
          </a:prstGeom>
        </p:spPr>
      </p:pic>
      <p:pic>
        <p:nvPicPr>
          <p:cNvPr id="6" name="Image 3" descr="gen-dedup-992072773d482a26305dd7477e4388ad.png"/>
          <p:cNvPicPr>
            <a:picLocks noChangeAspect="1"/>
          </p:cNvPicPr>
          <p:nvPr/>
        </p:nvPicPr>
        <p:blipFill>
          <a:blip r:embed="rId5"/>
          <a:srcRect t="-6250" b="-6250"/>
          <a:stretch/>
        </p:blipFill>
        <p:spPr>
          <a:xfrm>
            <a:off x="705002" y="500177"/>
            <a:ext cx="190195" cy="190195"/>
          </a:xfrm>
          <a:prstGeom prst="rect">
            <a:avLst/>
          </a:prstGeom>
        </p:spPr>
      </p:pic>
      <p:pic>
        <p:nvPicPr>
          <p:cNvPr id="7" name="Image 4" descr="gen-dedup-bbb4e049b6a7afc9c523ee682d650915.png"/>
          <p:cNvPicPr>
            <a:picLocks noChangeAspect="1"/>
          </p:cNvPicPr>
          <p:nvPr/>
        </p:nvPicPr>
        <p:blipFill>
          <a:blip r:embed="rId6"/>
          <a:srcRect l="-115" r="-115"/>
          <a:stretch/>
        </p:blipFill>
        <p:spPr>
          <a:xfrm>
            <a:off x="476402" y="381305"/>
            <a:ext cx="1285646" cy="428854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009498" y="381305"/>
            <a:ext cx="75346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4 </a:t>
            </a:r>
            <a:endParaRPr lang="en-US" sz="1500" dirty="0"/>
          </a:p>
        </p:txBody>
      </p:sp>
      <p:sp>
        <p:nvSpPr>
          <p:cNvPr id="9" name="Text 2"/>
          <p:cNvSpPr txBox="1"/>
          <p:nvPr/>
        </p:nvSpPr>
        <p:spPr>
          <a:xfrm>
            <a:off x="476402" y="857707"/>
            <a:ext cx="11239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응대 </a:t>
            </a:r>
            <a:r>
              <a:rPr lang="en-US" sz="3300" b="1" kern="0" spc="-66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및 에스컬레이션 기준</a:t>
            </a:r>
            <a:endParaRPr lang="en-US" sz="3300" dirty="0"/>
          </a:p>
        </p:txBody>
      </p:sp>
      <p:sp>
        <p:nvSpPr>
          <p:cNvPr id="10" name="Text 3"/>
          <p:cNvSpPr txBox="1"/>
          <p:nvPr/>
        </p:nvSpPr>
        <p:spPr>
          <a:xfrm>
            <a:off x="476402" y="1524305"/>
            <a:ext cx="11239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활용한 일관된 고객 커뮤니케이션 가이드 및 위기 대응 프로세스</a:t>
            </a:r>
            <a:endParaRPr lang="en-US" sz="18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2381098"/>
            <a:ext cx="647669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고객 유형별 응대 프롬프트 예제 </a:t>
            </a:r>
            <a:endParaRPr lang="en-US" sz="1900" dirty="0"/>
          </a:p>
        </p:txBody>
      </p:sp>
      <p:pic>
        <p:nvPicPr>
          <p:cNvPr id="12" name="Image 5" descr="gen-dedup-ff06e8d3b5612385066b132736ec60a4.png"/>
          <p:cNvPicPr>
            <a:picLocks noChangeAspect="1"/>
          </p:cNvPicPr>
          <p:nvPr/>
        </p:nvPicPr>
        <p:blipFill>
          <a:blip r:embed="rId7"/>
          <a:srcRect t="-12500" b="-12500"/>
          <a:stretch/>
        </p:blipFill>
        <p:spPr>
          <a:xfrm>
            <a:off x="761695" y="2424074"/>
            <a:ext cx="267005" cy="267005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761695" y="3047695"/>
            <a:ext cx="6858000" cy="1095451"/>
          </a:xfrm>
          <a:prstGeom prst="roundRect">
            <a:avLst>
              <a:gd name="adj" fmla="val 11614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6"/>
          <p:cNvSpPr/>
          <p:nvPr/>
        </p:nvSpPr>
        <p:spPr>
          <a:xfrm>
            <a:off x="761695" y="3047695"/>
            <a:ext cx="57607" cy="1095451"/>
          </a:xfrm>
          <a:prstGeom prst="roundRect">
            <a:avLst>
              <a:gd name="adj" fmla="val 22084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7"/>
          <p:cNvSpPr txBox="1"/>
          <p:nvPr/>
        </p:nvSpPr>
        <p:spPr>
          <a:xfrm>
            <a:off x="1009498" y="3200400"/>
            <a:ext cx="64200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불만 접수 (공감 및 대안 제시)</a:t>
            </a: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6195974" y="3200400"/>
            <a:ext cx="1238098" cy="304495"/>
          </a:xfrm>
          <a:prstGeom prst="roundRect">
            <a:avLst>
              <a:gd name="adj" fmla="val 225225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9"/>
          <p:cNvSpPr txBox="1"/>
          <p:nvPr/>
        </p:nvSpPr>
        <p:spPr>
          <a:xfrm>
            <a:off x="6195974" y="3200400"/>
            <a:ext cx="12390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Priority</a:t>
            </a:r>
            <a:endParaRPr lang="en-US" sz="1200" dirty="0"/>
          </a:p>
        </p:txBody>
      </p:sp>
      <p:sp>
        <p:nvSpPr>
          <p:cNvPr id="18" name="Text 10"/>
          <p:cNvSpPr txBox="1"/>
          <p:nvPr/>
        </p:nvSpPr>
        <p:spPr>
          <a:xfrm>
            <a:off x="1009498" y="3581705"/>
            <a:ext cx="64200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"배송 지연에 대해 항의하는 고객입니다. 진심 어린 사과와 함께 보상안(포인트 5,000점)을 포함한 안내 메일을 정중한 어조로 작성해 줘."</a:t>
            </a:r>
            <a:endParaRPr lang="en-US" sz="1400" dirty="0"/>
          </a:p>
        </p:txBody>
      </p:sp>
      <p:sp>
        <p:nvSpPr>
          <p:cNvPr id="19" name="Shape 11"/>
          <p:cNvSpPr/>
          <p:nvPr/>
        </p:nvSpPr>
        <p:spPr>
          <a:xfrm>
            <a:off x="761695" y="4238244"/>
            <a:ext cx="6858000" cy="1095451"/>
          </a:xfrm>
          <a:prstGeom prst="roundRect">
            <a:avLst>
              <a:gd name="adj" fmla="val 11614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2"/>
          <p:cNvSpPr/>
          <p:nvPr/>
        </p:nvSpPr>
        <p:spPr>
          <a:xfrm>
            <a:off x="761695" y="4238244"/>
            <a:ext cx="57607" cy="1095451"/>
          </a:xfrm>
          <a:prstGeom prst="roundRect">
            <a:avLst>
              <a:gd name="adj" fmla="val 220843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3"/>
          <p:cNvSpPr txBox="1"/>
          <p:nvPr/>
        </p:nvSpPr>
        <p:spPr>
          <a:xfrm>
            <a:off x="1009498" y="4390949"/>
            <a:ext cx="64200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문의 (정확한 정보 제공)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1009498" y="4772254"/>
            <a:ext cx="64200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"제품 A의 호환성에 대해 묻는 문의입니다. 첨부한 FAQ 매뉴얼의 3번 항목을 바탕으로 고객이 쉽게 이해할 수 있도록 간결하게 요약해 줘."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761695" y="5429707"/>
            <a:ext cx="6858000" cy="1047902"/>
          </a:xfrm>
          <a:prstGeom prst="roundRect">
            <a:avLst>
              <a:gd name="adj" fmla="val 1269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6"/>
          <p:cNvSpPr/>
          <p:nvPr/>
        </p:nvSpPr>
        <p:spPr>
          <a:xfrm>
            <a:off x="761695" y="5429707"/>
            <a:ext cx="57607" cy="1047902"/>
          </a:xfrm>
          <a:prstGeom prst="roundRect">
            <a:avLst>
              <a:gd name="adj" fmla="val 23088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7"/>
          <p:cNvSpPr txBox="1"/>
          <p:nvPr/>
        </p:nvSpPr>
        <p:spPr>
          <a:xfrm>
            <a:off x="1009498" y="5581498"/>
            <a:ext cx="64200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칭찬 및 제안 (긍정적 강화)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009498" y="5962802"/>
            <a:ext cx="64200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"서비스 이용 후 만족하여 리뷰를 남긴 고객입니다. 감사의 뜻을 전하고, 제안한 기능(B기능)이 다음 업데이트에 반영될 예정임을 친근하게 알려줘."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8772754" y="2381098"/>
            <a:ext cx="26581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에스컬레이션 3단계 </a:t>
            </a:r>
            <a:endParaRPr lang="en-US" sz="1800" dirty="0"/>
          </a:p>
        </p:txBody>
      </p:sp>
      <p:pic>
        <p:nvPicPr>
          <p:cNvPr id="28" name="Image 6" descr="gen-dedup-b64f733fd9f631ef520173cbe689af21.png"/>
          <p:cNvPicPr>
            <a:picLocks noChangeAspect="1"/>
          </p:cNvPicPr>
          <p:nvPr/>
        </p:nvPicPr>
        <p:blipFill>
          <a:blip r:embed="rId8"/>
          <a:srcRect t="-6250" b="-6250"/>
          <a:stretch/>
        </p:blipFill>
        <p:spPr>
          <a:xfrm>
            <a:off x="8429854" y="2433218"/>
            <a:ext cx="228600" cy="2286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429854" y="3000146"/>
            <a:ext cx="30010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</a:t>
            </a: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담당자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8658454" y="3276295"/>
            <a:ext cx="27724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문의, 단순 클레임 (AI 초안 활용 자체 처리)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8429854" y="3812134"/>
            <a:ext cx="30010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</a:t>
            </a: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팀장/관리자</a:t>
            </a:r>
            <a:endParaRPr lang="en-US" sz="1400" dirty="0"/>
          </a:p>
        </p:txBody>
      </p:sp>
      <p:sp>
        <p:nvSpPr>
          <p:cNvPr id="32" name="Text 23"/>
          <p:cNvSpPr txBox="1"/>
          <p:nvPr/>
        </p:nvSpPr>
        <p:spPr>
          <a:xfrm>
            <a:off x="8658454" y="4088282"/>
            <a:ext cx="27724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보상, 정책 예외 사항, 강성 클레임 조짐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8429854" y="4623206"/>
            <a:ext cx="30010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</a:t>
            </a:r>
            <a:r>
              <a:rPr lang="en-US" sz="14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유관 부서 (법무/홍보)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8658454" y="4899355"/>
            <a:ext cx="3183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분쟁 소지, 언론/SNS 확산 가능성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8696858" y="5143500"/>
            <a:ext cx="27340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품질 관리 체크리스트 </a:t>
            </a:r>
            <a:endParaRPr lang="en-US" sz="1500" dirty="0"/>
          </a:p>
        </p:txBody>
      </p:sp>
      <p:pic>
        <p:nvPicPr>
          <p:cNvPr id="36" name="Image 7" descr="gen-dedup-aef05ae19facf73aec2df2d125979c81.png"/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8429854" y="5186477"/>
            <a:ext cx="190195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630107" y="5572354"/>
            <a:ext cx="32269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사실과 다른 내용(할루시네이션)이 없는가?</a:t>
            </a:r>
            <a:endParaRPr lang="en-US" sz="1200" dirty="0"/>
          </a:p>
        </p:txBody>
      </p:sp>
      <p:pic>
        <p:nvPicPr>
          <p:cNvPr id="38" name="Image 8" descr="gen-dedup-faab2e8d66791daab1ead4f86fda653a.png"/>
          <p:cNvPicPr>
            <a:picLocks noChangeAspect="1"/>
          </p:cNvPicPr>
          <p:nvPr/>
        </p:nvPicPr>
        <p:blipFill>
          <a:blip r:embed="rId10"/>
          <a:srcRect l="-7143" r="-7143"/>
          <a:stretch/>
        </p:blipFill>
        <p:spPr>
          <a:xfrm>
            <a:off x="8429854" y="5600700"/>
            <a:ext cx="123444" cy="123444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630107" y="5846674"/>
            <a:ext cx="32817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고객의 감정에 공감하는 톤이 유지되었는가?</a:t>
            </a:r>
            <a:endParaRPr lang="en-US" sz="1200" dirty="0"/>
          </a:p>
        </p:txBody>
      </p:sp>
      <p:pic>
        <p:nvPicPr>
          <p:cNvPr id="40" name="Image 9" descr="gen-dedup-faab2e8d66791daab1ead4f86fda653a.png"/>
          <p:cNvPicPr>
            <a:picLocks noChangeAspect="1"/>
          </p:cNvPicPr>
          <p:nvPr/>
        </p:nvPicPr>
        <p:blipFill>
          <a:blip r:embed="rId10"/>
          <a:srcRect l="-7143" r="-7143"/>
          <a:stretch/>
        </p:blipFill>
        <p:spPr>
          <a:xfrm>
            <a:off x="8429854" y="5875020"/>
            <a:ext cx="123444" cy="123444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630107" y="6120994"/>
            <a:ext cx="28008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과도한 약속이나 법적 책임 소지 문구는 없는가?</a:t>
            </a:r>
            <a:endParaRPr lang="en-US" sz="1200" dirty="0"/>
          </a:p>
        </p:txBody>
      </p:sp>
      <p:pic>
        <p:nvPicPr>
          <p:cNvPr id="42" name="Image 10" descr="gen-dedup-faab2e8d66791daab1ead4f86fda653a.png"/>
          <p:cNvPicPr>
            <a:picLocks noChangeAspect="1"/>
          </p:cNvPicPr>
          <p:nvPr/>
        </p:nvPicPr>
        <p:blipFill>
          <a:blip r:embed="rId10"/>
          <a:srcRect l="-7143" r="-7143"/>
          <a:stretch/>
        </p:blipFill>
        <p:spPr>
          <a:xfrm>
            <a:off x="8429854" y="6149340"/>
            <a:ext cx="123444" cy="123444"/>
          </a:xfrm>
          <a:prstGeom prst="rect">
            <a:avLst/>
          </a:prstGeom>
        </p:spPr>
      </p:pic>
      <p:sp>
        <p:nvSpPr>
          <p:cNvPr id="4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gen-dedup-1f0ec2025ecebc81cf2fd79ceccc39e8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476402" y="1904695"/>
            <a:ext cx="5943600" cy="4781398"/>
          </a:xfrm>
          <a:prstGeom prst="rect">
            <a:avLst/>
          </a:prstGeom>
        </p:spPr>
      </p:pic>
      <p:pic>
        <p:nvPicPr>
          <p:cNvPr id="5" name="Image 2" descr="gen-dedup-ff51dead5091ce4633fab7f3b00aaf0c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572707" y="1904695"/>
            <a:ext cx="5162702" cy="4781398"/>
          </a:xfrm>
          <a:prstGeom prst="rect">
            <a:avLst/>
          </a:prstGeom>
        </p:spPr>
      </p:pic>
      <p:pic>
        <p:nvPicPr>
          <p:cNvPr id="6" name="Image 3" descr="gen-dedup-2d6b4c59da4601a6d610d752977688b5.png"/>
          <p:cNvPicPr>
            <a:picLocks noChangeAspect="1"/>
          </p:cNvPicPr>
          <p:nvPr/>
        </p:nvPicPr>
        <p:blipFill>
          <a:blip r:embed="rId5"/>
          <a:srcRect l="-16666" r="-16666"/>
          <a:stretch/>
        </p:blipFill>
        <p:spPr>
          <a:xfrm>
            <a:off x="666598" y="495605"/>
            <a:ext cx="152705" cy="152705"/>
          </a:xfrm>
          <a:prstGeom prst="rect">
            <a:avLst/>
          </a:prstGeom>
        </p:spPr>
      </p:pic>
      <p:pic>
        <p:nvPicPr>
          <p:cNvPr id="7" name="Image 4" descr="gen-dedup-a693d5b65471edd50bf94a39d3f72899.png"/>
          <p:cNvPicPr>
            <a:picLocks noChangeAspect="1"/>
          </p:cNvPicPr>
          <p:nvPr/>
        </p:nvPicPr>
        <p:blipFill>
          <a:blip r:embed="rId6"/>
          <a:srcRect l="-150" r="-150"/>
          <a:stretch/>
        </p:blipFill>
        <p:spPr>
          <a:xfrm>
            <a:off x="476402" y="381305"/>
            <a:ext cx="1181405" cy="38130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95198" y="381305"/>
            <a:ext cx="762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5-2 </a:t>
            </a:r>
            <a:endParaRPr lang="en-US" sz="1200" dirty="0"/>
          </a:p>
        </p:txBody>
      </p:sp>
      <p:sp>
        <p:nvSpPr>
          <p:cNvPr id="9" name="Text 2"/>
          <p:cNvSpPr txBox="1"/>
          <p:nvPr/>
        </p:nvSpPr>
        <p:spPr>
          <a:xfrm>
            <a:off x="476402" y="857707"/>
            <a:ext cx="112398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69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조사 </a:t>
            </a:r>
            <a:r>
              <a:rPr lang="en-US" sz="3400" b="1" kern="0" spc="-69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템플릿</a:t>
            </a:r>
            <a:r>
              <a:rPr lang="en-US" sz="3400" b="1" kern="0" spc="-69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팁</a:t>
            </a:r>
            <a:endParaRPr lang="en-US" sz="3400" dirty="0"/>
          </a:p>
        </p:txBody>
      </p:sp>
      <p:sp>
        <p:nvSpPr>
          <p:cNvPr id="10" name="Text 3"/>
          <p:cNvSpPr txBox="1"/>
          <p:nvPr/>
        </p:nvSpPr>
        <p:spPr>
          <a:xfrm>
            <a:off x="476402" y="1491459"/>
            <a:ext cx="11239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표준화된 포맷으로 조사 결과를 효율적으로 정리하는 방법</a:t>
            </a:r>
            <a:endParaRPr lang="en-US" sz="1800" dirty="0"/>
          </a:p>
        </p:txBody>
      </p:sp>
      <p:sp>
        <p:nvSpPr>
          <p:cNvPr id="11" name="Shape 4"/>
          <p:cNvSpPr/>
          <p:nvPr/>
        </p:nvSpPr>
        <p:spPr>
          <a:xfrm>
            <a:off x="761695" y="2619756"/>
            <a:ext cx="5352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5"/>
          <p:cNvSpPr txBox="1"/>
          <p:nvPr/>
        </p:nvSpPr>
        <p:spPr>
          <a:xfrm>
            <a:off x="1123798" y="2143354"/>
            <a:ext cx="49917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양식 예제 </a:t>
            </a:r>
            <a:endParaRPr lang="en-US" sz="2100" dirty="0"/>
          </a:p>
        </p:txBody>
      </p:sp>
      <p:sp>
        <p:nvSpPr>
          <p:cNvPr id="13" name="Shape 6"/>
          <p:cNvSpPr/>
          <p:nvPr/>
        </p:nvSpPr>
        <p:spPr>
          <a:xfrm>
            <a:off x="761695" y="2781605"/>
            <a:ext cx="5352898" cy="1647749"/>
          </a:xfrm>
          <a:prstGeom prst="roundRect">
            <a:avLst>
              <a:gd name="adj" fmla="val 513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 txBox="1"/>
          <p:nvPr/>
        </p:nvSpPr>
        <p:spPr>
          <a:xfrm>
            <a:off x="923544" y="2905049"/>
            <a:ext cx="5029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[요약 보고서 구조]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923544" y="3258007"/>
            <a:ext cx="50292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목적/배경: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조사의 핵심 목적 기술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923544" y="3525926"/>
            <a:ext cx="50292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핵심 요약 (3줄):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결론 중심의 브리핑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923544" y="3794760"/>
            <a:ext cx="50292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주요 발견사항: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불릿 포인트로 상세 내용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923544" y="4063594"/>
            <a:ext cx="50292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시사점 및 제언:</a:t>
            </a: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조직에 적용할 인사이트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761695" y="4570171"/>
            <a:ext cx="5352898" cy="1638605"/>
          </a:xfrm>
          <a:prstGeom prst="roundRect">
            <a:avLst>
              <a:gd name="adj" fmla="val 519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3"/>
          <p:cNvSpPr txBox="1"/>
          <p:nvPr/>
        </p:nvSpPr>
        <p:spPr>
          <a:xfrm>
            <a:off x="923544" y="4693615"/>
            <a:ext cx="5029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[비교 분석표 예시]</a:t>
            </a:r>
            <a:endParaRPr lang="en-US" sz="1500" dirty="0"/>
          </a:p>
        </p:txBody>
      </p:sp>
      <p:pic>
        <p:nvPicPr>
          <p:cNvPr id="21" name="Image 5" descr="gen-dedup-8546994aac0bac8a0223af1e0fcc120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3544" y="5046574"/>
            <a:ext cx="5029200" cy="3429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81151" y="5103266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기준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2619756" y="5103266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항목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4257446" y="5103266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항목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923544" y="5389474"/>
            <a:ext cx="5029200" cy="3520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8"/>
          <p:cNvSpPr/>
          <p:nvPr/>
        </p:nvSpPr>
        <p:spPr>
          <a:xfrm>
            <a:off x="923544" y="5732374"/>
            <a:ext cx="50292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9"/>
          <p:cNvSpPr txBox="1"/>
          <p:nvPr/>
        </p:nvSpPr>
        <p:spPr>
          <a:xfrm>
            <a:off x="981151" y="5446166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2619756" y="5446166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 1, 2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4257446" y="5446166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특화 기능</a:t>
            </a:r>
            <a:endParaRPr lang="en-US" sz="1200" dirty="0"/>
          </a:p>
        </p:txBody>
      </p:sp>
      <p:pic>
        <p:nvPicPr>
          <p:cNvPr id="30" name="Image 6" descr="gen-dedup-2c2724fa4a24a5d6d6c4c692f502cb01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23544" y="5741518"/>
            <a:ext cx="5029200" cy="3429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81151" y="5799125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가격/비용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2619756" y="5799125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비교적 저렴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4257446" y="5799125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고가/프리미엄</a:t>
            </a:r>
            <a:endParaRPr lang="en-US" sz="1200" dirty="0"/>
          </a:p>
        </p:txBody>
      </p:sp>
      <p:pic>
        <p:nvPicPr>
          <p:cNvPr id="34" name="Image 7" descr="gen-dedup-57ae7fd3d9bc2f53f5a34d048cc927aa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2214677"/>
            <a:ext cx="267005" cy="267005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6858000" y="2619756"/>
            <a:ext cx="4572000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6"/>
          <p:cNvSpPr txBox="1"/>
          <p:nvPr/>
        </p:nvSpPr>
        <p:spPr>
          <a:xfrm>
            <a:off x="7220102" y="2143354"/>
            <a:ext cx="4209898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단축 팁 5가지 </a:t>
            </a:r>
            <a:endParaRPr lang="en-US" sz="2100" dirty="0"/>
          </a:p>
        </p:txBody>
      </p:sp>
      <p:sp>
        <p:nvSpPr>
          <p:cNvPr id="37" name="Shape 27"/>
          <p:cNvSpPr/>
          <p:nvPr/>
        </p:nvSpPr>
        <p:spPr>
          <a:xfrm>
            <a:off x="6858000" y="2866644"/>
            <a:ext cx="304495" cy="3044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8"/>
          <p:cNvSpPr/>
          <p:nvPr/>
        </p:nvSpPr>
        <p:spPr>
          <a:xfrm>
            <a:off x="6858000" y="2866644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29"/>
          <p:cNvSpPr txBox="1"/>
          <p:nvPr/>
        </p:nvSpPr>
        <p:spPr>
          <a:xfrm>
            <a:off x="7276795" y="2829154"/>
            <a:ext cx="26581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목적 설정</a:t>
            </a:r>
            <a:endParaRPr lang="en-US" sz="1500" dirty="0"/>
          </a:p>
        </p:txBody>
      </p:sp>
      <p:sp>
        <p:nvSpPr>
          <p:cNvPr id="40" name="Text 30"/>
          <p:cNvSpPr txBox="1"/>
          <p:nvPr/>
        </p:nvSpPr>
        <p:spPr>
          <a:xfrm>
            <a:off x="7276795" y="3152851"/>
            <a:ext cx="326075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조사 전 필요 정보와 제외할 정보를 확정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6858000" y="3600907"/>
            <a:ext cx="304495" cy="3044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2"/>
          <p:cNvSpPr/>
          <p:nvPr/>
        </p:nvSpPr>
        <p:spPr>
          <a:xfrm>
            <a:off x="6858000" y="3600907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7276795" y="3562502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신뢰할 수 있는 출처 제한</a:t>
            </a:r>
            <a:endParaRPr lang="en-US" sz="1500" dirty="0"/>
          </a:p>
        </p:txBody>
      </p:sp>
      <p:sp>
        <p:nvSpPr>
          <p:cNvPr id="44" name="Text 34"/>
          <p:cNvSpPr txBox="1"/>
          <p:nvPr/>
        </p:nvSpPr>
        <p:spPr>
          <a:xfrm>
            <a:off x="7276795" y="3886200"/>
            <a:ext cx="376641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공신력 있는 기관, 논문 등 검증된 데이터 활용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6858000" y="4334256"/>
            <a:ext cx="304495" cy="3044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6"/>
          <p:cNvSpPr/>
          <p:nvPr/>
        </p:nvSpPr>
        <p:spPr>
          <a:xfrm>
            <a:off x="6858000" y="4334256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Text 37"/>
          <p:cNvSpPr txBox="1"/>
          <p:nvPr/>
        </p:nvSpPr>
        <p:spPr>
          <a:xfrm>
            <a:off x="7276795" y="4295851"/>
            <a:ext cx="3048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요약 기능 활용</a:t>
            </a:r>
            <a:endParaRPr lang="en-US" sz="1500" dirty="0"/>
          </a:p>
        </p:txBody>
      </p:sp>
      <p:sp>
        <p:nvSpPr>
          <p:cNvPr id="48" name="Text 38"/>
          <p:cNvSpPr txBox="1"/>
          <p:nvPr/>
        </p:nvSpPr>
        <p:spPr>
          <a:xfrm>
            <a:off x="7276795" y="4619549"/>
            <a:ext cx="380481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방대한 문서는 AI로 선 요약 후 필요 부분 정독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6858000" y="5067605"/>
            <a:ext cx="304495" cy="3044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/>
          <p:nvPr/>
        </p:nvSpPr>
        <p:spPr>
          <a:xfrm>
            <a:off x="6858000" y="506760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51" name="Text 41"/>
          <p:cNvSpPr txBox="1"/>
          <p:nvPr/>
        </p:nvSpPr>
        <p:spPr>
          <a:xfrm>
            <a:off x="7276795" y="5029200"/>
            <a:ext cx="33055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템플릿 사용</a:t>
            </a:r>
            <a:endParaRPr lang="en-US" sz="1500" dirty="0"/>
          </a:p>
        </p:txBody>
      </p:sp>
      <p:sp>
        <p:nvSpPr>
          <p:cNvPr id="52" name="Text 42"/>
          <p:cNvSpPr txBox="1"/>
          <p:nvPr/>
        </p:nvSpPr>
        <p:spPr>
          <a:xfrm>
            <a:off x="7276795" y="5352898"/>
            <a:ext cx="398038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새로 작성하지 않고 미리 정의된 양식 채우기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6858000" y="5800954"/>
            <a:ext cx="304495" cy="3044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4"/>
          <p:cNvSpPr/>
          <p:nvPr/>
        </p:nvSpPr>
        <p:spPr>
          <a:xfrm>
            <a:off x="6858000" y="5800954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55" name="Text 45"/>
          <p:cNvSpPr txBox="1"/>
          <p:nvPr/>
        </p:nvSpPr>
        <p:spPr>
          <a:xfrm>
            <a:off x="7276795" y="5762549"/>
            <a:ext cx="2962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링크 즉시 저장</a:t>
            </a:r>
            <a:endParaRPr lang="en-US" sz="1500" dirty="0"/>
          </a:p>
        </p:txBody>
      </p:sp>
      <p:sp>
        <p:nvSpPr>
          <p:cNvPr id="56" name="Text 46"/>
          <p:cNvSpPr txBox="1"/>
          <p:nvPr/>
        </p:nvSpPr>
        <p:spPr>
          <a:xfrm>
            <a:off x="7276795" y="6086246"/>
            <a:ext cx="357164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나중에 다시 찾는 시간을 방지하기 위한 습관</a:t>
            </a:r>
            <a:endParaRPr lang="en-US" sz="1200" dirty="0"/>
          </a:p>
        </p:txBody>
      </p:sp>
      <p:pic>
        <p:nvPicPr>
          <p:cNvPr id="57" name="Image 8" descr="gen-dedup-4cfabf06732780fe025d407e1fbd9c0d.png"/>
          <p:cNvPicPr>
            <a:picLocks noChangeAspect="1"/>
          </p:cNvPicPr>
          <p:nvPr/>
        </p:nvPicPr>
        <p:blipFill>
          <a:blip r:embed="rId10"/>
          <a:srcRect l="-7143" r="-7143"/>
          <a:stretch/>
        </p:blipFill>
        <p:spPr>
          <a:xfrm>
            <a:off x="6858000" y="2214677"/>
            <a:ext cx="267005" cy="267005"/>
          </a:xfrm>
          <a:prstGeom prst="rect">
            <a:avLst/>
          </a:prstGeom>
        </p:spPr>
      </p:pic>
      <p:sp>
        <p:nvSpPr>
          <p:cNvPr id="5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6402" y="381305"/>
            <a:ext cx="1333195" cy="342900"/>
          </a:xfrm>
          <a:prstGeom prst="roundRect">
            <a:avLst>
              <a:gd name="adj" fmla="val 2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476402" y="2095805"/>
            <a:ext cx="5352898" cy="4448556"/>
          </a:xfrm>
          <a:prstGeom prst="roundRect">
            <a:avLst>
              <a:gd name="adj" fmla="val 10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76402" y="2095805"/>
            <a:ext cx="5352898" cy="57607"/>
          </a:xfrm>
          <a:prstGeom prst="roundRect">
            <a:avLst>
              <a:gd name="adj" fmla="val 81575"/>
            </a:avLst>
          </a:prstGeom>
          <a:solidFill>
            <a:srgbClr val="007BFF"/>
          </a:solidFill>
          <a:ln w="12700">
            <a:solidFill>
              <a:srgbClr val="0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2381098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007B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3238805"/>
            <a:ext cx="4762195" cy="619049"/>
          </a:xfrm>
          <a:prstGeom prst="roundRect">
            <a:avLst>
              <a:gd name="adj" fmla="val 3635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4000500"/>
            <a:ext cx="4762195" cy="619049"/>
          </a:xfrm>
          <a:prstGeom prst="roundRect">
            <a:avLst>
              <a:gd name="adj" fmla="val 3635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4762195"/>
            <a:ext cx="4762195" cy="619049"/>
          </a:xfrm>
          <a:prstGeom prst="roundRect">
            <a:avLst>
              <a:gd name="adj" fmla="val 3635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524805"/>
            <a:ext cx="4762195" cy="619049"/>
          </a:xfrm>
          <a:prstGeom prst="roundRect">
            <a:avLst>
              <a:gd name="adj" fmla="val 3635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2095805"/>
            <a:ext cx="5639105" cy="4448556"/>
          </a:xfrm>
          <a:prstGeom prst="roundRect">
            <a:avLst>
              <a:gd name="adj" fmla="val 10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2095805"/>
            <a:ext cx="5639105" cy="57607"/>
          </a:xfrm>
          <a:prstGeom prst="roundRect">
            <a:avLst>
              <a:gd name="adj" fmla="val 8157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381598" y="2381098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381598" y="3238805"/>
            <a:ext cx="5048402" cy="523951"/>
          </a:xfrm>
          <a:prstGeom prst="roundRect">
            <a:avLst>
              <a:gd name="adj" fmla="val 50769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381598" y="3857854"/>
            <a:ext cx="5048402" cy="523951"/>
          </a:xfrm>
          <a:prstGeom prst="roundRect">
            <a:avLst>
              <a:gd name="adj" fmla="val 50769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381598" y="4476902"/>
            <a:ext cx="5048402" cy="523951"/>
          </a:xfrm>
          <a:prstGeom prst="roundRect">
            <a:avLst>
              <a:gd name="adj" fmla="val 50769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381598" y="5095951"/>
            <a:ext cx="5048402" cy="523951"/>
          </a:xfrm>
          <a:prstGeom prst="roundRect">
            <a:avLst>
              <a:gd name="adj" fmla="val 50769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381598" y="5715000"/>
            <a:ext cx="5048402" cy="523951"/>
          </a:xfrm>
          <a:prstGeom prst="roundRect">
            <a:avLst>
              <a:gd name="adj" fmla="val 50769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gen-dedup-12f0d9244e0c06417f7f8ac9b14c3ea8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619049" y="509321"/>
            <a:ext cx="190195" cy="1901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05256" y="437998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6-1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76402" y="857707"/>
            <a:ext cx="112398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7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교육·행사 운영 상세 가이드: </a:t>
            </a:r>
            <a:r>
              <a:rPr lang="en-US" sz="3300" b="1" kern="0" spc="-67" dirty="0">
                <a:solidFill>
                  <a:srgbClr val="007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체크리스트</a:t>
            </a:r>
            <a:endParaRPr lang="en-US" sz="3300" dirty="0"/>
          </a:p>
        </p:txBody>
      </p:sp>
      <p:sp>
        <p:nvSpPr>
          <p:cNvPr id="22" name="Text 18"/>
          <p:cNvSpPr txBox="1"/>
          <p:nvPr/>
        </p:nvSpPr>
        <p:spPr>
          <a:xfrm>
            <a:off x="476402" y="1524305"/>
            <a:ext cx="11239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 행사 운영을 체계적으로 관리하기 위한 기획 및 준비 단계 체크리스트</a:t>
            </a:r>
            <a:endParaRPr lang="en-US" sz="1600" dirty="0"/>
          </a:p>
        </p:txBody>
      </p:sp>
      <p:pic>
        <p:nvPicPr>
          <p:cNvPr id="23" name="Image 2" descr="gen-dedup-7a981d1e178d62f30f305f1ab271bfdf.png"/>
          <p:cNvPicPr>
            <a:picLocks noChangeAspect="1"/>
          </p:cNvPicPr>
          <p:nvPr/>
        </p:nvPicPr>
        <p:blipFill>
          <a:blip r:embed="rId4"/>
          <a:srcRect l="-16667" r="-16667"/>
          <a:stretch/>
        </p:blipFill>
        <p:spPr>
          <a:xfrm>
            <a:off x="866851" y="2550262"/>
            <a:ext cx="209398" cy="20939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333195" y="2381098"/>
            <a:ext cx="3810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기획 단계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(Planning)</a:t>
            </a:r>
            <a:endParaRPr lang="en-US" sz="2100" dirty="0"/>
          </a:p>
        </p:txBody>
      </p:sp>
      <p:sp>
        <p:nvSpPr>
          <p:cNvPr id="25" name="Text 20"/>
          <p:cNvSpPr txBox="1"/>
          <p:nvPr/>
        </p:nvSpPr>
        <p:spPr>
          <a:xfrm>
            <a:off x="1295705" y="3390595"/>
            <a:ext cx="40389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 목적 및 기대효과 명확히 정의</a:t>
            </a:r>
            <a:endParaRPr lang="en-US" sz="1800" dirty="0"/>
          </a:p>
        </p:txBody>
      </p:sp>
      <p:pic>
        <p:nvPicPr>
          <p:cNvPr id="26" name="Image 3" descr="gen-dedup-f6093febd72a57baefdad2ed62878ff2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52805" y="3457346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95705" y="4153205"/>
            <a:ext cx="40389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참석 대상자 선정 및 규모 확정</a:t>
            </a:r>
            <a:endParaRPr lang="en-US" sz="1800" dirty="0"/>
          </a:p>
        </p:txBody>
      </p:sp>
      <p:pic>
        <p:nvPicPr>
          <p:cNvPr id="28" name="Image 4" descr="gen-dedup-f6093febd72a57baefdad2ed62878ff2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52805" y="421995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295705" y="4914900"/>
            <a:ext cx="40389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세부 일정 및 마일스톤 수립</a:t>
            </a:r>
            <a:endParaRPr lang="en-US" sz="1800" dirty="0"/>
          </a:p>
        </p:txBody>
      </p:sp>
      <p:pic>
        <p:nvPicPr>
          <p:cNvPr id="30" name="Image 5" descr="gen-dedup-f6093febd72a57baefdad2ed62878ff2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52805" y="4981651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295705" y="5676595"/>
            <a:ext cx="40389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항목별 예산 책정 및 기안 작성</a:t>
            </a:r>
            <a:endParaRPr lang="en-US" sz="1800" dirty="0"/>
          </a:p>
        </p:txBody>
      </p:sp>
      <p:pic>
        <p:nvPicPr>
          <p:cNvPr id="32" name="Image 6" descr="gen-dedup-f6093febd72a57baefdad2ed62878ff2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52805" y="5743346"/>
            <a:ext cx="228600" cy="228600"/>
          </a:xfrm>
          <a:prstGeom prst="rect">
            <a:avLst/>
          </a:prstGeom>
        </p:spPr>
      </p:pic>
      <p:pic>
        <p:nvPicPr>
          <p:cNvPr id="33" name="Image 7" descr="gen-dedup-b5e93ca563c88ab79c144ba8f9b80578.png"/>
          <p:cNvPicPr>
            <a:picLocks noChangeAspect="1"/>
          </p:cNvPicPr>
          <p:nvPr/>
        </p:nvPicPr>
        <p:blipFill>
          <a:blip r:embed="rId6"/>
          <a:srcRect l="-16667" r="-16667"/>
          <a:stretch/>
        </p:blipFill>
        <p:spPr>
          <a:xfrm>
            <a:off x="6486754" y="2550262"/>
            <a:ext cx="209398" cy="20939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953098" y="2381098"/>
            <a:ext cx="3810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준비 단계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(Preparation)</a:t>
            </a:r>
            <a:endParaRPr lang="en-US" sz="2100" dirty="0"/>
          </a:p>
        </p:txBody>
      </p:sp>
      <p:sp>
        <p:nvSpPr>
          <p:cNvPr id="35" name="Text 25"/>
          <p:cNvSpPr txBox="1"/>
          <p:nvPr/>
        </p:nvSpPr>
        <p:spPr>
          <a:xfrm>
            <a:off x="6896405" y="3362249"/>
            <a:ext cx="43443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안내문 및 초대장 템플릿 작성</a:t>
            </a:r>
            <a:endParaRPr lang="en-US" sz="1600" dirty="0"/>
          </a:p>
        </p:txBody>
      </p:sp>
      <p:pic>
        <p:nvPicPr>
          <p:cNvPr id="36" name="Image 8" descr="gen-dedup-4aa0d2c08c47cac91ac7f36a611cdce1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6572707" y="3426257"/>
            <a:ext cx="209398" cy="209398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896405" y="3981298"/>
            <a:ext cx="43443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참가자 접수 시스템(폼) 구축 및 모집 진행</a:t>
            </a:r>
            <a:endParaRPr lang="en-US" sz="1600" dirty="0"/>
          </a:p>
        </p:txBody>
      </p:sp>
      <p:pic>
        <p:nvPicPr>
          <p:cNvPr id="38" name="Image 9" descr="gen-dedup-4aa0d2c08c47cac91ac7f36a611cdce1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6572707" y="4045306"/>
            <a:ext cx="209398" cy="209398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6896405" y="4600346"/>
            <a:ext cx="43443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교육/행사 자료(교재, 명찰, 다과 등) 준비</a:t>
            </a:r>
            <a:endParaRPr lang="en-US" sz="1600" dirty="0"/>
          </a:p>
        </p:txBody>
      </p:sp>
      <p:pic>
        <p:nvPicPr>
          <p:cNvPr id="40" name="Image 10" descr="gen-dedup-4aa0d2c08c47cac91ac7f36a611cdce1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6572707" y="4665269"/>
            <a:ext cx="209398" cy="209398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6896405" y="5219395"/>
            <a:ext cx="486826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 장소 섭외 및 장비(빔, 마이크) 세팅 확인</a:t>
            </a:r>
            <a:endParaRPr lang="en-US" sz="1600" dirty="0"/>
          </a:p>
        </p:txBody>
      </p:sp>
      <p:pic>
        <p:nvPicPr>
          <p:cNvPr id="42" name="Image 11" descr="gen-dedup-4aa0d2c08c47cac91ac7f36a611cdce1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6572707" y="5284318"/>
            <a:ext cx="209398" cy="209398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6896405" y="5838444"/>
            <a:ext cx="486826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행사 1-2일 전 참석자 대상 리마인드 사전 안내</a:t>
            </a:r>
            <a:endParaRPr lang="en-US" sz="1600" dirty="0"/>
          </a:p>
        </p:txBody>
      </p:sp>
      <p:pic>
        <p:nvPicPr>
          <p:cNvPr id="44" name="Image 12" descr="gen-dedup-4aa0d2c08c47cac91ac7f36a611cdce1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6572707" y="5903366"/>
            <a:ext cx="209398" cy="209398"/>
          </a:xfrm>
          <a:prstGeom prst="rect">
            <a:avLst/>
          </a:prstGeom>
        </p:spPr>
      </p:pic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gen-dedup-7da471c02d1035eb0d165a3613c7ec86.png"/>
          <p:cNvPicPr>
            <a:picLocks noChangeAspect="1"/>
          </p:cNvPicPr>
          <p:nvPr/>
        </p:nvPicPr>
        <p:blipFill>
          <a:blip r:embed="rId2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gen-dedup-4be510edb2852c045d19722047701e7f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476402" y="1904695"/>
            <a:ext cx="6324905" cy="4733849"/>
          </a:xfrm>
          <a:prstGeom prst="rect">
            <a:avLst/>
          </a:prstGeom>
        </p:spPr>
      </p:pic>
      <p:pic>
        <p:nvPicPr>
          <p:cNvPr id="5" name="Image 2" descr="gen-dedup-43649d346413e4a8071cc2ec562a95e1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7048195" y="1904695"/>
            <a:ext cx="4705502" cy="4733849"/>
          </a:xfrm>
          <a:prstGeom prst="rect">
            <a:avLst/>
          </a:prstGeom>
        </p:spPr>
      </p:pic>
      <p:pic>
        <p:nvPicPr>
          <p:cNvPr id="6" name="Image 3" descr="gen-dedup-b16c7f865abb0f4e34728407c9768829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666598" y="495605"/>
            <a:ext cx="152705" cy="152705"/>
          </a:xfrm>
          <a:prstGeom prst="rect">
            <a:avLst/>
          </a:prstGeom>
        </p:spPr>
      </p:pic>
      <p:pic>
        <p:nvPicPr>
          <p:cNvPr id="7" name="Image 4" descr="gen-dedup-b97f95731856dcec0065890458ec0675.png"/>
          <p:cNvPicPr>
            <a:picLocks noChangeAspect="1"/>
          </p:cNvPicPr>
          <p:nvPr/>
        </p:nvPicPr>
        <p:blipFill>
          <a:blip r:embed="rId6"/>
          <a:srcRect l="-150" r="-150"/>
          <a:stretch/>
        </p:blipFill>
        <p:spPr>
          <a:xfrm>
            <a:off x="476402" y="381305"/>
            <a:ext cx="1181405" cy="38130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95198" y="381305"/>
            <a:ext cx="762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6-2 </a:t>
            </a:r>
            <a:endParaRPr lang="en-US" sz="1200" dirty="0"/>
          </a:p>
        </p:txBody>
      </p:sp>
      <p:sp>
        <p:nvSpPr>
          <p:cNvPr id="9" name="Text 2"/>
          <p:cNvSpPr txBox="1"/>
          <p:nvPr/>
        </p:nvSpPr>
        <p:spPr>
          <a:xfrm>
            <a:off x="476402" y="857707"/>
            <a:ext cx="112398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69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교육·행사 운영 </a:t>
            </a:r>
            <a:r>
              <a:rPr lang="en-US" sz="3400" b="1" kern="0" spc="-69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프롬프트 및 가이드</a:t>
            </a:r>
            <a:endParaRPr lang="en-US" sz="3400" dirty="0"/>
          </a:p>
        </p:txBody>
      </p:sp>
      <p:sp>
        <p:nvSpPr>
          <p:cNvPr id="10" name="Text 3"/>
          <p:cNvSpPr txBox="1"/>
          <p:nvPr/>
        </p:nvSpPr>
        <p:spPr>
          <a:xfrm>
            <a:off x="476402" y="1561795"/>
            <a:ext cx="11239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 행사 준비를 자동화하고 사후관리를 체계화하는 방법</a:t>
            </a:r>
            <a:endParaRPr lang="en-US" sz="1800" dirty="0"/>
          </a:p>
        </p:txBody>
      </p:sp>
      <p:sp>
        <p:nvSpPr>
          <p:cNvPr id="11" name="Text 4"/>
          <p:cNvSpPr txBox="1"/>
          <p:nvPr/>
        </p:nvSpPr>
        <p:spPr>
          <a:xfrm>
            <a:off x="1066190" y="2095805"/>
            <a:ext cx="5429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안내문 작성 프롬프트 </a:t>
            </a:r>
            <a:endParaRPr lang="en-US" sz="1600" dirty="0"/>
          </a:p>
        </p:txBody>
      </p:sp>
      <p:pic>
        <p:nvPicPr>
          <p:cNvPr id="12" name="Image 5" descr="gen-dedup-7d4dc17eb31abddb9d8be3c83b8ab59c.png"/>
          <p:cNvPicPr>
            <a:picLocks noChangeAspect="1"/>
          </p:cNvPicPr>
          <p:nvPr/>
        </p:nvPicPr>
        <p:blipFill>
          <a:blip r:embed="rId7"/>
          <a:srcRect t="-12500" b="-12500"/>
          <a:stretch/>
        </p:blipFill>
        <p:spPr>
          <a:xfrm>
            <a:off x="761695" y="2143354"/>
            <a:ext cx="209398" cy="209398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761695" y="2476195"/>
            <a:ext cx="5734202" cy="990295"/>
          </a:xfrm>
          <a:prstGeom prst="roundRect">
            <a:avLst>
              <a:gd name="adj" fmla="val 1420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6"/>
          <p:cNvSpPr/>
          <p:nvPr/>
        </p:nvSpPr>
        <p:spPr>
          <a:xfrm>
            <a:off x="761695" y="2476195"/>
            <a:ext cx="38405" cy="990295"/>
          </a:xfrm>
          <a:prstGeom prst="roundRect">
            <a:avLst>
              <a:gd name="adj" fmla="val 36629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7"/>
          <p:cNvSpPr txBox="1"/>
          <p:nvPr/>
        </p:nvSpPr>
        <p:spPr>
          <a:xfrm>
            <a:off x="972007" y="2590495"/>
            <a:ext cx="53538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"다음 정보를 바탕으로 교육 안내문 초안을 작성해줘.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포함 항목: 교육명, 일시, 장소, 대상, 준비물. 참석을 독려하는 긍정적인 어조로 작성해줘."</a:t>
            </a:r>
            <a:endParaRPr lang="en-US" sz="1400" dirty="0"/>
          </a:p>
        </p:txBody>
      </p:sp>
      <p:sp>
        <p:nvSpPr>
          <p:cNvPr id="16" name="Text 8"/>
          <p:cNvSpPr txBox="1"/>
          <p:nvPr/>
        </p:nvSpPr>
        <p:spPr>
          <a:xfrm>
            <a:off x="1066190" y="3617366"/>
            <a:ext cx="5429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설문지 구성 프롬프트 </a:t>
            </a:r>
            <a:endParaRPr lang="en-US" sz="1600" dirty="0"/>
          </a:p>
        </p:txBody>
      </p:sp>
      <p:pic>
        <p:nvPicPr>
          <p:cNvPr id="17" name="Image 6" descr="gen-dedup-85e7e7ff53b167094db699df1cf10fa0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761695" y="3664915"/>
            <a:ext cx="209398" cy="209398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761695" y="3998671"/>
            <a:ext cx="5734202" cy="990295"/>
          </a:xfrm>
          <a:prstGeom prst="roundRect">
            <a:avLst>
              <a:gd name="adj" fmla="val 1420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0"/>
          <p:cNvSpPr/>
          <p:nvPr/>
        </p:nvSpPr>
        <p:spPr>
          <a:xfrm>
            <a:off x="761695" y="3998671"/>
            <a:ext cx="38405" cy="990295"/>
          </a:xfrm>
          <a:prstGeom prst="roundRect">
            <a:avLst>
              <a:gd name="adj" fmla="val 36629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1"/>
          <p:cNvSpPr txBox="1"/>
          <p:nvPr/>
        </p:nvSpPr>
        <p:spPr>
          <a:xfrm>
            <a:off x="972007" y="4112971"/>
            <a:ext cx="53538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 사내 직무 교육에 대한 만족도 설문지를 구성해줘.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만족도, 운영 개선점, 타인 추천도를 묻는 핵심 5문항으로 만들고, 5점 척도 및 객관식 위주로 작성해줘."</a:t>
            </a:r>
            <a:endParaRPr lang="en-US" sz="1400" dirty="0"/>
          </a:p>
        </p:txBody>
      </p:sp>
      <p:sp>
        <p:nvSpPr>
          <p:cNvPr id="21" name="Text 12"/>
          <p:cNvSpPr txBox="1"/>
          <p:nvPr/>
        </p:nvSpPr>
        <p:spPr>
          <a:xfrm>
            <a:off x="1066190" y="5138928"/>
            <a:ext cx="5429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표준화 필수 문서 템플릿 3종 </a:t>
            </a:r>
            <a:endParaRPr lang="en-US" sz="1600" dirty="0"/>
          </a:p>
        </p:txBody>
      </p:sp>
      <p:pic>
        <p:nvPicPr>
          <p:cNvPr id="22" name="Image 7" descr="gen-dedup-cd2ec72f515602c63ca90b19fe3a08ba.png"/>
          <p:cNvPicPr>
            <a:picLocks noChangeAspect="1"/>
          </p:cNvPicPr>
          <p:nvPr/>
        </p:nvPicPr>
        <p:blipFill>
          <a:blip r:embed="rId9"/>
          <a:srcRect l="-16667" r="-16667"/>
          <a:stretch/>
        </p:blipFill>
        <p:spPr>
          <a:xfrm>
            <a:off x="761695" y="5187391"/>
            <a:ext cx="209398" cy="209398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61695" y="5539435"/>
            <a:ext cx="1848002" cy="504749"/>
          </a:xfrm>
          <a:prstGeom prst="roundRect">
            <a:avLst>
              <a:gd name="adj" fmla="val 5469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4"/>
          <p:cNvSpPr txBox="1"/>
          <p:nvPr/>
        </p:nvSpPr>
        <p:spPr>
          <a:xfrm>
            <a:off x="847649" y="5662879"/>
            <a:ext cx="16770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사전 안내문</a:t>
            </a:r>
            <a:endParaRPr lang="en-US" sz="1400" dirty="0"/>
          </a:p>
        </p:txBody>
      </p:sp>
      <p:sp>
        <p:nvSpPr>
          <p:cNvPr id="25" name="Shape 15"/>
          <p:cNvSpPr/>
          <p:nvPr/>
        </p:nvSpPr>
        <p:spPr>
          <a:xfrm>
            <a:off x="2704795" y="5539435"/>
            <a:ext cx="1848002" cy="504749"/>
          </a:xfrm>
          <a:prstGeom prst="roundRect">
            <a:avLst>
              <a:gd name="adj" fmla="val 5469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6"/>
          <p:cNvSpPr txBox="1"/>
          <p:nvPr/>
        </p:nvSpPr>
        <p:spPr>
          <a:xfrm>
            <a:off x="2790749" y="5662879"/>
            <a:ext cx="16770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행사 일정표</a:t>
            </a:r>
            <a:endParaRPr lang="en-US" sz="1400" dirty="0"/>
          </a:p>
        </p:txBody>
      </p:sp>
      <p:sp>
        <p:nvSpPr>
          <p:cNvPr id="27" name="Shape 17"/>
          <p:cNvSpPr/>
          <p:nvPr/>
        </p:nvSpPr>
        <p:spPr>
          <a:xfrm>
            <a:off x="4647895" y="5539435"/>
            <a:ext cx="1848002" cy="504749"/>
          </a:xfrm>
          <a:prstGeom prst="roundRect">
            <a:avLst>
              <a:gd name="adj" fmla="val 5469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8"/>
          <p:cNvSpPr txBox="1"/>
          <p:nvPr/>
        </p:nvSpPr>
        <p:spPr>
          <a:xfrm>
            <a:off x="4733849" y="5662879"/>
            <a:ext cx="16770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결과 설문지</a:t>
            </a:r>
            <a:endParaRPr lang="en-US" sz="1400" dirty="0"/>
          </a:p>
        </p:txBody>
      </p:sp>
      <p:sp>
        <p:nvSpPr>
          <p:cNvPr id="29" name="Shape 19"/>
          <p:cNvSpPr/>
          <p:nvPr/>
        </p:nvSpPr>
        <p:spPr>
          <a:xfrm>
            <a:off x="7334402" y="2609698"/>
            <a:ext cx="4114800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0"/>
          <p:cNvSpPr txBox="1"/>
          <p:nvPr/>
        </p:nvSpPr>
        <p:spPr>
          <a:xfrm>
            <a:off x="7696505" y="2143354"/>
            <a:ext cx="3752698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사후관리 체크리스트 </a:t>
            </a:r>
            <a:endParaRPr lang="en-US" sz="1900" dirty="0"/>
          </a:p>
        </p:txBody>
      </p:sp>
      <p:pic>
        <p:nvPicPr>
          <p:cNvPr id="31" name="Image 8" descr="gen-dedup-f53ecfb2ba8c2953690227fc9042cf96.png"/>
          <p:cNvPicPr>
            <a:picLocks noChangeAspect="1"/>
          </p:cNvPicPr>
          <p:nvPr/>
        </p:nvPicPr>
        <p:blipFill>
          <a:blip r:embed="rId10"/>
          <a:srcRect l="-7143" r="-7143"/>
          <a:stretch/>
        </p:blipFill>
        <p:spPr>
          <a:xfrm>
            <a:off x="7334402" y="2195474"/>
            <a:ext cx="247802" cy="247802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7334402" y="2809951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9" descr="gen-dedup-93d32bac63ae81f4bbf4e50a374d8ca8.png"/>
          <p:cNvPicPr>
            <a:picLocks noChangeAspect="1"/>
          </p:cNvPicPr>
          <p:nvPr/>
        </p:nvPicPr>
        <p:blipFill>
          <a:blip r:embed="rId11"/>
          <a:srcRect l="-7143" r="-7143"/>
          <a:stretch/>
        </p:blipFill>
        <p:spPr>
          <a:xfrm>
            <a:off x="7381951" y="2857500"/>
            <a:ext cx="133502" cy="133502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677302" y="2771546"/>
            <a:ext cx="22101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참석자 감사 메일 발송</a:t>
            </a:r>
            <a:endParaRPr lang="en-US" sz="1500" dirty="0"/>
          </a:p>
        </p:txBody>
      </p:sp>
      <p:sp>
        <p:nvSpPr>
          <p:cNvPr id="35" name="Text 23"/>
          <p:cNvSpPr txBox="1"/>
          <p:nvPr/>
        </p:nvSpPr>
        <p:spPr>
          <a:xfrm>
            <a:off x="7677302" y="306689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종료 후 24시간 이내 발송</a:t>
            </a:r>
            <a:endParaRPr lang="en-US" sz="1200" dirty="0"/>
          </a:p>
        </p:txBody>
      </p:sp>
      <p:sp>
        <p:nvSpPr>
          <p:cNvPr id="36" name="Shape 24"/>
          <p:cNvSpPr/>
          <p:nvPr/>
        </p:nvSpPr>
        <p:spPr>
          <a:xfrm>
            <a:off x="7334402" y="346740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10" descr="gen-dedup-93d32bac63ae81f4bbf4e50a374d8ca8.png"/>
          <p:cNvPicPr>
            <a:picLocks noChangeAspect="1"/>
          </p:cNvPicPr>
          <p:nvPr/>
        </p:nvPicPr>
        <p:blipFill>
          <a:blip r:embed="rId11"/>
          <a:srcRect l="-7143" r="-7143"/>
          <a:stretch/>
        </p:blipFill>
        <p:spPr>
          <a:xfrm>
            <a:off x="7381951" y="3514954"/>
            <a:ext cx="133502" cy="133502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7677302" y="3429000"/>
            <a:ext cx="254020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데이터 취합 및 분석</a:t>
            </a:r>
            <a:endParaRPr lang="en-US" sz="1500" dirty="0"/>
          </a:p>
        </p:txBody>
      </p:sp>
      <p:sp>
        <p:nvSpPr>
          <p:cNvPr id="39" name="Text 26"/>
          <p:cNvSpPr txBox="1"/>
          <p:nvPr/>
        </p:nvSpPr>
        <p:spPr>
          <a:xfrm>
            <a:off x="7677302" y="3724351"/>
            <a:ext cx="2775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만족도 점수 및 주요 개선 의견 도출</a:t>
            </a:r>
            <a:endParaRPr lang="en-US" sz="1200" dirty="0"/>
          </a:p>
        </p:txBody>
      </p:sp>
      <p:sp>
        <p:nvSpPr>
          <p:cNvPr id="40" name="Shape 27"/>
          <p:cNvSpPr/>
          <p:nvPr/>
        </p:nvSpPr>
        <p:spPr>
          <a:xfrm>
            <a:off x="7334402" y="4123944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1" descr="gen-dedup-93d32bac63ae81f4bbf4e50a374d8ca8.png"/>
          <p:cNvPicPr>
            <a:picLocks noChangeAspect="1"/>
          </p:cNvPicPr>
          <p:nvPr/>
        </p:nvPicPr>
        <p:blipFill>
          <a:blip r:embed="rId11"/>
          <a:srcRect l="-7143" r="-7143"/>
          <a:stretch/>
        </p:blipFill>
        <p:spPr>
          <a:xfrm>
            <a:off x="7381951" y="4172407"/>
            <a:ext cx="133502" cy="133502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7677302" y="4086454"/>
            <a:ext cx="232623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정산 및 비용 처리 완료</a:t>
            </a:r>
            <a:endParaRPr lang="en-US" sz="1500" dirty="0"/>
          </a:p>
        </p:txBody>
      </p:sp>
      <p:sp>
        <p:nvSpPr>
          <p:cNvPr id="43" name="Text 29"/>
          <p:cNvSpPr txBox="1"/>
          <p:nvPr/>
        </p:nvSpPr>
        <p:spPr>
          <a:xfrm>
            <a:off x="7677302" y="4381805"/>
            <a:ext cx="23655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강사료, 다과비 등 영수증 처리</a:t>
            </a:r>
            <a:endParaRPr lang="en-US" sz="1200" dirty="0"/>
          </a:p>
        </p:txBody>
      </p:sp>
      <p:sp>
        <p:nvSpPr>
          <p:cNvPr id="44" name="Shape 30"/>
          <p:cNvSpPr/>
          <p:nvPr/>
        </p:nvSpPr>
        <p:spPr>
          <a:xfrm>
            <a:off x="7334402" y="4781398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2" descr="gen-dedup-93d32bac63ae81f4bbf4e50a374d8ca8.png"/>
          <p:cNvPicPr>
            <a:picLocks noChangeAspect="1"/>
          </p:cNvPicPr>
          <p:nvPr/>
        </p:nvPicPr>
        <p:blipFill>
          <a:blip r:embed="rId11"/>
          <a:srcRect l="-7143" r="-7143"/>
          <a:stretch/>
        </p:blipFill>
        <p:spPr>
          <a:xfrm>
            <a:off x="7381951" y="4828946"/>
            <a:ext cx="133502" cy="133502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7677302" y="4743907"/>
            <a:ext cx="2220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보고서 작성</a:t>
            </a:r>
            <a:endParaRPr lang="en-US" sz="1500" dirty="0"/>
          </a:p>
        </p:txBody>
      </p:sp>
      <p:sp>
        <p:nvSpPr>
          <p:cNvPr id="47" name="Text 32"/>
          <p:cNvSpPr txBox="1"/>
          <p:nvPr/>
        </p:nvSpPr>
        <p:spPr>
          <a:xfrm>
            <a:off x="7677302" y="5038344"/>
            <a:ext cx="2811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활용한 설문 요약 및 결과 보고</a:t>
            </a:r>
            <a:endParaRPr lang="en-US" sz="1200" dirty="0"/>
          </a:p>
        </p:txBody>
      </p:sp>
      <p:sp>
        <p:nvSpPr>
          <p:cNvPr id="48" name="Shape 33"/>
          <p:cNvSpPr/>
          <p:nvPr/>
        </p:nvSpPr>
        <p:spPr>
          <a:xfrm>
            <a:off x="7334402" y="5438851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3" descr="gen-dedup-93d32bac63ae81f4bbf4e50a374d8ca8.png"/>
          <p:cNvPicPr>
            <a:picLocks noChangeAspect="1"/>
          </p:cNvPicPr>
          <p:nvPr/>
        </p:nvPicPr>
        <p:blipFill>
          <a:blip r:embed="rId11"/>
          <a:srcRect l="-7143" r="-7143"/>
          <a:stretch/>
        </p:blipFill>
        <p:spPr>
          <a:xfrm>
            <a:off x="7381951" y="5486400"/>
            <a:ext cx="133502" cy="133502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7677302" y="5400446"/>
            <a:ext cx="26005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매뉴얼 업데이트</a:t>
            </a:r>
            <a:endParaRPr lang="en-US" sz="1500" dirty="0"/>
          </a:p>
        </p:txBody>
      </p:sp>
      <p:sp>
        <p:nvSpPr>
          <p:cNvPr id="51" name="Text 35"/>
          <p:cNvSpPr txBox="1"/>
          <p:nvPr/>
        </p:nvSpPr>
        <p:spPr>
          <a:xfrm>
            <a:off x="7677302" y="5695798"/>
            <a:ext cx="31354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발생한 이슈와 개선점을 다음 행사에 반영</a:t>
            </a:r>
            <a:endParaRPr lang="en-US" sz="1200" dirty="0"/>
          </a:p>
        </p:txBody>
      </p:sp>
      <p:sp>
        <p:nvSpPr>
          <p:cNvPr id="5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FF899E1-97BD-9F44-BB81-4C26DF56ECB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4cf743c-48ad-4c82-81c3-aaa50e0cde9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5898</Words>
  <Application>Microsoft Macintosh PowerPoint</Application>
  <PresentationFormat>와이드스크린</PresentationFormat>
  <Paragraphs>997</Paragraphs>
  <Slides>56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59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5</cp:revision>
  <dcterms:created xsi:type="dcterms:W3CDTF">2026-06-01T19:47:53Z</dcterms:created>
  <dcterms:modified xsi:type="dcterms:W3CDTF">2026-06-02T11:51:58Z</dcterms:modified>
</cp:coreProperties>
</file>