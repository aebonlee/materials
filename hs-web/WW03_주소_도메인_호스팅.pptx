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4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1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DF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7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주소·도메인·호스팅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URL의 구조, DNS가 하는 일, 사이트가 인터넷에 뜨기까지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AI·SW계열 · 웹프로그래밍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 hs-web.dreamitbiz.com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 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URL의 각 부분이 무엇을 뜻하는지 설명할 수 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DNS가 도메인을 IP로 바꾸는 과정을 설명할 수 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도메인·호스팅·서버의 관계를 구분할 수 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정적 사이트와 동적 사이트의 차이와 배포 방식을 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HTTPS가 무엇을 보호하는지 설명할 수 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핵심 키워드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781300"/>
            <a:ext cx="66104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104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URL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99297" y="2781300"/>
            <a:ext cx="99108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99297" y="2781300"/>
            <a:ext cx="99108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프로토콜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85635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85635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도메인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90876" y="2781300"/>
            <a:ext cx="117218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90876" y="2781300"/>
            <a:ext cx="117218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서브도메인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8311" y="2781300"/>
            <a:ext cx="694215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8311" y="2781300"/>
            <a:ext cx="694215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DNS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7776" y="2781300"/>
            <a:ext cx="452938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7776" y="2781300"/>
            <a:ext cx="452938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5964" y="2781300"/>
            <a:ext cx="80999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5964" y="2781300"/>
            <a:ext cx="80999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호스팅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1205" y="2781300"/>
            <a:ext cx="1068851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01205" y="2781300"/>
            <a:ext cx="1068851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정적/동적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65306" y="2781300"/>
            <a:ext cx="949407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65306" y="2781300"/>
            <a:ext cx="949407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9963" y="2781300"/>
            <a:ext cx="713860" cy="400050"/>
          </a:xfrm>
          <a:prstGeom prst="roundRect">
            <a:avLst>
              <a:gd name="adj" fmla="val 50000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9963" y="2781300"/>
            <a:ext cx="713860" cy="4000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CDN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학습사이트의 본문에서 이 낱말들을 찾아 읽으면 이 시간의 뼈대가 잡힙니다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URL 읽는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전체 형태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025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https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:</a:t>
            </a:r>
            <a:r>
              <a:rPr sz="2025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//hs-web.dreamitbiz.com:443/weeks/3?tab=lab#lab-w3-1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└─┬─┘   └───────────┬──────────┘└┬┘└──┬──┘└──┬──┘└───┬───┘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       │            │    │      │       └ 프래그먼트 — 문서 안 위치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       │            │    │      └ 질의 문자열 — 부가 조건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       │            │    └ 경로 — 어떤 문서인가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       │            └ 포트 (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http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</a:t>
            </a:r>
            <a:r>
              <a:rPr sz="2025" b="0">
                <a:solidFill>
                  <a:srgbClr val="FFB08A"/>
                </a:solidFill>
                <a:latin typeface="나눔고딕코딩"/>
                <a:ea typeface="나눔고딕코딩"/>
                <a:cs typeface="나눔고딕코딩"/>
              </a:rPr>
              <a:t>80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https</a:t>
            </a: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=443이면 생략)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       └ 호스트 — 어느 컴퓨터인가</a:t>
            </a:r>
          </a:p>
          <a:p>
            <a:pPr algn="l">
              <a:lnSpc>
                <a:spcPct val="115000"/>
              </a:lnSpc>
            </a:pPr>
            <a:r>
              <a:rPr sz="2025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└ 프로토콜 — 어떤 규칙으로 주고받을 것인가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URL 읽는 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6764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676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조각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57500" y="2781300"/>
            <a:ext cx="882015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781300"/>
            <a:ext cx="88201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15750" y="2781300"/>
            <a:ext cx="542925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15750" y="2781300"/>
            <a:ext cx="542925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누가 처리하는가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프로토콜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3448050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52750" y="3448050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통신 규칙 (https: · mailto: · tel:)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15750" y="3448050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811000" y="3448050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호스트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57500" y="4143375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52750" y="4143375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서버인가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15750" y="4143375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811000" y="4143375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DNS → 서버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포트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857500" y="4838700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52750" y="4838700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서버의 어느 문인가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15750" y="4838700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11000" y="4838700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경로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57500" y="5534025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52750" y="5534025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자원인가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15750" y="5534025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811000" y="5534025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질의 문자열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857500" y="6229350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52750" y="6229350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검색어·필터 같은 부가 정보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715750" y="6229350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811000" y="6229350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16764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1485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프래그먼트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857500" y="6924675"/>
            <a:ext cx="88201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952750" y="6924675"/>
            <a:ext cx="86296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 안의 위치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715750" y="6924675"/>
            <a:ext cx="542925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811000" y="6924675"/>
            <a:ext cx="523875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브라우저만 — 서버로 전송되지 않음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URL 읽는 법 (1/2)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프래그먼트(#뒤)는 서버로 가지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안에서만 쓰입니다.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&lt;a href="#contact"&gt; 가 페이지를 다시 불러오지 않고 스크롤만 하는 것입니다.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URL 읽는 법 (2/2)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개인정보를 질의 문자열에 넣지 마세요.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주소는 브라우저 기록, 서버 로그, 리퍼러 헤더에 그대로 남습니다.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비밀번호나 주민번호가 URL에 있으면 여러 곳에 평문으로 기록됩니다.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경로의 종류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143991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143991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25091" y="2781300"/>
            <a:ext cx="4326082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25091" y="2781300"/>
            <a:ext cx="432608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89273" y="2781300"/>
            <a:ext cx="9455727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9273" y="2781300"/>
            <a:ext cx="945572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14399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9534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절대 URL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5091" y="3448050"/>
            <a:ext cx="43260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0341" y="3448050"/>
            <a:ext cx="41355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주소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9273" y="3448050"/>
            <a:ext cx="945572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84523" y="3448050"/>
            <a:ext cx="926522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https://example.com/a.html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14399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9534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루트 상대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5091" y="4171950"/>
            <a:ext cx="43260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20341" y="4171950"/>
            <a:ext cx="41355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사이트 최상위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9273" y="4171950"/>
            <a:ext cx="945572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84523" y="4171950"/>
            <a:ext cx="926522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/images/logo.png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14399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9534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상대 경로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25091" y="4895850"/>
            <a:ext cx="43260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20341" y="4895850"/>
            <a:ext cx="41355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지금 파일이 있는 폴더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89273" y="4895850"/>
            <a:ext cx="945572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4523" y="4895850"/>
            <a:ext cx="926522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images/logo.png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143991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953491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상위 폴더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25091" y="5619750"/>
            <a:ext cx="43260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20341" y="5619750"/>
            <a:ext cx="41355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단계 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9273" y="5619750"/>
            <a:ext cx="945572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84523" y="5619750"/>
            <a:ext cx="926522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../style.css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1.1 경로의 종류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GitHub Pages의 하위 주소(사용자.github.io/리포명/)에 배포할 때 /로 시작하는 경로를 쓰면 파일을 못 찾습니다.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/style.css 는 사용자.github.io/style.css 를 찾아가기 때문입니다.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상대 경로(style.css)를 쓰세요.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도메인과 DNS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컴퓨터는 숫자 주소(IP)로 서로를 찾습니다.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도메인과 DNS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185.199.108.153 같은 것입니다.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사람이 이것을 외울 수 없으니 이름을 붙이고 그 이름을 번호로 바꿔 주는 전화번호부를 둔 것이 DNS입니다.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도메인의 구조 — 오른쪽부터 읽습니다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343150"/>
            <a:ext cx="16002000" cy="5524500"/>
          </a:xfrm>
          <a:prstGeom prst="roundRect">
            <a:avLst>
              <a:gd name="adj" fmla="val 1724"/>
            </a:avLst>
          </a:prstGeom>
          <a:solidFill>
            <a:srgbClr val="1E2433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343150"/>
            <a:ext cx="685800" cy="5524500"/>
          </a:xfrm>
          <a:prstGeom prst="rect">
            <a:avLst/>
          </a:prstGeom>
          <a:solidFill>
            <a:srgbClr val="171C2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code-lineno"/>
          <p:cNvSpPr txBox="1"/>
          <p:nvPr/>
        </p:nvSpPr>
        <p:spPr>
          <a:xfrm>
            <a:off x="1143000" y="2552700"/>
            <a:ext cx="55245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1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2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3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4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5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6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7</a:t>
            </a:r>
          </a:p>
          <a:p>
            <a:pPr algn="r">
              <a:lnSpc>
                <a:spcPct val="115000"/>
              </a:lnSpc>
            </a:pPr>
            <a:r>
              <a:rPr sz="2250" b="0">
                <a:solidFill>
                  <a:srgbClr val="7A869C"/>
                </a:solidFill>
                <a:latin typeface="나눔고딕코딩"/>
                <a:ea typeface="나눔고딕코딩"/>
                <a:cs typeface="나눔고딕코딩"/>
              </a:rPr>
              <a:t>8</a:t>
            </a:r>
          </a:p>
        </p:txBody>
      </p:sp>
      <p:sp>
        <p:nvSpPr>
          <p:cNvPr id="11" name="deckgen:code"/>
          <p:cNvSpPr txBox="1"/>
          <p:nvPr/>
        </p:nvSpPr>
        <p:spPr>
          <a:xfrm>
            <a:off x="2038350" y="2552700"/>
            <a:ext cx="14897100" cy="5105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hs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-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web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.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dreamitbiz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.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│          │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│          └ 최상위 도메인(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TLD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) —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com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ac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.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kr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io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...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│          └ 2단계 도메인 — 실제로 등록하고 돈을 내는 부분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 └ 서브도메인 — 등록자가 마음대로 만들 수 있다 (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www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blog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, 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api</a:t>
            </a: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> ...)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E6EAF2"/>
                </a:solidFill>
                <a:latin typeface="나눔고딕코딩"/>
                <a:ea typeface="나눔고딕코딩"/>
                <a:cs typeface="나눔고딕코딩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/* 하나의 도메인을 등록하면 서브도메인은 얼마든지 만들 수 있습니다.</a:t>
            </a:r>
          </a:p>
          <a:p>
            <a:pPr algn="l">
              <a:lnSpc>
                <a:spcPct val="115000"/>
              </a:lnSpc>
            </a:pPr>
            <a:r>
              <a:rPr sz="2250" b="0">
                <a:solidFill>
                  <a:srgbClr val="8F9DB5"/>
                </a:solidFill>
                <a:latin typeface="나눔고딕코딩"/>
                <a:ea typeface="나눔고딕코딩"/>
                <a:cs typeface="나눔고딕코딩"/>
              </a:rPr>
              <a:t>   www.example.com 과 blog.example.com 은 같은 도메인의 다른 서브도메인입니다. */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2.1 DNS 조회 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5750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857500"/>
            <a:ext cx="47625" cy="90297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09943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16611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95275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 캐시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최근에 찾아본 적 있으면 여기서 끝납니다.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389382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3893820"/>
            <a:ext cx="47625" cy="90297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13575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20243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98907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운영체제 캐시 / hosts 파일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그다음.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493014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4930140"/>
            <a:ext cx="47625" cy="90297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02539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DNS 서버에 질의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보통 통신사나 공용 DNS(8.8.8.8 등).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596646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5966460"/>
            <a:ext cx="47625" cy="90297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20839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27507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06171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루트 → TLD → 권한 서버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순으로 물어 최종 IP를 받습니다.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002780"/>
            <a:ext cx="16002000" cy="902970"/>
          </a:xfrm>
          <a:prstGeom prst="roundRect">
            <a:avLst>
              <a:gd name="adj" fmla="val 527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143000" y="7002780"/>
            <a:ext cx="47625" cy="90297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428750" y="724471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8750" y="731139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7098030"/>
            <a:ext cx="14763750" cy="71247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결과를 일정 시간(TTL) 동안 캐시합니다.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2.1 DNS 조회 과정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캐시 때문에 도메인 설정을 바꿔도 즉시 반영되지 않습니다.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몇 분에서 길게는 하루까지 걸릴 수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"설정했는데 안 되는데요"의 흔한 원인이며, 대개 기다리면 해결됩니다.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2.2 DNS 레코드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462212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46221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43312" y="2781300"/>
            <a:ext cx="4462462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3312" y="2781300"/>
            <a:ext cx="446246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무엇을 가리키는가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43875" y="2781300"/>
            <a:ext cx="9001125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3875" y="2781300"/>
            <a:ext cx="9001125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46221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2717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43312" y="3448050"/>
            <a:ext cx="446246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38562" y="3448050"/>
            <a:ext cx="42719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IPv4 주소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3875" y="3448050"/>
            <a:ext cx="900112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9125" y="3448050"/>
            <a:ext cx="881062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도메인 → 서버 IP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46221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2717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AAAA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43312" y="4171950"/>
            <a:ext cx="446246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38562" y="4171950"/>
            <a:ext cx="42719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IPv6 주소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43875" y="4171950"/>
            <a:ext cx="900112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39125" y="4171950"/>
            <a:ext cx="881062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46221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2717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CNAME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43312" y="4895850"/>
            <a:ext cx="446246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8562" y="4895850"/>
            <a:ext cx="42719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도메인 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3875" y="4895850"/>
            <a:ext cx="900112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9125" y="4895850"/>
            <a:ext cx="881062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Pages 연결에 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46221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2717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MX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43312" y="5619750"/>
            <a:ext cx="446246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38562" y="5619750"/>
            <a:ext cx="42719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메일 서버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43875" y="5619750"/>
            <a:ext cx="900112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39125" y="5619750"/>
            <a:ext cx="881062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이메일 수신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46221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27171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TXT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643312" y="6343650"/>
            <a:ext cx="446246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38562" y="6343650"/>
            <a:ext cx="427196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 문자열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143875" y="6343650"/>
            <a:ext cx="9001125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39125" y="6343650"/>
            <a:ext cx="8810625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소유 확인, 스팸 방지 설정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사이트가 인터넷에 뜨기까지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웹사이트를 공개하려면 세 가지가 필요합니다.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사이트가 인터넷에 뜨기까지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297582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29758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2478682" y="2781300"/>
            <a:ext cx="3890378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78682" y="2781300"/>
            <a:ext cx="389037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7160" y="2781300"/>
            <a:ext cx="8342653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7160" y="2781300"/>
            <a:ext cx="8342653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787913" y="2781300"/>
            <a:ext cx="2357087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787913" y="2781300"/>
            <a:ext cx="2357087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129758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11070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478682" y="3448050"/>
            <a:ext cx="389037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73932" y="3448050"/>
            <a:ext cx="369987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 이름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7160" y="3448050"/>
            <a:ext cx="83426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02410" y="3448050"/>
            <a:ext cx="81521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가비아, Namecheap, Cloudflare 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787913" y="3448050"/>
            <a:ext cx="235708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883163" y="3448050"/>
            <a:ext cx="216658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 1~2만 원~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129758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11070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호스팅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78682" y="4171950"/>
            <a:ext cx="389037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73932" y="4171950"/>
            <a:ext cx="369987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두고 서비스할 컴퓨터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7160" y="4171950"/>
            <a:ext cx="83426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2410" y="4171950"/>
            <a:ext cx="81521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Pages, Netlify, Vercel, 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787913" y="4171950"/>
            <a:ext cx="235708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883163" y="4171950"/>
            <a:ext cx="216658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무료도 많음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1297582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11070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478682" y="4895850"/>
            <a:ext cx="3890378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573932" y="4895850"/>
            <a:ext cx="369987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만든 HTML·CSS·JS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7160" y="4895850"/>
            <a:ext cx="8342653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02410" y="4895850"/>
            <a:ext cx="8152153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내가 만든 것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787913" y="4895850"/>
            <a:ext cx="2357087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883163" y="4895850"/>
            <a:ext cx="2166587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흔히 하나로 묶어 생각하지만 서로 다른 것입니다.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사이트가 인터넷에 뜨기까지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 없이도 사이트는 공개됩니다.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GitHub Pages를 쓰면 사용자이름.github.io 라는 주소를 무료로 줍니다.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도메인은 "더 예쁜 이름"을 갖고 싶을 때 사는 것입니다.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정적 사이트와 동적 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9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9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191000" y="2781300"/>
            <a:ext cx="68199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91000" y="2781300"/>
            <a:ext cx="6819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정적 사이트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49000" y="2781300"/>
            <a:ext cx="6096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9000" y="2781300"/>
            <a:ext cx="6096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동적 사이트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서버가 하는 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91000" y="3448050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86250" y="3448050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그대로 내려 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49000" y="3448050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44250" y="3448050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요청마다 페이지를 만들어 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필요한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91000" y="4143375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6250" y="4143375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저장소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49000" y="4143375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44250" y="4143375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프로그램 + 데이터베이스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속도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91000" y="4838700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86250" y="4838700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빠름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49000" y="4838700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44250" y="4838700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상대적으로 느림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비용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91000" y="5534025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86250" y="5534025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무료~아주 저렴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49000" y="5534025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44250" y="5534025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 비용 발생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191000" y="6229350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86250" y="6229350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포트폴리오, 소개 사이트, 블로그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49000" y="6229350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44250" y="6229350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쇼핑몰, 커뮤니티, SNS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0099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81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이 수업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191000" y="6924675"/>
            <a:ext cx="68199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86250" y="6924675"/>
            <a:ext cx="66294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여기에 해당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49000" y="6924675"/>
            <a:ext cx="6096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44250" y="6924675"/>
            <a:ext cx="5905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13주차에 개념만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3.1 정적 사이트와 동적 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766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766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1243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1910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9719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우리가 만드는 것은 HTML·CSS·JS 파일뿐인 정적 사이트입니다.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그래서 서버를 빌리거나 만들지 않고도 GitHub Pages에 그대로 올려 공개할 수 있습니다.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97217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97217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621982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628650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606742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JavaScript로 fetch를 해도 여전히 정적 사이트입니다 — 파일을 내려 준 뒤의 일은 브라우저가 하는 것이니까요.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3.2 무료 정적 호스팅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295900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295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서비스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77000" y="2781300"/>
            <a:ext cx="10668000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7000" y="2781300"/>
            <a:ext cx="10668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295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105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GitHub Pages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77000" y="3448050"/>
            <a:ext cx="10668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72250" y="3448050"/>
            <a:ext cx="10477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GitHub 리포에 올리면 바로 공개. 이 수업에서 씁니다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5295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5105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Netlify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77000" y="4171950"/>
            <a:ext cx="10668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72250" y="4171950"/>
            <a:ext cx="10477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드래그앤드롭으로도 배포. 폼 처리 기능 제공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5295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5105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Vercel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4895850"/>
            <a:ext cx="10668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72250" y="4895850"/>
            <a:ext cx="10477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Next.js를 만든 회사. 프레임워크 배포에 강함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52959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5105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Cloudflare Pages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77000" y="5619750"/>
            <a:ext cx="10668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72250" y="5619750"/>
            <a:ext cx="10477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 세계 CDN이 기본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 는 오가는 내용이 그대로 보입니다.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같은 와이파이에 있는 사람이 여러분이 입력한 비밀번호를 볼 수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https:// 는 그것을 암호화합니다.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265718" cy="590550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265718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HTTPS가 보장하는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46818" y="2781300"/>
            <a:ext cx="9698182" cy="59055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46818" y="2781300"/>
            <a:ext cx="9698182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26571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0752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기밀성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46818" y="3448050"/>
            <a:ext cx="96981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42068" y="3448050"/>
            <a:ext cx="95076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중간에서 내용을 볼 수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26571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0752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무결성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46818" y="4171950"/>
            <a:ext cx="96981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42068" y="4171950"/>
            <a:ext cx="95076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중간에서 내용을 바꿀 수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265718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BD0F3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075218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인증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46818" y="4895850"/>
            <a:ext cx="9698182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2068" y="4895850"/>
            <a:ext cx="9507682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접속한 서버가 진짜 그 서버인지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지금은 HTTPS가 기본입니다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브라우저가 HTTP 사이트에 "안전하지 않음" 경고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를 띄웁니다.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검색 순위에 반영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위치·카메라·마이크 같은 기능은 HTTPS에서만 동작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무료로 받을 수 있습니다.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Let's Encrypt 덕분에 비용 문제는 사라졌고, GitHub Pages·Netlify 등은 자동으로 붙여 줍니다.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HTTPS는 오가는 길을 보호할 뿐입니다.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사이트 자체가 안전하다는 뜻은 아닙니다.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피싱 사이트도 HTTPS를 씁니다.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자물쇠 아이콘이 있다고 믿을 만한 사이트인 것은 아닙니다.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CDN — 전 세계에 사본을 두는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서버가 서울에 하나뿐이면 브라질에서 접속하는 사람은 지구 반 바퀴를 돌아야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CDN — 전 세계에 사본을 두는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924425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924425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5172075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5238750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5019675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CDN(Content Delivery Network) 은 세계 곳곳에 사본을 두고 가장 가까운 곳에서 내려 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678150" y="1181100"/>
            <a:ext cx="1466850" cy="590550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6002000" y="1400175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0" y="1295400"/>
            <a:ext cx="7239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838200"/>
            <a:ext cx="141541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162050"/>
            <a:ext cx="141541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CDN이 주는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빠른 로딩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물리적 거리가 짧아집니다.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부하 분산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 서버가 몰리는 요청을 다 받지 않아도 됩니다.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안정성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곳이 죽어도 다른 곳이 서비스합니다.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캐시 지연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원본을 고쳐도 각지의 사본이 갱신되기까지 시간이 걸립니다. 몇 시간까지도 걸릴 수 있습니다.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·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CDN — 전 세계에 사본을 두는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무료 정적 호스팅은 대부분 CDN이 기본으로 붙어 있습니다.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32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여러분이 GitHub Pages에 올린 사이트도 전 세계에서 비슷한 속도로 열립니다 — 아무 설정 없이도.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한신대학교 웹프로그래밍(AS006-E) 2026-2학기 · 웹의 세계 3장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02A5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웹의 세계 3장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3장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주소·도메인·호스팅 — 본문과 도해는 학습사이트에서 다시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학습사이트 장 페이지 끝의 「이해했어요 · 어려워요」 표시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장 끝의 확인 퀴즈로 스스로 점검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함께 볼 주차: 1주차 · 13주차 · 15주차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D4ED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02A56"/>
                </a:solidFill>
                <a:latin typeface="Pretendard"/>
                <a:ea typeface="Pretendard"/>
                <a:cs typeface="Pretendard"/>
              </a:rPr>
              <a:t>막히면 「질문있어요」 — 질문은 반 전체가 같은 자리에서 봅니다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