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조회의 구조, WHERE 조건 검색, 정렬과 내장 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문의 기본 구조와 실행 순서를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별칭(AS)과 DISTINCT로 조회 결과를 가공한다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비교·논리 연산자, BETWEEN·IN·LIKE·IS NULL을 골라 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NULL의 3값 논리(TRUE/FALSE/UNKNOWN)로 올바르게 비교한다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BY·LIMIT과 내장 함수로 결과를 정렬·가공한다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지난주 적재한 다온유통 시드 데이터로 조회를 시작합니다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문의 기본 구조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선택과 별칭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절 — 조건 검색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300" y="63246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NULL의 처리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 — 정렬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LIMIT — 결과 제한과 페이징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쓰는 내장 함수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SELECT 문의 기본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문 전체 구문 — 쓰는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  [DISTINCT] 컬럼목록      -- ⑤ 표시할 열 선택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  테이블명                 -- ① 대상 테이블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  조건                     -- ② 행 필터링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컬럼                     -- ③ 그룹화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HAVING   그룹조건                 -- ④ 그룹 필터링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컬럼 [ASC|DESC]          -- ⑥ 정렬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LIMIT    개수 [OFFSET 시작];      -- ⑦ 결과 제한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동그라미 숫자 = 실제 실행 순서 · 대괄호는 생략 가능 · GROUP BY·HAVING은 6주차에 다룬다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SELECT 문의 기본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작성 순서와 실행 순서는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/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가져올 테이블 결정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044043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044043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단위 필터링 (별칭 사용 불가)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640036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640036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지정한 컬럼으로 그룹화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5236029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5236029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단위 필터링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5832021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130" y="5832021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표시할 컬럼 선택, 별칭 부여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0332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857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6428014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9130" y="6428014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(별칭 사용 가능)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25222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23317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0332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857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80" y="7024007"/>
            <a:ext cx="89611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9130" y="7024007"/>
            <a:ext cx="87706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행 수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FROM이 가장 먼저, SELECT는 거의 마지막 — 그래서 SELECT의 별칭은 WHERE에서는 못 쓰고 ORDER BY에서는 쓴다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컬럼 선택과 별칭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어느 테이블에서 어떤 열을 보여줄까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619506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619506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전체 컬럼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*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특정 컬럼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cust_id, name, points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별칭(AS) — AS는 생략 가능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 AS 고객번호,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name    AS 이름,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points  AS 포인트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* = 모든 컬럼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구조를 훑어볼 때만 — 보고서에는 필요한 열만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열만 고르기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순서는 적은 순서대로 나온다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580796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563651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563651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8–11행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열 제목을 한글로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화면만 바뀌고 원본 컬럼명은 그대로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컬럼 선택과 별칭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계산식도 열이 된다 — 산술과 문자열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공백이 포함된 별칭은 따옴표로 감싼다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AS '고객 이름', price * 0.9 AS '10% 할인가'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산술 연산과 문자열 연결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price * stock                    AS 재고자산액,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CONCAT(name, '(', prod_id, ')')  AS 표기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10% 할인가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* 0.9를 계산해 보고서 열로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단가 × 재고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창고에 묶인 금액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CONCAT()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무선 전기포트(P001)처럼 이어 붙인다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문자열 연결은 || 가 아니라 CONCAT() — Oracle·PostgreSQL은 || 를 쓴다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2.1 DISTINCT — 중복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값이 반복될 때 종류만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619506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619506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56310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56310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고객 등급 목록 (중복 포함, 10행)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중복 제거 → VIP, GOLD, SILVER (3행)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DISTINCT grade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여러 컬럼의 조합에 대해 중복 제거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DISTINCT grade, city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중복 제거 후 개수 세기 (NULL은 제외됨)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COUNT(DISTINCT city) AS 도시수 FROM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서울·부산·대전·광주·인천 → 5 (C007의 city NULL은 제외)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등급 체계 확인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등급이 있나에 답할 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(등급, 도시) 짝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같아야 한 행으로 합쳐진다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65440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63726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63726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11–12행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서로 다른 값의 개수 — 고객이 분포한 도시 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WHERE 절 — 조건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 연산자 — 경영 질문을 조건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grade = 'VIP'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&lt;&gt;, !=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같지 않다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044043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044043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status &lt;&gt; '취소'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&gt;, &gt;=, &lt;, &lt;=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크다 / 크거나 같다 / 작다 / 작거나 같다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640036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640036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price &gt;= 20000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BETWEEN a AND 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 이상 b 이하 (경계 포함)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236029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236029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points BETWEEN 1000 AND 3000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 (값목록)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중 하나와 일치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832021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832021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IN ('가전','식품')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LIKE 패턴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패턴 일치 (문자열)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428014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428014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name LIKE '김%'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 NULL / IS NOT NULL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여부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7024007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7024007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emp_id IS NULL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「서울의 VIP에게 쿠폰을」 「품절 상품을 발주하자」 — 타겟 마케팅과 재고 관리의 출발점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3.2 논리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AND · OR · NOT — 조건 이어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579304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579304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5353812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5353812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6418516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641851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77341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77341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AND: 두 조건 모두 만족 — 서울에 사는 VIP 고객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city, points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grade = 'VIP' AND city = '서울';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한가람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OR: 둘 중 하나 만족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customers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grade = 'VIP' OR grade = 'GOLD';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NOT: 조건 부정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customers WHERE NOT grade = 'SILVER';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products  WHERE category NOT IN ('가전','식품');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73770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56625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56625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AND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조건을 다 만족하는 행만 — 타겟 마케팅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551221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534076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534076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VIP이거나 GOLD — 우수 고객군 전체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675436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658291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658291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12–13행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SILVER가 아닌 고객 · 가전·식품을 뺀 상품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3.2 논리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우선순위 NOT &gt; AND &gt; OR — OR는 괄호로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16924"/>
            <a:ext cx="8953500" cy="30232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16924"/>
            <a:ext cx="47625" cy="30232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119247"/>
            <a:ext cx="8953500" cy="30232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119247"/>
            <a:ext cx="47625" cy="30232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723894"/>
            <a:ext cx="8953500" cy="30232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723894"/>
            <a:ext cx="47625" cy="30232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026218"/>
            <a:ext cx="8953500" cy="30232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026218"/>
            <a:ext cx="47625" cy="30232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380"/>
              </a:lnSpc>
            </a:pPr>
            <a:r>
              <a:rPr sz="17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우선순위 주의: 아래 두 결과는 다르다</a:t>
            </a:r>
          </a:p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* FROM customers WHERE grade='VIP' OR grade='GOLD' AND city='서울';</a:t>
            </a:r>
          </a:p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 → grade='VIP' OR (grade='GOLD' AND city='서울')</a:t>
            </a:r>
          </a:p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* FROM customers WHERE (grade='VIP' OR grade='GOLD') AND city='서울';</a:t>
            </a:r>
          </a:p>
          <a:p>
            <a:pPr algn="l">
              <a:lnSpc>
                <a:spcPts val="2380"/>
              </a:lnSpc>
            </a:pPr>
            <a:r>
              <a:rPr sz="17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 → 서울에 사는 VIP·GOLD 고객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10019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92874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92874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괄호 없음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AND가 먼저 묶여 서울이 아닌 VIP(임수빈·대전)도 들어온다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00716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83571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83571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OR를 괄호로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의도가 「서울에 사는 우수 고객」이면 이쪽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연산자 우선순위는 NOT &gt; AND &gt; OR — OR 조건은 괄호로 묶어 의도를 분명히 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3.3 BETWEEN과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범위는 BETWEEN, 목록은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48627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8007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8007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78656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78656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14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BETWEEN은 양쪽 경계를 포함한다 (&gt;= AND &lt;=)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FROM products WHERE price BETWEEN 10000 AND 20000;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결과: 유기농 원두 500g, 곡물 시리얼 세트, 천연 세탁세제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날짜에도 사용 가능 — 2024년에 가입한 고객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joined_date FROM customers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joined_date BETWEEN '2024-01-01' AND '2024-12-31';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한가람, 오세영, 장민혁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NOT BETWEEN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products WHERE price NOT BETWEEN 5000 AND 50000;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IN: 여러 값 중 하나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category FROM products WHERE category IN ('가전','문구');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9884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170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170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93206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932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1만~2만 원대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10000원·20000원짜리도 포함된다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63153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46008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46008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757612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757612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207669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2076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871912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날짜 범위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'YYYY-MM-DD' 문자열 — 12-31까지 한 해 전체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9459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57745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57745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172075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172075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622131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6221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286375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 바깥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5000·50000 자체는 범위 안이라 제외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69318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67603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67603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586538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586538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7036594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70365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700838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category='가전' OR category='문구'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3.4 LIKE — 패턴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와일드카드 % 와 _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와일드카드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0개 이상의 임의 문자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'김%'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김도현, 김, 김성호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1개의 임의 문자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'김_'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김철 (2글자만)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%문자%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'%세트%'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곡물 시리얼 세트, 3색 볼펜 세트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ESCAPE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861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와일드카드 자체 검색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917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'100\%' ESCAPE '\\'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= 는 완전히 같은 문자열만 찾는다 — 김씨 고객, 세트 상품처럼 부분 일치가 필요하면 LIKE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3.4 LIKE — 패턴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 일부로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198114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565142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248656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93217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93217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2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customers WHERE name LIKE '김%';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김도현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customers WHERE name LIKE '%연';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박서연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email FROM customers WHERE email LIKE '%@example.com';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employees WHERE name LIKE '___';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products WHERE name LIKE '%세트%';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곡물 시리얼 세트, 3색 볼펜 세트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3499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1784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1784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시작 '김%' · 끝 '%연'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%는 글자 수 상관없이(0개 포함)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71697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54552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54552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이메일 도메인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 NULL인 C005는 UNKNOWN이라 빠진다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40048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22903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22903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밑줄 세 개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3글자 이름인 직원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68000" y="608399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15650" y="591254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15650" y="591254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양쪽 %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위치와 상관없이 포함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패턴이 % 로 시작하면 인덱스를 쓸 수 없어 전체 테이블을 검색한다 (10주차 인덱스)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NULL의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NULL은 0도 빈 문자열도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값 없음·알 수 없음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0이나 빈 문자열과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전혀 다른 특수한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다온유통의 NULL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 emp_id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협상 중 salary · 미입력 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 결과는 UNKNOWN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NULL과의 모든 비교는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참도 거짓도 아니다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WHERE는 참인 행만 남긴다 — UNKNOWN인 행은 조용히 빠진다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NULL의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NULL 이 아니라 IS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3006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3006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776472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776472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잘못된 방법 — 결과가 항상 비어 있다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 FROM orders WHERE emp_id = NULL;    -- (X)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올바른 방법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 FROM orders WHERE emp_id IS NULL;      -- 온라인 주문 (7건)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 FROM orders WHERE emp_id IS NOT NULL;  -- 오프라인 주문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96875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79730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79730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NULL은 0행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= NULL 조차 UNKNOWN — 오류도 나지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9151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7437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7437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 NULL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없는 온라인 주문 1002·1004·…·1014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23062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405917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405917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 NOT NULL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담당 주문 — 직원별 실적 집계의 대상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0행이 나오고 오류도 나지 않는다 — 가장 위험한 실수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NULL의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찾기와 NULL 대체하기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223385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223385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248656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590413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590413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연봉이 아직 정해지지 않은 직원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dept FROM employees WHERE salary IS NULL;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조하늘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NULL과의 산술 연산 결과는 NULL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salary, salary + 50 AS 인상후 FROM employees;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NULL을 대체하여 조회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IFNULL(salary, 0)   AS 연봉 FROM employees;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COALESCE(salary, 0) AS 연봉 FROM employees;  -- 표준 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0818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3673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3673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93206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932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시드의 E008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salary NULL은 조하늘만 해당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37521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20376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20376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757612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757612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207669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2076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871912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알 수 없는 값 + 50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여전히 NULL — 계산에 섞이면 결과가 사라진다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40048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522903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522903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172075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172075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622131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6221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286375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IFNULL(값, 대체값)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보고서에 빈칸 대신 0을 찍을 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7422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5707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5707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586538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586538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7036594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70365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700838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COALESCE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NULL이 아닌 첫 값 — 다른 DBMS에서도 통한다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NULL의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3값 논리 — TRUE · FALSE · UNKNOWN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salary = 380 (이지은)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salary = NULL (조하늘)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salary &gt; 350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→ 조회됨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 → 조회 안 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salary &lt;= 350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FALSE → 조회 안 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 → 조회 안 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salary IS NULL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FALSE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→ 조회됨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(salary &gt; 350)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FALSE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 → 조회 안 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salary &gt; 350 과 salary &lt;= 350 어디에도 NULL 행은 없다 — 빠짐없이 다루려면 OR salary IS NULL 을 명시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ORDER BY —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 기본 — 오름·내림·다중 정렬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오름차순 (ASC는 기본값이므로 생략 가능)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FROM products ORDER BY price ASC;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내림차순 — 포인트가 많은 고객부터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points FROM customers ORDER BY points DESC;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다중 정렬: 등급 오름차순 → 같은 등급 안에서 포인트 내림차순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grade, points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grade ASC, points DESC;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싼 상품부터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가격표 순서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DESC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값이 먼저 — 우수 고객 순위표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99198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82053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82053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번째 기준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기준이 같은 행끼리만 다시 정렬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ORDER BY가 없으면 행 순서는 보장되지 않는다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ORDER BY —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별칭으로 정렬, 순번으로 정렬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500438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5004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48627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별칭으로 정렬 (ORDER BY는 SELECT 이후 실행되므로 가능)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* 0.9 AS 할인가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할인가 DESC;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컬럼 순번으로 정렬 (2번째 컬럼 기준) — 가독성이 떨어져 권장하지 않음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FROM products ORDER BY 2 DESC;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364569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347424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34742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695575"/>
          </a:xfrm>
          <a:prstGeom prst="roundRect">
            <a:avLst>
              <a:gd name="adj" fmla="val 21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695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500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500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466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 사용 가능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WHERE에서는 아직 만들어지기 전이라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463153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446008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446008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5172075"/>
            <a:ext cx="5715000" cy="2695575"/>
          </a:xfrm>
          <a:prstGeom prst="roundRect">
            <a:avLst>
              <a:gd name="adj" fmla="val 21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5172075"/>
            <a:ext cx="57150" cy="2695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329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329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286375"/>
            <a:ext cx="4705350" cy="2466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 = 두 번째 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목록을 고치면 정렬 기준이 조용히 바뀐다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5.1 NULL의 정렬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연봉 미정을 맨 뒤로 보내는 요령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814887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814887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8007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8007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MySQL은 ASC에서 NULL이 가장 앞, DESC에서 가장 뒤에 온다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salary FROM employees ORDER BY salary;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조하늘(NULL)이 첫 행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IS NULL 결과(0/1)로 먼저 정렬하여 NULL을 뒤로 보낸다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salary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salary IS NULL, salary DESC;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표준 SQL (Oracle, PostgreSQL)은 NULLS LAST를 지원한다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SELECT name, salary FROM employees ORDER BY salary DESC NULLS LAST;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9884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170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170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= 가장 작은 값처럼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오름차순이면 첫 줄에 나온다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96014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478869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47886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1차 NULL 여부, 2차 연봉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있음(0)이 먼저, NULL(1)이 뒤로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9459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7745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7745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MySQL에는 없다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IS NULL을 정렬 기준으로 대신 쓴다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LIMIT — 결과 제한과 페이징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상위 N명과 페이지 나누기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3006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3006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38344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38344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포인트 상위 3명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points FROM customers ORDER BY points DESC LIMIT 3;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임수빈(5200), 한가람(4500), 오세영(2300)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-- 4~6등 (앞의 3건을 건너뛰고 3건)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points FROM customers ORDER BY points DESC LIMIT 3 OFFSET 3;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MySQL 축약형: LIMIT 시작위치, 개수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points FROM customers ORDER BY points DESC LIMIT 3, 3;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96875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79730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79730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정렬한 뒤 자르기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세운 뒤 위에서 3행만 남긴다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23062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405917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405917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OFFSET 3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3행을 건너뛰고 4등부터 3행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17702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00557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00557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건너뛸 수, 가져올 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OFFSET 형과 반대로 읽힌다 — 헷갈리면 OFFSET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LIMIT — 결과 제한과 페이징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LIMIT을 쓸 때 기억할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BY와 함께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없이 LIMIT만 쓰면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반환되는 행이 매번 달라질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페이징 공식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size OFFSET (N-1) * size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2페이지·5건 → LIMIT 5 OFFSET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밖에서는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대신 Oracle FETCH FIRST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Server 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1페이지는 OFFSET 0, 3페이지는 OFFSET 10 — 시작 위치가 0부터 세어진다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7.1 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붙이고, 자르고, 찾고,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24760" y="2781300"/>
            <a:ext cx="1920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24760" y="2781300"/>
            <a:ext cx="1920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CONCAT(s1,s2,…)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480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34480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34480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9370" y="34480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CONCAT('다온','유통')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224760" y="34480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20010" y="34480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39052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39052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CONCAT_WS(구분자,…)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052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39052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구분자로 연결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9052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9370" y="39052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CONCAT_WS('-','010','1234')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24760" y="39052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20010" y="39052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010-1234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3624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3624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LENGTH(s) / CHAR_LENGTH(s)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3624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43624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바이트 수 / 글자 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3624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43624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CHAR_LENGTH('다온유통')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224760" y="43624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320010" y="43624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48196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48196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UPPER(s) / LOWER(s)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8196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8890" y="48196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대·소문자 변환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48196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9370" y="48196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UPPER('sql')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224760" y="48196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320010" y="48196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2768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2768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SUBSTRING(s,시작,길이)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52768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8890" y="52768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부분 문자열 (1부터 시작)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120" y="52768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99370" y="52768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SUBSTRING('DATABASE',1,4)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224760" y="52768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320010" y="52768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7340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57340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LEFT(s,n) / RIGHT(s,n)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7340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57340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왼쪽·오른쪽 n글자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04120" y="57340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9370" y="57340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LEFT('C001',1)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224760" y="57340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320010" y="57340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61912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61912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TRIM(s) / LTRIM / RTRIM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61912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8890" y="61912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제거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04120" y="61912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99370" y="61912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TRIM('  db  ')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224760" y="61912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320010" y="61912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43000" y="66484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38250" y="66484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REPLACE(s,old,new)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66484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8890" y="66484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치환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04120" y="66484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99370" y="66484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REPLACE('A-B','-','/')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224760" y="66484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20010" y="66484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A/B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43000" y="71056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38250" y="71056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LPAD(s,n,p) / RPAD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71056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58890" y="71056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 길이로 채우기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04120" y="71056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99370" y="71056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LPAD('7',3,'0')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224760" y="71056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320010" y="71056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007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43000" y="75628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38250" y="75628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INSTR(s,부분)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63640" y="7562850"/>
            <a:ext cx="380238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8890" y="7562850"/>
            <a:ext cx="36118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 반환 (없으면 0)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04120" y="7562850"/>
            <a:ext cx="50825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99370" y="7562850"/>
            <a:ext cx="4892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INSTR('database','base')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224760" y="7562850"/>
            <a:ext cx="1920240" cy="38100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5320010" y="756285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7.1 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저장된 문자열을 보고서 형태로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69502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69502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28910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998910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998910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063615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063615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고객 이름과 등급을 결합하여 표시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CONCAT(name, ' (', grade, ')') AS 고객표기 FROM customers;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이메일에서 아이디 부분만 추출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email,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SUBSTRING(email, 1, INSTR(email,'@') - 1) AS 아이디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email IS NOT NULL;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성(첫 글자)만 추출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LEFT(name, 1) AS 성, name FROM customers;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2790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5645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5645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93206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932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네 조각 잇기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한가람 (VIP)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44750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27605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27605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757612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757612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207669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2076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871912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@ 앞까지 자르기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INSTR로 @ 위치를 찾고 그 앞 글자까지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1573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9858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9858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172075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172075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622131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6221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286375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미리 빼기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C005는 email NULL이라 INSTR도 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622201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605056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605056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586538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586538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7036594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70365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700838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LEFT(name, 1)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한 글자 — 한국 이름의 성씨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7.2 숫자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반올림·버림·올림·나머지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ROUND(n,자릿수)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반올림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ROUND(3.856, 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TRUNCATE(n,자릿수)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TRUNCATE(3.856, 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CEIL(n) / FLOOR(n)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올림 / 내림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CEIL(3.1), FLOOR(3.9)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ABS(n)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절댓값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929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ABS(-7)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MOD(a,b) 또는 a % 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88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나머지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6404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29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MOD(10,3)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POW(a,b) / SQRT(n)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88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거듭제곱 / 제곱근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6404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929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POW(2,10), SQRT(16)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1024, 4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7.3 날짜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날짜 추출·변환·계산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NOW() / SYSDATE()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날짜와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2026-08-30 14:30:00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CURDATE() / CURTIME()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날짜 / 시각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044043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044043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2026-08-30 / 14:30:00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YEAR(d), MONTH(d), DAY(d)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연·월·일 추출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640036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640036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YEAR('2026-03-02') →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DATE_FORMAT(d, 포맷)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형식 변환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236029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236029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DATE_FORMAT(NOW(),'%Y년 %m월 %d일')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DATEDIFF(d1,d2)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날짜의 일수 차이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5832021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5832021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DATEDIFF('2026-03-02','2026-03-01') →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DATE_ADD(d, INTERVAL n 단위)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더하기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6428014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9330" y="6428014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DATE_ADD(CURDATE(), INTERVAL 7 DAY)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TIMESTAMPDIFF(단위,d1,d2)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단위별 차이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4080" y="7024007"/>
            <a:ext cx="73609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9330" y="7024007"/>
            <a:ext cx="71704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TIMESTAMPDIFF(YEAR, joined_date, NOW())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7.3 날짜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가입일 다듬기와 기간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1718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814887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814887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129338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1293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DATE_FORMAT(joined_date, '%Y년 %m월 %d일')       AS 가입일,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TIMESTAMPDIFF(YEAR, joined_date, CURDATE())      AS 가입연차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joined_date;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-- 2024년에 가입한 고객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customers WHERE YEAR(joined_date) = 2024;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한가람, 오세영, 장민혁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주문일을 월 단위로 표기 (6주차 월별 집계의 재료)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DATE_FORMAT(order_date, '%Y-%m') AS 주문월 FROM orders;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15277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98132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9813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형식 변환과 가입 연차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2024년 03월 12일 형태 · 오늘까지 만 몇 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96014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78869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7886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YEAR()로 연도만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BETWEEN '2024-01-01' AND '2024-12-31'과 같은 결과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627459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610314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61031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'%Y-%m'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달 주문이 같은 값 — GROUP BY의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컬럼에 함수를 씌우면 인덱스를 못 쓴다 — 성능이 중요하면 joined_date &gt;= '2024-01-01' AND joined_date &lt; '2025-01-01'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문의 실행 순서로 옳은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→ FROM → WHERE → ORDER 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FROM → WHERE → SELECT → ORDER BY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→ FROM → SELECT → ORDER 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FROM → SELECT → WHERE → ORDER BY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FROM → WHERE → SELECT → ORDER 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순서는 FROM → WHERE → GROUP BY → HAVING → SELECT → ORDER BY → LIMIT 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순서 FROM → WHERE → GROUP BY → HAVING → SELECT → ORDER BY →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SELECT의 별칭은 WHERE에서 불가, ORDER BY에서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BETWEEN은 양쪽 경계 포함, LIKE의 %는 0개 이상·_는 정확히 1개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비교는 IS NULL / IS NOT NULL — = NULL은 0행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LIMIT은 항상 ORDER BY와 함께, 문자열 연결은 CONCAT()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NULL과의 비교는 UNKNOWN — 오류 없이 행이 빠진다는 점을 기억해 두세요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6주차 · 집계와 그룹화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함수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COUNT·SUM·AVG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NULL을 세는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GROUP BY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등급별·월별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그룹으로 묶기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HAVING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그룹에 거는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소계와 총계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ROLLUP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 제외 매출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5주차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조회의 기본기를 다음 주 집계·그룹화로 이어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작성 순서와 실행 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조건과 LIKE 패턴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 NULL과 3값 논리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BY·LIMIT·내장 함수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5주차 실습 10문항 · 퀴즈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