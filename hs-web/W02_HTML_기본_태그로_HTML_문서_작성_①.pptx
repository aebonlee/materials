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4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7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1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DF1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7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2주차 · 9/10(목)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21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0" b="1" spc="-280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HTML 기본 태그로 HTML 문서 작성 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334000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텍스트, 제목, 목록, 링크 태그 사용법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AI·SW계열 · 웹프로그래밍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학습사이트 hs-web.dreamitbiz.com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2주차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학습 목표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태그·속성·요소·내용의 관계를 정확한 용어로 설명할 수 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head와 body에 각각 무엇이 들어가는지 구분할 수 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제목 계층(h1~h6)을 크기가 아니라 구조로 쓸 수 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목록과 링크를 상황에 맞게 골라 쓸 수 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주석에 남기면 안 되는 것을 설명할 수 있다.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2주차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2주차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핵심 키워드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781300"/>
            <a:ext cx="628894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28894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태그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67144" y="2781300"/>
            <a:ext cx="628894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67144" y="2781300"/>
            <a:ext cx="628894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속성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91288" y="2781300"/>
            <a:ext cx="628894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91288" y="2781300"/>
            <a:ext cx="628894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요소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5432" y="2781300"/>
            <a:ext cx="1333146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15432" y="2781300"/>
            <a:ext cx="1333146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head/body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43828" y="2781300"/>
            <a:ext cx="879732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43828" y="2781300"/>
            <a:ext cx="879732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h1~h6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8810" y="2781300"/>
            <a:ext cx="394198" cy="400050"/>
          </a:xfrm>
          <a:prstGeom prst="roundRect">
            <a:avLst>
              <a:gd name="adj" fmla="val 5074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18810" y="2781300"/>
            <a:ext cx="394198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258" y="2781300"/>
            <a:ext cx="886182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08258" y="2781300"/>
            <a:ext cx="886182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ul/ol/li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89690" y="2781300"/>
            <a:ext cx="383557" cy="400050"/>
          </a:xfrm>
          <a:prstGeom prst="roundRect">
            <a:avLst>
              <a:gd name="adj" fmla="val 5215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89690" y="2781300"/>
            <a:ext cx="383557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68497" y="2781300"/>
            <a:ext cx="628894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68497" y="2781300"/>
            <a:ext cx="628894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주석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학습사이트의 본문에서 이 낱말들을 찾아 읽으면 이 시간의 뼈대가 잡힙니다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2주차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2주차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HTML은 프로그래밍 언어가 아닙니다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HTML은 HyperText Markup Language 의 줄임말입니다.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2주차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2주차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HTML은 프로그래밍 언어가 아닙니다 (1/2)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여기서 중요한 낱말은 Markup(표시) 입니다.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HTML은 계산하지도, 조건에 따라 갈라지지도, 반복하지도 않습니다.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그저 "이건 제목이야, 이건 문단이야, 이건 목록이야"라고 표시할 뿐입니다.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종이 문서에 형광펜으로 "여기가 제목", "여기가 인용문"이라고 표시하는 것과 같습니다.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2주차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2주차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HTML은 프로그래밍 언어가 아닙니다 (2/2)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표시를 해 두면 사람도, 브라우저도, 검색엔진도, 화면낭독기도 그 문서의 구조를 이해할 수 있습니다.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그래서 "HTML을 배웠으니 프로그래밍을 할 줄 안다"고 말하면 정확하지 않습니다.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하지만 HTML 없이는 웹에서 아무것도 시작할 수 없습니다.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시험에도 자주 나오는 구분입니다.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2주차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2주차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태그·속성·요소 — 용어를 정확히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2주차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2주차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한 줄에 담긴 네 가지 개념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&lt;a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href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"https://www.hs.ac.kr"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target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"_blank"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한신대학교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&lt;/a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│└┬┘ └──┬──┘ └──────┬───────┘              └───┬───┘ └─┬─┘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│ │     │           │                          │       └ 닫는 태그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│ │     │           └ 속성값(value)             └ 내용(content)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│ │     └ 속성 이름(attribute)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│ └ 태그 이름(tag name)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└ 여는 태그(opening tag)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// 여는 태그부터 닫는 태그까지 전체를 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"요소(element)"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라고 부릅니다.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2주차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2주차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태그·속성·요소 — 용어를 정확히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372162" cy="590550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372162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용어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53262" y="2781300"/>
            <a:ext cx="6520097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262" y="2781300"/>
            <a:ext cx="6520097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111459" y="2781300"/>
            <a:ext cx="6033541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11459" y="2781300"/>
            <a:ext cx="6033541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372162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181662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태그(tag)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53262" y="3448050"/>
            <a:ext cx="6520097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48512" y="3448050"/>
            <a:ext cx="6329597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꺾쇠로 감싼 표시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111459" y="3448050"/>
            <a:ext cx="6033541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206709" y="3448050"/>
            <a:ext cx="5843041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&lt;p&gt; · &lt;/p&gt;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372162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181662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요소(element)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53262" y="4171950"/>
            <a:ext cx="6520097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48512" y="4171950"/>
            <a:ext cx="6329597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여는 태그 + 내용 + 닫는 태그 전체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111459" y="4171950"/>
            <a:ext cx="6033541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206709" y="4171950"/>
            <a:ext cx="5843041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&lt;p&gt;안녕&lt;/p&gt;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372162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181662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속성(attribute)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53262" y="4895850"/>
            <a:ext cx="6520097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48512" y="4895850"/>
            <a:ext cx="6329597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태그에 붙는 추가 정보. 여는 태그에만 붙는다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111459" y="4895850"/>
            <a:ext cx="6033541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206709" y="4895850"/>
            <a:ext cx="5843041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href · src · class · id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372162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181662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내용(content)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53262" y="5619750"/>
            <a:ext cx="6520097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48512" y="5619750"/>
            <a:ext cx="6329597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태그 사이에 든 것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111459" y="5619750"/>
            <a:ext cx="6033541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206709" y="5619750"/>
            <a:ext cx="5843041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2주차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2주차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2.1 닫지 않는 태그도 있습니다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내용이 없는 태그는 닫는 태그가 없습니다.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이런 것을 빈 요소(void element) 라고 부릅니다.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2주차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2주차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빈 요소들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&lt;img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src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"photo.jpg"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alt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"설명"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&lt;!-- 이미지 --&gt;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&lt;br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                    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&lt;!-- 줄바꿈 --&gt;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&lt;hr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                    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&lt;!-- 가로줄 --&gt;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&lt;input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type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"text"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     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&lt;!-- 입력칸 --&gt;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&lt;meta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charset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"utf-8"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  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&lt;!-- 문서 정보 --&gt;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&lt;!-- &lt;/img&gt; 같은 닫는 태그는 없습니다. 쓰면 오히려 오류입니다. --&gt;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2주차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2주차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올바른 중첩과 잘못된 중첩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&lt;!-- ✅ 올바름 — 나중에 연 것을 먼저 닫는다 --&gt;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&lt;p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이것은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&lt;strong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중요한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&lt;/strong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문장입니다.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&lt;/p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&lt;!-- ❌ 틀림 — 태그가 서로 엇갈렸다 --&gt;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&lt;p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이것은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&lt;strong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중요한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&lt;/p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&lt;/strong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&lt;!-- 양말을 신고 신발을 신었으면, 신발을 먼저 벗어야 하는 것과 같습니다. --&gt;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2주차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2주차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2.2 중첩은 순서를 지켜야 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766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766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1243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1910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9719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브라우저는 관대해서 태그가 엇갈려도 알아서 고쳐 보여 줍니다.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9244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92442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0196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그래서 화면은 멀쩡한데 구조는 망가진 상태가 되기 쉽습니다.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9721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9721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62198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62865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60674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개발자도구 Elements 탭에서 실제로 어떻게 해석됐는지 확인하는 습관을 들이세요.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2주차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2주차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문서의 전체 구조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2주차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2주차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HTML 문서의 뼈대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&lt;!doctype html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  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&lt;!-- ① 이 문서는 HTML5입니다 --&gt;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&lt;html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lang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"ko"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 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&lt;!-- ② 문서 전체를 감싸며, 언어는 한국어 --&gt;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&lt;head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           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&lt;!-- ③ 화면에 안 보이는 정보 --&gt;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&lt;meta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charset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"utf-8"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&lt;meta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name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"viewport"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content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"width=device-width, initial-scale=1"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&lt;title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내 페이지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&lt;/title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&lt;/head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&lt;body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           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&lt;!-- ④ 화면에 보이는 내용 --&gt;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&lt;h1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여기부터 보입니다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&lt;/h1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&lt;/body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&lt;/html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2주차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2주차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문서의 전체 구조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72953" cy="590550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72953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부분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54053" y="2781300"/>
            <a:ext cx="7541795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54053" y="2781300"/>
            <a:ext cx="7541795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들어가는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933947" y="2781300"/>
            <a:ext cx="4211053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933947" y="2781300"/>
            <a:ext cx="4211053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화면에 보이는가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172953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982453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&lt;!doctype html&gt;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4053" y="3448050"/>
            <a:ext cx="7541795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9303" y="3448050"/>
            <a:ext cx="7351295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HTML5 선언 — 맨 첫 줄에 딱 한 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933947" y="3448050"/>
            <a:ext cx="4211053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029197" y="3448050"/>
            <a:ext cx="4020553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아니오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172953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982453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&lt;head&gt;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54053" y="4171950"/>
            <a:ext cx="7541795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49303" y="4171950"/>
            <a:ext cx="7351295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title · meta · CSS 링크 · 파비콘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933947" y="4171950"/>
            <a:ext cx="4211053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029197" y="4171950"/>
            <a:ext cx="4020553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아니오 (title만 탭에)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172953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982453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&lt;body&gt;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54053" y="4895850"/>
            <a:ext cx="7541795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49303" y="4895850"/>
            <a:ext cx="7351295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내용 전부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933947" y="4895850"/>
            <a:ext cx="4211053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029197" y="4895850"/>
            <a:ext cx="4020553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2주차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2주차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3.1 head에 꼭 들어가야 하는 두 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&lt;meta charset="utf-8"&gt;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빠뜨리면 한글이 깨집니다(ìë…• 처럼). 가장 위쪽에 둡니다.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&lt;meta name="viewport" content="width=device-width, initial-scale=1"&gt;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빠뜨리면 휴대폰에서 화면이 축소되어 글자가 개미만 해집니다. 6주차 반응형이 통째로 안 먹는 원인 1위입니다.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2주차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2주차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3.1 head에 꼭 들어가야 하는 두 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lang 속성도 그냥 장식이 아닙니다.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lang="ko" 가 있어야 화면낭독기가 한국어로 읽고, 브라우저가 번역을 제안하며, 줄바꿈 규칙도 한국어 기준으로 적용됩니다.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2주차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2주차 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제목과 문단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2주차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2주차 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h1~h6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&lt;h1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웹프로그래밍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&lt;/h1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&lt;!-- 문서의 대제목 — 한 페이지에 하나 --&gt;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&lt;h2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1. HTML 기초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&lt;/h2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&lt;!-- 큰 절 --&gt;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&lt;h3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1.1 태그와 속성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&lt;/h3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</a:t>
            </a: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&lt;!-- 작은 절 --&gt;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&lt;h3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1.2 문서 구조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&lt;/h3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&lt;h2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2. CSS 기초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&lt;/h2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2주차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2주차 ·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제목을 쓸 때의 세 가지 규칙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8766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38766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428750" y="41243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8750" y="41910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9719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h1은 페이지에 하나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페이지가 무엇에 관한 문서인지 말하는 제목입니다.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244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492442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50196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건너뛰지 않는다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h1 다음에 h3을 쓰지 않습니다. 목차에 구멍이 생기는 것과 같습니다.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59721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3000" y="59721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428750" y="62198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28750" y="62865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60674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글자를 크게 하려고 쓰지 않는다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크기는 CSS가 정합니다. 태그는 의미를 정합니다.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2주차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2주차 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4.1 제목은 크기가 아니라 계층입니다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이 규칙을 지키면 화면낭독기 사용자가 제목만 훑어 문서 구조를 파악할 수 있고, 검색엔진도 무엇이 중요한 내용인지 알게 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규칙을 어기면 화면은 똑같아 보이지만 그 두 가지가 조용히 망가집니다.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2주차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2주차 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p와 br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&lt;p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첫 번째 문단입니다. 여러 줄을 써도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소스에서의 줄바꿈은 화면에 반영되지 않습니다.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공백도 여러 개를 써도     하나로 줄어듭니다.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&lt;/p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&lt;p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두 번째 문단입니다.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&lt;/p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&lt;p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주소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&lt;br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서울시 ○○구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&lt;br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우편번호 12345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&lt;/p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&lt;!-- br은 "이 줄에서 꼭 끊어야 하는" 경우에만 씁니다 (주소, 시 구절 등) --&gt;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2주차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2주차 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4.2 문단과 줄바꿈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766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766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1243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1910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9719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문단 사이 여백을 만들려고 &lt;br&gt;&lt;br&gt; 를 쓰지 않습니다.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9244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92442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0196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여백은 CSS의 margin 이 하는 일입니다.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9721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9721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62198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62865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60674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지금은 어색해도 4주차에 CSS를 배우면 왜 그런지 몸으로 알게 됩니다.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2주차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2주차 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4.3 글자 강조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태그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4229100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4229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의미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10600" y="2781300"/>
            <a:ext cx="2095500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600" y="2781300"/>
            <a:ext cx="2095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기본 모양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언제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&lt;strong&gt;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448050"/>
            <a:ext cx="4229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8650" y="3448050"/>
            <a:ext cx="4038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중요하다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10600" y="3448050"/>
            <a:ext cx="2095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05850" y="3448050"/>
            <a:ext cx="1905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굵게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경고, 핵심 문구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&lt;em&gt;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4171950"/>
            <a:ext cx="4229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8650" y="4171950"/>
            <a:ext cx="4038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강조해서 읽는다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10600" y="4171950"/>
            <a:ext cx="2095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05850" y="4171950"/>
            <a:ext cx="1905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기울임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어조를 강조할 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&lt;b&gt; / &lt;i&gt;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4895850"/>
            <a:ext cx="4229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4895850"/>
            <a:ext cx="4038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의미 없이 굵게/기울임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10600" y="4895850"/>
            <a:ext cx="2095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05850" y="4895850"/>
            <a:ext cx="1905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굵게/기울임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거의 쓰지 않는다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&lt;mark&gt;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43400" y="5619750"/>
            <a:ext cx="4229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38650" y="5619750"/>
            <a:ext cx="4038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형광펜 표시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610600" y="5619750"/>
            <a:ext cx="2095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705850" y="5619750"/>
            <a:ext cx="1905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노란 배경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검색어 강조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3436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3436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&lt;code&gt;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43400" y="6343650"/>
            <a:ext cx="4229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38650" y="6343650"/>
            <a:ext cx="4038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코드 조각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610600" y="6343650"/>
            <a:ext cx="2095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05850" y="6343650"/>
            <a:ext cx="1905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고정폭 글꼴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744200" y="63436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839450" y="63436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querySelector 같은 것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2주차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2주차 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4.3 글자 강조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&lt;b&gt; 와 &lt;strong&gt; 은 화면에서 똑같이 굵게 보이지만, 화면낭독기는 &lt;strong&gt; 만 강조해서 읽습니다.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보이는 것이 같다고 같은 태그가 아닙니다 — 이것이 시맨틱(의미가 있는) 마크업의 핵심입니다.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2주차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2주차 ·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목록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2주차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2주차 ·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세 가지 목록 (1/2)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&lt;!-- 순서가 상관없는 것 --&gt;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&lt;ul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&lt;li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HTML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&lt;/li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&lt;li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CSS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&lt;/li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&lt;li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JavaScript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&lt;/li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&lt;/ul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&lt;!-- 순서가 의미 있는 것 --&gt;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&lt;ol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&lt;li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VS Code를 연다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&lt;/li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2주차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2주차 ·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세 가지 목록 (2/2)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19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20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27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&lt;li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파일을 만든다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&lt;/li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&lt;li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브라우저로 연다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&lt;/li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&lt;/ol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&lt;!-- 용어와 설명 (자주 쓰진 않지만 알아두면 좋습니다) --&gt;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&lt;dl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&lt;dt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HTML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&lt;/dt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&lt;dd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문서의 구조를 표시하는 마크업 언어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&lt;/dd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&lt;/dl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2주차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2주차 ·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중첩 목록 — li 안에 ul을 넣습니다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&lt;ul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&lt;li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프론트엔드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&lt;ul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&lt;li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HTML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&lt;/li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&lt;li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CSS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&lt;/li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&lt;/ul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&lt;/li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&lt;li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백엔드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&lt;/li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&lt;/ul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&lt;!-- ❌ 흔한 실수: ul 바로 아래에 ul을 넣는 것 --&gt;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&lt;!-- ul의 자식은 li만 올 수 있습니다. --&gt;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2주차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2주차 ·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5.1 목록 안에 목록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766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766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1243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1910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9719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내비게이션 메뉴는 거의 항상 &lt;ul&gt; 로 만듭니다.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9244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92442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0196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메뉴는 곧 "링크의 목록"이기 때문입니다.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9721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9721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62198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62865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60674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5주차에 CSS로 점(•)을 없애고 가로로 눕히면 우리가 아는 그 메뉴가 됩니다.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2주차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2주차 ·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링크 — 웹을 웹이게 하는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2주차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2주차 ·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a 태그의 여러 쓰임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15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16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17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&lt;!-- 다른 사이트로 --&gt;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&lt;a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6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href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16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"https://www.hs.ac.kr"</a:t>
            </a:r>
            <a:r>
              <a:rPr sz="16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한신대학교</a:t>
            </a:r>
            <a:r>
              <a:rPr sz="16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&lt;/a</a:t>
            </a:r>
            <a:r>
              <a:rPr sz="16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&lt;!-- 새 탭에서 열기 --&gt;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&lt;a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6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href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16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"https://www.hs.ac.kr"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6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target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16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"_blank"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6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rel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16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"noopener"</a:t>
            </a:r>
            <a:r>
              <a:rPr sz="16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한신대학교</a:t>
            </a:r>
            <a:r>
              <a:rPr sz="16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&lt;/a</a:t>
            </a:r>
            <a:r>
              <a:rPr sz="16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&lt;!-- 같은 폴더의 다른 파일로 --&gt;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&lt;a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6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href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16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"about.html"</a:t>
            </a:r>
            <a:r>
              <a:rPr sz="16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소개</a:t>
            </a:r>
            <a:r>
              <a:rPr sz="16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&lt;/a</a:t>
            </a:r>
            <a:r>
              <a:rPr sz="16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&lt;!-- 같은 페이지 안의 특정 위치로 (id로 이동) --&gt;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&lt;a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6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href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16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"#contact"</a:t>
            </a:r>
            <a:r>
              <a:rPr sz="16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연락처로 가기</a:t>
            </a:r>
            <a:r>
              <a:rPr sz="16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&lt;/a</a:t>
            </a:r>
            <a:r>
              <a:rPr sz="16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...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&lt;h2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6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id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16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"contact"</a:t>
            </a:r>
            <a:r>
              <a:rPr sz="16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연락처</a:t>
            </a:r>
            <a:r>
              <a:rPr sz="16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&lt;/h2</a:t>
            </a:r>
            <a:r>
              <a:rPr sz="16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&lt;!-- 메일 보내기 / 전화 걸기 --&gt;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&lt;a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6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href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16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"mailto:hello@example.com"</a:t>
            </a:r>
            <a:r>
              <a:rPr sz="16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메일 보내기</a:t>
            </a:r>
            <a:r>
              <a:rPr sz="16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&lt;/a</a:t>
            </a:r>
            <a:r>
              <a:rPr sz="16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&lt;a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6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href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16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"tel:0311234567"</a:t>
            </a:r>
            <a:r>
              <a:rPr sz="16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전화 걸기</a:t>
            </a:r>
            <a:r>
              <a:rPr sz="16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&lt;/a</a:t>
            </a:r>
            <a:r>
              <a:rPr sz="16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2주차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2주차 ·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링크 — 웹을 웹이게 하는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574471" cy="590550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574471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경로 종류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55571" y="2781300"/>
            <a:ext cx="8452757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55571" y="2781300"/>
            <a:ext cx="8452757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246429" y="2781300"/>
            <a:ext cx="4898571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246429" y="2781300"/>
            <a:ext cx="4898571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의미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574471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383971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절대 경로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55571" y="3448050"/>
            <a:ext cx="8452757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50821" y="3448050"/>
            <a:ext cx="8262257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https://example.com/a.html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6429" y="3448050"/>
            <a:ext cx="4898571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1679" y="3448050"/>
            <a:ext cx="4708071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전체 주소 — 다른 사이트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574471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383971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루트 상대 경로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55571" y="4171950"/>
            <a:ext cx="8452757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50821" y="4171950"/>
            <a:ext cx="8262257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/images/logo.png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246429" y="4171950"/>
            <a:ext cx="4898571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41679" y="4171950"/>
            <a:ext cx="4708071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사이트 최상위부터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574471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383971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상대 경로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55571" y="4895850"/>
            <a:ext cx="8452757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50821" y="4895850"/>
            <a:ext cx="8262257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images/logo.png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246429" y="4895850"/>
            <a:ext cx="4898571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341679" y="4895850"/>
            <a:ext cx="4708071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지금 파일이 있는 폴더 기준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574471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383971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상위 폴더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755571" y="5619750"/>
            <a:ext cx="8452757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50821" y="5619750"/>
            <a:ext cx="8262257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../style.css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246429" y="5619750"/>
            <a:ext cx="4898571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41679" y="5619750"/>
            <a:ext cx="4708071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단계 위 폴더로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2주차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2주차 ·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링크 — 웹을 웹이게 하는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766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766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1243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1910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9719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target="_blank" 를 쓸 때는 rel="noopener" 를 함께 씁니다.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9244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92442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0196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없으면 새로 열린 페이지가 원래 페이지를 조작할 수 있는 보안 구멍이 생깁니다.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9721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9721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62198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62865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60674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요즘 브라우저는 대부분 자동으로 막지만, 습관으로 붙여 두는 편이 안전합니다.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2주차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2주차 ·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좋은 링크 글자 쓰기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"여기를 클릭"은 나쁜 링크입니다.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화면낭독기 사용자는 링크만 뽑아 듣기도 하는데, "여기 여기 여기"만 들리면 아무 정보가 없습니다.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링크 글자만 읽어도 어디로 가는지 알 수 있게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씁니다 — "여기를 클릭" 대신 "수강신청 안내 보기".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2주차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2주차 ·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주석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2주차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2주차 ·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주석 — 화면에 안 보이는 메모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&lt;!-- 이 부분은 나중에 CSS로 카드 모양으로 만들 예정 --&gt;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&lt;div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class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"card"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&lt;h3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제목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&lt;/h3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&lt;/div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&lt;!-- 여러 줄에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     걸쳐 쓸 수도 있습니다 --&gt;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2주차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2주차 ·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주석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766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766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1243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1910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9719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주석은 화면에 안 보일 뿐 소스보기(Ctrl+U)를 하면 그대로 보입니다.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9244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92442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0196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비밀번호, 개인정보, 남에게 보이면 곤란한 메모를 주석에 남기지 마세요.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9721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9721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62198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62865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60674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실제로 사고가 자주 나는 지점입니다.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2주차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2주차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 시간의 실습 3개 — 학습사이트의 코드 실습장에서 직접 치고 실행합니다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2주차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2주차 · 실습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실습 1 · 기본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HTML · 학습사이트 실습장에서 작성 · 「확인」 으로 채점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제목 계층을 지켜 목차 같은 구조를 만드세요. h1 하나, 그 아래 h2 두 개, 첫 h2 아래에 h3 두 개를 두고, 각 제목 뒤에 문단(p)을 한 줄씩 넣으세요.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힌트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h1 → h2 → h3 순서를 건너뛰지 않는 것이 핵심입니다.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2주차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839950" y="1181100"/>
            <a:ext cx="2305050" cy="59055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1638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354300" y="1295400"/>
            <a:ext cx="1562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모범답안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33159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2주차 · 실습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33159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실습 1 모범답안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</p:txBody>
      </p:sp>
      <p:sp>
        <p:nvSpPr>
          <p:cNvPr id="14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2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&lt;h1</a:t>
            </a:r>
            <a:r>
              <a:rPr sz="202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내가 배우는 웹</a:t>
            </a:r>
            <a:r>
              <a:rPr sz="202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&lt;/h1</a:t>
            </a:r>
            <a:r>
              <a:rPr sz="202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&lt;p</a:t>
            </a:r>
            <a:r>
              <a:rPr sz="202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한 학기 동안 배울 것을 정리했습니다.</a:t>
            </a:r>
            <a:r>
              <a:rPr sz="202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&lt;/p</a:t>
            </a:r>
            <a:r>
              <a:rPr sz="202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&lt;h2</a:t>
            </a:r>
            <a:r>
              <a:rPr sz="202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HTML</a:t>
            </a:r>
            <a:r>
              <a:rPr sz="202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&lt;/h2</a:t>
            </a:r>
            <a:r>
              <a:rPr sz="202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&lt;p</a:t>
            </a:r>
            <a:r>
              <a:rPr sz="202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문서의 뼈대를 세웁니다.</a:t>
            </a:r>
            <a:r>
              <a:rPr sz="202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&lt;/p</a:t>
            </a:r>
            <a:r>
              <a:rPr sz="202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&lt;h3</a:t>
            </a:r>
            <a:r>
              <a:rPr sz="202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태그와 속성</a:t>
            </a:r>
            <a:r>
              <a:rPr sz="202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&lt;/h3</a:t>
            </a:r>
            <a:r>
              <a:rPr sz="202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&lt;p</a:t>
            </a:r>
            <a:r>
              <a:rPr sz="202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꺾쇠로 감싸 표시하고, 속성으로 추가 정보를 붙입니다.</a:t>
            </a:r>
            <a:r>
              <a:rPr sz="202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&lt;/p</a:t>
            </a:r>
            <a:r>
              <a:rPr sz="202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&lt;h3</a:t>
            </a:r>
            <a:r>
              <a:rPr sz="202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문서 구조</a:t>
            </a:r>
            <a:r>
              <a:rPr sz="202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&lt;/h3</a:t>
            </a:r>
            <a:r>
              <a:rPr sz="202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&lt;p</a:t>
            </a:r>
            <a:r>
              <a:rPr sz="202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head에는 정보를, body에는 내용을 넣습니다.</a:t>
            </a:r>
            <a:r>
              <a:rPr sz="202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&lt;/p</a:t>
            </a:r>
            <a:r>
              <a:rPr sz="202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&lt;h2</a:t>
            </a:r>
            <a:r>
              <a:rPr sz="202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CSS</a:t>
            </a:r>
            <a:r>
              <a:rPr sz="202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&lt;/h2</a:t>
            </a:r>
            <a:r>
              <a:rPr sz="202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&lt;p</a:t>
            </a:r>
            <a:r>
              <a:rPr sz="202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색과 배치를 정합니다.</a:t>
            </a:r>
            <a:r>
              <a:rPr sz="202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&lt;/p</a:t>
            </a:r>
            <a:r>
              <a:rPr sz="2025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2주차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2주차 · 실습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실습 2 · 응용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HTML · 학습사이트 실습장에서 작성 · 「확인」 으로 채점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페이지 안에서 이동하는 목차를 만드세요. 위에 링크 목록(ul + a)을 두고, 아래에 그 목록이 가리키는 h2 세 개를 두어, 링크를 누르면 해당 위치로 내려가게 하세요.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힌트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링크는 href="#이름", 목적지는 id="이름" 입니다. 두 이름이 정확히 같아야 합니다.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2주차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839950" y="1181100"/>
            <a:ext cx="2305050" cy="59055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1638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354300" y="1295400"/>
            <a:ext cx="1562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모범답안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33159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2주차 · 실습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33159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실습 2 모범답안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15</a:t>
            </a:r>
          </a:p>
          <a:p>
            <a:pPr algn="r">
              <a:lnSpc>
                <a:spcPct val="115000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16</a:t>
            </a:r>
          </a:p>
        </p:txBody>
      </p:sp>
      <p:sp>
        <p:nvSpPr>
          <p:cNvPr id="14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&lt;h1</a:t>
            </a: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학습 안내</a:t>
            </a: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&lt;/h1</a:t>
            </a: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&lt;ul</a:t>
            </a: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&lt;li</a:t>
            </a: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&lt;a</a:t>
            </a: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80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href</a:t>
            </a: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180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"#intro"</a:t>
            </a: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과목 소개</a:t>
            </a: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&lt;/a</a:t>
            </a: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&lt;/li</a:t>
            </a: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&lt;li</a:t>
            </a: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&lt;a</a:t>
            </a: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80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href</a:t>
            </a: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180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"#plan"</a:t>
            </a: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주차 계획</a:t>
            </a: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&lt;/a</a:t>
            </a: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&lt;/li</a:t>
            </a: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&lt;li</a:t>
            </a: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&lt;a</a:t>
            </a: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80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href</a:t>
            </a: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180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"#grade"</a:t>
            </a: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평가 방법</a:t>
            </a: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&lt;/a</a:t>
            </a: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&lt;/li</a:t>
            </a: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&lt;/ul</a:t>
            </a: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&lt;h2</a:t>
            </a: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80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id</a:t>
            </a: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180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"intro"</a:t>
            </a: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과목 소개</a:t>
            </a: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&lt;/h2</a:t>
            </a: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&lt;p</a:t>
            </a: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웹 페이지를 만들어 인터넷에 공개하는 것까지 배웁니다.</a:t>
            </a: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&lt;/p</a:t>
            </a: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&lt;h2</a:t>
            </a: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80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id</a:t>
            </a: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180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"plan"</a:t>
            </a: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주차 계획</a:t>
            </a: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&lt;/h2</a:t>
            </a: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&lt;p</a:t>
            </a: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15주 동안 HTML, CSS, JavaScript를 차례로 익힙니다.</a:t>
            </a: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&lt;/p</a:t>
            </a: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&lt;h2</a:t>
            </a: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180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id</a:t>
            </a: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180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"grade"</a:t>
            </a: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평가 방법</a:t>
            </a: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&lt;/h2</a:t>
            </a: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&lt;p</a:t>
            </a: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출석·퀴즈·중간·기말·프로젝트로 평가합니다.</a:t>
            </a: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&lt;/p</a:t>
            </a:r>
            <a:r>
              <a:rPr sz="180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2주차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2주차 · 실습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실습 3 · 심화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HTML · 학습사이트 실습장에서 작성 · 「확인」 으로 채점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중첩 목록으로 이 과목의 학습 로드맵을 만드세요. 큰 항목 3개(HTML·CSS·JavaScript) 아래에 각각 세부 항목 2개 이상을 넣으세요.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힌트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중첩할 ul은 부모 li 안에 넣습니다. ul 바로 아래에 ul을 두면 안 됩니다.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2주차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839950" y="1181100"/>
            <a:ext cx="2305050" cy="59055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1638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354300" y="1295400"/>
            <a:ext cx="1562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모범답안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33159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2주차 · 실습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33159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실습 3 모범답안 (1/2)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</p:txBody>
      </p:sp>
      <p:sp>
        <p:nvSpPr>
          <p:cNvPr id="14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&lt;h2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학습 로드맵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&lt;/h2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&lt;ul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&lt;li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HTML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&lt;ul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&lt;li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태그와 속성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&lt;/li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&lt;li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표·폼·시맨틱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&lt;/li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&lt;/ul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&lt;/li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&lt;li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CSS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&lt;ul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&lt;li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선택자와 박스 모델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&lt;/li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2주차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839950" y="1181100"/>
            <a:ext cx="2305050" cy="59055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1638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354300" y="1295400"/>
            <a:ext cx="1562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모범답안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33159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2주차 · 실습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33159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실습 3 모범답안 (2/2)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19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20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29</a:t>
            </a:r>
          </a:p>
        </p:txBody>
      </p:sp>
      <p:sp>
        <p:nvSpPr>
          <p:cNvPr id="14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&lt;li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Flexbox와 Grid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&lt;/li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&lt;li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반응형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&lt;/li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&lt;/ul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&lt;/li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&lt;li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JavaScript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&lt;ul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&lt;li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값과 흐름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&lt;/li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&lt;li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DOM과 이벤트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&lt;/li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&lt;/ul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&lt;/li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&lt;/ul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2주차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2주차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2주차 마무리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HTML 기본 태그로 HTML 문서 작성 ① — 이 시간에 다룬 것을 학습사이트에서 다시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334000"/>
            <a:ext cx="672465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학습사이트 주차 페이지의 절마다 「이해했어요 · 실습했어요 · 어려워요」 표시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실습 3개를 실습장에서 「확인」 까지 — 「실습했어요」 체크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362700"/>
            <a:ext cx="672465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퀴즈 1 「퀴즈 1 — HTML 기본 태그 ①」 응시 (성적 미반영 · 학습 확인용)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막히면 「질문있어요」 또는 패들릿에 — 30분 넘게 혼자 막혀 있지 않기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다음 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3주차 · HTML 기본 태그로 HTML 문서 작성 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