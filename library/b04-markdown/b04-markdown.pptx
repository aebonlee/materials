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4" r:id="rId12"/>
    <p:sldId id="275" r:id="rId26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6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587" y="8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8651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256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-952805" y="-952805"/>
            <a:ext cx="4762195" cy="4762195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858707" y="3524098"/>
            <a:ext cx="3810305" cy="3810305"/>
          </a:xfrm>
          <a:prstGeom prst="ellipse">
            <a:avLst/>
          </a:prstGeom>
          <a:solidFill>
            <a:srgbClr val="4F46E5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solidFill>
            <a:srgbClr val="1E40A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noFill/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86000" y="-381305"/>
            <a:ext cx="7619695" cy="7619695"/>
          </a:xfrm>
          <a:prstGeom prst="ellipse">
            <a:avLst/>
          </a:prstGeom>
          <a:noFill/>
          <a:ln w="12700">
            <a:solidFill>
              <a:srgbClr val="3B82F6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333195" y="-1333195"/>
            <a:ext cx="9525305" cy="9525305"/>
          </a:xfrm>
          <a:prstGeom prst="ellipse">
            <a:avLst/>
          </a:prstGeom>
          <a:noFill/>
          <a:ln w="12700">
            <a:solidFill>
              <a:srgbClr val="3B82F6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138428" y="1289405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Markdown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20986" y="1733702"/>
            <a:ext cx="7242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**Bold**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530534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[Link](url)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490911" y="5648249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`code`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882689" y="724205"/>
            <a:ext cx="17337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>
                    <a:alpha val="1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Blockquote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95705" y="1713586"/>
            <a:ext cx="55723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endParaRPr lang="en-US" sz="7200" dirty="0"/>
          </a:p>
        </p:txBody>
      </p:sp>
      <p:sp>
        <p:nvSpPr>
          <p:cNvPr id="20" name="Text 18"/>
          <p:cNvSpPr txBox="1"/>
          <p:nvPr/>
        </p:nvSpPr>
        <p:spPr>
          <a:xfrm>
            <a:off x="223114" y="2906878"/>
            <a:ext cx="7464247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마스터 클래스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1356970" y="4198010"/>
            <a:ext cx="471556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문서 작성의 기술.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3137" y="4637837"/>
            <a:ext cx="575980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문법부터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(Notion) 활용까지 완벽하게.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389620" y="2644445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164117" y="2882189"/>
            <a:ext cx="1499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문법과 원리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823960" y="3187598"/>
            <a:ext cx="2181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 • 구조화 • 미니 실습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66430" y="3717036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23960" y="3954780"/>
            <a:ext cx="22293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967521" y="4259275"/>
            <a:ext cx="20546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• 호환성 • 포트폴리오</a:t>
            </a:r>
            <a:endParaRPr lang="en-US" sz="10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15FE6C02-2698-F55F-B398-2902E45194FF}"/>
              </a:ext>
            </a:extLst>
          </p:cNvPr>
          <p:cNvGrpSpPr/>
          <p:nvPr/>
        </p:nvGrpSpPr>
        <p:grpSpPr>
          <a:xfrm>
            <a:off x="7367780" y="5664707"/>
            <a:ext cx="4172404" cy="425653"/>
            <a:chOff x="7367780" y="5664707"/>
            <a:chExt cx="4172404" cy="425653"/>
          </a:xfrm>
        </p:grpSpPr>
        <p:sp>
          <p:nvSpPr>
            <p:cNvPr id="29" name="Shape 5">
              <a:extLst>
                <a:ext uri="{FF2B5EF4-FFF2-40B4-BE49-F238E27FC236}">
                  <a16:creationId xmlns:a16="http://schemas.microsoft.com/office/drawing/2014/main" id="{028054A6-A9E2-E651-59D4-2C584DA5512F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2" descr="preencoded.png">
              <a:extLst>
                <a:ext uri="{FF2B5EF4-FFF2-40B4-BE49-F238E27FC236}">
                  <a16:creationId xmlns:a16="http://schemas.microsoft.com/office/drawing/2014/main" id="{8D4EBD93-B192-EA6C-784C-79D2721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40545CC6-C58E-4707-EAA4-2EB82DFDF7F1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이애본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드림아이티비즈(DreamIT Biz)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/>
              </a:r>
              <a:b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4"/>
                </a:rPr>
                <a:t>aebon@dreamitbiz.com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3324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Lecture Overview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46424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진행 계획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9410" y="800100"/>
            <a:ext cx="1981505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48749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2023" y="886054"/>
            <a:ext cx="15645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Markdown </a:t>
            </a:r>
            <a:r>
              <a:rPr lang="ko-KR" altLang="en-US" sz="1400" b="1" dirty="0">
                <a:solidFill>
                  <a:schemeClr val="bg1"/>
                </a:solidFill>
              </a:rPr>
              <a:t>활용법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247595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219249"/>
            <a:ext cx="112196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838298"/>
            <a:ext cx="501457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마크다운의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문법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정확히 이해하고 사용합니다.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333902"/>
            <a:ext cx="645475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텍스트를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넘어</a:t>
            </a:r>
            <a:endParaRPr lang="en-US" sz="1500" dirty="0">
              <a:solidFill>
                <a:srgbClr val="E2E8F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(README, 노션 등)를 작성합니다.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134002"/>
            <a:ext cx="396253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고려한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원칙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적용하여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문서를 완성합니다.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076249" y="5715000"/>
            <a:ext cx="45153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1285646" y="5876849"/>
            <a:ext cx="44961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강의는 이론보다는 실습 위주로 진행됩니다.</a:t>
            </a:r>
            <a:endParaRPr lang="en-US" sz="10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5912510"/>
            <a:ext cx="133502" cy="13350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286500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10044" y="2219249"/>
            <a:ext cx="16093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구성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705295" y="2991002"/>
            <a:ext cx="19202" cy="110459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698144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1: 기본 문법과 원리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981444" y="3221550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태그(제목, 목록, 코드) + 미니 데모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705295" y="4095598"/>
            <a:ext cx="19202" cy="110459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981444" y="4019702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2: 실전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981444" y="4327059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작성, 노션 호환, QA 체크리스트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6705295" y="5201107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6"/>
          <p:cNvSpPr txBox="1"/>
          <p:nvPr/>
        </p:nvSpPr>
        <p:spPr>
          <a:xfrm>
            <a:off x="6981444" y="5124298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및 마무리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6981444" y="5429707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피드백 및 포트폴리오 적용 팁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428378" y="5505602"/>
            <a:ext cx="265816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</a:t>
            </a:r>
            <a:endParaRPr lang="en-US" sz="7200" dirty="0"/>
          </a:p>
        </p:txBody>
      </p:sp>
      <p:sp>
        <p:nvSpPr>
          <p:cNvPr id="35" name="Shape 29"/>
          <p:cNvSpPr/>
          <p:nvPr/>
        </p:nvSpPr>
        <p:spPr>
          <a:xfrm>
            <a:off x="6601054" y="29910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601054" y="4095598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601054" y="5201107"/>
            <a:ext cx="228600" cy="228600"/>
          </a:xfrm>
          <a:prstGeom prst="ellipse">
            <a:avLst/>
          </a:prstGeom>
          <a:solidFill>
            <a:srgbClr val="94A3B8"/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-409956"/>
            <a:ext cx="7579462" cy="2648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0" b="1" kern="0" spc="-720" dirty="0">
                <a:solidFill>
                  <a:schemeClr val="bg1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01</a:t>
            </a:r>
            <a:endParaRPr lang="en-US" sz="14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/>
          <a:stretch/>
        </p:blipFill>
        <p:spPr>
          <a:xfrm>
            <a:off x="9753905" y="4419295"/>
            <a:ext cx="2438705" cy="2438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2072030"/>
            <a:ext cx="75895" cy="14767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143000" y="2072030"/>
            <a:ext cx="1438351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452421"/>
            <a:ext cx="105924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기본</a:t>
            </a:r>
            <a:endParaRPr lang="en-US" sz="4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43377"/>
            <a:ext cx="10478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뼈대를 만드는 핵심 문법과 원리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00354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10082" y="4490618"/>
            <a:ext cx="237744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9344" y="4243730"/>
            <a:ext cx="21396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Concept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609344" y="4433926"/>
            <a:ext cx="22219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609344" y="4738421"/>
            <a:ext cx="26773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제목, 목록, 링크, 이미지 등 필수 요소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94606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632350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4751222" y="4490618"/>
            <a:ext cx="219456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4243730"/>
            <a:ext cx="1828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242255" y="4433926"/>
            <a:ext cx="18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 원리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42255" y="4738421"/>
            <a:ext cx="21250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계층 구조와 가독성을 위한 규칙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26603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264347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383219" y="4490618"/>
            <a:ext cx="219456" cy="19019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874252" y="4243730"/>
            <a:ext cx="1534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874252" y="4433926"/>
            <a:ext cx="157459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874252" y="4738421"/>
            <a:ext cx="17967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소개 문서 5분 완성하기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2100377"/>
            <a:ext cx="12865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OVERVIEW</a:t>
            </a:r>
            <a:endParaRPr lang="en-US" sz="9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• Basic Concept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마크다운이란?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639605" y="5890565"/>
            <a:ext cx="1676095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39859" y="6014009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06864" y="5976519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&amp; Where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610405"/>
          </a:xfrm>
          <a:prstGeom prst="roundRect">
            <a:avLst>
              <a:gd name="adj" fmla="val 65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00507" cy="476402"/>
          </a:xfrm>
          <a:prstGeom prst="roundRect">
            <a:avLst>
              <a:gd name="adj" fmla="val 4348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190549" y="2247595"/>
            <a:ext cx="171907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28546" y="2219249"/>
            <a:ext cx="151241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및 장점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962656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 마크업 언어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286354"/>
            <a:ext cx="588965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태그 없이 간단한 기호(#, -, *)로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서식을 입힙니다.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086454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압도적인 생산성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4410151"/>
            <a:ext cx="562264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마우스 없이 키보드만으로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지정을 동시에 처리합니다.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1380744" y="5210251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범용성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380744" y="5533949"/>
            <a:ext cx="47996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파일 기반으로 어디서든 열리고, 쉽게 변환됩니다.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610405"/>
          </a:xfrm>
          <a:prstGeom prst="roundRect">
            <a:avLst>
              <a:gd name="adj" fmla="val 65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6715354" y="2247595"/>
            <a:ext cx="286207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67651" y="2219249"/>
            <a:ext cx="136611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사용처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801307" y="3333902"/>
            <a:ext cx="19202" cy="4764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7134149" y="2915107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/ 개발 문서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134149" y="3219602"/>
            <a:ext cx="4668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README.md, 이슈(Issue), PR 코멘트 작성의 표준 규격입니다.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801307" y="4401007"/>
            <a:ext cx="19202" cy="4764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7134149" y="39812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/ 협업 툴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134149" y="4286707"/>
            <a:ext cx="52020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초안 작성에 유리하며,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 자동으로 블록이 변환됩니다.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134149" y="5048402"/>
            <a:ext cx="41724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블로그 &amp; 메신저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7134149" y="5352898"/>
            <a:ext cx="4668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Velog, Tistory 포스팅 및 Discord,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Slack에서의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코드 공유에 쓰입니다.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101046" y="157277"/>
            <a:ext cx="297256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</a:t>
            </a:r>
            <a:endParaRPr lang="en-US" sz="7200" dirty="0"/>
          </a:p>
        </p:txBody>
      </p:sp>
      <p:sp>
        <p:nvSpPr>
          <p:cNvPr id="32" name="Shape 27"/>
          <p:cNvSpPr/>
          <p:nvPr/>
        </p:nvSpPr>
        <p:spPr>
          <a:xfrm>
            <a:off x="6601054" y="2933395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884" b="-884"/>
          <a:stretch/>
        </p:blipFill>
        <p:spPr>
          <a:xfrm>
            <a:off x="6710782" y="3038551"/>
            <a:ext cx="181051" cy="190195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601054" y="4000500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715354" y="4105656"/>
            <a:ext cx="171907" cy="190195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6601054" y="5067605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81521" y="5171846"/>
            <a:ext cx="237744" cy="190195"/>
          </a:xfrm>
          <a:prstGeom prst="rect">
            <a:avLst/>
          </a:prstGeom>
        </p:spPr>
      </p:pic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8136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· 문단 · 줄바꿈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10565892" y="857707"/>
            <a:ext cx="171907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813694" y="838505"/>
            <a:ext cx="9637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Basic Syntax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70078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(Headings)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714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의 개수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634033" y="2029054"/>
            <a:ext cx="1702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크기를 조절합니다.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37844" y="2286000"/>
            <a:ext cx="14630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(# 1개 ~ ###### 6개)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037844" y="2714854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05890" y="271485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뒤에 반드시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297430" y="2714854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띄어쓰기(공백)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37844" y="2943454"/>
            <a:ext cx="3648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한 칸 넣어야 제목으로 인식됩니다.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71500" y="4019702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334256"/>
            <a:ext cx="133502" cy="15270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28954" y="4276649"/>
            <a:ext cx="1340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문단과 줄바꿈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037844" y="471464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구분: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720850" y="471464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엔터를 두 번 쳐서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2842260" y="4743907"/>
            <a:ext cx="362102" cy="190195"/>
          </a:xfrm>
          <a:prstGeom prst="roundRect">
            <a:avLst>
              <a:gd name="adj" fmla="val 96154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2881630" y="4743907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 줄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037844" y="4943246"/>
            <a:ext cx="3706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하나 만들어야 합니다.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37844" y="5400446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줄바꿈: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1037844" y="5629046"/>
            <a:ext cx="53300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공백을 2칸 넣거나 &lt;br&gt; 태그를 사용합니다.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5113325" y="1333195"/>
            <a:ext cx="6515100" cy="2572207"/>
          </a:xfrm>
          <a:prstGeom prst="roundRect">
            <a:avLst>
              <a:gd name="adj" fmla="val 21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6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 txBox="1"/>
          <p:nvPr/>
        </p:nvSpPr>
        <p:spPr>
          <a:xfrm>
            <a:off x="10155326" y="1429207"/>
            <a:ext cx="13816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markdown_example.md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5122469" y="1657807"/>
            <a:ext cx="6495898" cy="2238451"/>
          </a:xfrm>
          <a:prstGeom prst="roundRect">
            <a:avLst>
              <a:gd name="adj" fmla="val 1391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5312664" y="1876349"/>
            <a:ext cx="11247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 큰 제목 (H1)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5312664" y="2089404"/>
            <a:ext cx="13341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중간 제목 (H2)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5312664" y="2379269"/>
            <a:ext cx="19339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이것은 첫 번째 문단입니다.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5312664" y="2593238"/>
            <a:ext cx="2809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엔터를 한번 쳐도 같은 줄로 이어집니다.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5312664" y="2882189"/>
            <a:ext cx="239755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엔터를 두 번 쳐서 빈 줄을 만들면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5312664" y="3096158"/>
            <a:ext cx="185166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새로운 문단으로 나뉩니다.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5113325" y="4286707"/>
            <a:ext cx="6515100" cy="2190902"/>
          </a:xfrm>
          <a:prstGeom prst="roundRect">
            <a:avLst>
              <a:gd name="adj" fmla="val 29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9"/>
          <p:cNvSpPr/>
          <p:nvPr/>
        </p:nvSpPr>
        <p:spPr>
          <a:xfrm>
            <a:off x="5122469" y="4295851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0"/>
          <p:cNvSpPr/>
          <p:nvPr/>
        </p:nvSpPr>
        <p:spPr>
          <a:xfrm>
            <a:off x="5351069" y="4902098"/>
            <a:ext cx="6038698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1"/>
          <p:cNvSpPr txBox="1"/>
          <p:nvPr/>
        </p:nvSpPr>
        <p:spPr>
          <a:xfrm>
            <a:off x="5351069" y="4482389"/>
            <a:ext cx="148498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제목 (H1)</a:t>
            </a:r>
            <a:endParaRPr lang="en-US" sz="1800" dirty="0"/>
          </a:p>
        </p:txBody>
      </p:sp>
      <p:sp>
        <p:nvSpPr>
          <p:cNvPr id="47" name="Shape 42"/>
          <p:cNvSpPr/>
          <p:nvPr/>
        </p:nvSpPr>
        <p:spPr>
          <a:xfrm>
            <a:off x="5351069" y="5520233"/>
            <a:ext cx="6038698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3"/>
          <p:cNvSpPr txBox="1"/>
          <p:nvPr/>
        </p:nvSpPr>
        <p:spPr>
          <a:xfrm>
            <a:off x="5351069" y="5177333"/>
            <a:ext cx="144018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제목 (H2)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5351069" y="5625389"/>
            <a:ext cx="62298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이것은 첫 번째 문단입니다. 엔터를 한번 쳐도 같은 줄로 이어집니다.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51069" y="5952744"/>
            <a:ext cx="62298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 줄을 두면 새로운 문단으로 나뉩니다.</a:t>
            </a:r>
            <a:endParaRPr lang="en-US" sz="1000" dirty="0"/>
          </a:p>
        </p:txBody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045306"/>
            <a:ext cx="105156" cy="133502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8183880" y="4028846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1345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70093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 · 인용문 · 강조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50931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879531" y="838505"/>
            <a:ext cx="884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 Styling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54442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구분선과 인용문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2029054"/>
            <a:ext cx="505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하이픈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005279" y="20958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161642" y="2029054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이나 별표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841955" y="20958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7844" y="2029054"/>
            <a:ext cx="3676802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3개 이상 연속해서 작성합니다.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37844" y="2723998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인용문: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508760" y="2723998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줄의 맨 앞에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2371039" y="27907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2527402" y="2723998"/>
            <a:ext cx="2018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기호를 붙여서 작성합니다.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71500" y="4019702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905256" y="4334256"/>
            <a:ext cx="114300" cy="15270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28954" y="4276649"/>
            <a:ext cx="1340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스타일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037844" y="471464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굵게(Bold):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904695" y="478139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**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2141525" y="4714646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2498141" y="478139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__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2734970" y="4714646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감싸기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037844" y="5181905"/>
            <a:ext cx="11448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기울임(Italic):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2074774" y="524865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2231136" y="5181905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2587752" y="524865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_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2744114" y="5181905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감싸기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1037844" y="5648249"/>
            <a:ext cx="104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코드(Inline):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912010" y="5648249"/>
            <a:ext cx="19302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백틱( ` ) 기호로 감싸기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5113325" y="1333195"/>
            <a:ext cx="6515100" cy="2572207"/>
          </a:xfrm>
          <a:prstGeom prst="roundRect">
            <a:avLst>
              <a:gd name="adj" fmla="val 21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6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7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 txBox="1"/>
          <p:nvPr/>
        </p:nvSpPr>
        <p:spPr>
          <a:xfrm>
            <a:off x="10361066" y="1429207"/>
            <a:ext cx="11814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style_example.md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5122469" y="1657807"/>
            <a:ext cx="6495898" cy="2238451"/>
          </a:xfrm>
          <a:prstGeom prst="roundRect">
            <a:avLst>
              <a:gd name="adj" fmla="val 1391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0"/>
          <p:cNvSpPr txBox="1"/>
          <p:nvPr/>
        </p:nvSpPr>
        <p:spPr>
          <a:xfrm>
            <a:off x="5312664" y="1876349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5312664" y="2166214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5393131" y="2166214"/>
            <a:ext cx="217078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"마크다운은 정말 편리합니다."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12664" y="237926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393131" y="2379269"/>
            <a:ext cx="113202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익명의 개발자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74502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중요한 단어는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6193231" y="2745029"/>
            <a:ext cx="11530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**굵게(Bold)**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7260336" y="2745029"/>
            <a:ext cx="6958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표시하고,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5312664" y="2958998"/>
            <a:ext cx="11009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강조하고 싶으면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326734" y="2958998"/>
            <a:ext cx="12865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*기울여(Italic)*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7526426" y="2958998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주세요.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312664" y="3324758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단축키는</a:t>
            </a:r>
            <a:endParaRPr lang="en-US" sz="1000" dirty="0"/>
          </a:p>
        </p:txBody>
      </p:sp>
      <p:sp>
        <p:nvSpPr>
          <p:cNvPr id="57" name="Text 52"/>
          <p:cNvSpPr txBox="1"/>
          <p:nvPr/>
        </p:nvSpPr>
        <p:spPr>
          <a:xfrm>
            <a:off x="5846674" y="3324758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DE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`Ctrl + C`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6646774" y="3324758"/>
            <a:ext cx="11832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처럼 작성합니다.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5113325" y="4286707"/>
            <a:ext cx="6515100" cy="2190902"/>
          </a:xfrm>
          <a:prstGeom prst="roundRect">
            <a:avLst>
              <a:gd name="adj" fmla="val 29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5"/>
          <p:cNvSpPr/>
          <p:nvPr/>
        </p:nvSpPr>
        <p:spPr>
          <a:xfrm>
            <a:off x="5122469" y="4295851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6"/>
          <p:cNvSpPr/>
          <p:nvPr/>
        </p:nvSpPr>
        <p:spPr>
          <a:xfrm>
            <a:off x="5351069" y="4645152"/>
            <a:ext cx="6038698" cy="1920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7"/>
          <p:cNvSpPr/>
          <p:nvPr/>
        </p:nvSpPr>
        <p:spPr>
          <a:xfrm>
            <a:off x="5351069" y="4968850"/>
            <a:ext cx="38405" cy="45720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8"/>
          <p:cNvSpPr txBox="1"/>
          <p:nvPr/>
        </p:nvSpPr>
        <p:spPr>
          <a:xfrm>
            <a:off x="5541264" y="4968850"/>
            <a:ext cx="237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"마크다운은 정말 편리합니다."</a:t>
            </a:r>
            <a:endParaRPr lang="en-US" sz="1200" dirty="0"/>
          </a:p>
        </p:txBody>
      </p:sp>
      <p:sp>
        <p:nvSpPr>
          <p:cNvPr id="64" name="Text 59"/>
          <p:cNvSpPr txBox="1"/>
          <p:nvPr/>
        </p:nvSpPr>
        <p:spPr>
          <a:xfrm>
            <a:off x="5541264" y="5197450"/>
            <a:ext cx="12307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익명의 개발자</a:t>
            </a:r>
            <a:endParaRPr lang="en-US" sz="1200" dirty="0"/>
          </a:p>
        </p:txBody>
      </p:sp>
      <p:sp>
        <p:nvSpPr>
          <p:cNvPr id="65" name="Text 60"/>
          <p:cNvSpPr txBox="1"/>
          <p:nvPr/>
        </p:nvSpPr>
        <p:spPr>
          <a:xfrm>
            <a:off x="5351069" y="5578754"/>
            <a:ext cx="6229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중요한 단어는 굵게(Bold) </a:t>
            </a:r>
            <a:r>
              <a:rPr lang="en-US" sz="1100" b="1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표시하고, 강조하고 싶으면 기울여(Italic) </a:t>
            </a:r>
            <a:r>
              <a:rPr lang="en-US" sz="1100" i="1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주세요.</a:t>
            </a:r>
            <a:endParaRPr lang="en-US" sz="1100" dirty="0"/>
          </a:p>
        </p:txBody>
      </p:sp>
      <p:sp>
        <p:nvSpPr>
          <p:cNvPr id="66" name="Text 61"/>
          <p:cNvSpPr txBox="1"/>
          <p:nvPr/>
        </p:nvSpPr>
        <p:spPr>
          <a:xfrm>
            <a:off x="5351069" y="5921654"/>
            <a:ext cx="61539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단축키는 </a:t>
            </a:r>
            <a:r>
              <a:rPr lang="en-US" sz="1000" b="1" kern="0" spc="-11" dirty="0">
                <a:solidFill>
                  <a:srgbClr val="DB2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 + C</a:t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처럼 작성합니다.</a:t>
            </a:r>
            <a:endParaRPr lang="en-US" sz="1100" dirty="0"/>
          </a:p>
        </p:txBody>
      </p:sp>
      <p:pic>
        <p:nvPicPr>
          <p:cNvPr id="6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045306"/>
            <a:ext cx="105156" cy="133502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8183880" y="4028846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7934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369326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만들기 (Lists)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95737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24337" y="838505"/>
            <a:ext cx="83941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List Syntax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3010205"/>
          </a:xfrm>
          <a:prstGeom prst="roundRect">
            <a:avLst>
              <a:gd name="adj" fmla="val 15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1647749"/>
            <a:ext cx="152705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91292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/ 비순서 목록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목록(Ordered):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424989" y="2029054"/>
            <a:ext cx="821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숫자와 점(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118104" y="2095805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316529" y="2029054"/>
            <a:ext cx="12307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)을 사용합니다.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37844" y="2495398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비순서 목록(Unordered):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793492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2911450" y="2495398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2991917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3110789" y="2495398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191256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37844" y="2495398"/>
            <a:ext cx="3715207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 중 하나를 사용합니다.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037844" y="3191256"/>
            <a:ext cx="145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 뒤에는 반드시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2245766" y="3191256"/>
            <a:ext cx="99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공백(Space)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085186" y="3191256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필요합니다.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71500" y="4457700"/>
            <a:ext cx="4238244" cy="2148840"/>
          </a:xfrm>
          <a:prstGeom prst="roundRect">
            <a:avLst>
              <a:gd name="adj" fmla="val 15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878324"/>
            <a:ext cx="133502" cy="15270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28954" y="4820717"/>
            <a:ext cx="19952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중첩 (Nesting)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1037844" y="5258714"/>
            <a:ext cx="2270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목록을 만들려면 줄 앞에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2891333" y="5258714"/>
            <a:ext cx="861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 2~4칸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37844" y="5258714"/>
            <a:ext cx="3667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탭)을 넣어 들여쓰기합니다.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1037844" y="5944514"/>
            <a:ext cx="2018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목록과 비순서 목록을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2708453" y="5944514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섞어서 사용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3452774" y="5944514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수도 있습니다.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5113325" y="1333195"/>
            <a:ext cx="6515100" cy="3124505"/>
          </a:xfrm>
          <a:prstGeom prst="roundRect">
            <a:avLst>
              <a:gd name="adj" fmla="val 14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6"/>
          <p:cNvSpPr txBox="1"/>
          <p:nvPr/>
        </p:nvSpPr>
        <p:spPr>
          <a:xfrm>
            <a:off x="10429646" y="1429207"/>
            <a:ext cx="1114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list_example.md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122469" y="1657807"/>
            <a:ext cx="6495898" cy="2790749"/>
          </a:xfrm>
          <a:prstGeom prst="roundRect">
            <a:avLst>
              <a:gd name="adj" fmla="val 895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 txBox="1"/>
          <p:nvPr/>
        </p:nvSpPr>
        <p:spPr>
          <a:xfrm>
            <a:off x="5312664" y="1876349"/>
            <a:ext cx="13624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장보기 (비순서)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5312664" y="2166214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5393131" y="2166214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과일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5465064" y="237926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5545531" y="2379269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465064" y="2593238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545531" y="2593238"/>
            <a:ext cx="4764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바나나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920594"/>
            <a:ext cx="10954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루틴 (순서)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312664" y="321045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5473598" y="3210458"/>
            <a:ext cx="6958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아침 운동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5312664" y="3423514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2.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5473598" y="3423514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샤워하기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5541264" y="3637483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702198" y="3637483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샴푸</a:t>
            </a:r>
            <a:endParaRPr lang="en-US" sz="1000" dirty="0"/>
          </a:p>
        </p:txBody>
      </p:sp>
      <p:sp>
        <p:nvSpPr>
          <p:cNvPr id="57" name="Shape 52"/>
          <p:cNvSpPr/>
          <p:nvPr/>
        </p:nvSpPr>
        <p:spPr>
          <a:xfrm>
            <a:off x="5113325" y="4830775"/>
            <a:ext cx="6515100" cy="1874825"/>
          </a:xfrm>
          <a:prstGeom prst="roundRect">
            <a:avLst>
              <a:gd name="adj" fmla="val 185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3"/>
          <p:cNvSpPr/>
          <p:nvPr/>
        </p:nvSpPr>
        <p:spPr>
          <a:xfrm>
            <a:off x="5122469" y="4839919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4"/>
          <p:cNvSpPr/>
          <p:nvPr/>
        </p:nvSpPr>
        <p:spPr>
          <a:xfrm>
            <a:off x="5879532" y="5456818"/>
            <a:ext cx="2069939" cy="4571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5"/>
          <p:cNvSpPr txBox="1"/>
          <p:nvPr/>
        </p:nvSpPr>
        <p:spPr>
          <a:xfrm>
            <a:off x="5879532" y="5182147"/>
            <a:ext cx="14301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장보기 (비순서)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6069726" y="5563451"/>
            <a:ext cx="587043" cy="19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과일</a:t>
            </a:r>
            <a:endParaRPr lang="en-US" sz="1000" dirty="0"/>
          </a:p>
        </p:txBody>
      </p:sp>
      <p:sp>
        <p:nvSpPr>
          <p:cNvPr id="62" name="Text 57"/>
          <p:cNvSpPr txBox="1"/>
          <p:nvPr/>
        </p:nvSpPr>
        <p:spPr>
          <a:xfrm>
            <a:off x="6260836" y="5801194"/>
            <a:ext cx="512091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사과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6260837" y="6039853"/>
            <a:ext cx="706830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바나나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8604443" y="5143566"/>
            <a:ext cx="10643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(순서)</a:t>
            </a:r>
            <a:endParaRPr lang="en-US" sz="1300" dirty="0"/>
          </a:p>
        </p:txBody>
      </p:sp>
      <p:sp>
        <p:nvSpPr>
          <p:cNvPr id="66" name="Text 61"/>
          <p:cNvSpPr txBox="1"/>
          <p:nvPr/>
        </p:nvSpPr>
        <p:spPr>
          <a:xfrm>
            <a:off x="8829386" y="5567846"/>
            <a:ext cx="916228" cy="2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Font typeface="+mj-lt"/>
              <a:buAutoNum type="arabicPeriod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아침 운동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8837615" y="5814734"/>
            <a:ext cx="823946" cy="2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</a:t>
            </a:r>
            <a:r>
              <a:rPr lang="en-US" sz="10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샤워하기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9087282" y="6062124"/>
            <a:ext cx="658332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buFont typeface="+mj-lt"/>
              <a:buAutoNum type="arabicParenR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샴푸</a:t>
            </a:r>
            <a:endParaRPr lang="en-US" sz="100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590288"/>
            <a:ext cx="105156" cy="133502"/>
          </a:xfrm>
          <a:prstGeom prst="rect">
            <a:avLst/>
          </a:prstGeom>
        </p:spPr>
      </p:pic>
      <p:sp>
        <p:nvSpPr>
          <p:cNvPr id="70" name="Text 64"/>
          <p:cNvSpPr txBox="1"/>
          <p:nvPr/>
        </p:nvSpPr>
        <p:spPr>
          <a:xfrm>
            <a:off x="8183880" y="4572914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71" name="Shape 54">
            <a:extLst>
              <a:ext uri="{FF2B5EF4-FFF2-40B4-BE49-F238E27FC236}">
                <a16:creationId xmlns:a16="http://schemas.microsoft.com/office/drawing/2014/main" id="{90B5013C-BA69-4BD4-C521-B0B832F05059}"/>
              </a:ext>
            </a:extLst>
          </p:cNvPr>
          <p:cNvSpPr/>
          <p:nvPr/>
        </p:nvSpPr>
        <p:spPr>
          <a:xfrm>
            <a:off x="8528548" y="5456818"/>
            <a:ext cx="2069939" cy="4571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38405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6576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Markdown Syntax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09905"/>
            <a:ext cx="542879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· 이미지 · 코드 블록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774022" y="705002"/>
            <a:ext cx="1848002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9935870" y="788213"/>
            <a:ext cx="171907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83673" y="752551"/>
            <a:ext cx="15197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Editor Preview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218895"/>
            <a:ext cx="6996336" cy="5383291"/>
          </a:xfrm>
          <a:prstGeom prst="roundRect">
            <a:avLst>
              <a:gd name="adj" fmla="val 66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41300" dist="1905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80644" y="1228954"/>
            <a:ext cx="6996336" cy="428854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80645" y="1648662"/>
            <a:ext cx="6987192" cy="4571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71754" y="1380744"/>
            <a:ext cx="114300" cy="1143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61949" y="1380744"/>
            <a:ext cx="114300" cy="1143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1380744"/>
            <a:ext cx="114300" cy="1143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571854" y="13624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example.md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19431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5646" y="1943100"/>
            <a:ext cx="260786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## 1. 링크 (Hyperlinks)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" y="22475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85646" y="2247595"/>
            <a:ext cx="28913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[텍스트](주소) 형식 --&gt;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25530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285646" y="2553005"/>
            <a:ext cx="11320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공식 문서는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2333549" y="2553005"/>
            <a:ext cx="36722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472B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[여기](https://markdownguide.org)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77256" y="2553005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를 참고하세요.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" y="28575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" y="31619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285646" y="3161995"/>
            <a:ext cx="23436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## 2. 이미지 (Images)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23544" y="34674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285646" y="3467405"/>
            <a:ext cx="3429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![대체텍스트](이미지경로) --&gt;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" y="37719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285646" y="3771900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BBF2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![로고 이미지]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2619756" y="3771900"/>
            <a:ext cx="20409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(/assets/logo.png)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23544" y="40763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23544" y="43818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9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285646" y="4381805"/>
            <a:ext cx="324246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## 3. 코드 블록 (Fenced Code)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8446" y="4686300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285646" y="4686300"/>
            <a:ext cx="1020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5B4FC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```python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8446" y="499079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11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285646" y="4990795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571854" y="4990795"/>
            <a:ext cx="5669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hello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2048256" y="4990795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():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828446" y="529620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12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285646" y="5296205"/>
            <a:ext cx="6803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print(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857146" y="5296205"/>
            <a:ext cx="19275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ADE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"Hello Markdown!"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476549" y="52962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28446" y="5600700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13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1285646" y="5600700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5B4FC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```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8446" y="590519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14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828446" y="621060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15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285646" y="6210605"/>
            <a:ext cx="40699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인라인 코드는 `백틱` 하나만 사용 --&gt;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7989809" y="2272522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1658" y="2471861"/>
            <a:ext cx="237744" cy="190195"/>
          </a:xfrm>
          <a:prstGeom prst="rect">
            <a:avLst/>
          </a:prstGeom>
        </p:spPr>
      </p:pic>
      <p:sp>
        <p:nvSpPr>
          <p:cNvPr id="52" name="Text 48"/>
          <p:cNvSpPr txBox="1"/>
          <p:nvPr/>
        </p:nvSpPr>
        <p:spPr>
          <a:xfrm>
            <a:off x="8504616" y="2434371"/>
            <a:ext cx="15718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Link Syntax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8504616" y="2748924"/>
            <a:ext cx="1114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[Text](URL)</a:t>
            </a:r>
            <a:endParaRPr 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8504616" y="3053419"/>
            <a:ext cx="18205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대괄호에 텍스트, 소괄호에 주소</a:t>
            </a:r>
            <a:endParaRPr lang="en-US" sz="900" dirty="0"/>
          </a:p>
        </p:txBody>
      </p:sp>
      <p:sp>
        <p:nvSpPr>
          <p:cNvPr id="55" name="Shape 51"/>
          <p:cNvSpPr/>
          <p:nvPr/>
        </p:nvSpPr>
        <p:spPr>
          <a:xfrm>
            <a:off x="7989809" y="3621938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51658" y="3821277"/>
            <a:ext cx="190195" cy="190195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8456153" y="3783787"/>
            <a:ext cx="14767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 Syntax</a:t>
            </a:r>
            <a:endParaRPr lang="en-US" sz="1300" dirty="0"/>
          </a:p>
        </p:txBody>
      </p:sp>
      <p:sp>
        <p:nvSpPr>
          <p:cNvPr id="58" name="Text 53"/>
          <p:cNvSpPr txBox="1"/>
          <p:nvPr/>
        </p:nvSpPr>
        <p:spPr>
          <a:xfrm>
            <a:off x="8456153" y="4098340"/>
            <a:ext cx="1114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![Alt](Src)</a:t>
            </a:r>
            <a:endParaRPr lang="en-US" sz="1000" dirty="0"/>
          </a:p>
        </p:txBody>
      </p:sp>
      <p:sp>
        <p:nvSpPr>
          <p:cNvPr id="59" name="Text 54"/>
          <p:cNvSpPr txBox="1"/>
          <p:nvPr/>
        </p:nvSpPr>
        <p:spPr>
          <a:xfrm>
            <a:off x="8456153" y="4402835"/>
            <a:ext cx="179953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앞에 느낌표(!) 추가 필수</a:t>
            </a:r>
            <a:endParaRPr lang="en-US" sz="900" dirty="0"/>
          </a:p>
        </p:txBody>
      </p:sp>
      <p:sp>
        <p:nvSpPr>
          <p:cNvPr id="60" name="Shape 55"/>
          <p:cNvSpPr/>
          <p:nvPr/>
        </p:nvSpPr>
        <p:spPr>
          <a:xfrm>
            <a:off x="7986631" y="4968785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148480" y="5168124"/>
            <a:ext cx="219456" cy="190195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8482236" y="5130634"/>
            <a:ext cx="1438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Code Block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482236" y="5445187"/>
            <a:ext cx="1438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```lang ... ```</a:t>
            </a:r>
            <a:endParaRPr lang="en-US" sz="1000" dirty="0"/>
          </a:p>
        </p:txBody>
      </p:sp>
      <p:sp>
        <p:nvSpPr>
          <p:cNvPr id="64" name="Text 58"/>
          <p:cNvSpPr txBox="1"/>
          <p:nvPr/>
        </p:nvSpPr>
        <p:spPr>
          <a:xfrm>
            <a:off x="8482236" y="5749682"/>
            <a:ext cx="165963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백틱 3개로 감싸고 언어 지정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210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1019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표(Tables) · 체크박스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93654" y="48006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57002" y="417881"/>
            <a:ext cx="99486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GFM Features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695651"/>
          </a:xfrm>
          <a:prstGeom prst="roundRect">
            <a:avLst>
              <a:gd name="adj" fmla="val 1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1676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(Tables)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683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 구분: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550822" y="2029054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 기호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333549" y="2115007"/>
            <a:ext cx="1527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2439619" y="2029054"/>
            <a:ext cx="2112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사용하여 칸을 나눕니다.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37844" y="2486254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헤더 구분: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2486254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줄(제목)과 내용 사이에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363163" y="2572207"/>
            <a:ext cx="838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---|---|---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37844" y="2714854"/>
            <a:ext cx="3591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형태가 필수입니다.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37844" y="3172054"/>
            <a:ext cx="424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정렬: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367942" y="3172054"/>
            <a:ext cx="21460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콜론(:) 위치로 결정합니다.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037844" y="3457346"/>
            <a:ext cx="25859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 (좌), :---: (중), ---: (우)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71500" y="4256533"/>
            <a:ext cx="4238244" cy="1970532"/>
          </a:xfrm>
          <a:prstGeom prst="roundRect">
            <a:avLst>
              <a:gd name="adj" fmla="val 1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9244" y="4495190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571086"/>
            <a:ext cx="133502" cy="152705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228954" y="4514393"/>
            <a:ext cx="15179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(GFM)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1037844" y="4952390"/>
            <a:ext cx="945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목록: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1733702" y="4952390"/>
            <a:ext cx="255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하이픈(-) 뒤에 대괄호를 씁니다.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1037844" y="5466283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C5F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 ]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495958" y="5409590"/>
            <a:ext cx="15535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미완료 (빈 칸 필수)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37844" y="5724144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EE7B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[x]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1495958" y="5666537"/>
            <a:ext cx="1258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완료 (소문자 x)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5172761" y="827532"/>
            <a:ext cx="6515100" cy="2809951"/>
          </a:xfrm>
          <a:prstGeom prst="roundRect">
            <a:avLst>
              <a:gd name="adj" fmla="val 17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5182819" y="836676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0"/>
          <p:cNvSpPr/>
          <p:nvPr/>
        </p:nvSpPr>
        <p:spPr>
          <a:xfrm>
            <a:off x="5182819" y="1142086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5334610" y="941832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5487314" y="941832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640019" y="941832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182819" y="1151230"/>
            <a:ext cx="6495898" cy="2476195"/>
          </a:xfrm>
          <a:prstGeom prst="roundRect">
            <a:avLst>
              <a:gd name="adj" fmla="val 1136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10283342" y="922630"/>
            <a:ext cx="13149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checklist_table.md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5373014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5453482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품목</a:t>
            </a:r>
            <a:endParaRPr lang="en-US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5719572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5800039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수량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067044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6146597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가격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6413602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73014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453482" y="1622146"/>
            <a:ext cx="4005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773522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853074" y="1622146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:---: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6253582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334049" y="1622146"/>
            <a:ext cx="4005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---: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654089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5373014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453482" y="187360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</a:t>
            </a:r>
            <a:endParaRPr lang="en-US" sz="1000" dirty="0"/>
          </a:p>
        </p:txBody>
      </p:sp>
      <p:sp>
        <p:nvSpPr>
          <p:cNvPr id="57" name="Text 52"/>
          <p:cNvSpPr txBox="1"/>
          <p:nvPr/>
        </p:nvSpPr>
        <p:spPr>
          <a:xfrm>
            <a:off x="5719572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5800039" y="1873606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10</a:t>
            </a:r>
            <a:endParaRPr lang="en-US" sz="1000" dirty="0"/>
          </a:p>
        </p:txBody>
      </p:sp>
      <p:sp>
        <p:nvSpPr>
          <p:cNvPr id="59" name="Text 54"/>
          <p:cNvSpPr txBox="1"/>
          <p:nvPr/>
        </p:nvSpPr>
        <p:spPr>
          <a:xfrm>
            <a:off x="5960059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0" name="Text 55"/>
          <p:cNvSpPr txBox="1"/>
          <p:nvPr/>
        </p:nvSpPr>
        <p:spPr>
          <a:xfrm>
            <a:off x="6040526" y="1873606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1,000원</a:t>
            </a:r>
            <a:endParaRPr lang="en-US" sz="1000" dirty="0"/>
          </a:p>
        </p:txBody>
      </p:sp>
      <p:sp>
        <p:nvSpPr>
          <p:cNvPr id="61" name="Text 56"/>
          <p:cNvSpPr txBox="1"/>
          <p:nvPr/>
        </p:nvSpPr>
        <p:spPr>
          <a:xfrm>
            <a:off x="6573622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2" name="Text 57"/>
          <p:cNvSpPr txBox="1"/>
          <p:nvPr/>
        </p:nvSpPr>
        <p:spPr>
          <a:xfrm>
            <a:off x="5373014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5453482" y="2125066"/>
            <a:ext cx="2103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배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5586070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5666537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5</a:t>
            </a:r>
            <a:endParaRPr lang="en-US" sz="1000" dirty="0"/>
          </a:p>
        </p:txBody>
      </p:sp>
      <p:sp>
        <p:nvSpPr>
          <p:cNvPr id="66" name="Text 61"/>
          <p:cNvSpPr txBox="1"/>
          <p:nvPr/>
        </p:nvSpPr>
        <p:spPr>
          <a:xfrm>
            <a:off x="5747004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5826557" y="2125066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2,000원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6360566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5373014" y="2490826"/>
            <a:ext cx="10698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장보기 목록</a:t>
            </a:r>
            <a:endParaRPr lang="en-US" sz="1000" dirty="0"/>
          </a:p>
        </p:txBody>
      </p:sp>
      <p:sp>
        <p:nvSpPr>
          <p:cNvPr id="70" name="Text 65"/>
          <p:cNvSpPr txBox="1"/>
          <p:nvPr/>
        </p:nvSpPr>
        <p:spPr>
          <a:xfrm>
            <a:off x="5373014" y="2742286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E63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[x]</a:t>
            </a:r>
            <a:endParaRPr lang="en-US" sz="1000" dirty="0"/>
          </a:p>
        </p:txBody>
      </p:sp>
      <p:sp>
        <p:nvSpPr>
          <p:cNvPr id="71" name="Text 66"/>
          <p:cNvSpPr txBox="1"/>
          <p:nvPr/>
        </p:nvSpPr>
        <p:spPr>
          <a:xfrm>
            <a:off x="5773522" y="2742286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 구매하기</a:t>
            </a:r>
            <a:endParaRPr lang="en-US" sz="1000" dirty="0"/>
          </a:p>
        </p:txBody>
      </p:sp>
      <p:sp>
        <p:nvSpPr>
          <p:cNvPr id="72" name="Text 67"/>
          <p:cNvSpPr txBox="1"/>
          <p:nvPr/>
        </p:nvSpPr>
        <p:spPr>
          <a:xfrm>
            <a:off x="5373014" y="2955341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E63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 ]</a:t>
            </a:r>
            <a:endParaRPr 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5773522" y="2955341"/>
            <a:ext cx="8293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배 구매하기</a:t>
            </a:r>
            <a:endParaRPr lang="en-US" sz="1000" dirty="0"/>
          </a:p>
        </p:txBody>
      </p:sp>
      <p:sp>
        <p:nvSpPr>
          <p:cNvPr id="74" name="Shape 69"/>
          <p:cNvSpPr/>
          <p:nvPr/>
        </p:nvSpPr>
        <p:spPr>
          <a:xfrm>
            <a:off x="5172761" y="4017873"/>
            <a:ext cx="6515100" cy="2557097"/>
          </a:xfrm>
          <a:prstGeom prst="roundRect">
            <a:avLst>
              <a:gd name="adj" fmla="val 23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0"/>
          <p:cNvSpPr/>
          <p:nvPr/>
        </p:nvSpPr>
        <p:spPr>
          <a:xfrm>
            <a:off x="5182819" y="4027018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659184"/>
              </p:ext>
            </p:extLst>
          </p:nvPr>
        </p:nvGraphicFramePr>
        <p:xfrm>
          <a:off x="5411419" y="4255618"/>
          <a:ext cx="6022239" cy="1095450"/>
        </p:xfrm>
        <a:graphic>
          <a:graphicData uri="http://schemas.openxmlformats.org/drawingml/2006/table">
            <a:tbl>
              <a:tblPr/>
              <a:tblGrid>
                <a:gridCol w="1752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6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1,000원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2,000원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7" name="Text 71"/>
          <p:cNvSpPr txBox="1"/>
          <p:nvPr/>
        </p:nvSpPr>
        <p:spPr>
          <a:xfrm>
            <a:off x="5411419" y="5618074"/>
            <a:ext cx="993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장보기 목록</a:t>
            </a:r>
            <a:endParaRPr lang="en-US" sz="1300" dirty="0"/>
          </a:p>
        </p:txBody>
      </p:sp>
      <p:sp>
        <p:nvSpPr>
          <p:cNvPr id="78" name="Text 72"/>
          <p:cNvSpPr txBox="1"/>
          <p:nvPr/>
        </p:nvSpPr>
        <p:spPr>
          <a:xfrm>
            <a:off x="5610758" y="5950915"/>
            <a:ext cx="9107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strike="sngStrike" dirty="0">
                <a:solidFill>
                  <a:schemeClr val="bg1">
                    <a:lumMod val="9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사과 구매하기</a:t>
            </a:r>
            <a:endParaRPr lang="en-US" sz="1000" b="1" strike="sngStrike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9" name="Text 73"/>
          <p:cNvSpPr txBox="1"/>
          <p:nvPr/>
        </p:nvSpPr>
        <p:spPr>
          <a:xfrm>
            <a:off x="5610758" y="6227064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 구매하기</a:t>
            </a:r>
            <a:endParaRPr lang="en-US" sz="1000" b="1" dirty="0"/>
          </a:p>
        </p:txBody>
      </p:sp>
      <p:pic>
        <p:nvPicPr>
          <p:cNvPr id="8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101584" y="3777386"/>
            <a:ext cx="105156" cy="133502"/>
          </a:xfrm>
          <a:prstGeom prst="rect">
            <a:avLst/>
          </a:prstGeom>
        </p:spPr>
      </p:pic>
      <p:sp>
        <p:nvSpPr>
          <p:cNvPr id="81" name="Text 74"/>
          <p:cNvSpPr txBox="1"/>
          <p:nvPr/>
        </p:nvSpPr>
        <p:spPr>
          <a:xfrm>
            <a:off x="8244230" y="3760013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8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6"/>
            <a:ext cx="5306263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53062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Practice Session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6143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+ 실습: 5분 README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917844" y="455828"/>
            <a:ext cx="1733702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10118097" y="579272"/>
            <a:ext cx="171907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403390" y="541782"/>
            <a:ext cx="1175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Hands-on Lab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742846"/>
            <a:ext cx="5143500" cy="4050097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057400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1717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143354"/>
            <a:ext cx="263347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단계 및 요구사항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151687" y="2805117"/>
            <a:ext cx="42867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데모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뼈대를 잡고 링크와 이미지를 추가하는 전체 과정을 예시로 봅니다.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151687" y="3804687"/>
            <a:ext cx="42867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실습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전공, 관심사, 연락처를 포함한 프로필 README를 직접 작성합니다.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160831" y="4804257"/>
            <a:ext cx="48966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포함 요소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제목(#), 목록(-), 링크([]), 이미지(![]) 중 3가지 이상을 사용하세요.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508046" y="1155344"/>
            <a:ext cx="5143500" cy="5333695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6936900" y="1584198"/>
            <a:ext cx="286207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489197" y="1555852"/>
            <a:ext cx="253928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힌트 코드 (Skeleton)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369557" y="1564996"/>
            <a:ext cx="972007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0493916" y="1612544"/>
            <a:ext cx="8001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readme.md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822600" y="2099005"/>
            <a:ext cx="4515307" cy="4076395"/>
          </a:xfrm>
          <a:prstGeom prst="roundRect">
            <a:avLst>
              <a:gd name="adj" fmla="val 6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060344" y="2336749"/>
            <a:ext cx="114300" cy="1143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7251453" y="2336749"/>
            <a:ext cx="114300" cy="1143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7441648" y="2336749"/>
            <a:ext cx="114300" cy="1143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7017367" y="2486711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홍길동 (컴퓨터공학과)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017367" y="2883560"/>
            <a:ext cx="42291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ADE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"안녕하세요, 백엔드 개발자를 꿈꾸는 홍길동입니다."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017367" y="3523640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관심 분야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017367" y="3766871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Java / Spring Boot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017367" y="401101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Cloud Architecture (AWS)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017367" y="4406951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주요 프로젝트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7017367" y="465109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 **도서관 관리 시스템** </a:t>
            </a:r>
            <a:r>
              <a:rPr lang="en-US" sz="12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/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대출/반납 기능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7017367" y="4894326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2. **개인 블로그** </a:t>
            </a:r>
            <a:r>
              <a:rPr lang="en-US" sz="12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/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마크다운 기반 정적 사이트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017367" y="5290261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연락처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7017367" y="553440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u="sng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[이메일 보내기](mailto:hong@example.com)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58844" y="5428793"/>
            <a:ext cx="3580400" cy="1817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</a:t>
            </a:r>
            <a:endParaRPr lang="en-US" sz="7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-409956"/>
            <a:ext cx="7579462" cy="2648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0" b="1" kern="0" spc="-720" dirty="0">
                <a:solidFill>
                  <a:schemeClr val="bg1">
                    <a:lumMod val="6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02</a:t>
            </a:r>
            <a:endParaRPr lang="en-US" sz="144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/>
          <a:stretch/>
        </p:blipFill>
        <p:spPr>
          <a:xfrm>
            <a:off x="9753905" y="4419295"/>
            <a:ext cx="2438705" cy="2438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2072030"/>
            <a:ext cx="75895" cy="14767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143000" y="2072030"/>
            <a:ext cx="1752905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452421"/>
            <a:ext cx="105924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노션</a:t>
            </a:r>
            <a:endParaRPr lang="en-US" sz="4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43377"/>
            <a:ext cx="104013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작성부터 노션(Notion) 연동까지 완벽 가이드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00354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57630" y="4490618"/>
            <a:ext cx="142646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9344" y="4243730"/>
            <a:ext cx="15819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609344" y="4433926"/>
            <a:ext cx="162580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문서 양식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609344" y="4738421"/>
            <a:ext cx="184891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보고서 구조 잡기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94606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632350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65853" y="4490618"/>
            <a:ext cx="190195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4243730"/>
            <a:ext cx="1505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242255" y="4433926"/>
            <a:ext cx="15051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200% 활용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42255" y="4738421"/>
            <a:ext cx="16824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단축키와 호환성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26603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264347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406994" y="4490618"/>
            <a:ext cx="171907" cy="19019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874252" y="4243730"/>
            <a:ext cx="1666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874252" y="4433926"/>
            <a:ext cx="1666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&amp; 실수 방지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874252" y="4738421"/>
            <a:ext cx="19037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높이는 검수 포인트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2100377"/>
            <a:ext cx="16642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9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4176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346374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구조화 원칙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1104595"/>
            <a:ext cx="251002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-13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계층과 흐름 설계하기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9793224" y="1200607"/>
            <a:ext cx="171907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41026" y="1181405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Information Architecture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790395"/>
            <a:ext cx="838505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647395" y="1819656"/>
            <a:ext cx="7626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518818" y="1752905"/>
            <a:ext cx="255117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계층 (Hierarchy)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71500" y="2286000"/>
            <a:ext cx="5296205" cy="4190695"/>
          </a:xfrm>
          <a:prstGeom prst="roundRect">
            <a:avLst>
              <a:gd name="adj" fmla="val 79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1751990" y="5600242"/>
            <a:ext cx="3071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큰 주제에서 세부 내용으로 좁혀가는 구조</a:t>
            </a:r>
            <a:endParaRPr lang="en-US" sz="12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655064" y="5629046"/>
            <a:ext cx="133502" cy="13350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24905" y="1790395"/>
            <a:ext cx="685800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6400800" y="181965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118604" y="1752905"/>
            <a:ext cx="17126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작성 순서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324905" y="2286000"/>
            <a:ext cx="5296205" cy="1742846"/>
          </a:xfrm>
          <a:prstGeom prst="roundRect">
            <a:avLst>
              <a:gd name="adj" fmla="val 458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7248449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7901330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600846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9253728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9953244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10606126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6400800" y="4867351"/>
            <a:ext cx="3337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TIPS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846113" y="4819802"/>
            <a:ext cx="914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원칙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324905" y="5238598"/>
            <a:ext cx="2572207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524244" y="562904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57746" y="5762549"/>
            <a:ext cx="190195" cy="19019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134149" y="5533949"/>
            <a:ext cx="15224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문서 1주제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134149" y="5800954"/>
            <a:ext cx="222747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주제에만 집중하여</a:t>
            </a:r>
            <a:endParaRPr lang="en-US" sz="1000" dirty="0"/>
          </a:p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명확성을 높이세요.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9048902" y="5238598"/>
            <a:ext cx="2572207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9249156" y="562904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9391802" y="5762549"/>
            <a:ext cx="171907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858146" y="5438851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3-4줄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9858146" y="5705856"/>
            <a:ext cx="163860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긴 문단은 가독성을</a:t>
            </a:r>
            <a:endParaRPr lang="en-US" sz="1000" dirty="0"/>
          </a:p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해칩니다. 적절히 끊어주세요.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1086307" y="4581144"/>
            <a:ext cx="4267505" cy="666598"/>
          </a:xfrm>
          <a:prstGeom prst="roundRect">
            <a:avLst>
              <a:gd name="adj" fmla="val 23516"/>
            </a:avLst>
          </a:prstGeom>
          <a:solidFill>
            <a:srgbClr val="0EA5E9"/>
          </a:solidFill>
          <a:ln w="12700">
            <a:solidFill>
              <a:srgbClr val="7DD3FC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1561795" y="4581144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2103120" y="4800600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2179015" y="4819802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H3</a:t>
            </a:r>
            <a:endParaRPr lang="en-US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2549347" y="4791456"/>
            <a:ext cx="213146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### 세부 항목 (Details)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1512418" y="3762756"/>
            <a:ext cx="3419856" cy="666598"/>
          </a:xfrm>
          <a:prstGeom prst="roundRect">
            <a:avLst>
              <a:gd name="adj" fmla="val 23516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7"/>
          <p:cNvSpPr/>
          <p:nvPr/>
        </p:nvSpPr>
        <p:spPr>
          <a:xfrm>
            <a:off x="3209544" y="4410151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8"/>
          <p:cNvSpPr/>
          <p:nvPr/>
        </p:nvSpPr>
        <p:spPr>
          <a:xfrm>
            <a:off x="2125066" y="3981298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2200961" y="4000500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H2</a:t>
            </a:r>
            <a:endParaRPr lang="en-US" sz="1000" dirty="0"/>
          </a:p>
        </p:txBody>
      </p:sp>
      <p:sp>
        <p:nvSpPr>
          <p:cNvPr id="46" name="Text 40"/>
          <p:cNvSpPr txBox="1"/>
          <p:nvPr/>
        </p:nvSpPr>
        <p:spPr>
          <a:xfrm>
            <a:off x="2571293" y="3972154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 중간 주제 (Section)</a:t>
            </a:r>
            <a:endParaRPr lang="en-US" sz="1300" dirty="0"/>
          </a:p>
        </p:txBody>
      </p:sp>
      <p:sp>
        <p:nvSpPr>
          <p:cNvPr id="47" name="Shape 41"/>
          <p:cNvSpPr/>
          <p:nvPr/>
        </p:nvSpPr>
        <p:spPr>
          <a:xfrm>
            <a:off x="1939442" y="2943454"/>
            <a:ext cx="2562149" cy="666598"/>
          </a:xfrm>
          <a:prstGeom prst="roundRect">
            <a:avLst>
              <a:gd name="adj" fmla="val 23516"/>
            </a:avLst>
          </a:prstGeom>
          <a:solidFill>
            <a:srgbClr val="4338CA"/>
          </a:solidFill>
          <a:ln w="12700">
            <a:solidFill>
              <a:srgbClr val="6366F1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2"/>
          <p:cNvSpPr/>
          <p:nvPr/>
        </p:nvSpPr>
        <p:spPr>
          <a:xfrm>
            <a:off x="3209544" y="3590849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3"/>
          <p:cNvSpPr/>
          <p:nvPr/>
        </p:nvSpPr>
        <p:spPr>
          <a:xfrm>
            <a:off x="2403958" y="3161995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2479853" y="3181198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H1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2850185" y="3152851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대주제 (Title)</a:t>
            </a:r>
            <a:endParaRPr lang="en-US" sz="1300" dirty="0"/>
          </a:p>
        </p:txBody>
      </p:sp>
      <p:sp>
        <p:nvSpPr>
          <p:cNvPr id="52" name="Shape 46"/>
          <p:cNvSpPr/>
          <p:nvPr/>
        </p:nvSpPr>
        <p:spPr>
          <a:xfrm>
            <a:off x="6638544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843370" y="2790749"/>
            <a:ext cx="200254" cy="228600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6783019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</a:t>
            </a:r>
            <a:endParaRPr lang="en-US" sz="1000" dirty="0"/>
          </a:p>
        </p:txBody>
      </p:sp>
      <p:sp>
        <p:nvSpPr>
          <p:cNvPr id="55" name="Text 48"/>
          <p:cNvSpPr txBox="1"/>
          <p:nvPr/>
        </p:nvSpPr>
        <p:spPr>
          <a:xfrm>
            <a:off x="6798564" y="3552444"/>
            <a:ext cx="3721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Topic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7991856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82051" y="2790749"/>
            <a:ext cx="228600" cy="228600"/>
          </a:xfrm>
          <a:prstGeom prst="rect">
            <a:avLst/>
          </a:prstGeom>
        </p:spPr>
      </p:pic>
      <p:sp>
        <p:nvSpPr>
          <p:cNvPr id="58" name="Text 50"/>
          <p:cNvSpPr txBox="1"/>
          <p:nvPr/>
        </p:nvSpPr>
        <p:spPr>
          <a:xfrm>
            <a:off x="8135417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8035747" y="3552444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9344254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9549079" y="2790749"/>
            <a:ext cx="200254" cy="228600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9487814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</a:t>
            </a:r>
            <a:endParaRPr lang="en-US" sz="1000" dirty="0"/>
          </a:p>
        </p:txBody>
      </p:sp>
      <p:sp>
        <p:nvSpPr>
          <p:cNvPr id="63" name="Text 54"/>
          <p:cNvSpPr txBox="1"/>
          <p:nvPr/>
        </p:nvSpPr>
        <p:spPr>
          <a:xfrm>
            <a:off x="9511589" y="3552444"/>
            <a:ext cx="3529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Body</a:t>
            </a:r>
            <a:endParaRPr lang="en-US" sz="900" dirty="0"/>
          </a:p>
        </p:txBody>
      </p:sp>
      <p:sp>
        <p:nvSpPr>
          <p:cNvPr id="64" name="Shape 55"/>
          <p:cNvSpPr/>
          <p:nvPr/>
        </p:nvSpPr>
        <p:spPr>
          <a:xfrm>
            <a:off x="10696651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10"/>
          <a:srcRect l="-80" r="-80"/>
          <a:stretch/>
        </p:blipFill>
        <p:spPr>
          <a:xfrm>
            <a:off x="10858500" y="2790749"/>
            <a:ext cx="286207" cy="228600"/>
          </a:xfrm>
          <a:prstGeom prst="rect">
            <a:avLst/>
          </a:prstGeom>
        </p:spPr>
      </p:pic>
      <p:sp>
        <p:nvSpPr>
          <p:cNvPr id="66" name="Text 56"/>
          <p:cNvSpPr txBox="1"/>
          <p:nvPr/>
        </p:nvSpPr>
        <p:spPr>
          <a:xfrm>
            <a:off x="10840212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000" dirty="0"/>
          </a:p>
        </p:txBody>
      </p:sp>
      <p:sp>
        <p:nvSpPr>
          <p:cNvPr id="67" name="Text 57"/>
          <p:cNvSpPr txBox="1"/>
          <p:nvPr/>
        </p:nvSpPr>
        <p:spPr>
          <a:xfrm>
            <a:off x="10737799" y="3552444"/>
            <a:ext cx="6355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Reference</a:t>
            </a:r>
            <a:endParaRPr lang="en-US" sz="9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833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30936"/>
            <a:ext cx="39620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작업 템플릿화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854489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83089" y="838505"/>
            <a:ext cx="1837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 &amp; Reusability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110082"/>
            <a:ext cx="4238244" cy="3552444"/>
          </a:xfrm>
          <a:prstGeom prst="roundRect">
            <a:avLst>
              <a:gd name="adj" fmla="val 11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348740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1424635"/>
            <a:ext cx="152705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367942"/>
            <a:ext cx="15764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&amp; After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09244" y="1881835"/>
            <a:ext cx="3762756" cy="1009498"/>
          </a:xfrm>
          <a:prstGeom prst="roundRect">
            <a:avLst>
              <a:gd name="adj" fmla="val 1025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809244" y="1881835"/>
            <a:ext cx="38405" cy="100949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0354" y="2053742"/>
            <a:ext cx="152705" cy="152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00354" y="2301545"/>
            <a:ext cx="43836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빈 페이지에서 새로 작성</a:t>
            </a:r>
            <a:endParaRPr lang="en-US" sz="10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시간 낭비, 서식 누락, 실수 발생</a:t>
            </a:r>
            <a:endParaRPr lang="en-US" sz="1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2632558" y="3076956"/>
            <a:ext cx="114300" cy="152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9244" y="3305556"/>
            <a:ext cx="3762756" cy="1009498"/>
          </a:xfrm>
          <a:prstGeom prst="roundRect">
            <a:avLst>
              <a:gd name="adj" fmla="val 1025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809244" y="3305556"/>
            <a:ext cx="38405" cy="100949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0354" y="3477463"/>
            <a:ext cx="15270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00354" y="3725266"/>
            <a:ext cx="40471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Skeleton 템플릿</a:t>
            </a: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복사 후 내용만 채움</a:t>
            </a: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일관성 유지, 작성 시간 50% 단축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1228954" y="2034540"/>
            <a:ext cx="10981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문제점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28954" y="3458261"/>
            <a:ext cx="1011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해결책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54126" y="4763110"/>
            <a:ext cx="4238244" cy="2029054"/>
          </a:xfrm>
          <a:prstGeom prst="roundRect">
            <a:avLst>
              <a:gd name="adj" fmla="val 338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7"/>
          <p:cNvSpPr/>
          <p:nvPr/>
        </p:nvSpPr>
        <p:spPr>
          <a:xfrm>
            <a:off x="792785" y="5001768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887882" y="5077663"/>
            <a:ext cx="114300" cy="15270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211580" y="5020056"/>
            <a:ext cx="175747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팁 (Key Tip)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792785" y="5458968"/>
            <a:ext cx="44476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문서(강의노트, 주간보고)는 템플릿 파일로 저장해두세요.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792785" y="5827471"/>
            <a:ext cx="3762756" cy="724205"/>
          </a:xfrm>
          <a:prstGeom prst="roundRect">
            <a:avLst>
              <a:gd name="adj" fmla="val 664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916229" y="5951830"/>
            <a:ext cx="37060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 작성해둘 불변 요소:</a:t>
            </a:r>
            <a:endParaRPr lang="en-US" sz="900" dirty="0"/>
          </a:p>
        </p:txBody>
      </p:sp>
      <p:sp>
        <p:nvSpPr>
          <p:cNvPr id="30" name="Shape 22"/>
          <p:cNvSpPr/>
          <p:nvPr/>
        </p:nvSpPr>
        <p:spPr>
          <a:xfrm>
            <a:off x="916229" y="6180430"/>
            <a:ext cx="8668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1858975" y="6180430"/>
            <a:ext cx="857707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2783434" y="6180430"/>
            <a:ext cx="8668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5"/>
          <p:cNvSpPr txBox="1"/>
          <p:nvPr/>
        </p:nvSpPr>
        <p:spPr>
          <a:xfrm>
            <a:off x="1002182" y="6217920"/>
            <a:ext cx="8513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제목 양식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1944929" y="6217920"/>
            <a:ext cx="80924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섹션(H2)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2868473" y="6217920"/>
            <a:ext cx="8513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자료 링크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5113325" y="1333195"/>
            <a:ext cx="6515100" cy="314554"/>
          </a:xfrm>
          <a:prstGeom prst="roundRect">
            <a:avLst>
              <a:gd name="adj" fmla="val 7047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5113325" y="1638605"/>
            <a:ext cx="65151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5265115" y="1438351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5417820" y="1438351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5570525" y="1438351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7701077" y="1419149"/>
            <a:ext cx="17245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lecture_note_template.md</a:t>
            </a:r>
            <a:endParaRPr lang="en-US" sz="9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1382451" y="1433779"/>
            <a:ext cx="85954" cy="11430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5113325" y="1647750"/>
            <a:ext cx="6515100" cy="4121680"/>
          </a:xfrm>
          <a:prstGeom prst="rect">
            <a:avLst/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5303520" y="1876349"/>
            <a:ext cx="25621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[과목명] 3주차 강의 노트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5303520" y="2189074"/>
            <a:ext cx="30678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&lt;!-- 매주 반복되는 제목 양식 --&gt;</a:t>
            </a:r>
            <a:endParaRPr lang="en-US" sz="1300" dirty="0"/>
          </a:p>
        </p:txBody>
      </p:sp>
      <p:sp>
        <p:nvSpPr>
          <p:cNvPr id="46" name="Text 37"/>
          <p:cNvSpPr txBox="1"/>
          <p:nvPr/>
        </p:nvSpPr>
        <p:spPr>
          <a:xfrm>
            <a:off x="5303520" y="2577694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1. 핵심 요약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5303520" y="288950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5406847" y="2889504"/>
            <a:ext cx="133776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오늘의 키워드: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303520" y="316382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5406847" y="3163824"/>
            <a:ext cx="1314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3줄 요약: ...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5303520" y="3552444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2. 상세 내용</a:t>
            </a:r>
            <a:endParaRPr lang="en-US" sz="1300" dirty="0"/>
          </a:p>
        </p:txBody>
      </p:sp>
      <p:sp>
        <p:nvSpPr>
          <p:cNvPr id="52" name="Text 43"/>
          <p:cNvSpPr txBox="1"/>
          <p:nvPr/>
        </p:nvSpPr>
        <p:spPr>
          <a:xfrm>
            <a:off x="5303520" y="3865169"/>
            <a:ext cx="3210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ADE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중요한 개념이나 교수의 강조 사항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5303520" y="4253789"/>
            <a:ext cx="16962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### 2.1 세부 주제</a:t>
            </a:r>
            <a:endParaRPr lang="en-US" sz="1300" dirty="0"/>
          </a:p>
        </p:txBody>
      </p:sp>
      <p:sp>
        <p:nvSpPr>
          <p:cNvPr id="54" name="Text 45"/>
          <p:cNvSpPr txBox="1"/>
          <p:nvPr/>
        </p:nvSpPr>
        <p:spPr>
          <a:xfrm>
            <a:off x="5303520" y="4565599"/>
            <a:ext cx="38295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이곳에 강의 내용을 자유롭게 정리합니다...</a:t>
            </a:r>
            <a:endParaRPr lang="en-US" sz="1300" dirty="0"/>
          </a:p>
        </p:txBody>
      </p:sp>
      <p:sp>
        <p:nvSpPr>
          <p:cNvPr id="55" name="Text 46"/>
          <p:cNvSpPr txBox="1"/>
          <p:nvPr/>
        </p:nvSpPr>
        <p:spPr>
          <a:xfrm>
            <a:off x="5303520" y="4954219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3. 참고 자료</a:t>
            </a:r>
            <a:endParaRPr lang="en-US" sz="1300" dirty="0"/>
          </a:p>
        </p:txBody>
      </p:sp>
      <p:sp>
        <p:nvSpPr>
          <p:cNvPr id="56" name="Text 47"/>
          <p:cNvSpPr txBox="1"/>
          <p:nvPr/>
        </p:nvSpPr>
        <p:spPr>
          <a:xfrm>
            <a:off x="5303520" y="526694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57" name="Text 48"/>
          <p:cNvSpPr txBox="1"/>
          <p:nvPr/>
        </p:nvSpPr>
        <p:spPr>
          <a:xfrm>
            <a:off x="5406847" y="5266944"/>
            <a:ext cx="32388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[공식 문서 바로가기](https://...)</a:t>
            </a:r>
            <a:endParaRPr lang="en-US" sz="1300" dirty="0"/>
          </a:p>
        </p:txBody>
      </p:sp>
      <p:pic>
        <p:nvPicPr>
          <p:cNvPr id="5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111289" y="7007962"/>
            <a:ext cx="114300" cy="114300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7301484" y="6979615"/>
            <a:ext cx="276606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파일을 복사(Duplicate)하여 매주 사용합니다.</a:t>
            </a:r>
            <a:endParaRPr lang="en-US" sz="900" dirty="0"/>
          </a:p>
        </p:txBody>
      </p:sp>
      <p:sp>
        <p:nvSpPr>
          <p:cNvPr id="6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46963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55558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노션(Notion)에서 마크다운 쓰기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72954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01554" y="838505"/>
            <a:ext cx="1224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&amp; Export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3267151"/>
          </a:xfrm>
          <a:prstGeom prst="roundRect">
            <a:avLst>
              <a:gd name="adj" fmla="val 130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875995" y="1647749"/>
            <a:ext cx="171907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463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및 단축키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037844" y="2029054"/>
            <a:ext cx="492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문서를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복사해서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넣으면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서식이 적용됩니다.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37844" y="2676449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 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847087" y="2695651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819304" y="2713940"/>
            <a:ext cx="957725" cy="191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/heading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334817" y="2676449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578256" y="2713940"/>
            <a:ext cx="643320" cy="191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/code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827025" y="2842836"/>
            <a:ext cx="1697561" cy="278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등으로 변환 가능합니다.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37844" y="3379840"/>
            <a:ext cx="1329932" cy="182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단축키: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037844" y="3639311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1083564" y="3639311"/>
            <a:ext cx="3011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231697" y="3639311"/>
            <a:ext cx="16575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Space → 제목 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037844" y="3829506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1083564" y="3829506"/>
            <a:ext cx="20117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&gt;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57630" y="3829506"/>
            <a:ext cx="16166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Space → 인용문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037844" y="4019702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1083564" y="4019702"/>
            <a:ext cx="42765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```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1325880" y="4019702"/>
            <a:ext cx="185274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Enter → 코드 블록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71500" y="4828946"/>
            <a:ext cx="4238244" cy="2000707"/>
          </a:xfrm>
          <a:prstGeom prst="roundRect">
            <a:avLst>
              <a:gd name="adj" fmla="val 34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875995" y="5143500"/>
            <a:ext cx="171907" cy="152705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228954" y="5086807"/>
            <a:ext cx="18141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내보내기 (Export)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037844" y="5524805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우측 상단 메뉴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2040941" y="5572354"/>
            <a:ext cx="2002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•••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2233879" y="5524805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037844" y="5943600"/>
            <a:ext cx="650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1599286" y="5943600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 포맷을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2662275" y="5943600"/>
            <a:ext cx="1374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Markdown &amp; CSV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2135038" y="6072531"/>
            <a:ext cx="3706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설정하여 다운로드합니다.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5113325" y="1333195"/>
            <a:ext cx="6515100" cy="2752344"/>
          </a:xfrm>
          <a:prstGeom prst="roundRect">
            <a:avLst>
              <a:gd name="adj" fmla="val 18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6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7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9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0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1"/>
          <p:cNvSpPr txBox="1"/>
          <p:nvPr/>
        </p:nvSpPr>
        <p:spPr>
          <a:xfrm>
            <a:off x="10155326" y="1429207"/>
            <a:ext cx="13816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Typing in Notion...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5122469" y="1657807"/>
            <a:ext cx="6495898" cy="2419502"/>
          </a:xfrm>
          <a:prstGeom prst="roundRect">
            <a:avLst>
              <a:gd name="adj" fmla="val 1190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3"/>
          <p:cNvSpPr txBox="1"/>
          <p:nvPr/>
        </p:nvSpPr>
        <p:spPr>
          <a:xfrm>
            <a:off x="5312664" y="1876349"/>
            <a:ext cx="155356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노션 단축키 실습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41871" y="1876349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>
                    <a:alpha val="57000"/>
                  </a:srgbClr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219249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100" dirty="0"/>
          </a:p>
        </p:txBody>
      </p:sp>
      <p:sp>
        <p:nvSpPr>
          <p:cNvPr id="51" name="Text 46"/>
          <p:cNvSpPr txBox="1"/>
          <p:nvPr/>
        </p:nvSpPr>
        <p:spPr>
          <a:xfrm>
            <a:off x="5398618" y="2219249"/>
            <a:ext cx="3001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단축키를 입력하고 스페이스를 누르면...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5312664" y="2562149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```</a:t>
            </a:r>
            <a:endParaRPr lang="en-US" sz="1100" dirty="0"/>
          </a:p>
        </p:txBody>
      </p:sp>
      <p:sp>
        <p:nvSpPr>
          <p:cNvPr id="53" name="Text 48"/>
          <p:cNvSpPr txBox="1"/>
          <p:nvPr/>
        </p:nvSpPr>
        <p:spPr>
          <a:xfrm>
            <a:off x="5570525" y="2562149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js</a:t>
            </a:r>
            <a:endParaRPr lang="en-US" sz="1100" dirty="0"/>
          </a:p>
        </p:txBody>
      </p:sp>
      <p:sp>
        <p:nvSpPr>
          <p:cNvPr id="54" name="Shape 49"/>
          <p:cNvSpPr/>
          <p:nvPr/>
        </p:nvSpPr>
        <p:spPr>
          <a:xfrm>
            <a:off x="5113325" y="4462272"/>
            <a:ext cx="6515100" cy="2371954"/>
          </a:xfrm>
          <a:prstGeom prst="roundRect">
            <a:avLst>
              <a:gd name="adj" fmla="val 24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0"/>
          <p:cNvSpPr/>
          <p:nvPr/>
        </p:nvSpPr>
        <p:spPr>
          <a:xfrm>
            <a:off x="5122469" y="4472330"/>
            <a:ext cx="6495898" cy="304495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1"/>
          <p:cNvSpPr/>
          <p:nvPr/>
        </p:nvSpPr>
        <p:spPr>
          <a:xfrm>
            <a:off x="5122469" y="4767682"/>
            <a:ext cx="6495898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2"/>
          <p:cNvSpPr txBox="1"/>
          <p:nvPr/>
        </p:nvSpPr>
        <p:spPr>
          <a:xfrm>
            <a:off x="5275174" y="4533595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Page</a:t>
            </a:r>
            <a:endParaRPr lang="en-US" sz="900" dirty="0"/>
          </a:p>
        </p:txBody>
      </p:sp>
      <p:sp>
        <p:nvSpPr>
          <p:cNvPr id="58" name="Text 53"/>
          <p:cNvSpPr txBox="1"/>
          <p:nvPr/>
        </p:nvSpPr>
        <p:spPr>
          <a:xfrm>
            <a:off x="5426964" y="4967021"/>
            <a:ext cx="199887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단축키 실습</a:t>
            </a:r>
            <a:endParaRPr lang="en-US" sz="1800" dirty="0"/>
          </a:p>
        </p:txBody>
      </p:sp>
      <p:sp>
        <p:nvSpPr>
          <p:cNvPr id="59" name="Shape 54"/>
          <p:cNvSpPr/>
          <p:nvPr/>
        </p:nvSpPr>
        <p:spPr>
          <a:xfrm>
            <a:off x="5426964" y="5424221"/>
            <a:ext cx="28346" cy="228600"/>
          </a:xfrm>
          <a:prstGeom prst="rect">
            <a:avLst/>
          </a:prstGeom>
          <a:solidFill>
            <a:srgbClr val="37352F"/>
          </a:solidFill>
          <a:ln w="12700">
            <a:solidFill>
              <a:srgbClr val="3735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5"/>
          <p:cNvSpPr txBox="1"/>
          <p:nvPr/>
        </p:nvSpPr>
        <p:spPr>
          <a:xfrm>
            <a:off x="5588813" y="5424221"/>
            <a:ext cx="5915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단축키를 입력하고 스페이스를 누르면 바로 서식이 적용됩니다.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5426964" y="5805526"/>
            <a:ext cx="5886907" cy="495605"/>
          </a:xfrm>
          <a:prstGeom prst="roundRect">
            <a:avLst>
              <a:gd name="adj" fmla="val 14192"/>
            </a:avLst>
          </a:prstGeom>
          <a:solidFill>
            <a:srgbClr val="F7F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7"/>
          <p:cNvSpPr txBox="1"/>
          <p:nvPr/>
        </p:nvSpPr>
        <p:spPr>
          <a:xfrm>
            <a:off x="5579669" y="5976518"/>
            <a:ext cx="268467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B5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console.log("코드 블록이 생성됩니다");</a:t>
            </a:r>
            <a:endParaRPr lang="en-US" sz="9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7798918" y="4221785"/>
            <a:ext cx="105156" cy="13350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41564" y="4205326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PREVIEW</a:t>
            </a:r>
            <a:endParaRPr lang="en-US" sz="900" dirty="0"/>
          </a:p>
        </p:txBody>
      </p:sp>
      <p:sp>
        <p:nvSpPr>
          <p:cNvPr id="65" name="Stage3 Note"/>
          <p:cNvSpPr txBox="1"/>
          <p:nvPr/>
        </p:nvSpPr>
        <p:spPr>
          <a:xfrm>
            <a:off x="5450000" y="6380000"/>
            <a:ext cx="625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메뉴 위치: 노션 도움말 「Export your content」(2026-10 기준). 화면은 업데이트로 바뀔 수 있다.</a:t>
            </a:r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53437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 &amp; Finalize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71085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실수와 QA 체크리스트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8495" y="800100"/>
            <a:ext cx="1990649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647834" y="923544"/>
            <a:ext cx="114300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6434" y="886054"/>
            <a:ext cx="16212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Quality Assurance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686300"/>
          </a:xfrm>
          <a:prstGeom prst="roundRect">
            <a:avLst>
              <a:gd name="adj" fmla="val 63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247595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219249"/>
            <a:ext cx="30952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 (Mistakes)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838298"/>
            <a:ext cx="542605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헤더 띄어쓰기 누락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인식 불가: #제목(X) → </a:t>
            </a:r>
            <a:r>
              <a:rPr lang="en-US" sz="1000" dirty="0">
                <a:solidFill>
                  <a:srgbClr val="FEC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제목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(O)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676802"/>
            <a:ext cx="606613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들여쓰기 불일치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중첩 목록 작성 시 공백 2칸/4칸 혼용 금지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515307"/>
            <a:ext cx="592897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문법 오류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경로 누락 또는 대체 텍스트(`alt`) 비워두기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5352898"/>
            <a:ext cx="64968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구분 실패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줄바꿈을 위해 엔터를 한 번만 치는 경우 (두 번 필요)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286500" y="1819656"/>
            <a:ext cx="5143500" cy="4686300"/>
          </a:xfrm>
          <a:prstGeom prst="roundRect">
            <a:avLst>
              <a:gd name="adj" fmla="val 63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601054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210044" y="2219249"/>
            <a:ext cx="167426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체크리스트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705295" y="2991002"/>
            <a:ext cx="19202" cy="10287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6981444" y="29151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 점검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81444" y="3219602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길이는 60~80자 내외인가? (권장치)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981444" y="3448202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사이에는 확실히 빈 줄이 있는가?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705295" y="4019702"/>
            <a:ext cx="19202" cy="10287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6981444" y="39438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블록 확인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981444" y="4248302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언어(language)가 지정되어 있는가? (예: ```python)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6981444" y="4476902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들여쓰기가 깨지지 않았는가?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705295" y="5048402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6"/>
          <p:cNvSpPr txBox="1"/>
          <p:nvPr/>
        </p:nvSpPr>
        <p:spPr>
          <a:xfrm>
            <a:off x="6981444" y="49725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및 서식 확인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981444" y="5277002"/>
            <a:ext cx="424830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표의 정렬 콜론(</a:t>
            </a:r>
            <a:r>
              <a:rPr lang="en-US" sz="1000" dirty="0">
                <a:solidFill>
                  <a:srgbClr val="93C5F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:---: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위치 확인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6981444" y="5524805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링크가 정상적으로 작동하는가?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8951975" y="5666994"/>
            <a:ext cx="327721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</a:t>
            </a:r>
            <a:endParaRPr lang="en-US" sz="7200" dirty="0"/>
          </a:p>
        </p:txBody>
      </p:sp>
      <p:sp>
        <p:nvSpPr>
          <p:cNvPr id="35" name="Shape 30"/>
          <p:cNvSpPr/>
          <p:nvPr/>
        </p:nvSpPr>
        <p:spPr>
          <a:xfrm>
            <a:off x="6601054" y="29910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6601054" y="40197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6601054" y="50484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42675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Challenge &amp; Assignment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60313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퀴즈 + 과제 안내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61695" y="1742846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571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828800"/>
            <a:ext cx="256214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복습 퀴즈 (Pop Quiz)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409444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0567" y="2645359"/>
            <a:ext cx="85954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47902" y="2609698"/>
            <a:ext cx="34290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태그(#) 다음에 꼭 필요한 것은?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1023214" y="2948940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346911" y="2948940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띄어쓰기 (Space)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# 제목 (O) / #제목 (X)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796589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880567" y="4032503"/>
            <a:ext cx="1143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76249" y="3996842"/>
            <a:ext cx="220919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구분선을 만드는 기호는?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23214" y="4336085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346911" y="4336085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--- 또는 ***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줄에 3개 이상 연속 입력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761695" y="5183734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 l="-3192" r="-3192"/>
          <a:stretch/>
        </p:blipFill>
        <p:spPr>
          <a:xfrm>
            <a:off x="880567" y="5419648"/>
            <a:ext cx="114300" cy="17190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76249" y="5383987"/>
            <a:ext cx="338968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체크박스(Task List)의 정확한 문법은?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1023214" y="5723230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1346911" y="5723230"/>
            <a:ext cx="4476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[ ] 내용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사이에 공백 필수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286500" y="1742846"/>
            <a:ext cx="5143500" cy="4828946"/>
          </a:xfrm>
          <a:prstGeom prst="roundRect">
            <a:avLst>
              <a:gd name="adj" fmla="val 59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15354" y="217170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10044" y="2143354"/>
            <a:ext cx="27816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과제: 과목 소개서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6858000" y="2915107"/>
            <a:ext cx="19202" cy="72420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7210044" y="28382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210044" y="3143707"/>
            <a:ext cx="40965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전공 과목이나 동아리 소개 문서 1페이지 작성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858000" y="3676802"/>
            <a:ext cx="19202" cy="11430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7210044" y="3600907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포함 요소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7210044" y="3943807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34402" y="3981298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제목(H1~H3)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9201607" y="3943807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9325051" y="3981298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목록(List)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7210044" y="4267505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7334402" y="4304995"/>
            <a:ext cx="7141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[링크](Link)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9201607" y="4267505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3"/>
          <p:cNvSpPr txBox="1"/>
          <p:nvPr/>
        </p:nvSpPr>
        <p:spPr>
          <a:xfrm>
            <a:off x="9325051" y="4304995"/>
            <a:ext cx="85039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![이미지](Img)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6858000" y="4858207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210044" y="47813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방법</a:t>
            </a:r>
            <a:endParaRPr lang="en-US" sz="1500" dirty="0"/>
          </a:p>
        </p:txBody>
      </p:sp>
      <p:sp>
        <p:nvSpPr>
          <p:cNvPr id="43" name="Text 36"/>
          <p:cNvSpPr txBox="1"/>
          <p:nvPr/>
        </p:nvSpPr>
        <p:spPr>
          <a:xfrm>
            <a:off x="7210044" y="5086807"/>
            <a:ext cx="4019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후</a:t>
            </a: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Gist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페이지 링크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9636862" y="5505602"/>
            <a:ext cx="24487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2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QUIZ</a:t>
            </a:r>
            <a:endParaRPr lang="en-US" sz="7200" dirty="0"/>
          </a:p>
        </p:txBody>
      </p:sp>
      <p:sp>
        <p:nvSpPr>
          <p:cNvPr id="45" name="Shape 38"/>
          <p:cNvSpPr/>
          <p:nvPr/>
        </p:nvSpPr>
        <p:spPr>
          <a:xfrm>
            <a:off x="6715354" y="2857500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6815023" y="2943454"/>
            <a:ext cx="105156" cy="133502"/>
          </a:xfrm>
          <a:prstGeom prst="rect">
            <a:avLst/>
          </a:prstGeom>
        </p:spPr>
      </p:pic>
      <p:sp>
        <p:nvSpPr>
          <p:cNvPr id="47" name="Shape 39"/>
          <p:cNvSpPr/>
          <p:nvPr/>
        </p:nvSpPr>
        <p:spPr>
          <a:xfrm>
            <a:off x="6715354" y="3619195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6791249" y="3705149"/>
            <a:ext cx="152705" cy="13350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6715354" y="4800600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801307" y="4886554"/>
            <a:ext cx="133502" cy="133502"/>
          </a:xfrm>
          <a:prstGeom prst="rect">
            <a:avLst/>
          </a:prstGeom>
        </p:spPr>
      </p:pic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8136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Useful Resources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3848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레퍼런스 &amp; 팁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5752" y="800100"/>
            <a:ext cx="1990649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45091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12096" y="886054"/>
            <a:ext cx="1565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Cheat Sheet &amp; QA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806043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28854" cy="476402"/>
          </a:xfrm>
          <a:prstGeom prst="roundRect">
            <a:avLst>
              <a:gd name="adj" fmla="val 37906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1190549" y="2247595"/>
            <a:ext cx="200254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57807" y="2219249"/>
            <a:ext cx="16093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치트시트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45755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Markdown Guide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457554" y="3219602"/>
            <a:ext cx="63916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GitHub 스타일(GFM)의 표준 가이드입니다.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표, 체크박스 등 확장 문법을 확인할 수 있습니다.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457554" y="3905402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CommonMark Spec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57554" y="4209898"/>
            <a:ext cx="635142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마크다운의 모호한 규칙을 명확히 정리한 표준 명세서입니다.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문법의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원리가 궁금할 때 참고하세요.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457554" y="4895698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Help Center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457554" y="5201107"/>
            <a:ext cx="50072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노션에서 지원하는 마크다운 단축키와 변환 기능을 정리한 공식 도움말입니다.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806043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6715354" y="2247595"/>
            <a:ext cx="171907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53351" y="2219249"/>
            <a:ext cx="285658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팁 (Best Practice)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743700" y="320040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705825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헤딩 구조 유지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7058254" y="3219602"/>
            <a:ext cx="4743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H1(#)부터 H6(######)까지 순서를 지켜주세요.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단계를 건너뛰면 문서 구조(TOC)가 깨질 수 있습니다.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743700" y="416052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7058254" y="387431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위한 문단 분리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7058254" y="4179722"/>
            <a:ext cx="62773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문단이 3~4줄을 넘어가면 읽기 어렵습니다.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엔터를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두 번 눌러 적극적으로 문단을 나눠주세요.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743700" y="512064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7058254" y="483443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있는 링크 텍스트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7058254" y="5139842"/>
            <a:ext cx="62773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'여기' 클릭 대신 '공식 가이드 보러가기'처럼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목적지를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 수 있는 텍스트에 링크를 거세요.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743700" y="6080760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7058254" y="579455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언어 명시하기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7058254" y="6099962"/>
            <a:ext cx="4743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블록 시작 시 언어(예: js, py)를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적으면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컬러링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(Syntax Highlighting)이 적용됩니다.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9849002" y="5505602"/>
            <a:ext cx="243139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TIPS</a:t>
            </a:r>
            <a:endParaRPr lang="en-US" sz="7200" dirty="0"/>
          </a:p>
        </p:txBody>
      </p:sp>
      <p:sp>
        <p:nvSpPr>
          <p:cNvPr id="36" name="Shape 31"/>
          <p:cNvSpPr/>
          <p:nvPr/>
        </p:nvSpPr>
        <p:spPr>
          <a:xfrm>
            <a:off x="6601054" y="2915107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6676949" y="3000146"/>
            <a:ext cx="152705" cy="133502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6601054" y="387431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6691579" y="3960266"/>
            <a:ext cx="123444" cy="133502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6601054" y="483443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667805" y="4920386"/>
            <a:ext cx="171907" cy="13350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601054" y="579455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507" r="-1507"/>
          <a:stretch/>
        </p:blipFill>
        <p:spPr>
          <a:xfrm>
            <a:off x="6667805" y="5880506"/>
            <a:ext cx="171907" cy="133502"/>
          </a:xfrm>
          <a:prstGeom prst="rect">
            <a:avLst/>
          </a:prstGeom>
        </p:spPr>
      </p:pic>
      <p:sp>
        <p:nvSpPr>
          <p:cNvPr id="44" name="Stage3 Note"/>
          <p:cNvSpPr txBox="1"/>
          <p:nvPr/>
        </p:nvSpPr>
        <p:spPr>
          <a:xfrm>
            <a:off x="1457554" y="5700000"/>
            <a:ext cx="5300000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GitHub: https://docs.github.com/en/get-started/writing-on-github</a:t>
            </a:r>
          </a:p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CommonMark: https://spec.commonmark.org</a:t>
            </a:r>
          </a:p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Notion: https://www.notion.com/help/keyboard-shortcuts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6060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2969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 및 Q&amp;A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33865" y="800100"/>
            <a:ext cx="2000707" cy="400507"/>
          </a:xfrm>
          <a:prstGeom prst="roundRect">
            <a:avLst>
              <a:gd name="adj" fmla="val 228311"/>
            </a:avLst>
          </a:prstGeom>
          <a:solidFill>
            <a:srgbClr val="1E3A8A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71609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38614" y="886054"/>
            <a:ext cx="14685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Completed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514807" cy="476402"/>
          </a:xfrm>
          <a:prstGeom prst="roundRect">
            <a:avLst>
              <a:gd name="adj" fmla="val 3071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190549" y="2247595"/>
            <a:ext cx="286207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42846" y="2219249"/>
            <a:ext cx="175564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내용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9151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문법 정복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258007"/>
            <a:ext cx="4470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제목, 목록, 코드블록 등 기본 규칙을 익히고 실습했습니다.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37152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문서 구조화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4058107"/>
            <a:ext cx="46899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좋은 README와 보고서 포맷을 설계하는 법을 배웠습니다.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380744" y="45153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&amp; 도구 활용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380744" y="4858207"/>
            <a:ext cx="48362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노션(Notion) 호환성과 효율적인 단축키 활용법을 확인했습니다.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10044" y="2219249"/>
            <a:ext cx="205831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 &amp; 질문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601054" y="2838298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6762902" y="3000146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6819595" y="3076956"/>
            <a:ext cx="190195" cy="15270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20102" y="3000146"/>
            <a:ext cx="34006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포트폴리오 문서화 시작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220102" y="3295498"/>
            <a:ext cx="38231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문법으로 나만의 프로필 페이지를 만들어보세요.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601054" y="3886200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62902" y="4048049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6829654" y="4123944"/>
            <a:ext cx="171907" cy="152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20102" y="4048049"/>
            <a:ext cx="28675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제출하기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7220102" y="4343400"/>
            <a:ext cx="329549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작성한 문서를 Gist나 노션 링크로 공유해주세요.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6601054" y="4934102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6762902" y="5095951"/>
            <a:ext cx="304495" cy="304495"/>
          </a:xfrm>
          <a:prstGeom prst="ellipse">
            <a:avLst/>
          </a:prstGeom>
          <a:solidFill>
            <a:srgbClr val="3B82F6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t="-180" b="-180"/>
          <a:stretch/>
        </p:blipFill>
        <p:spPr>
          <a:xfrm>
            <a:off x="6867144" y="5171846"/>
            <a:ext cx="95098" cy="15270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0102" y="5095951"/>
            <a:ext cx="25063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7220102" y="5391302"/>
            <a:ext cx="28949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점이 있다면 자유롭게 질문해주세요!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380390" y="5505602"/>
            <a:ext cx="212963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</a:t>
            </a:r>
            <a:endParaRPr lang="en-US" sz="72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2211</Words>
  <Application>Microsoft Office PowerPoint</Application>
  <PresentationFormat>와이드스크린</PresentationFormat>
  <Paragraphs>576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Menlo</vt:lpstr>
      <vt:lpstr>Nanum Gothic Coding</vt:lpstr>
      <vt:lpstr>Noto Sans KR</vt:lpstr>
      <vt:lpstr>ui-monospace</vt:lpstr>
      <vt:lpstr>Arial</vt:lpstr>
      <vt:lpstr>Consolas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3</cp:revision>
  <dcterms:created xsi:type="dcterms:W3CDTF">2026-01-26T00:24:05Z</dcterms:created>
  <dcterms:modified xsi:type="dcterms:W3CDTF">2026-01-26T09:02:55Z</dcterms:modified>
</cp:coreProperties>
</file>