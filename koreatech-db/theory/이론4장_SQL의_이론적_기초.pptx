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4192250" y="-2381250"/>
            <a:ext cx="7429500" cy="7429500"/>
          </a:xfrm>
          <a:prstGeom prst="ellipse">
            <a:avLst/>
          </a:prstGeom>
          <a:solidFill>
            <a:srgbClr val="EFF3FB"/>
          </a:solidFill>
          <a:ln>
            <a:noFill/>
          </a:ln>
          <a:effectLst/>
        </p:spPr>
        <p:txBody>
          <a:bodyPr rtlCol="0" anchor="ctr" wrap="square"/>
          <a:lstStyle/>
          <a:p>
            <a:pPr algn="ctr"/>
          </a:p>
        </p:txBody>
      </p:sp>
      <p:sp>
        <p:nvSpPr>
          <p:cNvPr id="3" name="deckgen:decor"/>
          <p:cNvSpPr/>
          <p:nvPr/>
        </p:nvSpPr>
        <p:spPr>
          <a:xfrm>
            <a:off x="15430500" y="-1143000"/>
            <a:ext cx="4953000" cy="49530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5906750" y="5905500"/>
            <a:ext cx="4953000" cy="4953000"/>
          </a:xfrm>
          <a:prstGeom prst="ellipse">
            <a:avLst/>
          </a:prstGeom>
          <a:solidFill>
            <a:srgbClr val="F5F6F8"/>
          </a:solidFill>
          <a:ln>
            <a:noFill/>
          </a:ln>
          <a:effectLst/>
        </p:spPr>
        <p:txBody>
          <a:bodyPr rtlCol="0" anchor="ctr" wrap="square"/>
          <a:lstStyle/>
          <a:p>
            <a:pPr algn="ctr"/>
          </a:p>
        </p:txBody>
      </p:sp>
      <p:sp>
        <p:nvSpPr>
          <p:cNvPr id="5" name="deckgen:decor"/>
          <p:cNvSpPr/>
          <p:nvPr/>
        </p:nvSpPr>
        <p:spPr>
          <a:xfrm>
            <a:off x="-1714500" y="2857500"/>
            <a:ext cx="2857500" cy="28575"/>
          </a:xfrm>
          <a:prstGeom prst="rect">
            <a:avLst/>
          </a:prstGeom>
          <a:solidFill>
            <a:srgbClr val="E8E9EE"/>
          </a:solidFill>
          <a:ln>
            <a:noFill/>
          </a:ln>
          <a:effectLst/>
        </p:spPr>
        <p:txBody>
          <a:bodyPr rtlCol="0" anchor="ctr" wrap="square"/>
          <a:lstStyle/>
          <a:p>
            <a:pPr algn="ctr"/>
          </a:p>
        </p:txBody>
      </p:sp>
      <p:sp>
        <p:nvSpPr>
          <p:cNvPr id="6" name="deckgen:decor"/>
          <p:cNvSpPr/>
          <p:nvPr/>
        </p:nvSpPr>
        <p:spPr>
          <a:xfrm>
            <a:off x="-2857500" y="6953250"/>
            <a:ext cx="6953250" cy="6953250"/>
          </a:xfrm>
          <a:prstGeom prst="ellipse">
            <a:avLst/>
          </a:prstGeom>
          <a:solidFill>
            <a:srgbClr val="EBF1FA"/>
          </a:solidFill>
          <a:ln>
            <a:noFill/>
          </a:ln>
          <a:effectLst/>
        </p:spPr>
        <p:txBody>
          <a:bodyPr rtlCol="0" anchor="ctr" wrap="square"/>
          <a:lstStyle/>
          <a:p>
            <a:pPr algn="ctr"/>
          </a:p>
        </p:txBody>
      </p:sp>
      <p:sp>
        <p:nvSpPr>
          <p:cNvPr id="7" name="deckgen:decor"/>
          <p:cNvSpPr/>
          <p:nvPr/>
        </p:nvSpPr>
        <p:spPr>
          <a:xfrm>
            <a:off x="-1581150" y="8229600"/>
            <a:ext cx="4400550" cy="4400550"/>
          </a:xfrm>
          <a:prstGeom prst="ellipse">
            <a:avLst/>
          </a:prstGeom>
          <a:solidFill>
            <a:srgbClr val="FFFFFF"/>
          </a:solidFill>
          <a:ln>
            <a:noFill/>
          </a:ln>
          <a:effectLst/>
        </p:spPr>
        <p:txBody>
          <a:bodyPr rtlCol="0" anchor="ctr" wrap="square"/>
          <a:lstStyle/>
          <a:p>
            <a:pPr algn="ctr"/>
          </a:p>
        </p:txBody>
      </p:sp>
      <p:sp>
        <p:nvSpPr>
          <p:cNvPr id="8" name="deckgen:decor"/>
          <p:cNvSpPr/>
          <p:nvPr/>
        </p:nvSpPr>
        <p:spPr>
          <a:xfrm>
            <a:off x="3390900" y="8953500"/>
            <a:ext cx="742950" cy="742950"/>
          </a:xfrm>
          <a:prstGeom prst="ellipse">
            <a:avLst/>
          </a:prstGeom>
          <a:solidFill>
            <a:srgbClr val="ECEDF2"/>
          </a:solidFill>
          <a:ln>
            <a:noFill/>
          </a:ln>
          <a:effectLst/>
        </p:spPr>
        <p:txBody>
          <a:bodyPr rtlCol="0" anchor="ctr" wrap="square"/>
          <a:lstStyle/>
          <a:p>
            <a:pPr algn="ctr"/>
          </a:p>
        </p:txBody>
      </p:sp>
      <p:sp>
        <p:nvSpPr>
          <p:cNvPr id="9" name="deckgen:decor"/>
          <p:cNvSpPr/>
          <p:nvPr/>
        </p:nvSpPr>
        <p:spPr>
          <a:xfrm>
            <a:off x="4457700" y="9563100"/>
            <a:ext cx="342900" cy="342900"/>
          </a:xfrm>
          <a:prstGeom prst="ellipse">
            <a:avLst/>
          </a:prstGeom>
          <a:solidFill>
            <a:srgbClr val="DDE6F7"/>
          </a:solidFill>
          <a:ln>
            <a:noFill/>
          </a:ln>
          <a:effectLst/>
        </p:spPr>
        <p:txBody>
          <a:bodyPr rtlCol="0" anchor="ctr" wrap="square"/>
          <a:lstStyle/>
          <a:p>
            <a:pPr algn="ctr"/>
          </a:p>
        </p:txBody>
      </p:sp>
      <p:sp>
        <p:nvSpPr>
          <p:cNvPr id="10" name="deckgen:decor"/>
          <p:cNvSpPr/>
          <p:nvPr/>
        </p:nvSpPr>
        <p:spPr>
          <a:xfrm>
            <a:off x="1143000" y="9639300"/>
            <a:ext cx="1619250" cy="28575"/>
          </a:xfrm>
          <a:prstGeom prst="rect">
            <a:avLst/>
          </a:prstGeom>
          <a:solidFill>
            <a:srgbClr val="E8E9EE"/>
          </a:solidFill>
          <a:ln>
            <a:noFill/>
          </a:ln>
          <a:effectLst/>
        </p:spPr>
        <p:txBody>
          <a:bodyPr rtlCol="0" anchor="ctr" wrap="square"/>
          <a:lstStyle/>
          <a:p>
            <a:pPr algn="ctr"/>
          </a:p>
        </p:txBody>
      </p:sp>
      <p:pic>
        <p:nvPicPr>
          <p:cNvPr id="11" name="Picture 10" descr="koreatech.png"/>
          <p:cNvPicPr>
            <a:picLocks noChangeAspect="1"/>
          </p:cNvPicPr>
          <p:nvPr/>
        </p:nvPicPr>
        <p:blipFill>
          <a:blip r:embed="rId2"/>
          <a:stretch>
            <a:fillRect/>
          </a:stretch>
        </p:blipFill>
        <p:spPr>
          <a:xfrm>
            <a:off x="1143000" y="952500"/>
            <a:ext cx="3409950" cy="419100"/>
          </a:xfrm>
          <a:prstGeom prst="rect">
            <a:avLst/>
          </a:prstGeom>
        </p:spPr>
      </p:pic>
      <p:sp>
        <p:nvSpPr>
          <p:cNvPr id="12" name="Rectangle 11"/>
          <p:cNvSpPr/>
          <p:nvPr/>
        </p:nvSpPr>
        <p:spPr>
          <a:xfrm>
            <a:off x="1143000" y="2857500"/>
            <a:ext cx="16002000" cy="28575"/>
          </a:xfrm>
          <a:prstGeom prst="rect">
            <a:avLst/>
          </a:prstGeom>
          <a:solidFill>
            <a:srgbClr val="1A2A5E"/>
          </a:solidFill>
          <a:ln>
            <a:noFill/>
          </a:ln>
          <a:effectLst/>
        </p:spPr>
        <p:txBody>
          <a:bodyPr rtlCol="0" anchor="ctr" wrap="square"/>
          <a:lstStyle/>
          <a:p>
            <a:pPr algn="ctr"/>
          </a:p>
        </p:txBody>
      </p:sp>
      <p:sp>
        <p:nvSpPr>
          <p:cNvPr id="13" name="TextBox 12"/>
          <p:cNvSpPr txBox="1"/>
          <p:nvPr/>
        </p:nvSpPr>
        <p:spPr>
          <a:xfrm>
            <a:off x="1143000" y="3486150"/>
            <a:ext cx="8572500" cy="419100"/>
          </a:xfrm>
          <a:prstGeom prst="rect">
            <a:avLst/>
          </a:prstGeom>
          <a:noFill/>
        </p:spPr>
        <p:txBody>
          <a:bodyPr wrap="square" lIns="0" rIns="0" tIns="0" bIns="0" anchor="t">
            <a:spAutoFit/>
          </a:bodyPr>
          <a:lstStyle/>
          <a:p>
            <a:pPr algn="l">
              <a:lnSpc>
                <a:spcPct val="100000"/>
              </a:lnSpc>
            </a:pPr>
            <a:r>
              <a:rPr sz="2400" b="1" spc="120">
                <a:solidFill>
                  <a:srgbClr val="0046C8"/>
                </a:solidFill>
                <a:latin typeface="Pretendard"/>
                <a:ea typeface="Pretendard"/>
                <a:cs typeface="Pretendard"/>
              </a:rPr>
              <a:t>이론 4장</a:t>
            </a:r>
          </a:p>
        </p:txBody>
      </p:sp>
      <p:sp>
        <p:nvSpPr>
          <p:cNvPr id="14" name="TextBox 13"/>
          <p:cNvSpPr txBox="1"/>
          <p:nvPr/>
        </p:nvSpPr>
        <p:spPr>
          <a:xfrm>
            <a:off x="1143000" y="3905250"/>
            <a:ext cx="16002000" cy="1466088"/>
          </a:xfrm>
          <a:prstGeom prst="rect">
            <a:avLst/>
          </a:prstGeom>
          <a:noFill/>
        </p:spPr>
        <p:txBody>
          <a:bodyPr wrap="square" lIns="0" rIns="0" tIns="0" bIns="0" anchor="t">
            <a:spAutoFit/>
          </a:bodyPr>
          <a:lstStyle/>
          <a:p>
            <a:pPr algn="l">
              <a:lnSpc>
                <a:spcPct val="105000"/>
              </a:lnSpc>
            </a:pPr>
            <a:r>
              <a:rPr sz="9300" b="1" spc="-347">
                <a:solidFill>
                  <a:srgbClr val="1A2A5E"/>
                </a:solidFill>
                <a:latin typeface="Pretendard"/>
                <a:ea typeface="Pretendard"/>
                <a:cs typeface="Pretendard"/>
              </a:rPr>
              <a:t>SQL의 이론적 기초</a:t>
            </a:r>
          </a:p>
        </p:txBody>
      </p:sp>
      <p:sp>
        <p:nvSpPr>
          <p:cNvPr id="15" name="TextBox 14"/>
          <p:cNvSpPr txBox="1"/>
          <p:nvPr/>
        </p:nvSpPr>
        <p:spPr>
          <a:xfrm>
            <a:off x="1143000" y="5580888"/>
            <a:ext cx="16002000" cy="571500"/>
          </a:xfrm>
          <a:prstGeom prst="rect">
            <a:avLst/>
          </a:prstGeom>
          <a:noFill/>
        </p:spPr>
        <p:txBody>
          <a:bodyPr wrap="square" lIns="0" rIns="0" tIns="0" bIns="0" anchor="t">
            <a:spAutoFit/>
          </a:bodyPr>
          <a:lstStyle/>
          <a:p>
            <a:pPr algn="l">
              <a:lnSpc>
                <a:spcPct val="110000"/>
              </a:lnSpc>
            </a:pPr>
            <a:r>
              <a:rPr sz="3300" b="1">
                <a:solidFill>
                  <a:srgbClr val="3D3D3D"/>
                </a:solidFill>
                <a:latin typeface="Pretendard"/>
                <a:ea typeface="Pretendard"/>
                <a:cs typeface="Pretendard"/>
              </a:rPr>
              <a:t>선언형 언어, 관계 연산, SQL 4분류, NULL</a:t>
            </a:r>
          </a:p>
        </p:txBody>
      </p:sp>
      <p:sp>
        <p:nvSpPr>
          <p:cNvPr id="16" name="TextBox 15"/>
          <p:cNvSpPr txBox="1"/>
          <p:nvPr/>
        </p:nvSpPr>
        <p:spPr>
          <a:xfrm>
            <a:off x="8572500" y="7677150"/>
            <a:ext cx="8572500" cy="857250"/>
          </a:xfrm>
          <a:prstGeom prst="rect">
            <a:avLst/>
          </a:prstGeom>
          <a:noFill/>
        </p:spPr>
        <p:txBody>
          <a:bodyPr wrap="square" lIns="0" rIns="0" tIns="0" bIns="0" anchor="t">
            <a:spAutoFit/>
          </a:bodyPr>
          <a:lstStyle/>
          <a:p>
            <a:pPr algn="r">
              <a:lnSpc>
                <a:spcPct val="150000"/>
              </a:lnSpc>
            </a:pPr>
            <a:r>
              <a:rPr sz="1950" b="1">
                <a:solidFill>
                  <a:srgbClr val="7D7D7D"/>
                </a:solidFill>
                <a:latin typeface="Pretendard"/>
                <a:ea typeface="Pretendard"/>
                <a:cs typeface="Pretendard"/>
              </a:rPr>
              <a:t>한국기술교육대학교 경영학부</a:t>
            </a:r>
          </a:p>
          <a:p>
            <a:pPr algn="r">
              <a:lnSpc>
                <a:spcPct val="150000"/>
              </a:lnSpc>
            </a:pPr>
            <a:r>
              <a:rPr sz="1950" b="1">
                <a:solidFill>
                  <a:srgbClr val="7D7D7D"/>
                </a:solidFill>
                <a:latin typeface="Pretendard"/>
                <a:ea typeface="Pretendard"/>
                <a:cs typeface="Pretendard"/>
              </a:rPr>
              <a:t>경영데이터베이스및실습 (CCT770) · 2026학년도 2학기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학습목표</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이 장을 마치면</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ectangle 7"/>
          <p:cNvSpPr/>
          <p:nvPr/>
        </p:nvSpPr>
        <p:spPr>
          <a:xfrm>
            <a:off x="1143000" y="2871788"/>
            <a:ext cx="1428750" cy="676275"/>
          </a:xfrm>
          <a:prstGeom prst="rect">
            <a:avLst/>
          </a:prstGeom>
          <a:solidFill>
            <a:srgbClr val="1A2A5E"/>
          </a:solidFill>
          <a:ln>
            <a:noFill/>
          </a:ln>
          <a:effectLst/>
        </p:spPr>
        <p:txBody>
          <a:bodyPr rtlCol="0" anchor="ctr" wrap="square"/>
          <a:lstStyle/>
          <a:p>
            <a:pPr algn="ctr"/>
          </a:p>
        </p:txBody>
      </p:sp>
      <p:sp>
        <p:nvSpPr>
          <p:cNvPr id="9" name="TextBox 8"/>
          <p:cNvSpPr txBox="1"/>
          <p:nvPr/>
        </p:nvSpPr>
        <p:spPr>
          <a:xfrm>
            <a:off x="1409700" y="2871788"/>
            <a:ext cx="895350" cy="676275"/>
          </a:xfrm>
          <a:prstGeom prst="rect">
            <a:avLst/>
          </a:prstGeom>
          <a:noFill/>
        </p:spPr>
        <p:txBody>
          <a:bodyPr wrap="square" lIns="0" rIns="0" tIns="0" bIns="0" anchor="ctr">
            <a:spAutoFit/>
          </a:bodyPr>
          <a:lstStyle/>
          <a:p>
            <a:pPr algn="l">
              <a:lnSpc>
                <a:spcPct val="100000"/>
              </a:lnSpc>
            </a:pPr>
            <a:r>
              <a:rPr sz="2175" b="1">
                <a:solidFill>
                  <a:srgbClr val="FFFFFF"/>
                </a:solidFill>
                <a:latin typeface="Pretendard"/>
                <a:ea typeface="Pretendard"/>
                <a:cs typeface="Pretendard"/>
              </a:rPr>
              <a:t>목표 ①</a:t>
            </a:r>
          </a:p>
        </p:txBody>
      </p:sp>
      <p:sp>
        <p:nvSpPr>
          <p:cNvPr id="10" name="Rectangle 9"/>
          <p:cNvSpPr/>
          <p:nvPr/>
        </p:nvSpPr>
        <p:spPr>
          <a:xfrm>
            <a:off x="2571750" y="2871788"/>
            <a:ext cx="14573250" cy="676275"/>
          </a:xfrm>
          <a:prstGeom prst="rect">
            <a:avLst/>
          </a:prstGeom>
          <a:solidFill>
            <a:srgbClr val="FAFBFD"/>
          </a:solidFill>
          <a:ln w="9525">
            <a:solidFill>
              <a:srgbClr val="DCE1E8"/>
            </a:solidFill>
          </a:ln>
          <a:effectLst/>
        </p:spPr>
        <p:txBody>
          <a:bodyPr rtlCol="0" anchor="ctr" wrap="square"/>
          <a:lstStyle/>
          <a:p>
            <a:pPr algn="ctr"/>
          </a:p>
        </p:txBody>
      </p:sp>
      <p:sp>
        <p:nvSpPr>
          <p:cNvPr id="11" name="TextBox 10"/>
          <p:cNvSpPr txBox="1"/>
          <p:nvPr/>
        </p:nvSpPr>
        <p:spPr>
          <a:xfrm>
            <a:off x="2857500" y="2871788"/>
            <a:ext cx="14001750" cy="676275"/>
          </a:xfrm>
          <a:prstGeom prst="rect">
            <a:avLst/>
          </a:prstGeom>
          <a:noFill/>
        </p:spPr>
        <p:txBody>
          <a:bodyPr wrap="square" lIns="0" rIns="0" tIns="0" bIns="0" anchor="ctr">
            <a:spAutoFit/>
          </a:bodyPr>
          <a:lstStyle/>
          <a:p>
            <a:pPr algn="l">
              <a:lnSpc>
                <a:spcPct val="100000"/>
              </a:lnSpc>
            </a:pPr>
            <a:r>
              <a:rPr sz="2100" b="0">
                <a:solidFill>
                  <a:srgbClr val="3D3D3D"/>
                </a:solidFill>
                <a:latin typeface="Pretendard"/>
                <a:ea typeface="Pretendard"/>
                <a:cs typeface="Pretendard"/>
              </a:rPr>
              <a:t>SQL이 선언형 언어인 이유를 절차형 언어와 비교해 설명한다</a:t>
            </a:r>
          </a:p>
        </p:txBody>
      </p:sp>
      <p:sp>
        <p:nvSpPr>
          <p:cNvPr id="12" name="Rectangle 11"/>
          <p:cNvSpPr/>
          <p:nvPr/>
        </p:nvSpPr>
        <p:spPr>
          <a:xfrm>
            <a:off x="1143000" y="3662362"/>
            <a:ext cx="1428750" cy="676275"/>
          </a:xfrm>
          <a:prstGeom prst="rect">
            <a:avLst/>
          </a:prstGeom>
          <a:solidFill>
            <a:srgbClr val="1A2A5E"/>
          </a:solidFill>
          <a:ln>
            <a:noFill/>
          </a:ln>
          <a:effectLst/>
        </p:spPr>
        <p:txBody>
          <a:bodyPr rtlCol="0" anchor="ctr" wrap="square"/>
          <a:lstStyle/>
          <a:p>
            <a:pPr algn="ctr"/>
          </a:p>
        </p:txBody>
      </p:sp>
      <p:sp>
        <p:nvSpPr>
          <p:cNvPr id="13" name="TextBox 12"/>
          <p:cNvSpPr txBox="1"/>
          <p:nvPr/>
        </p:nvSpPr>
        <p:spPr>
          <a:xfrm>
            <a:off x="1409700" y="3662362"/>
            <a:ext cx="895350" cy="676275"/>
          </a:xfrm>
          <a:prstGeom prst="rect">
            <a:avLst/>
          </a:prstGeom>
          <a:noFill/>
        </p:spPr>
        <p:txBody>
          <a:bodyPr wrap="square" lIns="0" rIns="0" tIns="0" bIns="0" anchor="ctr">
            <a:spAutoFit/>
          </a:bodyPr>
          <a:lstStyle/>
          <a:p>
            <a:pPr algn="l">
              <a:lnSpc>
                <a:spcPct val="100000"/>
              </a:lnSpc>
            </a:pPr>
            <a:r>
              <a:rPr sz="2175" b="1">
                <a:solidFill>
                  <a:srgbClr val="FFFFFF"/>
                </a:solidFill>
                <a:latin typeface="Pretendard"/>
                <a:ea typeface="Pretendard"/>
                <a:cs typeface="Pretendard"/>
              </a:rPr>
              <a:t>목표 ②</a:t>
            </a:r>
          </a:p>
        </p:txBody>
      </p:sp>
      <p:sp>
        <p:nvSpPr>
          <p:cNvPr id="14" name="Rectangle 13"/>
          <p:cNvSpPr/>
          <p:nvPr/>
        </p:nvSpPr>
        <p:spPr>
          <a:xfrm>
            <a:off x="2571750" y="3662362"/>
            <a:ext cx="14573250" cy="676275"/>
          </a:xfrm>
          <a:prstGeom prst="rect">
            <a:avLst/>
          </a:prstGeom>
          <a:solidFill>
            <a:srgbClr val="FAFBFD"/>
          </a:solidFill>
          <a:ln w="9525">
            <a:solidFill>
              <a:srgbClr val="DCE1E8"/>
            </a:solidFill>
          </a:ln>
          <a:effectLst/>
        </p:spPr>
        <p:txBody>
          <a:bodyPr rtlCol="0" anchor="ctr" wrap="square"/>
          <a:lstStyle/>
          <a:p>
            <a:pPr algn="ctr"/>
          </a:p>
        </p:txBody>
      </p:sp>
      <p:sp>
        <p:nvSpPr>
          <p:cNvPr id="15" name="TextBox 14"/>
          <p:cNvSpPr txBox="1"/>
          <p:nvPr/>
        </p:nvSpPr>
        <p:spPr>
          <a:xfrm>
            <a:off x="2857500" y="3662362"/>
            <a:ext cx="14001750" cy="676275"/>
          </a:xfrm>
          <a:prstGeom prst="rect">
            <a:avLst/>
          </a:prstGeom>
          <a:noFill/>
        </p:spPr>
        <p:txBody>
          <a:bodyPr wrap="square" lIns="0" rIns="0" tIns="0" bIns="0" anchor="ctr">
            <a:spAutoFit/>
          </a:bodyPr>
          <a:lstStyle/>
          <a:p>
            <a:pPr algn="l">
              <a:lnSpc>
                <a:spcPct val="100000"/>
              </a:lnSpc>
            </a:pPr>
            <a:r>
              <a:rPr sz="2100" b="0">
                <a:solidFill>
                  <a:srgbClr val="3D3D3D"/>
                </a:solidFill>
                <a:latin typeface="Pretendard"/>
                <a:ea typeface="Pretendard"/>
                <a:cs typeface="Pretendard"/>
              </a:rPr>
              <a:t>선택·투영·조인·집합 연산이 어느 SQL 문법인지 짝짓는다</a:t>
            </a:r>
          </a:p>
        </p:txBody>
      </p:sp>
      <p:sp>
        <p:nvSpPr>
          <p:cNvPr id="16" name="Rectangle 15"/>
          <p:cNvSpPr/>
          <p:nvPr/>
        </p:nvSpPr>
        <p:spPr>
          <a:xfrm>
            <a:off x="1143000" y="4452938"/>
            <a:ext cx="1428750" cy="676275"/>
          </a:xfrm>
          <a:prstGeom prst="rect">
            <a:avLst/>
          </a:prstGeom>
          <a:solidFill>
            <a:srgbClr val="1A2A5E"/>
          </a:solidFill>
          <a:ln>
            <a:noFill/>
          </a:ln>
          <a:effectLst/>
        </p:spPr>
        <p:txBody>
          <a:bodyPr rtlCol="0" anchor="ctr" wrap="square"/>
          <a:lstStyle/>
          <a:p>
            <a:pPr algn="ctr"/>
          </a:p>
        </p:txBody>
      </p:sp>
      <p:sp>
        <p:nvSpPr>
          <p:cNvPr id="17" name="TextBox 16"/>
          <p:cNvSpPr txBox="1"/>
          <p:nvPr/>
        </p:nvSpPr>
        <p:spPr>
          <a:xfrm>
            <a:off x="1409700" y="4452938"/>
            <a:ext cx="895350" cy="676275"/>
          </a:xfrm>
          <a:prstGeom prst="rect">
            <a:avLst/>
          </a:prstGeom>
          <a:noFill/>
        </p:spPr>
        <p:txBody>
          <a:bodyPr wrap="square" lIns="0" rIns="0" tIns="0" bIns="0" anchor="ctr">
            <a:spAutoFit/>
          </a:bodyPr>
          <a:lstStyle/>
          <a:p>
            <a:pPr algn="l">
              <a:lnSpc>
                <a:spcPct val="100000"/>
              </a:lnSpc>
            </a:pPr>
            <a:r>
              <a:rPr sz="2175" b="1">
                <a:solidFill>
                  <a:srgbClr val="FFFFFF"/>
                </a:solidFill>
                <a:latin typeface="Pretendard"/>
                <a:ea typeface="Pretendard"/>
                <a:cs typeface="Pretendard"/>
              </a:rPr>
              <a:t>목표 ③</a:t>
            </a:r>
          </a:p>
        </p:txBody>
      </p:sp>
      <p:sp>
        <p:nvSpPr>
          <p:cNvPr id="18" name="Rectangle 17"/>
          <p:cNvSpPr/>
          <p:nvPr/>
        </p:nvSpPr>
        <p:spPr>
          <a:xfrm>
            <a:off x="2571750" y="4452938"/>
            <a:ext cx="14573250" cy="676275"/>
          </a:xfrm>
          <a:prstGeom prst="rect">
            <a:avLst/>
          </a:prstGeom>
          <a:solidFill>
            <a:srgbClr val="FAFBFD"/>
          </a:solidFill>
          <a:ln w="9525">
            <a:solidFill>
              <a:srgbClr val="DCE1E8"/>
            </a:solidFill>
          </a:ln>
          <a:effectLst/>
        </p:spPr>
        <p:txBody>
          <a:bodyPr rtlCol="0" anchor="ctr" wrap="square"/>
          <a:lstStyle/>
          <a:p>
            <a:pPr algn="ctr"/>
          </a:p>
        </p:txBody>
      </p:sp>
      <p:sp>
        <p:nvSpPr>
          <p:cNvPr id="19" name="TextBox 18"/>
          <p:cNvSpPr txBox="1"/>
          <p:nvPr/>
        </p:nvSpPr>
        <p:spPr>
          <a:xfrm>
            <a:off x="2857500" y="4452938"/>
            <a:ext cx="14001750" cy="676275"/>
          </a:xfrm>
          <a:prstGeom prst="rect">
            <a:avLst/>
          </a:prstGeom>
          <a:noFill/>
        </p:spPr>
        <p:txBody>
          <a:bodyPr wrap="square" lIns="0" rIns="0" tIns="0" bIns="0" anchor="ctr">
            <a:spAutoFit/>
          </a:bodyPr>
          <a:lstStyle/>
          <a:p>
            <a:pPr algn="l">
              <a:lnSpc>
                <a:spcPct val="100000"/>
              </a:lnSpc>
            </a:pPr>
            <a:r>
              <a:rPr sz="2100" b="0">
                <a:solidFill>
                  <a:srgbClr val="3D3D3D"/>
                </a:solidFill>
                <a:latin typeface="Pretendard"/>
                <a:ea typeface="Pretendard"/>
                <a:cs typeface="Pretendard"/>
              </a:rPr>
              <a:t>DDL·DML·DCL·TCL의 역할을 구분하고 대표 명령을 말한다</a:t>
            </a:r>
          </a:p>
        </p:txBody>
      </p:sp>
      <p:sp>
        <p:nvSpPr>
          <p:cNvPr id="20" name="Rectangle 19"/>
          <p:cNvSpPr/>
          <p:nvPr/>
        </p:nvSpPr>
        <p:spPr>
          <a:xfrm>
            <a:off x="1143000" y="5243512"/>
            <a:ext cx="1428750" cy="676275"/>
          </a:xfrm>
          <a:prstGeom prst="rect">
            <a:avLst/>
          </a:prstGeom>
          <a:solidFill>
            <a:srgbClr val="1A2A5E"/>
          </a:solidFill>
          <a:ln>
            <a:noFill/>
          </a:ln>
          <a:effectLst/>
        </p:spPr>
        <p:txBody>
          <a:bodyPr rtlCol="0" anchor="ctr" wrap="square"/>
          <a:lstStyle/>
          <a:p>
            <a:pPr algn="ctr"/>
          </a:p>
        </p:txBody>
      </p:sp>
      <p:sp>
        <p:nvSpPr>
          <p:cNvPr id="21" name="TextBox 20"/>
          <p:cNvSpPr txBox="1"/>
          <p:nvPr/>
        </p:nvSpPr>
        <p:spPr>
          <a:xfrm>
            <a:off x="1409700" y="5243512"/>
            <a:ext cx="895350" cy="676275"/>
          </a:xfrm>
          <a:prstGeom prst="rect">
            <a:avLst/>
          </a:prstGeom>
          <a:noFill/>
        </p:spPr>
        <p:txBody>
          <a:bodyPr wrap="square" lIns="0" rIns="0" tIns="0" bIns="0" anchor="ctr">
            <a:spAutoFit/>
          </a:bodyPr>
          <a:lstStyle/>
          <a:p>
            <a:pPr algn="l">
              <a:lnSpc>
                <a:spcPct val="100000"/>
              </a:lnSpc>
            </a:pPr>
            <a:r>
              <a:rPr sz="2175" b="1">
                <a:solidFill>
                  <a:srgbClr val="FFFFFF"/>
                </a:solidFill>
                <a:latin typeface="Pretendard"/>
                <a:ea typeface="Pretendard"/>
                <a:cs typeface="Pretendard"/>
              </a:rPr>
              <a:t>목표 ④</a:t>
            </a:r>
          </a:p>
        </p:txBody>
      </p:sp>
      <p:sp>
        <p:nvSpPr>
          <p:cNvPr id="22" name="Rectangle 21"/>
          <p:cNvSpPr/>
          <p:nvPr/>
        </p:nvSpPr>
        <p:spPr>
          <a:xfrm>
            <a:off x="2571750" y="5243512"/>
            <a:ext cx="14573250" cy="676275"/>
          </a:xfrm>
          <a:prstGeom prst="rect">
            <a:avLst/>
          </a:prstGeom>
          <a:solidFill>
            <a:srgbClr val="FAFBFD"/>
          </a:solidFill>
          <a:ln w="9525">
            <a:solidFill>
              <a:srgbClr val="DCE1E8"/>
            </a:solidFill>
          </a:ln>
          <a:effectLst/>
        </p:spPr>
        <p:txBody>
          <a:bodyPr rtlCol="0" anchor="ctr" wrap="square"/>
          <a:lstStyle/>
          <a:p>
            <a:pPr algn="ctr"/>
          </a:p>
        </p:txBody>
      </p:sp>
      <p:sp>
        <p:nvSpPr>
          <p:cNvPr id="23" name="TextBox 22"/>
          <p:cNvSpPr txBox="1"/>
          <p:nvPr/>
        </p:nvSpPr>
        <p:spPr>
          <a:xfrm>
            <a:off x="2857500" y="5243512"/>
            <a:ext cx="14001750" cy="676275"/>
          </a:xfrm>
          <a:prstGeom prst="rect">
            <a:avLst/>
          </a:prstGeom>
          <a:noFill/>
        </p:spPr>
        <p:txBody>
          <a:bodyPr wrap="square" lIns="0" rIns="0" tIns="0" bIns="0" anchor="ctr">
            <a:spAutoFit/>
          </a:bodyPr>
          <a:lstStyle/>
          <a:p>
            <a:pPr algn="l">
              <a:lnSpc>
                <a:spcPct val="100000"/>
              </a:lnSpc>
            </a:pPr>
            <a:r>
              <a:rPr sz="2100" b="0">
                <a:solidFill>
                  <a:srgbClr val="3D3D3D"/>
                </a:solidFill>
                <a:latin typeface="Pretendard"/>
                <a:ea typeface="Pretendard"/>
                <a:cs typeface="Pretendard"/>
              </a:rPr>
              <a:t>NULL이 낀 비교·논리 연산을 3값 논리로 설명한다</a:t>
            </a:r>
          </a:p>
        </p:txBody>
      </p:sp>
      <p:sp>
        <p:nvSpPr>
          <p:cNvPr id="24" name="Rectangle 23"/>
          <p:cNvSpPr/>
          <p:nvPr/>
        </p:nvSpPr>
        <p:spPr>
          <a:xfrm>
            <a:off x="1143000" y="6034088"/>
            <a:ext cx="1428750" cy="676275"/>
          </a:xfrm>
          <a:prstGeom prst="rect">
            <a:avLst/>
          </a:prstGeom>
          <a:solidFill>
            <a:srgbClr val="1A2A5E"/>
          </a:solidFill>
          <a:ln>
            <a:noFill/>
          </a:ln>
          <a:effectLst/>
        </p:spPr>
        <p:txBody>
          <a:bodyPr rtlCol="0" anchor="ctr" wrap="square"/>
          <a:lstStyle/>
          <a:p>
            <a:pPr algn="ctr"/>
          </a:p>
        </p:txBody>
      </p:sp>
      <p:sp>
        <p:nvSpPr>
          <p:cNvPr id="25" name="TextBox 24"/>
          <p:cNvSpPr txBox="1"/>
          <p:nvPr/>
        </p:nvSpPr>
        <p:spPr>
          <a:xfrm>
            <a:off x="1409700" y="6034088"/>
            <a:ext cx="895350" cy="676275"/>
          </a:xfrm>
          <a:prstGeom prst="rect">
            <a:avLst/>
          </a:prstGeom>
          <a:noFill/>
        </p:spPr>
        <p:txBody>
          <a:bodyPr wrap="square" lIns="0" rIns="0" tIns="0" bIns="0" anchor="ctr">
            <a:spAutoFit/>
          </a:bodyPr>
          <a:lstStyle/>
          <a:p>
            <a:pPr algn="l">
              <a:lnSpc>
                <a:spcPct val="100000"/>
              </a:lnSpc>
            </a:pPr>
            <a:r>
              <a:rPr sz="2175" b="1">
                <a:solidFill>
                  <a:srgbClr val="FFFFFF"/>
                </a:solidFill>
                <a:latin typeface="Pretendard"/>
                <a:ea typeface="Pretendard"/>
                <a:cs typeface="Pretendard"/>
              </a:rPr>
              <a:t>목표 ⑤</a:t>
            </a:r>
          </a:p>
        </p:txBody>
      </p:sp>
      <p:sp>
        <p:nvSpPr>
          <p:cNvPr id="26" name="Rectangle 25"/>
          <p:cNvSpPr/>
          <p:nvPr/>
        </p:nvSpPr>
        <p:spPr>
          <a:xfrm>
            <a:off x="2571750" y="6034088"/>
            <a:ext cx="14573250" cy="676275"/>
          </a:xfrm>
          <a:prstGeom prst="rect">
            <a:avLst/>
          </a:prstGeom>
          <a:solidFill>
            <a:srgbClr val="FAFBFD"/>
          </a:solidFill>
          <a:ln w="9525">
            <a:solidFill>
              <a:srgbClr val="DCE1E8"/>
            </a:solidFill>
          </a:ln>
          <a:effectLst/>
        </p:spPr>
        <p:txBody>
          <a:bodyPr rtlCol="0" anchor="ctr" wrap="square"/>
          <a:lstStyle/>
          <a:p>
            <a:pPr algn="ctr"/>
          </a:p>
        </p:txBody>
      </p:sp>
      <p:sp>
        <p:nvSpPr>
          <p:cNvPr id="27" name="TextBox 26"/>
          <p:cNvSpPr txBox="1"/>
          <p:nvPr/>
        </p:nvSpPr>
        <p:spPr>
          <a:xfrm>
            <a:off x="2857500" y="6034088"/>
            <a:ext cx="14001750" cy="676275"/>
          </a:xfrm>
          <a:prstGeom prst="rect">
            <a:avLst/>
          </a:prstGeom>
          <a:noFill/>
        </p:spPr>
        <p:txBody>
          <a:bodyPr wrap="square" lIns="0" rIns="0" tIns="0" bIns="0" anchor="ctr">
            <a:spAutoFit/>
          </a:bodyPr>
          <a:lstStyle/>
          <a:p>
            <a:pPr algn="l">
              <a:lnSpc>
                <a:spcPct val="100000"/>
              </a:lnSpc>
            </a:pPr>
            <a:r>
              <a:rPr sz="2100" b="0">
                <a:solidFill>
                  <a:srgbClr val="3D3D3D"/>
                </a:solidFill>
                <a:latin typeface="Pretendard"/>
                <a:ea typeface="Pretendard"/>
                <a:cs typeface="Pretendard"/>
              </a:rPr>
              <a:t>NULL로 인한 집계 왜곡을 찾아내고 실무 수칙으로 예방한다</a:t>
            </a:r>
          </a:p>
        </p:txBody>
      </p:sp>
      <p:sp>
        <p:nvSpPr>
          <p:cNvPr id="28" name="Rounded Rectangle 27"/>
          <p:cNvSpPr/>
          <p:nvPr/>
        </p:nvSpPr>
        <p:spPr>
          <a:xfrm>
            <a:off x="1143000" y="6953250"/>
            <a:ext cx="16002000" cy="876300"/>
          </a:xfrm>
          <a:prstGeom prst="roundRect">
            <a:avLst>
              <a:gd name="adj" fmla="val 5434"/>
            </a:avLst>
          </a:prstGeom>
          <a:solidFill>
            <a:srgbClr val="EDF3FD"/>
          </a:solidFill>
          <a:ln w="9525">
            <a:solidFill>
              <a:srgbClr val="BFD3F5"/>
            </a:solidFill>
          </a:ln>
          <a:effectLst/>
        </p:spPr>
        <p:txBody>
          <a:bodyPr rtlCol="0" anchor="ctr" wrap="square"/>
          <a:lstStyle/>
          <a:p>
            <a:pPr algn="ctr"/>
          </a:p>
        </p:txBody>
      </p:sp>
      <p:sp>
        <p:nvSpPr>
          <p:cNvPr id="29" name="TextBox 28"/>
          <p:cNvSpPr txBox="1"/>
          <p:nvPr/>
        </p:nvSpPr>
        <p:spPr>
          <a:xfrm>
            <a:off x="1143000" y="7200900"/>
            <a:ext cx="16002000" cy="438150"/>
          </a:xfrm>
          <a:prstGeom prst="rect">
            <a:avLst/>
          </a:prstGeom>
          <a:noFill/>
        </p:spPr>
        <p:txBody>
          <a:bodyPr wrap="square" lIns="0" rIns="0" tIns="0" bIns="0" anchor="t">
            <a:spAutoFit/>
          </a:bodyPr>
          <a:lstStyle/>
          <a:p>
            <a:pPr algn="ctr">
              <a:lnSpc>
                <a:spcPct val="100000"/>
              </a:lnSpc>
            </a:pPr>
            <a:r>
              <a:rPr sz="2475" b="1">
                <a:solidFill>
                  <a:srgbClr val="1A2A5E"/>
                </a:solidFill>
                <a:latin typeface="Pretendard"/>
                <a:ea typeface="Pretendard"/>
                <a:cs typeface="Pretendard"/>
              </a:rPr>
              <a:t>경영 DB 이론 편람 4장 · 다온유통 사례로 배웁니다</a:t>
            </a:r>
          </a:p>
        </p:txBody>
      </p:sp>
      <p:sp>
        <p:nvSpPr>
          <p:cNvPr id="30" name="Rectangle 29"/>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31" name="TextBox 30"/>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32" name="TextBox 31"/>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목차</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이 장에서 다루는 네 가지</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4705350"/>
            <a:ext cx="7810500" cy="628650"/>
          </a:xfrm>
          <a:prstGeom prst="roundRect">
            <a:avLst>
              <a:gd name="adj" fmla="val 6060"/>
            </a:avLst>
          </a:prstGeom>
          <a:solidFill>
            <a:srgbClr val="FAFBFD"/>
          </a:solidFill>
          <a:ln w="9525">
            <a:solidFill>
              <a:srgbClr val="DCE1E8"/>
            </a:solidFill>
          </a:ln>
          <a:effectLst/>
        </p:spPr>
        <p:txBody>
          <a:bodyPr rtlCol="0" anchor="ctr" wrap="square"/>
          <a:lstStyle/>
          <a:p>
            <a:pPr algn="ctr"/>
          </a:p>
        </p:txBody>
      </p:sp>
      <p:sp>
        <p:nvSpPr>
          <p:cNvPr id="9" name="Rectangle 8"/>
          <p:cNvSpPr/>
          <p:nvPr/>
        </p:nvSpPr>
        <p:spPr>
          <a:xfrm>
            <a:off x="1143000" y="4705350"/>
            <a:ext cx="57150" cy="628650"/>
          </a:xfrm>
          <a:prstGeom prst="rect">
            <a:avLst/>
          </a:prstGeom>
          <a:solidFill>
            <a:srgbClr val="1A2A5E"/>
          </a:solidFill>
          <a:ln>
            <a:noFill/>
          </a:ln>
          <a:effectLst/>
        </p:spPr>
        <p:txBody>
          <a:bodyPr rtlCol="0" anchor="ctr" wrap="square"/>
          <a:lstStyle/>
          <a:p>
            <a:pPr algn="ctr"/>
          </a:p>
        </p:txBody>
      </p:sp>
      <p:sp>
        <p:nvSpPr>
          <p:cNvPr id="10" name="Rectangle 9"/>
          <p:cNvSpPr/>
          <p:nvPr/>
        </p:nvSpPr>
        <p:spPr>
          <a:xfrm>
            <a:off x="1371600" y="4829175"/>
            <a:ext cx="476250" cy="381000"/>
          </a:xfrm>
          <a:prstGeom prst="rect">
            <a:avLst/>
          </a:prstGeom>
          <a:solidFill>
            <a:srgbClr val="1A2A5E"/>
          </a:solidFill>
          <a:ln>
            <a:noFill/>
          </a:ln>
          <a:effectLst/>
        </p:spPr>
        <p:txBody>
          <a:bodyPr rtlCol="0" anchor="ctr" wrap="square"/>
          <a:lstStyle/>
          <a:p>
            <a:pPr algn="ctr"/>
          </a:p>
        </p:txBody>
      </p:sp>
      <p:sp>
        <p:nvSpPr>
          <p:cNvPr id="11" name="TextBox 10"/>
          <p:cNvSpPr txBox="1"/>
          <p:nvPr/>
        </p:nvSpPr>
        <p:spPr>
          <a:xfrm>
            <a:off x="1371600" y="4905375"/>
            <a:ext cx="476250" cy="266700"/>
          </a:xfrm>
          <a:prstGeom prst="rect">
            <a:avLst/>
          </a:prstGeom>
          <a:noFill/>
        </p:spPr>
        <p:txBody>
          <a:bodyPr wrap="square" lIns="0" rIns="0" tIns="0" bIns="0" anchor="t">
            <a:spAutoFit/>
          </a:bodyPr>
          <a:lstStyle/>
          <a:p>
            <a:pPr algn="ctr">
              <a:lnSpc>
                <a:spcPct val="100000"/>
              </a:lnSpc>
            </a:pPr>
            <a:r>
              <a:rPr sz="1800" b="1">
                <a:solidFill>
                  <a:srgbClr val="FFFFFF"/>
                </a:solidFill>
                <a:latin typeface="Pretendard"/>
                <a:ea typeface="Pretendard"/>
                <a:cs typeface="Pretendard"/>
              </a:rPr>
              <a:t>1</a:t>
            </a:r>
          </a:p>
        </p:txBody>
      </p:sp>
      <p:sp>
        <p:nvSpPr>
          <p:cNvPr id="12" name="TextBox 11"/>
          <p:cNvSpPr txBox="1"/>
          <p:nvPr/>
        </p:nvSpPr>
        <p:spPr>
          <a:xfrm>
            <a:off x="2019300" y="4876800"/>
            <a:ext cx="6762750" cy="323850"/>
          </a:xfrm>
          <a:prstGeom prst="rect">
            <a:avLst/>
          </a:prstGeom>
          <a:noFill/>
        </p:spPr>
        <p:txBody>
          <a:bodyPr wrap="square" lIns="0" rIns="0" tIns="0" bIns="0" anchor="t">
            <a:spAutoFit/>
          </a:bodyPr>
          <a:lstStyle/>
          <a:p>
            <a:pPr algn="l">
              <a:lnSpc>
                <a:spcPct val="100000"/>
              </a:lnSpc>
            </a:pPr>
            <a:r>
              <a:rPr sz="2025" b="1">
                <a:solidFill>
                  <a:srgbClr val="1A2A5E"/>
                </a:solidFill>
                <a:latin typeface="Pretendard"/>
                <a:ea typeface="Pretendard"/>
                <a:cs typeface="Pretendard"/>
              </a:rPr>
              <a:t>SQL은 왜 「선언형」 언어인가</a:t>
            </a:r>
          </a:p>
        </p:txBody>
      </p:sp>
      <p:sp>
        <p:nvSpPr>
          <p:cNvPr id="13" name="Rounded Rectangle 12"/>
          <p:cNvSpPr/>
          <p:nvPr/>
        </p:nvSpPr>
        <p:spPr>
          <a:xfrm>
            <a:off x="1143000" y="5429250"/>
            <a:ext cx="7810500" cy="628650"/>
          </a:xfrm>
          <a:prstGeom prst="roundRect">
            <a:avLst>
              <a:gd name="adj" fmla="val 6060"/>
            </a:avLst>
          </a:prstGeom>
          <a:solidFill>
            <a:srgbClr val="FAFBFD"/>
          </a:solidFill>
          <a:ln w="9525">
            <a:solidFill>
              <a:srgbClr val="DCE1E8"/>
            </a:solidFill>
          </a:ln>
          <a:effectLst/>
        </p:spPr>
        <p:txBody>
          <a:bodyPr rtlCol="0" anchor="ctr" wrap="square"/>
          <a:lstStyle/>
          <a:p>
            <a:pPr algn="ctr"/>
          </a:p>
        </p:txBody>
      </p:sp>
      <p:sp>
        <p:nvSpPr>
          <p:cNvPr id="14" name="Rectangle 13"/>
          <p:cNvSpPr/>
          <p:nvPr/>
        </p:nvSpPr>
        <p:spPr>
          <a:xfrm>
            <a:off x="1143000" y="5429250"/>
            <a:ext cx="57150" cy="628650"/>
          </a:xfrm>
          <a:prstGeom prst="rect">
            <a:avLst/>
          </a:prstGeom>
          <a:solidFill>
            <a:srgbClr val="1A2A5E"/>
          </a:solidFill>
          <a:ln>
            <a:noFill/>
          </a:ln>
          <a:effectLst/>
        </p:spPr>
        <p:txBody>
          <a:bodyPr rtlCol="0" anchor="ctr" wrap="square"/>
          <a:lstStyle/>
          <a:p>
            <a:pPr algn="ctr"/>
          </a:p>
        </p:txBody>
      </p:sp>
      <p:sp>
        <p:nvSpPr>
          <p:cNvPr id="15" name="Rectangle 14"/>
          <p:cNvSpPr/>
          <p:nvPr/>
        </p:nvSpPr>
        <p:spPr>
          <a:xfrm>
            <a:off x="1371600" y="5553075"/>
            <a:ext cx="476250" cy="381000"/>
          </a:xfrm>
          <a:prstGeom prst="rect">
            <a:avLst/>
          </a:prstGeom>
          <a:solidFill>
            <a:srgbClr val="1A2A5E"/>
          </a:solidFill>
          <a:ln>
            <a:noFill/>
          </a:ln>
          <a:effectLst/>
        </p:spPr>
        <p:txBody>
          <a:bodyPr rtlCol="0" anchor="ctr" wrap="square"/>
          <a:lstStyle/>
          <a:p>
            <a:pPr algn="ctr"/>
          </a:p>
        </p:txBody>
      </p:sp>
      <p:sp>
        <p:nvSpPr>
          <p:cNvPr id="16" name="TextBox 15"/>
          <p:cNvSpPr txBox="1"/>
          <p:nvPr/>
        </p:nvSpPr>
        <p:spPr>
          <a:xfrm>
            <a:off x="1371600" y="5629275"/>
            <a:ext cx="476250" cy="266700"/>
          </a:xfrm>
          <a:prstGeom prst="rect">
            <a:avLst/>
          </a:prstGeom>
          <a:noFill/>
        </p:spPr>
        <p:txBody>
          <a:bodyPr wrap="square" lIns="0" rIns="0" tIns="0" bIns="0" anchor="t">
            <a:spAutoFit/>
          </a:bodyPr>
          <a:lstStyle/>
          <a:p>
            <a:pPr algn="ctr">
              <a:lnSpc>
                <a:spcPct val="100000"/>
              </a:lnSpc>
            </a:pPr>
            <a:r>
              <a:rPr sz="1800" b="1">
                <a:solidFill>
                  <a:srgbClr val="FFFFFF"/>
                </a:solidFill>
                <a:latin typeface="Pretendard"/>
                <a:ea typeface="Pretendard"/>
                <a:cs typeface="Pretendard"/>
              </a:rPr>
              <a:t>2</a:t>
            </a:r>
          </a:p>
        </p:txBody>
      </p:sp>
      <p:sp>
        <p:nvSpPr>
          <p:cNvPr id="17" name="TextBox 16"/>
          <p:cNvSpPr txBox="1"/>
          <p:nvPr/>
        </p:nvSpPr>
        <p:spPr>
          <a:xfrm>
            <a:off x="2019300" y="5600700"/>
            <a:ext cx="6762750" cy="323850"/>
          </a:xfrm>
          <a:prstGeom prst="rect">
            <a:avLst/>
          </a:prstGeom>
          <a:noFill/>
        </p:spPr>
        <p:txBody>
          <a:bodyPr wrap="square" lIns="0" rIns="0" tIns="0" bIns="0" anchor="t">
            <a:spAutoFit/>
          </a:bodyPr>
          <a:lstStyle/>
          <a:p>
            <a:pPr algn="l">
              <a:lnSpc>
                <a:spcPct val="100000"/>
              </a:lnSpc>
            </a:pPr>
            <a:r>
              <a:rPr sz="2025" b="1">
                <a:solidFill>
                  <a:srgbClr val="1A2A5E"/>
                </a:solidFill>
                <a:latin typeface="Pretendard"/>
                <a:ea typeface="Pretendard"/>
                <a:cs typeface="Pretendard"/>
              </a:rPr>
              <a:t>관계 연산 — SQL 문법의 뿌리</a:t>
            </a:r>
          </a:p>
        </p:txBody>
      </p:sp>
      <p:sp>
        <p:nvSpPr>
          <p:cNvPr id="18" name="Rounded Rectangle 17"/>
          <p:cNvSpPr/>
          <p:nvPr/>
        </p:nvSpPr>
        <p:spPr>
          <a:xfrm>
            <a:off x="9334500" y="4705350"/>
            <a:ext cx="7810500" cy="628650"/>
          </a:xfrm>
          <a:prstGeom prst="roundRect">
            <a:avLst>
              <a:gd name="adj" fmla="val 6060"/>
            </a:avLst>
          </a:prstGeom>
          <a:solidFill>
            <a:srgbClr val="FAFBFD"/>
          </a:solidFill>
          <a:ln w="9525">
            <a:solidFill>
              <a:srgbClr val="DCE1E8"/>
            </a:solidFill>
          </a:ln>
          <a:effectLst/>
        </p:spPr>
        <p:txBody>
          <a:bodyPr rtlCol="0" anchor="ctr" wrap="square"/>
          <a:lstStyle/>
          <a:p>
            <a:pPr algn="ctr"/>
          </a:p>
        </p:txBody>
      </p:sp>
      <p:sp>
        <p:nvSpPr>
          <p:cNvPr id="19" name="Rectangle 18"/>
          <p:cNvSpPr/>
          <p:nvPr/>
        </p:nvSpPr>
        <p:spPr>
          <a:xfrm>
            <a:off x="9334500" y="4705350"/>
            <a:ext cx="57150" cy="628650"/>
          </a:xfrm>
          <a:prstGeom prst="rect">
            <a:avLst/>
          </a:prstGeom>
          <a:solidFill>
            <a:srgbClr val="1A2A5E"/>
          </a:solidFill>
          <a:ln>
            <a:noFill/>
          </a:ln>
          <a:effectLst/>
        </p:spPr>
        <p:txBody>
          <a:bodyPr rtlCol="0" anchor="ctr" wrap="square"/>
          <a:lstStyle/>
          <a:p>
            <a:pPr algn="ctr"/>
          </a:p>
        </p:txBody>
      </p:sp>
      <p:sp>
        <p:nvSpPr>
          <p:cNvPr id="20" name="Rectangle 19"/>
          <p:cNvSpPr/>
          <p:nvPr/>
        </p:nvSpPr>
        <p:spPr>
          <a:xfrm>
            <a:off x="9563100" y="4829175"/>
            <a:ext cx="476250" cy="381000"/>
          </a:xfrm>
          <a:prstGeom prst="rect">
            <a:avLst/>
          </a:prstGeom>
          <a:solidFill>
            <a:srgbClr val="1A2A5E"/>
          </a:solidFill>
          <a:ln>
            <a:noFill/>
          </a:ln>
          <a:effectLst/>
        </p:spPr>
        <p:txBody>
          <a:bodyPr rtlCol="0" anchor="ctr" wrap="square"/>
          <a:lstStyle/>
          <a:p>
            <a:pPr algn="ctr"/>
          </a:p>
        </p:txBody>
      </p:sp>
      <p:sp>
        <p:nvSpPr>
          <p:cNvPr id="21" name="TextBox 20"/>
          <p:cNvSpPr txBox="1"/>
          <p:nvPr/>
        </p:nvSpPr>
        <p:spPr>
          <a:xfrm>
            <a:off x="9563100" y="4905375"/>
            <a:ext cx="476250" cy="266700"/>
          </a:xfrm>
          <a:prstGeom prst="rect">
            <a:avLst/>
          </a:prstGeom>
          <a:noFill/>
        </p:spPr>
        <p:txBody>
          <a:bodyPr wrap="square" lIns="0" rIns="0" tIns="0" bIns="0" anchor="t">
            <a:spAutoFit/>
          </a:bodyPr>
          <a:lstStyle/>
          <a:p>
            <a:pPr algn="ctr">
              <a:lnSpc>
                <a:spcPct val="100000"/>
              </a:lnSpc>
            </a:pPr>
            <a:r>
              <a:rPr sz="1800" b="1">
                <a:solidFill>
                  <a:srgbClr val="FFFFFF"/>
                </a:solidFill>
                <a:latin typeface="Pretendard"/>
                <a:ea typeface="Pretendard"/>
                <a:cs typeface="Pretendard"/>
              </a:rPr>
              <a:t>3</a:t>
            </a:r>
          </a:p>
        </p:txBody>
      </p:sp>
      <p:sp>
        <p:nvSpPr>
          <p:cNvPr id="22" name="TextBox 21"/>
          <p:cNvSpPr txBox="1"/>
          <p:nvPr/>
        </p:nvSpPr>
        <p:spPr>
          <a:xfrm>
            <a:off x="10210800" y="4876800"/>
            <a:ext cx="6762750" cy="323850"/>
          </a:xfrm>
          <a:prstGeom prst="rect">
            <a:avLst/>
          </a:prstGeom>
          <a:noFill/>
        </p:spPr>
        <p:txBody>
          <a:bodyPr wrap="square" lIns="0" rIns="0" tIns="0" bIns="0" anchor="t">
            <a:spAutoFit/>
          </a:bodyPr>
          <a:lstStyle/>
          <a:p>
            <a:pPr algn="l">
              <a:lnSpc>
                <a:spcPct val="100000"/>
              </a:lnSpc>
            </a:pPr>
            <a:r>
              <a:rPr sz="2025" b="1">
                <a:solidFill>
                  <a:srgbClr val="1A2A5E"/>
                </a:solidFill>
                <a:latin typeface="Pretendard"/>
                <a:ea typeface="Pretendard"/>
                <a:cs typeface="Pretendard"/>
              </a:rPr>
              <a:t>SQL 언어의 4분류 — DDL·DML·DCL·TCL</a:t>
            </a:r>
          </a:p>
        </p:txBody>
      </p:sp>
      <p:sp>
        <p:nvSpPr>
          <p:cNvPr id="23" name="Rounded Rectangle 22"/>
          <p:cNvSpPr/>
          <p:nvPr/>
        </p:nvSpPr>
        <p:spPr>
          <a:xfrm>
            <a:off x="9334500" y="5429250"/>
            <a:ext cx="7810500" cy="628650"/>
          </a:xfrm>
          <a:prstGeom prst="roundRect">
            <a:avLst>
              <a:gd name="adj" fmla="val 6060"/>
            </a:avLst>
          </a:prstGeom>
          <a:solidFill>
            <a:srgbClr val="FAFBFD"/>
          </a:solidFill>
          <a:ln w="9525">
            <a:solidFill>
              <a:srgbClr val="DCE1E8"/>
            </a:solidFill>
          </a:ln>
          <a:effectLst/>
        </p:spPr>
        <p:txBody>
          <a:bodyPr rtlCol="0" anchor="ctr" wrap="square"/>
          <a:lstStyle/>
          <a:p>
            <a:pPr algn="ctr"/>
          </a:p>
        </p:txBody>
      </p:sp>
      <p:sp>
        <p:nvSpPr>
          <p:cNvPr id="24" name="Rectangle 23"/>
          <p:cNvSpPr/>
          <p:nvPr/>
        </p:nvSpPr>
        <p:spPr>
          <a:xfrm>
            <a:off x="9334500" y="5429250"/>
            <a:ext cx="57150" cy="628650"/>
          </a:xfrm>
          <a:prstGeom prst="rect">
            <a:avLst/>
          </a:prstGeom>
          <a:solidFill>
            <a:srgbClr val="1A2A5E"/>
          </a:solidFill>
          <a:ln>
            <a:noFill/>
          </a:ln>
          <a:effectLst/>
        </p:spPr>
        <p:txBody>
          <a:bodyPr rtlCol="0" anchor="ctr" wrap="square"/>
          <a:lstStyle/>
          <a:p>
            <a:pPr algn="ctr"/>
          </a:p>
        </p:txBody>
      </p:sp>
      <p:sp>
        <p:nvSpPr>
          <p:cNvPr id="25" name="Rectangle 24"/>
          <p:cNvSpPr/>
          <p:nvPr/>
        </p:nvSpPr>
        <p:spPr>
          <a:xfrm>
            <a:off x="9563100" y="5553075"/>
            <a:ext cx="476250" cy="381000"/>
          </a:xfrm>
          <a:prstGeom prst="rect">
            <a:avLst/>
          </a:prstGeom>
          <a:solidFill>
            <a:srgbClr val="1A2A5E"/>
          </a:solidFill>
          <a:ln>
            <a:noFill/>
          </a:ln>
          <a:effectLst/>
        </p:spPr>
        <p:txBody>
          <a:bodyPr rtlCol="0" anchor="ctr" wrap="square"/>
          <a:lstStyle/>
          <a:p>
            <a:pPr algn="ctr"/>
          </a:p>
        </p:txBody>
      </p:sp>
      <p:sp>
        <p:nvSpPr>
          <p:cNvPr id="26" name="TextBox 25"/>
          <p:cNvSpPr txBox="1"/>
          <p:nvPr/>
        </p:nvSpPr>
        <p:spPr>
          <a:xfrm>
            <a:off x="9563100" y="5629275"/>
            <a:ext cx="476250" cy="266700"/>
          </a:xfrm>
          <a:prstGeom prst="rect">
            <a:avLst/>
          </a:prstGeom>
          <a:noFill/>
        </p:spPr>
        <p:txBody>
          <a:bodyPr wrap="square" lIns="0" rIns="0" tIns="0" bIns="0" anchor="t">
            <a:spAutoFit/>
          </a:bodyPr>
          <a:lstStyle/>
          <a:p>
            <a:pPr algn="ctr">
              <a:lnSpc>
                <a:spcPct val="100000"/>
              </a:lnSpc>
            </a:pPr>
            <a:r>
              <a:rPr sz="1800" b="1">
                <a:solidFill>
                  <a:srgbClr val="FFFFFF"/>
                </a:solidFill>
                <a:latin typeface="Pretendard"/>
                <a:ea typeface="Pretendard"/>
                <a:cs typeface="Pretendard"/>
              </a:rPr>
              <a:t>4</a:t>
            </a:r>
          </a:p>
        </p:txBody>
      </p:sp>
      <p:sp>
        <p:nvSpPr>
          <p:cNvPr id="27" name="TextBox 26"/>
          <p:cNvSpPr txBox="1"/>
          <p:nvPr/>
        </p:nvSpPr>
        <p:spPr>
          <a:xfrm>
            <a:off x="10210800" y="5600700"/>
            <a:ext cx="6762750" cy="323850"/>
          </a:xfrm>
          <a:prstGeom prst="rect">
            <a:avLst/>
          </a:prstGeom>
          <a:noFill/>
        </p:spPr>
        <p:txBody>
          <a:bodyPr wrap="square" lIns="0" rIns="0" tIns="0" bIns="0" anchor="t">
            <a:spAutoFit/>
          </a:bodyPr>
          <a:lstStyle/>
          <a:p>
            <a:pPr algn="l">
              <a:lnSpc>
                <a:spcPct val="100000"/>
              </a:lnSpc>
            </a:pPr>
            <a:r>
              <a:rPr sz="2025" b="1">
                <a:solidFill>
                  <a:srgbClr val="1A2A5E"/>
                </a:solidFill>
                <a:latin typeface="Pretendard"/>
                <a:ea typeface="Pretendard"/>
                <a:cs typeface="Pretendard"/>
              </a:rPr>
              <a:t>NULL과 3값 논리 — 모르는 값의 계산법</a:t>
            </a:r>
          </a:p>
        </p:txBody>
      </p:sp>
      <p:sp>
        <p:nvSpPr>
          <p:cNvPr id="28" name="Rectangle 27"/>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29" name="TextBox 28"/>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30" name="TextBox 29"/>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1. SQL은 왜 선언형 언어인가</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어떻게(How)가 아니라 무엇을(What)</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ectangle 7"/>
          <p:cNvSpPr/>
          <p:nvPr/>
        </p:nvSpPr>
        <p:spPr>
          <a:xfrm>
            <a:off x="1143000" y="2781300"/>
            <a:ext cx="2522220" cy="590550"/>
          </a:xfrm>
          <a:prstGeom prst="rect">
            <a:avLst/>
          </a:prstGeom>
          <a:solidFill>
            <a:srgbClr val="1A2A5E"/>
          </a:solidFill>
          <a:ln>
            <a:noFill/>
          </a:ln>
          <a:effectLst/>
        </p:spPr>
        <p:txBody>
          <a:bodyPr rtlCol="0" anchor="ctr" wrap="square"/>
          <a:lstStyle/>
          <a:p>
            <a:pPr algn="ctr"/>
          </a:p>
        </p:txBody>
      </p:sp>
      <p:sp>
        <p:nvSpPr>
          <p:cNvPr id="9" name="TextBox 8"/>
          <p:cNvSpPr txBox="1"/>
          <p:nvPr/>
        </p:nvSpPr>
        <p:spPr>
          <a:xfrm>
            <a:off x="1143000" y="2781300"/>
            <a:ext cx="252222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구분</a:t>
            </a:r>
          </a:p>
        </p:txBody>
      </p:sp>
      <p:sp>
        <p:nvSpPr>
          <p:cNvPr id="10" name="Rectangle 9"/>
          <p:cNvSpPr/>
          <p:nvPr/>
        </p:nvSpPr>
        <p:spPr>
          <a:xfrm>
            <a:off x="3703320" y="2781300"/>
            <a:ext cx="6682740" cy="590550"/>
          </a:xfrm>
          <a:prstGeom prst="rect">
            <a:avLst/>
          </a:prstGeom>
          <a:solidFill>
            <a:srgbClr val="0046C8"/>
          </a:solidFill>
          <a:ln>
            <a:noFill/>
          </a:ln>
          <a:effectLst/>
        </p:spPr>
        <p:txBody>
          <a:bodyPr rtlCol="0" anchor="ctr" wrap="square"/>
          <a:lstStyle/>
          <a:p>
            <a:pPr algn="ctr"/>
          </a:p>
        </p:txBody>
      </p:sp>
      <p:sp>
        <p:nvSpPr>
          <p:cNvPr id="11" name="TextBox 10"/>
          <p:cNvSpPr txBox="1"/>
          <p:nvPr/>
        </p:nvSpPr>
        <p:spPr>
          <a:xfrm>
            <a:off x="3703320" y="2781300"/>
            <a:ext cx="668274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절차형 언어 (예: Python)</a:t>
            </a:r>
          </a:p>
        </p:txBody>
      </p:sp>
      <p:sp>
        <p:nvSpPr>
          <p:cNvPr id="12" name="Rectangle 11"/>
          <p:cNvSpPr/>
          <p:nvPr/>
        </p:nvSpPr>
        <p:spPr>
          <a:xfrm>
            <a:off x="10424160" y="2781300"/>
            <a:ext cx="6720840" cy="590550"/>
          </a:xfrm>
          <a:prstGeom prst="rect">
            <a:avLst/>
          </a:prstGeom>
          <a:solidFill>
            <a:srgbClr val="0046C8"/>
          </a:solidFill>
          <a:ln>
            <a:noFill/>
          </a:ln>
          <a:effectLst/>
        </p:spPr>
        <p:txBody>
          <a:bodyPr rtlCol="0" anchor="ctr" wrap="square"/>
          <a:lstStyle/>
          <a:p>
            <a:pPr algn="ctr"/>
          </a:p>
        </p:txBody>
      </p:sp>
      <p:sp>
        <p:nvSpPr>
          <p:cNvPr id="13" name="TextBox 12"/>
          <p:cNvSpPr txBox="1"/>
          <p:nvPr/>
        </p:nvSpPr>
        <p:spPr>
          <a:xfrm>
            <a:off x="10424160" y="2781300"/>
            <a:ext cx="672084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선언형 언어 (SQL)</a:t>
            </a:r>
          </a:p>
        </p:txBody>
      </p:sp>
      <p:sp>
        <p:nvSpPr>
          <p:cNvPr id="14" name="Rounded Rectangle 13"/>
          <p:cNvSpPr/>
          <p:nvPr/>
        </p:nvSpPr>
        <p:spPr>
          <a:xfrm>
            <a:off x="1143000" y="3448050"/>
            <a:ext cx="252222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15" name="TextBox 14"/>
          <p:cNvSpPr txBox="1"/>
          <p:nvPr/>
        </p:nvSpPr>
        <p:spPr>
          <a:xfrm>
            <a:off x="1238250" y="3448050"/>
            <a:ext cx="233172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지시하는 것</a:t>
            </a:r>
          </a:p>
        </p:txBody>
      </p:sp>
      <p:sp>
        <p:nvSpPr>
          <p:cNvPr id="16" name="Rounded Rectangle 15"/>
          <p:cNvSpPr/>
          <p:nvPr/>
        </p:nvSpPr>
        <p:spPr>
          <a:xfrm>
            <a:off x="3703320" y="3448050"/>
            <a:ext cx="668274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17" name="TextBox 16"/>
          <p:cNvSpPr txBox="1"/>
          <p:nvPr/>
        </p:nvSpPr>
        <p:spPr>
          <a:xfrm>
            <a:off x="3798570" y="3448050"/>
            <a:ext cx="649224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어떻게(How) — 반복문을 돌며 한 건씩 검사하는 절차</a:t>
            </a:r>
          </a:p>
        </p:txBody>
      </p:sp>
      <p:sp>
        <p:nvSpPr>
          <p:cNvPr id="18" name="Rounded Rectangle 17"/>
          <p:cNvSpPr/>
          <p:nvPr/>
        </p:nvSpPr>
        <p:spPr>
          <a:xfrm>
            <a:off x="10424160" y="3448050"/>
            <a:ext cx="672084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19" name="TextBox 18"/>
          <p:cNvSpPr txBox="1"/>
          <p:nvPr/>
        </p:nvSpPr>
        <p:spPr>
          <a:xfrm>
            <a:off x="10519410" y="3448050"/>
            <a:ext cx="653034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무엇을(What) — 원하는 결과의 조건</a:t>
            </a:r>
          </a:p>
        </p:txBody>
      </p:sp>
      <p:sp>
        <p:nvSpPr>
          <p:cNvPr id="20" name="Rounded Rectangle 19"/>
          <p:cNvSpPr/>
          <p:nvPr/>
        </p:nvSpPr>
        <p:spPr>
          <a:xfrm>
            <a:off x="1143000" y="4171950"/>
            <a:ext cx="252222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21" name="TextBox 20"/>
          <p:cNvSpPr txBox="1"/>
          <p:nvPr/>
        </p:nvSpPr>
        <p:spPr>
          <a:xfrm>
            <a:off x="1238250" y="4171950"/>
            <a:ext cx="233172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실행 방법 결정</a:t>
            </a:r>
          </a:p>
        </p:txBody>
      </p:sp>
      <p:sp>
        <p:nvSpPr>
          <p:cNvPr id="22" name="Rounded Rectangle 21"/>
          <p:cNvSpPr/>
          <p:nvPr/>
        </p:nvSpPr>
        <p:spPr>
          <a:xfrm>
            <a:off x="3703320" y="4171950"/>
            <a:ext cx="668274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3" name="TextBox 22"/>
          <p:cNvSpPr txBox="1"/>
          <p:nvPr/>
        </p:nvSpPr>
        <p:spPr>
          <a:xfrm>
            <a:off x="3798570" y="4171950"/>
            <a:ext cx="649224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프로그래머가 코드로 직접 결정</a:t>
            </a:r>
          </a:p>
        </p:txBody>
      </p:sp>
      <p:sp>
        <p:nvSpPr>
          <p:cNvPr id="24" name="Rounded Rectangle 23"/>
          <p:cNvSpPr/>
          <p:nvPr/>
        </p:nvSpPr>
        <p:spPr>
          <a:xfrm>
            <a:off x="10424160" y="4171950"/>
            <a:ext cx="672084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5" name="TextBox 24"/>
          <p:cNvSpPr txBox="1"/>
          <p:nvPr/>
        </p:nvSpPr>
        <p:spPr>
          <a:xfrm>
            <a:off x="10519410" y="4171950"/>
            <a:ext cx="653034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DBMS의 옵티마이저가 자동 결정</a:t>
            </a:r>
          </a:p>
        </p:txBody>
      </p:sp>
      <p:sp>
        <p:nvSpPr>
          <p:cNvPr id="26" name="Rounded Rectangle 25"/>
          <p:cNvSpPr/>
          <p:nvPr/>
        </p:nvSpPr>
        <p:spPr>
          <a:xfrm>
            <a:off x="1143000" y="4895850"/>
            <a:ext cx="252222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27" name="TextBox 26"/>
          <p:cNvSpPr txBox="1"/>
          <p:nvPr/>
        </p:nvSpPr>
        <p:spPr>
          <a:xfrm>
            <a:off x="1238250" y="4895850"/>
            <a:ext cx="233172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다온유통 예</a:t>
            </a:r>
          </a:p>
        </p:txBody>
      </p:sp>
      <p:sp>
        <p:nvSpPr>
          <p:cNvPr id="28" name="Rounded Rectangle 27"/>
          <p:cNvSpPr/>
          <p:nvPr/>
        </p:nvSpPr>
        <p:spPr>
          <a:xfrm>
            <a:off x="3703320" y="4895850"/>
            <a:ext cx="668274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9" name="TextBox 28"/>
          <p:cNvSpPr txBox="1"/>
          <p:nvPr/>
        </p:nvSpPr>
        <p:spPr>
          <a:xfrm>
            <a:off x="3798570" y="4895850"/>
            <a:ext cx="6492240" cy="647700"/>
          </a:xfrm>
          <a:prstGeom prst="rect">
            <a:avLst/>
          </a:prstGeom>
          <a:noFill/>
        </p:spPr>
        <p:txBody>
          <a:bodyPr wrap="square" lIns="0" rIns="0" tIns="0" bIns="0" anchor="ctr">
            <a:spAutoFit/>
          </a:bodyPr>
          <a:lstStyle/>
          <a:p>
            <a:pPr algn="ctr">
              <a:lnSpc>
                <a:spcPct val="115000"/>
              </a:lnSpc>
            </a:pPr>
            <a:r>
              <a:rPr sz="1575" b="0">
                <a:solidFill>
                  <a:srgbClr val="3D3D3D"/>
                </a:solidFill>
                <a:latin typeface="Pretendard"/>
                <a:ea typeface="Pretendard"/>
                <a:cs typeface="Pretendard"/>
              </a:rPr>
              <a:t>「고객 목록을 처음부터 끝까지 읽어라. grade가 VIP면 name을 결과에 담아라.」</a:t>
            </a:r>
          </a:p>
        </p:txBody>
      </p:sp>
      <p:sp>
        <p:nvSpPr>
          <p:cNvPr id="30" name="Rounded Rectangle 29"/>
          <p:cNvSpPr/>
          <p:nvPr/>
        </p:nvSpPr>
        <p:spPr>
          <a:xfrm>
            <a:off x="10424160" y="4895850"/>
            <a:ext cx="672084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31" name="TextBox 30"/>
          <p:cNvSpPr txBox="1"/>
          <p:nvPr/>
        </p:nvSpPr>
        <p:spPr>
          <a:xfrm>
            <a:off x="10519410" y="4895850"/>
            <a:ext cx="6530340" cy="647700"/>
          </a:xfrm>
          <a:prstGeom prst="rect">
            <a:avLst/>
          </a:prstGeom>
          <a:noFill/>
        </p:spPr>
        <p:txBody>
          <a:bodyPr wrap="square" lIns="0" rIns="0" tIns="0" bIns="0" anchor="ctr">
            <a:spAutoFit/>
          </a:bodyPr>
          <a:lstStyle/>
          <a:p>
            <a:pPr algn="ctr">
              <a:lnSpc>
                <a:spcPct val="115000"/>
              </a:lnSpc>
            </a:pPr>
            <a:r>
              <a:rPr sz="1650" b="0">
                <a:solidFill>
                  <a:srgbClr val="3D3D3D"/>
                </a:solidFill>
                <a:latin typeface="Pretendard"/>
                <a:ea typeface="Pretendard"/>
                <a:cs typeface="Pretendard"/>
              </a:rPr>
              <a:t>SELECT name FROM customers WHERE grade = 'VIP' — 조건만 선언</a:t>
            </a:r>
          </a:p>
        </p:txBody>
      </p:sp>
      <p:sp>
        <p:nvSpPr>
          <p:cNvPr id="32" name="TextBox 31"/>
          <p:cNvSpPr txBox="1"/>
          <p:nvPr/>
        </p:nvSpPr>
        <p:spPr>
          <a:xfrm>
            <a:off x="1143000" y="7620000"/>
            <a:ext cx="16002000" cy="342900"/>
          </a:xfrm>
          <a:prstGeom prst="rect">
            <a:avLst/>
          </a:prstGeom>
          <a:noFill/>
        </p:spPr>
        <p:txBody>
          <a:bodyPr wrap="square" lIns="0" rIns="0" tIns="0" bIns="0" anchor="t">
            <a:spAutoFit/>
          </a:bodyPr>
          <a:lstStyle/>
          <a:p>
            <a:pPr algn="l">
              <a:lnSpc>
                <a:spcPct val="100000"/>
              </a:lnSpc>
            </a:pPr>
            <a:r>
              <a:rPr sz="1875" b="1">
                <a:solidFill>
                  <a:srgbClr val="7D7D7D"/>
                </a:solidFill>
                <a:latin typeface="Pretendard"/>
                <a:ea typeface="Pretendard"/>
                <a:cs typeface="Pretendard"/>
              </a:rPr>
              <a:t>택시에서 「시청까지 가 주세요」라고 목적지만 말하듯 — 어떤 순서로 뒤질지는 DBMS의 옵티마이저가 정한다</a:t>
            </a:r>
          </a:p>
        </p:txBody>
      </p:sp>
      <p:sp>
        <p:nvSpPr>
          <p:cNvPr id="33" name="Rectangle 32"/>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34" name="TextBox 33"/>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35" name="TextBox 34"/>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1. SQL은 왜 선언형 언어인가</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그래서 SQL은 전산 전공자만의 도구가 아니다</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3429000"/>
            <a:ext cx="7810500" cy="2476500"/>
          </a:xfrm>
          <a:prstGeom prst="roundRect">
            <a:avLst>
              <a:gd name="adj" fmla="val 1923"/>
            </a:avLst>
          </a:prstGeom>
          <a:solidFill>
            <a:srgbClr val="FAFBFD"/>
          </a:solidFill>
          <a:ln w="9525">
            <a:solidFill>
              <a:srgbClr val="DCE1E8"/>
            </a:solidFill>
          </a:ln>
          <a:effectLst/>
        </p:spPr>
        <p:txBody>
          <a:bodyPr rtlCol="0" anchor="ctr" wrap="square"/>
          <a:lstStyle/>
          <a:p>
            <a:pPr algn="ctr"/>
          </a:p>
        </p:txBody>
      </p:sp>
      <p:sp>
        <p:nvSpPr>
          <p:cNvPr id="9" name="Rectangle 8"/>
          <p:cNvSpPr/>
          <p:nvPr/>
        </p:nvSpPr>
        <p:spPr>
          <a:xfrm>
            <a:off x="1143000" y="3429000"/>
            <a:ext cx="7810500" cy="47625"/>
          </a:xfrm>
          <a:prstGeom prst="rect">
            <a:avLst/>
          </a:prstGeom>
          <a:solidFill>
            <a:srgbClr val="0046C8"/>
          </a:solidFill>
          <a:ln>
            <a:noFill/>
          </a:ln>
          <a:effectLst/>
        </p:spPr>
        <p:txBody>
          <a:bodyPr rtlCol="0" anchor="ctr" wrap="square"/>
          <a:lstStyle/>
          <a:p>
            <a:pPr algn="ctr"/>
          </a:p>
        </p:txBody>
      </p:sp>
      <p:sp>
        <p:nvSpPr>
          <p:cNvPr id="10" name="deckgen:ornament"/>
          <p:cNvSpPr txBox="1"/>
          <p:nvPr/>
        </p:nvSpPr>
        <p:spPr>
          <a:xfrm>
            <a:off x="8096250" y="3638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01</a:t>
            </a:r>
          </a:p>
        </p:txBody>
      </p:sp>
      <p:sp>
        <p:nvSpPr>
          <p:cNvPr id="11" name="TextBox 10"/>
          <p:cNvSpPr txBox="1"/>
          <p:nvPr/>
        </p:nvSpPr>
        <p:spPr>
          <a:xfrm>
            <a:off x="1466850" y="3752850"/>
            <a:ext cx="7162800" cy="1828800"/>
          </a:xfrm>
          <a:prstGeom prst="rect">
            <a:avLst/>
          </a:prstGeom>
          <a:noFill/>
        </p:spPr>
        <p:txBody>
          <a:bodyPr wrap="square" lIns="0" rIns="0" tIns="0" bIns="0" anchor="ctr">
            <a:spAutoFit/>
          </a:bodyPr>
          <a:lstStyle/>
          <a:p>
            <a:pPr>
              <a:lnSpc>
                <a:spcPct val="115000"/>
              </a:lnSpc>
            </a:pPr>
            <a:r>
              <a:rPr sz="3300" b="1">
                <a:solidFill>
                  <a:srgbClr val="1A2A5E"/>
                </a:solidFill>
                <a:latin typeface="Pretendard"/>
                <a:ea typeface="Pretendard"/>
                <a:cs typeface="Pretendard"/>
              </a:rPr>
              <a:t>업무 질문을 조건으로</a:t>
            </a:r>
          </a:p>
          <a:p>
            <a:pPr>
              <a:lnSpc>
                <a:spcPct val="146000"/>
              </a:lnSpc>
              <a:spcBef>
                <a:spcPts val="1050"/>
              </a:spcBef>
            </a:pPr>
            <a:r>
              <a:rPr sz="2250" b="0">
                <a:solidFill>
                  <a:srgbClr val="3D3D3D"/>
                </a:solidFill>
                <a:latin typeface="Pretendard"/>
                <a:ea typeface="Pretendard"/>
                <a:cs typeface="Pretendard"/>
              </a:rPr>
              <a:t>절차를 몰라도 「이번 달 매출은?」「품절 상품은?」을</a:t>
            </a:r>
          </a:p>
          <a:p>
            <a:pPr>
              <a:lnSpc>
                <a:spcPct val="146000"/>
              </a:lnSpc>
            </a:pPr>
            <a:r>
              <a:rPr sz="2250" b="0">
                <a:solidFill>
                  <a:srgbClr val="3D3D3D"/>
                </a:solidFill>
                <a:latin typeface="Pretendard"/>
                <a:ea typeface="Pretendard"/>
                <a:cs typeface="Pretendard"/>
              </a:rPr>
              <a:t>조건으로 옮길 줄만 알면 데이터에 직접 물을 수 있다</a:t>
            </a:r>
          </a:p>
        </p:txBody>
      </p:sp>
      <p:sp>
        <p:nvSpPr>
          <p:cNvPr id="12" name="Rounded Rectangle 11"/>
          <p:cNvSpPr/>
          <p:nvPr/>
        </p:nvSpPr>
        <p:spPr>
          <a:xfrm>
            <a:off x="9334500" y="3429000"/>
            <a:ext cx="7810500" cy="2476500"/>
          </a:xfrm>
          <a:prstGeom prst="roundRect">
            <a:avLst>
              <a:gd name="adj" fmla="val 1923"/>
            </a:avLst>
          </a:prstGeom>
          <a:solidFill>
            <a:srgbClr val="FAFBFD"/>
          </a:solidFill>
          <a:ln w="9525">
            <a:solidFill>
              <a:srgbClr val="DCE1E8"/>
            </a:solidFill>
          </a:ln>
          <a:effectLst/>
        </p:spPr>
        <p:txBody>
          <a:bodyPr rtlCol="0" anchor="ctr" wrap="square"/>
          <a:lstStyle/>
          <a:p>
            <a:pPr algn="ctr"/>
          </a:p>
        </p:txBody>
      </p:sp>
      <p:sp>
        <p:nvSpPr>
          <p:cNvPr id="13" name="Rectangle 12"/>
          <p:cNvSpPr/>
          <p:nvPr/>
        </p:nvSpPr>
        <p:spPr>
          <a:xfrm>
            <a:off x="9334500" y="3429000"/>
            <a:ext cx="7810500" cy="47625"/>
          </a:xfrm>
          <a:prstGeom prst="rect">
            <a:avLst/>
          </a:prstGeom>
          <a:solidFill>
            <a:srgbClr val="0046C8"/>
          </a:solidFill>
          <a:ln>
            <a:noFill/>
          </a:ln>
          <a:effectLst/>
        </p:spPr>
        <p:txBody>
          <a:bodyPr rtlCol="0" anchor="ctr" wrap="square"/>
          <a:lstStyle/>
          <a:p>
            <a:pPr algn="ctr"/>
          </a:p>
        </p:txBody>
      </p:sp>
      <p:sp>
        <p:nvSpPr>
          <p:cNvPr id="14" name="deckgen:ornament"/>
          <p:cNvSpPr txBox="1"/>
          <p:nvPr/>
        </p:nvSpPr>
        <p:spPr>
          <a:xfrm>
            <a:off x="16287750" y="3638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02</a:t>
            </a:r>
          </a:p>
        </p:txBody>
      </p:sp>
      <p:sp>
        <p:nvSpPr>
          <p:cNvPr id="15" name="TextBox 14"/>
          <p:cNvSpPr txBox="1"/>
          <p:nvPr/>
        </p:nvSpPr>
        <p:spPr>
          <a:xfrm>
            <a:off x="9658350" y="3752850"/>
            <a:ext cx="7162800" cy="1828800"/>
          </a:xfrm>
          <a:prstGeom prst="rect">
            <a:avLst/>
          </a:prstGeom>
          <a:noFill/>
        </p:spPr>
        <p:txBody>
          <a:bodyPr wrap="square" lIns="0" rIns="0" tIns="0" bIns="0" anchor="ctr">
            <a:spAutoFit/>
          </a:bodyPr>
          <a:lstStyle/>
          <a:p>
            <a:pPr>
              <a:lnSpc>
                <a:spcPct val="115000"/>
              </a:lnSpc>
            </a:pPr>
            <a:r>
              <a:rPr sz="3300" b="1">
                <a:solidFill>
                  <a:srgbClr val="1A2A5E"/>
                </a:solidFill>
                <a:latin typeface="Pretendard"/>
                <a:ea typeface="Pretendard"/>
                <a:cs typeface="Pretendard"/>
              </a:rPr>
              <a:t>질문을 가장 잘 아는 사람이</a:t>
            </a:r>
          </a:p>
          <a:p>
            <a:pPr>
              <a:lnSpc>
                <a:spcPct val="146000"/>
              </a:lnSpc>
              <a:spcBef>
                <a:spcPts val="1050"/>
              </a:spcBef>
            </a:pPr>
            <a:r>
              <a:rPr sz="2250" b="0">
                <a:solidFill>
                  <a:srgbClr val="3D3D3D"/>
                </a:solidFill>
                <a:latin typeface="Pretendard"/>
                <a:ea typeface="Pretendard"/>
                <a:cs typeface="Pretendard"/>
              </a:rPr>
              <a:t>직접 묻는 것이 보고서를 기다리는 것보다</a:t>
            </a:r>
          </a:p>
          <a:p>
            <a:pPr>
              <a:lnSpc>
                <a:spcPct val="146000"/>
              </a:lnSpc>
            </a:pPr>
            <a:r>
              <a:rPr sz="2250" b="0">
                <a:solidFill>
                  <a:srgbClr val="3D3D3D"/>
                </a:solidFill>
                <a:latin typeface="Pretendard"/>
                <a:ea typeface="Pretendard"/>
                <a:cs typeface="Pretendard"/>
              </a:rPr>
              <a:t>빠르고 정확하다 — 경영학부생이 SQL을 배우는 이유</a:t>
            </a:r>
          </a:p>
        </p:txBody>
      </p:sp>
      <p:sp>
        <p:nvSpPr>
          <p:cNvPr id="16" name="Rectangle 15"/>
          <p:cNvSpPr/>
          <p:nvPr/>
        </p:nvSpPr>
        <p:spPr>
          <a:xfrm>
            <a:off x="1143000" y="6496050"/>
            <a:ext cx="47625" cy="723900"/>
          </a:xfrm>
          <a:prstGeom prst="rect">
            <a:avLst/>
          </a:prstGeom>
          <a:solidFill>
            <a:srgbClr val="0046C8"/>
          </a:solidFill>
          <a:ln>
            <a:noFill/>
          </a:ln>
          <a:effectLst/>
        </p:spPr>
        <p:txBody>
          <a:bodyPr rtlCol="0" anchor="ctr" wrap="square"/>
          <a:lstStyle/>
          <a:p>
            <a:pPr algn="ctr"/>
          </a:p>
        </p:txBody>
      </p:sp>
      <p:sp>
        <p:nvSpPr>
          <p:cNvPr id="17" name="TextBox 16"/>
          <p:cNvSpPr txBox="1"/>
          <p:nvPr/>
        </p:nvSpPr>
        <p:spPr>
          <a:xfrm>
            <a:off x="1390650" y="6553200"/>
            <a:ext cx="15754350" cy="762000"/>
          </a:xfrm>
          <a:prstGeom prst="rect">
            <a:avLst/>
          </a:prstGeom>
          <a:noFill/>
        </p:spPr>
        <p:txBody>
          <a:bodyPr wrap="square" lIns="0" rIns="0" tIns="0" bIns="0" anchor="t">
            <a:spAutoFit/>
          </a:bodyPr>
          <a:lstStyle/>
          <a:p>
            <a:pPr algn="l">
              <a:lnSpc>
                <a:spcPct val="150000"/>
              </a:lnSpc>
            </a:pPr>
            <a:r>
              <a:rPr sz="2025" b="1">
                <a:solidFill>
                  <a:srgbClr val="7D7D7D"/>
                </a:solidFill>
                <a:latin typeface="Pretendard"/>
                <a:ea typeface="Pretendard"/>
                <a:cs typeface="Pretendard"/>
              </a:rPr>
              <a:t>SQL 문법별 실습은 3·5·7·9주차 강의에서 — 이 장은 그 문법들이 어떤 이론 위에 서 있는지 정리한다</a:t>
            </a:r>
          </a:p>
        </p:txBody>
      </p:sp>
      <p:sp>
        <p:nvSpPr>
          <p:cNvPr id="18" name="Rectangle 17"/>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19" name="TextBox 18"/>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20" name="TextBox 19"/>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2. 관계 연산</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테이블에 연산을 가하면 결과도 테이블</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3429000"/>
            <a:ext cx="3714750" cy="2476500"/>
          </a:xfrm>
          <a:prstGeom prst="roundRect">
            <a:avLst>
              <a:gd name="adj" fmla="val 1923"/>
            </a:avLst>
          </a:prstGeom>
          <a:solidFill>
            <a:srgbClr val="FAFBFD"/>
          </a:solidFill>
          <a:ln w="9525">
            <a:solidFill>
              <a:srgbClr val="DCE1E8"/>
            </a:solidFill>
          </a:ln>
          <a:effectLst/>
        </p:spPr>
        <p:txBody>
          <a:bodyPr rtlCol="0" anchor="ctr" wrap="square"/>
          <a:lstStyle/>
          <a:p>
            <a:pPr algn="ctr"/>
          </a:p>
        </p:txBody>
      </p:sp>
      <p:sp>
        <p:nvSpPr>
          <p:cNvPr id="9" name="Rectangle 8"/>
          <p:cNvSpPr/>
          <p:nvPr/>
        </p:nvSpPr>
        <p:spPr>
          <a:xfrm>
            <a:off x="1143000" y="3429000"/>
            <a:ext cx="3714750" cy="47625"/>
          </a:xfrm>
          <a:prstGeom prst="rect">
            <a:avLst/>
          </a:prstGeom>
          <a:solidFill>
            <a:srgbClr val="0046C8"/>
          </a:solidFill>
          <a:ln>
            <a:noFill/>
          </a:ln>
          <a:effectLst/>
        </p:spPr>
        <p:txBody>
          <a:bodyPr rtlCol="0" anchor="ctr" wrap="square"/>
          <a:lstStyle/>
          <a:p>
            <a:pPr algn="ctr"/>
          </a:p>
        </p:txBody>
      </p:sp>
      <p:sp>
        <p:nvSpPr>
          <p:cNvPr id="10" name="deckgen:ornament"/>
          <p:cNvSpPr txBox="1"/>
          <p:nvPr/>
        </p:nvSpPr>
        <p:spPr>
          <a:xfrm>
            <a:off x="4000500" y="3638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01</a:t>
            </a:r>
          </a:p>
        </p:txBody>
      </p:sp>
      <p:sp>
        <p:nvSpPr>
          <p:cNvPr id="11" name="TextBox 10"/>
          <p:cNvSpPr txBox="1"/>
          <p:nvPr/>
        </p:nvSpPr>
        <p:spPr>
          <a:xfrm>
            <a:off x="1466850" y="3752850"/>
            <a:ext cx="3067050" cy="1828800"/>
          </a:xfrm>
          <a:prstGeom prst="rect">
            <a:avLst/>
          </a:prstGeom>
          <a:noFill/>
        </p:spPr>
        <p:txBody>
          <a:bodyPr wrap="square" lIns="0" rIns="0" tIns="0" bIns="0" anchor="ctr">
            <a:spAutoFit/>
          </a:bodyPr>
          <a:lstStyle/>
          <a:p>
            <a:pPr>
              <a:lnSpc>
                <a:spcPct val="115000"/>
              </a:lnSpc>
            </a:pPr>
            <a:r>
              <a:rPr sz="2700" b="1">
                <a:solidFill>
                  <a:srgbClr val="1A2A5E"/>
                </a:solidFill>
                <a:latin typeface="Pretendard"/>
                <a:ea typeface="Pretendard"/>
                <a:cs typeface="Pretendard"/>
              </a:rPr>
              <a:t>선택</a:t>
            </a:r>
          </a:p>
          <a:p>
            <a:pPr>
              <a:lnSpc>
                <a:spcPct val="146000"/>
              </a:lnSpc>
              <a:spcBef>
                <a:spcPts val="1050"/>
              </a:spcBef>
            </a:pPr>
            <a:r>
              <a:rPr sz="2025" b="0">
                <a:solidFill>
                  <a:srgbClr val="3D3D3D"/>
                </a:solidFill>
                <a:latin typeface="Pretendard"/>
                <a:ea typeface="Pretendard"/>
                <a:cs typeface="Pretendard"/>
              </a:rPr>
              <a:t>Selection</a:t>
            </a:r>
          </a:p>
          <a:p>
            <a:pPr>
              <a:lnSpc>
                <a:spcPct val="146000"/>
              </a:lnSpc>
            </a:pPr>
            <a:r>
              <a:rPr sz="2025" b="0">
                <a:solidFill>
                  <a:srgbClr val="3D3D3D"/>
                </a:solidFill>
                <a:latin typeface="Pretendard"/>
                <a:ea typeface="Pretendard"/>
                <a:cs typeface="Pretendard"/>
              </a:rPr>
              <a:t>조건에 맞는 행 고르기</a:t>
            </a:r>
          </a:p>
          <a:p>
            <a:pPr>
              <a:lnSpc>
                <a:spcPct val="146000"/>
              </a:lnSpc>
            </a:pPr>
            <a:r>
              <a:rPr sz="2025" b="0">
                <a:solidFill>
                  <a:srgbClr val="3D3D3D"/>
                </a:solidFill>
                <a:latin typeface="Pretendard"/>
                <a:ea typeface="Pretendard"/>
                <a:cs typeface="Pretendard"/>
              </a:rPr>
              <a:t>→ WHERE</a:t>
            </a:r>
          </a:p>
        </p:txBody>
      </p:sp>
      <p:sp>
        <p:nvSpPr>
          <p:cNvPr id="12" name="Rounded Rectangle 11"/>
          <p:cNvSpPr/>
          <p:nvPr/>
        </p:nvSpPr>
        <p:spPr>
          <a:xfrm>
            <a:off x="5238750" y="3429000"/>
            <a:ext cx="3714750" cy="2476500"/>
          </a:xfrm>
          <a:prstGeom prst="roundRect">
            <a:avLst>
              <a:gd name="adj" fmla="val 1923"/>
            </a:avLst>
          </a:prstGeom>
          <a:solidFill>
            <a:srgbClr val="FAFBFD"/>
          </a:solidFill>
          <a:ln w="9525">
            <a:solidFill>
              <a:srgbClr val="DCE1E8"/>
            </a:solidFill>
          </a:ln>
          <a:effectLst/>
        </p:spPr>
        <p:txBody>
          <a:bodyPr rtlCol="0" anchor="ctr" wrap="square"/>
          <a:lstStyle/>
          <a:p>
            <a:pPr algn="ctr"/>
          </a:p>
        </p:txBody>
      </p:sp>
      <p:sp>
        <p:nvSpPr>
          <p:cNvPr id="13" name="Rectangle 12"/>
          <p:cNvSpPr/>
          <p:nvPr/>
        </p:nvSpPr>
        <p:spPr>
          <a:xfrm>
            <a:off x="5238750" y="3429000"/>
            <a:ext cx="3714750" cy="47625"/>
          </a:xfrm>
          <a:prstGeom prst="rect">
            <a:avLst/>
          </a:prstGeom>
          <a:solidFill>
            <a:srgbClr val="0046C8"/>
          </a:solidFill>
          <a:ln>
            <a:noFill/>
          </a:ln>
          <a:effectLst/>
        </p:spPr>
        <p:txBody>
          <a:bodyPr rtlCol="0" anchor="ctr" wrap="square"/>
          <a:lstStyle/>
          <a:p>
            <a:pPr algn="ctr"/>
          </a:p>
        </p:txBody>
      </p:sp>
      <p:sp>
        <p:nvSpPr>
          <p:cNvPr id="14" name="deckgen:ornament"/>
          <p:cNvSpPr txBox="1"/>
          <p:nvPr/>
        </p:nvSpPr>
        <p:spPr>
          <a:xfrm>
            <a:off x="8096250" y="3638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02</a:t>
            </a:r>
          </a:p>
        </p:txBody>
      </p:sp>
      <p:sp>
        <p:nvSpPr>
          <p:cNvPr id="15" name="TextBox 14"/>
          <p:cNvSpPr txBox="1"/>
          <p:nvPr/>
        </p:nvSpPr>
        <p:spPr>
          <a:xfrm>
            <a:off x="5562600" y="3752850"/>
            <a:ext cx="3067050" cy="1828800"/>
          </a:xfrm>
          <a:prstGeom prst="rect">
            <a:avLst/>
          </a:prstGeom>
          <a:noFill/>
        </p:spPr>
        <p:txBody>
          <a:bodyPr wrap="square" lIns="0" rIns="0" tIns="0" bIns="0" anchor="ctr">
            <a:spAutoFit/>
          </a:bodyPr>
          <a:lstStyle/>
          <a:p>
            <a:pPr>
              <a:lnSpc>
                <a:spcPct val="115000"/>
              </a:lnSpc>
            </a:pPr>
            <a:r>
              <a:rPr sz="2700" b="1">
                <a:solidFill>
                  <a:srgbClr val="1A2A5E"/>
                </a:solidFill>
                <a:latin typeface="Pretendard"/>
                <a:ea typeface="Pretendard"/>
                <a:cs typeface="Pretendard"/>
              </a:rPr>
              <a:t>투영</a:t>
            </a:r>
          </a:p>
          <a:p>
            <a:pPr>
              <a:lnSpc>
                <a:spcPct val="146000"/>
              </a:lnSpc>
              <a:spcBef>
                <a:spcPts val="1050"/>
              </a:spcBef>
            </a:pPr>
            <a:r>
              <a:rPr sz="2025" b="0">
                <a:solidFill>
                  <a:srgbClr val="3D3D3D"/>
                </a:solidFill>
                <a:latin typeface="Pretendard"/>
                <a:ea typeface="Pretendard"/>
                <a:cs typeface="Pretendard"/>
              </a:rPr>
              <a:t>Projection</a:t>
            </a:r>
          </a:p>
          <a:p>
            <a:pPr>
              <a:lnSpc>
                <a:spcPct val="146000"/>
              </a:lnSpc>
            </a:pPr>
            <a:r>
              <a:rPr sz="2025" b="0">
                <a:solidFill>
                  <a:srgbClr val="3D3D3D"/>
                </a:solidFill>
                <a:latin typeface="Pretendard"/>
                <a:ea typeface="Pretendard"/>
                <a:cs typeface="Pretendard"/>
              </a:rPr>
              <a:t>필요한 열 고르기</a:t>
            </a:r>
          </a:p>
          <a:p>
            <a:pPr>
              <a:lnSpc>
                <a:spcPct val="146000"/>
              </a:lnSpc>
            </a:pPr>
            <a:r>
              <a:rPr sz="2025" b="0">
                <a:solidFill>
                  <a:srgbClr val="3D3D3D"/>
                </a:solidFill>
                <a:latin typeface="Pretendard"/>
                <a:ea typeface="Pretendard"/>
                <a:cs typeface="Pretendard"/>
              </a:rPr>
              <a:t>→ SELECT 열 목록</a:t>
            </a:r>
          </a:p>
        </p:txBody>
      </p:sp>
      <p:sp>
        <p:nvSpPr>
          <p:cNvPr id="16" name="Rounded Rectangle 15"/>
          <p:cNvSpPr/>
          <p:nvPr/>
        </p:nvSpPr>
        <p:spPr>
          <a:xfrm>
            <a:off x="9334500" y="3429000"/>
            <a:ext cx="3714750" cy="2476500"/>
          </a:xfrm>
          <a:prstGeom prst="roundRect">
            <a:avLst>
              <a:gd name="adj" fmla="val 1923"/>
            </a:avLst>
          </a:prstGeom>
          <a:solidFill>
            <a:srgbClr val="FAFBFD"/>
          </a:solidFill>
          <a:ln w="9525">
            <a:solidFill>
              <a:srgbClr val="DCE1E8"/>
            </a:solidFill>
          </a:ln>
          <a:effectLst/>
        </p:spPr>
        <p:txBody>
          <a:bodyPr rtlCol="0" anchor="ctr" wrap="square"/>
          <a:lstStyle/>
          <a:p>
            <a:pPr algn="ctr"/>
          </a:p>
        </p:txBody>
      </p:sp>
      <p:sp>
        <p:nvSpPr>
          <p:cNvPr id="17" name="Rectangle 16"/>
          <p:cNvSpPr/>
          <p:nvPr/>
        </p:nvSpPr>
        <p:spPr>
          <a:xfrm>
            <a:off x="9334500" y="3429000"/>
            <a:ext cx="3714750" cy="47625"/>
          </a:xfrm>
          <a:prstGeom prst="rect">
            <a:avLst/>
          </a:prstGeom>
          <a:solidFill>
            <a:srgbClr val="0046C8"/>
          </a:solidFill>
          <a:ln>
            <a:noFill/>
          </a:ln>
          <a:effectLst/>
        </p:spPr>
        <p:txBody>
          <a:bodyPr rtlCol="0" anchor="ctr" wrap="square"/>
          <a:lstStyle/>
          <a:p>
            <a:pPr algn="ctr"/>
          </a:p>
        </p:txBody>
      </p:sp>
      <p:sp>
        <p:nvSpPr>
          <p:cNvPr id="18" name="deckgen:ornament"/>
          <p:cNvSpPr txBox="1"/>
          <p:nvPr/>
        </p:nvSpPr>
        <p:spPr>
          <a:xfrm>
            <a:off x="12192000" y="3638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03</a:t>
            </a:r>
          </a:p>
        </p:txBody>
      </p:sp>
      <p:sp>
        <p:nvSpPr>
          <p:cNvPr id="19" name="TextBox 18"/>
          <p:cNvSpPr txBox="1"/>
          <p:nvPr/>
        </p:nvSpPr>
        <p:spPr>
          <a:xfrm>
            <a:off x="9658350" y="3752850"/>
            <a:ext cx="3067050" cy="1828800"/>
          </a:xfrm>
          <a:prstGeom prst="rect">
            <a:avLst/>
          </a:prstGeom>
          <a:noFill/>
        </p:spPr>
        <p:txBody>
          <a:bodyPr wrap="square" lIns="0" rIns="0" tIns="0" bIns="0" anchor="ctr">
            <a:spAutoFit/>
          </a:bodyPr>
          <a:lstStyle/>
          <a:p>
            <a:pPr>
              <a:lnSpc>
                <a:spcPct val="115000"/>
              </a:lnSpc>
            </a:pPr>
            <a:r>
              <a:rPr sz="2700" b="1">
                <a:solidFill>
                  <a:srgbClr val="1A2A5E"/>
                </a:solidFill>
                <a:latin typeface="Pretendard"/>
                <a:ea typeface="Pretendard"/>
                <a:cs typeface="Pretendard"/>
              </a:rPr>
              <a:t>조인</a:t>
            </a:r>
          </a:p>
          <a:p>
            <a:pPr>
              <a:lnSpc>
                <a:spcPct val="146000"/>
              </a:lnSpc>
              <a:spcBef>
                <a:spcPts val="1050"/>
              </a:spcBef>
            </a:pPr>
            <a:r>
              <a:rPr sz="2025" b="0">
                <a:solidFill>
                  <a:srgbClr val="3D3D3D"/>
                </a:solidFill>
                <a:latin typeface="Pretendard"/>
                <a:ea typeface="Pretendard"/>
                <a:cs typeface="Pretendard"/>
              </a:rPr>
              <a:t>Join</a:t>
            </a:r>
          </a:p>
          <a:p>
            <a:pPr>
              <a:lnSpc>
                <a:spcPct val="146000"/>
              </a:lnSpc>
            </a:pPr>
            <a:r>
              <a:rPr sz="2025" b="0">
                <a:solidFill>
                  <a:srgbClr val="3D3D3D"/>
                </a:solidFill>
                <a:latin typeface="Pretendard"/>
                <a:ea typeface="Pretendard"/>
                <a:cs typeface="Pretendard"/>
              </a:rPr>
              <a:t>두 테이블 이어 붙이기</a:t>
            </a:r>
          </a:p>
          <a:p>
            <a:pPr>
              <a:lnSpc>
                <a:spcPct val="146000"/>
              </a:lnSpc>
            </a:pPr>
            <a:r>
              <a:rPr sz="2025" b="0">
                <a:solidFill>
                  <a:srgbClr val="3D3D3D"/>
                </a:solidFill>
                <a:latin typeface="Pretendard"/>
                <a:ea typeface="Pretendard"/>
                <a:cs typeface="Pretendard"/>
              </a:rPr>
              <a:t>→ JOIN ... ON</a:t>
            </a:r>
          </a:p>
        </p:txBody>
      </p:sp>
      <p:sp>
        <p:nvSpPr>
          <p:cNvPr id="20" name="Rounded Rectangle 19"/>
          <p:cNvSpPr/>
          <p:nvPr/>
        </p:nvSpPr>
        <p:spPr>
          <a:xfrm>
            <a:off x="13430250" y="3429000"/>
            <a:ext cx="3714750" cy="2476500"/>
          </a:xfrm>
          <a:prstGeom prst="roundRect">
            <a:avLst>
              <a:gd name="adj" fmla="val 1923"/>
            </a:avLst>
          </a:prstGeom>
          <a:solidFill>
            <a:srgbClr val="FAFBFD"/>
          </a:solidFill>
          <a:ln w="9525">
            <a:solidFill>
              <a:srgbClr val="DCE1E8"/>
            </a:solidFill>
          </a:ln>
          <a:effectLst/>
        </p:spPr>
        <p:txBody>
          <a:bodyPr rtlCol="0" anchor="ctr" wrap="square"/>
          <a:lstStyle/>
          <a:p>
            <a:pPr algn="ctr"/>
          </a:p>
        </p:txBody>
      </p:sp>
      <p:sp>
        <p:nvSpPr>
          <p:cNvPr id="21" name="Rectangle 20"/>
          <p:cNvSpPr/>
          <p:nvPr/>
        </p:nvSpPr>
        <p:spPr>
          <a:xfrm>
            <a:off x="13430250" y="3429000"/>
            <a:ext cx="3714750" cy="47625"/>
          </a:xfrm>
          <a:prstGeom prst="rect">
            <a:avLst/>
          </a:prstGeom>
          <a:solidFill>
            <a:srgbClr val="0046C8"/>
          </a:solidFill>
          <a:ln>
            <a:noFill/>
          </a:ln>
          <a:effectLst/>
        </p:spPr>
        <p:txBody>
          <a:bodyPr rtlCol="0" anchor="ctr" wrap="square"/>
          <a:lstStyle/>
          <a:p>
            <a:pPr algn="ctr"/>
          </a:p>
        </p:txBody>
      </p:sp>
      <p:sp>
        <p:nvSpPr>
          <p:cNvPr id="22" name="deckgen:ornament"/>
          <p:cNvSpPr txBox="1"/>
          <p:nvPr/>
        </p:nvSpPr>
        <p:spPr>
          <a:xfrm>
            <a:off x="16287750" y="3638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04</a:t>
            </a:r>
          </a:p>
        </p:txBody>
      </p:sp>
      <p:sp>
        <p:nvSpPr>
          <p:cNvPr id="23" name="TextBox 22"/>
          <p:cNvSpPr txBox="1"/>
          <p:nvPr/>
        </p:nvSpPr>
        <p:spPr>
          <a:xfrm>
            <a:off x="13754100" y="3752850"/>
            <a:ext cx="3067050" cy="1828800"/>
          </a:xfrm>
          <a:prstGeom prst="rect">
            <a:avLst/>
          </a:prstGeom>
          <a:noFill/>
        </p:spPr>
        <p:txBody>
          <a:bodyPr wrap="square" lIns="0" rIns="0" tIns="0" bIns="0" anchor="ctr">
            <a:spAutoFit/>
          </a:bodyPr>
          <a:lstStyle/>
          <a:p>
            <a:pPr>
              <a:lnSpc>
                <a:spcPct val="115000"/>
              </a:lnSpc>
            </a:pPr>
            <a:r>
              <a:rPr sz="2700" b="1">
                <a:solidFill>
                  <a:srgbClr val="1A2A5E"/>
                </a:solidFill>
                <a:latin typeface="Pretendard"/>
                <a:ea typeface="Pretendard"/>
                <a:cs typeface="Pretendard"/>
              </a:rPr>
              <a:t>집합 연산</a:t>
            </a:r>
          </a:p>
          <a:p>
            <a:pPr>
              <a:lnSpc>
                <a:spcPct val="146000"/>
              </a:lnSpc>
              <a:spcBef>
                <a:spcPts val="1050"/>
              </a:spcBef>
            </a:pPr>
            <a:r>
              <a:rPr sz="2025" b="0">
                <a:solidFill>
                  <a:srgbClr val="3D3D3D"/>
                </a:solidFill>
                <a:latin typeface="Pretendard"/>
                <a:ea typeface="Pretendard"/>
                <a:cs typeface="Pretendard"/>
              </a:rPr>
              <a:t>결과끼리</a:t>
            </a:r>
          </a:p>
          <a:p>
            <a:pPr>
              <a:lnSpc>
                <a:spcPct val="146000"/>
              </a:lnSpc>
            </a:pPr>
            <a:r>
              <a:rPr sz="2025" b="0">
                <a:solidFill>
                  <a:srgbClr val="3D3D3D"/>
                </a:solidFill>
                <a:latin typeface="Pretendard"/>
                <a:ea typeface="Pretendard"/>
                <a:cs typeface="Pretendard"/>
              </a:rPr>
              <a:t>합치고 빼기</a:t>
            </a:r>
          </a:p>
          <a:p>
            <a:pPr>
              <a:lnSpc>
                <a:spcPct val="146000"/>
              </a:lnSpc>
            </a:pPr>
            <a:r>
              <a:rPr sz="2025" b="0">
                <a:solidFill>
                  <a:srgbClr val="3D3D3D"/>
                </a:solidFill>
                <a:latin typeface="Pretendard"/>
                <a:ea typeface="Pretendard"/>
                <a:cs typeface="Pretendard"/>
              </a:rPr>
              <a:t>→ UNION 등</a:t>
            </a:r>
          </a:p>
        </p:txBody>
      </p:sp>
      <p:sp>
        <p:nvSpPr>
          <p:cNvPr id="24" name="Rectangle 23"/>
          <p:cNvSpPr/>
          <p:nvPr/>
        </p:nvSpPr>
        <p:spPr>
          <a:xfrm>
            <a:off x="1143000" y="6496050"/>
            <a:ext cx="47625" cy="723900"/>
          </a:xfrm>
          <a:prstGeom prst="rect">
            <a:avLst/>
          </a:prstGeom>
          <a:solidFill>
            <a:srgbClr val="0046C8"/>
          </a:solidFill>
          <a:ln>
            <a:noFill/>
          </a:ln>
          <a:effectLst/>
        </p:spPr>
        <p:txBody>
          <a:bodyPr rtlCol="0" anchor="ctr" wrap="square"/>
          <a:lstStyle/>
          <a:p>
            <a:pPr algn="ctr"/>
          </a:p>
        </p:txBody>
      </p:sp>
      <p:sp>
        <p:nvSpPr>
          <p:cNvPr id="25" name="TextBox 24"/>
          <p:cNvSpPr txBox="1"/>
          <p:nvPr/>
        </p:nvSpPr>
        <p:spPr>
          <a:xfrm>
            <a:off x="1390650" y="6553200"/>
            <a:ext cx="15754350" cy="762000"/>
          </a:xfrm>
          <a:prstGeom prst="rect">
            <a:avLst/>
          </a:prstGeom>
          <a:noFill/>
        </p:spPr>
        <p:txBody>
          <a:bodyPr wrap="square" lIns="0" rIns="0" tIns="0" bIns="0" anchor="t">
            <a:spAutoFit/>
          </a:bodyPr>
          <a:lstStyle/>
          <a:p>
            <a:pPr algn="l">
              <a:lnSpc>
                <a:spcPct val="150000"/>
              </a:lnSpc>
            </a:pPr>
            <a:r>
              <a:rPr sz="2025" b="1">
                <a:solidFill>
                  <a:srgbClr val="7D7D7D"/>
                </a:solidFill>
                <a:latin typeface="Pretendard"/>
                <a:ea typeface="Pretendard"/>
                <a:cs typeface="Pretendard"/>
              </a:rPr>
              <a:t>SQL 문법은 관계 대수(Relational Algebra)에서 나왔다 — 결과가 또 표이므로 연산을 몇 번이고 이어 쓸 수 있다</a:t>
            </a:r>
          </a:p>
        </p:txBody>
      </p:sp>
      <p:sp>
        <p:nvSpPr>
          <p:cNvPr id="26" name="Rectangle 25"/>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27" name="TextBox 26"/>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28" name="TextBox 27"/>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2. 관계 연산</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선택 — 행을 고른다 (WHERE)</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2343150"/>
            <a:ext cx="16002000" cy="5143500"/>
          </a:xfrm>
          <a:prstGeom prst="roundRect">
            <a:avLst>
              <a:gd name="adj" fmla="val 1851"/>
            </a:avLst>
          </a:prstGeom>
          <a:solidFill>
            <a:srgbClr val="1E2433"/>
          </a:solidFill>
          <a:ln>
            <a:noFill/>
          </a:ln>
          <a:effectLst/>
        </p:spPr>
        <p:txBody>
          <a:bodyPr rtlCol="0" anchor="ctr" wrap="square"/>
          <a:lstStyle/>
          <a:p>
            <a:pPr algn="ctr"/>
          </a:p>
        </p:txBody>
      </p:sp>
      <p:sp>
        <p:nvSpPr>
          <p:cNvPr id="9" name="Rectangle 8"/>
          <p:cNvSpPr/>
          <p:nvPr/>
        </p:nvSpPr>
        <p:spPr>
          <a:xfrm>
            <a:off x="1143000" y="2343150"/>
            <a:ext cx="685800" cy="5143500"/>
          </a:xfrm>
          <a:prstGeom prst="rect">
            <a:avLst/>
          </a:prstGeom>
          <a:solidFill>
            <a:srgbClr val="171C29"/>
          </a:solidFill>
          <a:ln>
            <a:noFill/>
          </a:ln>
          <a:effectLst/>
        </p:spPr>
        <p:txBody>
          <a:bodyPr rtlCol="0" anchor="ctr" wrap="square"/>
          <a:lstStyle/>
          <a:p>
            <a:pPr algn="ctr"/>
          </a:p>
        </p:txBody>
      </p:sp>
      <p:sp>
        <p:nvSpPr>
          <p:cNvPr id="10" name="deckgen:code-lineno"/>
          <p:cNvSpPr txBox="1"/>
          <p:nvPr/>
        </p:nvSpPr>
        <p:spPr>
          <a:xfrm>
            <a:off x="1143000" y="2552700"/>
            <a:ext cx="552450" cy="4724400"/>
          </a:xfrm>
          <a:prstGeom prst="rect">
            <a:avLst/>
          </a:prstGeom>
          <a:noFill/>
        </p:spPr>
        <p:txBody>
          <a:bodyPr wrap="none" lIns="0" rIns="0" tIns="0" bIns="0" anchor="t">
            <a:spAutoFit/>
          </a:bodyPr>
          <a:lstStyle/>
          <a:p>
            <a:pPr algn="r">
              <a:lnSpc>
                <a:spcPct val="115000"/>
              </a:lnSpc>
            </a:pPr>
            <a:r>
              <a:rPr sz="2250" b="0">
                <a:solidFill>
                  <a:srgbClr val="7A869C"/>
                </a:solidFill>
                <a:latin typeface="나눔고딕코딩"/>
                <a:ea typeface="나눔고딕코딩"/>
                <a:cs typeface="나눔고딕코딩"/>
              </a:rPr>
              <a:t>1</a:t>
            </a:r>
          </a:p>
          <a:p>
            <a:pPr algn="r">
              <a:lnSpc>
                <a:spcPct val="115000"/>
              </a:lnSpc>
            </a:pPr>
            <a:r>
              <a:rPr sz="2250" b="0">
                <a:solidFill>
                  <a:srgbClr val="7A869C"/>
                </a:solidFill>
                <a:latin typeface="나눔고딕코딩"/>
                <a:ea typeface="나눔고딕코딩"/>
                <a:cs typeface="나눔고딕코딩"/>
              </a:rPr>
              <a:t>2</a:t>
            </a:r>
          </a:p>
          <a:p>
            <a:pPr algn="r">
              <a:lnSpc>
                <a:spcPct val="115000"/>
              </a:lnSpc>
            </a:pPr>
            <a:r>
              <a:rPr sz="2250" b="0">
                <a:solidFill>
                  <a:srgbClr val="7A869C"/>
                </a:solidFill>
                <a:latin typeface="나눔고딕코딩"/>
                <a:ea typeface="나눔고딕코딩"/>
                <a:cs typeface="나눔고딕코딩"/>
              </a:rPr>
              <a:t>3</a:t>
            </a:r>
          </a:p>
          <a:p>
            <a:pPr algn="r">
              <a:lnSpc>
                <a:spcPct val="115000"/>
              </a:lnSpc>
            </a:pPr>
            <a:r>
              <a:rPr sz="2250" b="0">
                <a:solidFill>
                  <a:srgbClr val="7A869C"/>
                </a:solidFill>
                <a:latin typeface="나눔고딕코딩"/>
                <a:ea typeface="나눔고딕코딩"/>
                <a:cs typeface="나눔고딕코딩"/>
              </a:rPr>
              <a:t>4</a:t>
            </a:r>
          </a:p>
          <a:p>
            <a:pPr algn="r">
              <a:lnSpc>
                <a:spcPct val="115000"/>
              </a:lnSpc>
            </a:pPr>
            <a:r>
              <a:rPr sz="2250" b="0">
                <a:solidFill>
                  <a:srgbClr val="7A869C"/>
                </a:solidFill>
                <a:latin typeface="나눔고딕코딩"/>
                <a:ea typeface="나눔고딕코딩"/>
                <a:cs typeface="나눔고딕코딩"/>
              </a:rPr>
              <a:t>5</a:t>
            </a:r>
          </a:p>
        </p:txBody>
      </p:sp>
      <p:sp>
        <p:nvSpPr>
          <p:cNvPr id="11" name="deckgen:code"/>
          <p:cNvSpPr txBox="1"/>
          <p:nvPr/>
        </p:nvSpPr>
        <p:spPr>
          <a:xfrm>
            <a:off x="2038350" y="2552700"/>
            <a:ext cx="14897100" cy="4724400"/>
          </a:xfrm>
          <a:prstGeom prst="rect">
            <a:avLst/>
          </a:prstGeom>
          <a:noFill/>
        </p:spPr>
        <p:txBody>
          <a:bodyPr wrap="none" lIns="0" rIns="0" tIns="0" bIns="0" anchor="t">
            <a:spAutoFit/>
          </a:bodyPr>
          <a:lstStyle/>
          <a:p>
            <a:pPr algn="l">
              <a:lnSpc>
                <a:spcPct val="115000"/>
              </a:lnSpc>
            </a:pPr>
            <a:r>
              <a:rPr sz="2250" b="0">
                <a:solidFill>
                  <a:srgbClr val="E6EAF2"/>
                </a:solidFill>
                <a:latin typeface="나눔고딕코딩"/>
                <a:ea typeface="나눔고딕코딩"/>
                <a:cs typeface="나눔고딕코딩"/>
              </a:rPr>
              <a:t>SELECT *</a:t>
            </a:r>
          </a:p>
          <a:p>
            <a:pPr algn="l">
              <a:lnSpc>
                <a:spcPct val="115000"/>
              </a:lnSpc>
            </a:pPr>
            <a:r>
              <a:rPr sz="2250" b="0">
                <a:solidFill>
                  <a:srgbClr val="E6EAF2"/>
                </a:solidFill>
                <a:latin typeface="나눔고딕코딩"/>
                <a:ea typeface="나눔고딕코딩"/>
                <a:cs typeface="나눔고딕코딩"/>
              </a:rPr>
              <a:t>FROM   customers</a:t>
            </a:r>
          </a:p>
          <a:p>
            <a:pPr algn="l">
              <a:lnSpc>
                <a:spcPct val="115000"/>
              </a:lnSpc>
            </a:pPr>
            <a:r>
              <a:rPr sz="2250" b="0">
                <a:solidFill>
                  <a:srgbClr val="E6EAF2"/>
                </a:solidFill>
                <a:latin typeface="나눔고딕코딩"/>
                <a:ea typeface="나눔고딕코딩"/>
                <a:cs typeface="나눔고딕코딩"/>
              </a:rPr>
              <a:t>WHERE  grade = 'VIP';</a:t>
            </a:r>
          </a:p>
          <a:p>
            <a:pPr algn="l">
              <a:lnSpc>
                <a:spcPct val="115000"/>
              </a:lnSpc>
            </a:pPr>
            <a:r>
              <a:rPr sz="2250" b="0">
                <a:solidFill>
                  <a:srgbClr val="E6EAF2"/>
                </a:solidFill>
                <a:latin typeface="나눔고딕코딩"/>
                <a:ea typeface="나눔고딕코딩"/>
                <a:cs typeface="나눔고딕코딩"/>
              </a:rPr>
              <a:t>-- 고객 10명(행 10개) 중 조건에 맞는 한가람·임수빈 2행만 남는다.</a:t>
            </a:r>
          </a:p>
          <a:p>
            <a:pPr algn="l">
              <a:lnSpc>
                <a:spcPct val="115000"/>
              </a:lnSpc>
            </a:pPr>
            <a:r>
              <a:rPr sz="2250" b="0">
                <a:solidFill>
                  <a:srgbClr val="E6EAF2"/>
                </a:solidFill>
                <a:latin typeface="나눔고딕코딩"/>
                <a:ea typeface="나눔고딕코딩"/>
                <a:cs typeface="나눔고딕코딩"/>
              </a:rPr>
              <a:t>-- 열은 7개 그대로 → 가로로 자른 것</a:t>
            </a:r>
          </a:p>
        </p:txBody>
      </p:sp>
      <p:sp>
        <p:nvSpPr>
          <p:cNvPr id="12" name="Rectangle 11"/>
          <p:cNvSpPr/>
          <p:nvPr/>
        </p:nvSpPr>
        <p:spPr>
          <a:xfrm>
            <a:off x="1143000" y="7600950"/>
            <a:ext cx="38100" cy="323850"/>
          </a:xfrm>
          <a:prstGeom prst="rect">
            <a:avLst/>
          </a:prstGeom>
          <a:solidFill>
            <a:srgbClr val="BFD3F5"/>
          </a:solidFill>
          <a:ln>
            <a:noFill/>
          </a:ln>
          <a:effectLst/>
        </p:spPr>
        <p:txBody>
          <a:bodyPr rtlCol="0" anchor="ctr" wrap="square"/>
          <a:lstStyle/>
          <a:p>
            <a:pPr algn="ctr"/>
          </a:p>
        </p:txBody>
      </p:sp>
      <p:sp>
        <p:nvSpPr>
          <p:cNvPr id="13" name="TextBox 12"/>
          <p:cNvSpPr txBox="1"/>
          <p:nvPr/>
        </p:nvSpPr>
        <p:spPr>
          <a:xfrm>
            <a:off x="1314450" y="7600950"/>
            <a:ext cx="15830550" cy="342900"/>
          </a:xfrm>
          <a:prstGeom prst="rect">
            <a:avLst/>
          </a:prstGeom>
          <a:noFill/>
        </p:spPr>
        <p:txBody>
          <a:bodyPr wrap="square" lIns="0" rIns="0" tIns="0" bIns="0" anchor="t">
            <a:spAutoFit/>
          </a:bodyPr>
          <a:lstStyle/>
          <a:p>
            <a:pPr algn="l">
              <a:lnSpc>
                <a:spcPct val="100000"/>
              </a:lnSpc>
            </a:pPr>
            <a:r>
              <a:rPr sz="1725" b="1">
                <a:solidFill>
                  <a:srgbClr val="7D7D7D"/>
                </a:solidFill>
                <a:latin typeface="Pretendard"/>
                <a:ea typeface="Pretendard"/>
                <a:cs typeface="Pretendard"/>
              </a:rPr>
              <a:t>선택(Selection) = 테이블을 가로로 잘라 조건에 맞는 행만 남긴다</a:t>
            </a:r>
          </a:p>
        </p:txBody>
      </p:sp>
      <p:sp>
        <p:nvSpPr>
          <p:cNvPr id="14" name="Rectangle 13"/>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15" name="TextBox 14"/>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16" name="TextBox 15"/>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2. 관계 연산</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투영 — 열을 고른다 (SELECT 열 목록)</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2343150"/>
            <a:ext cx="16002000" cy="5143500"/>
          </a:xfrm>
          <a:prstGeom prst="roundRect">
            <a:avLst>
              <a:gd name="adj" fmla="val 1851"/>
            </a:avLst>
          </a:prstGeom>
          <a:solidFill>
            <a:srgbClr val="1E2433"/>
          </a:solidFill>
          <a:ln>
            <a:noFill/>
          </a:ln>
          <a:effectLst/>
        </p:spPr>
        <p:txBody>
          <a:bodyPr rtlCol="0" anchor="ctr" wrap="square"/>
          <a:lstStyle/>
          <a:p>
            <a:pPr algn="ctr"/>
          </a:p>
        </p:txBody>
      </p:sp>
      <p:sp>
        <p:nvSpPr>
          <p:cNvPr id="9" name="Rectangle 8"/>
          <p:cNvSpPr/>
          <p:nvPr/>
        </p:nvSpPr>
        <p:spPr>
          <a:xfrm>
            <a:off x="1143000" y="2343150"/>
            <a:ext cx="685800" cy="5143500"/>
          </a:xfrm>
          <a:prstGeom prst="rect">
            <a:avLst/>
          </a:prstGeom>
          <a:solidFill>
            <a:srgbClr val="171C29"/>
          </a:solidFill>
          <a:ln>
            <a:noFill/>
          </a:ln>
          <a:effectLst/>
        </p:spPr>
        <p:txBody>
          <a:bodyPr rtlCol="0" anchor="ctr" wrap="square"/>
          <a:lstStyle/>
          <a:p>
            <a:pPr algn="ctr"/>
          </a:p>
        </p:txBody>
      </p:sp>
      <p:sp>
        <p:nvSpPr>
          <p:cNvPr id="10" name="deckgen:code-lineno"/>
          <p:cNvSpPr txBox="1"/>
          <p:nvPr/>
        </p:nvSpPr>
        <p:spPr>
          <a:xfrm>
            <a:off x="1143000" y="2552700"/>
            <a:ext cx="552450" cy="4724400"/>
          </a:xfrm>
          <a:prstGeom prst="rect">
            <a:avLst/>
          </a:prstGeom>
          <a:noFill/>
        </p:spPr>
        <p:txBody>
          <a:bodyPr wrap="none" lIns="0" rIns="0" tIns="0" bIns="0" anchor="t">
            <a:spAutoFit/>
          </a:bodyPr>
          <a:lstStyle/>
          <a:p>
            <a:pPr algn="r">
              <a:lnSpc>
                <a:spcPct val="115000"/>
              </a:lnSpc>
            </a:pPr>
            <a:r>
              <a:rPr sz="2250" b="0">
                <a:solidFill>
                  <a:srgbClr val="7A869C"/>
                </a:solidFill>
                <a:latin typeface="나눔고딕코딩"/>
                <a:ea typeface="나눔고딕코딩"/>
                <a:cs typeface="나눔고딕코딩"/>
              </a:rPr>
              <a:t>1</a:t>
            </a:r>
          </a:p>
          <a:p>
            <a:pPr algn="r">
              <a:lnSpc>
                <a:spcPct val="115000"/>
              </a:lnSpc>
            </a:pPr>
            <a:r>
              <a:rPr sz="2250" b="0">
                <a:solidFill>
                  <a:srgbClr val="7A869C"/>
                </a:solidFill>
                <a:latin typeface="나눔고딕코딩"/>
                <a:ea typeface="나눔고딕코딩"/>
                <a:cs typeface="나눔고딕코딩"/>
              </a:rPr>
              <a:t>2</a:t>
            </a:r>
          </a:p>
          <a:p>
            <a:pPr algn="r">
              <a:lnSpc>
                <a:spcPct val="115000"/>
              </a:lnSpc>
            </a:pPr>
            <a:r>
              <a:rPr sz="2250" b="0">
                <a:solidFill>
                  <a:srgbClr val="7A869C"/>
                </a:solidFill>
                <a:latin typeface="나눔고딕코딩"/>
                <a:ea typeface="나눔고딕코딩"/>
                <a:cs typeface="나눔고딕코딩"/>
              </a:rPr>
              <a:t>3</a:t>
            </a:r>
          </a:p>
          <a:p>
            <a:pPr algn="r">
              <a:lnSpc>
                <a:spcPct val="115000"/>
              </a:lnSpc>
            </a:pPr>
            <a:r>
              <a:rPr sz="2250" b="0">
                <a:solidFill>
                  <a:srgbClr val="7A869C"/>
                </a:solidFill>
                <a:latin typeface="나눔고딕코딩"/>
                <a:ea typeface="나눔고딕코딩"/>
                <a:cs typeface="나눔고딕코딩"/>
              </a:rPr>
              <a:t>4</a:t>
            </a:r>
          </a:p>
          <a:p>
            <a:pPr algn="r">
              <a:lnSpc>
                <a:spcPct val="115000"/>
              </a:lnSpc>
            </a:pPr>
            <a:r>
              <a:rPr sz="2250" b="0">
                <a:solidFill>
                  <a:srgbClr val="7A869C"/>
                </a:solidFill>
                <a:latin typeface="나눔고딕코딩"/>
                <a:ea typeface="나눔고딕코딩"/>
                <a:cs typeface="나눔고딕코딩"/>
              </a:rPr>
              <a:t>5</a:t>
            </a:r>
          </a:p>
          <a:p>
            <a:pPr algn="r">
              <a:lnSpc>
                <a:spcPct val="115000"/>
              </a:lnSpc>
            </a:pPr>
            <a:r>
              <a:rPr sz="2250" b="0">
                <a:solidFill>
                  <a:srgbClr val="7A869C"/>
                </a:solidFill>
                <a:latin typeface="나눔고딕코딩"/>
                <a:ea typeface="나눔고딕코딩"/>
                <a:cs typeface="나눔고딕코딩"/>
              </a:rPr>
              <a:t>6</a:t>
            </a:r>
          </a:p>
          <a:p>
            <a:pPr algn="r">
              <a:lnSpc>
                <a:spcPct val="115000"/>
              </a:lnSpc>
            </a:pPr>
            <a:r>
              <a:rPr sz="2250" b="0">
                <a:solidFill>
                  <a:srgbClr val="7A869C"/>
                </a:solidFill>
                <a:latin typeface="나눔고딕코딩"/>
                <a:ea typeface="나눔고딕코딩"/>
                <a:cs typeface="나눔고딕코딩"/>
              </a:rPr>
              <a:t>7</a:t>
            </a:r>
          </a:p>
          <a:p>
            <a:pPr algn="r">
              <a:lnSpc>
                <a:spcPct val="115000"/>
              </a:lnSpc>
            </a:pPr>
            <a:r>
              <a:rPr sz="2250" b="0">
                <a:solidFill>
                  <a:srgbClr val="7A869C"/>
                </a:solidFill>
                <a:latin typeface="나눔고딕코딩"/>
                <a:ea typeface="나눔고딕코딩"/>
                <a:cs typeface="나눔고딕코딩"/>
              </a:rPr>
              <a:t>8</a:t>
            </a:r>
          </a:p>
          <a:p>
            <a:pPr algn="r">
              <a:lnSpc>
                <a:spcPct val="115000"/>
              </a:lnSpc>
            </a:pPr>
            <a:r>
              <a:rPr sz="2250" b="0">
                <a:solidFill>
                  <a:srgbClr val="7A869C"/>
                </a:solidFill>
                <a:latin typeface="나눔고딕코딩"/>
                <a:ea typeface="나눔고딕코딩"/>
                <a:cs typeface="나눔고딕코딩"/>
              </a:rPr>
              <a:t>9</a:t>
            </a:r>
          </a:p>
        </p:txBody>
      </p:sp>
      <p:sp>
        <p:nvSpPr>
          <p:cNvPr id="11" name="deckgen:code"/>
          <p:cNvSpPr txBox="1"/>
          <p:nvPr/>
        </p:nvSpPr>
        <p:spPr>
          <a:xfrm>
            <a:off x="2038350" y="2552700"/>
            <a:ext cx="14897100" cy="4724400"/>
          </a:xfrm>
          <a:prstGeom prst="rect">
            <a:avLst/>
          </a:prstGeom>
          <a:noFill/>
        </p:spPr>
        <p:txBody>
          <a:bodyPr wrap="none" lIns="0" rIns="0" tIns="0" bIns="0" anchor="t">
            <a:spAutoFit/>
          </a:bodyPr>
          <a:lstStyle/>
          <a:p>
            <a:pPr algn="l">
              <a:lnSpc>
                <a:spcPct val="115000"/>
              </a:lnSpc>
            </a:pPr>
            <a:r>
              <a:rPr sz="2250" b="0">
                <a:solidFill>
                  <a:srgbClr val="E6EAF2"/>
                </a:solidFill>
                <a:latin typeface="나눔고딕코딩"/>
                <a:ea typeface="나눔고딕코딩"/>
                <a:cs typeface="나눔고딕코딩"/>
              </a:rPr>
              <a:t>SELECT name, grade</a:t>
            </a:r>
          </a:p>
          <a:p>
            <a:pPr algn="l">
              <a:lnSpc>
                <a:spcPct val="115000"/>
              </a:lnSpc>
            </a:pPr>
            <a:r>
              <a:rPr sz="2250" b="0">
                <a:solidFill>
                  <a:srgbClr val="E6EAF2"/>
                </a:solidFill>
                <a:latin typeface="나눔고딕코딩"/>
                <a:ea typeface="나눔고딕코딩"/>
                <a:cs typeface="나눔고딕코딩"/>
              </a:rPr>
              <a:t>FROM   customers;</a:t>
            </a:r>
          </a:p>
          <a:p>
            <a:pPr algn="l">
              <a:lnSpc>
                <a:spcPct val="115000"/>
              </a:lnSpc>
            </a:pPr>
            <a:r>
              <a:rPr sz="2250" b="0">
                <a:solidFill>
                  <a:srgbClr val="E6EAF2"/>
                </a:solidFill>
                <a:latin typeface="나눔고딕코딩"/>
                <a:ea typeface="나눔고딕코딩"/>
                <a:cs typeface="나눔고딕코딩"/>
              </a:rPr>
              <a:t>-- 열 7개 중 name·grade 2개만 남는다.</a:t>
            </a:r>
          </a:p>
          <a:p>
            <a:pPr algn="l">
              <a:lnSpc>
                <a:spcPct val="115000"/>
              </a:lnSpc>
            </a:pPr>
            <a:r>
              <a:rPr sz="2250" b="0">
                <a:solidFill>
                  <a:srgbClr val="E6EAF2"/>
                </a:solidFill>
                <a:latin typeface="나눔고딕코딩"/>
                <a:ea typeface="나눔고딕코딩"/>
                <a:cs typeface="나눔고딕코딩"/>
              </a:rPr>
              <a:t>-- 행은 10개 그대로 → 세로로 자른 것</a:t>
            </a:r>
          </a:p>
          <a:p>
            <a:pPr algn="l">
              <a:lnSpc>
                <a:spcPct val="115000"/>
              </a:lnSpc>
            </a:pPr>
            <a:r>
              <a:rPr sz="2250" b="0">
                <a:solidFill>
                  <a:srgbClr val="E6EAF2"/>
                </a:solidFill>
                <a:latin typeface="나눔고딕코딩"/>
                <a:ea typeface="나눔고딕코딩"/>
                <a:cs typeface="나눔고딕코딩"/>
              </a:rPr>
              <a:t/>
            </a:r>
          </a:p>
          <a:p>
            <a:pPr algn="l">
              <a:lnSpc>
                <a:spcPct val="115000"/>
              </a:lnSpc>
            </a:pPr>
            <a:r>
              <a:rPr sz="2250" b="0">
                <a:solidFill>
                  <a:srgbClr val="E6EAF2"/>
                </a:solidFill>
                <a:latin typeface="나눔고딕코딩"/>
                <a:ea typeface="나눔고딕코딩"/>
                <a:cs typeface="나눔고딕코딩"/>
              </a:rPr>
              <a:t>-- 실무 쿼리는 대부분 선택 + 투영의 조합이다</a:t>
            </a:r>
          </a:p>
          <a:p>
            <a:pPr algn="l">
              <a:lnSpc>
                <a:spcPct val="115000"/>
              </a:lnSpc>
            </a:pPr>
            <a:r>
              <a:rPr sz="2250" b="0">
                <a:solidFill>
                  <a:srgbClr val="E6EAF2"/>
                </a:solidFill>
                <a:latin typeface="나눔고딕코딩"/>
                <a:ea typeface="나눔고딕코딩"/>
                <a:cs typeface="나눔고딕코딩"/>
              </a:rPr>
              <a:t>SELECT name, points          -- 투영: 열 2개만</a:t>
            </a:r>
          </a:p>
          <a:p>
            <a:pPr algn="l">
              <a:lnSpc>
                <a:spcPct val="115000"/>
              </a:lnSpc>
            </a:pPr>
            <a:r>
              <a:rPr sz="2250" b="0">
                <a:solidFill>
                  <a:srgbClr val="E6EAF2"/>
                </a:solidFill>
                <a:latin typeface="나눔고딕코딩"/>
                <a:ea typeface="나눔고딕코딩"/>
                <a:cs typeface="나눔고딕코딩"/>
              </a:rPr>
              <a:t>FROM   customers</a:t>
            </a:r>
          </a:p>
          <a:p>
            <a:pPr algn="l">
              <a:lnSpc>
                <a:spcPct val="115000"/>
              </a:lnSpc>
            </a:pPr>
            <a:r>
              <a:rPr sz="2250" b="0">
                <a:solidFill>
                  <a:srgbClr val="E6EAF2"/>
                </a:solidFill>
                <a:latin typeface="나눔고딕코딩"/>
                <a:ea typeface="나눔고딕코딩"/>
                <a:cs typeface="나눔고딕코딩"/>
              </a:rPr>
              <a:t>WHERE  grade = 'VIP';        -- 선택: VIP 행만</a:t>
            </a:r>
          </a:p>
        </p:txBody>
      </p:sp>
      <p:sp>
        <p:nvSpPr>
          <p:cNvPr id="12" name="Rectangle 11"/>
          <p:cNvSpPr/>
          <p:nvPr/>
        </p:nvSpPr>
        <p:spPr>
          <a:xfrm>
            <a:off x="1143000" y="7600950"/>
            <a:ext cx="38100" cy="323850"/>
          </a:xfrm>
          <a:prstGeom prst="rect">
            <a:avLst/>
          </a:prstGeom>
          <a:solidFill>
            <a:srgbClr val="BFD3F5"/>
          </a:solidFill>
          <a:ln>
            <a:noFill/>
          </a:ln>
          <a:effectLst/>
        </p:spPr>
        <p:txBody>
          <a:bodyPr rtlCol="0" anchor="ctr" wrap="square"/>
          <a:lstStyle/>
          <a:p>
            <a:pPr algn="ctr"/>
          </a:p>
        </p:txBody>
      </p:sp>
      <p:sp>
        <p:nvSpPr>
          <p:cNvPr id="13" name="TextBox 12"/>
          <p:cNvSpPr txBox="1"/>
          <p:nvPr/>
        </p:nvSpPr>
        <p:spPr>
          <a:xfrm>
            <a:off x="1314450" y="7600950"/>
            <a:ext cx="15830550" cy="342900"/>
          </a:xfrm>
          <a:prstGeom prst="rect">
            <a:avLst/>
          </a:prstGeom>
          <a:noFill/>
        </p:spPr>
        <p:txBody>
          <a:bodyPr wrap="square" lIns="0" rIns="0" tIns="0" bIns="0" anchor="t">
            <a:spAutoFit/>
          </a:bodyPr>
          <a:lstStyle/>
          <a:p>
            <a:pPr algn="l">
              <a:lnSpc>
                <a:spcPct val="100000"/>
              </a:lnSpc>
            </a:pPr>
            <a:r>
              <a:rPr sz="1725" b="1">
                <a:solidFill>
                  <a:srgbClr val="7D7D7D"/>
                </a:solidFill>
                <a:latin typeface="Pretendard"/>
                <a:ea typeface="Pretendard"/>
                <a:cs typeface="Pretendard"/>
              </a:rPr>
              <a:t>투영(Projection) = 테이블을 세로로 잘라 필요한 열만 남긴다</a:t>
            </a:r>
          </a:p>
        </p:txBody>
      </p:sp>
      <p:sp>
        <p:nvSpPr>
          <p:cNvPr id="14" name="Rectangle 13"/>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15" name="TextBox 14"/>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16" name="TextBox 15"/>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2. 관계 연산</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조인 — 테이블을 잇는다 (JOIN ... ON)</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2343150"/>
            <a:ext cx="16002000" cy="5143500"/>
          </a:xfrm>
          <a:prstGeom prst="roundRect">
            <a:avLst>
              <a:gd name="adj" fmla="val 1851"/>
            </a:avLst>
          </a:prstGeom>
          <a:solidFill>
            <a:srgbClr val="1E2433"/>
          </a:solidFill>
          <a:ln>
            <a:noFill/>
          </a:ln>
          <a:effectLst/>
        </p:spPr>
        <p:txBody>
          <a:bodyPr rtlCol="0" anchor="ctr" wrap="square"/>
          <a:lstStyle/>
          <a:p>
            <a:pPr algn="ctr"/>
          </a:p>
        </p:txBody>
      </p:sp>
      <p:sp>
        <p:nvSpPr>
          <p:cNvPr id="9" name="Rectangle 8"/>
          <p:cNvSpPr/>
          <p:nvPr/>
        </p:nvSpPr>
        <p:spPr>
          <a:xfrm>
            <a:off x="1143000" y="2343150"/>
            <a:ext cx="685800" cy="5143500"/>
          </a:xfrm>
          <a:prstGeom prst="rect">
            <a:avLst/>
          </a:prstGeom>
          <a:solidFill>
            <a:srgbClr val="171C29"/>
          </a:solidFill>
          <a:ln>
            <a:noFill/>
          </a:ln>
          <a:effectLst/>
        </p:spPr>
        <p:txBody>
          <a:bodyPr rtlCol="0" anchor="ctr" wrap="square"/>
          <a:lstStyle/>
          <a:p>
            <a:pPr algn="ctr"/>
          </a:p>
        </p:txBody>
      </p:sp>
      <p:sp>
        <p:nvSpPr>
          <p:cNvPr id="10" name="deckgen:code-lineno"/>
          <p:cNvSpPr txBox="1"/>
          <p:nvPr/>
        </p:nvSpPr>
        <p:spPr>
          <a:xfrm>
            <a:off x="1143000" y="2552700"/>
            <a:ext cx="552450" cy="4724400"/>
          </a:xfrm>
          <a:prstGeom prst="rect">
            <a:avLst/>
          </a:prstGeom>
          <a:noFill/>
        </p:spPr>
        <p:txBody>
          <a:bodyPr wrap="none" lIns="0" rIns="0" tIns="0" bIns="0" anchor="t">
            <a:spAutoFit/>
          </a:bodyPr>
          <a:lstStyle/>
          <a:p>
            <a:pPr algn="r">
              <a:lnSpc>
                <a:spcPct val="115000"/>
              </a:lnSpc>
            </a:pPr>
            <a:r>
              <a:rPr sz="2250" b="0">
                <a:solidFill>
                  <a:srgbClr val="7A869C"/>
                </a:solidFill>
                <a:latin typeface="나눔고딕코딩"/>
                <a:ea typeface="나눔고딕코딩"/>
                <a:cs typeface="나눔고딕코딩"/>
              </a:rPr>
              <a:t>1</a:t>
            </a:r>
          </a:p>
          <a:p>
            <a:pPr algn="r">
              <a:lnSpc>
                <a:spcPct val="115000"/>
              </a:lnSpc>
            </a:pPr>
            <a:r>
              <a:rPr sz="2250" b="0">
                <a:solidFill>
                  <a:srgbClr val="7A869C"/>
                </a:solidFill>
                <a:latin typeface="나눔고딕코딩"/>
                <a:ea typeface="나눔고딕코딩"/>
                <a:cs typeface="나눔고딕코딩"/>
              </a:rPr>
              <a:t>2</a:t>
            </a:r>
          </a:p>
          <a:p>
            <a:pPr algn="r">
              <a:lnSpc>
                <a:spcPct val="115000"/>
              </a:lnSpc>
            </a:pPr>
            <a:r>
              <a:rPr sz="2250" b="0">
                <a:solidFill>
                  <a:srgbClr val="7A869C"/>
                </a:solidFill>
                <a:latin typeface="나눔고딕코딩"/>
                <a:ea typeface="나눔고딕코딩"/>
                <a:cs typeface="나눔고딕코딩"/>
              </a:rPr>
              <a:t>3</a:t>
            </a:r>
          </a:p>
          <a:p>
            <a:pPr algn="r">
              <a:lnSpc>
                <a:spcPct val="115000"/>
              </a:lnSpc>
            </a:pPr>
            <a:r>
              <a:rPr sz="2250" b="0">
                <a:solidFill>
                  <a:srgbClr val="7A869C"/>
                </a:solidFill>
                <a:latin typeface="나눔고딕코딩"/>
                <a:ea typeface="나눔고딕코딩"/>
                <a:cs typeface="나눔고딕코딩"/>
              </a:rPr>
              <a:t>4</a:t>
            </a:r>
          </a:p>
          <a:p>
            <a:pPr algn="r">
              <a:lnSpc>
                <a:spcPct val="115000"/>
              </a:lnSpc>
            </a:pPr>
            <a:r>
              <a:rPr sz="2250" b="0">
                <a:solidFill>
                  <a:srgbClr val="7A869C"/>
                </a:solidFill>
                <a:latin typeface="나눔고딕코딩"/>
                <a:ea typeface="나눔고딕코딩"/>
                <a:cs typeface="나눔고딕코딩"/>
              </a:rPr>
              <a:t>5</a:t>
            </a:r>
          </a:p>
        </p:txBody>
      </p:sp>
      <p:sp>
        <p:nvSpPr>
          <p:cNvPr id="11" name="deckgen:code"/>
          <p:cNvSpPr txBox="1"/>
          <p:nvPr/>
        </p:nvSpPr>
        <p:spPr>
          <a:xfrm>
            <a:off x="2038350" y="2552700"/>
            <a:ext cx="14897100" cy="4724400"/>
          </a:xfrm>
          <a:prstGeom prst="rect">
            <a:avLst/>
          </a:prstGeom>
          <a:noFill/>
        </p:spPr>
        <p:txBody>
          <a:bodyPr wrap="none" lIns="0" rIns="0" tIns="0" bIns="0" anchor="t">
            <a:spAutoFit/>
          </a:bodyPr>
          <a:lstStyle/>
          <a:p>
            <a:pPr algn="l">
              <a:lnSpc>
                <a:spcPct val="115000"/>
              </a:lnSpc>
            </a:pPr>
            <a:r>
              <a:rPr sz="2250" b="0">
                <a:solidFill>
                  <a:srgbClr val="E6EAF2"/>
                </a:solidFill>
                <a:latin typeface="나눔고딕코딩"/>
                <a:ea typeface="나눔고딕코딩"/>
                <a:cs typeface="나눔고딕코딩"/>
              </a:rPr>
              <a:t>SELECT o.order_id, c.name, o.order_date</a:t>
            </a:r>
          </a:p>
          <a:p>
            <a:pPr algn="l">
              <a:lnSpc>
                <a:spcPct val="115000"/>
              </a:lnSpc>
            </a:pPr>
            <a:r>
              <a:rPr sz="2250" b="0">
                <a:solidFill>
                  <a:srgbClr val="E6EAF2"/>
                </a:solidFill>
                <a:latin typeface="나눔고딕코딩"/>
                <a:ea typeface="나눔고딕코딩"/>
                <a:cs typeface="나눔고딕코딩"/>
              </a:rPr>
              <a:t>FROM   orders o</a:t>
            </a:r>
          </a:p>
          <a:p>
            <a:pPr algn="l">
              <a:lnSpc>
                <a:spcPct val="115000"/>
              </a:lnSpc>
            </a:pPr>
            <a:r>
              <a:rPr sz="2250" b="0">
                <a:solidFill>
                  <a:srgbClr val="E6EAF2"/>
                </a:solidFill>
                <a:latin typeface="나눔고딕코딩"/>
                <a:ea typeface="나눔고딕코딩"/>
                <a:cs typeface="나눔고딕코딩"/>
              </a:rPr>
              <a:t>JOIN   customers c ON o.cust_id = c.cust_id;</a:t>
            </a:r>
          </a:p>
          <a:p>
            <a:pPr algn="l">
              <a:lnSpc>
                <a:spcPct val="115000"/>
              </a:lnSpc>
            </a:pPr>
            <a:r>
              <a:rPr sz="2250" b="0">
                <a:solidFill>
                  <a:srgbClr val="E6EAF2"/>
                </a:solidFill>
                <a:latin typeface="나눔고딕코딩"/>
                <a:ea typeface="나눔고딕코딩"/>
                <a:cs typeface="나눔고딕코딩"/>
              </a:rPr>
              <a:t>-- 주문 1001(C001) 행에 고객 한가람 행이 이어 붙어</a:t>
            </a:r>
          </a:p>
          <a:p>
            <a:pPr algn="l">
              <a:lnSpc>
                <a:spcPct val="115000"/>
              </a:lnSpc>
            </a:pPr>
            <a:r>
              <a:rPr sz="2250" b="0">
                <a:solidFill>
                  <a:srgbClr val="E6EAF2"/>
                </a:solidFill>
                <a:latin typeface="나눔고딕코딩"/>
                <a:ea typeface="나눔고딕코딩"/>
                <a:cs typeface="나눔고딕코딩"/>
              </a:rPr>
              <a:t>-- "1001 | 한가람 | 2026-01-10" 처럼 읽히는 결과가 된다.</a:t>
            </a:r>
          </a:p>
        </p:txBody>
      </p:sp>
      <p:sp>
        <p:nvSpPr>
          <p:cNvPr id="12" name="Rectangle 11"/>
          <p:cNvSpPr/>
          <p:nvPr/>
        </p:nvSpPr>
        <p:spPr>
          <a:xfrm>
            <a:off x="1143000" y="7600950"/>
            <a:ext cx="38100" cy="323850"/>
          </a:xfrm>
          <a:prstGeom prst="rect">
            <a:avLst/>
          </a:prstGeom>
          <a:solidFill>
            <a:srgbClr val="BFD3F5"/>
          </a:solidFill>
          <a:ln>
            <a:noFill/>
          </a:ln>
          <a:effectLst/>
        </p:spPr>
        <p:txBody>
          <a:bodyPr rtlCol="0" anchor="ctr" wrap="square"/>
          <a:lstStyle/>
          <a:p>
            <a:pPr algn="ctr"/>
          </a:p>
        </p:txBody>
      </p:sp>
      <p:sp>
        <p:nvSpPr>
          <p:cNvPr id="13" name="TextBox 12"/>
          <p:cNvSpPr txBox="1"/>
          <p:nvPr/>
        </p:nvSpPr>
        <p:spPr>
          <a:xfrm>
            <a:off x="1314450" y="7600950"/>
            <a:ext cx="15830550" cy="342900"/>
          </a:xfrm>
          <a:prstGeom prst="rect">
            <a:avLst/>
          </a:prstGeom>
          <a:noFill/>
        </p:spPr>
        <p:txBody>
          <a:bodyPr wrap="square" lIns="0" rIns="0" tIns="0" bIns="0" anchor="t">
            <a:spAutoFit/>
          </a:bodyPr>
          <a:lstStyle/>
          <a:p>
            <a:pPr algn="l">
              <a:lnSpc>
                <a:spcPct val="100000"/>
              </a:lnSpc>
            </a:pPr>
            <a:r>
              <a:rPr sz="1725" b="1">
                <a:solidFill>
                  <a:srgbClr val="7D7D7D"/>
                </a:solidFill>
                <a:latin typeface="Pretendard"/>
                <a:ea typeface="Pretendard"/>
                <a:cs typeface="Pretendard"/>
              </a:rPr>
              <a:t>주문 테이블에는 고객번호만 있다 — 「누가 주문했는가」를 읽으려면 공통 값(기본키–외래키)으로 잇는다</a:t>
            </a:r>
          </a:p>
        </p:txBody>
      </p:sp>
      <p:sp>
        <p:nvSpPr>
          <p:cNvPr id="14" name="Rectangle 13"/>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15" name="TextBox 14"/>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16" name="TextBox 15"/>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2. 관계 연산</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관계 연산과 SQL 문법의 대응</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ectangle 7"/>
          <p:cNvSpPr/>
          <p:nvPr/>
        </p:nvSpPr>
        <p:spPr>
          <a:xfrm>
            <a:off x="1143000" y="2781300"/>
            <a:ext cx="2042160" cy="590550"/>
          </a:xfrm>
          <a:prstGeom prst="rect">
            <a:avLst/>
          </a:prstGeom>
          <a:solidFill>
            <a:srgbClr val="1A2A5E"/>
          </a:solidFill>
          <a:ln>
            <a:noFill/>
          </a:ln>
          <a:effectLst/>
        </p:spPr>
        <p:txBody>
          <a:bodyPr rtlCol="0" anchor="ctr" wrap="square"/>
          <a:lstStyle/>
          <a:p>
            <a:pPr algn="ctr"/>
          </a:p>
        </p:txBody>
      </p:sp>
      <p:sp>
        <p:nvSpPr>
          <p:cNvPr id="9" name="TextBox 8"/>
          <p:cNvSpPr txBox="1"/>
          <p:nvPr/>
        </p:nvSpPr>
        <p:spPr>
          <a:xfrm>
            <a:off x="1143000" y="2781300"/>
            <a:ext cx="204216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관계 연산</a:t>
            </a:r>
          </a:p>
        </p:txBody>
      </p:sp>
      <p:sp>
        <p:nvSpPr>
          <p:cNvPr id="10" name="Rectangle 9"/>
          <p:cNvSpPr/>
          <p:nvPr/>
        </p:nvSpPr>
        <p:spPr>
          <a:xfrm>
            <a:off x="3223260" y="2781300"/>
            <a:ext cx="5082540" cy="590550"/>
          </a:xfrm>
          <a:prstGeom prst="rect">
            <a:avLst/>
          </a:prstGeom>
          <a:solidFill>
            <a:srgbClr val="0046C8"/>
          </a:solidFill>
          <a:ln>
            <a:noFill/>
          </a:ln>
          <a:effectLst/>
        </p:spPr>
        <p:txBody>
          <a:bodyPr rtlCol="0" anchor="ctr" wrap="square"/>
          <a:lstStyle/>
          <a:p>
            <a:pPr algn="ctr"/>
          </a:p>
        </p:txBody>
      </p:sp>
      <p:sp>
        <p:nvSpPr>
          <p:cNvPr id="11" name="TextBox 10"/>
          <p:cNvSpPr txBox="1"/>
          <p:nvPr/>
        </p:nvSpPr>
        <p:spPr>
          <a:xfrm>
            <a:off x="3223260" y="2781300"/>
            <a:ext cx="508254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하는 일</a:t>
            </a:r>
          </a:p>
        </p:txBody>
      </p:sp>
      <p:sp>
        <p:nvSpPr>
          <p:cNvPr id="12" name="Rectangle 11"/>
          <p:cNvSpPr/>
          <p:nvPr/>
        </p:nvSpPr>
        <p:spPr>
          <a:xfrm>
            <a:off x="8343900" y="2781300"/>
            <a:ext cx="3642360" cy="590550"/>
          </a:xfrm>
          <a:prstGeom prst="rect">
            <a:avLst/>
          </a:prstGeom>
          <a:solidFill>
            <a:srgbClr val="0046C8"/>
          </a:solidFill>
          <a:ln>
            <a:noFill/>
          </a:ln>
          <a:effectLst/>
        </p:spPr>
        <p:txBody>
          <a:bodyPr rtlCol="0" anchor="ctr" wrap="square"/>
          <a:lstStyle/>
          <a:p>
            <a:pPr algn="ctr"/>
          </a:p>
        </p:txBody>
      </p:sp>
      <p:sp>
        <p:nvSpPr>
          <p:cNvPr id="13" name="TextBox 12"/>
          <p:cNvSpPr txBox="1"/>
          <p:nvPr/>
        </p:nvSpPr>
        <p:spPr>
          <a:xfrm>
            <a:off x="8343900" y="2781300"/>
            <a:ext cx="364236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대응하는 SQL 문법</a:t>
            </a:r>
          </a:p>
        </p:txBody>
      </p:sp>
      <p:sp>
        <p:nvSpPr>
          <p:cNvPr id="14" name="Rectangle 13"/>
          <p:cNvSpPr/>
          <p:nvPr/>
        </p:nvSpPr>
        <p:spPr>
          <a:xfrm>
            <a:off x="12024360" y="2781300"/>
            <a:ext cx="5120640" cy="590550"/>
          </a:xfrm>
          <a:prstGeom prst="rect">
            <a:avLst/>
          </a:prstGeom>
          <a:solidFill>
            <a:srgbClr val="0046C8"/>
          </a:solidFill>
          <a:ln>
            <a:noFill/>
          </a:ln>
          <a:effectLst/>
        </p:spPr>
        <p:txBody>
          <a:bodyPr rtlCol="0" anchor="ctr" wrap="square"/>
          <a:lstStyle/>
          <a:p>
            <a:pPr algn="ctr"/>
          </a:p>
        </p:txBody>
      </p:sp>
      <p:sp>
        <p:nvSpPr>
          <p:cNvPr id="15" name="TextBox 14"/>
          <p:cNvSpPr txBox="1"/>
          <p:nvPr/>
        </p:nvSpPr>
        <p:spPr>
          <a:xfrm>
            <a:off x="12024360" y="2781300"/>
            <a:ext cx="512064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다온유통 예</a:t>
            </a:r>
          </a:p>
        </p:txBody>
      </p:sp>
      <p:sp>
        <p:nvSpPr>
          <p:cNvPr id="16" name="Rounded Rectangle 15"/>
          <p:cNvSpPr/>
          <p:nvPr/>
        </p:nvSpPr>
        <p:spPr>
          <a:xfrm>
            <a:off x="1143000" y="3448050"/>
            <a:ext cx="2042160" cy="519793"/>
          </a:xfrm>
          <a:prstGeom prst="roundRect">
            <a:avLst>
              <a:gd name="adj" fmla="val 7329"/>
            </a:avLst>
          </a:prstGeom>
          <a:solidFill>
            <a:srgbClr val="EDF3FD"/>
          </a:solidFill>
          <a:ln w="9525">
            <a:solidFill>
              <a:srgbClr val="BFD3F5"/>
            </a:solidFill>
          </a:ln>
          <a:effectLst/>
        </p:spPr>
        <p:txBody>
          <a:bodyPr rtlCol="0" anchor="ctr" wrap="square"/>
          <a:lstStyle/>
          <a:p>
            <a:pPr algn="ctr"/>
          </a:p>
        </p:txBody>
      </p:sp>
      <p:sp>
        <p:nvSpPr>
          <p:cNvPr id="17" name="TextBox 16"/>
          <p:cNvSpPr txBox="1"/>
          <p:nvPr/>
        </p:nvSpPr>
        <p:spPr>
          <a:xfrm>
            <a:off x="1238250" y="3448050"/>
            <a:ext cx="1851660" cy="519793"/>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선택</a:t>
            </a:r>
          </a:p>
        </p:txBody>
      </p:sp>
      <p:sp>
        <p:nvSpPr>
          <p:cNvPr id="18" name="Rounded Rectangle 17"/>
          <p:cNvSpPr/>
          <p:nvPr/>
        </p:nvSpPr>
        <p:spPr>
          <a:xfrm>
            <a:off x="3223260" y="3448050"/>
            <a:ext cx="50825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19" name="TextBox 18"/>
          <p:cNvSpPr txBox="1"/>
          <p:nvPr/>
        </p:nvSpPr>
        <p:spPr>
          <a:xfrm>
            <a:off x="3318510" y="3448050"/>
            <a:ext cx="48920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조건에 맞는 행을 고른다 (가로 자르기)</a:t>
            </a:r>
          </a:p>
        </p:txBody>
      </p:sp>
      <p:sp>
        <p:nvSpPr>
          <p:cNvPr id="20" name="Rounded Rectangle 19"/>
          <p:cNvSpPr/>
          <p:nvPr/>
        </p:nvSpPr>
        <p:spPr>
          <a:xfrm>
            <a:off x="8343900" y="3448050"/>
            <a:ext cx="364236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21" name="TextBox 20"/>
          <p:cNvSpPr txBox="1"/>
          <p:nvPr/>
        </p:nvSpPr>
        <p:spPr>
          <a:xfrm>
            <a:off x="8439150" y="3448050"/>
            <a:ext cx="345186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WHERE</a:t>
            </a:r>
          </a:p>
        </p:txBody>
      </p:sp>
      <p:sp>
        <p:nvSpPr>
          <p:cNvPr id="22" name="Rounded Rectangle 21"/>
          <p:cNvSpPr/>
          <p:nvPr/>
        </p:nvSpPr>
        <p:spPr>
          <a:xfrm>
            <a:off x="12024360" y="3448050"/>
            <a:ext cx="51206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23" name="TextBox 22"/>
          <p:cNvSpPr txBox="1"/>
          <p:nvPr/>
        </p:nvSpPr>
        <p:spPr>
          <a:xfrm>
            <a:off x="12119610" y="3448050"/>
            <a:ext cx="49301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WHERE grade = 'VIP'</a:t>
            </a:r>
          </a:p>
        </p:txBody>
      </p:sp>
      <p:sp>
        <p:nvSpPr>
          <p:cNvPr id="24" name="Rounded Rectangle 23"/>
          <p:cNvSpPr/>
          <p:nvPr/>
        </p:nvSpPr>
        <p:spPr>
          <a:xfrm>
            <a:off x="1143000" y="4044043"/>
            <a:ext cx="2042160" cy="519793"/>
          </a:xfrm>
          <a:prstGeom prst="roundRect">
            <a:avLst>
              <a:gd name="adj" fmla="val 7329"/>
            </a:avLst>
          </a:prstGeom>
          <a:solidFill>
            <a:srgbClr val="EDF3FD"/>
          </a:solidFill>
          <a:ln w="9525">
            <a:solidFill>
              <a:srgbClr val="BFD3F5"/>
            </a:solidFill>
          </a:ln>
          <a:effectLst/>
        </p:spPr>
        <p:txBody>
          <a:bodyPr rtlCol="0" anchor="ctr" wrap="square"/>
          <a:lstStyle/>
          <a:p>
            <a:pPr algn="ctr"/>
          </a:p>
        </p:txBody>
      </p:sp>
      <p:sp>
        <p:nvSpPr>
          <p:cNvPr id="25" name="TextBox 24"/>
          <p:cNvSpPr txBox="1"/>
          <p:nvPr/>
        </p:nvSpPr>
        <p:spPr>
          <a:xfrm>
            <a:off x="1238250" y="4044043"/>
            <a:ext cx="1851660" cy="519793"/>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투영</a:t>
            </a:r>
          </a:p>
        </p:txBody>
      </p:sp>
      <p:sp>
        <p:nvSpPr>
          <p:cNvPr id="26" name="Rounded Rectangle 25"/>
          <p:cNvSpPr/>
          <p:nvPr/>
        </p:nvSpPr>
        <p:spPr>
          <a:xfrm>
            <a:off x="3223260" y="4044043"/>
            <a:ext cx="50825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27" name="TextBox 26"/>
          <p:cNvSpPr txBox="1"/>
          <p:nvPr/>
        </p:nvSpPr>
        <p:spPr>
          <a:xfrm>
            <a:off x="3318510" y="4044043"/>
            <a:ext cx="48920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필요한 열만 남긴다 (세로 자르기)</a:t>
            </a:r>
          </a:p>
        </p:txBody>
      </p:sp>
      <p:sp>
        <p:nvSpPr>
          <p:cNvPr id="28" name="Rounded Rectangle 27"/>
          <p:cNvSpPr/>
          <p:nvPr/>
        </p:nvSpPr>
        <p:spPr>
          <a:xfrm>
            <a:off x="8343900" y="4044043"/>
            <a:ext cx="364236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29" name="TextBox 28"/>
          <p:cNvSpPr txBox="1"/>
          <p:nvPr/>
        </p:nvSpPr>
        <p:spPr>
          <a:xfrm>
            <a:off x="8439150" y="4044043"/>
            <a:ext cx="345186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SELECT 열 목록</a:t>
            </a:r>
          </a:p>
        </p:txBody>
      </p:sp>
      <p:sp>
        <p:nvSpPr>
          <p:cNvPr id="30" name="Rounded Rectangle 29"/>
          <p:cNvSpPr/>
          <p:nvPr/>
        </p:nvSpPr>
        <p:spPr>
          <a:xfrm>
            <a:off x="12024360" y="4044043"/>
            <a:ext cx="51206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31" name="TextBox 30"/>
          <p:cNvSpPr txBox="1"/>
          <p:nvPr/>
        </p:nvSpPr>
        <p:spPr>
          <a:xfrm>
            <a:off x="12119610" y="4044043"/>
            <a:ext cx="49301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SELECT name, grade</a:t>
            </a:r>
          </a:p>
        </p:txBody>
      </p:sp>
      <p:sp>
        <p:nvSpPr>
          <p:cNvPr id="32" name="Rounded Rectangle 31"/>
          <p:cNvSpPr/>
          <p:nvPr/>
        </p:nvSpPr>
        <p:spPr>
          <a:xfrm>
            <a:off x="1143000" y="4640036"/>
            <a:ext cx="2042160" cy="519793"/>
          </a:xfrm>
          <a:prstGeom prst="roundRect">
            <a:avLst>
              <a:gd name="adj" fmla="val 7329"/>
            </a:avLst>
          </a:prstGeom>
          <a:solidFill>
            <a:srgbClr val="EDF3FD"/>
          </a:solidFill>
          <a:ln w="9525">
            <a:solidFill>
              <a:srgbClr val="BFD3F5"/>
            </a:solidFill>
          </a:ln>
          <a:effectLst/>
        </p:spPr>
        <p:txBody>
          <a:bodyPr rtlCol="0" anchor="ctr" wrap="square"/>
          <a:lstStyle/>
          <a:p>
            <a:pPr algn="ctr"/>
          </a:p>
        </p:txBody>
      </p:sp>
      <p:sp>
        <p:nvSpPr>
          <p:cNvPr id="33" name="TextBox 32"/>
          <p:cNvSpPr txBox="1"/>
          <p:nvPr/>
        </p:nvSpPr>
        <p:spPr>
          <a:xfrm>
            <a:off x="1238250" y="4640036"/>
            <a:ext cx="1851660" cy="519793"/>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조인</a:t>
            </a:r>
          </a:p>
        </p:txBody>
      </p:sp>
      <p:sp>
        <p:nvSpPr>
          <p:cNvPr id="34" name="Rounded Rectangle 33"/>
          <p:cNvSpPr/>
          <p:nvPr/>
        </p:nvSpPr>
        <p:spPr>
          <a:xfrm>
            <a:off x="3223260" y="4640036"/>
            <a:ext cx="50825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35" name="TextBox 34"/>
          <p:cNvSpPr txBox="1"/>
          <p:nvPr/>
        </p:nvSpPr>
        <p:spPr>
          <a:xfrm>
            <a:off x="3318510" y="4640036"/>
            <a:ext cx="48920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공통 값으로 두 테이블을 잇는다</a:t>
            </a:r>
          </a:p>
        </p:txBody>
      </p:sp>
      <p:sp>
        <p:nvSpPr>
          <p:cNvPr id="36" name="Rounded Rectangle 35"/>
          <p:cNvSpPr/>
          <p:nvPr/>
        </p:nvSpPr>
        <p:spPr>
          <a:xfrm>
            <a:off x="8343900" y="4640036"/>
            <a:ext cx="364236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37" name="TextBox 36"/>
          <p:cNvSpPr txBox="1"/>
          <p:nvPr/>
        </p:nvSpPr>
        <p:spPr>
          <a:xfrm>
            <a:off x="8439150" y="4640036"/>
            <a:ext cx="345186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JOIN ... ON</a:t>
            </a:r>
          </a:p>
        </p:txBody>
      </p:sp>
      <p:sp>
        <p:nvSpPr>
          <p:cNvPr id="38" name="Rounded Rectangle 37"/>
          <p:cNvSpPr/>
          <p:nvPr/>
        </p:nvSpPr>
        <p:spPr>
          <a:xfrm>
            <a:off x="12024360" y="4640036"/>
            <a:ext cx="51206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39" name="TextBox 38"/>
          <p:cNvSpPr txBox="1"/>
          <p:nvPr/>
        </p:nvSpPr>
        <p:spPr>
          <a:xfrm>
            <a:off x="12119610" y="4640036"/>
            <a:ext cx="49301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orders와 customers를 cust_id로 연결</a:t>
            </a:r>
          </a:p>
        </p:txBody>
      </p:sp>
      <p:sp>
        <p:nvSpPr>
          <p:cNvPr id="40" name="Rounded Rectangle 39"/>
          <p:cNvSpPr/>
          <p:nvPr/>
        </p:nvSpPr>
        <p:spPr>
          <a:xfrm>
            <a:off x="1143000" y="5236029"/>
            <a:ext cx="2042160" cy="519793"/>
          </a:xfrm>
          <a:prstGeom prst="roundRect">
            <a:avLst>
              <a:gd name="adj" fmla="val 7329"/>
            </a:avLst>
          </a:prstGeom>
          <a:solidFill>
            <a:srgbClr val="EDF3FD"/>
          </a:solidFill>
          <a:ln w="9525">
            <a:solidFill>
              <a:srgbClr val="BFD3F5"/>
            </a:solidFill>
          </a:ln>
          <a:effectLst/>
        </p:spPr>
        <p:txBody>
          <a:bodyPr rtlCol="0" anchor="ctr" wrap="square"/>
          <a:lstStyle/>
          <a:p>
            <a:pPr algn="ctr"/>
          </a:p>
        </p:txBody>
      </p:sp>
      <p:sp>
        <p:nvSpPr>
          <p:cNvPr id="41" name="TextBox 40"/>
          <p:cNvSpPr txBox="1"/>
          <p:nvPr/>
        </p:nvSpPr>
        <p:spPr>
          <a:xfrm>
            <a:off x="1238250" y="5236029"/>
            <a:ext cx="1851660" cy="519793"/>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합집합</a:t>
            </a:r>
          </a:p>
        </p:txBody>
      </p:sp>
      <p:sp>
        <p:nvSpPr>
          <p:cNvPr id="42" name="Rounded Rectangle 41"/>
          <p:cNvSpPr/>
          <p:nvPr/>
        </p:nvSpPr>
        <p:spPr>
          <a:xfrm>
            <a:off x="3223260" y="5236029"/>
            <a:ext cx="50825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43" name="TextBox 42"/>
          <p:cNvSpPr txBox="1"/>
          <p:nvPr/>
        </p:nvSpPr>
        <p:spPr>
          <a:xfrm>
            <a:off x="3318510" y="5236029"/>
            <a:ext cx="48920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두 결과를 합친다 (중복 제거)</a:t>
            </a:r>
          </a:p>
        </p:txBody>
      </p:sp>
      <p:sp>
        <p:nvSpPr>
          <p:cNvPr id="44" name="Rounded Rectangle 43"/>
          <p:cNvSpPr/>
          <p:nvPr/>
        </p:nvSpPr>
        <p:spPr>
          <a:xfrm>
            <a:off x="8343900" y="5236029"/>
            <a:ext cx="364236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45" name="TextBox 44"/>
          <p:cNvSpPr txBox="1"/>
          <p:nvPr/>
        </p:nvSpPr>
        <p:spPr>
          <a:xfrm>
            <a:off x="8439150" y="5236029"/>
            <a:ext cx="345186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UNION</a:t>
            </a:r>
          </a:p>
        </p:txBody>
      </p:sp>
      <p:sp>
        <p:nvSpPr>
          <p:cNvPr id="46" name="Rounded Rectangle 45"/>
          <p:cNvSpPr/>
          <p:nvPr/>
        </p:nvSpPr>
        <p:spPr>
          <a:xfrm>
            <a:off x="12024360" y="5236029"/>
            <a:ext cx="51206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47" name="TextBox 46"/>
          <p:cNvSpPr txBox="1"/>
          <p:nvPr/>
        </p:nvSpPr>
        <p:spPr>
          <a:xfrm>
            <a:off x="12119610" y="5236029"/>
            <a:ext cx="49301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오프라인 주문 고객 ∪ 온라인 주문 고객</a:t>
            </a:r>
          </a:p>
        </p:txBody>
      </p:sp>
      <p:sp>
        <p:nvSpPr>
          <p:cNvPr id="48" name="Rounded Rectangle 47"/>
          <p:cNvSpPr/>
          <p:nvPr/>
        </p:nvSpPr>
        <p:spPr>
          <a:xfrm>
            <a:off x="1143000" y="5832021"/>
            <a:ext cx="2042160" cy="519793"/>
          </a:xfrm>
          <a:prstGeom prst="roundRect">
            <a:avLst>
              <a:gd name="adj" fmla="val 7329"/>
            </a:avLst>
          </a:prstGeom>
          <a:solidFill>
            <a:srgbClr val="EDF3FD"/>
          </a:solidFill>
          <a:ln w="9525">
            <a:solidFill>
              <a:srgbClr val="BFD3F5"/>
            </a:solidFill>
          </a:ln>
          <a:effectLst/>
        </p:spPr>
        <p:txBody>
          <a:bodyPr rtlCol="0" anchor="ctr" wrap="square"/>
          <a:lstStyle/>
          <a:p>
            <a:pPr algn="ctr"/>
          </a:p>
        </p:txBody>
      </p:sp>
      <p:sp>
        <p:nvSpPr>
          <p:cNvPr id="49" name="TextBox 48"/>
          <p:cNvSpPr txBox="1"/>
          <p:nvPr/>
        </p:nvSpPr>
        <p:spPr>
          <a:xfrm>
            <a:off x="1238250" y="5832021"/>
            <a:ext cx="1851660" cy="519793"/>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교집합</a:t>
            </a:r>
          </a:p>
        </p:txBody>
      </p:sp>
      <p:sp>
        <p:nvSpPr>
          <p:cNvPr id="50" name="Rounded Rectangle 49"/>
          <p:cNvSpPr/>
          <p:nvPr/>
        </p:nvSpPr>
        <p:spPr>
          <a:xfrm>
            <a:off x="3223260" y="5832021"/>
            <a:ext cx="50825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51" name="TextBox 50"/>
          <p:cNvSpPr txBox="1"/>
          <p:nvPr/>
        </p:nvSpPr>
        <p:spPr>
          <a:xfrm>
            <a:off x="3318510" y="5832021"/>
            <a:ext cx="48920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두 결과의 공통만 남긴다</a:t>
            </a:r>
          </a:p>
        </p:txBody>
      </p:sp>
      <p:sp>
        <p:nvSpPr>
          <p:cNvPr id="52" name="Rounded Rectangle 51"/>
          <p:cNvSpPr/>
          <p:nvPr/>
        </p:nvSpPr>
        <p:spPr>
          <a:xfrm>
            <a:off x="8343900" y="5832021"/>
            <a:ext cx="364236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53" name="TextBox 52"/>
          <p:cNvSpPr txBox="1"/>
          <p:nvPr/>
        </p:nvSpPr>
        <p:spPr>
          <a:xfrm>
            <a:off x="8439150" y="5832021"/>
            <a:ext cx="345186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INTERSECT (미지원 시 IN)</a:t>
            </a:r>
          </a:p>
        </p:txBody>
      </p:sp>
      <p:sp>
        <p:nvSpPr>
          <p:cNvPr id="54" name="Rounded Rectangle 53"/>
          <p:cNvSpPr/>
          <p:nvPr/>
        </p:nvSpPr>
        <p:spPr>
          <a:xfrm>
            <a:off x="12024360" y="5832021"/>
            <a:ext cx="51206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55" name="TextBox 54"/>
          <p:cNvSpPr txBox="1"/>
          <p:nvPr/>
        </p:nvSpPr>
        <p:spPr>
          <a:xfrm>
            <a:off x="12119610" y="5832021"/>
            <a:ext cx="49301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가전도 사고 식품도 산 고객</a:t>
            </a:r>
          </a:p>
        </p:txBody>
      </p:sp>
      <p:sp>
        <p:nvSpPr>
          <p:cNvPr id="56" name="Rounded Rectangle 55"/>
          <p:cNvSpPr/>
          <p:nvPr/>
        </p:nvSpPr>
        <p:spPr>
          <a:xfrm>
            <a:off x="1143000" y="6428014"/>
            <a:ext cx="2042160" cy="519793"/>
          </a:xfrm>
          <a:prstGeom prst="roundRect">
            <a:avLst>
              <a:gd name="adj" fmla="val 7329"/>
            </a:avLst>
          </a:prstGeom>
          <a:solidFill>
            <a:srgbClr val="EDF3FD"/>
          </a:solidFill>
          <a:ln w="9525">
            <a:solidFill>
              <a:srgbClr val="BFD3F5"/>
            </a:solidFill>
          </a:ln>
          <a:effectLst/>
        </p:spPr>
        <p:txBody>
          <a:bodyPr rtlCol="0" anchor="ctr" wrap="square"/>
          <a:lstStyle/>
          <a:p>
            <a:pPr algn="ctr"/>
          </a:p>
        </p:txBody>
      </p:sp>
      <p:sp>
        <p:nvSpPr>
          <p:cNvPr id="57" name="TextBox 56"/>
          <p:cNvSpPr txBox="1"/>
          <p:nvPr/>
        </p:nvSpPr>
        <p:spPr>
          <a:xfrm>
            <a:off x="1238250" y="6428014"/>
            <a:ext cx="1851660" cy="519793"/>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차집합</a:t>
            </a:r>
          </a:p>
        </p:txBody>
      </p:sp>
      <p:sp>
        <p:nvSpPr>
          <p:cNvPr id="58" name="Rounded Rectangle 57"/>
          <p:cNvSpPr/>
          <p:nvPr/>
        </p:nvSpPr>
        <p:spPr>
          <a:xfrm>
            <a:off x="3223260" y="6428014"/>
            <a:ext cx="50825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59" name="TextBox 58"/>
          <p:cNvSpPr txBox="1"/>
          <p:nvPr/>
        </p:nvSpPr>
        <p:spPr>
          <a:xfrm>
            <a:off x="3318510" y="6428014"/>
            <a:ext cx="48920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한 결과에서 다른 결과를 뺀다</a:t>
            </a:r>
          </a:p>
        </p:txBody>
      </p:sp>
      <p:sp>
        <p:nvSpPr>
          <p:cNvPr id="60" name="Rounded Rectangle 59"/>
          <p:cNvSpPr/>
          <p:nvPr/>
        </p:nvSpPr>
        <p:spPr>
          <a:xfrm>
            <a:off x="8343900" y="6428014"/>
            <a:ext cx="364236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61" name="TextBox 60"/>
          <p:cNvSpPr txBox="1"/>
          <p:nvPr/>
        </p:nvSpPr>
        <p:spPr>
          <a:xfrm>
            <a:off x="8439150" y="6428014"/>
            <a:ext cx="345186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EXCEPT (미지원 시 NOT IN)</a:t>
            </a:r>
          </a:p>
        </p:txBody>
      </p:sp>
      <p:sp>
        <p:nvSpPr>
          <p:cNvPr id="62" name="Rounded Rectangle 61"/>
          <p:cNvSpPr/>
          <p:nvPr/>
        </p:nvSpPr>
        <p:spPr>
          <a:xfrm>
            <a:off x="12024360" y="6428014"/>
            <a:ext cx="51206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63" name="TextBox 62"/>
          <p:cNvSpPr txBox="1"/>
          <p:nvPr/>
        </p:nvSpPr>
        <p:spPr>
          <a:xfrm>
            <a:off x="12119610" y="6428014"/>
            <a:ext cx="49301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전체 고객 − 주문 고객 = 미주문 고객</a:t>
            </a:r>
          </a:p>
        </p:txBody>
      </p:sp>
      <p:sp>
        <p:nvSpPr>
          <p:cNvPr id="64" name="Rounded Rectangle 63"/>
          <p:cNvSpPr/>
          <p:nvPr/>
        </p:nvSpPr>
        <p:spPr>
          <a:xfrm>
            <a:off x="1143000" y="7024007"/>
            <a:ext cx="2042160" cy="519793"/>
          </a:xfrm>
          <a:prstGeom prst="roundRect">
            <a:avLst>
              <a:gd name="adj" fmla="val 7329"/>
            </a:avLst>
          </a:prstGeom>
          <a:solidFill>
            <a:srgbClr val="EDF3FD"/>
          </a:solidFill>
          <a:ln w="9525">
            <a:solidFill>
              <a:srgbClr val="BFD3F5"/>
            </a:solidFill>
          </a:ln>
          <a:effectLst/>
        </p:spPr>
        <p:txBody>
          <a:bodyPr rtlCol="0" anchor="ctr" wrap="square"/>
          <a:lstStyle/>
          <a:p>
            <a:pPr algn="ctr"/>
          </a:p>
        </p:txBody>
      </p:sp>
      <p:sp>
        <p:nvSpPr>
          <p:cNvPr id="65" name="TextBox 64"/>
          <p:cNvSpPr txBox="1"/>
          <p:nvPr/>
        </p:nvSpPr>
        <p:spPr>
          <a:xfrm>
            <a:off x="1238250" y="7024007"/>
            <a:ext cx="1851660" cy="519793"/>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카티션 곱</a:t>
            </a:r>
          </a:p>
        </p:txBody>
      </p:sp>
      <p:sp>
        <p:nvSpPr>
          <p:cNvPr id="66" name="Rounded Rectangle 65"/>
          <p:cNvSpPr/>
          <p:nvPr/>
        </p:nvSpPr>
        <p:spPr>
          <a:xfrm>
            <a:off x="3223260" y="7024007"/>
            <a:ext cx="50825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67" name="TextBox 66"/>
          <p:cNvSpPr txBox="1"/>
          <p:nvPr/>
        </p:nvSpPr>
        <p:spPr>
          <a:xfrm>
            <a:off x="3318510" y="7024007"/>
            <a:ext cx="48920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두 테이블의 모든 행 조합을 만든다</a:t>
            </a:r>
          </a:p>
        </p:txBody>
      </p:sp>
      <p:sp>
        <p:nvSpPr>
          <p:cNvPr id="68" name="Rounded Rectangle 67"/>
          <p:cNvSpPr/>
          <p:nvPr/>
        </p:nvSpPr>
        <p:spPr>
          <a:xfrm>
            <a:off x="8343900" y="7024007"/>
            <a:ext cx="364236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69" name="TextBox 68"/>
          <p:cNvSpPr txBox="1"/>
          <p:nvPr/>
        </p:nvSpPr>
        <p:spPr>
          <a:xfrm>
            <a:off x="8439150" y="7024007"/>
            <a:ext cx="345186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CROSS JOIN</a:t>
            </a:r>
          </a:p>
        </p:txBody>
      </p:sp>
      <p:sp>
        <p:nvSpPr>
          <p:cNvPr id="70" name="Rounded Rectangle 69"/>
          <p:cNvSpPr/>
          <p:nvPr/>
        </p:nvSpPr>
        <p:spPr>
          <a:xfrm>
            <a:off x="12024360" y="7024007"/>
            <a:ext cx="5120640" cy="519793"/>
          </a:xfrm>
          <a:prstGeom prst="roundRect">
            <a:avLst>
              <a:gd name="adj" fmla="val 7329"/>
            </a:avLst>
          </a:prstGeom>
          <a:solidFill>
            <a:srgbClr val="FAFBFD"/>
          </a:solidFill>
          <a:ln w="9525">
            <a:solidFill>
              <a:srgbClr val="DCE1E8"/>
            </a:solidFill>
          </a:ln>
          <a:effectLst/>
        </p:spPr>
        <p:txBody>
          <a:bodyPr rtlCol="0" anchor="ctr" wrap="square"/>
          <a:lstStyle/>
          <a:p>
            <a:pPr algn="ctr"/>
          </a:p>
        </p:txBody>
      </p:sp>
      <p:sp>
        <p:nvSpPr>
          <p:cNvPr id="71" name="TextBox 70"/>
          <p:cNvSpPr txBox="1"/>
          <p:nvPr/>
        </p:nvSpPr>
        <p:spPr>
          <a:xfrm>
            <a:off x="12119610" y="7024007"/>
            <a:ext cx="4930140" cy="519793"/>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customers 10행 × products 10행 = 100행</a:t>
            </a:r>
          </a:p>
        </p:txBody>
      </p:sp>
      <p:sp>
        <p:nvSpPr>
          <p:cNvPr id="72" name="TextBox 71"/>
          <p:cNvSpPr txBox="1"/>
          <p:nvPr/>
        </p:nvSpPr>
        <p:spPr>
          <a:xfrm>
            <a:off x="1143000" y="7620000"/>
            <a:ext cx="16002000" cy="342900"/>
          </a:xfrm>
          <a:prstGeom prst="rect">
            <a:avLst/>
          </a:prstGeom>
          <a:noFill/>
        </p:spPr>
        <p:txBody>
          <a:bodyPr wrap="square" lIns="0" rIns="0" tIns="0" bIns="0" anchor="t">
            <a:spAutoFit/>
          </a:bodyPr>
          <a:lstStyle/>
          <a:p>
            <a:pPr algn="l">
              <a:lnSpc>
                <a:spcPct val="100000"/>
              </a:lnSpc>
            </a:pPr>
            <a:r>
              <a:rPr sz="1875" b="1">
                <a:solidFill>
                  <a:srgbClr val="7D7D7D"/>
                </a:solidFill>
                <a:latin typeface="Pretendard"/>
                <a:ea typeface="Pretendard"/>
                <a:cs typeface="Pretendard"/>
              </a:rPr>
              <a:t>집합 연산은 열의 개수와 자료형이 서로 맞는 결과끼리만 — 전체 고객에서 주문 고객을 빼면 C010 서지안이 남는다</a:t>
            </a:r>
          </a:p>
        </p:txBody>
      </p:sp>
      <p:sp>
        <p:nvSpPr>
          <p:cNvPr id="73" name="Rectangle 72"/>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74" name="TextBox 73"/>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75" name="TextBox 74"/>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2. 관계 연산</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카티션 곱은 대부분 실수의 결과다</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3429000"/>
            <a:ext cx="5080000" cy="2476500"/>
          </a:xfrm>
          <a:prstGeom prst="roundRect">
            <a:avLst>
              <a:gd name="adj" fmla="val 1923"/>
            </a:avLst>
          </a:prstGeom>
          <a:solidFill>
            <a:srgbClr val="FAFBFD"/>
          </a:solidFill>
          <a:ln w="9525">
            <a:solidFill>
              <a:srgbClr val="DCE1E8"/>
            </a:solidFill>
          </a:ln>
          <a:effectLst/>
        </p:spPr>
        <p:txBody>
          <a:bodyPr rtlCol="0" anchor="ctr" wrap="square"/>
          <a:lstStyle/>
          <a:p>
            <a:pPr algn="ctr"/>
          </a:p>
        </p:txBody>
      </p:sp>
      <p:sp>
        <p:nvSpPr>
          <p:cNvPr id="9" name="Rectangle 8"/>
          <p:cNvSpPr/>
          <p:nvPr/>
        </p:nvSpPr>
        <p:spPr>
          <a:xfrm>
            <a:off x="1143000" y="3429000"/>
            <a:ext cx="5080000" cy="47625"/>
          </a:xfrm>
          <a:prstGeom prst="rect">
            <a:avLst/>
          </a:prstGeom>
          <a:solidFill>
            <a:srgbClr val="0046C8"/>
          </a:solidFill>
          <a:ln>
            <a:noFill/>
          </a:ln>
          <a:effectLst/>
        </p:spPr>
        <p:txBody>
          <a:bodyPr rtlCol="0" anchor="ctr" wrap="square"/>
          <a:lstStyle/>
          <a:p>
            <a:pPr algn="ctr"/>
          </a:p>
        </p:txBody>
      </p:sp>
      <p:sp>
        <p:nvSpPr>
          <p:cNvPr id="10" name="deckgen:ornament"/>
          <p:cNvSpPr txBox="1"/>
          <p:nvPr/>
        </p:nvSpPr>
        <p:spPr>
          <a:xfrm>
            <a:off x="5365750" y="3638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01</a:t>
            </a:r>
          </a:p>
        </p:txBody>
      </p:sp>
      <p:sp>
        <p:nvSpPr>
          <p:cNvPr id="11" name="TextBox 10"/>
          <p:cNvSpPr txBox="1"/>
          <p:nvPr/>
        </p:nvSpPr>
        <p:spPr>
          <a:xfrm>
            <a:off x="1466850" y="3752850"/>
            <a:ext cx="4432300" cy="1828800"/>
          </a:xfrm>
          <a:prstGeom prst="rect">
            <a:avLst/>
          </a:prstGeom>
          <a:noFill/>
        </p:spPr>
        <p:txBody>
          <a:bodyPr wrap="square" lIns="0" rIns="0" tIns="0" bIns="0" anchor="ctr">
            <a:spAutoFit/>
          </a:bodyPr>
          <a:lstStyle/>
          <a:p>
            <a:pPr>
              <a:lnSpc>
                <a:spcPct val="115000"/>
              </a:lnSpc>
            </a:pPr>
            <a:r>
              <a:rPr sz="3150" b="1">
                <a:solidFill>
                  <a:srgbClr val="1A2A5E"/>
                </a:solidFill>
                <a:latin typeface="Pretendard"/>
                <a:ea typeface="Pretendard"/>
                <a:cs typeface="Pretendard"/>
              </a:rPr>
              <a:t>ON을 빠뜨리면</a:t>
            </a:r>
          </a:p>
          <a:p>
            <a:pPr>
              <a:lnSpc>
                <a:spcPct val="146000"/>
              </a:lnSpc>
              <a:spcBef>
                <a:spcPts val="1050"/>
              </a:spcBef>
            </a:pPr>
            <a:r>
              <a:rPr sz="2250" b="0">
                <a:solidFill>
                  <a:srgbClr val="3D3D3D"/>
                </a:solidFill>
                <a:latin typeface="Pretendard"/>
                <a:ea typeface="Pretendard"/>
                <a:cs typeface="Pretendard"/>
              </a:rPr>
              <a:t>고객 10명 × 주문 15건</a:t>
            </a:r>
          </a:p>
          <a:p>
            <a:pPr>
              <a:lnSpc>
                <a:spcPct val="146000"/>
              </a:lnSpc>
            </a:pPr>
            <a:r>
              <a:rPr sz="2250" b="0">
                <a:solidFill>
                  <a:srgbClr val="3D3D3D"/>
                </a:solidFill>
                <a:latin typeface="Pretendard"/>
                <a:ea typeface="Pretendard"/>
                <a:cs typeface="Pretendard"/>
              </a:rPr>
              <a:t>= 150행이 쏟아진다</a:t>
            </a:r>
          </a:p>
        </p:txBody>
      </p:sp>
      <p:sp>
        <p:nvSpPr>
          <p:cNvPr id="12" name="Rounded Rectangle 11"/>
          <p:cNvSpPr/>
          <p:nvPr/>
        </p:nvSpPr>
        <p:spPr>
          <a:xfrm>
            <a:off x="6604000" y="3429000"/>
            <a:ext cx="5080000" cy="2476500"/>
          </a:xfrm>
          <a:prstGeom prst="roundRect">
            <a:avLst>
              <a:gd name="adj" fmla="val 1923"/>
            </a:avLst>
          </a:prstGeom>
          <a:solidFill>
            <a:srgbClr val="FAFBFD"/>
          </a:solidFill>
          <a:ln w="9525">
            <a:solidFill>
              <a:srgbClr val="DCE1E8"/>
            </a:solidFill>
          </a:ln>
          <a:effectLst/>
        </p:spPr>
        <p:txBody>
          <a:bodyPr rtlCol="0" anchor="ctr" wrap="square"/>
          <a:lstStyle/>
          <a:p>
            <a:pPr algn="ctr"/>
          </a:p>
        </p:txBody>
      </p:sp>
      <p:sp>
        <p:nvSpPr>
          <p:cNvPr id="13" name="Rectangle 12"/>
          <p:cNvSpPr/>
          <p:nvPr/>
        </p:nvSpPr>
        <p:spPr>
          <a:xfrm>
            <a:off x="6604000" y="3429000"/>
            <a:ext cx="5080000" cy="47625"/>
          </a:xfrm>
          <a:prstGeom prst="rect">
            <a:avLst/>
          </a:prstGeom>
          <a:solidFill>
            <a:srgbClr val="0046C8"/>
          </a:solidFill>
          <a:ln>
            <a:noFill/>
          </a:ln>
          <a:effectLst/>
        </p:spPr>
        <p:txBody>
          <a:bodyPr rtlCol="0" anchor="ctr" wrap="square"/>
          <a:lstStyle/>
          <a:p>
            <a:pPr algn="ctr"/>
          </a:p>
        </p:txBody>
      </p:sp>
      <p:sp>
        <p:nvSpPr>
          <p:cNvPr id="14" name="deckgen:ornament"/>
          <p:cNvSpPr txBox="1"/>
          <p:nvPr/>
        </p:nvSpPr>
        <p:spPr>
          <a:xfrm>
            <a:off x="10826750" y="3638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02</a:t>
            </a:r>
          </a:p>
        </p:txBody>
      </p:sp>
      <p:sp>
        <p:nvSpPr>
          <p:cNvPr id="15" name="TextBox 14"/>
          <p:cNvSpPr txBox="1"/>
          <p:nvPr/>
        </p:nvSpPr>
        <p:spPr>
          <a:xfrm>
            <a:off x="6927850" y="3752850"/>
            <a:ext cx="4432300" cy="1828800"/>
          </a:xfrm>
          <a:prstGeom prst="rect">
            <a:avLst/>
          </a:prstGeom>
          <a:noFill/>
        </p:spPr>
        <p:txBody>
          <a:bodyPr wrap="square" lIns="0" rIns="0" tIns="0" bIns="0" anchor="ctr">
            <a:spAutoFit/>
          </a:bodyPr>
          <a:lstStyle/>
          <a:p>
            <a:pPr>
              <a:lnSpc>
                <a:spcPct val="115000"/>
              </a:lnSpc>
            </a:pPr>
            <a:r>
              <a:rPr sz="3150" b="1">
                <a:solidFill>
                  <a:srgbClr val="1A2A5E"/>
                </a:solidFill>
                <a:latin typeface="Pretendard"/>
                <a:ea typeface="Pretendard"/>
                <a:cs typeface="Pretendard"/>
              </a:rPr>
              <a:t>실제 규모라면</a:t>
            </a:r>
          </a:p>
          <a:p>
            <a:pPr>
              <a:lnSpc>
                <a:spcPct val="146000"/>
              </a:lnSpc>
              <a:spcBef>
                <a:spcPts val="1050"/>
              </a:spcBef>
            </a:pPr>
            <a:r>
              <a:rPr sz="2250" b="0">
                <a:solidFill>
                  <a:srgbClr val="3D3D3D"/>
                </a:solidFill>
                <a:latin typeface="Pretendard"/>
                <a:ea typeface="Pretendard"/>
                <a:cs typeface="Pretendard"/>
              </a:rPr>
              <a:t>회원 10만 명 × 주문 100만 건</a:t>
            </a:r>
          </a:p>
          <a:p>
            <a:pPr>
              <a:lnSpc>
                <a:spcPct val="146000"/>
              </a:lnSpc>
            </a:pPr>
            <a:r>
              <a:rPr sz="2250" b="0">
                <a:solidFill>
                  <a:srgbClr val="3D3D3D"/>
                </a:solidFill>
                <a:latin typeface="Pretendard"/>
                <a:ea typeface="Pretendard"/>
                <a:cs typeface="Pretendard"/>
              </a:rPr>
              <a:t>= 1,000억 행, 시스템이 멈춘다</a:t>
            </a:r>
          </a:p>
        </p:txBody>
      </p:sp>
      <p:sp>
        <p:nvSpPr>
          <p:cNvPr id="16" name="Rounded Rectangle 15"/>
          <p:cNvSpPr/>
          <p:nvPr/>
        </p:nvSpPr>
        <p:spPr>
          <a:xfrm>
            <a:off x="12065000" y="3429000"/>
            <a:ext cx="5080000" cy="2476500"/>
          </a:xfrm>
          <a:prstGeom prst="roundRect">
            <a:avLst>
              <a:gd name="adj" fmla="val 1923"/>
            </a:avLst>
          </a:prstGeom>
          <a:solidFill>
            <a:srgbClr val="FAFBFD"/>
          </a:solidFill>
          <a:ln w="9525">
            <a:solidFill>
              <a:srgbClr val="DCE1E8"/>
            </a:solidFill>
          </a:ln>
          <a:effectLst/>
        </p:spPr>
        <p:txBody>
          <a:bodyPr rtlCol="0" anchor="ctr" wrap="square"/>
          <a:lstStyle/>
          <a:p>
            <a:pPr algn="ctr"/>
          </a:p>
        </p:txBody>
      </p:sp>
      <p:sp>
        <p:nvSpPr>
          <p:cNvPr id="17" name="Rectangle 16"/>
          <p:cNvSpPr/>
          <p:nvPr/>
        </p:nvSpPr>
        <p:spPr>
          <a:xfrm>
            <a:off x="12065000" y="3429000"/>
            <a:ext cx="5080000" cy="47625"/>
          </a:xfrm>
          <a:prstGeom prst="rect">
            <a:avLst/>
          </a:prstGeom>
          <a:solidFill>
            <a:srgbClr val="0046C8"/>
          </a:solidFill>
          <a:ln>
            <a:noFill/>
          </a:ln>
          <a:effectLst/>
        </p:spPr>
        <p:txBody>
          <a:bodyPr rtlCol="0" anchor="ctr" wrap="square"/>
          <a:lstStyle/>
          <a:p>
            <a:pPr algn="ctr"/>
          </a:p>
        </p:txBody>
      </p:sp>
      <p:sp>
        <p:nvSpPr>
          <p:cNvPr id="18" name="deckgen:ornament"/>
          <p:cNvSpPr txBox="1"/>
          <p:nvPr/>
        </p:nvSpPr>
        <p:spPr>
          <a:xfrm>
            <a:off x="16287750" y="3638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03</a:t>
            </a:r>
          </a:p>
        </p:txBody>
      </p:sp>
      <p:sp>
        <p:nvSpPr>
          <p:cNvPr id="19" name="TextBox 18"/>
          <p:cNvSpPr txBox="1"/>
          <p:nvPr/>
        </p:nvSpPr>
        <p:spPr>
          <a:xfrm>
            <a:off x="12388850" y="3752850"/>
            <a:ext cx="4432300" cy="1828800"/>
          </a:xfrm>
          <a:prstGeom prst="rect">
            <a:avLst/>
          </a:prstGeom>
          <a:noFill/>
        </p:spPr>
        <p:txBody>
          <a:bodyPr wrap="square" lIns="0" rIns="0" tIns="0" bIns="0" anchor="ctr">
            <a:spAutoFit/>
          </a:bodyPr>
          <a:lstStyle/>
          <a:p>
            <a:pPr>
              <a:lnSpc>
                <a:spcPct val="115000"/>
              </a:lnSpc>
            </a:pPr>
            <a:r>
              <a:rPr sz="3150" b="1">
                <a:solidFill>
                  <a:srgbClr val="1A2A5E"/>
                </a:solidFill>
                <a:latin typeface="Pretendard"/>
                <a:ea typeface="Pretendard"/>
                <a:cs typeface="Pretendard"/>
              </a:rPr>
              <a:t>점검 습관</a:t>
            </a:r>
          </a:p>
          <a:p>
            <a:pPr>
              <a:lnSpc>
                <a:spcPct val="146000"/>
              </a:lnSpc>
              <a:spcBef>
                <a:spcPts val="1050"/>
              </a:spcBef>
            </a:pPr>
            <a:r>
              <a:rPr sz="2250" b="0">
                <a:solidFill>
                  <a:srgbClr val="3D3D3D"/>
                </a:solidFill>
                <a:latin typeface="Pretendard"/>
                <a:ea typeface="Pretendard"/>
                <a:cs typeface="Pretendard"/>
              </a:rPr>
              <a:t>결과 행 수가 예상보다</a:t>
            </a:r>
          </a:p>
          <a:p>
            <a:pPr>
              <a:lnSpc>
                <a:spcPct val="146000"/>
              </a:lnSpc>
            </a:pPr>
            <a:r>
              <a:rPr sz="2250" b="0">
                <a:solidFill>
                  <a:srgbClr val="3D3D3D"/>
                </a:solidFill>
                <a:latin typeface="Pretendard"/>
                <a:ea typeface="Pretendard"/>
                <a:cs typeface="Pretendard"/>
              </a:rPr>
              <a:t>훨씬 많다면</a:t>
            </a:r>
          </a:p>
          <a:p>
            <a:pPr>
              <a:lnSpc>
                <a:spcPct val="146000"/>
              </a:lnSpc>
            </a:pPr>
            <a:r>
              <a:rPr sz="2250" b="0">
                <a:solidFill>
                  <a:srgbClr val="3D3D3D"/>
                </a:solidFill>
                <a:latin typeface="Pretendard"/>
                <a:ea typeface="Pretendard"/>
                <a:cs typeface="Pretendard"/>
              </a:rPr>
              <a:t>조인 조건부터 의심</a:t>
            </a:r>
          </a:p>
        </p:txBody>
      </p:sp>
      <p:sp>
        <p:nvSpPr>
          <p:cNvPr id="20" name="Rectangle 19"/>
          <p:cNvSpPr/>
          <p:nvPr/>
        </p:nvSpPr>
        <p:spPr>
          <a:xfrm>
            <a:off x="1143000" y="6496050"/>
            <a:ext cx="47625" cy="723900"/>
          </a:xfrm>
          <a:prstGeom prst="rect">
            <a:avLst/>
          </a:prstGeom>
          <a:solidFill>
            <a:srgbClr val="0046C8"/>
          </a:solidFill>
          <a:ln>
            <a:noFill/>
          </a:ln>
          <a:effectLst/>
        </p:spPr>
        <p:txBody>
          <a:bodyPr rtlCol="0" anchor="ctr" wrap="square"/>
          <a:lstStyle/>
          <a:p>
            <a:pPr algn="ctr"/>
          </a:p>
        </p:txBody>
      </p:sp>
      <p:sp>
        <p:nvSpPr>
          <p:cNvPr id="21" name="TextBox 20"/>
          <p:cNvSpPr txBox="1"/>
          <p:nvPr/>
        </p:nvSpPr>
        <p:spPr>
          <a:xfrm>
            <a:off x="1390650" y="6553200"/>
            <a:ext cx="15754350" cy="762000"/>
          </a:xfrm>
          <a:prstGeom prst="rect">
            <a:avLst/>
          </a:prstGeom>
          <a:noFill/>
        </p:spPr>
        <p:txBody>
          <a:bodyPr wrap="square" lIns="0" rIns="0" tIns="0" bIns="0" anchor="t">
            <a:spAutoFit/>
          </a:bodyPr>
          <a:lstStyle/>
          <a:p>
            <a:pPr algn="l">
              <a:lnSpc>
                <a:spcPct val="150000"/>
              </a:lnSpc>
            </a:pPr>
            <a:r>
              <a:rPr sz="2025" b="1">
                <a:solidFill>
                  <a:srgbClr val="7D7D7D"/>
                </a:solidFill>
                <a:latin typeface="Pretendard"/>
                <a:ea typeface="Pretendard"/>
                <a:cs typeface="Pretendard"/>
              </a:rPr>
              <a:t>조인 조건(ON)을 빠뜨리면 모든 조합이 만들어져 결과가 폭발한다</a:t>
            </a:r>
          </a:p>
        </p:txBody>
      </p:sp>
      <p:sp>
        <p:nvSpPr>
          <p:cNvPr id="22" name="Rectangle 21"/>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23" name="TextBox 22"/>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24" name="TextBox 23"/>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3. SQL 언어의 4분류</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DDL · DML · DCL · TCL</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ectangle 7"/>
          <p:cNvSpPr/>
          <p:nvPr/>
        </p:nvSpPr>
        <p:spPr>
          <a:xfrm>
            <a:off x="1143000" y="2781300"/>
            <a:ext cx="1242060" cy="590550"/>
          </a:xfrm>
          <a:prstGeom prst="rect">
            <a:avLst/>
          </a:prstGeom>
          <a:solidFill>
            <a:srgbClr val="1A2A5E"/>
          </a:solidFill>
          <a:ln>
            <a:noFill/>
          </a:ln>
          <a:effectLst/>
        </p:spPr>
        <p:txBody>
          <a:bodyPr rtlCol="0" anchor="ctr" wrap="square"/>
          <a:lstStyle/>
          <a:p>
            <a:pPr algn="ctr"/>
          </a:p>
        </p:txBody>
      </p:sp>
      <p:sp>
        <p:nvSpPr>
          <p:cNvPr id="9" name="TextBox 8"/>
          <p:cNvSpPr txBox="1"/>
          <p:nvPr/>
        </p:nvSpPr>
        <p:spPr>
          <a:xfrm>
            <a:off x="1143000" y="2781300"/>
            <a:ext cx="124206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분류</a:t>
            </a:r>
          </a:p>
        </p:txBody>
      </p:sp>
      <p:sp>
        <p:nvSpPr>
          <p:cNvPr id="10" name="Rectangle 9"/>
          <p:cNvSpPr/>
          <p:nvPr/>
        </p:nvSpPr>
        <p:spPr>
          <a:xfrm>
            <a:off x="2423160" y="2781300"/>
            <a:ext cx="2362200" cy="590550"/>
          </a:xfrm>
          <a:prstGeom prst="rect">
            <a:avLst/>
          </a:prstGeom>
          <a:solidFill>
            <a:srgbClr val="0046C8"/>
          </a:solidFill>
          <a:ln>
            <a:noFill/>
          </a:ln>
          <a:effectLst/>
        </p:spPr>
        <p:txBody>
          <a:bodyPr rtlCol="0" anchor="ctr" wrap="square"/>
          <a:lstStyle/>
          <a:p>
            <a:pPr algn="ctr"/>
          </a:p>
        </p:txBody>
      </p:sp>
      <p:sp>
        <p:nvSpPr>
          <p:cNvPr id="11" name="TextBox 10"/>
          <p:cNvSpPr txBox="1"/>
          <p:nvPr/>
        </p:nvSpPr>
        <p:spPr>
          <a:xfrm>
            <a:off x="2423160" y="2781300"/>
            <a:ext cx="236220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이름</a:t>
            </a:r>
          </a:p>
        </p:txBody>
      </p:sp>
      <p:sp>
        <p:nvSpPr>
          <p:cNvPr id="12" name="Rectangle 11"/>
          <p:cNvSpPr/>
          <p:nvPr/>
        </p:nvSpPr>
        <p:spPr>
          <a:xfrm>
            <a:off x="4823460" y="2781300"/>
            <a:ext cx="3962400" cy="590550"/>
          </a:xfrm>
          <a:prstGeom prst="rect">
            <a:avLst/>
          </a:prstGeom>
          <a:solidFill>
            <a:srgbClr val="0046C8"/>
          </a:solidFill>
          <a:ln>
            <a:noFill/>
          </a:ln>
          <a:effectLst/>
        </p:spPr>
        <p:txBody>
          <a:bodyPr rtlCol="0" anchor="ctr" wrap="square"/>
          <a:lstStyle/>
          <a:p>
            <a:pPr algn="ctr"/>
          </a:p>
        </p:txBody>
      </p:sp>
      <p:sp>
        <p:nvSpPr>
          <p:cNvPr id="13" name="TextBox 12"/>
          <p:cNvSpPr txBox="1"/>
          <p:nvPr/>
        </p:nvSpPr>
        <p:spPr>
          <a:xfrm>
            <a:off x="4823460" y="2781300"/>
            <a:ext cx="396240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대표 명령</a:t>
            </a:r>
          </a:p>
        </p:txBody>
      </p:sp>
      <p:sp>
        <p:nvSpPr>
          <p:cNvPr id="14" name="Rectangle 13"/>
          <p:cNvSpPr/>
          <p:nvPr/>
        </p:nvSpPr>
        <p:spPr>
          <a:xfrm>
            <a:off x="8823960" y="2781300"/>
            <a:ext cx="3482340" cy="590550"/>
          </a:xfrm>
          <a:prstGeom prst="rect">
            <a:avLst/>
          </a:prstGeom>
          <a:solidFill>
            <a:srgbClr val="0046C8"/>
          </a:solidFill>
          <a:ln>
            <a:noFill/>
          </a:ln>
          <a:effectLst/>
        </p:spPr>
        <p:txBody>
          <a:bodyPr rtlCol="0" anchor="ctr" wrap="square"/>
          <a:lstStyle/>
          <a:p>
            <a:pPr algn="ctr"/>
          </a:p>
        </p:txBody>
      </p:sp>
      <p:sp>
        <p:nvSpPr>
          <p:cNvPr id="15" name="TextBox 14"/>
          <p:cNvSpPr txBox="1"/>
          <p:nvPr/>
        </p:nvSpPr>
        <p:spPr>
          <a:xfrm>
            <a:off x="8823960" y="2781300"/>
            <a:ext cx="348234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하는 일</a:t>
            </a:r>
          </a:p>
        </p:txBody>
      </p:sp>
      <p:sp>
        <p:nvSpPr>
          <p:cNvPr id="16" name="Rectangle 15"/>
          <p:cNvSpPr/>
          <p:nvPr/>
        </p:nvSpPr>
        <p:spPr>
          <a:xfrm>
            <a:off x="12344400" y="2781300"/>
            <a:ext cx="4800600" cy="590550"/>
          </a:xfrm>
          <a:prstGeom prst="rect">
            <a:avLst/>
          </a:prstGeom>
          <a:solidFill>
            <a:srgbClr val="0046C8"/>
          </a:solidFill>
          <a:ln>
            <a:noFill/>
          </a:ln>
          <a:effectLst/>
        </p:spPr>
        <p:txBody>
          <a:bodyPr rtlCol="0" anchor="ctr" wrap="square"/>
          <a:lstStyle/>
          <a:p>
            <a:pPr algn="ctr"/>
          </a:p>
        </p:txBody>
      </p:sp>
      <p:sp>
        <p:nvSpPr>
          <p:cNvPr id="17" name="TextBox 16"/>
          <p:cNvSpPr txBox="1"/>
          <p:nvPr/>
        </p:nvSpPr>
        <p:spPr>
          <a:xfrm>
            <a:off x="12344400" y="2781300"/>
            <a:ext cx="480060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다온유통에서 누가 쓰나</a:t>
            </a:r>
          </a:p>
        </p:txBody>
      </p:sp>
      <p:sp>
        <p:nvSpPr>
          <p:cNvPr id="18" name="Rounded Rectangle 17"/>
          <p:cNvSpPr/>
          <p:nvPr/>
        </p:nvSpPr>
        <p:spPr>
          <a:xfrm>
            <a:off x="1143000" y="3448050"/>
            <a:ext cx="124206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19" name="TextBox 18"/>
          <p:cNvSpPr txBox="1"/>
          <p:nvPr/>
        </p:nvSpPr>
        <p:spPr>
          <a:xfrm>
            <a:off x="1238250" y="3448050"/>
            <a:ext cx="105156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DDL</a:t>
            </a:r>
          </a:p>
        </p:txBody>
      </p:sp>
      <p:sp>
        <p:nvSpPr>
          <p:cNvPr id="20" name="Rounded Rectangle 19"/>
          <p:cNvSpPr/>
          <p:nvPr/>
        </p:nvSpPr>
        <p:spPr>
          <a:xfrm>
            <a:off x="2423160" y="3448050"/>
            <a:ext cx="23622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1" name="TextBox 20"/>
          <p:cNvSpPr txBox="1"/>
          <p:nvPr/>
        </p:nvSpPr>
        <p:spPr>
          <a:xfrm>
            <a:off x="2518410" y="3448050"/>
            <a:ext cx="21717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데이터 정의어</a:t>
            </a:r>
          </a:p>
        </p:txBody>
      </p:sp>
      <p:sp>
        <p:nvSpPr>
          <p:cNvPr id="22" name="Rounded Rectangle 21"/>
          <p:cNvSpPr/>
          <p:nvPr/>
        </p:nvSpPr>
        <p:spPr>
          <a:xfrm>
            <a:off x="4823460" y="3448050"/>
            <a:ext cx="39624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3" name="TextBox 22"/>
          <p:cNvSpPr txBox="1"/>
          <p:nvPr/>
        </p:nvSpPr>
        <p:spPr>
          <a:xfrm>
            <a:off x="4918710" y="3448050"/>
            <a:ext cx="37719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CREATE, ALTER, DROP</a:t>
            </a:r>
          </a:p>
        </p:txBody>
      </p:sp>
      <p:sp>
        <p:nvSpPr>
          <p:cNvPr id="24" name="Rounded Rectangle 23"/>
          <p:cNvSpPr/>
          <p:nvPr/>
        </p:nvSpPr>
        <p:spPr>
          <a:xfrm>
            <a:off x="8823960" y="3448050"/>
            <a:ext cx="348234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5" name="TextBox 24"/>
          <p:cNvSpPr txBox="1"/>
          <p:nvPr/>
        </p:nvSpPr>
        <p:spPr>
          <a:xfrm>
            <a:off x="8919210" y="3448050"/>
            <a:ext cx="329184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구조를 만들고·바꾸고·없앤다</a:t>
            </a:r>
          </a:p>
        </p:txBody>
      </p:sp>
      <p:sp>
        <p:nvSpPr>
          <p:cNvPr id="26" name="Rounded Rectangle 25"/>
          <p:cNvSpPr/>
          <p:nvPr/>
        </p:nvSpPr>
        <p:spPr>
          <a:xfrm>
            <a:off x="12344400" y="3448050"/>
            <a:ext cx="48006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7" name="TextBox 26"/>
          <p:cNvSpPr txBox="1"/>
          <p:nvPr/>
        </p:nvSpPr>
        <p:spPr>
          <a:xfrm>
            <a:off x="12439650" y="3448050"/>
            <a:ext cx="46101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DB 관리자 — customers 테이블 생성</a:t>
            </a:r>
          </a:p>
        </p:txBody>
      </p:sp>
      <p:sp>
        <p:nvSpPr>
          <p:cNvPr id="28" name="Rounded Rectangle 27"/>
          <p:cNvSpPr/>
          <p:nvPr/>
        </p:nvSpPr>
        <p:spPr>
          <a:xfrm>
            <a:off x="1143000" y="4171950"/>
            <a:ext cx="124206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29" name="TextBox 28"/>
          <p:cNvSpPr txBox="1"/>
          <p:nvPr/>
        </p:nvSpPr>
        <p:spPr>
          <a:xfrm>
            <a:off x="1238250" y="4171950"/>
            <a:ext cx="105156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DML</a:t>
            </a:r>
          </a:p>
        </p:txBody>
      </p:sp>
      <p:sp>
        <p:nvSpPr>
          <p:cNvPr id="30" name="Rounded Rectangle 29"/>
          <p:cNvSpPr/>
          <p:nvPr/>
        </p:nvSpPr>
        <p:spPr>
          <a:xfrm>
            <a:off x="2423160" y="4171950"/>
            <a:ext cx="23622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31" name="TextBox 30"/>
          <p:cNvSpPr txBox="1"/>
          <p:nvPr/>
        </p:nvSpPr>
        <p:spPr>
          <a:xfrm>
            <a:off x="2518410" y="4171950"/>
            <a:ext cx="21717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데이터 조작어</a:t>
            </a:r>
          </a:p>
        </p:txBody>
      </p:sp>
      <p:sp>
        <p:nvSpPr>
          <p:cNvPr id="32" name="Rounded Rectangle 31"/>
          <p:cNvSpPr/>
          <p:nvPr/>
        </p:nvSpPr>
        <p:spPr>
          <a:xfrm>
            <a:off x="4823460" y="4171950"/>
            <a:ext cx="39624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33" name="TextBox 32"/>
          <p:cNvSpPr txBox="1"/>
          <p:nvPr/>
        </p:nvSpPr>
        <p:spPr>
          <a:xfrm>
            <a:off x="4918710" y="4171950"/>
            <a:ext cx="3771900" cy="647700"/>
          </a:xfrm>
          <a:prstGeom prst="rect">
            <a:avLst/>
          </a:prstGeom>
          <a:noFill/>
        </p:spPr>
        <p:txBody>
          <a:bodyPr wrap="square" lIns="0" rIns="0" tIns="0" bIns="0" anchor="ctr">
            <a:spAutoFit/>
          </a:bodyPr>
          <a:lstStyle/>
          <a:p>
            <a:pPr algn="ctr">
              <a:lnSpc>
                <a:spcPct val="115000"/>
              </a:lnSpc>
            </a:pPr>
            <a:r>
              <a:rPr sz="1800" b="0">
                <a:solidFill>
                  <a:srgbClr val="3D3D3D"/>
                </a:solidFill>
                <a:latin typeface="Pretendard"/>
                <a:ea typeface="Pretendard"/>
                <a:cs typeface="Pretendard"/>
              </a:rPr>
              <a:t>SELECT, INSERT, UPDATE, DELETE</a:t>
            </a:r>
          </a:p>
        </p:txBody>
      </p:sp>
      <p:sp>
        <p:nvSpPr>
          <p:cNvPr id="34" name="Rounded Rectangle 33"/>
          <p:cNvSpPr/>
          <p:nvPr/>
        </p:nvSpPr>
        <p:spPr>
          <a:xfrm>
            <a:off x="8823960" y="4171950"/>
            <a:ext cx="348234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35" name="TextBox 34"/>
          <p:cNvSpPr txBox="1"/>
          <p:nvPr/>
        </p:nvSpPr>
        <p:spPr>
          <a:xfrm>
            <a:off x="8919210" y="4171950"/>
            <a:ext cx="329184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조회하고·넣고·고치고·지운다</a:t>
            </a:r>
          </a:p>
        </p:txBody>
      </p:sp>
      <p:sp>
        <p:nvSpPr>
          <p:cNvPr id="36" name="Rounded Rectangle 35"/>
          <p:cNvSpPr/>
          <p:nvPr/>
        </p:nvSpPr>
        <p:spPr>
          <a:xfrm>
            <a:off x="12344400" y="4171950"/>
            <a:ext cx="48006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37" name="TextBox 36"/>
          <p:cNvSpPr txBox="1"/>
          <p:nvPr/>
        </p:nvSpPr>
        <p:spPr>
          <a:xfrm>
            <a:off x="12439650" y="4171950"/>
            <a:ext cx="46101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실무 부서 — 주문 입력, 매출 조회</a:t>
            </a:r>
          </a:p>
        </p:txBody>
      </p:sp>
      <p:sp>
        <p:nvSpPr>
          <p:cNvPr id="38" name="Rounded Rectangle 37"/>
          <p:cNvSpPr/>
          <p:nvPr/>
        </p:nvSpPr>
        <p:spPr>
          <a:xfrm>
            <a:off x="1143000" y="4895850"/>
            <a:ext cx="124206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39" name="TextBox 38"/>
          <p:cNvSpPr txBox="1"/>
          <p:nvPr/>
        </p:nvSpPr>
        <p:spPr>
          <a:xfrm>
            <a:off x="1238250" y="4895850"/>
            <a:ext cx="105156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DCL</a:t>
            </a:r>
          </a:p>
        </p:txBody>
      </p:sp>
      <p:sp>
        <p:nvSpPr>
          <p:cNvPr id="40" name="Rounded Rectangle 39"/>
          <p:cNvSpPr/>
          <p:nvPr/>
        </p:nvSpPr>
        <p:spPr>
          <a:xfrm>
            <a:off x="2423160" y="4895850"/>
            <a:ext cx="23622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41" name="TextBox 40"/>
          <p:cNvSpPr txBox="1"/>
          <p:nvPr/>
        </p:nvSpPr>
        <p:spPr>
          <a:xfrm>
            <a:off x="2518410" y="4895850"/>
            <a:ext cx="21717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데이터 제어어</a:t>
            </a:r>
          </a:p>
        </p:txBody>
      </p:sp>
      <p:sp>
        <p:nvSpPr>
          <p:cNvPr id="42" name="Rounded Rectangle 41"/>
          <p:cNvSpPr/>
          <p:nvPr/>
        </p:nvSpPr>
        <p:spPr>
          <a:xfrm>
            <a:off x="4823460" y="4895850"/>
            <a:ext cx="39624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43" name="TextBox 42"/>
          <p:cNvSpPr txBox="1"/>
          <p:nvPr/>
        </p:nvSpPr>
        <p:spPr>
          <a:xfrm>
            <a:off x="4918710" y="4895850"/>
            <a:ext cx="37719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GRANT, REVOKE</a:t>
            </a:r>
          </a:p>
        </p:txBody>
      </p:sp>
      <p:sp>
        <p:nvSpPr>
          <p:cNvPr id="44" name="Rounded Rectangle 43"/>
          <p:cNvSpPr/>
          <p:nvPr/>
        </p:nvSpPr>
        <p:spPr>
          <a:xfrm>
            <a:off x="8823960" y="4895850"/>
            <a:ext cx="348234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45" name="TextBox 44"/>
          <p:cNvSpPr txBox="1"/>
          <p:nvPr/>
        </p:nvSpPr>
        <p:spPr>
          <a:xfrm>
            <a:off x="8919210" y="4895850"/>
            <a:ext cx="329184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권한을 주고 회수한다</a:t>
            </a:r>
          </a:p>
        </p:txBody>
      </p:sp>
      <p:sp>
        <p:nvSpPr>
          <p:cNvPr id="46" name="Rounded Rectangle 45"/>
          <p:cNvSpPr/>
          <p:nvPr/>
        </p:nvSpPr>
        <p:spPr>
          <a:xfrm>
            <a:off x="12344400" y="4895850"/>
            <a:ext cx="48006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47" name="TextBox 46"/>
          <p:cNvSpPr txBox="1"/>
          <p:nvPr/>
        </p:nvSpPr>
        <p:spPr>
          <a:xfrm>
            <a:off x="12439650" y="4895850"/>
            <a:ext cx="46101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DB 관리자 — 영업팀에 조회 권한 부여</a:t>
            </a:r>
          </a:p>
        </p:txBody>
      </p:sp>
      <p:sp>
        <p:nvSpPr>
          <p:cNvPr id="48" name="Rounded Rectangle 47"/>
          <p:cNvSpPr/>
          <p:nvPr/>
        </p:nvSpPr>
        <p:spPr>
          <a:xfrm>
            <a:off x="1143000" y="5619750"/>
            <a:ext cx="124206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49" name="TextBox 48"/>
          <p:cNvSpPr txBox="1"/>
          <p:nvPr/>
        </p:nvSpPr>
        <p:spPr>
          <a:xfrm>
            <a:off x="1238250" y="5619750"/>
            <a:ext cx="105156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TCL</a:t>
            </a:r>
          </a:p>
        </p:txBody>
      </p:sp>
      <p:sp>
        <p:nvSpPr>
          <p:cNvPr id="50" name="Rounded Rectangle 49"/>
          <p:cNvSpPr/>
          <p:nvPr/>
        </p:nvSpPr>
        <p:spPr>
          <a:xfrm>
            <a:off x="2423160" y="5619750"/>
            <a:ext cx="23622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51" name="TextBox 50"/>
          <p:cNvSpPr txBox="1"/>
          <p:nvPr/>
        </p:nvSpPr>
        <p:spPr>
          <a:xfrm>
            <a:off x="2518410" y="5619750"/>
            <a:ext cx="21717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트랜잭션 제어어</a:t>
            </a:r>
          </a:p>
        </p:txBody>
      </p:sp>
      <p:sp>
        <p:nvSpPr>
          <p:cNvPr id="52" name="Rounded Rectangle 51"/>
          <p:cNvSpPr/>
          <p:nvPr/>
        </p:nvSpPr>
        <p:spPr>
          <a:xfrm>
            <a:off x="4823460" y="5619750"/>
            <a:ext cx="39624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53" name="TextBox 52"/>
          <p:cNvSpPr txBox="1"/>
          <p:nvPr/>
        </p:nvSpPr>
        <p:spPr>
          <a:xfrm>
            <a:off x="4918710" y="5619750"/>
            <a:ext cx="37719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COMMIT, ROLLBACK</a:t>
            </a:r>
          </a:p>
        </p:txBody>
      </p:sp>
      <p:sp>
        <p:nvSpPr>
          <p:cNvPr id="54" name="Rounded Rectangle 53"/>
          <p:cNvSpPr/>
          <p:nvPr/>
        </p:nvSpPr>
        <p:spPr>
          <a:xfrm>
            <a:off x="8823960" y="5619750"/>
            <a:ext cx="348234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55" name="TextBox 54"/>
          <p:cNvSpPr txBox="1"/>
          <p:nvPr/>
        </p:nvSpPr>
        <p:spPr>
          <a:xfrm>
            <a:off x="8919210" y="5619750"/>
            <a:ext cx="329184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변경을 확정하거나 되돌린다</a:t>
            </a:r>
          </a:p>
        </p:txBody>
      </p:sp>
      <p:sp>
        <p:nvSpPr>
          <p:cNvPr id="56" name="Rounded Rectangle 55"/>
          <p:cNvSpPr/>
          <p:nvPr/>
        </p:nvSpPr>
        <p:spPr>
          <a:xfrm>
            <a:off x="12344400" y="5619750"/>
            <a:ext cx="48006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57" name="TextBox 56"/>
          <p:cNvSpPr txBox="1"/>
          <p:nvPr/>
        </p:nvSpPr>
        <p:spPr>
          <a:xfrm>
            <a:off x="12439650" y="5619750"/>
            <a:ext cx="46101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주문 처리 프로그램 — 5장에서 자세히</a:t>
            </a:r>
          </a:p>
        </p:txBody>
      </p:sp>
      <p:sp>
        <p:nvSpPr>
          <p:cNvPr id="58" name="TextBox 57"/>
          <p:cNvSpPr txBox="1"/>
          <p:nvPr/>
        </p:nvSpPr>
        <p:spPr>
          <a:xfrm>
            <a:off x="1143000" y="7620000"/>
            <a:ext cx="16002000" cy="342900"/>
          </a:xfrm>
          <a:prstGeom prst="rect">
            <a:avLst/>
          </a:prstGeom>
          <a:noFill/>
        </p:spPr>
        <p:txBody>
          <a:bodyPr wrap="square" lIns="0" rIns="0" tIns="0" bIns="0" anchor="t">
            <a:spAutoFit/>
          </a:bodyPr>
          <a:lstStyle/>
          <a:p>
            <a:pPr algn="l">
              <a:lnSpc>
                <a:spcPct val="100000"/>
              </a:lnSpc>
            </a:pPr>
            <a:r>
              <a:rPr sz="1875" b="1">
                <a:solidFill>
                  <a:srgbClr val="7D7D7D"/>
                </a:solidFill>
                <a:latin typeface="Pretendard"/>
                <a:ea typeface="Pretendard"/>
                <a:cs typeface="Pretendard"/>
              </a:rPr>
              <a:t>구조를 바꾸는 명령과 데이터를 조회하는 명령은 위험도가 전혀 다르다 — 그래서 사람마다 쓸 수 있는 갈래도 다르다</a:t>
            </a:r>
          </a:p>
        </p:txBody>
      </p:sp>
      <p:sp>
        <p:nvSpPr>
          <p:cNvPr id="59" name="Rectangle 58"/>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60" name="TextBox 59"/>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61" name="TextBox 60"/>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3. SQL 언어의 4분류</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현업은 DML, 통제는 DCL</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3429000"/>
            <a:ext cx="7810500" cy="2476500"/>
          </a:xfrm>
          <a:prstGeom prst="roundRect">
            <a:avLst>
              <a:gd name="adj" fmla="val 1923"/>
            </a:avLst>
          </a:prstGeom>
          <a:solidFill>
            <a:srgbClr val="FAFBFD"/>
          </a:solidFill>
          <a:ln w="9525">
            <a:solidFill>
              <a:srgbClr val="DCE1E8"/>
            </a:solidFill>
          </a:ln>
          <a:effectLst/>
        </p:spPr>
        <p:txBody>
          <a:bodyPr rtlCol="0" anchor="ctr" wrap="square"/>
          <a:lstStyle/>
          <a:p>
            <a:pPr algn="ctr"/>
          </a:p>
        </p:txBody>
      </p:sp>
      <p:sp>
        <p:nvSpPr>
          <p:cNvPr id="9" name="Rectangle 8"/>
          <p:cNvSpPr/>
          <p:nvPr/>
        </p:nvSpPr>
        <p:spPr>
          <a:xfrm>
            <a:off x="1143000" y="3429000"/>
            <a:ext cx="7810500" cy="47625"/>
          </a:xfrm>
          <a:prstGeom prst="rect">
            <a:avLst/>
          </a:prstGeom>
          <a:solidFill>
            <a:srgbClr val="0046C8"/>
          </a:solidFill>
          <a:ln>
            <a:noFill/>
          </a:ln>
          <a:effectLst/>
        </p:spPr>
        <p:txBody>
          <a:bodyPr rtlCol="0" anchor="ctr" wrap="square"/>
          <a:lstStyle/>
          <a:p>
            <a:pPr algn="ctr"/>
          </a:p>
        </p:txBody>
      </p:sp>
      <p:sp>
        <p:nvSpPr>
          <p:cNvPr id="10" name="deckgen:ornament"/>
          <p:cNvSpPr txBox="1"/>
          <p:nvPr/>
        </p:nvSpPr>
        <p:spPr>
          <a:xfrm>
            <a:off x="8096250" y="3638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01</a:t>
            </a:r>
          </a:p>
        </p:txBody>
      </p:sp>
      <p:sp>
        <p:nvSpPr>
          <p:cNvPr id="11" name="TextBox 10"/>
          <p:cNvSpPr txBox="1"/>
          <p:nvPr/>
        </p:nvSpPr>
        <p:spPr>
          <a:xfrm>
            <a:off x="1466850" y="3752850"/>
            <a:ext cx="7162800" cy="1828800"/>
          </a:xfrm>
          <a:prstGeom prst="rect">
            <a:avLst/>
          </a:prstGeom>
          <a:noFill/>
        </p:spPr>
        <p:txBody>
          <a:bodyPr wrap="square" lIns="0" rIns="0" tIns="0" bIns="0" anchor="ctr">
            <a:spAutoFit/>
          </a:bodyPr>
          <a:lstStyle/>
          <a:p>
            <a:pPr>
              <a:lnSpc>
                <a:spcPct val="115000"/>
              </a:lnSpc>
            </a:pPr>
            <a:r>
              <a:rPr sz="3300" b="1">
                <a:solidFill>
                  <a:srgbClr val="1A2A5E"/>
                </a:solidFill>
                <a:latin typeface="Pretendard"/>
                <a:ea typeface="Pretendard"/>
                <a:cs typeface="Pretendard"/>
              </a:rPr>
              <a:t>현업이 쓰는 것 — SELECT</a:t>
            </a:r>
          </a:p>
          <a:p>
            <a:pPr>
              <a:lnSpc>
                <a:spcPct val="146000"/>
              </a:lnSpc>
              <a:spcBef>
                <a:spcPts val="1050"/>
              </a:spcBef>
            </a:pPr>
            <a:r>
              <a:rPr sz="2250" b="0">
                <a:solidFill>
                  <a:srgbClr val="3D3D3D"/>
                </a:solidFill>
                <a:latin typeface="Pretendard"/>
                <a:ea typeface="Pretendard"/>
                <a:cs typeface="Pretendard"/>
              </a:rPr>
              <a:t>구조(DDL)와 권한(DCL)은 관리자의 영역</a:t>
            </a:r>
          </a:p>
          <a:p>
            <a:pPr>
              <a:lnSpc>
                <a:spcPct val="146000"/>
              </a:lnSpc>
            </a:pPr>
            <a:r>
              <a:rPr sz="2250" b="0">
                <a:solidFill>
                  <a:srgbClr val="3D3D3D"/>
                </a:solidFill>
                <a:latin typeface="Pretendard"/>
                <a:ea typeface="Pretendard"/>
                <a:cs typeface="Pretendard"/>
              </a:rPr>
              <a:t>현업의 일은 「데이터에 묻는 것」 — 실습 대부분이 SELECT</a:t>
            </a:r>
          </a:p>
        </p:txBody>
      </p:sp>
      <p:sp>
        <p:nvSpPr>
          <p:cNvPr id="12" name="Rounded Rectangle 11"/>
          <p:cNvSpPr/>
          <p:nvPr/>
        </p:nvSpPr>
        <p:spPr>
          <a:xfrm>
            <a:off x="9334500" y="3429000"/>
            <a:ext cx="7810500" cy="2476500"/>
          </a:xfrm>
          <a:prstGeom prst="roundRect">
            <a:avLst>
              <a:gd name="adj" fmla="val 1923"/>
            </a:avLst>
          </a:prstGeom>
          <a:solidFill>
            <a:srgbClr val="FAFBFD"/>
          </a:solidFill>
          <a:ln w="9525">
            <a:solidFill>
              <a:srgbClr val="DCE1E8"/>
            </a:solidFill>
          </a:ln>
          <a:effectLst/>
        </p:spPr>
        <p:txBody>
          <a:bodyPr rtlCol="0" anchor="ctr" wrap="square"/>
          <a:lstStyle/>
          <a:p>
            <a:pPr algn="ctr"/>
          </a:p>
        </p:txBody>
      </p:sp>
      <p:sp>
        <p:nvSpPr>
          <p:cNvPr id="13" name="Rectangle 12"/>
          <p:cNvSpPr/>
          <p:nvPr/>
        </p:nvSpPr>
        <p:spPr>
          <a:xfrm>
            <a:off x="9334500" y="3429000"/>
            <a:ext cx="7810500" cy="47625"/>
          </a:xfrm>
          <a:prstGeom prst="rect">
            <a:avLst/>
          </a:prstGeom>
          <a:solidFill>
            <a:srgbClr val="0046C8"/>
          </a:solidFill>
          <a:ln>
            <a:noFill/>
          </a:ln>
          <a:effectLst/>
        </p:spPr>
        <p:txBody>
          <a:bodyPr rtlCol="0" anchor="ctr" wrap="square"/>
          <a:lstStyle/>
          <a:p>
            <a:pPr algn="ctr"/>
          </a:p>
        </p:txBody>
      </p:sp>
      <p:sp>
        <p:nvSpPr>
          <p:cNvPr id="14" name="deckgen:ornament"/>
          <p:cNvSpPr txBox="1"/>
          <p:nvPr/>
        </p:nvSpPr>
        <p:spPr>
          <a:xfrm>
            <a:off x="16287750" y="3638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02</a:t>
            </a:r>
          </a:p>
        </p:txBody>
      </p:sp>
      <p:sp>
        <p:nvSpPr>
          <p:cNvPr id="15" name="TextBox 14"/>
          <p:cNvSpPr txBox="1"/>
          <p:nvPr/>
        </p:nvSpPr>
        <p:spPr>
          <a:xfrm>
            <a:off x="9658350" y="3752850"/>
            <a:ext cx="7162800" cy="1828800"/>
          </a:xfrm>
          <a:prstGeom prst="rect">
            <a:avLst/>
          </a:prstGeom>
          <a:noFill/>
        </p:spPr>
        <p:txBody>
          <a:bodyPr wrap="square" lIns="0" rIns="0" tIns="0" bIns="0" anchor="ctr">
            <a:spAutoFit/>
          </a:bodyPr>
          <a:lstStyle/>
          <a:p>
            <a:pPr>
              <a:lnSpc>
                <a:spcPct val="115000"/>
              </a:lnSpc>
            </a:pPr>
            <a:r>
              <a:rPr sz="3300" b="1">
                <a:solidFill>
                  <a:srgbClr val="1A2A5E"/>
                </a:solidFill>
                <a:latin typeface="Pretendard"/>
                <a:ea typeface="Pretendard"/>
                <a:cs typeface="Pretendard"/>
              </a:rPr>
              <a:t>내부통제 — DCL</a:t>
            </a:r>
          </a:p>
          <a:p>
            <a:pPr>
              <a:lnSpc>
                <a:spcPct val="146000"/>
              </a:lnSpc>
              <a:spcBef>
                <a:spcPts val="1050"/>
              </a:spcBef>
            </a:pPr>
            <a:r>
              <a:rPr sz="2250" b="0">
                <a:solidFill>
                  <a:srgbClr val="3D3D3D"/>
                </a:solidFill>
                <a:latin typeface="Pretendard"/>
                <a:ea typeface="Pretendard"/>
                <a:cs typeface="Pretendard"/>
              </a:rPr>
              <a:t>「인사팀만 급여 열을 본다」「아르바이트는 조회만」</a:t>
            </a:r>
          </a:p>
          <a:p>
            <a:pPr>
              <a:lnSpc>
                <a:spcPct val="146000"/>
              </a:lnSpc>
            </a:pPr>
            <a:r>
              <a:rPr sz="2250" b="0">
                <a:solidFill>
                  <a:srgbClr val="3D3D3D"/>
                </a:solidFill>
                <a:latin typeface="Pretendard"/>
                <a:ea typeface="Pretendard"/>
                <a:cs typeface="Pretendard"/>
              </a:rPr>
              <a:t>회계감사의 접근 권한 통제가 기술적으로는 DCL</a:t>
            </a:r>
          </a:p>
        </p:txBody>
      </p:sp>
      <p:sp>
        <p:nvSpPr>
          <p:cNvPr id="16" name="Rectangle 15"/>
          <p:cNvSpPr/>
          <p:nvPr/>
        </p:nvSpPr>
        <p:spPr>
          <a:xfrm>
            <a:off x="1143000" y="6496050"/>
            <a:ext cx="47625" cy="723900"/>
          </a:xfrm>
          <a:prstGeom prst="rect">
            <a:avLst/>
          </a:prstGeom>
          <a:solidFill>
            <a:srgbClr val="0046C8"/>
          </a:solidFill>
          <a:ln>
            <a:noFill/>
          </a:ln>
          <a:effectLst/>
        </p:spPr>
        <p:txBody>
          <a:bodyPr rtlCol="0" anchor="ctr" wrap="square"/>
          <a:lstStyle/>
          <a:p>
            <a:pPr algn="ctr"/>
          </a:p>
        </p:txBody>
      </p:sp>
      <p:sp>
        <p:nvSpPr>
          <p:cNvPr id="17" name="TextBox 16"/>
          <p:cNvSpPr txBox="1"/>
          <p:nvPr/>
        </p:nvSpPr>
        <p:spPr>
          <a:xfrm>
            <a:off x="1390650" y="6553200"/>
            <a:ext cx="15754350" cy="762000"/>
          </a:xfrm>
          <a:prstGeom prst="rect">
            <a:avLst/>
          </a:prstGeom>
          <a:noFill/>
        </p:spPr>
        <p:txBody>
          <a:bodyPr wrap="square" lIns="0" rIns="0" tIns="0" bIns="0" anchor="t">
            <a:spAutoFit/>
          </a:bodyPr>
          <a:lstStyle/>
          <a:p>
            <a:pPr algn="l">
              <a:lnSpc>
                <a:spcPct val="150000"/>
              </a:lnSpc>
            </a:pPr>
            <a:r>
              <a:rPr sz="2025" b="1">
                <a:solidFill>
                  <a:srgbClr val="7D7D7D"/>
                </a:solidFill>
                <a:latin typeface="Pretendard"/>
                <a:ea typeface="Pretendard"/>
                <a:cs typeface="Pretendard"/>
              </a:rPr>
              <a:t>DCL의 자세한 내용은 8장에서 다룬다</a:t>
            </a:r>
          </a:p>
        </p:txBody>
      </p:sp>
      <p:sp>
        <p:nvSpPr>
          <p:cNvPr id="18" name="Rectangle 17"/>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19" name="TextBox 18"/>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20" name="TextBox 19"/>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4. NULL과 3값 논리</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NULL은 0도, 빈 문자열도 아니다</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ectangle 7"/>
          <p:cNvSpPr/>
          <p:nvPr/>
        </p:nvSpPr>
        <p:spPr>
          <a:xfrm>
            <a:off x="1143000" y="2781300"/>
            <a:ext cx="5082540" cy="590550"/>
          </a:xfrm>
          <a:prstGeom prst="rect">
            <a:avLst/>
          </a:prstGeom>
          <a:solidFill>
            <a:srgbClr val="1A2A5E"/>
          </a:solidFill>
          <a:ln>
            <a:noFill/>
          </a:ln>
          <a:effectLst/>
        </p:spPr>
        <p:txBody>
          <a:bodyPr rtlCol="0" anchor="ctr" wrap="square"/>
          <a:lstStyle/>
          <a:p>
            <a:pPr algn="ctr"/>
          </a:p>
        </p:txBody>
      </p:sp>
      <p:sp>
        <p:nvSpPr>
          <p:cNvPr id="9" name="TextBox 8"/>
          <p:cNvSpPr txBox="1"/>
          <p:nvPr/>
        </p:nvSpPr>
        <p:spPr>
          <a:xfrm>
            <a:off x="1143000" y="2781300"/>
            <a:ext cx="508254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위치</a:t>
            </a:r>
          </a:p>
        </p:txBody>
      </p:sp>
      <p:sp>
        <p:nvSpPr>
          <p:cNvPr id="10" name="Rectangle 9"/>
          <p:cNvSpPr/>
          <p:nvPr/>
        </p:nvSpPr>
        <p:spPr>
          <a:xfrm>
            <a:off x="6263640" y="2781300"/>
            <a:ext cx="1402080" cy="590550"/>
          </a:xfrm>
          <a:prstGeom prst="rect">
            <a:avLst/>
          </a:prstGeom>
          <a:solidFill>
            <a:srgbClr val="0046C8"/>
          </a:solidFill>
          <a:ln>
            <a:noFill/>
          </a:ln>
          <a:effectLst/>
        </p:spPr>
        <p:txBody>
          <a:bodyPr rtlCol="0" anchor="ctr" wrap="square"/>
          <a:lstStyle/>
          <a:p>
            <a:pPr algn="ctr"/>
          </a:p>
        </p:txBody>
      </p:sp>
      <p:sp>
        <p:nvSpPr>
          <p:cNvPr id="11" name="TextBox 10"/>
          <p:cNvSpPr txBox="1"/>
          <p:nvPr/>
        </p:nvSpPr>
        <p:spPr>
          <a:xfrm>
            <a:off x="6263640" y="2781300"/>
            <a:ext cx="140208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값</a:t>
            </a:r>
          </a:p>
        </p:txBody>
      </p:sp>
      <p:sp>
        <p:nvSpPr>
          <p:cNvPr id="12" name="Rectangle 11"/>
          <p:cNvSpPr/>
          <p:nvPr/>
        </p:nvSpPr>
        <p:spPr>
          <a:xfrm>
            <a:off x="7703820" y="2781300"/>
            <a:ext cx="9441180" cy="590550"/>
          </a:xfrm>
          <a:prstGeom prst="rect">
            <a:avLst/>
          </a:prstGeom>
          <a:solidFill>
            <a:srgbClr val="0046C8"/>
          </a:solidFill>
          <a:ln>
            <a:noFill/>
          </a:ln>
          <a:effectLst/>
        </p:spPr>
        <p:txBody>
          <a:bodyPr rtlCol="0" anchor="ctr" wrap="square"/>
          <a:lstStyle/>
          <a:p>
            <a:pPr algn="ctr"/>
          </a:p>
        </p:txBody>
      </p:sp>
      <p:sp>
        <p:nvSpPr>
          <p:cNvPr id="13" name="TextBox 12"/>
          <p:cNvSpPr txBox="1"/>
          <p:nvPr/>
        </p:nvSpPr>
        <p:spPr>
          <a:xfrm>
            <a:off x="7703820" y="2781300"/>
            <a:ext cx="944118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NULL의 의미</a:t>
            </a:r>
          </a:p>
        </p:txBody>
      </p:sp>
      <p:sp>
        <p:nvSpPr>
          <p:cNvPr id="14" name="Rounded Rectangle 13"/>
          <p:cNvSpPr/>
          <p:nvPr/>
        </p:nvSpPr>
        <p:spPr>
          <a:xfrm>
            <a:off x="1143000" y="3448050"/>
            <a:ext cx="508254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15" name="TextBox 14"/>
          <p:cNvSpPr txBox="1"/>
          <p:nvPr/>
        </p:nvSpPr>
        <p:spPr>
          <a:xfrm>
            <a:off x="1238250" y="3448050"/>
            <a:ext cx="489204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employees.salary (E008 조하늘)</a:t>
            </a:r>
          </a:p>
        </p:txBody>
      </p:sp>
      <p:sp>
        <p:nvSpPr>
          <p:cNvPr id="16" name="Rounded Rectangle 15"/>
          <p:cNvSpPr/>
          <p:nvPr/>
        </p:nvSpPr>
        <p:spPr>
          <a:xfrm>
            <a:off x="6263640" y="3448050"/>
            <a:ext cx="140208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17" name="TextBox 16"/>
          <p:cNvSpPr txBox="1"/>
          <p:nvPr/>
        </p:nvSpPr>
        <p:spPr>
          <a:xfrm>
            <a:off x="6358890" y="3448050"/>
            <a:ext cx="121158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NULL</a:t>
            </a:r>
          </a:p>
        </p:txBody>
      </p:sp>
      <p:sp>
        <p:nvSpPr>
          <p:cNvPr id="18" name="Rounded Rectangle 17"/>
          <p:cNvSpPr/>
          <p:nvPr/>
        </p:nvSpPr>
        <p:spPr>
          <a:xfrm>
            <a:off x="7703820" y="3448050"/>
            <a:ext cx="944118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19" name="TextBox 18"/>
          <p:cNvSpPr txBox="1"/>
          <p:nvPr/>
        </p:nvSpPr>
        <p:spPr>
          <a:xfrm>
            <a:off x="7799070" y="3448050"/>
            <a:ext cx="925068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아직 모름 — 연봉 협상 중이라 값이 정해지지 않았다</a:t>
            </a:r>
          </a:p>
        </p:txBody>
      </p:sp>
      <p:sp>
        <p:nvSpPr>
          <p:cNvPr id="20" name="Rounded Rectangle 19"/>
          <p:cNvSpPr/>
          <p:nvPr/>
        </p:nvSpPr>
        <p:spPr>
          <a:xfrm>
            <a:off x="1143000" y="4171950"/>
            <a:ext cx="508254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21" name="TextBox 20"/>
          <p:cNvSpPr txBox="1"/>
          <p:nvPr/>
        </p:nvSpPr>
        <p:spPr>
          <a:xfrm>
            <a:off x="1238250" y="4171950"/>
            <a:ext cx="489204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orders.emp_id (온라인 주문)</a:t>
            </a:r>
          </a:p>
        </p:txBody>
      </p:sp>
      <p:sp>
        <p:nvSpPr>
          <p:cNvPr id="22" name="Rounded Rectangle 21"/>
          <p:cNvSpPr/>
          <p:nvPr/>
        </p:nvSpPr>
        <p:spPr>
          <a:xfrm>
            <a:off x="6263640" y="4171950"/>
            <a:ext cx="140208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3" name="TextBox 22"/>
          <p:cNvSpPr txBox="1"/>
          <p:nvPr/>
        </p:nvSpPr>
        <p:spPr>
          <a:xfrm>
            <a:off x="6358890" y="4171950"/>
            <a:ext cx="121158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NULL</a:t>
            </a:r>
          </a:p>
        </p:txBody>
      </p:sp>
      <p:sp>
        <p:nvSpPr>
          <p:cNvPr id="24" name="Rounded Rectangle 23"/>
          <p:cNvSpPr/>
          <p:nvPr/>
        </p:nvSpPr>
        <p:spPr>
          <a:xfrm>
            <a:off x="7703820" y="4171950"/>
            <a:ext cx="944118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5" name="TextBox 24"/>
          <p:cNvSpPr txBox="1"/>
          <p:nvPr/>
        </p:nvSpPr>
        <p:spPr>
          <a:xfrm>
            <a:off x="7799070" y="4171950"/>
            <a:ext cx="925068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해당 없음 — 온라인 주문에는 담당 직원이 원래 없다</a:t>
            </a:r>
          </a:p>
        </p:txBody>
      </p:sp>
      <p:sp>
        <p:nvSpPr>
          <p:cNvPr id="26" name="Rounded Rectangle 25"/>
          <p:cNvSpPr/>
          <p:nvPr/>
        </p:nvSpPr>
        <p:spPr>
          <a:xfrm>
            <a:off x="1143000" y="4895850"/>
            <a:ext cx="508254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27" name="TextBox 26"/>
          <p:cNvSpPr txBox="1"/>
          <p:nvPr/>
        </p:nvSpPr>
        <p:spPr>
          <a:xfrm>
            <a:off x="1238250" y="4895850"/>
            <a:ext cx="489204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customers.email (C005 박서연)</a:t>
            </a:r>
          </a:p>
        </p:txBody>
      </p:sp>
      <p:sp>
        <p:nvSpPr>
          <p:cNvPr id="28" name="Rounded Rectangle 27"/>
          <p:cNvSpPr/>
          <p:nvPr/>
        </p:nvSpPr>
        <p:spPr>
          <a:xfrm>
            <a:off x="6263640" y="4895850"/>
            <a:ext cx="140208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9" name="TextBox 28"/>
          <p:cNvSpPr txBox="1"/>
          <p:nvPr/>
        </p:nvSpPr>
        <p:spPr>
          <a:xfrm>
            <a:off x="6358890" y="4895850"/>
            <a:ext cx="121158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NULL</a:t>
            </a:r>
          </a:p>
        </p:txBody>
      </p:sp>
      <p:sp>
        <p:nvSpPr>
          <p:cNvPr id="30" name="Rounded Rectangle 29"/>
          <p:cNvSpPr/>
          <p:nvPr/>
        </p:nvSpPr>
        <p:spPr>
          <a:xfrm>
            <a:off x="7703820" y="4895850"/>
            <a:ext cx="944118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31" name="TextBox 30"/>
          <p:cNvSpPr txBox="1"/>
          <p:nvPr/>
        </p:nvSpPr>
        <p:spPr>
          <a:xfrm>
            <a:off x="7799070" y="4895850"/>
            <a:ext cx="925068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미입력 — 고객이 이메일을 등록하지 않았다</a:t>
            </a:r>
          </a:p>
        </p:txBody>
      </p:sp>
      <p:sp>
        <p:nvSpPr>
          <p:cNvPr id="32" name="Rounded Rectangle 31"/>
          <p:cNvSpPr/>
          <p:nvPr/>
        </p:nvSpPr>
        <p:spPr>
          <a:xfrm>
            <a:off x="1143000" y="5619750"/>
            <a:ext cx="508254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33" name="TextBox 32"/>
          <p:cNvSpPr txBox="1"/>
          <p:nvPr/>
        </p:nvSpPr>
        <p:spPr>
          <a:xfrm>
            <a:off x="1238250" y="5619750"/>
            <a:ext cx="489204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customers.points (C010 서지안)</a:t>
            </a:r>
          </a:p>
        </p:txBody>
      </p:sp>
      <p:sp>
        <p:nvSpPr>
          <p:cNvPr id="34" name="Rounded Rectangle 33"/>
          <p:cNvSpPr/>
          <p:nvPr/>
        </p:nvSpPr>
        <p:spPr>
          <a:xfrm>
            <a:off x="6263640" y="5619750"/>
            <a:ext cx="140208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35" name="TextBox 34"/>
          <p:cNvSpPr txBox="1"/>
          <p:nvPr/>
        </p:nvSpPr>
        <p:spPr>
          <a:xfrm>
            <a:off x="6358890" y="5619750"/>
            <a:ext cx="121158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0</a:t>
            </a:r>
          </a:p>
        </p:txBody>
      </p:sp>
      <p:sp>
        <p:nvSpPr>
          <p:cNvPr id="36" name="Rounded Rectangle 35"/>
          <p:cNvSpPr/>
          <p:nvPr/>
        </p:nvSpPr>
        <p:spPr>
          <a:xfrm>
            <a:off x="7703820" y="5619750"/>
            <a:ext cx="944118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37" name="TextBox 36"/>
          <p:cNvSpPr txBox="1"/>
          <p:nvPr/>
        </p:nvSpPr>
        <p:spPr>
          <a:xfrm>
            <a:off x="7799070" y="5619750"/>
            <a:ext cx="925068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NULL이 아니다! 0점이라고 알고 있는 것과 모르는 것은 다르다</a:t>
            </a:r>
          </a:p>
        </p:txBody>
      </p:sp>
      <p:sp>
        <p:nvSpPr>
          <p:cNvPr id="38" name="TextBox 37"/>
          <p:cNvSpPr txBox="1"/>
          <p:nvPr/>
        </p:nvSpPr>
        <p:spPr>
          <a:xfrm>
            <a:off x="1143000" y="7620000"/>
            <a:ext cx="16002000" cy="342900"/>
          </a:xfrm>
          <a:prstGeom prst="rect">
            <a:avLst/>
          </a:prstGeom>
          <a:noFill/>
        </p:spPr>
        <p:txBody>
          <a:bodyPr wrap="square" lIns="0" rIns="0" tIns="0" bIns="0" anchor="t">
            <a:spAutoFit/>
          </a:bodyPr>
          <a:lstStyle/>
          <a:p>
            <a:pPr algn="l">
              <a:lnSpc>
                <a:spcPct val="100000"/>
              </a:lnSpc>
            </a:pPr>
            <a:r>
              <a:rPr sz="1875" b="1">
                <a:solidFill>
                  <a:srgbClr val="7D7D7D"/>
                </a:solidFill>
                <a:latin typeface="Pretendard"/>
                <a:ea typeface="Pretendard"/>
                <a:cs typeface="Pretendard"/>
              </a:rPr>
              <a:t>NULL = 「값이 없음」을 나타내는 특별한 표시 — 「아직 모름」 또는 「해당 없음」이라는 상태 그 자체</a:t>
            </a:r>
          </a:p>
        </p:txBody>
      </p:sp>
      <p:sp>
        <p:nvSpPr>
          <p:cNvPr id="39" name="Rectangle 38"/>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40" name="TextBox 39"/>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41" name="TextBox 40"/>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4. NULL과 3값 논리</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NULL 비교는 = 가 아니라 IS NULL</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2343150"/>
            <a:ext cx="16002000" cy="5143500"/>
          </a:xfrm>
          <a:prstGeom prst="roundRect">
            <a:avLst>
              <a:gd name="adj" fmla="val 1851"/>
            </a:avLst>
          </a:prstGeom>
          <a:solidFill>
            <a:srgbClr val="1E2433"/>
          </a:solidFill>
          <a:ln>
            <a:noFill/>
          </a:ln>
          <a:effectLst/>
        </p:spPr>
        <p:txBody>
          <a:bodyPr rtlCol="0" anchor="ctr" wrap="square"/>
          <a:lstStyle/>
          <a:p>
            <a:pPr algn="ctr"/>
          </a:p>
        </p:txBody>
      </p:sp>
      <p:sp>
        <p:nvSpPr>
          <p:cNvPr id="9" name="Rectangle 8"/>
          <p:cNvSpPr/>
          <p:nvPr/>
        </p:nvSpPr>
        <p:spPr>
          <a:xfrm>
            <a:off x="1143000" y="2343150"/>
            <a:ext cx="685800" cy="5143500"/>
          </a:xfrm>
          <a:prstGeom prst="rect">
            <a:avLst/>
          </a:prstGeom>
          <a:solidFill>
            <a:srgbClr val="171C29"/>
          </a:solidFill>
          <a:ln>
            <a:noFill/>
          </a:ln>
          <a:effectLst/>
        </p:spPr>
        <p:txBody>
          <a:bodyPr rtlCol="0" anchor="ctr" wrap="square"/>
          <a:lstStyle/>
          <a:p>
            <a:pPr algn="ctr"/>
          </a:p>
        </p:txBody>
      </p:sp>
      <p:sp>
        <p:nvSpPr>
          <p:cNvPr id="10" name="deckgen:code-lineno"/>
          <p:cNvSpPr txBox="1"/>
          <p:nvPr/>
        </p:nvSpPr>
        <p:spPr>
          <a:xfrm>
            <a:off x="1143000" y="2552700"/>
            <a:ext cx="552450" cy="4724400"/>
          </a:xfrm>
          <a:prstGeom prst="rect">
            <a:avLst/>
          </a:prstGeom>
          <a:noFill/>
        </p:spPr>
        <p:txBody>
          <a:bodyPr wrap="none" lIns="0" rIns="0" tIns="0" bIns="0" anchor="t">
            <a:spAutoFit/>
          </a:bodyPr>
          <a:lstStyle/>
          <a:p>
            <a:pPr algn="r">
              <a:lnSpc>
                <a:spcPct val="115000"/>
              </a:lnSpc>
            </a:pPr>
            <a:r>
              <a:rPr sz="2250" b="0">
                <a:solidFill>
                  <a:srgbClr val="7A869C"/>
                </a:solidFill>
                <a:latin typeface="나눔고딕코딩"/>
                <a:ea typeface="나눔고딕코딩"/>
                <a:cs typeface="나눔고딕코딩"/>
              </a:rPr>
              <a:t>1</a:t>
            </a:r>
          </a:p>
          <a:p>
            <a:pPr algn="r">
              <a:lnSpc>
                <a:spcPct val="115000"/>
              </a:lnSpc>
            </a:pPr>
            <a:r>
              <a:rPr sz="2250" b="0">
                <a:solidFill>
                  <a:srgbClr val="7A869C"/>
                </a:solidFill>
                <a:latin typeface="나눔고딕코딩"/>
                <a:ea typeface="나눔고딕코딩"/>
                <a:cs typeface="나눔고딕코딩"/>
              </a:rPr>
              <a:t>2</a:t>
            </a:r>
          </a:p>
          <a:p>
            <a:pPr algn="r">
              <a:lnSpc>
                <a:spcPct val="115000"/>
              </a:lnSpc>
            </a:pPr>
            <a:r>
              <a:rPr sz="2250" b="0">
                <a:solidFill>
                  <a:srgbClr val="7A869C"/>
                </a:solidFill>
                <a:latin typeface="나눔고딕코딩"/>
                <a:ea typeface="나눔고딕코딩"/>
                <a:cs typeface="나눔고딕코딩"/>
              </a:rPr>
              <a:t>3</a:t>
            </a:r>
          </a:p>
          <a:p>
            <a:pPr algn="r">
              <a:lnSpc>
                <a:spcPct val="115000"/>
              </a:lnSpc>
            </a:pPr>
            <a:r>
              <a:rPr sz="2250" b="0">
                <a:solidFill>
                  <a:srgbClr val="7A869C"/>
                </a:solidFill>
                <a:latin typeface="나눔고딕코딩"/>
                <a:ea typeface="나눔고딕코딩"/>
                <a:cs typeface="나눔고딕코딩"/>
              </a:rPr>
              <a:t>4</a:t>
            </a:r>
          </a:p>
          <a:p>
            <a:pPr algn="r">
              <a:lnSpc>
                <a:spcPct val="115000"/>
              </a:lnSpc>
            </a:pPr>
            <a:r>
              <a:rPr sz="2250" b="0">
                <a:solidFill>
                  <a:srgbClr val="7A869C"/>
                </a:solidFill>
                <a:latin typeface="나눔고딕코딩"/>
                <a:ea typeface="나눔고딕코딩"/>
                <a:cs typeface="나눔고딕코딩"/>
              </a:rPr>
              <a:t>5</a:t>
            </a:r>
          </a:p>
          <a:p>
            <a:pPr algn="r">
              <a:lnSpc>
                <a:spcPct val="115000"/>
              </a:lnSpc>
            </a:pPr>
            <a:r>
              <a:rPr sz="2250" b="0">
                <a:solidFill>
                  <a:srgbClr val="7A869C"/>
                </a:solidFill>
                <a:latin typeface="나눔고딕코딩"/>
                <a:ea typeface="나눔고딕코딩"/>
                <a:cs typeface="나눔고딕코딩"/>
              </a:rPr>
              <a:t>6</a:t>
            </a:r>
          </a:p>
          <a:p>
            <a:pPr algn="r">
              <a:lnSpc>
                <a:spcPct val="115000"/>
              </a:lnSpc>
            </a:pPr>
            <a:r>
              <a:rPr sz="2250" b="0">
                <a:solidFill>
                  <a:srgbClr val="7A869C"/>
                </a:solidFill>
                <a:latin typeface="나눔고딕코딩"/>
                <a:ea typeface="나눔고딕코딩"/>
                <a:cs typeface="나눔고딕코딩"/>
              </a:rPr>
              <a:t>7</a:t>
            </a:r>
          </a:p>
          <a:p>
            <a:pPr algn="r">
              <a:lnSpc>
                <a:spcPct val="115000"/>
              </a:lnSpc>
            </a:pPr>
            <a:r>
              <a:rPr sz="2250" b="0">
                <a:solidFill>
                  <a:srgbClr val="7A869C"/>
                </a:solidFill>
                <a:latin typeface="나눔고딕코딩"/>
                <a:ea typeface="나눔고딕코딩"/>
                <a:cs typeface="나눔고딕코딩"/>
              </a:rPr>
              <a:t>8</a:t>
            </a:r>
          </a:p>
        </p:txBody>
      </p:sp>
      <p:sp>
        <p:nvSpPr>
          <p:cNvPr id="11" name="deckgen:code"/>
          <p:cNvSpPr txBox="1"/>
          <p:nvPr/>
        </p:nvSpPr>
        <p:spPr>
          <a:xfrm>
            <a:off x="2038350" y="2552700"/>
            <a:ext cx="14897100" cy="4724400"/>
          </a:xfrm>
          <a:prstGeom prst="rect">
            <a:avLst/>
          </a:prstGeom>
          <a:noFill/>
        </p:spPr>
        <p:txBody>
          <a:bodyPr wrap="none" lIns="0" rIns="0" tIns="0" bIns="0" anchor="t">
            <a:spAutoFit/>
          </a:bodyPr>
          <a:lstStyle/>
          <a:p>
            <a:pPr algn="l">
              <a:lnSpc>
                <a:spcPct val="115000"/>
              </a:lnSpc>
            </a:pPr>
            <a:r>
              <a:rPr sz="2250" b="0">
                <a:solidFill>
                  <a:srgbClr val="E6EAF2"/>
                </a:solidFill>
                <a:latin typeface="나눔고딕코딩"/>
                <a:ea typeface="나눔고딕코딩"/>
                <a:cs typeface="나눔고딕코딩"/>
              </a:rPr>
              <a:t>-- 잘못된 방법: 결과가 0건 (비교 결과가 전부 '모름')</a:t>
            </a:r>
          </a:p>
          <a:p>
            <a:pPr algn="l">
              <a:lnSpc>
                <a:spcPct val="115000"/>
              </a:lnSpc>
            </a:pPr>
            <a:r>
              <a:rPr sz="2250" b="0">
                <a:solidFill>
                  <a:srgbClr val="E6EAF2"/>
                </a:solidFill>
                <a:latin typeface="나눔고딕코딩"/>
                <a:ea typeface="나눔고딕코딩"/>
                <a:cs typeface="나눔고딕코딩"/>
              </a:rPr>
              <a:t>SELECT * FROM orders WHERE emp_id = NULL;</a:t>
            </a:r>
          </a:p>
          <a:p>
            <a:pPr algn="l">
              <a:lnSpc>
                <a:spcPct val="115000"/>
              </a:lnSpc>
            </a:pPr>
            <a:r>
              <a:rPr sz="2250" b="0">
                <a:solidFill>
                  <a:srgbClr val="E6EAF2"/>
                </a:solidFill>
                <a:latin typeface="나눔고딕코딩"/>
                <a:ea typeface="나눔고딕코딩"/>
                <a:cs typeface="나눔고딕코딩"/>
              </a:rPr>
              <a:t/>
            </a:r>
          </a:p>
          <a:p>
            <a:pPr algn="l">
              <a:lnSpc>
                <a:spcPct val="115000"/>
              </a:lnSpc>
            </a:pPr>
            <a:r>
              <a:rPr sz="2250" b="0">
                <a:solidFill>
                  <a:srgbClr val="E6EAF2"/>
                </a:solidFill>
                <a:latin typeface="나눔고딕코딩"/>
                <a:ea typeface="나눔고딕코딩"/>
                <a:cs typeface="나눔고딕코딩"/>
              </a:rPr>
              <a:t>-- 올바른 방법: 온라인 주문 7건이 조회된다</a:t>
            </a:r>
          </a:p>
          <a:p>
            <a:pPr algn="l">
              <a:lnSpc>
                <a:spcPct val="115000"/>
              </a:lnSpc>
            </a:pPr>
            <a:r>
              <a:rPr sz="2250" b="0">
                <a:solidFill>
                  <a:srgbClr val="E6EAF2"/>
                </a:solidFill>
                <a:latin typeface="나눔고딕코딩"/>
                <a:ea typeface="나눔고딕코딩"/>
                <a:cs typeface="나눔고딕코딩"/>
              </a:rPr>
              <a:t>SELECT * FROM orders WHERE emp_id IS NULL;</a:t>
            </a:r>
          </a:p>
          <a:p>
            <a:pPr algn="l">
              <a:lnSpc>
                <a:spcPct val="115000"/>
              </a:lnSpc>
            </a:pPr>
            <a:r>
              <a:rPr sz="2250" b="0">
                <a:solidFill>
                  <a:srgbClr val="E6EAF2"/>
                </a:solidFill>
                <a:latin typeface="나눔고딕코딩"/>
                <a:ea typeface="나눔고딕코딩"/>
                <a:cs typeface="나눔고딕코딩"/>
              </a:rPr>
              <a:t/>
            </a:r>
          </a:p>
          <a:p>
            <a:pPr algn="l">
              <a:lnSpc>
                <a:spcPct val="115000"/>
              </a:lnSpc>
            </a:pPr>
            <a:r>
              <a:rPr sz="2250" b="0">
                <a:solidFill>
                  <a:srgbClr val="E6EAF2"/>
                </a:solidFill>
                <a:latin typeface="나눔고딕코딩"/>
                <a:ea typeface="나눔고딕코딩"/>
                <a:cs typeface="나눔고딕코딩"/>
              </a:rPr>
              <a:t>-- 반대는 IS NOT NULL: 담당 직원이 있는 오프라인 주문</a:t>
            </a:r>
          </a:p>
          <a:p>
            <a:pPr algn="l">
              <a:lnSpc>
                <a:spcPct val="115000"/>
              </a:lnSpc>
            </a:pPr>
            <a:r>
              <a:rPr sz="2250" b="0">
                <a:solidFill>
                  <a:srgbClr val="E6EAF2"/>
                </a:solidFill>
                <a:latin typeface="나눔고딕코딩"/>
                <a:ea typeface="나눔고딕코딩"/>
                <a:cs typeface="나눔고딕코딩"/>
              </a:rPr>
              <a:t>SELECT * FROM orders WHERE emp_id IS NOT NULL;</a:t>
            </a:r>
          </a:p>
        </p:txBody>
      </p:sp>
      <p:sp>
        <p:nvSpPr>
          <p:cNvPr id="12" name="Rectangle 11"/>
          <p:cNvSpPr/>
          <p:nvPr/>
        </p:nvSpPr>
        <p:spPr>
          <a:xfrm>
            <a:off x="1143000" y="7600950"/>
            <a:ext cx="38100" cy="323850"/>
          </a:xfrm>
          <a:prstGeom prst="rect">
            <a:avLst/>
          </a:prstGeom>
          <a:solidFill>
            <a:srgbClr val="BFD3F5"/>
          </a:solidFill>
          <a:ln>
            <a:noFill/>
          </a:ln>
          <a:effectLst/>
        </p:spPr>
        <p:txBody>
          <a:bodyPr rtlCol="0" anchor="ctr" wrap="square"/>
          <a:lstStyle/>
          <a:p>
            <a:pPr algn="ctr"/>
          </a:p>
        </p:txBody>
      </p:sp>
      <p:sp>
        <p:nvSpPr>
          <p:cNvPr id="13" name="TextBox 12"/>
          <p:cNvSpPr txBox="1"/>
          <p:nvPr/>
        </p:nvSpPr>
        <p:spPr>
          <a:xfrm>
            <a:off x="1314450" y="7600950"/>
            <a:ext cx="15830550" cy="342900"/>
          </a:xfrm>
          <a:prstGeom prst="rect">
            <a:avLst/>
          </a:prstGeom>
          <a:noFill/>
        </p:spPr>
        <p:txBody>
          <a:bodyPr wrap="square" lIns="0" rIns="0" tIns="0" bIns="0" anchor="t">
            <a:spAutoFit/>
          </a:bodyPr>
          <a:lstStyle/>
          <a:p>
            <a:pPr algn="l">
              <a:lnSpc>
                <a:spcPct val="100000"/>
              </a:lnSpc>
            </a:pPr>
            <a:r>
              <a:rPr sz="1725" b="1">
                <a:solidFill>
                  <a:srgbClr val="7D7D7D"/>
                </a:solidFill>
                <a:latin typeface="Pretendard"/>
                <a:ea typeface="Pretendard"/>
                <a:cs typeface="Pretendard"/>
              </a:rPr>
              <a:t>모르는 값과는 비교가 성립하지 않는다 — NULL = NULL 조차 참이 아니라 「모름(UNKNOWN)」</a:t>
            </a:r>
          </a:p>
        </p:txBody>
      </p:sp>
      <p:sp>
        <p:nvSpPr>
          <p:cNvPr id="14" name="Rectangle 13"/>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15" name="TextBox 14"/>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16" name="TextBox 15"/>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4. NULL과 3값 논리</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3값 논리 조합표 — 참·거짓·모름</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ectangle 7"/>
          <p:cNvSpPr/>
          <p:nvPr/>
        </p:nvSpPr>
        <p:spPr>
          <a:xfrm>
            <a:off x="1143000" y="2781300"/>
            <a:ext cx="2628900" cy="590550"/>
          </a:xfrm>
          <a:prstGeom prst="rect">
            <a:avLst/>
          </a:prstGeom>
          <a:solidFill>
            <a:srgbClr val="1A2A5E"/>
          </a:solidFill>
          <a:ln>
            <a:noFill/>
          </a:ln>
          <a:effectLst/>
        </p:spPr>
        <p:txBody>
          <a:bodyPr rtlCol="0" anchor="ctr" wrap="square"/>
          <a:lstStyle/>
          <a:p>
            <a:pPr algn="ctr"/>
          </a:p>
        </p:txBody>
      </p:sp>
      <p:sp>
        <p:nvSpPr>
          <p:cNvPr id="9" name="TextBox 8"/>
          <p:cNvSpPr txBox="1"/>
          <p:nvPr/>
        </p:nvSpPr>
        <p:spPr>
          <a:xfrm>
            <a:off x="1143000" y="2781300"/>
            <a:ext cx="262890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조건 A</a:t>
            </a:r>
          </a:p>
        </p:txBody>
      </p:sp>
      <p:sp>
        <p:nvSpPr>
          <p:cNvPr id="10" name="Rectangle 9"/>
          <p:cNvSpPr/>
          <p:nvPr/>
        </p:nvSpPr>
        <p:spPr>
          <a:xfrm>
            <a:off x="3810000" y="2781300"/>
            <a:ext cx="1739900" cy="590550"/>
          </a:xfrm>
          <a:prstGeom prst="rect">
            <a:avLst/>
          </a:prstGeom>
          <a:solidFill>
            <a:srgbClr val="0046C8"/>
          </a:solidFill>
          <a:ln>
            <a:noFill/>
          </a:ln>
          <a:effectLst/>
        </p:spPr>
        <p:txBody>
          <a:bodyPr rtlCol="0" anchor="ctr" wrap="square"/>
          <a:lstStyle/>
          <a:p>
            <a:pPr algn="ctr"/>
          </a:p>
        </p:txBody>
      </p:sp>
      <p:sp>
        <p:nvSpPr>
          <p:cNvPr id="11" name="TextBox 10"/>
          <p:cNvSpPr txBox="1"/>
          <p:nvPr/>
        </p:nvSpPr>
        <p:spPr>
          <a:xfrm>
            <a:off x="3810000" y="2781300"/>
            <a:ext cx="173990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조건 B</a:t>
            </a:r>
          </a:p>
        </p:txBody>
      </p:sp>
      <p:sp>
        <p:nvSpPr>
          <p:cNvPr id="12" name="Rectangle 11"/>
          <p:cNvSpPr/>
          <p:nvPr/>
        </p:nvSpPr>
        <p:spPr>
          <a:xfrm>
            <a:off x="5588000" y="2781300"/>
            <a:ext cx="5295900" cy="590550"/>
          </a:xfrm>
          <a:prstGeom prst="rect">
            <a:avLst/>
          </a:prstGeom>
          <a:solidFill>
            <a:srgbClr val="0046C8"/>
          </a:solidFill>
          <a:ln>
            <a:noFill/>
          </a:ln>
          <a:effectLst/>
        </p:spPr>
        <p:txBody>
          <a:bodyPr rtlCol="0" anchor="ctr" wrap="square"/>
          <a:lstStyle/>
          <a:p>
            <a:pPr algn="ctr"/>
          </a:p>
        </p:txBody>
      </p:sp>
      <p:sp>
        <p:nvSpPr>
          <p:cNvPr id="13" name="TextBox 12"/>
          <p:cNvSpPr txBox="1"/>
          <p:nvPr/>
        </p:nvSpPr>
        <p:spPr>
          <a:xfrm>
            <a:off x="5588000" y="2781300"/>
            <a:ext cx="529590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A AND B</a:t>
            </a:r>
          </a:p>
        </p:txBody>
      </p:sp>
      <p:sp>
        <p:nvSpPr>
          <p:cNvPr id="14" name="Rectangle 13"/>
          <p:cNvSpPr/>
          <p:nvPr/>
        </p:nvSpPr>
        <p:spPr>
          <a:xfrm>
            <a:off x="10922000" y="2781300"/>
            <a:ext cx="6223000" cy="590550"/>
          </a:xfrm>
          <a:prstGeom prst="rect">
            <a:avLst/>
          </a:prstGeom>
          <a:solidFill>
            <a:srgbClr val="0046C8"/>
          </a:solidFill>
          <a:ln>
            <a:noFill/>
          </a:ln>
          <a:effectLst/>
        </p:spPr>
        <p:txBody>
          <a:bodyPr rtlCol="0" anchor="ctr" wrap="square"/>
          <a:lstStyle/>
          <a:p>
            <a:pPr algn="ctr"/>
          </a:p>
        </p:txBody>
      </p:sp>
      <p:sp>
        <p:nvSpPr>
          <p:cNvPr id="15" name="TextBox 14"/>
          <p:cNvSpPr txBox="1"/>
          <p:nvPr/>
        </p:nvSpPr>
        <p:spPr>
          <a:xfrm>
            <a:off x="10922000" y="2781300"/>
            <a:ext cx="6223000" cy="590550"/>
          </a:xfrm>
          <a:prstGeom prst="rect">
            <a:avLst/>
          </a:prstGeom>
          <a:noFill/>
        </p:spPr>
        <p:txBody>
          <a:bodyPr wrap="square" lIns="0" rIns="0" tIns="0" bIns="0" anchor="ctr">
            <a:spAutoFit/>
          </a:bodyPr>
          <a:lstStyle/>
          <a:p>
            <a:pPr algn="ctr">
              <a:lnSpc>
                <a:spcPct val="100000"/>
              </a:lnSpc>
            </a:pPr>
            <a:r>
              <a:rPr sz="2025" b="1">
                <a:solidFill>
                  <a:srgbClr val="FFFFFF"/>
                </a:solidFill>
                <a:latin typeface="Pretendard"/>
                <a:ea typeface="Pretendard"/>
                <a:cs typeface="Pretendard"/>
              </a:rPr>
              <a:t>A OR B</a:t>
            </a:r>
          </a:p>
        </p:txBody>
      </p:sp>
      <p:sp>
        <p:nvSpPr>
          <p:cNvPr id="16" name="Rounded Rectangle 15"/>
          <p:cNvSpPr/>
          <p:nvPr/>
        </p:nvSpPr>
        <p:spPr>
          <a:xfrm>
            <a:off x="1143000" y="3448050"/>
            <a:ext cx="262890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17" name="TextBox 16"/>
          <p:cNvSpPr txBox="1"/>
          <p:nvPr/>
        </p:nvSpPr>
        <p:spPr>
          <a:xfrm>
            <a:off x="1238250" y="3448050"/>
            <a:ext cx="243840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참</a:t>
            </a:r>
          </a:p>
        </p:txBody>
      </p:sp>
      <p:sp>
        <p:nvSpPr>
          <p:cNvPr id="18" name="Rounded Rectangle 17"/>
          <p:cNvSpPr/>
          <p:nvPr/>
        </p:nvSpPr>
        <p:spPr>
          <a:xfrm>
            <a:off x="3810000" y="3448050"/>
            <a:ext cx="17399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19" name="TextBox 18"/>
          <p:cNvSpPr txBox="1"/>
          <p:nvPr/>
        </p:nvSpPr>
        <p:spPr>
          <a:xfrm>
            <a:off x="3905250" y="3448050"/>
            <a:ext cx="15494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모름</a:t>
            </a:r>
          </a:p>
        </p:txBody>
      </p:sp>
      <p:sp>
        <p:nvSpPr>
          <p:cNvPr id="20" name="Rounded Rectangle 19"/>
          <p:cNvSpPr/>
          <p:nvPr/>
        </p:nvSpPr>
        <p:spPr>
          <a:xfrm>
            <a:off x="5588000" y="3448050"/>
            <a:ext cx="52959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1" name="TextBox 20"/>
          <p:cNvSpPr txBox="1"/>
          <p:nvPr/>
        </p:nvSpPr>
        <p:spPr>
          <a:xfrm>
            <a:off x="5683250" y="3448050"/>
            <a:ext cx="51054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모름</a:t>
            </a:r>
          </a:p>
        </p:txBody>
      </p:sp>
      <p:sp>
        <p:nvSpPr>
          <p:cNvPr id="22" name="Rounded Rectangle 21"/>
          <p:cNvSpPr/>
          <p:nvPr/>
        </p:nvSpPr>
        <p:spPr>
          <a:xfrm>
            <a:off x="10922000" y="3448050"/>
            <a:ext cx="62230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3" name="TextBox 22"/>
          <p:cNvSpPr txBox="1"/>
          <p:nvPr/>
        </p:nvSpPr>
        <p:spPr>
          <a:xfrm>
            <a:off x="11017250" y="3448050"/>
            <a:ext cx="60325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참 (하나가 참이면 충분)</a:t>
            </a:r>
          </a:p>
        </p:txBody>
      </p:sp>
      <p:sp>
        <p:nvSpPr>
          <p:cNvPr id="24" name="Rounded Rectangle 23"/>
          <p:cNvSpPr/>
          <p:nvPr/>
        </p:nvSpPr>
        <p:spPr>
          <a:xfrm>
            <a:off x="1143000" y="4171950"/>
            <a:ext cx="262890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25" name="TextBox 24"/>
          <p:cNvSpPr txBox="1"/>
          <p:nvPr/>
        </p:nvSpPr>
        <p:spPr>
          <a:xfrm>
            <a:off x="1238250" y="4171950"/>
            <a:ext cx="243840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거짓</a:t>
            </a:r>
          </a:p>
        </p:txBody>
      </p:sp>
      <p:sp>
        <p:nvSpPr>
          <p:cNvPr id="26" name="Rounded Rectangle 25"/>
          <p:cNvSpPr/>
          <p:nvPr/>
        </p:nvSpPr>
        <p:spPr>
          <a:xfrm>
            <a:off x="3810000" y="4171950"/>
            <a:ext cx="17399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7" name="TextBox 26"/>
          <p:cNvSpPr txBox="1"/>
          <p:nvPr/>
        </p:nvSpPr>
        <p:spPr>
          <a:xfrm>
            <a:off x="3905250" y="4171950"/>
            <a:ext cx="15494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모름</a:t>
            </a:r>
          </a:p>
        </p:txBody>
      </p:sp>
      <p:sp>
        <p:nvSpPr>
          <p:cNvPr id="28" name="Rounded Rectangle 27"/>
          <p:cNvSpPr/>
          <p:nvPr/>
        </p:nvSpPr>
        <p:spPr>
          <a:xfrm>
            <a:off x="5588000" y="4171950"/>
            <a:ext cx="52959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29" name="TextBox 28"/>
          <p:cNvSpPr txBox="1"/>
          <p:nvPr/>
        </p:nvSpPr>
        <p:spPr>
          <a:xfrm>
            <a:off x="5683250" y="4171950"/>
            <a:ext cx="51054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거짓 (이미 결정)</a:t>
            </a:r>
          </a:p>
        </p:txBody>
      </p:sp>
      <p:sp>
        <p:nvSpPr>
          <p:cNvPr id="30" name="Rounded Rectangle 29"/>
          <p:cNvSpPr/>
          <p:nvPr/>
        </p:nvSpPr>
        <p:spPr>
          <a:xfrm>
            <a:off x="10922000" y="4171950"/>
            <a:ext cx="62230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31" name="TextBox 30"/>
          <p:cNvSpPr txBox="1"/>
          <p:nvPr/>
        </p:nvSpPr>
        <p:spPr>
          <a:xfrm>
            <a:off x="11017250" y="4171950"/>
            <a:ext cx="60325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모름</a:t>
            </a:r>
          </a:p>
        </p:txBody>
      </p:sp>
      <p:sp>
        <p:nvSpPr>
          <p:cNvPr id="32" name="Rounded Rectangle 31"/>
          <p:cNvSpPr/>
          <p:nvPr/>
        </p:nvSpPr>
        <p:spPr>
          <a:xfrm>
            <a:off x="1143000" y="4895850"/>
            <a:ext cx="262890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33" name="TextBox 32"/>
          <p:cNvSpPr txBox="1"/>
          <p:nvPr/>
        </p:nvSpPr>
        <p:spPr>
          <a:xfrm>
            <a:off x="1238250" y="4895850"/>
            <a:ext cx="243840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모름</a:t>
            </a:r>
          </a:p>
        </p:txBody>
      </p:sp>
      <p:sp>
        <p:nvSpPr>
          <p:cNvPr id="34" name="Rounded Rectangle 33"/>
          <p:cNvSpPr/>
          <p:nvPr/>
        </p:nvSpPr>
        <p:spPr>
          <a:xfrm>
            <a:off x="3810000" y="4895850"/>
            <a:ext cx="17399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35" name="TextBox 34"/>
          <p:cNvSpPr txBox="1"/>
          <p:nvPr/>
        </p:nvSpPr>
        <p:spPr>
          <a:xfrm>
            <a:off x="3905250" y="4895850"/>
            <a:ext cx="15494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모름</a:t>
            </a:r>
          </a:p>
        </p:txBody>
      </p:sp>
      <p:sp>
        <p:nvSpPr>
          <p:cNvPr id="36" name="Rounded Rectangle 35"/>
          <p:cNvSpPr/>
          <p:nvPr/>
        </p:nvSpPr>
        <p:spPr>
          <a:xfrm>
            <a:off x="5588000" y="4895850"/>
            <a:ext cx="52959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37" name="TextBox 36"/>
          <p:cNvSpPr txBox="1"/>
          <p:nvPr/>
        </p:nvSpPr>
        <p:spPr>
          <a:xfrm>
            <a:off x="5683250" y="4895850"/>
            <a:ext cx="51054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모름</a:t>
            </a:r>
          </a:p>
        </p:txBody>
      </p:sp>
      <p:sp>
        <p:nvSpPr>
          <p:cNvPr id="38" name="Rounded Rectangle 37"/>
          <p:cNvSpPr/>
          <p:nvPr/>
        </p:nvSpPr>
        <p:spPr>
          <a:xfrm>
            <a:off x="10922000" y="4895850"/>
            <a:ext cx="62230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39" name="TextBox 38"/>
          <p:cNvSpPr txBox="1"/>
          <p:nvPr/>
        </p:nvSpPr>
        <p:spPr>
          <a:xfrm>
            <a:off x="11017250" y="4895850"/>
            <a:ext cx="60325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모름</a:t>
            </a:r>
          </a:p>
        </p:txBody>
      </p:sp>
      <p:sp>
        <p:nvSpPr>
          <p:cNvPr id="40" name="Rounded Rectangle 39"/>
          <p:cNvSpPr/>
          <p:nvPr/>
        </p:nvSpPr>
        <p:spPr>
          <a:xfrm>
            <a:off x="1143000" y="5619750"/>
            <a:ext cx="2628900" cy="647700"/>
          </a:xfrm>
          <a:prstGeom prst="roundRect">
            <a:avLst>
              <a:gd name="adj" fmla="val 5882"/>
            </a:avLst>
          </a:prstGeom>
          <a:solidFill>
            <a:srgbClr val="EDF3FD"/>
          </a:solidFill>
          <a:ln w="9525">
            <a:solidFill>
              <a:srgbClr val="BFD3F5"/>
            </a:solidFill>
          </a:ln>
          <a:effectLst/>
        </p:spPr>
        <p:txBody>
          <a:bodyPr rtlCol="0" anchor="ctr" wrap="square"/>
          <a:lstStyle/>
          <a:p>
            <a:pPr algn="ctr"/>
          </a:p>
        </p:txBody>
      </p:sp>
      <p:sp>
        <p:nvSpPr>
          <p:cNvPr id="41" name="TextBox 40"/>
          <p:cNvSpPr txBox="1"/>
          <p:nvPr/>
        </p:nvSpPr>
        <p:spPr>
          <a:xfrm>
            <a:off x="1238250" y="5619750"/>
            <a:ext cx="2438400" cy="647700"/>
          </a:xfrm>
          <a:prstGeom prst="rect">
            <a:avLst/>
          </a:prstGeom>
          <a:noFill/>
        </p:spPr>
        <p:txBody>
          <a:bodyPr wrap="square" lIns="0" rIns="0" tIns="0" bIns="0" anchor="ctr">
            <a:spAutoFit/>
          </a:bodyPr>
          <a:lstStyle/>
          <a:p>
            <a:pPr algn="l">
              <a:lnSpc>
                <a:spcPct val="115000"/>
              </a:lnSpc>
            </a:pPr>
            <a:r>
              <a:rPr sz="1875" b="1">
                <a:solidFill>
                  <a:srgbClr val="1A2A5E"/>
                </a:solidFill>
                <a:latin typeface="Pretendard"/>
                <a:ea typeface="Pretendard"/>
                <a:cs typeface="Pretendard"/>
              </a:rPr>
              <a:t>NOT 모름</a:t>
            </a:r>
          </a:p>
        </p:txBody>
      </p:sp>
      <p:sp>
        <p:nvSpPr>
          <p:cNvPr id="42" name="Rounded Rectangle 41"/>
          <p:cNvSpPr/>
          <p:nvPr/>
        </p:nvSpPr>
        <p:spPr>
          <a:xfrm>
            <a:off x="3810000" y="5619750"/>
            <a:ext cx="17399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43" name="TextBox 42"/>
          <p:cNvSpPr txBox="1"/>
          <p:nvPr/>
        </p:nvSpPr>
        <p:spPr>
          <a:xfrm>
            <a:off x="3905250" y="5619750"/>
            <a:ext cx="15494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a:t>
            </a:r>
          </a:p>
        </p:txBody>
      </p:sp>
      <p:sp>
        <p:nvSpPr>
          <p:cNvPr id="44" name="Rounded Rectangle 43"/>
          <p:cNvSpPr/>
          <p:nvPr/>
        </p:nvSpPr>
        <p:spPr>
          <a:xfrm>
            <a:off x="5588000" y="5619750"/>
            <a:ext cx="52959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45" name="TextBox 44"/>
          <p:cNvSpPr txBox="1"/>
          <p:nvPr/>
        </p:nvSpPr>
        <p:spPr>
          <a:xfrm>
            <a:off x="5683250" y="5619750"/>
            <a:ext cx="51054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모름 (부정해도 모름)</a:t>
            </a:r>
          </a:p>
        </p:txBody>
      </p:sp>
      <p:sp>
        <p:nvSpPr>
          <p:cNvPr id="46" name="Rounded Rectangle 45"/>
          <p:cNvSpPr/>
          <p:nvPr/>
        </p:nvSpPr>
        <p:spPr>
          <a:xfrm>
            <a:off x="10922000" y="5619750"/>
            <a:ext cx="6223000" cy="647700"/>
          </a:xfrm>
          <a:prstGeom prst="roundRect">
            <a:avLst>
              <a:gd name="adj" fmla="val 5882"/>
            </a:avLst>
          </a:prstGeom>
          <a:solidFill>
            <a:srgbClr val="FAFBFD"/>
          </a:solidFill>
          <a:ln w="9525">
            <a:solidFill>
              <a:srgbClr val="DCE1E8"/>
            </a:solidFill>
          </a:ln>
          <a:effectLst/>
        </p:spPr>
        <p:txBody>
          <a:bodyPr rtlCol="0" anchor="ctr" wrap="square"/>
          <a:lstStyle/>
          <a:p>
            <a:pPr algn="ctr"/>
          </a:p>
        </p:txBody>
      </p:sp>
      <p:sp>
        <p:nvSpPr>
          <p:cNvPr id="47" name="TextBox 46"/>
          <p:cNvSpPr txBox="1"/>
          <p:nvPr/>
        </p:nvSpPr>
        <p:spPr>
          <a:xfrm>
            <a:off x="11017250" y="5619750"/>
            <a:ext cx="6032500" cy="647700"/>
          </a:xfrm>
          <a:prstGeom prst="rect">
            <a:avLst/>
          </a:prstGeom>
          <a:noFill/>
        </p:spPr>
        <p:txBody>
          <a:bodyPr wrap="square" lIns="0" rIns="0" tIns="0" bIns="0" anchor="ctr">
            <a:spAutoFit/>
          </a:bodyPr>
          <a:lstStyle/>
          <a:p>
            <a:pPr algn="ctr">
              <a:lnSpc>
                <a:spcPct val="115000"/>
              </a:lnSpc>
            </a:pPr>
            <a:r>
              <a:rPr sz="1875" b="0">
                <a:solidFill>
                  <a:srgbClr val="3D3D3D"/>
                </a:solidFill>
                <a:latin typeface="Pretendard"/>
                <a:ea typeface="Pretendard"/>
                <a:cs typeface="Pretendard"/>
              </a:rPr>
              <a:t>—</a:t>
            </a:r>
          </a:p>
        </p:txBody>
      </p:sp>
      <p:sp>
        <p:nvSpPr>
          <p:cNvPr id="48" name="TextBox 47"/>
          <p:cNvSpPr txBox="1"/>
          <p:nvPr/>
        </p:nvSpPr>
        <p:spPr>
          <a:xfrm>
            <a:off x="1143000" y="6362700"/>
            <a:ext cx="16002000" cy="438150"/>
          </a:xfrm>
          <a:prstGeom prst="rect">
            <a:avLst/>
          </a:prstGeom>
          <a:noFill/>
        </p:spPr>
        <p:txBody>
          <a:bodyPr wrap="square" lIns="0" rIns="0" tIns="0" bIns="0" anchor="t">
            <a:spAutoFit/>
          </a:bodyPr>
          <a:lstStyle/>
          <a:p>
            <a:pPr algn="ctr">
              <a:lnSpc>
                <a:spcPct val="100000"/>
              </a:lnSpc>
            </a:pPr>
            <a:r>
              <a:rPr sz="1875" b="1">
                <a:solidFill>
                  <a:srgbClr val="7D7D7D"/>
                </a:solidFill>
                <a:latin typeface="Pretendard"/>
                <a:ea typeface="Pretendard"/>
                <a:cs typeface="Pretendard"/>
              </a:rPr>
              <a:t>결과를 뒤집을 가능성이 남아 있으면 모름, 이미 결정됐으면 그 값</a:t>
            </a:r>
          </a:p>
        </p:txBody>
      </p:sp>
      <p:sp>
        <p:nvSpPr>
          <p:cNvPr id="49" name="TextBox 48"/>
          <p:cNvSpPr txBox="1"/>
          <p:nvPr/>
        </p:nvSpPr>
        <p:spPr>
          <a:xfrm>
            <a:off x="1143000" y="7620000"/>
            <a:ext cx="16002000" cy="342900"/>
          </a:xfrm>
          <a:prstGeom prst="rect">
            <a:avLst/>
          </a:prstGeom>
          <a:noFill/>
        </p:spPr>
        <p:txBody>
          <a:bodyPr wrap="square" lIns="0" rIns="0" tIns="0" bIns="0" anchor="t">
            <a:spAutoFit/>
          </a:bodyPr>
          <a:lstStyle/>
          <a:p>
            <a:pPr algn="l">
              <a:lnSpc>
                <a:spcPct val="100000"/>
              </a:lnSpc>
            </a:pPr>
            <a:r>
              <a:rPr sz="1875" b="1">
                <a:solidFill>
                  <a:srgbClr val="7D7D7D"/>
                </a:solidFill>
                <a:latin typeface="Pretendard"/>
                <a:ea typeface="Pretendard"/>
                <a:cs typeface="Pretendard"/>
              </a:rPr>
              <a:t>WHERE 절은 결과가 「참」인 행만 통과시킨다 — 거짓인 행뿐 아니라 모름인 행도 걸러진다</a:t>
            </a:r>
          </a:p>
        </p:txBody>
      </p:sp>
      <p:sp>
        <p:nvSpPr>
          <p:cNvPr id="50" name="Rectangle 49"/>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51" name="TextBox 50"/>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52" name="TextBox 51"/>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4. NULL과 3값 논리</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NULL이 경영 수치를 왜곡하는 장면</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2343150"/>
            <a:ext cx="16002000" cy="5143500"/>
          </a:xfrm>
          <a:prstGeom prst="roundRect">
            <a:avLst>
              <a:gd name="adj" fmla="val 1851"/>
            </a:avLst>
          </a:prstGeom>
          <a:solidFill>
            <a:srgbClr val="1E2433"/>
          </a:solidFill>
          <a:ln>
            <a:noFill/>
          </a:ln>
          <a:effectLst/>
        </p:spPr>
        <p:txBody>
          <a:bodyPr rtlCol="0" anchor="ctr" wrap="square"/>
          <a:lstStyle/>
          <a:p>
            <a:pPr algn="ctr"/>
          </a:p>
        </p:txBody>
      </p:sp>
      <p:sp>
        <p:nvSpPr>
          <p:cNvPr id="9" name="Rectangle 8"/>
          <p:cNvSpPr/>
          <p:nvPr/>
        </p:nvSpPr>
        <p:spPr>
          <a:xfrm>
            <a:off x="1143000" y="2343150"/>
            <a:ext cx="685800" cy="5143500"/>
          </a:xfrm>
          <a:prstGeom prst="rect">
            <a:avLst/>
          </a:prstGeom>
          <a:solidFill>
            <a:srgbClr val="171C29"/>
          </a:solidFill>
          <a:ln>
            <a:noFill/>
          </a:ln>
          <a:effectLst/>
        </p:spPr>
        <p:txBody>
          <a:bodyPr rtlCol="0" anchor="ctr" wrap="square"/>
          <a:lstStyle/>
          <a:p>
            <a:pPr algn="ctr"/>
          </a:p>
        </p:txBody>
      </p:sp>
      <p:sp>
        <p:nvSpPr>
          <p:cNvPr id="10" name="deckgen:code-lineno"/>
          <p:cNvSpPr txBox="1"/>
          <p:nvPr/>
        </p:nvSpPr>
        <p:spPr>
          <a:xfrm>
            <a:off x="1143000" y="2552700"/>
            <a:ext cx="552450" cy="4724400"/>
          </a:xfrm>
          <a:prstGeom prst="rect">
            <a:avLst/>
          </a:prstGeom>
          <a:noFill/>
        </p:spPr>
        <p:txBody>
          <a:bodyPr wrap="none" lIns="0" rIns="0" tIns="0" bIns="0" anchor="t">
            <a:spAutoFit/>
          </a:bodyPr>
          <a:lstStyle/>
          <a:p>
            <a:pPr algn="r">
              <a:lnSpc>
                <a:spcPct val="115000"/>
              </a:lnSpc>
            </a:pPr>
            <a:r>
              <a:rPr sz="2250" b="0">
                <a:solidFill>
                  <a:srgbClr val="7A869C"/>
                </a:solidFill>
                <a:latin typeface="나눔고딕코딩"/>
                <a:ea typeface="나눔고딕코딩"/>
                <a:cs typeface="나눔고딕코딩"/>
              </a:rPr>
              <a:t>1</a:t>
            </a:r>
          </a:p>
          <a:p>
            <a:pPr algn="r">
              <a:lnSpc>
                <a:spcPct val="115000"/>
              </a:lnSpc>
            </a:pPr>
            <a:r>
              <a:rPr sz="2250" b="0">
                <a:solidFill>
                  <a:srgbClr val="7A869C"/>
                </a:solidFill>
                <a:latin typeface="나눔고딕코딩"/>
                <a:ea typeface="나눔고딕코딩"/>
                <a:cs typeface="나눔고딕코딩"/>
              </a:rPr>
              <a:t>2</a:t>
            </a:r>
          </a:p>
          <a:p>
            <a:pPr algn="r">
              <a:lnSpc>
                <a:spcPct val="115000"/>
              </a:lnSpc>
            </a:pPr>
            <a:r>
              <a:rPr sz="2250" b="0">
                <a:solidFill>
                  <a:srgbClr val="7A869C"/>
                </a:solidFill>
                <a:latin typeface="나눔고딕코딩"/>
                <a:ea typeface="나눔고딕코딩"/>
                <a:cs typeface="나눔고딕코딩"/>
              </a:rPr>
              <a:t>3</a:t>
            </a:r>
          </a:p>
          <a:p>
            <a:pPr algn="r">
              <a:lnSpc>
                <a:spcPct val="115000"/>
              </a:lnSpc>
            </a:pPr>
            <a:r>
              <a:rPr sz="2250" b="0">
                <a:solidFill>
                  <a:srgbClr val="7A869C"/>
                </a:solidFill>
                <a:latin typeface="나눔고딕코딩"/>
                <a:ea typeface="나눔고딕코딩"/>
                <a:cs typeface="나눔고딕코딩"/>
              </a:rPr>
              <a:t>4</a:t>
            </a:r>
          </a:p>
          <a:p>
            <a:pPr algn="r">
              <a:lnSpc>
                <a:spcPct val="115000"/>
              </a:lnSpc>
            </a:pPr>
            <a:r>
              <a:rPr sz="2250" b="0">
                <a:solidFill>
                  <a:srgbClr val="7A869C"/>
                </a:solidFill>
                <a:latin typeface="나눔고딕코딩"/>
                <a:ea typeface="나눔고딕코딩"/>
                <a:cs typeface="나눔고딕코딩"/>
              </a:rPr>
              <a:t>5</a:t>
            </a:r>
          </a:p>
          <a:p>
            <a:pPr algn="r">
              <a:lnSpc>
                <a:spcPct val="115000"/>
              </a:lnSpc>
            </a:pPr>
            <a:r>
              <a:rPr sz="2250" b="0">
                <a:solidFill>
                  <a:srgbClr val="7A869C"/>
                </a:solidFill>
                <a:latin typeface="나눔고딕코딩"/>
                <a:ea typeface="나눔고딕코딩"/>
                <a:cs typeface="나눔고딕코딩"/>
              </a:rPr>
              <a:t>6</a:t>
            </a:r>
          </a:p>
          <a:p>
            <a:pPr algn="r">
              <a:lnSpc>
                <a:spcPct val="115000"/>
              </a:lnSpc>
            </a:pPr>
            <a:r>
              <a:rPr sz="2250" b="0">
                <a:solidFill>
                  <a:srgbClr val="7A869C"/>
                </a:solidFill>
                <a:latin typeface="나눔고딕코딩"/>
                <a:ea typeface="나눔고딕코딩"/>
                <a:cs typeface="나눔고딕코딩"/>
              </a:rPr>
              <a:t>7</a:t>
            </a:r>
          </a:p>
          <a:p>
            <a:pPr algn="r">
              <a:lnSpc>
                <a:spcPct val="115000"/>
              </a:lnSpc>
            </a:pPr>
            <a:r>
              <a:rPr sz="2250" b="0">
                <a:solidFill>
                  <a:srgbClr val="7A869C"/>
                </a:solidFill>
                <a:latin typeface="나눔고딕코딩"/>
                <a:ea typeface="나눔고딕코딩"/>
                <a:cs typeface="나눔고딕코딩"/>
              </a:rPr>
              <a:t>8</a:t>
            </a:r>
          </a:p>
          <a:p>
            <a:pPr algn="r">
              <a:lnSpc>
                <a:spcPct val="115000"/>
              </a:lnSpc>
            </a:pPr>
            <a:r>
              <a:rPr sz="2250" b="0">
                <a:solidFill>
                  <a:srgbClr val="7A869C"/>
                </a:solidFill>
                <a:latin typeface="나눔고딕코딩"/>
                <a:ea typeface="나눔고딕코딩"/>
                <a:cs typeface="나눔고딕코딩"/>
              </a:rPr>
              <a:t>9</a:t>
            </a:r>
          </a:p>
          <a:p>
            <a:pPr algn="r">
              <a:lnSpc>
                <a:spcPct val="115000"/>
              </a:lnSpc>
            </a:pPr>
            <a:r>
              <a:rPr sz="2250" b="0">
                <a:solidFill>
                  <a:srgbClr val="7A869C"/>
                </a:solidFill>
                <a:latin typeface="나눔고딕코딩"/>
                <a:ea typeface="나눔고딕코딩"/>
                <a:cs typeface="나눔고딕코딩"/>
              </a:rPr>
              <a:t>10</a:t>
            </a:r>
          </a:p>
        </p:txBody>
      </p:sp>
      <p:sp>
        <p:nvSpPr>
          <p:cNvPr id="11" name="deckgen:code"/>
          <p:cNvSpPr txBox="1"/>
          <p:nvPr/>
        </p:nvSpPr>
        <p:spPr>
          <a:xfrm>
            <a:off x="2038350" y="2552700"/>
            <a:ext cx="14897100" cy="4724400"/>
          </a:xfrm>
          <a:prstGeom prst="rect">
            <a:avLst/>
          </a:prstGeom>
          <a:noFill/>
        </p:spPr>
        <p:txBody>
          <a:bodyPr wrap="none" lIns="0" rIns="0" tIns="0" bIns="0" anchor="t">
            <a:spAutoFit/>
          </a:bodyPr>
          <a:lstStyle/>
          <a:p>
            <a:pPr algn="l">
              <a:lnSpc>
                <a:spcPct val="115000"/>
              </a:lnSpc>
            </a:pPr>
            <a:r>
              <a:rPr sz="2250" b="0">
                <a:solidFill>
                  <a:srgbClr val="E6EAF2"/>
                </a:solidFill>
                <a:latin typeface="나눔고딕코딩"/>
                <a:ea typeface="나눔고딕코딩"/>
                <a:cs typeface="나눔고딕코딩"/>
              </a:rPr>
              <a:t>-- 직원은 8명이지만 salary가 있는 직원은 7명 (E008 조하늘 NULL)</a:t>
            </a:r>
          </a:p>
          <a:p>
            <a:pPr algn="l">
              <a:lnSpc>
                <a:spcPct val="115000"/>
              </a:lnSpc>
            </a:pPr>
            <a:r>
              <a:rPr sz="2250" b="0">
                <a:solidFill>
                  <a:srgbClr val="E6EAF2"/>
                </a:solidFill>
                <a:latin typeface="나눔고딕코딩"/>
                <a:ea typeface="나눔고딕코딩"/>
                <a:cs typeface="나눔고딕코딩"/>
              </a:rPr>
              <a:t>SELECT COUNT(*)      AS 전체직원수,   -- 8  (행 수를 센다)</a:t>
            </a:r>
          </a:p>
          <a:p>
            <a:pPr algn="l">
              <a:lnSpc>
                <a:spcPct val="115000"/>
              </a:lnSpc>
            </a:pPr>
            <a:r>
              <a:rPr sz="2250" b="0">
                <a:solidFill>
                  <a:srgbClr val="E6EAF2"/>
                </a:solidFill>
                <a:latin typeface="나눔고딕코딩"/>
                <a:ea typeface="나눔고딕코딩"/>
                <a:cs typeface="나눔고딕코딩"/>
              </a:rPr>
              <a:t>       COUNT(salary) AS 연봉등록수,   -- 7  (NULL을 빼고 센다)</a:t>
            </a:r>
          </a:p>
          <a:p>
            <a:pPr algn="l">
              <a:lnSpc>
                <a:spcPct val="115000"/>
              </a:lnSpc>
            </a:pPr>
            <a:r>
              <a:rPr sz="2250" b="0">
                <a:solidFill>
                  <a:srgbClr val="E6EAF2"/>
                </a:solidFill>
                <a:latin typeface="나눔고딕코딩"/>
                <a:ea typeface="나눔고딕코딩"/>
                <a:cs typeface="나눔고딕코딩"/>
              </a:rPr>
              <a:t>       AVG(salary)   AS 평균연봉      -- 7명의 평균 (NULL은 분모에서도 제외)</a:t>
            </a:r>
          </a:p>
          <a:p>
            <a:pPr algn="l">
              <a:lnSpc>
                <a:spcPct val="115000"/>
              </a:lnSpc>
            </a:pPr>
            <a:r>
              <a:rPr sz="2250" b="0">
                <a:solidFill>
                  <a:srgbClr val="E6EAF2"/>
                </a:solidFill>
                <a:latin typeface="나눔고딕코딩"/>
                <a:ea typeface="나눔고딕코딩"/>
                <a:cs typeface="나눔고딕코딩"/>
              </a:rPr>
              <a:t>FROM   employees;</a:t>
            </a:r>
          </a:p>
          <a:p>
            <a:pPr algn="l">
              <a:lnSpc>
                <a:spcPct val="115000"/>
              </a:lnSpc>
            </a:pPr>
            <a:r>
              <a:rPr sz="2250" b="0">
                <a:solidFill>
                  <a:srgbClr val="E6EAF2"/>
                </a:solidFill>
                <a:latin typeface="나눔고딕코딩"/>
                <a:ea typeface="나눔고딕코딩"/>
                <a:cs typeface="나눔고딕코딩"/>
              </a:rPr>
              <a:t/>
            </a:r>
          </a:p>
          <a:p>
            <a:pPr algn="l">
              <a:lnSpc>
                <a:spcPct val="115000"/>
              </a:lnSpc>
            </a:pPr>
            <a:r>
              <a:rPr sz="2250" b="0">
                <a:solidFill>
                  <a:srgbClr val="E6EAF2"/>
                </a:solidFill>
                <a:latin typeface="나눔고딕코딩"/>
                <a:ea typeface="나눔고딕코딩"/>
                <a:cs typeface="나눔고딕코딩"/>
              </a:rPr>
              <a:t>-- 함정: "연봉 400 미만 직원" + "연봉 400 이상 직원" ≠ 전체 직원</a:t>
            </a:r>
          </a:p>
          <a:p>
            <a:pPr algn="l">
              <a:lnSpc>
                <a:spcPct val="115000"/>
              </a:lnSpc>
            </a:pPr>
            <a:r>
              <a:rPr sz="2250" b="0">
                <a:solidFill>
                  <a:srgbClr val="E6EAF2"/>
                </a:solidFill>
                <a:latin typeface="나눔고딕코딩"/>
                <a:ea typeface="나눔고딕코딩"/>
                <a:cs typeface="나눔고딕코딩"/>
              </a:rPr>
              <a:t>SELECT COUNT(*) FROM employees WHERE salary &lt;  400;  -- 4명</a:t>
            </a:r>
          </a:p>
          <a:p>
            <a:pPr algn="l">
              <a:lnSpc>
                <a:spcPct val="115000"/>
              </a:lnSpc>
            </a:pPr>
            <a:r>
              <a:rPr sz="2250" b="0">
                <a:solidFill>
                  <a:srgbClr val="E6EAF2"/>
                </a:solidFill>
                <a:latin typeface="나눔고딕코딩"/>
                <a:ea typeface="나눔고딕코딩"/>
                <a:cs typeface="나눔고딕코딩"/>
              </a:rPr>
              <a:t>SELECT COUNT(*) FROM employees WHERE salary &gt;= 400;  -- 3명</a:t>
            </a:r>
          </a:p>
          <a:p>
            <a:pPr algn="l">
              <a:lnSpc>
                <a:spcPct val="115000"/>
              </a:lnSpc>
            </a:pPr>
            <a:r>
              <a:rPr sz="2250" b="0">
                <a:solidFill>
                  <a:srgbClr val="E6EAF2"/>
                </a:solidFill>
                <a:latin typeface="나눔고딕코딩"/>
                <a:ea typeface="나눔고딕코딩"/>
                <a:cs typeface="나눔고딕코딩"/>
              </a:rPr>
              <a:t>-- 4 + 3 = 7명. 조하늘은 어느 쪽 조건도 '참'이 아니라 양쪽 모두에서 빠졌다!</a:t>
            </a:r>
          </a:p>
        </p:txBody>
      </p:sp>
      <p:sp>
        <p:nvSpPr>
          <p:cNvPr id="12" name="Rectangle 11"/>
          <p:cNvSpPr/>
          <p:nvPr/>
        </p:nvSpPr>
        <p:spPr>
          <a:xfrm>
            <a:off x="1143000" y="7600950"/>
            <a:ext cx="38100" cy="323850"/>
          </a:xfrm>
          <a:prstGeom prst="rect">
            <a:avLst/>
          </a:prstGeom>
          <a:solidFill>
            <a:srgbClr val="BFD3F5"/>
          </a:solidFill>
          <a:ln>
            <a:noFill/>
          </a:ln>
          <a:effectLst/>
        </p:spPr>
        <p:txBody>
          <a:bodyPr rtlCol="0" anchor="ctr" wrap="square"/>
          <a:lstStyle/>
          <a:p>
            <a:pPr algn="ctr"/>
          </a:p>
        </p:txBody>
      </p:sp>
      <p:sp>
        <p:nvSpPr>
          <p:cNvPr id="13" name="TextBox 12"/>
          <p:cNvSpPr txBox="1"/>
          <p:nvPr/>
        </p:nvSpPr>
        <p:spPr>
          <a:xfrm>
            <a:off x="1314450" y="7600950"/>
            <a:ext cx="15830550" cy="342900"/>
          </a:xfrm>
          <a:prstGeom prst="rect">
            <a:avLst/>
          </a:prstGeom>
          <a:noFill/>
        </p:spPr>
        <p:txBody>
          <a:bodyPr wrap="square" lIns="0" rIns="0" tIns="0" bIns="0" anchor="t">
            <a:spAutoFit/>
          </a:bodyPr>
          <a:lstStyle/>
          <a:p>
            <a:pPr algn="l">
              <a:lnSpc>
                <a:spcPct val="100000"/>
              </a:lnSpc>
            </a:pPr>
            <a:r>
              <a:rPr sz="1725" b="1">
                <a:solidFill>
                  <a:srgbClr val="7D7D7D"/>
                </a:solidFill>
                <a:latin typeface="Pretendard"/>
                <a:ea typeface="Pretendard"/>
                <a:cs typeface="Pretendard"/>
              </a:rPr>
              <a:t>구간별 합계가 전체와 맞지 않으면 — 대부분 NULL인 행이 모든 구간에서 빠졌기 때문</a:t>
            </a:r>
          </a:p>
        </p:txBody>
      </p:sp>
      <p:sp>
        <p:nvSpPr>
          <p:cNvPr id="14" name="Rectangle 13"/>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15" name="TextBox 14"/>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16" name="TextBox 15"/>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4. NULL과 3값 논리</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NULL 실무 수칙 다섯 가지</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2571750"/>
            <a:ext cx="16002000" cy="849630"/>
          </a:xfrm>
          <a:prstGeom prst="roundRect">
            <a:avLst>
              <a:gd name="adj" fmla="val 6726"/>
            </a:avLst>
          </a:prstGeom>
          <a:solidFill>
            <a:srgbClr val="FAFBFD"/>
          </a:solidFill>
          <a:ln w="9525">
            <a:solidFill>
              <a:srgbClr val="DCE1E8"/>
            </a:solidFill>
          </a:ln>
          <a:effectLst/>
        </p:spPr>
        <p:txBody>
          <a:bodyPr rtlCol="0" anchor="ctr" wrap="square"/>
          <a:lstStyle/>
          <a:p>
            <a:pPr algn="ctr"/>
          </a:p>
        </p:txBody>
      </p:sp>
      <p:sp>
        <p:nvSpPr>
          <p:cNvPr id="9" name="Rounded Rectangle 8"/>
          <p:cNvSpPr/>
          <p:nvPr/>
        </p:nvSpPr>
        <p:spPr>
          <a:xfrm>
            <a:off x="1466850" y="2796540"/>
            <a:ext cx="400050" cy="400050"/>
          </a:xfrm>
          <a:prstGeom prst="roundRect">
            <a:avLst>
              <a:gd name="adj" fmla="val 14285"/>
            </a:avLst>
          </a:prstGeom>
          <a:solidFill>
            <a:srgbClr val="FFFFFF"/>
          </a:solidFill>
          <a:ln w="28575">
            <a:solidFill>
              <a:srgbClr val="1A2A5E"/>
            </a:solidFill>
          </a:ln>
          <a:effectLst/>
        </p:spPr>
        <p:txBody>
          <a:bodyPr rtlCol="0" anchor="ctr" wrap="square"/>
          <a:lstStyle/>
          <a:p>
            <a:pPr algn="ctr"/>
          </a:p>
        </p:txBody>
      </p:sp>
      <p:sp>
        <p:nvSpPr>
          <p:cNvPr id="10" name="TextBox 9"/>
          <p:cNvSpPr txBox="1"/>
          <p:nvPr/>
        </p:nvSpPr>
        <p:spPr>
          <a:xfrm>
            <a:off x="2133600" y="2667000"/>
            <a:ext cx="14725650" cy="659130"/>
          </a:xfrm>
          <a:prstGeom prst="rect">
            <a:avLst/>
          </a:prstGeom>
          <a:noFill/>
        </p:spPr>
        <p:txBody>
          <a:bodyPr wrap="square" lIns="0" rIns="0" tIns="0" bIns="0" anchor="ctr">
            <a:spAutoFit/>
          </a:bodyPr>
          <a:lstStyle/>
          <a:p>
            <a:pPr>
              <a:lnSpc>
                <a:spcPct val="120000"/>
              </a:lnSpc>
            </a:pPr>
            <a:r>
              <a:rPr sz="2325" b="1">
                <a:solidFill>
                  <a:srgbClr val="1A2A5E"/>
                </a:solidFill>
                <a:latin typeface="Pretendard"/>
                <a:ea typeface="Pretendard"/>
                <a:cs typeface="Pretendard"/>
              </a:rPr>
              <a:t>NULL 검사는 IS NULL / IS NOT NULL</a:t>
            </a:r>
          </a:p>
          <a:p>
            <a:pPr>
              <a:lnSpc>
                <a:spcPct val="125000"/>
              </a:lnSpc>
              <a:spcBef>
                <a:spcPts val="300"/>
              </a:spcBef>
            </a:pPr>
            <a:r>
              <a:rPr sz="1650" b="0">
                <a:solidFill>
                  <a:srgbClr val="3D3D3D"/>
                </a:solidFill>
                <a:latin typeface="Pretendard"/>
                <a:ea typeface="Pretendard"/>
                <a:cs typeface="Pretendard"/>
              </a:rPr>
              <a:t>= NULL 은 항상 「모름」이 되어 0건이다</a:t>
            </a:r>
          </a:p>
        </p:txBody>
      </p:sp>
      <p:sp>
        <p:nvSpPr>
          <p:cNvPr id="11" name="Rounded Rectangle 10"/>
          <p:cNvSpPr/>
          <p:nvPr/>
        </p:nvSpPr>
        <p:spPr>
          <a:xfrm>
            <a:off x="1143000" y="3573780"/>
            <a:ext cx="16002000" cy="849630"/>
          </a:xfrm>
          <a:prstGeom prst="roundRect">
            <a:avLst>
              <a:gd name="adj" fmla="val 6726"/>
            </a:avLst>
          </a:prstGeom>
          <a:solidFill>
            <a:srgbClr val="FAFBFD"/>
          </a:solidFill>
          <a:ln w="9525">
            <a:solidFill>
              <a:srgbClr val="DCE1E8"/>
            </a:solidFill>
          </a:ln>
          <a:effectLst/>
        </p:spPr>
        <p:txBody>
          <a:bodyPr rtlCol="0" anchor="ctr" wrap="square"/>
          <a:lstStyle/>
          <a:p>
            <a:pPr algn="ctr"/>
          </a:p>
        </p:txBody>
      </p:sp>
      <p:sp>
        <p:nvSpPr>
          <p:cNvPr id="12" name="Rounded Rectangle 11"/>
          <p:cNvSpPr/>
          <p:nvPr/>
        </p:nvSpPr>
        <p:spPr>
          <a:xfrm>
            <a:off x="1466850" y="3798570"/>
            <a:ext cx="400050" cy="400050"/>
          </a:xfrm>
          <a:prstGeom prst="roundRect">
            <a:avLst>
              <a:gd name="adj" fmla="val 14285"/>
            </a:avLst>
          </a:prstGeom>
          <a:solidFill>
            <a:srgbClr val="FFFFFF"/>
          </a:solidFill>
          <a:ln w="28575">
            <a:solidFill>
              <a:srgbClr val="1A2A5E"/>
            </a:solidFill>
          </a:ln>
          <a:effectLst/>
        </p:spPr>
        <p:txBody>
          <a:bodyPr rtlCol="0" anchor="ctr" wrap="square"/>
          <a:lstStyle/>
          <a:p>
            <a:pPr algn="ctr"/>
          </a:p>
        </p:txBody>
      </p:sp>
      <p:sp>
        <p:nvSpPr>
          <p:cNvPr id="13" name="TextBox 12"/>
          <p:cNvSpPr txBox="1"/>
          <p:nvPr/>
        </p:nvSpPr>
        <p:spPr>
          <a:xfrm>
            <a:off x="2133600" y="3669030"/>
            <a:ext cx="14725650" cy="659130"/>
          </a:xfrm>
          <a:prstGeom prst="rect">
            <a:avLst/>
          </a:prstGeom>
          <a:noFill/>
        </p:spPr>
        <p:txBody>
          <a:bodyPr wrap="square" lIns="0" rIns="0" tIns="0" bIns="0" anchor="ctr">
            <a:spAutoFit/>
          </a:bodyPr>
          <a:lstStyle/>
          <a:p>
            <a:pPr>
              <a:lnSpc>
                <a:spcPct val="120000"/>
              </a:lnSpc>
            </a:pPr>
            <a:r>
              <a:rPr sz="2325" b="1">
                <a:solidFill>
                  <a:srgbClr val="1A2A5E"/>
                </a:solidFill>
                <a:latin typeface="Pretendard"/>
                <a:ea typeface="Pretendard"/>
                <a:cs typeface="Pretendard"/>
              </a:rPr>
              <a:t>COUNT(*)와 COUNT(열)을 구분</a:t>
            </a:r>
          </a:p>
          <a:p>
            <a:pPr>
              <a:lnSpc>
                <a:spcPct val="125000"/>
              </a:lnSpc>
              <a:spcBef>
                <a:spcPts val="300"/>
              </a:spcBef>
            </a:pPr>
            <a:r>
              <a:rPr sz="1650" b="0">
                <a:solidFill>
                  <a:srgbClr val="3D3D3D"/>
                </a:solidFill>
                <a:latin typeface="Pretendard"/>
                <a:ea typeface="Pretendard"/>
                <a:cs typeface="Pretendard"/>
              </a:rPr>
              <a:t>둘의 차이가 곧 NULL의 개수다</a:t>
            </a:r>
          </a:p>
        </p:txBody>
      </p:sp>
      <p:sp>
        <p:nvSpPr>
          <p:cNvPr id="14" name="Rounded Rectangle 13"/>
          <p:cNvSpPr/>
          <p:nvPr/>
        </p:nvSpPr>
        <p:spPr>
          <a:xfrm>
            <a:off x="1143000" y="4575810"/>
            <a:ext cx="16002000" cy="849630"/>
          </a:xfrm>
          <a:prstGeom prst="roundRect">
            <a:avLst>
              <a:gd name="adj" fmla="val 6726"/>
            </a:avLst>
          </a:prstGeom>
          <a:solidFill>
            <a:srgbClr val="FAFBFD"/>
          </a:solidFill>
          <a:ln w="9525">
            <a:solidFill>
              <a:srgbClr val="DCE1E8"/>
            </a:solidFill>
          </a:ln>
          <a:effectLst/>
        </p:spPr>
        <p:txBody>
          <a:bodyPr rtlCol="0" anchor="ctr" wrap="square"/>
          <a:lstStyle/>
          <a:p>
            <a:pPr algn="ctr"/>
          </a:p>
        </p:txBody>
      </p:sp>
      <p:sp>
        <p:nvSpPr>
          <p:cNvPr id="15" name="Rounded Rectangle 14"/>
          <p:cNvSpPr/>
          <p:nvPr/>
        </p:nvSpPr>
        <p:spPr>
          <a:xfrm>
            <a:off x="1466850" y="4800600"/>
            <a:ext cx="400050" cy="400050"/>
          </a:xfrm>
          <a:prstGeom prst="roundRect">
            <a:avLst>
              <a:gd name="adj" fmla="val 14285"/>
            </a:avLst>
          </a:prstGeom>
          <a:solidFill>
            <a:srgbClr val="FFFFFF"/>
          </a:solidFill>
          <a:ln w="28575">
            <a:solidFill>
              <a:srgbClr val="1A2A5E"/>
            </a:solidFill>
          </a:ln>
          <a:effectLst/>
        </p:spPr>
        <p:txBody>
          <a:bodyPr rtlCol="0" anchor="ctr" wrap="square"/>
          <a:lstStyle/>
          <a:p>
            <a:pPr algn="ctr"/>
          </a:p>
        </p:txBody>
      </p:sp>
      <p:sp>
        <p:nvSpPr>
          <p:cNvPr id="16" name="TextBox 15"/>
          <p:cNvSpPr txBox="1"/>
          <p:nvPr/>
        </p:nvSpPr>
        <p:spPr>
          <a:xfrm>
            <a:off x="2133600" y="4671060"/>
            <a:ext cx="14725650" cy="659130"/>
          </a:xfrm>
          <a:prstGeom prst="rect">
            <a:avLst/>
          </a:prstGeom>
          <a:noFill/>
        </p:spPr>
        <p:txBody>
          <a:bodyPr wrap="square" lIns="0" rIns="0" tIns="0" bIns="0" anchor="ctr">
            <a:spAutoFit/>
          </a:bodyPr>
          <a:lstStyle/>
          <a:p>
            <a:pPr>
              <a:lnSpc>
                <a:spcPct val="120000"/>
              </a:lnSpc>
            </a:pPr>
            <a:r>
              <a:rPr sz="2325" b="1">
                <a:solidFill>
                  <a:srgbClr val="1A2A5E"/>
                </a:solidFill>
                <a:latin typeface="Pretendard"/>
                <a:ea typeface="Pretendard"/>
                <a:cs typeface="Pretendard"/>
              </a:rPr>
              <a:t>구간 집계에는 「미정」 구간</a:t>
            </a:r>
          </a:p>
          <a:p>
            <a:pPr>
              <a:lnSpc>
                <a:spcPct val="125000"/>
              </a:lnSpc>
              <a:spcBef>
                <a:spcPts val="300"/>
              </a:spcBef>
            </a:pPr>
            <a:r>
              <a:rPr sz="1650" b="0">
                <a:solidFill>
                  <a:srgbClr val="3D3D3D"/>
                </a:solidFill>
                <a:latin typeface="Pretendard"/>
                <a:ea typeface="Pretendard"/>
                <a:cs typeface="Pretendard"/>
              </a:rPr>
              <a:t>NULL 행은 어디에도 속하지 않는다</a:t>
            </a:r>
          </a:p>
        </p:txBody>
      </p:sp>
      <p:sp>
        <p:nvSpPr>
          <p:cNvPr id="17" name="Rounded Rectangle 16"/>
          <p:cNvSpPr/>
          <p:nvPr/>
        </p:nvSpPr>
        <p:spPr>
          <a:xfrm>
            <a:off x="1143000" y="5577840"/>
            <a:ext cx="16002000" cy="849630"/>
          </a:xfrm>
          <a:prstGeom prst="roundRect">
            <a:avLst>
              <a:gd name="adj" fmla="val 6726"/>
            </a:avLst>
          </a:prstGeom>
          <a:solidFill>
            <a:srgbClr val="FAFBFD"/>
          </a:solidFill>
          <a:ln w="9525">
            <a:solidFill>
              <a:srgbClr val="DCE1E8"/>
            </a:solidFill>
          </a:ln>
          <a:effectLst/>
        </p:spPr>
        <p:txBody>
          <a:bodyPr rtlCol="0" anchor="ctr" wrap="square"/>
          <a:lstStyle/>
          <a:p>
            <a:pPr algn="ctr"/>
          </a:p>
        </p:txBody>
      </p:sp>
      <p:sp>
        <p:nvSpPr>
          <p:cNvPr id="18" name="Rounded Rectangle 17"/>
          <p:cNvSpPr/>
          <p:nvPr/>
        </p:nvSpPr>
        <p:spPr>
          <a:xfrm>
            <a:off x="1466850" y="5802630"/>
            <a:ext cx="400050" cy="400050"/>
          </a:xfrm>
          <a:prstGeom prst="roundRect">
            <a:avLst>
              <a:gd name="adj" fmla="val 14285"/>
            </a:avLst>
          </a:prstGeom>
          <a:solidFill>
            <a:srgbClr val="FFFFFF"/>
          </a:solidFill>
          <a:ln w="28575">
            <a:solidFill>
              <a:srgbClr val="1A2A5E"/>
            </a:solidFill>
          </a:ln>
          <a:effectLst/>
        </p:spPr>
        <p:txBody>
          <a:bodyPr rtlCol="0" anchor="ctr" wrap="square"/>
          <a:lstStyle/>
          <a:p>
            <a:pPr algn="ctr"/>
          </a:p>
        </p:txBody>
      </p:sp>
      <p:sp>
        <p:nvSpPr>
          <p:cNvPr id="19" name="TextBox 18"/>
          <p:cNvSpPr txBox="1"/>
          <p:nvPr/>
        </p:nvSpPr>
        <p:spPr>
          <a:xfrm>
            <a:off x="2133600" y="5673090"/>
            <a:ext cx="14725650" cy="659130"/>
          </a:xfrm>
          <a:prstGeom prst="rect">
            <a:avLst/>
          </a:prstGeom>
          <a:noFill/>
        </p:spPr>
        <p:txBody>
          <a:bodyPr wrap="square" lIns="0" rIns="0" tIns="0" bIns="0" anchor="ctr">
            <a:spAutoFit/>
          </a:bodyPr>
          <a:lstStyle/>
          <a:p>
            <a:pPr>
              <a:lnSpc>
                <a:spcPct val="120000"/>
              </a:lnSpc>
            </a:pPr>
            <a:r>
              <a:rPr sz="2325" b="1">
                <a:solidFill>
                  <a:srgbClr val="1A2A5E"/>
                </a:solidFill>
                <a:latin typeface="Pretendard"/>
                <a:ea typeface="Pretendard"/>
                <a:cs typeface="Pretendard"/>
              </a:rPr>
              <a:t>보고서에는 IFNULL로 읽기 좋게</a:t>
            </a:r>
          </a:p>
          <a:p>
            <a:pPr>
              <a:lnSpc>
                <a:spcPct val="125000"/>
              </a:lnSpc>
              <a:spcBef>
                <a:spcPts val="300"/>
              </a:spcBef>
            </a:pPr>
            <a:r>
              <a:rPr sz="1650" b="0">
                <a:solidFill>
                  <a:srgbClr val="3D3D3D"/>
                </a:solidFill>
                <a:latin typeface="Pretendard"/>
                <a:ea typeface="Pretendard"/>
                <a:cs typeface="Pretendard"/>
              </a:rPr>
              <a:t>IFNULL(salary, 0), IFNULL(e.name, '온라인')</a:t>
            </a:r>
          </a:p>
        </p:txBody>
      </p:sp>
      <p:sp>
        <p:nvSpPr>
          <p:cNvPr id="20" name="Rounded Rectangle 19"/>
          <p:cNvSpPr/>
          <p:nvPr/>
        </p:nvSpPr>
        <p:spPr>
          <a:xfrm>
            <a:off x="1143000" y="6579870"/>
            <a:ext cx="16002000" cy="849630"/>
          </a:xfrm>
          <a:prstGeom prst="roundRect">
            <a:avLst>
              <a:gd name="adj" fmla="val 6726"/>
            </a:avLst>
          </a:prstGeom>
          <a:solidFill>
            <a:srgbClr val="FAFBFD"/>
          </a:solidFill>
          <a:ln w="9525">
            <a:solidFill>
              <a:srgbClr val="DCE1E8"/>
            </a:solidFill>
          </a:ln>
          <a:effectLst/>
        </p:spPr>
        <p:txBody>
          <a:bodyPr rtlCol="0" anchor="ctr" wrap="square"/>
          <a:lstStyle/>
          <a:p>
            <a:pPr algn="ctr"/>
          </a:p>
        </p:txBody>
      </p:sp>
      <p:sp>
        <p:nvSpPr>
          <p:cNvPr id="21" name="Rounded Rectangle 20"/>
          <p:cNvSpPr/>
          <p:nvPr/>
        </p:nvSpPr>
        <p:spPr>
          <a:xfrm>
            <a:off x="1466850" y="6804660"/>
            <a:ext cx="400050" cy="400050"/>
          </a:xfrm>
          <a:prstGeom prst="roundRect">
            <a:avLst>
              <a:gd name="adj" fmla="val 14285"/>
            </a:avLst>
          </a:prstGeom>
          <a:solidFill>
            <a:srgbClr val="FFFFFF"/>
          </a:solidFill>
          <a:ln w="28575">
            <a:solidFill>
              <a:srgbClr val="1A2A5E"/>
            </a:solidFill>
          </a:ln>
          <a:effectLst/>
        </p:spPr>
        <p:txBody>
          <a:bodyPr rtlCol="0" anchor="ctr" wrap="square"/>
          <a:lstStyle/>
          <a:p>
            <a:pPr algn="ctr"/>
          </a:p>
        </p:txBody>
      </p:sp>
      <p:sp>
        <p:nvSpPr>
          <p:cNvPr id="22" name="TextBox 21"/>
          <p:cNvSpPr txBox="1"/>
          <p:nvPr/>
        </p:nvSpPr>
        <p:spPr>
          <a:xfrm>
            <a:off x="2133600" y="6675120"/>
            <a:ext cx="14725650" cy="659130"/>
          </a:xfrm>
          <a:prstGeom prst="rect">
            <a:avLst/>
          </a:prstGeom>
          <a:noFill/>
        </p:spPr>
        <p:txBody>
          <a:bodyPr wrap="square" lIns="0" rIns="0" tIns="0" bIns="0" anchor="ctr">
            <a:spAutoFit/>
          </a:bodyPr>
          <a:lstStyle/>
          <a:p>
            <a:pPr>
              <a:lnSpc>
                <a:spcPct val="120000"/>
              </a:lnSpc>
            </a:pPr>
            <a:r>
              <a:rPr sz="2325" b="1">
                <a:solidFill>
                  <a:srgbClr val="1A2A5E"/>
                </a:solidFill>
                <a:latin typeface="Pretendard"/>
                <a:ea typeface="Pretendard"/>
                <a:cs typeface="Pretendard"/>
              </a:rPr>
              <a:t>입력 단계에서 막는 것이 최선</a:t>
            </a:r>
          </a:p>
          <a:p>
            <a:pPr>
              <a:lnSpc>
                <a:spcPct val="125000"/>
              </a:lnSpc>
              <a:spcBef>
                <a:spcPts val="300"/>
              </a:spcBef>
            </a:pPr>
            <a:r>
              <a:rPr sz="1650" b="0">
                <a:solidFill>
                  <a:srgbClr val="3D3D3D"/>
                </a:solidFill>
                <a:latin typeface="Pretendard"/>
                <a:ea typeface="Pretendard"/>
                <a:cs typeface="Pretendard"/>
              </a:rPr>
              <a:t>꼭 있어야 하는 값이면 NOT NULL 제약(3장)</a:t>
            </a:r>
          </a:p>
        </p:txBody>
      </p:sp>
      <p:sp>
        <p:nvSpPr>
          <p:cNvPr id="23" name="Rectangle 22"/>
          <p:cNvSpPr/>
          <p:nvPr/>
        </p:nvSpPr>
        <p:spPr>
          <a:xfrm>
            <a:off x="1143000" y="7600950"/>
            <a:ext cx="38100" cy="323850"/>
          </a:xfrm>
          <a:prstGeom prst="rect">
            <a:avLst/>
          </a:prstGeom>
          <a:solidFill>
            <a:srgbClr val="BFD3F5"/>
          </a:solidFill>
          <a:ln>
            <a:noFill/>
          </a:ln>
          <a:effectLst/>
        </p:spPr>
        <p:txBody>
          <a:bodyPr rtlCol="0" anchor="ctr" wrap="square"/>
          <a:lstStyle/>
          <a:p>
            <a:pPr algn="ctr"/>
          </a:p>
        </p:txBody>
      </p:sp>
      <p:sp>
        <p:nvSpPr>
          <p:cNvPr id="24" name="TextBox 23"/>
          <p:cNvSpPr txBox="1"/>
          <p:nvPr/>
        </p:nvSpPr>
        <p:spPr>
          <a:xfrm>
            <a:off x="1314450" y="7600950"/>
            <a:ext cx="15830550" cy="342900"/>
          </a:xfrm>
          <a:prstGeom prst="rect">
            <a:avLst/>
          </a:prstGeom>
          <a:noFill/>
        </p:spPr>
        <p:txBody>
          <a:bodyPr wrap="square" lIns="0" rIns="0" tIns="0" bIns="0" anchor="t">
            <a:spAutoFit/>
          </a:bodyPr>
          <a:lstStyle/>
          <a:p>
            <a:pPr algn="l">
              <a:lnSpc>
                <a:spcPct val="100000"/>
              </a:lnSpc>
            </a:pPr>
            <a:r>
              <a:rPr sz="1725" b="1">
                <a:solidFill>
                  <a:srgbClr val="7D7D7D"/>
                </a:solidFill>
                <a:latin typeface="Pretendard"/>
                <a:ea typeface="Pretendard"/>
                <a:cs typeface="Pretendard"/>
              </a:rPr>
              <a:t>숫자가 맞지 않으면 가장 먼저 NULL을 의심한다</a:t>
            </a:r>
          </a:p>
        </p:txBody>
      </p:sp>
      <p:sp>
        <p:nvSpPr>
          <p:cNvPr id="25" name="Rectangle 24"/>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26" name="TextBox 25"/>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27" name="TextBox 26"/>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확인 퀴즈</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확인 퀴즈</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2857500"/>
            <a:ext cx="16002000" cy="1802130"/>
          </a:xfrm>
          <a:prstGeom prst="roundRect">
            <a:avLst>
              <a:gd name="adj" fmla="val 3171"/>
            </a:avLst>
          </a:prstGeom>
          <a:solidFill>
            <a:srgbClr val="1A2A5E"/>
          </a:solidFill>
          <a:ln>
            <a:noFill/>
          </a:ln>
          <a:effectLst/>
        </p:spPr>
        <p:txBody>
          <a:bodyPr rtlCol="0" anchor="ctr" wrap="square"/>
          <a:lstStyle/>
          <a:p>
            <a:pPr algn="ctr"/>
          </a:p>
        </p:txBody>
      </p:sp>
      <p:sp>
        <p:nvSpPr>
          <p:cNvPr id="9" name="TextBox 8"/>
          <p:cNvSpPr txBox="1"/>
          <p:nvPr/>
        </p:nvSpPr>
        <p:spPr>
          <a:xfrm>
            <a:off x="1638300" y="3295650"/>
            <a:ext cx="15011400" cy="1230630"/>
          </a:xfrm>
          <a:prstGeom prst="rect">
            <a:avLst/>
          </a:prstGeom>
          <a:noFill/>
        </p:spPr>
        <p:txBody>
          <a:bodyPr wrap="square" lIns="0" rIns="0" tIns="0" bIns="0" anchor="t">
            <a:spAutoFit/>
          </a:bodyPr>
          <a:lstStyle/>
          <a:p>
            <a:pPr algn="l">
              <a:lnSpc>
                <a:spcPct val="130000"/>
              </a:lnSpc>
            </a:pPr>
            <a:r>
              <a:rPr sz="2700" b="1">
                <a:solidFill>
                  <a:srgbClr val="FFFFFF"/>
                </a:solidFill>
                <a:latin typeface="Pretendard"/>
                <a:ea typeface="Pretendard"/>
                <a:cs typeface="Pretendard"/>
              </a:rPr>
              <a:t>다온유통에서 다음 네 작업을 맡은 명령을 SQL 4분류로 짝지을 때 옳은 것은? (가) customers 테이블 생성 (나) VIP 고객 명단 조회 (다) 영업팀에 조회 권한 부여 (라) 주문 처리 변경을 확정</a:t>
            </a:r>
          </a:p>
        </p:txBody>
      </p:sp>
      <p:sp>
        <p:nvSpPr>
          <p:cNvPr id="10" name="Rounded Rectangle 9"/>
          <p:cNvSpPr/>
          <p:nvPr/>
        </p:nvSpPr>
        <p:spPr>
          <a:xfrm>
            <a:off x="1143000" y="5097780"/>
            <a:ext cx="7810500" cy="1181100"/>
          </a:xfrm>
          <a:prstGeom prst="roundRect">
            <a:avLst>
              <a:gd name="adj" fmla="val 4838"/>
            </a:avLst>
          </a:prstGeom>
          <a:solidFill>
            <a:srgbClr val="FFFFFF"/>
          </a:solidFill>
          <a:ln w="19050">
            <a:solidFill>
              <a:srgbClr val="DCE1E8"/>
            </a:solidFill>
          </a:ln>
          <a:effectLst/>
        </p:spPr>
        <p:txBody>
          <a:bodyPr rtlCol="0" anchor="ctr" wrap="square"/>
          <a:lstStyle/>
          <a:p>
            <a:pPr algn="ctr"/>
          </a:p>
        </p:txBody>
      </p:sp>
      <p:sp>
        <p:nvSpPr>
          <p:cNvPr id="11" name="Oval 10"/>
          <p:cNvSpPr/>
          <p:nvPr/>
        </p:nvSpPr>
        <p:spPr>
          <a:xfrm>
            <a:off x="1428750" y="5440680"/>
            <a:ext cx="495300" cy="495300"/>
          </a:xfrm>
          <a:prstGeom prst="ellipse">
            <a:avLst/>
          </a:prstGeom>
          <a:solidFill>
            <a:srgbClr val="EDF3FD"/>
          </a:solidFill>
          <a:ln>
            <a:noFill/>
          </a:ln>
          <a:effectLst/>
        </p:spPr>
        <p:txBody>
          <a:bodyPr rtlCol="0" anchor="ctr" wrap="square"/>
          <a:lstStyle/>
          <a:p>
            <a:pPr algn="ctr"/>
          </a:p>
        </p:txBody>
      </p:sp>
      <p:sp>
        <p:nvSpPr>
          <p:cNvPr id="12" name="TextBox 11"/>
          <p:cNvSpPr txBox="1"/>
          <p:nvPr/>
        </p:nvSpPr>
        <p:spPr>
          <a:xfrm>
            <a:off x="1428750" y="5554980"/>
            <a:ext cx="495300" cy="323850"/>
          </a:xfrm>
          <a:prstGeom prst="rect">
            <a:avLst/>
          </a:prstGeom>
          <a:noFill/>
        </p:spPr>
        <p:txBody>
          <a:bodyPr wrap="square" lIns="0" rIns="0" tIns="0" bIns="0" anchor="t">
            <a:spAutoFit/>
          </a:bodyPr>
          <a:lstStyle/>
          <a:p>
            <a:pPr algn="ctr">
              <a:lnSpc>
                <a:spcPct val="100000"/>
              </a:lnSpc>
            </a:pPr>
            <a:r>
              <a:rPr sz="2250" b="1">
                <a:solidFill>
                  <a:srgbClr val="0046C8"/>
                </a:solidFill>
                <a:latin typeface="Pretendard"/>
                <a:ea typeface="Pretendard"/>
                <a:cs typeface="Pretendard"/>
              </a:rPr>
              <a:t>①</a:t>
            </a:r>
          </a:p>
        </p:txBody>
      </p:sp>
      <p:sp>
        <p:nvSpPr>
          <p:cNvPr id="13" name="TextBox 12"/>
          <p:cNvSpPr txBox="1"/>
          <p:nvPr/>
        </p:nvSpPr>
        <p:spPr>
          <a:xfrm>
            <a:off x="2114550" y="5097780"/>
            <a:ext cx="6515100" cy="1181100"/>
          </a:xfrm>
          <a:prstGeom prst="rect">
            <a:avLst/>
          </a:prstGeom>
          <a:noFill/>
        </p:spPr>
        <p:txBody>
          <a:bodyPr wrap="square" lIns="0" rIns="0" tIns="0" bIns="0" anchor="ctr">
            <a:spAutoFit/>
          </a:bodyPr>
          <a:lstStyle/>
          <a:p>
            <a:pPr algn="l">
              <a:lnSpc>
                <a:spcPct val="125000"/>
              </a:lnSpc>
            </a:pPr>
            <a:r>
              <a:rPr sz="2550" b="1">
                <a:solidFill>
                  <a:srgbClr val="1A2A5E"/>
                </a:solidFill>
                <a:latin typeface="Pretendard"/>
                <a:ea typeface="Pretendard"/>
                <a:cs typeface="Pretendard"/>
              </a:rPr>
              <a:t>(가) DDL (나) DML (다) DCL (라) TCL</a:t>
            </a:r>
          </a:p>
        </p:txBody>
      </p:sp>
      <p:sp>
        <p:nvSpPr>
          <p:cNvPr id="14" name="Rounded Rectangle 13"/>
          <p:cNvSpPr/>
          <p:nvPr/>
        </p:nvSpPr>
        <p:spPr>
          <a:xfrm>
            <a:off x="9334500" y="5097780"/>
            <a:ext cx="7810500" cy="1181100"/>
          </a:xfrm>
          <a:prstGeom prst="roundRect">
            <a:avLst>
              <a:gd name="adj" fmla="val 4838"/>
            </a:avLst>
          </a:prstGeom>
          <a:solidFill>
            <a:srgbClr val="FFFFFF"/>
          </a:solidFill>
          <a:ln w="19050">
            <a:solidFill>
              <a:srgbClr val="DCE1E8"/>
            </a:solidFill>
          </a:ln>
          <a:effectLst/>
        </p:spPr>
        <p:txBody>
          <a:bodyPr rtlCol="0" anchor="ctr" wrap="square"/>
          <a:lstStyle/>
          <a:p>
            <a:pPr algn="ctr"/>
          </a:p>
        </p:txBody>
      </p:sp>
      <p:sp>
        <p:nvSpPr>
          <p:cNvPr id="15" name="Oval 14"/>
          <p:cNvSpPr/>
          <p:nvPr/>
        </p:nvSpPr>
        <p:spPr>
          <a:xfrm>
            <a:off x="9620250" y="5440680"/>
            <a:ext cx="495300" cy="495300"/>
          </a:xfrm>
          <a:prstGeom prst="ellipse">
            <a:avLst/>
          </a:prstGeom>
          <a:solidFill>
            <a:srgbClr val="EDF3FD"/>
          </a:solidFill>
          <a:ln>
            <a:noFill/>
          </a:ln>
          <a:effectLst/>
        </p:spPr>
        <p:txBody>
          <a:bodyPr rtlCol="0" anchor="ctr" wrap="square"/>
          <a:lstStyle/>
          <a:p>
            <a:pPr algn="ctr"/>
          </a:p>
        </p:txBody>
      </p:sp>
      <p:sp>
        <p:nvSpPr>
          <p:cNvPr id="16" name="TextBox 15"/>
          <p:cNvSpPr txBox="1"/>
          <p:nvPr/>
        </p:nvSpPr>
        <p:spPr>
          <a:xfrm>
            <a:off x="9620250" y="5554980"/>
            <a:ext cx="495300" cy="323850"/>
          </a:xfrm>
          <a:prstGeom prst="rect">
            <a:avLst/>
          </a:prstGeom>
          <a:noFill/>
        </p:spPr>
        <p:txBody>
          <a:bodyPr wrap="square" lIns="0" rIns="0" tIns="0" bIns="0" anchor="t">
            <a:spAutoFit/>
          </a:bodyPr>
          <a:lstStyle/>
          <a:p>
            <a:pPr algn="ctr">
              <a:lnSpc>
                <a:spcPct val="100000"/>
              </a:lnSpc>
            </a:pPr>
            <a:r>
              <a:rPr sz="2250" b="1">
                <a:solidFill>
                  <a:srgbClr val="0046C8"/>
                </a:solidFill>
                <a:latin typeface="Pretendard"/>
                <a:ea typeface="Pretendard"/>
                <a:cs typeface="Pretendard"/>
              </a:rPr>
              <a:t>②</a:t>
            </a:r>
          </a:p>
        </p:txBody>
      </p:sp>
      <p:sp>
        <p:nvSpPr>
          <p:cNvPr id="17" name="TextBox 16"/>
          <p:cNvSpPr txBox="1"/>
          <p:nvPr/>
        </p:nvSpPr>
        <p:spPr>
          <a:xfrm>
            <a:off x="10306050" y="5097780"/>
            <a:ext cx="6515100" cy="1181100"/>
          </a:xfrm>
          <a:prstGeom prst="rect">
            <a:avLst/>
          </a:prstGeom>
          <a:noFill/>
        </p:spPr>
        <p:txBody>
          <a:bodyPr wrap="square" lIns="0" rIns="0" tIns="0" bIns="0" anchor="ctr">
            <a:spAutoFit/>
          </a:bodyPr>
          <a:lstStyle/>
          <a:p>
            <a:pPr algn="l">
              <a:lnSpc>
                <a:spcPct val="125000"/>
              </a:lnSpc>
            </a:pPr>
            <a:r>
              <a:rPr sz="2550" b="1">
                <a:solidFill>
                  <a:srgbClr val="1A2A5E"/>
                </a:solidFill>
                <a:latin typeface="Pretendard"/>
                <a:ea typeface="Pretendard"/>
                <a:cs typeface="Pretendard"/>
              </a:rPr>
              <a:t>(가) DDL (나) DML (다) TCL (라) DCL</a:t>
            </a:r>
          </a:p>
        </p:txBody>
      </p:sp>
      <p:sp>
        <p:nvSpPr>
          <p:cNvPr id="18" name="Rounded Rectangle 17"/>
          <p:cNvSpPr/>
          <p:nvPr/>
        </p:nvSpPr>
        <p:spPr>
          <a:xfrm>
            <a:off x="1143000" y="6526530"/>
            <a:ext cx="7810500" cy="1181100"/>
          </a:xfrm>
          <a:prstGeom prst="roundRect">
            <a:avLst>
              <a:gd name="adj" fmla="val 4838"/>
            </a:avLst>
          </a:prstGeom>
          <a:solidFill>
            <a:srgbClr val="FFFFFF"/>
          </a:solidFill>
          <a:ln w="19050">
            <a:solidFill>
              <a:srgbClr val="DCE1E8"/>
            </a:solidFill>
          </a:ln>
          <a:effectLst/>
        </p:spPr>
        <p:txBody>
          <a:bodyPr rtlCol="0" anchor="ctr" wrap="square"/>
          <a:lstStyle/>
          <a:p>
            <a:pPr algn="ctr"/>
          </a:p>
        </p:txBody>
      </p:sp>
      <p:sp>
        <p:nvSpPr>
          <p:cNvPr id="19" name="Oval 18"/>
          <p:cNvSpPr/>
          <p:nvPr/>
        </p:nvSpPr>
        <p:spPr>
          <a:xfrm>
            <a:off x="1428750" y="6869430"/>
            <a:ext cx="495300" cy="495300"/>
          </a:xfrm>
          <a:prstGeom prst="ellipse">
            <a:avLst/>
          </a:prstGeom>
          <a:solidFill>
            <a:srgbClr val="EDF3FD"/>
          </a:solidFill>
          <a:ln>
            <a:noFill/>
          </a:ln>
          <a:effectLst/>
        </p:spPr>
        <p:txBody>
          <a:bodyPr rtlCol="0" anchor="ctr" wrap="square"/>
          <a:lstStyle/>
          <a:p>
            <a:pPr algn="ctr"/>
          </a:p>
        </p:txBody>
      </p:sp>
      <p:sp>
        <p:nvSpPr>
          <p:cNvPr id="20" name="TextBox 19"/>
          <p:cNvSpPr txBox="1"/>
          <p:nvPr/>
        </p:nvSpPr>
        <p:spPr>
          <a:xfrm>
            <a:off x="1428750" y="6983730"/>
            <a:ext cx="495300" cy="323850"/>
          </a:xfrm>
          <a:prstGeom prst="rect">
            <a:avLst/>
          </a:prstGeom>
          <a:noFill/>
        </p:spPr>
        <p:txBody>
          <a:bodyPr wrap="square" lIns="0" rIns="0" tIns="0" bIns="0" anchor="t">
            <a:spAutoFit/>
          </a:bodyPr>
          <a:lstStyle/>
          <a:p>
            <a:pPr algn="ctr">
              <a:lnSpc>
                <a:spcPct val="100000"/>
              </a:lnSpc>
            </a:pPr>
            <a:r>
              <a:rPr sz="2250" b="1">
                <a:solidFill>
                  <a:srgbClr val="0046C8"/>
                </a:solidFill>
                <a:latin typeface="Pretendard"/>
                <a:ea typeface="Pretendard"/>
                <a:cs typeface="Pretendard"/>
              </a:rPr>
              <a:t>③</a:t>
            </a:r>
          </a:p>
        </p:txBody>
      </p:sp>
      <p:sp>
        <p:nvSpPr>
          <p:cNvPr id="21" name="TextBox 20"/>
          <p:cNvSpPr txBox="1"/>
          <p:nvPr/>
        </p:nvSpPr>
        <p:spPr>
          <a:xfrm>
            <a:off x="2114550" y="6526530"/>
            <a:ext cx="6515100" cy="1181100"/>
          </a:xfrm>
          <a:prstGeom prst="rect">
            <a:avLst/>
          </a:prstGeom>
          <a:noFill/>
        </p:spPr>
        <p:txBody>
          <a:bodyPr wrap="square" lIns="0" rIns="0" tIns="0" bIns="0" anchor="ctr">
            <a:spAutoFit/>
          </a:bodyPr>
          <a:lstStyle/>
          <a:p>
            <a:pPr algn="l">
              <a:lnSpc>
                <a:spcPct val="125000"/>
              </a:lnSpc>
            </a:pPr>
            <a:r>
              <a:rPr sz="2550" b="1">
                <a:solidFill>
                  <a:srgbClr val="1A2A5E"/>
                </a:solidFill>
                <a:latin typeface="Pretendard"/>
                <a:ea typeface="Pretendard"/>
                <a:cs typeface="Pretendard"/>
              </a:rPr>
              <a:t>(가) DML (나) DDL (다) DCL (라) TCL</a:t>
            </a:r>
          </a:p>
        </p:txBody>
      </p:sp>
      <p:sp>
        <p:nvSpPr>
          <p:cNvPr id="22" name="Rounded Rectangle 21"/>
          <p:cNvSpPr/>
          <p:nvPr/>
        </p:nvSpPr>
        <p:spPr>
          <a:xfrm>
            <a:off x="9334500" y="6526530"/>
            <a:ext cx="7810500" cy="1181100"/>
          </a:xfrm>
          <a:prstGeom prst="roundRect">
            <a:avLst>
              <a:gd name="adj" fmla="val 4838"/>
            </a:avLst>
          </a:prstGeom>
          <a:solidFill>
            <a:srgbClr val="FFFFFF"/>
          </a:solidFill>
          <a:ln w="19050">
            <a:solidFill>
              <a:srgbClr val="DCE1E8"/>
            </a:solidFill>
          </a:ln>
          <a:effectLst/>
        </p:spPr>
        <p:txBody>
          <a:bodyPr rtlCol="0" anchor="ctr" wrap="square"/>
          <a:lstStyle/>
          <a:p>
            <a:pPr algn="ctr"/>
          </a:p>
        </p:txBody>
      </p:sp>
      <p:sp>
        <p:nvSpPr>
          <p:cNvPr id="23" name="Oval 22"/>
          <p:cNvSpPr/>
          <p:nvPr/>
        </p:nvSpPr>
        <p:spPr>
          <a:xfrm>
            <a:off x="9620250" y="6869430"/>
            <a:ext cx="495300" cy="495300"/>
          </a:xfrm>
          <a:prstGeom prst="ellipse">
            <a:avLst/>
          </a:prstGeom>
          <a:solidFill>
            <a:srgbClr val="EDF3FD"/>
          </a:solidFill>
          <a:ln>
            <a:noFill/>
          </a:ln>
          <a:effectLst/>
        </p:spPr>
        <p:txBody>
          <a:bodyPr rtlCol="0" anchor="ctr" wrap="square"/>
          <a:lstStyle/>
          <a:p>
            <a:pPr algn="ctr"/>
          </a:p>
        </p:txBody>
      </p:sp>
      <p:sp>
        <p:nvSpPr>
          <p:cNvPr id="24" name="TextBox 23"/>
          <p:cNvSpPr txBox="1"/>
          <p:nvPr/>
        </p:nvSpPr>
        <p:spPr>
          <a:xfrm>
            <a:off x="9620250" y="6983730"/>
            <a:ext cx="495300" cy="323850"/>
          </a:xfrm>
          <a:prstGeom prst="rect">
            <a:avLst/>
          </a:prstGeom>
          <a:noFill/>
        </p:spPr>
        <p:txBody>
          <a:bodyPr wrap="square" lIns="0" rIns="0" tIns="0" bIns="0" anchor="t">
            <a:spAutoFit/>
          </a:bodyPr>
          <a:lstStyle/>
          <a:p>
            <a:pPr algn="ctr">
              <a:lnSpc>
                <a:spcPct val="100000"/>
              </a:lnSpc>
            </a:pPr>
            <a:r>
              <a:rPr sz="2250" b="1">
                <a:solidFill>
                  <a:srgbClr val="0046C8"/>
                </a:solidFill>
                <a:latin typeface="Pretendard"/>
                <a:ea typeface="Pretendard"/>
                <a:cs typeface="Pretendard"/>
              </a:rPr>
              <a:t>④</a:t>
            </a:r>
          </a:p>
        </p:txBody>
      </p:sp>
      <p:sp>
        <p:nvSpPr>
          <p:cNvPr id="25" name="TextBox 24"/>
          <p:cNvSpPr txBox="1"/>
          <p:nvPr/>
        </p:nvSpPr>
        <p:spPr>
          <a:xfrm>
            <a:off x="10306050" y="6526530"/>
            <a:ext cx="6515100" cy="1181100"/>
          </a:xfrm>
          <a:prstGeom prst="rect">
            <a:avLst/>
          </a:prstGeom>
          <a:noFill/>
        </p:spPr>
        <p:txBody>
          <a:bodyPr wrap="square" lIns="0" rIns="0" tIns="0" bIns="0" anchor="ctr">
            <a:spAutoFit/>
          </a:bodyPr>
          <a:lstStyle/>
          <a:p>
            <a:pPr algn="l">
              <a:lnSpc>
                <a:spcPct val="125000"/>
              </a:lnSpc>
            </a:pPr>
            <a:r>
              <a:rPr sz="2550" b="1">
                <a:solidFill>
                  <a:srgbClr val="1A2A5E"/>
                </a:solidFill>
                <a:latin typeface="Pretendard"/>
                <a:ea typeface="Pretendard"/>
                <a:cs typeface="Pretendard"/>
              </a:rPr>
              <a:t>(가) DDL (나) DCL (다) DML (라) TCL</a:t>
            </a:r>
          </a:p>
        </p:txBody>
      </p:sp>
      <p:sp>
        <p:nvSpPr>
          <p:cNvPr id="26" name="Rectangle 25"/>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27" name="TextBox 26"/>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28" name="TextBox 27"/>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확인 퀴즈</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정답 및 해설</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3048000"/>
            <a:ext cx="16002000" cy="1428750"/>
          </a:xfrm>
          <a:prstGeom prst="roundRect">
            <a:avLst>
              <a:gd name="adj" fmla="val 4000"/>
            </a:avLst>
          </a:prstGeom>
          <a:solidFill>
            <a:srgbClr val="1A2A5E"/>
          </a:solidFill>
          <a:ln>
            <a:noFill/>
          </a:ln>
          <a:effectLst/>
        </p:spPr>
        <p:txBody>
          <a:bodyPr rtlCol="0" anchor="ctr" wrap="square"/>
          <a:lstStyle/>
          <a:p>
            <a:pPr algn="ctr"/>
          </a:p>
        </p:txBody>
      </p:sp>
      <p:sp>
        <p:nvSpPr>
          <p:cNvPr id="9" name="TextBox 8"/>
          <p:cNvSpPr txBox="1"/>
          <p:nvPr/>
        </p:nvSpPr>
        <p:spPr>
          <a:xfrm>
            <a:off x="1638300" y="3333750"/>
            <a:ext cx="2095500" cy="419100"/>
          </a:xfrm>
          <a:prstGeom prst="rect">
            <a:avLst/>
          </a:prstGeom>
          <a:noFill/>
        </p:spPr>
        <p:txBody>
          <a:bodyPr wrap="square" lIns="0" rIns="0" tIns="0" bIns="0" anchor="t">
            <a:spAutoFit/>
          </a:bodyPr>
          <a:lstStyle/>
          <a:p>
            <a:pPr algn="l">
              <a:lnSpc>
                <a:spcPct val="100000"/>
              </a:lnSpc>
            </a:pPr>
            <a:r>
              <a:rPr sz="1950" b="1" spc="180">
                <a:solidFill>
                  <a:srgbClr val="BFD3F5"/>
                </a:solidFill>
                <a:latin typeface="Pretendard"/>
                <a:ea typeface="Pretendard"/>
                <a:cs typeface="Pretendard"/>
              </a:rPr>
              <a:t>정답</a:t>
            </a:r>
          </a:p>
        </p:txBody>
      </p:sp>
      <p:sp>
        <p:nvSpPr>
          <p:cNvPr id="10" name="TextBox 9"/>
          <p:cNvSpPr txBox="1"/>
          <p:nvPr/>
        </p:nvSpPr>
        <p:spPr>
          <a:xfrm>
            <a:off x="1638300" y="3676650"/>
            <a:ext cx="15011400" cy="666750"/>
          </a:xfrm>
          <a:prstGeom prst="rect">
            <a:avLst/>
          </a:prstGeom>
          <a:noFill/>
        </p:spPr>
        <p:txBody>
          <a:bodyPr wrap="square" lIns="0" rIns="0" tIns="0" bIns="0" anchor="ctr">
            <a:spAutoFit/>
          </a:bodyPr>
          <a:lstStyle/>
          <a:p>
            <a:pPr algn="l">
              <a:lnSpc>
                <a:spcPct val="115000"/>
              </a:lnSpc>
            </a:pPr>
            <a:r>
              <a:rPr sz="3300" b="1">
                <a:solidFill>
                  <a:srgbClr val="FFFFFF"/>
                </a:solidFill>
                <a:latin typeface="Pretendard"/>
                <a:ea typeface="Pretendard"/>
                <a:cs typeface="Pretendard"/>
              </a:rPr>
              <a:t>① (가) DDL (나) DML (다) DCL (라) TCL</a:t>
            </a:r>
          </a:p>
        </p:txBody>
      </p:sp>
      <p:sp>
        <p:nvSpPr>
          <p:cNvPr id="11" name="Rounded Rectangle 10"/>
          <p:cNvSpPr/>
          <p:nvPr/>
        </p:nvSpPr>
        <p:spPr>
          <a:xfrm>
            <a:off x="1143000" y="4953000"/>
            <a:ext cx="16002000" cy="2857500"/>
          </a:xfrm>
          <a:prstGeom prst="roundRect">
            <a:avLst>
              <a:gd name="adj" fmla="val 1666"/>
            </a:avLst>
          </a:prstGeom>
          <a:solidFill>
            <a:srgbClr val="FAFBFD"/>
          </a:solidFill>
          <a:ln w="9525">
            <a:solidFill>
              <a:srgbClr val="DCE1E8"/>
            </a:solidFill>
          </a:ln>
          <a:effectLst/>
        </p:spPr>
        <p:txBody>
          <a:bodyPr rtlCol="0" anchor="ctr" wrap="square"/>
          <a:lstStyle/>
          <a:p>
            <a:pPr algn="ctr"/>
          </a:p>
        </p:txBody>
      </p:sp>
      <p:sp>
        <p:nvSpPr>
          <p:cNvPr id="12" name="Rectangle 11"/>
          <p:cNvSpPr/>
          <p:nvPr/>
        </p:nvSpPr>
        <p:spPr>
          <a:xfrm>
            <a:off x="1143000" y="4953000"/>
            <a:ext cx="57150" cy="2857500"/>
          </a:xfrm>
          <a:prstGeom prst="rect">
            <a:avLst/>
          </a:prstGeom>
          <a:solidFill>
            <a:srgbClr val="0046C8"/>
          </a:solidFill>
          <a:ln>
            <a:noFill/>
          </a:ln>
          <a:effectLst/>
        </p:spPr>
        <p:txBody>
          <a:bodyPr rtlCol="0" anchor="ctr" wrap="square"/>
          <a:lstStyle/>
          <a:p>
            <a:pPr algn="ctr"/>
          </a:p>
        </p:txBody>
      </p:sp>
      <p:sp>
        <p:nvSpPr>
          <p:cNvPr id="13" name="TextBox 12"/>
          <p:cNvSpPr txBox="1"/>
          <p:nvPr/>
        </p:nvSpPr>
        <p:spPr>
          <a:xfrm>
            <a:off x="1581150" y="5314950"/>
            <a:ext cx="2857500" cy="323850"/>
          </a:xfrm>
          <a:prstGeom prst="rect">
            <a:avLst/>
          </a:prstGeom>
          <a:noFill/>
        </p:spPr>
        <p:txBody>
          <a:bodyPr wrap="square" lIns="0" rIns="0" tIns="0" bIns="0" anchor="t">
            <a:spAutoFit/>
          </a:bodyPr>
          <a:lstStyle/>
          <a:p>
            <a:pPr algn="l">
              <a:lnSpc>
                <a:spcPct val="100000"/>
              </a:lnSpc>
            </a:pPr>
            <a:r>
              <a:rPr sz="1875" b="1" spc="160">
                <a:solidFill>
                  <a:srgbClr val="0046C8"/>
                </a:solidFill>
                <a:latin typeface="Pretendard"/>
                <a:ea typeface="Pretendard"/>
                <a:cs typeface="Pretendard"/>
              </a:rPr>
              <a:t>해설</a:t>
            </a:r>
          </a:p>
        </p:txBody>
      </p:sp>
      <p:sp>
        <p:nvSpPr>
          <p:cNvPr id="14" name="TextBox 13"/>
          <p:cNvSpPr txBox="1"/>
          <p:nvPr/>
        </p:nvSpPr>
        <p:spPr>
          <a:xfrm>
            <a:off x="1581150" y="5772150"/>
            <a:ext cx="15125700" cy="1809750"/>
          </a:xfrm>
          <a:prstGeom prst="rect">
            <a:avLst/>
          </a:prstGeom>
          <a:noFill/>
        </p:spPr>
        <p:txBody>
          <a:bodyPr wrap="square" lIns="0" rIns="0" tIns="0" bIns="0" anchor="t">
            <a:spAutoFit/>
          </a:bodyPr>
          <a:lstStyle/>
          <a:p>
            <a:pPr algn="l">
              <a:lnSpc>
                <a:spcPct val="150000"/>
              </a:lnSpc>
            </a:pPr>
            <a:r>
              <a:rPr sz="2550" b="1">
                <a:solidFill>
                  <a:srgbClr val="1A2A5E"/>
                </a:solidFill>
                <a:latin typeface="Pretendard"/>
                <a:ea typeface="Pretendard"/>
                <a:cs typeface="Pretendard"/>
              </a:rPr>
              <a:t>CREATE로 구조를 만드는 것은 데이터 정의어(DDL), SELECT로 데이터를 조회하는 것은 데이터 조작어(DML), GRANT로 권한을 주는 것은 데이터 제어어(DCL), COMMIT으로 변경을 확정하는 것은 트랜잭션 제어어(TCL)입니다. 경영학부 출신이 실무에서 가장 많이 쓰는 것은 DML의 SELECT이고, DDL과 DCL은 대체로 DB 관리자의 영역입니다.</a:t>
            </a:r>
          </a:p>
        </p:txBody>
      </p:sp>
      <p:sp>
        <p:nvSpPr>
          <p:cNvPr id="15" name="Rectangle 14"/>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16" name="TextBox 15"/>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17" name="TextBox 16"/>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정리</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핵심 요약</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ectangle 7"/>
          <p:cNvSpPr/>
          <p:nvPr/>
        </p:nvSpPr>
        <p:spPr>
          <a:xfrm>
            <a:off x="1143000" y="2876550"/>
            <a:ext cx="1428750" cy="542925"/>
          </a:xfrm>
          <a:prstGeom prst="rect">
            <a:avLst/>
          </a:prstGeom>
          <a:solidFill>
            <a:srgbClr val="1A2A5E"/>
          </a:solidFill>
          <a:ln>
            <a:noFill/>
          </a:ln>
          <a:effectLst/>
        </p:spPr>
        <p:txBody>
          <a:bodyPr rtlCol="0" anchor="ctr" wrap="square"/>
          <a:lstStyle/>
          <a:p>
            <a:pPr algn="ctr"/>
          </a:p>
        </p:txBody>
      </p:sp>
      <p:sp>
        <p:nvSpPr>
          <p:cNvPr id="9" name="TextBox 8"/>
          <p:cNvSpPr txBox="1"/>
          <p:nvPr/>
        </p:nvSpPr>
        <p:spPr>
          <a:xfrm>
            <a:off x="1409700" y="2876550"/>
            <a:ext cx="895350" cy="542925"/>
          </a:xfrm>
          <a:prstGeom prst="rect">
            <a:avLst/>
          </a:prstGeom>
          <a:noFill/>
        </p:spPr>
        <p:txBody>
          <a:bodyPr wrap="square" lIns="0" rIns="0" tIns="0" bIns="0" anchor="ctr">
            <a:spAutoFit/>
          </a:bodyPr>
          <a:lstStyle/>
          <a:p>
            <a:pPr algn="l">
              <a:lnSpc>
                <a:spcPct val="100000"/>
              </a:lnSpc>
            </a:pPr>
            <a:r>
              <a:rPr sz="2175" b="1">
                <a:solidFill>
                  <a:srgbClr val="FFFFFF"/>
                </a:solidFill>
                <a:latin typeface="Pretendard"/>
                <a:ea typeface="Pretendard"/>
                <a:cs typeface="Pretendard"/>
              </a:rPr>
              <a:t>핵심 ①</a:t>
            </a:r>
          </a:p>
        </p:txBody>
      </p:sp>
      <p:sp>
        <p:nvSpPr>
          <p:cNvPr id="10" name="Rectangle 9"/>
          <p:cNvSpPr/>
          <p:nvPr/>
        </p:nvSpPr>
        <p:spPr>
          <a:xfrm>
            <a:off x="2571750" y="2876550"/>
            <a:ext cx="14573250" cy="542925"/>
          </a:xfrm>
          <a:prstGeom prst="rect">
            <a:avLst/>
          </a:prstGeom>
          <a:solidFill>
            <a:srgbClr val="FAFBFD"/>
          </a:solidFill>
          <a:ln w="9525">
            <a:solidFill>
              <a:srgbClr val="DCE1E8"/>
            </a:solidFill>
          </a:ln>
          <a:effectLst/>
        </p:spPr>
        <p:txBody>
          <a:bodyPr rtlCol="0" anchor="ctr" wrap="square"/>
          <a:lstStyle/>
          <a:p>
            <a:pPr algn="ctr"/>
          </a:p>
        </p:txBody>
      </p:sp>
      <p:sp>
        <p:nvSpPr>
          <p:cNvPr id="11" name="TextBox 10"/>
          <p:cNvSpPr txBox="1"/>
          <p:nvPr/>
        </p:nvSpPr>
        <p:spPr>
          <a:xfrm>
            <a:off x="2857500" y="2876550"/>
            <a:ext cx="14001750" cy="542925"/>
          </a:xfrm>
          <a:prstGeom prst="rect">
            <a:avLst/>
          </a:prstGeom>
          <a:noFill/>
        </p:spPr>
        <p:txBody>
          <a:bodyPr wrap="square" lIns="0" rIns="0" tIns="0" bIns="0" anchor="ctr">
            <a:spAutoFit/>
          </a:bodyPr>
          <a:lstStyle/>
          <a:p>
            <a:pPr algn="l">
              <a:lnSpc>
                <a:spcPct val="100000"/>
              </a:lnSpc>
            </a:pPr>
            <a:r>
              <a:rPr sz="2100" b="0">
                <a:solidFill>
                  <a:srgbClr val="3D3D3D"/>
                </a:solidFill>
                <a:latin typeface="Pretendard"/>
                <a:ea typeface="Pretendard"/>
                <a:cs typeface="Pretendard"/>
              </a:rPr>
              <a:t>SQL은 결과(What)를 선언 — 실행 방법은 옵티마이저가 정한다</a:t>
            </a:r>
          </a:p>
        </p:txBody>
      </p:sp>
      <p:sp>
        <p:nvSpPr>
          <p:cNvPr id="12" name="Rectangle 11"/>
          <p:cNvSpPr/>
          <p:nvPr/>
        </p:nvSpPr>
        <p:spPr>
          <a:xfrm>
            <a:off x="1143000" y="3533775"/>
            <a:ext cx="1428750" cy="542925"/>
          </a:xfrm>
          <a:prstGeom prst="rect">
            <a:avLst/>
          </a:prstGeom>
          <a:solidFill>
            <a:srgbClr val="1A2A5E"/>
          </a:solidFill>
          <a:ln>
            <a:noFill/>
          </a:ln>
          <a:effectLst/>
        </p:spPr>
        <p:txBody>
          <a:bodyPr rtlCol="0" anchor="ctr" wrap="square"/>
          <a:lstStyle/>
          <a:p>
            <a:pPr algn="ctr"/>
          </a:p>
        </p:txBody>
      </p:sp>
      <p:sp>
        <p:nvSpPr>
          <p:cNvPr id="13" name="TextBox 12"/>
          <p:cNvSpPr txBox="1"/>
          <p:nvPr/>
        </p:nvSpPr>
        <p:spPr>
          <a:xfrm>
            <a:off x="1409700" y="3533775"/>
            <a:ext cx="895350" cy="542925"/>
          </a:xfrm>
          <a:prstGeom prst="rect">
            <a:avLst/>
          </a:prstGeom>
          <a:noFill/>
        </p:spPr>
        <p:txBody>
          <a:bodyPr wrap="square" lIns="0" rIns="0" tIns="0" bIns="0" anchor="ctr">
            <a:spAutoFit/>
          </a:bodyPr>
          <a:lstStyle/>
          <a:p>
            <a:pPr algn="l">
              <a:lnSpc>
                <a:spcPct val="100000"/>
              </a:lnSpc>
            </a:pPr>
            <a:r>
              <a:rPr sz="2175" b="1">
                <a:solidFill>
                  <a:srgbClr val="FFFFFF"/>
                </a:solidFill>
                <a:latin typeface="Pretendard"/>
                <a:ea typeface="Pretendard"/>
                <a:cs typeface="Pretendard"/>
              </a:rPr>
              <a:t>핵심 ②</a:t>
            </a:r>
          </a:p>
        </p:txBody>
      </p:sp>
      <p:sp>
        <p:nvSpPr>
          <p:cNvPr id="14" name="Rectangle 13"/>
          <p:cNvSpPr/>
          <p:nvPr/>
        </p:nvSpPr>
        <p:spPr>
          <a:xfrm>
            <a:off x="2571750" y="3533775"/>
            <a:ext cx="14573250" cy="542925"/>
          </a:xfrm>
          <a:prstGeom prst="rect">
            <a:avLst/>
          </a:prstGeom>
          <a:solidFill>
            <a:srgbClr val="FAFBFD"/>
          </a:solidFill>
          <a:ln w="9525">
            <a:solidFill>
              <a:srgbClr val="DCE1E8"/>
            </a:solidFill>
          </a:ln>
          <a:effectLst/>
        </p:spPr>
        <p:txBody>
          <a:bodyPr rtlCol="0" anchor="ctr" wrap="square"/>
          <a:lstStyle/>
          <a:p>
            <a:pPr algn="ctr"/>
          </a:p>
        </p:txBody>
      </p:sp>
      <p:sp>
        <p:nvSpPr>
          <p:cNvPr id="15" name="TextBox 14"/>
          <p:cNvSpPr txBox="1"/>
          <p:nvPr/>
        </p:nvSpPr>
        <p:spPr>
          <a:xfrm>
            <a:off x="2857500" y="3533775"/>
            <a:ext cx="14001750" cy="542925"/>
          </a:xfrm>
          <a:prstGeom prst="rect">
            <a:avLst/>
          </a:prstGeom>
          <a:noFill/>
        </p:spPr>
        <p:txBody>
          <a:bodyPr wrap="square" lIns="0" rIns="0" tIns="0" bIns="0" anchor="ctr">
            <a:spAutoFit/>
          </a:bodyPr>
          <a:lstStyle/>
          <a:p>
            <a:pPr algn="l">
              <a:lnSpc>
                <a:spcPct val="100000"/>
              </a:lnSpc>
            </a:pPr>
            <a:r>
              <a:rPr sz="2100" b="0">
                <a:solidFill>
                  <a:srgbClr val="3D3D3D"/>
                </a:solidFill>
                <a:latin typeface="Pretendard"/>
                <a:ea typeface="Pretendard"/>
                <a:cs typeface="Pretendard"/>
              </a:rPr>
              <a:t>선택=WHERE, 투영=SELECT 열 목록, 조인=JOIN ON, 집합=UNION 등</a:t>
            </a:r>
          </a:p>
        </p:txBody>
      </p:sp>
      <p:sp>
        <p:nvSpPr>
          <p:cNvPr id="16" name="Rectangle 15"/>
          <p:cNvSpPr/>
          <p:nvPr/>
        </p:nvSpPr>
        <p:spPr>
          <a:xfrm>
            <a:off x="1143000" y="4191000"/>
            <a:ext cx="1428750" cy="542925"/>
          </a:xfrm>
          <a:prstGeom prst="rect">
            <a:avLst/>
          </a:prstGeom>
          <a:solidFill>
            <a:srgbClr val="1A2A5E"/>
          </a:solidFill>
          <a:ln>
            <a:noFill/>
          </a:ln>
          <a:effectLst/>
        </p:spPr>
        <p:txBody>
          <a:bodyPr rtlCol="0" anchor="ctr" wrap="square"/>
          <a:lstStyle/>
          <a:p>
            <a:pPr algn="ctr"/>
          </a:p>
        </p:txBody>
      </p:sp>
      <p:sp>
        <p:nvSpPr>
          <p:cNvPr id="17" name="TextBox 16"/>
          <p:cNvSpPr txBox="1"/>
          <p:nvPr/>
        </p:nvSpPr>
        <p:spPr>
          <a:xfrm>
            <a:off x="1409700" y="4191000"/>
            <a:ext cx="895350" cy="542925"/>
          </a:xfrm>
          <a:prstGeom prst="rect">
            <a:avLst/>
          </a:prstGeom>
          <a:noFill/>
        </p:spPr>
        <p:txBody>
          <a:bodyPr wrap="square" lIns="0" rIns="0" tIns="0" bIns="0" anchor="ctr">
            <a:spAutoFit/>
          </a:bodyPr>
          <a:lstStyle/>
          <a:p>
            <a:pPr algn="l">
              <a:lnSpc>
                <a:spcPct val="100000"/>
              </a:lnSpc>
            </a:pPr>
            <a:r>
              <a:rPr sz="2175" b="1">
                <a:solidFill>
                  <a:srgbClr val="FFFFFF"/>
                </a:solidFill>
                <a:latin typeface="Pretendard"/>
                <a:ea typeface="Pretendard"/>
                <a:cs typeface="Pretendard"/>
              </a:rPr>
              <a:t>핵심 ③</a:t>
            </a:r>
          </a:p>
        </p:txBody>
      </p:sp>
      <p:sp>
        <p:nvSpPr>
          <p:cNvPr id="18" name="Rectangle 17"/>
          <p:cNvSpPr/>
          <p:nvPr/>
        </p:nvSpPr>
        <p:spPr>
          <a:xfrm>
            <a:off x="2571750" y="4191000"/>
            <a:ext cx="14573250" cy="542925"/>
          </a:xfrm>
          <a:prstGeom prst="rect">
            <a:avLst/>
          </a:prstGeom>
          <a:solidFill>
            <a:srgbClr val="FAFBFD"/>
          </a:solidFill>
          <a:ln w="9525">
            <a:solidFill>
              <a:srgbClr val="DCE1E8"/>
            </a:solidFill>
          </a:ln>
          <a:effectLst/>
        </p:spPr>
        <p:txBody>
          <a:bodyPr rtlCol="0" anchor="ctr" wrap="square"/>
          <a:lstStyle/>
          <a:p>
            <a:pPr algn="ctr"/>
          </a:p>
        </p:txBody>
      </p:sp>
      <p:sp>
        <p:nvSpPr>
          <p:cNvPr id="19" name="TextBox 18"/>
          <p:cNvSpPr txBox="1"/>
          <p:nvPr/>
        </p:nvSpPr>
        <p:spPr>
          <a:xfrm>
            <a:off x="2857500" y="4191000"/>
            <a:ext cx="14001750" cy="542925"/>
          </a:xfrm>
          <a:prstGeom prst="rect">
            <a:avLst/>
          </a:prstGeom>
          <a:noFill/>
        </p:spPr>
        <p:txBody>
          <a:bodyPr wrap="square" lIns="0" rIns="0" tIns="0" bIns="0" anchor="ctr">
            <a:spAutoFit/>
          </a:bodyPr>
          <a:lstStyle/>
          <a:p>
            <a:pPr algn="l">
              <a:lnSpc>
                <a:spcPct val="100000"/>
              </a:lnSpc>
            </a:pPr>
            <a:r>
              <a:rPr sz="2100" b="0">
                <a:solidFill>
                  <a:srgbClr val="3D3D3D"/>
                </a:solidFill>
                <a:latin typeface="Pretendard"/>
                <a:ea typeface="Pretendard"/>
                <a:cs typeface="Pretendard"/>
              </a:rPr>
              <a:t>조인 조건을 빠뜨리면 카티션 곱 — 결과가 폭발한다</a:t>
            </a:r>
          </a:p>
        </p:txBody>
      </p:sp>
      <p:sp>
        <p:nvSpPr>
          <p:cNvPr id="20" name="Rectangle 19"/>
          <p:cNvSpPr/>
          <p:nvPr/>
        </p:nvSpPr>
        <p:spPr>
          <a:xfrm>
            <a:off x="1143000" y="4848225"/>
            <a:ext cx="1428750" cy="542925"/>
          </a:xfrm>
          <a:prstGeom prst="rect">
            <a:avLst/>
          </a:prstGeom>
          <a:solidFill>
            <a:srgbClr val="1A2A5E"/>
          </a:solidFill>
          <a:ln>
            <a:noFill/>
          </a:ln>
          <a:effectLst/>
        </p:spPr>
        <p:txBody>
          <a:bodyPr rtlCol="0" anchor="ctr" wrap="square"/>
          <a:lstStyle/>
          <a:p>
            <a:pPr algn="ctr"/>
          </a:p>
        </p:txBody>
      </p:sp>
      <p:sp>
        <p:nvSpPr>
          <p:cNvPr id="21" name="TextBox 20"/>
          <p:cNvSpPr txBox="1"/>
          <p:nvPr/>
        </p:nvSpPr>
        <p:spPr>
          <a:xfrm>
            <a:off x="1409700" y="4848225"/>
            <a:ext cx="895350" cy="542925"/>
          </a:xfrm>
          <a:prstGeom prst="rect">
            <a:avLst/>
          </a:prstGeom>
          <a:noFill/>
        </p:spPr>
        <p:txBody>
          <a:bodyPr wrap="square" lIns="0" rIns="0" tIns="0" bIns="0" anchor="ctr">
            <a:spAutoFit/>
          </a:bodyPr>
          <a:lstStyle/>
          <a:p>
            <a:pPr algn="l">
              <a:lnSpc>
                <a:spcPct val="100000"/>
              </a:lnSpc>
            </a:pPr>
            <a:r>
              <a:rPr sz="2175" b="1">
                <a:solidFill>
                  <a:srgbClr val="FFFFFF"/>
                </a:solidFill>
                <a:latin typeface="Pretendard"/>
                <a:ea typeface="Pretendard"/>
                <a:cs typeface="Pretendard"/>
              </a:rPr>
              <a:t>핵심 ④</a:t>
            </a:r>
          </a:p>
        </p:txBody>
      </p:sp>
      <p:sp>
        <p:nvSpPr>
          <p:cNvPr id="22" name="Rectangle 21"/>
          <p:cNvSpPr/>
          <p:nvPr/>
        </p:nvSpPr>
        <p:spPr>
          <a:xfrm>
            <a:off x="2571750" y="4848225"/>
            <a:ext cx="14573250" cy="542925"/>
          </a:xfrm>
          <a:prstGeom prst="rect">
            <a:avLst/>
          </a:prstGeom>
          <a:solidFill>
            <a:srgbClr val="FAFBFD"/>
          </a:solidFill>
          <a:ln w="9525">
            <a:solidFill>
              <a:srgbClr val="DCE1E8"/>
            </a:solidFill>
          </a:ln>
          <a:effectLst/>
        </p:spPr>
        <p:txBody>
          <a:bodyPr rtlCol="0" anchor="ctr" wrap="square"/>
          <a:lstStyle/>
          <a:p>
            <a:pPr algn="ctr"/>
          </a:p>
        </p:txBody>
      </p:sp>
      <p:sp>
        <p:nvSpPr>
          <p:cNvPr id="23" name="TextBox 22"/>
          <p:cNvSpPr txBox="1"/>
          <p:nvPr/>
        </p:nvSpPr>
        <p:spPr>
          <a:xfrm>
            <a:off x="2857500" y="4848225"/>
            <a:ext cx="14001750" cy="542925"/>
          </a:xfrm>
          <a:prstGeom prst="rect">
            <a:avLst/>
          </a:prstGeom>
          <a:noFill/>
        </p:spPr>
        <p:txBody>
          <a:bodyPr wrap="square" lIns="0" rIns="0" tIns="0" bIns="0" anchor="ctr">
            <a:spAutoFit/>
          </a:bodyPr>
          <a:lstStyle/>
          <a:p>
            <a:pPr algn="l">
              <a:lnSpc>
                <a:spcPct val="100000"/>
              </a:lnSpc>
            </a:pPr>
            <a:r>
              <a:rPr sz="2100" b="0">
                <a:solidFill>
                  <a:srgbClr val="3D3D3D"/>
                </a:solidFill>
                <a:latin typeface="Pretendard"/>
                <a:ea typeface="Pretendard"/>
                <a:cs typeface="Pretendard"/>
              </a:rPr>
              <a:t>DDL·DML·DCL·TCL — 현업이 주로 쓰는 것은 DML의 SELECT</a:t>
            </a:r>
          </a:p>
        </p:txBody>
      </p:sp>
      <p:sp>
        <p:nvSpPr>
          <p:cNvPr id="24" name="Rectangle 23"/>
          <p:cNvSpPr/>
          <p:nvPr/>
        </p:nvSpPr>
        <p:spPr>
          <a:xfrm>
            <a:off x="1143000" y="5505450"/>
            <a:ext cx="1428750" cy="542925"/>
          </a:xfrm>
          <a:prstGeom prst="rect">
            <a:avLst/>
          </a:prstGeom>
          <a:solidFill>
            <a:srgbClr val="1A2A5E"/>
          </a:solidFill>
          <a:ln>
            <a:noFill/>
          </a:ln>
          <a:effectLst/>
        </p:spPr>
        <p:txBody>
          <a:bodyPr rtlCol="0" anchor="ctr" wrap="square"/>
          <a:lstStyle/>
          <a:p>
            <a:pPr algn="ctr"/>
          </a:p>
        </p:txBody>
      </p:sp>
      <p:sp>
        <p:nvSpPr>
          <p:cNvPr id="25" name="TextBox 24"/>
          <p:cNvSpPr txBox="1"/>
          <p:nvPr/>
        </p:nvSpPr>
        <p:spPr>
          <a:xfrm>
            <a:off x="1409700" y="5505450"/>
            <a:ext cx="895350" cy="542925"/>
          </a:xfrm>
          <a:prstGeom prst="rect">
            <a:avLst/>
          </a:prstGeom>
          <a:noFill/>
        </p:spPr>
        <p:txBody>
          <a:bodyPr wrap="square" lIns="0" rIns="0" tIns="0" bIns="0" anchor="ctr">
            <a:spAutoFit/>
          </a:bodyPr>
          <a:lstStyle/>
          <a:p>
            <a:pPr algn="l">
              <a:lnSpc>
                <a:spcPct val="100000"/>
              </a:lnSpc>
            </a:pPr>
            <a:r>
              <a:rPr sz="2175" b="1">
                <a:solidFill>
                  <a:srgbClr val="FFFFFF"/>
                </a:solidFill>
                <a:latin typeface="Pretendard"/>
                <a:ea typeface="Pretendard"/>
                <a:cs typeface="Pretendard"/>
              </a:rPr>
              <a:t>핵심 ⑤</a:t>
            </a:r>
          </a:p>
        </p:txBody>
      </p:sp>
      <p:sp>
        <p:nvSpPr>
          <p:cNvPr id="26" name="Rectangle 25"/>
          <p:cNvSpPr/>
          <p:nvPr/>
        </p:nvSpPr>
        <p:spPr>
          <a:xfrm>
            <a:off x="2571750" y="5505450"/>
            <a:ext cx="14573250" cy="542925"/>
          </a:xfrm>
          <a:prstGeom prst="rect">
            <a:avLst/>
          </a:prstGeom>
          <a:solidFill>
            <a:srgbClr val="FAFBFD"/>
          </a:solidFill>
          <a:ln w="9525">
            <a:solidFill>
              <a:srgbClr val="DCE1E8"/>
            </a:solidFill>
          </a:ln>
          <a:effectLst/>
        </p:spPr>
        <p:txBody>
          <a:bodyPr rtlCol="0" anchor="ctr" wrap="square"/>
          <a:lstStyle/>
          <a:p>
            <a:pPr algn="ctr"/>
          </a:p>
        </p:txBody>
      </p:sp>
      <p:sp>
        <p:nvSpPr>
          <p:cNvPr id="27" name="TextBox 26"/>
          <p:cNvSpPr txBox="1"/>
          <p:nvPr/>
        </p:nvSpPr>
        <p:spPr>
          <a:xfrm>
            <a:off x="2857500" y="5505450"/>
            <a:ext cx="14001750" cy="542925"/>
          </a:xfrm>
          <a:prstGeom prst="rect">
            <a:avLst/>
          </a:prstGeom>
          <a:noFill/>
        </p:spPr>
        <p:txBody>
          <a:bodyPr wrap="square" lIns="0" rIns="0" tIns="0" bIns="0" anchor="ctr">
            <a:spAutoFit/>
          </a:bodyPr>
          <a:lstStyle/>
          <a:p>
            <a:pPr algn="l">
              <a:lnSpc>
                <a:spcPct val="100000"/>
              </a:lnSpc>
            </a:pPr>
            <a:r>
              <a:rPr sz="2100" b="0">
                <a:solidFill>
                  <a:srgbClr val="3D3D3D"/>
                </a:solidFill>
                <a:latin typeface="Pretendard"/>
                <a:ea typeface="Pretendard"/>
                <a:cs typeface="Pretendard"/>
              </a:rPr>
              <a:t>NULL은 「값 없음」, NULL이 낀 비교는 「모름」(3값 논리)</a:t>
            </a:r>
          </a:p>
        </p:txBody>
      </p:sp>
      <p:sp>
        <p:nvSpPr>
          <p:cNvPr id="28" name="Rectangle 27"/>
          <p:cNvSpPr/>
          <p:nvPr/>
        </p:nvSpPr>
        <p:spPr>
          <a:xfrm>
            <a:off x="1143000" y="6162675"/>
            <a:ext cx="1428750" cy="542925"/>
          </a:xfrm>
          <a:prstGeom prst="rect">
            <a:avLst/>
          </a:prstGeom>
          <a:solidFill>
            <a:srgbClr val="1A2A5E"/>
          </a:solidFill>
          <a:ln>
            <a:noFill/>
          </a:ln>
          <a:effectLst/>
        </p:spPr>
        <p:txBody>
          <a:bodyPr rtlCol="0" anchor="ctr" wrap="square"/>
          <a:lstStyle/>
          <a:p>
            <a:pPr algn="ctr"/>
          </a:p>
        </p:txBody>
      </p:sp>
      <p:sp>
        <p:nvSpPr>
          <p:cNvPr id="29" name="TextBox 28"/>
          <p:cNvSpPr txBox="1"/>
          <p:nvPr/>
        </p:nvSpPr>
        <p:spPr>
          <a:xfrm>
            <a:off x="1409700" y="6162675"/>
            <a:ext cx="895350" cy="542925"/>
          </a:xfrm>
          <a:prstGeom prst="rect">
            <a:avLst/>
          </a:prstGeom>
          <a:noFill/>
        </p:spPr>
        <p:txBody>
          <a:bodyPr wrap="square" lIns="0" rIns="0" tIns="0" bIns="0" anchor="ctr">
            <a:spAutoFit/>
          </a:bodyPr>
          <a:lstStyle/>
          <a:p>
            <a:pPr algn="l">
              <a:lnSpc>
                <a:spcPct val="100000"/>
              </a:lnSpc>
            </a:pPr>
            <a:r>
              <a:rPr sz="2175" b="1">
                <a:solidFill>
                  <a:srgbClr val="FFFFFF"/>
                </a:solidFill>
                <a:latin typeface="Pretendard"/>
                <a:ea typeface="Pretendard"/>
                <a:cs typeface="Pretendard"/>
              </a:rPr>
              <a:t>핵심 ⑥</a:t>
            </a:r>
          </a:p>
        </p:txBody>
      </p:sp>
      <p:sp>
        <p:nvSpPr>
          <p:cNvPr id="30" name="Rectangle 29"/>
          <p:cNvSpPr/>
          <p:nvPr/>
        </p:nvSpPr>
        <p:spPr>
          <a:xfrm>
            <a:off x="2571750" y="6162675"/>
            <a:ext cx="14573250" cy="542925"/>
          </a:xfrm>
          <a:prstGeom prst="rect">
            <a:avLst/>
          </a:prstGeom>
          <a:solidFill>
            <a:srgbClr val="FAFBFD"/>
          </a:solidFill>
          <a:ln w="9525">
            <a:solidFill>
              <a:srgbClr val="DCE1E8"/>
            </a:solidFill>
          </a:ln>
          <a:effectLst/>
        </p:spPr>
        <p:txBody>
          <a:bodyPr rtlCol="0" anchor="ctr" wrap="square"/>
          <a:lstStyle/>
          <a:p>
            <a:pPr algn="ctr"/>
          </a:p>
        </p:txBody>
      </p:sp>
      <p:sp>
        <p:nvSpPr>
          <p:cNvPr id="31" name="TextBox 30"/>
          <p:cNvSpPr txBox="1"/>
          <p:nvPr/>
        </p:nvSpPr>
        <p:spPr>
          <a:xfrm>
            <a:off x="2857500" y="6162675"/>
            <a:ext cx="14001750" cy="542925"/>
          </a:xfrm>
          <a:prstGeom prst="rect">
            <a:avLst/>
          </a:prstGeom>
          <a:noFill/>
        </p:spPr>
        <p:txBody>
          <a:bodyPr wrap="square" lIns="0" rIns="0" tIns="0" bIns="0" anchor="ctr">
            <a:spAutoFit/>
          </a:bodyPr>
          <a:lstStyle/>
          <a:p>
            <a:pPr algn="l">
              <a:lnSpc>
                <a:spcPct val="100000"/>
              </a:lnSpc>
            </a:pPr>
            <a:r>
              <a:rPr sz="2100" b="0">
                <a:solidFill>
                  <a:srgbClr val="3D3D3D"/>
                </a:solidFill>
                <a:latin typeface="Pretendard"/>
                <a:ea typeface="Pretendard"/>
                <a:cs typeface="Pretendard"/>
              </a:rPr>
              <a:t>WHERE는 참인 행만 통과 — 구간 합계가 안 맞으면 NULL부터</a:t>
            </a:r>
          </a:p>
        </p:txBody>
      </p:sp>
      <p:sp>
        <p:nvSpPr>
          <p:cNvPr id="32" name="Rounded Rectangle 31"/>
          <p:cNvSpPr/>
          <p:nvPr/>
        </p:nvSpPr>
        <p:spPr>
          <a:xfrm>
            <a:off x="1143000" y="6953250"/>
            <a:ext cx="16002000" cy="876300"/>
          </a:xfrm>
          <a:prstGeom prst="roundRect">
            <a:avLst>
              <a:gd name="adj" fmla="val 5434"/>
            </a:avLst>
          </a:prstGeom>
          <a:solidFill>
            <a:srgbClr val="EDF3FD"/>
          </a:solidFill>
          <a:ln w="9525">
            <a:solidFill>
              <a:srgbClr val="BFD3F5"/>
            </a:solidFill>
          </a:ln>
          <a:effectLst/>
        </p:spPr>
        <p:txBody>
          <a:bodyPr rtlCol="0" anchor="ctr" wrap="square"/>
          <a:lstStyle/>
          <a:p>
            <a:pPr algn="ctr"/>
          </a:p>
        </p:txBody>
      </p:sp>
      <p:sp>
        <p:nvSpPr>
          <p:cNvPr id="33" name="TextBox 32"/>
          <p:cNvSpPr txBox="1"/>
          <p:nvPr/>
        </p:nvSpPr>
        <p:spPr>
          <a:xfrm>
            <a:off x="1143000" y="7200900"/>
            <a:ext cx="16002000" cy="438150"/>
          </a:xfrm>
          <a:prstGeom prst="rect">
            <a:avLst/>
          </a:prstGeom>
          <a:noFill/>
        </p:spPr>
        <p:txBody>
          <a:bodyPr wrap="square" lIns="0" rIns="0" tIns="0" bIns="0" anchor="t">
            <a:spAutoFit/>
          </a:bodyPr>
          <a:lstStyle/>
          <a:p>
            <a:pPr algn="ctr">
              <a:lnSpc>
                <a:spcPct val="100000"/>
              </a:lnSpc>
            </a:pPr>
            <a:r>
              <a:rPr sz="2475" b="1">
                <a:solidFill>
                  <a:srgbClr val="1A2A5E"/>
                </a:solidFill>
                <a:latin typeface="Pretendard"/>
                <a:ea typeface="Pretendard"/>
                <a:cs typeface="Pretendard"/>
              </a:rPr>
              <a:t>문법 하나하나가 관계 연산과 3값 논리라는 이론 위에 서 있다</a:t>
            </a:r>
          </a:p>
        </p:txBody>
      </p:sp>
      <p:sp>
        <p:nvSpPr>
          <p:cNvPr id="34" name="Rectangle 33"/>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35" name="TextBox 34"/>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36" name="TextBox 35"/>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5811500" y="8382000"/>
            <a:ext cx="4953000" cy="49530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16859250" y="9429750"/>
            <a:ext cx="2857500" cy="2857500"/>
          </a:xfrm>
          <a:prstGeom prst="ellipse">
            <a:avLst/>
          </a:prstGeom>
          <a:solidFill>
            <a:srgbClr val="FFFFFF"/>
          </a:solidFill>
          <a:ln>
            <a:noFill/>
          </a:ln>
          <a:effectLst/>
        </p:spPr>
        <p:txBody>
          <a:bodyPr rtlCol="0" anchor="ctr" wrap="square"/>
          <a:lstStyle/>
          <a:p>
            <a:pPr algn="ctr"/>
          </a:p>
        </p:txBody>
      </p:sp>
      <p:sp>
        <p:nvSpPr>
          <p:cNvPr id="4" name="deckgen:decor"/>
          <p:cNvSpPr/>
          <p:nvPr/>
        </p:nvSpPr>
        <p:spPr>
          <a:xfrm>
            <a:off x="-1428750" y="1428750"/>
            <a:ext cx="2857500" cy="2857500"/>
          </a:xfrm>
          <a:prstGeom prst="ellipse">
            <a:avLst/>
          </a:prstGeom>
          <a:solidFill>
            <a:srgbClr val="F8F8FA"/>
          </a:solidFill>
          <a:ln>
            <a:noFill/>
          </a:ln>
          <a:effectLst/>
        </p:spPr>
        <p:txBody>
          <a:bodyPr rtlCol="0" anchor="ctr" wrap="square"/>
          <a:lstStyle/>
          <a:p>
            <a:pPr algn="ctr"/>
          </a:p>
        </p:txBody>
      </p:sp>
      <p:sp>
        <p:nvSpPr>
          <p:cNvPr id="5" name="TextBox 4"/>
          <p:cNvSpPr txBox="1"/>
          <p:nvPr/>
        </p:nvSpPr>
        <p:spPr>
          <a:xfrm>
            <a:off x="1143000" y="838200"/>
            <a:ext cx="16002000" cy="342900"/>
          </a:xfrm>
          <a:prstGeom prst="rect">
            <a:avLst/>
          </a:prstGeom>
          <a:noFill/>
        </p:spPr>
        <p:txBody>
          <a:bodyPr wrap="square" lIns="0" rIns="0" tIns="0" bIns="0" anchor="t">
            <a:spAutoFit/>
          </a:bodyPr>
          <a:lstStyle/>
          <a:p>
            <a:pPr algn="l">
              <a:lnSpc>
                <a:spcPct val="100000"/>
              </a:lnSpc>
            </a:pPr>
            <a:r>
              <a:rPr sz="1950" b="1" spc="160">
                <a:solidFill>
                  <a:srgbClr val="0046C8"/>
                </a:solidFill>
                <a:latin typeface="Pretendard"/>
                <a:ea typeface="Pretendard"/>
                <a:cs typeface="Pretendard"/>
              </a:rPr>
              <a:t>다음 장 예고</a:t>
            </a:r>
          </a:p>
        </p:txBody>
      </p:sp>
      <p:sp>
        <p:nvSpPr>
          <p:cNvPr id="6" name="TextBox 5"/>
          <p:cNvSpPr txBox="1"/>
          <p:nvPr/>
        </p:nvSpPr>
        <p:spPr>
          <a:xfrm>
            <a:off x="1143000" y="1162050"/>
            <a:ext cx="16002000" cy="7620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이론 5장 · 트랜잭션과 동시성</a:t>
            </a:r>
          </a:p>
        </p:txBody>
      </p:sp>
      <p:sp>
        <p:nvSpPr>
          <p:cNvPr id="7" name="Rectangle 6"/>
          <p:cNvSpPr/>
          <p:nvPr/>
        </p:nvSpPr>
        <p:spPr>
          <a:xfrm>
            <a:off x="1143000" y="2038350"/>
            <a:ext cx="16002000" cy="28575"/>
          </a:xfrm>
          <a:prstGeom prst="rect">
            <a:avLst/>
          </a:prstGeom>
          <a:solidFill>
            <a:srgbClr val="1A2A5E"/>
          </a:solidFill>
          <a:ln>
            <a:noFill/>
          </a:ln>
          <a:effectLst/>
        </p:spPr>
        <p:txBody>
          <a:bodyPr rtlCol="0" anchor="ctr" wrap="square"/>
          <a:lstStyle/>
          <a:p>
            <a:pPr algn="ctr"/>
          </a:p>
        </p:txBody>
      </p:sp>
      <p:sp>
        <p:nvSpPr>
          <p:cNvPr id="8" name="Rounded Rectangle 7"/>
          <p:cNvSpPr/>
          <p:nvPr/>
        </p:nvSpPr>
        <p:spPr>
          <a:xfrm>
            <a:off x="1143000" y="3810000"/>
            <a:ext cx="3714750" cy="3143250"/>
          </a:xfrm>
          <a:prstGeom prst="roundRect">
            <a:avLst>
              <a:gd name="adj" fmla="val 1515"/>
            </a:avLst>
          </a:prstGeom>
          <a:solidFill>
            <a:srgbClr val="FAFBFD"/>
          </a:solidFill>
          <a:ln w="9525">
            <a:solidFill>
              <a:srgbClr val="DCE1E8"/>
            </a:solidFill>
          </a:ln>
          <a:effectLst/>
        </p:spPr>
        <p:txBody>
          <a:bodyPr rtlCol="0" anchor="ctr" wrap="square"/>
          <a:lstStyle/>
          <a:p>
            <a:pPr algn="ctr"/>
          </a:p>
        </p:txBody>
      </p:sp>
      <p:sp>
        <p:nvSpPr>
          <p:cNvPr id="9" name="Rectangle 8"/>
          <p:cNvSpPr/>
          <p:nvPr/>
        </p:nvSpPr>
        <p:spPr>
          <a:xfrm>
            <a:off x="1143000" y="3810000"/>
            <a:ext cx="3714750" cy="47625"/>
          </a:xfrm>
          <a:prstGeom prst="rect">
            <a:avLst/>
          </a:prstGeom>
          <a:solidFill>
            <a:srgbClr val="0046C8"/>
          </a:solidFill>
          <a:ln>
            <a:noFill/>
          </a:ln>
          <a:effectLst/>
        </p:spPr>
        <p:txBody>
          <a:bodyPr rtlCol="0" anchor="ctr" wrap="square"/>
          <a:lstStyle/>
          <a:p>
            <a:pPr algn="ctr"/>
          </a:p>
        </p:txBody>
      </p:sp>
      <p:sp>
        <p:nvSpPr>
          <p:cNvPr id="10" name="deckgen:ornament"/>
          <p:cNvSpPr txBox="1"/>
          <p:nvPr/>
        </p:nvSpPr>
        <p:spPr>
          <a:xfrm>
            <a:off x="4000500" y="4019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01</a:t>
            </a:r>
          </a:p>
        </p:txBody>
      </p:sp>
      <p:sp>
        <p:nvSpPr>
          <p:cNvPr id="11" name="TextBox 10"/>
          <p:cNvSpPr txBox="1"/>
          <p:nvPr/>
        </p:nvSpPr>
        <p:spPr>
          <a:xfrm>
            <a:off x="1466850" y="4133850"/>
            <a:ext cx="3067050" cy="2495550"/>
          </a:xfrm>
          <a:prstGeom prst="rect">
            <a:avLst/>
          </a:prstGeom>
          <a:noFill/>
        </p:spPr>
        <p:txBody>
          <a:bodyPr wrap="square" lIns="0" rIns="0" tIns="0" bIns="0" anchor="ctr">
            <a:spAutoFit/>
          </a:bodyPr>
          <a:lstStyle/>
          <a:p>
            <a:pPr>
              <a:lnSpc>
                <a:spcPct val="115000"/>
              </a:lnSpc>
            </a:pPr>
            <a:r>
              <a:rPr sz="2700" b="1">
                <a:solidFill>
                  <a:srgbClr val="1A2A5E"/>
                </a:solidFill>
                <a:latin typeface="Pretendard"/>
                <a:ea typeface="Pretendard"/>
                <a:cs typeface="Pretendard"/>
              </a:rPr>
              <a:t>트랜잭션</a:t>
            </a:r>
          </a:p>
          <a:p>
            <a:pPr>
              <a:lnSpc>
                <a:spcPct val="146000"/>
              </a:lnSpc>
              <a:spcBef>
                <a:spcPts val="1050"/>
              </a:spcBef>
            </a:pPr>
            <a:r>
              <a:rPr sz="2025" b="0">
                <a:solidFill>
                  <a:srgbClr val="3D3D3D"/>
                </a:solidFill>
                <a:latin typeface="Pretendard"/>
                <a:ea typeface="Pretendard"/>
                <a:cs typeface="Pretendard"/>
              </a:rPr>
              <a:t>쪼갤 수 없는</a:t>
            </a:r>
          </a:p>
          <a:p>
            <a:pPr>
              <a:lnSpc>
                <a:spcPct val="146000"/>
              </a:lnSpc>
            </a:pPr>
            <a:r>
              <a:rPr sz="2025" b="0">
                <a:solidFill>
                  <a:srgbClr val="3D3D3D"/>
                </a:solidFill>
                <a:latin typeface="Pretendard"/>
                <a:ea typeface="Pretendard"/>
                <a:cs typeface="Pretendard"/>
              </a:rPr>
              <a:t>업무 한 묶음</a:t>
            </a:r>
          </a:p>
        </p:txBody>
      </p:sp>
      <p:sp>
        <p:nvSpPr>
          <p:cNvPr id="12" name="Rounded Rectangle 11"/>
          <p:cNvSpPr/>
          <p:nvPr/>
        </p:nvSpPr>
        <p:spPr>
          <a:xfrm>
            <a:off x="5238750" y="3810000"/>
            <a:ext cx="3714750" cy="3143250"/>
          </a:xfrm>
          <a:prstGeom prst="roundRect">
            <a:avLst>
              <a:gd name="adj" fmla="val 1515"/>
            </a:avLst>
          </a:prstGeom>
          <a:solidFill>
            <a:srgbClr val="FAFBFD"/>
          </a:solidFill>
          <a:ln w="9525">
            <a:solidFill>
              <a:srgbClr val="DCE1E8"/>
            </a:solidFill>
          </a:ln>
          <a:effectLst/>
        </p:spPr>
        <p:txBody>
          <a:bodyPr rtlCol="0" anchor="ctr" wrap="square"/>
          <a:lstStyle/>
          <a:p>
            <a:pPr algn="ctr"/>
          </a:p>
        </p:txBody>
      </p:sp>
      <p:sp>
        <p:nvSpPr>
          <p:cNvPr id="13" name="Rectangle 12"/>
          <p:cNvSpPr/>
          <p:nvPr/>
        </p:nvSpPr>
        <p:spPr>
          <a:xfrm>
            <a:off x="5238750" y="3810000"/>
            <a:ext cx="3714750" cy="47625"/>
          </a:xfrm>
          <a:prstGeom prst="rect">
            <a:avLst/>
          </a:prstGeom>
          <a:solidFill>
            <a:srgbClr val="0046C8"/>
          </a:solidFill>
          <a:ln>
            <a:noFill/>
          </a:ln>
          <a:effectLst/>
        </p:spPr>
        <p:txBody>
          <a:bodyPr rtlCol="0" anchor="ctr" wrap="square"/>
          <a:lstStyle/>
          <a:p>
            <a:pPr algn="ctr"/>
          </a:p>
        </p:txBody>
      </p:sp>
      <p:sp>
        <p:nvSpPr>
          <p:cNvPr id="14" name="deckgen:ornament"/>
          <p:cNvSpPr txBox="1"/>
          <p:nvPr/>
        </p:nvSpPr>
        <p:spPr>
          <a:xfrm>
            <a:off x="8096250" y="4019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02</a:t>
            </a:r>
          </a:p>
        </p:txBody>
      </p:sp>
      <p:sp>
        <p:nvSpPr>
          <p:cNvPr id="15" name="TextBox 14"/>
          <p:cNvSpPr txBox="1"/>
          <p:nvPr/>
        </p:nvSpPr>
        <p:spPr>
          <a:xfrm>
            <a:off x="5562600" y="4133850"/>
            <a:ext cx="3067050" cy="2495550"/>
          </a:xfrm>
          <a:prstGeom prst="rect">
            <a:avLst/>
          </a:prstGeom>
          <a:noFill/>
        </p:spPr>
        <p:txBody>
          <a:bodyPr wrap="square" lIns="0" rIns="0" tIns="0" bIns="0" anchor="ctr">
            <a:spAutoFit/>
          </a:bodyPr>
          <a:lstStyle/>
          <a:p>
            <a:pPr>
              <a:lnSpc>
                <a:spcPct val="115000"/>
              </a:lnSpc>
            </a:pPr>
            <a:r>
              <a:rPr sz="2700" b="1">
                <a:solidFill>
                  <a:srgbClr val="1A2A5E"/>
                </a:solidFill>
                <a:latin typeface="Pretendard"/>
                <a:ea typeface="Pretendard"/>
                <a:cs typeface="Pretendard"/>
              </a:rPr>
              <a:t>ACID</a:t>
            </a:r>
          </a:p>
          <a:p>
            <a:pPr>
              <a:lnSpc>
                <a:spcPct val="146000"/>
              </a:lnSpc>
              <a:spcBef>
                <a:spcPts val="1050"/>
              </a:spcBef>
            </a:pPr>
            <a:r>
              <a:rPr sz="2025" b="0">
                <a:solidFill>
                  <a:srgbClr val="3D3D3D"/>
                </a:solidFill>
                <a:latin typeface="Pretendard"/>
                <a:ea typeface="Pretendard"/>
                <a:cs typeface="Pretendard"/>
              </a:rPr>
              <a:t>트랜잭션이 지켜야 할</a:t>
            </a:r>
          </a:p>
          <a:p>
            <a:pPr>
              <a:lnSpc>
                <a:spcPct val="146000"/>
              </a:lnSpc>
            </a:pPr>
            <a:r>
              <a:rPr sz="2025" b="0">
                <a:solidFill>
                  <a:srgbClr val="3D3D3D"/>
                </a:solidFill>
                <a:latin typeface="Pretendard"/>
                <a:ea typeface="Pretendard"/>
                <a:cs typeface="Pretendard"/>
              </a:rPr>
              <a:t>4가지 성질</a:t>
            </a:r>
          </a:p>
        </p:txBody>
      </p:sp>
      <p:sp>
        <p:nvSpPr>
          <p:cNvPr id="16" name="Rounded Rectangle 15"/>
          <p:cNvSpPr/>
          <p:nvPr/>
        </p:nvSpPr>
        <p:spPr>
          <a:xfrm>
            <a:off x="9334500" y="3810000"/>
            <a:ext cx="3714750" cy="3143250"/>
          </a:xfrm>
          <a:prstGeom prst="roundRect">
            <a:avLst>
              <a:gd name="adj" fmla="val 1515"/>
            </a:avLst>
          </a:prstGeom>
          <a:solidFill>
            <a:srgbClr val="FAFBFD"/>
          </a:solidFill>
          <a:ln w="9525">
            <a:solidFill>
              <a:srgbClr val="DCE1E8"/>
            </a:solidFill>
          </a:ln>
          <a:effectLst/>
        </p:spPr>
        <p:txBody>
          <a:bodyPr rtlCol="0" anchor="ctr" wrap="square"/>
          <a:lstStyle/>
          <a:p>
            <a:pPr algn="ctr"/>
          </a:p>
        </p:txBody>
      </p:sp>
      <p:sp>
        <p:nvSpPr>
          <p:cNvPr id="17" name="Rectangle 16"/>
          <p:cNvSpPr/>
          <p:nvPr/>
        </p:nvSpPr>
        <p:spPr>
          <a:xfrm>
            <a:off x="9334500" y="3810000"/>
            <a:ext cx="3714750" cy="47625"/>
          </a:xfrm>
          <a:prstGeom prst="rect">
            <a:avLst/>
          </a:prstGeom>
          <a:solidFill>
            <a:srgbClr val="0046C8"/>
          </a:solidFill>
          <a:ln>
            <a:noFill/>
          </a:ln>
          <a:effectLst/>
        </p:spPr>
        <p:txBody>
          <a:bodyPr rtlCol="0" anchor="ctr" wrap="square"/>
          <a:lstStyle/>
          <a:p>
            <a:pPr algn="ctr"/>
          </a:p>
        </p:txBody>
      </p:sp>
      <p:sp>
        <p:nvSpPr>
          <p:cNvPr id="18" name="deckgen:ornament"/>
          <p:cNvSpPr txBox="1"/>
          <p:nvPr/>
        </p:nvSpPr>
        <p:spPr>
          <a:xfrm>
            <a:off x="12192000" y="4019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03</a:t>
            </a:r>
          </a:p>
        </p:txBody>
      </p:sp>
      <p:sp>
        <p:nvSpPr>
          <p:cNvPr id="19" name="TextBox 18"/>
          <p:cNvSpPr txBox="1"/>
          <p:nvPr/>
        </p:nvSpPr>
        <p:spPr>
          <a:xfrm>
            <a:off x="9658350" y="4133850"/>
            <a:ext cx="3067050" cy="2495550"/>
          </a:xfrm>
          <a:prstGeom prst="rect">
            <a:avLst/>
          </a:prstGeom>
          <a:noFill/>
        </p:spPr>
        <p:txBody>
          <a:bodyPr wrap="square" lIns="0" rIns="0" tIns="0" bIns="0" anchor="ctr">
            <a:spAutoFit/>
          </a:bodyPr>
          <a:lstStyle/>
          <a:p>
            <a:pPr>
              <a:lnSpc>
                <a:spcPct val="115000"/>
              </a:lnSpc>
            </a:pPr>
            <a:r>
              <a:rPr sz="2700" b="1">
                <a:solidFill>
                  <a:srgbClr val="1A2A5E"/>
                </a:solidFill>
                <a:latin typeface="Pretendard"/>
                <a:ea typeface="Pretendard"/>
                <a:cs typeface="Pretendard"/>
              </a:rPr>
              <a:t>확정과 취소</a:t>
            </a:r>
          </a:p>
          <a:p>
            <a:pPr>
              <a:lnSpc>
                <a:spcPct val="146000"/>
              </a:lnSpc>
              <a:spcBef>
                <a:spcPts val="1050"/>
              </a:spcBef>
            </a:pPr>
            <a:r>
              <a:rPr sz="2025" b="0">
                <a:solidFill>
                  <a:srgbClr val="3D3D3D"/>
                </a:solidFill>
                <a:latin typeface="Pretendard"/>
                <a:ea typeface="Pretendard"/>
                <a:cs typeface="Pretendard"/>
              </a:rPr>
              <a:t>COMMIT과</a:t>
            </a:r>
          </a:p>
          <a:p>
            <a:pPr>
              <a:lnSpc>
                <a:spcPct val="146000"/>
              </a:lnSpc>
            </a:pPr>
            <a:r>
              <a:rPr sz="2025" b="0">
                <a:solidFill>
                  <a:srgbClr val="3D3D3D"/>
                </a:solidFill>
                <a:latin typeface="Pretendard"/>
                <a:ea typeface="Pretendard"/>
                <a:cs typeface="Pretendard"/>
              </a:rPr>
              <a:t>ROLLBACK</a:t>
            </a:r>
          </a:p>
        </p:txBody>
      </p:sp>
      <p:sp>
        <p:nvSpPr>
          <p:cNvPr id="20" name="Rounded Rectangle 19"/>
          <p:cNvSpPr/>
          <p:nvPr/>
        </p:nvSpPr>
        <p:spPr>
          <a:xfrm>
            <a:off x="13430250" y="3810000"/>
            <a:ext cx="3714750" cy="3143250"/>
          </a:xfrm>
          <a:prstGeom prst="roundRect">
            <a:avLst>
              <a:gd name="adj" fmla="val 1515"/>
            </a:avLst>
          </a:prstGeom>
          <a:solidFill>
            <a:srgbClr val="FAFBFD"/>
          </a:solidFill>
          <a:ln w="9525">
            <a:solidFill>
              <a:srgbClr val="DCE1E8"/>
            </a:solidFill>
          </a:ln>
          <a:effectLst/>
        </p:spPr>
        <p:txBody>
          <a:bodyPr rtlCol="0" anchor="ctr" wrap="square"/>
          <a:lstStyle/>
          <a:p>
            <a:pPr algn="ctr"/>
          </a:p>
        </p:txBody>
      </p:sp>
      <p:sp>
        <p:nvSpPr>
          <p:cNvPr id="21" name="Rectangle 20"/>
          <p:cNvSpPr/>
          <p:nvPr/>
        </p:nvSpPr>
        <p:spPr>
          <a:xfrm>
            <a:off x="13430250" y="3810000"/>
            <a:ext cx="3714750" cy="47625"/>
          </a:xfrm>
          <a:prstGeom prst="rect">
            <a:avLst/>
          </a:prstGeom>
          <a:solidFill>
            <a:srgbClr val="0046C8"/>
          </a:solidFill>
          <a:ln>
            <a:noFill/>
          </a:ln>
          <a:effectLst/>
        </p:spPr>
        <p:txBody>
          <a:bodyPr rtlCol="0" anchor="ctr" wrap="square"/>
          <a:lstStyle/>
          <a:p>
            <a:pPr algn="ctr"/>
          </a:p>
        </p:txBody>
      </p:sp>
      <p:sp>
        <p:nvSpPr>
          <p:cNvPr id="22" name="deckgen:ornament"/>
          <p:cNvSpPr txBox="1"/>
          <p:nvPr/>
        </p:nvSpPr>
        <p:spPr>
          <a:xfrm>
            <a:off x="16287750" y="4019550"/>
            <a:ext cx="590550" cy="400050"/>
          </a:xfrm>
          <a:prstGeom prst="rect">
            <a:avLst/>
          </a:prstGeom>
          <a:noFill/>
        </p:spPr>
        <p:txBody>
          <a:bodyPr wrap="square" lIns="0" rIns="0" tIns="0" bIns="0" anchor="t">
            <a:spAutoFit/>
          </a:bodyPr>
          <a:lstStyle/>
          <a:p>
            <a:pPr algn="r">
              <a:lnSpc>
                <a:spcPct val="100000"/>
              </a:lnSpc>
            </a:pPr>
            <a:r>
              <a:rPr sz="2550" b="1">
                <a:solidFill>
                  <a:srgbClr val="E4EBF4"/>
                </a:solidFill>
                <a:latin typeface="Pretendard"/>
                <a:ea typeface="Pretendard"/>
                <a:cs typeface="Pretendard"/>
              </a:rPr>
              <a:t>04</a:t>
            </a:r>
          </a:p>
        </p:txBody>
      </p:sp>
      <p:sp>
        <p:nvSpPr>
          <p:cNvPr id="23" name="TextBox 22"/>
          <p:cNvSpPr txBox="1"/>
          <p:nvPr/>
        </p:nvSpPr>
        <p:spPr>
          <a:xfrm>
            <a:off x="13754100" y="4133850"/>
            <a:ext cx="3067050" cy="2495550"/>
          </a:xfrm>
          <a:prstGeom prst="rect">
            <a:avLst/>
          </a:prstGeom>
          <a:noFill/>
        </p:spPr>
        <p:txBody>
          <a:bodyPr wrap="square" lIns="0" rIns="0" tIns="0" bIns="0" anchor="ctr">
            <a:spAutoFit/>
          </a:bodyPr>
          <a:lstStyle/>
          <a:p>
            <a:pPr>
              <a:lnSpc>
                <a:spcPct val="115000"/>
              </a:lnSpc>
            </a:pPr>
            <a:r>
              <a:rPr sz="2700" b="1">
                <a:solidFill>
                  <a:srgbClr val="1A2A5E"/>
                </a:solidFill>
                <a:latin typeface="Pretendard"/>
                <a:ea typeface="Pretendard"/>
                <a:cs typeface="Pretendard"/>
              </a:rPr>
              <a:t>동시성과 회복</a:t>
            </a:r>
          </a:p>
          <a:p>
            <a:pPr>
              <a:lnSpc>
                <a:spcPct val="146000"/>
              </a:lnSpc>
              <a:spcBef>
                <a:spcPts val="1050"/>
              </a:spcBef>
            </a:pPr>
            <a:r>
              <a:rPr sz="2025" b="0">
                <a:solidFill>
                  <a:srgbClr val="3D3D3D"/>
                </a:solidFill>
                <a:latin typeface="Pretendard"/>
                <a:ea typeface="Pretendard"/>
                <a:cs typeface="Pretendard"/>
              </a:rPr>
              <a:t>락과 격리 수준</a:t>
            </a:r>
          </a:p>
          <a:p>
            <a:pPr>
              <a:lnSpc>
                <a:spcPct val="146000"/>
              </a:lnSpc>
            </a:pPr>
            <a:r>
              <a:rPr sz="2025" b="0">
                <a:solidFill>
                  <a:srgbClr val="3D3D3D"/>
                </a:solidFill>
                <a:latin typeface="Pretendard"/>
                <a:ea typeface="Pretendard"/>
                <a:cs typeface="Pretendard"/>
              </a:rPr>
              <a:t>장애 회복</a:t>
            </a:r>
          </a:p>
        </p:txBody>
      </p:sp>
      <p:sp>
        <p:nvSpPr>
          <p:cNvPr id="24" name="Rectangle 23"/>
          <p:cNvSpPr/>
          <p:nvPr/>
        </p:nvSpPr>
        <p:spPr>
          <a:xfrm>
            <a:off x="1143000" y="8058150"/>
            <a:ext cx="16002000" cy="9525"/>
          </a:xfrm>
          <a:prstGeom prst="rect">
            <a:avLst/>
          </a:prstGeom>
          <a:solidFill>
            <a:srgbClr val="DCE1E8"/>
          </a:solidFill>
          <a:ln>
            <a:noFill/>
          </a:ln>
          <a:effectLst/>
        </p:spPr>
        <p:txBody>
          <a:bodyPr rtlCol="0" anchor="ctr" wrap="square"/>
          <a:lstStyle/>
          <a:p>
            <a:pPr algn="ctr"/>
          </a:p>
        </p:txBody>
      </p:sp>
      <p:sp>
        <p:nvSpPr>
          <p:cNvPr id="25" name="TextBox 24"/>
          <p:cNvSpPr txBox="1"/>
          <p:nvPr/>
        </p:nvSpPr>
        <p:spPr>
          <a:xfrm>
            <a:off x="1143000" y="8248650"/>
            <a:ext cx="13335000" cy="323850"/>
          </a:xfrm>
          <a:prstGeom prst="rect">
            <a:avLst/>
          </a:prstGeom>
          <a:noFill/>
        </p:spPr>
        <p:txBody>
          <a:bodyPr wrap="square" lIns="0" rIns="0" tIns="0" bIns="0" anchor="t">
            <a:spAutoFit/>
          </a:bodyPr>
          <a:lstStyle/>
          <a:p>
            <a:pPr algn="l">
              <a:lnSpc>
                <a:spcPct val="100000"/>
              </a:lnSpc>
            </a:pPr>
            <a:r>
              <a:rPr sz="1725" b="0">
                <a:solidFill>
                  <a:srgbClr val="7D7D7D"/>
                </a:solidFill>
                <a:latin typeface="Pretendard"/>
                <a:ea typeface="Pretendard"/>
                <a:cs typeface="Pretendard"/>
              </a:rPr>
              <a:t>경영데이터베이스및실습 · 경영 DB 이론 편람 · 이론 4장</a:t>
            </a:r>
          </a:p>
        </p:txBody>
      </p:sp>
      <p:sp>
        <p:nvSpPr>
          <p:cNvPr id="26" name="TextBox 25"/>
          <p:cNvSpPr txBox="1"/>
          <p:nvPr/>
        </p:nvSpPr>
        <p:spPr>
          <a:xfrm>
            <a:off x="15240000" y="8248650"/>
            <a:ext cx="1905000" cy="323850"/>
          </a:xfrm>
          <a:prstGeom prst="rect">
            <a:avLst/>
          </a:prstGeom>
          <a:noFill/>
        </p:spPr>
        <p:txBody>
          <a:bodyPr wrap="square" lIns="0" rIns="0" tIns="0" bIns="0" anchor="t">
            <a:spAutoFit/>
          </a:bodyPr>
          <a:lstStyle/>
          <a:p>
            <a:pPr algn="r">
              <a:lnSpc>
                <a:spcPct val="100000"/>
              </a:lnSpc>
            </a:pPr>
            <a:r>
              <a:rPr sz="1725" b="0">
                <a:solidFill>
                  <a:srgbClr val="7D7D7D"/>
                </a:solidFill>
                <a:latin typeface="Pretendard"/>
                <a:ea typeface="Pretendard"/>
                <a:cs typeface="Pretendard"/>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gen:decor"/>
          <p:cNvSpPr/>
          <p:nvPr/>
        </p:nvSpPr>
        <p:spPr>
          <a:xfrm>
            <a:off x="14859000" y="6667500"/>
            <a:ext cx="5905500" cy="5905500"/>
          </a:xfrm>
          <a:prstGeom prst="ellipse">
            <a:avLst/>
          </a:prstGeom>
          <a:solidFill>
            <a:srgbClr val="F2F5FC"/>
          </a:solidFill>
          <a:ln>
            <a:noFill/>
          </a:ln>
          <a:effectLst/>
        </p:spPr>
        <p:txBody>
          <a:bodyPr rtlCol="0" anchor="ctr" wrap="square"/>
          <a:lstStyle/>
          <a:p>
            <a:pPr algn="ctr"/>
          </a:p>
        </p:txBody>
      </p:sp>
      <p:sp>
        <p:nvSpPr>
          <p:cNvPr id="3" name="deckgen:decor"/>
          <p:cNvSpPr/>
          <p:nvPr/>
        </p:nvSpPr>
        <p:spPr>
          <a:xfrm>
            <a:off x="-2095500" y="-2095500"/>
            <a:ext cx="4381500" cy="4381500"/>
          </a:xfrm>
          <a:prstGeom prst="ellipse">
            <a:avLst/>
          </a:prstGeom>
          <a:solidFill>
            <a:srgbClr val="F5F6F8"/>
          </a:solidFill>
          <a:ln>
            <a:noFill/>
          </a:ln>
          <a:effectLst/>
        </p:spPr>
        <p:txBody>
          <a:bodyPr rtlCol="0" anchor="ctr" wrap="square"/>
          <a:lstStyle/>
          <a:p>
            <a:pPr algn="ctr"/>
          </a:p>
        </p:txBody>
      </p:sp>
      <p:pic>
        <p:nvPicPr>
          <p:cNvPr id="4" name="Picture 3" descr="koreatech.png"/>
          <p:cNvPicPr>
            <a:picLocks noChangeAspect="1"/>
          </p:cNvPicPr>
          <p:nvPr/>
        </p:nvPicPr>
        <p:blipFill>
          <a:blip r:embed="rId2"/>
          <a:stretch>
            <a:fillRect/>
          </a:stretch>
        </p:blipFill>
        <p:spPr>
          <a:xfrm>
            <a:off x="1143000" y="952500"/>
            <a:ext cx="3409950" cy="419100"/>
          </a:xfrm>
          <a:prstGeom prst="rect">
            <a:avLst/>
          </a:prstGeom>
        </p:spPr>
      </p:pic>
      <p:sp>
        <p:nvSpPr>
          <p:cNvPr id="5" name="Rectangle 4"/>
          <p:cNvSpPr/>
          <p:nvPr/>
        </p:nvSpPr>
        <p:spPr>
          <a:xfrm>
            <a:off x="1143000" y="2857500"/>
            <a:ext cx="16002000" cy="28575"/>
          </a:xfrm>
          <a:prstGeom prst="rect">
            <a:avLst/>
          </a:prstGeom>
          <a:solidFill>
            <a:srgbClr val="1A2A5E"/>
          </a:solidFill>
          <a:ln>
            <a:noFill/>
          </a:ln>
          <a:effectLst/>
        </p:spPr>
        <p:txBody>
          <a:bodyPr rtlCol="0" anchor="ctr" wrap="square"/>
          <a:lstStyle/>
          <a:p>
            <a:pPr algn="ctr"/>
          </a:p>
        </p:txBody>
      </p:sp>
      <p:sp>
        <p:nvSpPr>
          <p:cNvPr id="6" name="TextBox 5"/>
          <p:cNvSpPr txBox="1"/>
          <p:nvPr/>
        </p:nvSpPr>
        <p:spPr>
          <a:xfrm>
            <a:off x="1143000" y="3352800"/>
            <a:ext cx="8572500" cy="419100"/>
          </a:xfrm>
          <a:prstGeom prst="rect">
            <a:avLst/>
          </a:prstGeom>
          <a:noFill/>
        </p:spPr>
        <p:txBody>
          <a:bodyPr wrap="square" lIns="0" rIns="0" tIns="0" bIns="0" anchor="t">
            <a:spAutoFit/>
          </a:bodyPr>
          <a:lstStyle/>
          <a:p>
            <a:pPr algn="l">
              <a:lnSpc>
                <a:spcPct val="100000"/>
              </a:lnSpc>
            </a:pPr>
            <a:r>
              <a:rPr sz="2400" b="1">
                <a:solidFill>
                  <a:srgbClr val="0046C8"/>
                </a:solidFill>
                <a:latin typeface="Pretendard"/>
                <a:ea typeface="Pretendard"/>
                <a:cs typeface="Pretendard"/>
              </a:rPr>
              <a:t>이론 4장 마무리</a:t>
            </a:r>
          </a:p>
        </p:txBody>
      </p:sp>
      <p:sp>
        <p:nvSpPr>
          <p:cNvPr id="7" name="TextBox 6"/>
          <p:cNvSpPr txBox="1"/>
          <p:nvPr/>
        </p:nvSpPr>
        <p:spPr>
          <a:xfrm>
            <a:off x="1143000" y="3771900"/>
            <a:ext cx="16002000" cy="800100"/>
          </a:xfrm>
          <a:prstGeom prst="rect">
            <a:avLst/>
          </a:prstGeom>
          <a:noFill/>
        </p:spPr>
        <p:txBody>
          <a:bodyPr wrap="square" lIns="0" rIns="0" tIns="0" bIns="0" anchor="t">
            <a:spAutoFit/>
          </a:bodyPr>
          <a:lstStyle/>
          <a:p>
            <a:pPr algn="l">
              <a:lnSpc>
                <a:spcPct val="100000"/>
              </a:lnSpc>
            </a:pPr>
            <a:r>
              <a:rPr sz="5100" b="1">
                <a:solidFill>
                  <a:srgbClr val="1A2A5E"/>
                </a:solidFill>
                <a:latin typeface="Pretendard"/>
                <a:ea typeface="Pretendard"/>
                <a:cs typeface="Pretendard"/>
              </a:rPr>
              <a:t>학습 마무리</a:t>
            </a:r>
          </a:p>
        </p:txBody>
      </p:sp>
      <p:sp>
        <p:nvSpPr>
          <p:cNvPr id="8" name="TextBox 7"/>
          <p:cNvSpPr txBox="1"/>
          <p:nvPr/>
        </p:nvSpPr>
        <p:spPr>
          <a:xfrm>
            <a:off x="1143000" y="4724400"/>
            <a:ext cx="16002000" cy="438150"/>
          </a:xfrm>
          <a:prstGeom prst="rect">
            <a:avLst/>
          </a:prstGeom>
          <a:noFill/>
        </p:spPr>
        <p:txBody>
          <a:bodyPr wrap="square" lIns="0" rIns="0" tIns="0" bIns="0" anchor="t">
            <a:spAutoFit/>
          </a:bodyPr>
          <a:lstStyle/>
          <a:p>
            <a:pPr algn="l">
              <a:lnSpc>
                <a:spcPct val="130000"/>
              </a:lnSpc>
            </a:pPr>
            <a:r>
              <a:rPr sz="2400" b="0">
                <a:solidFill>
                  <a:srgbClr val="3D3D3D"/>
                </a:solidFill>
                <a:latin typeface="Pretendard"/>
                <a:ea typeface="Pretendard"/>
                <a:cs typeface="Pretendard"/>
              </a:rPr>
              <a:t>주차별 SQL 실습에서 오늘의 이론을 문법으로 다시 만납니다</a:t>
            </a:r>
          </a:p>
        </p:txBody>
      </p:sp>
      <p:sp>
        <p:nvSpPr>
          <p:cNvPr id="9" name="Rounded Rectangle 8"/>
          <p:cNvSpPr/>
          <p:nvPr/>
        </p:nvSpPr>
        <p:spPr>
          <a:xfrm>
            <a:off x="1143000" y="5257800"/>
            <a:ext cx="7772400" cy="819150"/>
          </a:xfrm>
          <a:prstGeom prst="roundRect">
            <a:avLst>
              <a:gd name="adj" fmla="val 6976"/>
            </a:avLst>
          </a:prstGeom>
          <a:solidFill>
            <a:srgbClr val="FAFBFD"/>
          </a:solidFill>
          <a:ln w="9525">
            <a:solidFill>
              <a:srgbClr val="DCE1E8"/>
            </a:solidFill>
          </a:ln>
          <a:effectLst/>
        </p:spPr>
        <p:txBody>
          <a:bodyPr rtlCol="0" anchor="ctr" wrap="square"/>
          <a:lstStyle/>
          <a:p>
            <a:pPr algn="ctr"/>
          </a:p>
        </p:txBody>
      </p:sp>
      <p:sp>
        <p:nvSpPr>
          <p:cNvPr id="10" name="TextBox 9"/>
          <p:cNvSpPr txBox="1"/>
          <p:nvPr/>
        </p:nvSpPr>
        <p:spPr>
          <a:xfrm>
            <a:off x="1428750" y="5486400"/>
            <a:ext cx="419100" cy="381000"/>
          </a:xfrm>
          <a:prstGeom prst="rect">
            <a:avLst/>
          </a:prstGeom>
          <a:noFill/>
        </p:spPr>
        <p:txBody>
          <a:bodyPr wrap="square" lIns="0" rIns="0" tIns="0" bIns="0" anchor="t">
            <a:spAutoFit/>
          </a:bodyPr>
          <a:lstStyle/>
          <a:p>
            <a:pPr algn="l">
              <a:lnSpc>
                <a:spcPct val="100000"/>
              </a:lnSpc>
            </a:pPr>
            <a:r>
              <a:rPr sz="2475" b="1">
                <a:solidFill>
                  <a:srgbClr val="0046C8"/>
                </a:solidFill>
                <a:latin typeface="Pretendard"/>
                <a:ea typeface="Pretendard"/>
                <a:cs typeface="Pretendard"/>
              </a:rPr>
              <a:t>✓</a:t>
            </a:r>
          </a:p>
        </p:txBody>
      </p:sp>
      <p:sp>
        <p:nvSpPr>
          <p:cNvPr id="11" name="TextBox 10"/>
          <p:cNvSpPr txBox="1"/>
          <p:nvPr/>
        </p:nvSpPr>
        <p:spPr>
          <a:xfrm>
            <a:off x="1905000" y="5486400"/>
            <a:ext cx="6724650" cy="381000"/>
          </a:xfrm>
          <a:prstGeom prst="rect">
            <a:avLst/>
          </a:prstGeom>
          <a:noFill/>
        </p:spPr>
        <p:txBody>
          <a:bodyPr wrap="square" lIns="0" rIns="0" tIns="0" bIns="0" anchor="t">
            <a:spAutoFit/>
          </a:bodyPr>
          <a:lstStyle/>
          <a:p>
            <a:pPr algn="l">
              <a:lnSpc>
                <a:spcPct val="100000"/>
              </a:lnSpc>
            </a:pPr>
            <a:r>
              <a:rPr sz="2475" b="1">
                <a:solidFill>
                  <a:srgbClr val="1A2A5E"/>
                </a:solidFill>
                <a:latin typeface="Pretendard"/>
                <a:ea typeface="Pretendard"/>
                <a:cs typeface="Pretendard"/>
              </a:rPr>
              <a:t>선언형 언어와 옵티마이저</a:t>
            </a:r>
          </a:p>
        </p:txBody>
      </p:sp>
      <p:sp>
        <p:nvSpPr>
          <p:cNvPr id="12" name="Rounded Rectangle 11"/>
          <p:cNvSpPr/>
          <p:nvPr/>
        </p:nvSpPr>
        <p:spPr>
          <a:xfrm>
            <a:off x="9372600" y="5257800"/>
            <a:ext cx="7772400" cy="819150"/>
          </a:xfrm>
          <a:prstGeom prst="roundRect">
            <a:avLst>
              <a:gd name="adj" fmla="val 6976"/>
            </a:avLst>
          </a:prstGeom>
          <a:solidFill>
            <a:srgbClr val="FAFBFD"/>
          </a:solidFill>
          <a:ln w="9525">
            <a:solidFill>
              <a:srgbClr val="DCE1E8"/>
            </a:solidFill>
          </a:ln>
          <a:effectLst/>
        </p:spPr>
        <p:txBody>
          <a:bodyPr rtlCol="0" anchor="ctr" wrap="square"/>
          <a:lstStyle/>
          <a:p>
            <a:pPr algn="ctr"/>
          </a:p>
        </p:txBody>
      </p:sp>
      <p:sp>
        <p:nvSpPr>
          <p:cNvPr id="13" name="TextBox 12"/>
          <p:cNvSpPr txBox="1"/>
          <p:nvPr/>
        </p:nvSpPr>
        <p:spPr>
          <a:xfrm>
            <a:off x="9658350" y="5486400"/>
            <a:ext cx="419100" cy="381000"/>
          </a:xfrm>
          <a:prstGeom prst="rect">
            <a:avLst/>
          </a:prstGeom>
          <a:noFill/>
        </p:spPr>
        <p:txBody>
          <a:bodyPr wrap="square" lIns="0" rIns="0" tIns="0" bIns="0" anchor="t">
            <a:spAutoFit/>
          </a:bodyPr>
          <a:lstStyle/>
          <a:p>
            <a:pPr algn="l">
              <a:lnSpc>
                <a:spcPct val="100000"/>
              </a:lnSpc>
            </a:pPr>
            <a:r>
              <a:rPr sz="2475" b="1">
                <a:solidFill>
                  <a:srgbClr val="0046C8"/>
                </a:solidFill>
                <a:latin typeface="Pretendard"/>
                <a:ea typeface="Pretendard"/>
                <a:cs typeface="Pretendard"/>
              </a:rPr>
              <a:t>✓</a:t>
            </a:r>
          </a:p>
        </p:txBody>
      </p:sp>
      <p:sp>
        <p:nvSpPr>
          <p:cNvPr id="14" name="TextBox 13"/>
          <p:cNvSpPr txBox="1"/>
          <p:nvPr/>
        </p:nvSpPr>
        <p:spPr>
          <a:xfrm>
            <a:off x="10134600" y="5486400"/>
            <a:ext cx="6724650" cy="381000"/>
          </a:xfrm>
          <a:prstGeom prst="rect">
            <a:avLst/>
          </a:prstGeom>
          <a:noFill/>
        </p:spPr>
        <p:txBody>
          <a:bodyPr wrap="square" lIns="0" rIns="0" tIns="0" bIns="0" anchor="t">
            <a:spAutoFit/>
          </a:bodyPr>
          <a:lstStyle/>
          <a:p>
            <a:pPr algn="l">
              <a:lnSpc>
                <a:spcPct val="100000"/>
              </a:lnSpc>
            </a:pPr>
            <a:r>
              <a:rPr sz="2475" b="1">
                <a:solidFill>
                  <a:srgbClr val="1A2A5E"/>
                </a:solidFill>
                <a:latin typeface="Pretendard"/>
                <a:ea typeface="Pretendard"/>
                <a:cs typeface="Pretendard"/>
              </a:rPr>
              <a:t>관계 연산과 SQL 문법의 대응</a:t>
            </a:r>
          </a:p>
        </p:txBody>
      </p:sp>
      <p:sp>
        <p:nvSpPr>
          <p:cNvPr id="15" name="Rounded Rectangle 14"/>
          <p:cNvSpPr/>
          <p:nvPr/>
        </p:nvSpPr>
        <p:spPr>
          <a:xfrm>
            <a:off x="1143000" y="6286500"/>
            <a:ext cx="7772400" cy="819150"/>
          </a:xfrm>
          <a:prstGeom prst="roundRect">
            <a:avLst>
              <a:gd name="adj" fmla="val 6976"/>
            </a:avLst>
          </a:prstGeom>
          <a:solidFill>
            <a:srgbClr val="FAFBFD"/>
          </a:solidFill>
          <a:ln w="9525">
            <a:solidFill>
              <a:srgbClr val="DCE1E8"/>
            </a:solidFill>
          </a:ln>
          <a:effectLst/>
        </p:spPr>
        <p:txBody>
          <a:bodyPr rtlCol="0" anchor="ctr" wrap="square"/>
          <a:lstStyle/>
          <a:p>
            <a:pPr algn="ctr"/>
          </a:p>
        </p:txBody>
      </p:sp>
      <p:sp>
        <p:nvSpPr>
          <p:cNvPr id="16" name="TextBox 15"/>
          <p:cNvSpPr txBox="1"/>
          <p:nvPr/>
        </p:nvSpPr>
        <p:spPr>
          <a:xfrm>
            <a:off x="1428750" y="6515100"/>
            <a:ext cx="419100" cy="381000"/>
          </a:xfrm>
          <a:prstGeom prst="rect">
            <a:avLst/>
          </a:prstGeom>
          <a:noFill/>
        </p:spPr>
        <p:txBody>
          <a:bodyPr wrap="square" lIns="0" rIns="0" tIns="0" bIns="0" anchor="t">
            <a:spAutoFit/>
          </a:bodyPr>
          <a:lstStyle/>
          <a:p>
            <a:pPr algn="l">
              <a:lnSpc>
                <a:spcPct val="100000"/>
              </a:lnSpc>
            </a:pPr>
            <a:r>
              <a:rPr sz="2475" b="1">
                <a:solidFill>
                  <a:srgbClr val="0046C8"/>
                </a:solidFill>
                <a:latin typeface="Pretendard"/>
                <a:ea typeface="Pretendard"/>
                <a:cs typeface="Pretendard"/>
              </a:rPr>
              <a:t>✓</a:t>
            </a:r>
          </a:p>
        </p:txBody>
      </p:sp>
      <p:sp>
        <p:nvSpPr>
          <p:cNvPr id="17" name="TextBox 16"/>
          <p:cNvSpPr txBox="1"/>
          <p:nvPr/>
        </p:nvSpPr>
        <p:spPr>
          <a:xfrm>
            <a:off x="1905000" y="6515100"/>
            <a:ext cx="6724650" cy="381000"/>
          </a:xfrm>
          <a:prstGeom prst="rect">
            <a:avLst/>
          </a:prstGeom>
          <a:noFill/>
        </p:spPr>
        <p:txBody>
          <a:bodyPr wrap="square" lIns="0" rIns="0" tIns="0" bIns="0" anchor="t">
            <a:spAutoFit/>
          </a:bodyPr>
          <a:lstStyle/>
          <a:p>
            <a:pPr algn="l">
              <a:lnSpc>
                <a:spcPct val="100000"/>
              </a:lnSpc>
            </a:pPr>
            <a:r>
              <a:rPr sz="2475" b="1">
                <a:solidFill>
                  <a:srgbClr val="1A2A5E"/>
                </a:solidFill>
                <a:latin typeface="Pretendard"/>
                <a:ea typeface="Pretendard"/>
                <a:cs typeface="Pretendard"/>
              </a:rPr>
              <a:t>SQL 4분류 — DDL·DML·DCL·TCL</a:t>
            </a:r>
          </a:p>
        </p:txBody>
      </p:sp>
      <p:sp>
        <p:nvSpPr>
          <p:cNvPr id="18" name="Rounded Rectangle 17"/>
          <p:cNvSpPr/>
          <p:nvPr/>
        </p:nvSpPr>
        <p:spPr>
          <a:xfrm>
            <a:off x="9372600" y="6286500"/>
            <a:ext cx="7772400" cy="819150"/>
          </a:xfrm>
          <a:prstGeom prst="roundRect">
            <a:avLst>
              <a:gd name="adj" fmla="val 6976"/>
            </a:avLst>
          </a:prstGeom>
          <a:solidFill>
            <a:srgbClr val="FAFBFD"/>
          </a:solidFill>
          <a:ln w="9525">
            <a:solidFill>
              <a:srgbClr val="DCE1E8"/>
            </a:solidFill>
          </a:ln>
          <a:effectLst/>
        </p:spPr>
        <p:txBody>
          <a:bodyPr rtlCol="0" anchor="ctr" wrap="square"/>
          <a:lstStyle/>
          <a:p>
            <a:pPr algn="ctr"/>
          </a:p>
        </p:txBody>
      </p:sp>
      <p:sp>
        <p:nvSpPr>
          <p:cNvPr id="19" name="TextBox 18"/>
          <p:cNvSpPr txBox="1"/>
          <p:nvPr/>
        </p:nvSpPr>
        <p:spPr>
          <a:xfrm>
            <a:off x="9658350" y="6515100"/>
            <a:ext cx="419100" cy="381000"/>
          </a:xfrm>
          <a:prstGeom prst="rect">
            <a:avLst/>
          </a:prstGeom>
          <a:noFill/>
        </p:spPr>
        <p:txBody>
          <a:bodyPr wrap="square" lIns="0" rIns="0" tIns="0" bIns="0" anchor="t">
            <a:spAutoFit/>
          </a:bodyPr>
          <a:lstStyle/>
          <a:p>
            <a:pPr algn="l">
              <a:lnSpc>
                <a:spcPct val="100000"/>
              </a:lnSpc>
            </a:pPr>
            <a:r>
              <a:rPr sz="2475" b="1">
                <a:solidFill>
                  <a:srgbClr val="0046C8"/>
                </a:solidFill>
                <a:latin typeface="Pretendard"/>
                <a:ea typeface="Pretendard"/>
                <a:cs typeface="Pretendard"/>
              </a:rPr>
              <a:t>✓</a:t>
            </a:r>
          </a:p>
        </p:txBody>
      </p:sp>
      <p:sp>
        <p:nvSpPr>
          <p:cNvPr id="20" name="TextBox 19"/>
          <p:cNvSpPr txBox="1"/>
          <p:nvPr/>
        </p:nvSpPr>
        <p:spPr>
          <a:xfrm>
            <a:off x="10134600" y="6515100"/>
            <a:ext cx="6724650" cy="381000"/>
          </a:xfrm>
          <a:prstGeom prst="rect">
            <a:avLst/>
          </a:prstGeom>
          <a:noFill/>
        </p:spPr>
        <p:txBody>
          <a:bodyPr wrap="square" lIns="0" rIns="0" tIns="0" bIns="0" anchor="t">
            <a:spAutoFit/>
          </a:bodyPr>
          <a:lstStyle/>
          <a:p>
            <a:pPr algn="l">
              <a:lnSpc>
                <a:spcPct val="100000"/>
              </a:lnSpc>
            </a:pPr>
            <a:r>
              <a:rPr sz="2475" b="1">
                <a:solidFill>
                  <a:srgbClr val="1A2A5E"/>
                </a:solidFill>
                <a:latin typeface="Pretendard"/>
                <a:ea typeface="Pretendard"/>
                <a:cs typeface="Pretendard"/>
              </a:rPr>
              <a:t>NULL과 3값 논리, 집계 함정</a:t>
            </a:r>
          </a:p>
        </p:txBody>
      </p:sp>
      <p:sp>
        <p:nvSpPr>
          <p:cNvPr id="21" name="Rectangle 20"/>
          <p:cNvSpPr/>
          <p:nvPr/>
        </p:nvSpPr>
        <p:spPr>
          <a:xfrm>
            <a:off x="1143000" y="7715250"/>
            <a:ext cx="47625" cy="819150"/>
          </a:xfrm>
          <a:prstGeom prst="rect">
            <a:avLst/>
          </a:prstGeom>
          <a:solidFill>
            <a:srgbClr val="0046C8"/>
          </a:solidFill>
          <a:ln>
            <a:noFill/>
          </a:ln>
          <a:effectLst/>
        </p:spPr>
        <p:txBody>
          <a:bodyPr rtlCol="0" anchor="ctr" wrap="square"/>
          <a:lstStyle/>
          <a:p>
            <a:pPr algn="ctr"/>
          </a:p>
        </p:txBody>
      </p:sp>
      <p:sp>
        <p:nvSpPr>
          <p:cNvPr id="22" name="TextBox 21"/>
          <p:cNvSpPr txBox="1"/>
          <p:nvPr/>
        </p:nvSpPr>
        <p:spPr>
          <a:xfrm>
            <a:off x="1409700" y="7734300"/>
            <a:ext cx="8572500" cy="304800"/>
          </a:xfrm>
          <a:prstGeom prst="rect">
            <a:avLst/>
          </a:prstGeom>
          <a:noFill/>
        </p:spPr>
        <p:txBody>
          <a:bodyPr wrap="square" lIns="0" rIns="0" tIns="0" bIns="0" anchor="t">
            <a:spAutoFit/>
          </a:bodyPr>
          <a:lstStyle/>
          <a:p>
            <a:pPr algn="l">
              <a:lnSpc>
                <a:spcPct val="100000"/>
              </a:lnSpc>
            </a:pPr>
            <a:r>
              <a:rPr sz="1800" b="1" spc="140">
                <a:solidFill>
                  <a:srgbClr val="0046C8"/>
                </a:solidFill>
                <a:latin typeface="Pretendard"/>
                <a:ea typeface="Pretendard"/>
                <a:cs typeface="Pretendard"/>
              </a:rPr>
              <a:t>관련 주차</a:t>
            </a:r>
          </a:p>
        </p:txBody>
      </p:sp>
      <p:sp>
        <p:nvSpPr>
          <p:cNvPr id="23" name="TextBox 22"/>
          <p:cNvSpPr txBox="1"/>
          <p:nvPr/>
        </p:nvSpPr>
        <p:spPr>
          <a:xfrm>
            <a:off x="1409700" y="8077200"/>
            <a:ext cx="8572500" cy="400050"/>
          </a:xfrm>
          <a:prstGeom prst="rect">
            <a:avLst/>
          </a:prstGeom>
          <a:noFill/>
        </p:spPr>
        <p:txBody>
          <a:bodyPr wrap="square" lIns="0" rIns="0" tIns="0" bIns="0" anchor="t">
            <a:spAutoFit/>
          </a:bodyPr>
          <a:lstStyle/>
          <a:p>
            <a:pPr algn="l">
              <a:lnSpc>
                <a:spcPct val="100000"/>
              </a:lnSpc>
            </a:pPr>
            <a:r>
              <a:rPr sz="2400" b="1">
                <a:solidFill>
                  <a:srgbClr val="1A2A5E"/>
                </a:solidFill>
                <a:latin typeface="Pretendard"/>
                <a:ea typeface="Pretendard"/>
                <a:cs typeface="Pretendard"/>
              </a:rPr>
              <a:t>3·5·7·9주차 강의에서 SQL로 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