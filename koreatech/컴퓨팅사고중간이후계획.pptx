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183" r:id="rId4"/>
    <p:sldId id="2185" r:id="rId5"/>
    <p:sldId id="2167" r:id="rId6"/>
    <p:sldId id="2170" r:id="rId7"/>
    <p:sldId id="2171" r:id="rId8"/>
    <p:sldId id="2175" r:id="rId9"/>
    <p:sldId id="2173" r:id="rId10"/>
    <p:sldId id="258" r:id="rId11"/>
    <p:sldId id="2166" r:id="rId12"/>
    <p:sldId id="2176" r:id="rId13"/>
    <p:sldId id="2177" r:id="rId14"/>
    <p:sldId id="2178" r:id="rId15"/>
    <p:sldId id="2189" r:id="rId16"/>
    <p:sldId id="218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>
        <p:scale>
          <a:sx n="66" d="100"/>
          <a:sy n="66" d="100"/>
        </p:scale>
        <p:origin x="219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55AC4-E7CD-4F8C-B1D7-106BDEEACC0E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B09E-7423-49D3-A860-EBCF788C6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17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B900E-E99C-BD69-419E-D8281B4B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E741B0-24E9-901C-E434-48FE8B15F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FFEA2-349F-FA9C-CF60-ADAF40E19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8E1BA-E018-912C-6B78-3B57BCD85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323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201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568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910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E22B-F2D7-A486-E026-A6C9EDE2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A72BA1-0ED0-DE0B-F1FF-E70BCB336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BC2043-34F8-EC79-7A84-9298CBBBC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B29FE-2ADD-C72A-0566-89157B732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071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B281-0EE7-18ED-EAA7-E4770141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0353A3-6B67-B13C-2A94-C465E95E9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FBAC40-E479-DA68-756D-3DC449A57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9A0227-89FA-F852-6498-80DA20367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98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61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9065B-BB10-C782-3619-35015CD0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0F99E5-F0E4-EB75-897E-558CA368B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213A3A-E75F-4DA7-227C-FA6B98693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CFA45-4D45-8DC4-2636-495666E42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226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30ED-E70C-7F8A-7C1B-265A84BF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95920-4370-743A-1022-3F5C81741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E26A5B-AAE5-2431-FECF-5CFF40B01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5C251-91BC-20B3-5D9A-9D2BC57F3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31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F229-E54F-DFF2-4DCB-0029BEF6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4006A7-780A-4C3E-EFBB-03F46151B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D12625-83C5-5087-7C29-A7C4BC388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4F038-14C1-9310-862B-A03A23183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392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BE22B-F2D7-A486-E026-A6C9EDE2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A72BA1-0ED0-DE0B-F1FF-E70BCB336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BC2043-34F8-EC79-7A84-9298CBBBC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B29FE-2ADD-C72A-0566-89157B732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160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DBDDB-9568-7E88-A29D-0A63AB48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008E77-4B2F-7790-1CAC-5FAE712BC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10B2BD-0CAC-561C-CEE5-9BEFC160F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55580"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818984-F210-DD10-8A08-708949FD6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DCB96-179C-4DB6-8DDE-EC3794D8314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89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E585B-3FBF-4DC4-A4E7-3D474B5FA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D94755-E3B3-4907-8E93-B6EAED38A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CC06E-7660-433C-9F16-92996140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7AF7E6-353A-4632-A995-08741AE1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CEEF8F-43EB-4C25-AB18-A1D22E62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57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7079E-6992-472E-BA1D-D2AF3E7B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C44D7-902D-46C9-8E10-D93B6762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F642A-4AA7-4C29-9AC5-D0353209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F31462-3C6B-480B-A1E3-5E3C46E7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2B324-644B-451A-931A-C440EFF9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0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A4655-C167-4699-BC54-1BD8B7F2D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C6F33C-28F9-4122-BC77-0CD7C4F48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63A78-4885-4EB7-8D43-885BB8E8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7CFCE-26BC-4D97-A71C-19E50FC9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81B00-EA17-4054-A6E3-028DFBE9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95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E1EA9-2029-4F75-91D4-6465CBC3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392EF-63C5-4C63-8573-476D57B0E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8860D1-E464-49D0-8F8D-DF960984F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0D3E25-C3F4-4FAD-81A7-ED55FDFB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211667-0CB3-428F-BA56-F02B6B7A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6006CB-64A8-41C0-98B1-8D893BA8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6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7B757-DB2F-48D9-A3C2-1E624D63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FBAADA-3AF7-4D4B-B654-7E4943A10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2AA051-39B6-4EB2-BE8F-EB5FCAB61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72A79A-6A3A-4CEC-A695-46FD4FD9B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2233E6-1541-4FA8-B93A-FDB35A2DA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6A2A66-602B-4DB7-86A7-DF869B85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D5DD0A-A55B-4EB2-906F-DCD80767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2937CE-7723-49CC-A9FD-AC8C549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95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6FBE6-6613-4575-B674-D6D4ADA6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FEC03C-8AFC-4C3C-8C52-8FE2B07C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9AB3DE-B73C-47D2-8E8E-EF09D259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C74C16-24E5-4D22-8F9B-50253CD6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53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30AD5E-23BE-4990-8598-B3728CE0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925B86-C331-4928-A8AE-B2895C27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31C69E-3C4B-4120-8F27-B3B32087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83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A5D1C-C2B2-4D1F-8377-2C15190C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1CF3E4-1307-4F7E-8240-9596C270F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7D8F05-84FC-40C9-BEAB-128AF747A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CCF16B-061D-45B4-9632-A2495E97A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6C317B-14CE-4FD1-A1B3-6394897E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08DC9A-50EB-4533-96DD-97701056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35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E1D56-DB97-4984-BD9B-A98AD1CF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CBE40D-8238-464B-83AE-4E4611777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EE908E-F0A5-48D8-A0B6-C96333656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391C42-EE55-4319-AC2A-A676E828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E86554-3884-4D90-84EF-1E426F0E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488C26-FFF8-4A42-8E90-AB578E65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20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A8598-3645-4183-8DCF-AADBEA57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4F55F2-8844-4378-8886-B3E462D94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F896D6-6F2A-4DD9-8973-E5B5A2E2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47827-34E9-4C51-B890-7FECDB5E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8FCF3-37B4-4FCD-BCD3-DECAEB2A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189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C0C906-F7AA-4F12-9756-B997471DF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C38D99-1630-4AC7-A4D7-8FB3EDD4E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27C6B-9D56-48FC-A415-33BE968A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A91E6-CC8F-44FA-B77F-622FB520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28D2B-996C-4CE0-9AFF-40E5D625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984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학습스타일a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텍스트 개체 틀 26">
            <a:extLst>
              <a:ext uri="{FF2B5EF4-FFF2-40B4-BE49-F238E27FC236}">
                <a16:creationId xmlns:a16="http://schemas.microsoft.com/office/drawing/2014/main" id="{B1183B4E-A57E-4882-AA09-A953837255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5143" y="989218"/>
            <a:ext cx="10976000" cy="3240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340380" indent="-340380" algn="l">
              <a:lnSpc>
                <a:spcPct val="100000"/>
              </a:lnSpc>
              <a:spcAft>
                <a:spcPts val="574"/>
              </a:spcAft>
              <a:buFont typeface="+mj-lt"/>
              <a:buAutoNum type="arabicParenR"/>
              <a:defRPr sz="2106" b="0" spc="-48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 marL="255285" marR="0" indent="0" algn="l" defTabSz="656448" rtl="0" eaLnBrk="1" fontAlgn="auto" latinLnBrk="1" hangingPunct="1">
              <a:lnSpc>
                <a:spcPct val="100000"/>
              </a:lnSpc>
              <a:spcBef>
                <a:spcPts val="359"/>
              </a:spcBef>
              <a:spcAft>
                <a:spcPts val="574"/>
              </a:spcAft>
              <a:buClrTx/>
              <a:buSzTx/>
              <a:buFont typeface="Arial" panose="020B0604020202020204" pitchFamily="34" charset="0"/>
              <a:buNone/>
              <a:tabLst/>
              <a:defRPr sz="1244">
                <a:latin typeface="+mn-ea"/>
                <a:ea typeface="+mn-ea"/>
              </a:defRPr>
            </a:lvl2pPr>
            <a:lvl3pPr marL="929968" indent="-27352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ko-KR" altLang="en-US"/>
              <a:t>소주제</a:t>
            </a:r>
            <a:endParaRPr lang="en-US" altLang="ko-KR"/>
          </a:p>
        </p:txBody>
      </p:sp>
      <p:sp>
        <p:nvSpPr>
          <p:cNvPr id="43" name="텍스트 개체 틀 26">
            <a:extLst>
              <a:ext uri="{FF2B5EF4-FFF2-40B4-BE49-F238E27FC236}">
                <a16:creationId xmlns:a16="http://schemas.microsoft.com/office/drawing/2014/main" id="{F31EA179-D75A-4719-AAA2-B794969621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6000" y="550851"/>
            <a:ext cx="11305143" cy="35353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340380" indent="-340380" algn="l">
              <a:lnSpc>
                <a:spcPct val="100000"/>
              </a:lnSpc>
              <a:spcAft>
                <a:spcPts val="574"/>
              </a:spcAft>
              <a:buFont typeface="+mj-lt"/>
              <a:buAutoNum type="arabicPeriod"/>
              <a:defRPr sz="2297" b="0" spc="-48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255285" marR="0" indent="0" algn="l" defTabSz="656448" rtl="0" eaLnBrk="1" fontAlgn="auto" latinLnBrk="1" hangingPunct="1">
              <a:lnSpc>
                <a:spcPct val="100000"/>
              </a:lnSpc>
              <a:spcBef>
                <a:spcPts val="359"/>
              </a:spcBef>
              <a:spcAft>
                <a:spcPts val="574"/>
              </a:spcAft>
              <a:buClrTx/>
              <a:buSzTx/>
              <a:buFont typeface="Arial" panose="020B0604020202020204" pitchFamily="34" charset="0"/>
              <a:buNone/>
              <a:tabLst/>
              <a:defRPr sz="1244">
                <a:latin typeface="+mn-ea"/>
                <a:ea typeface="+mn-ea"/>
              </a:defRPr>
            </a:lvl2pPr>
            <a:lvl3pPr marL="929968" indent="-27352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ko-KR" altLang="en-US"/>
              <a:t>중주제</a:t>
            </a:r>
            <a:endParaRPr lang="en-US" altLang="ko-KR"/>
          </a:p>
        </p:txBody>
      </p:sp>
      <p:sp>
        <p:nvSpPr>
          <p:cNvPr id="16" name="내용 개체 틀 62">
            <a:extLst>
              <a:ext uri="{FF2B5EF4-FFF2-40B4-BE49-F238E27FC236}">
                <a16:creationId xmlns:a16="http://schemas.microsoft.com/office/drawing/2014/main" id="{5547B621-1308-4964-8FC9-802029EBAD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92762" y="1508973"/>
            <a:ext cx="5094096" cy="38772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255285" indent="-255285" algn="l">
              <a:lnSpc>
                <a:spcPct val="110000"/>
              </a:lnSpc>
              <a:spcBef>
                <a:spcPts val="1149"/>
              </a:spcBef>
              <a:spcAft>
                <a:spcPts val="383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10" b="0" spc="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 marL="425475" indent="-229453" algn="l">
              <a:lnSpc>
                <a:spcPct val="110000"/>
              </a:lnSpc>
              <a:spcBef>
                <a:spcPts val="0"/>
              </a:spcBef>
              <a:spcAft>
                <a:spcPts val="287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10" spc="0" baseline="0">
                <a:solidFill>
                  <a:schemeClr val="tx1"/>
                </a:solidFill>
                <a:latin typeface="+mn-ea"/>
                <a:ea typeface="+mn-ea"/>
              </a:defRPr>
            </a:lvl2pPr>
            <a:lvl3pPr marL="510570" indent="-185386" algn="l">
              <a:lnSpc>
                <a:spcPct val="110000"/>
              </a:lnSpc>
              <a:spcBef>
                <a:spcPts val="0"/>
              </a:spcBef>
              <a:spcAft>
                <a:spcPts val="287"/>
              </a:spcAft>
              <a:buFont typeface="Calibri" panose="020F0502020204030204" pitchFamily="34" charset="0"/>
              <a:buChar char="−"/>
              <a:defRPr sz="2010" spc="0" baseline="0">
                <a:solidFill>
                  <a:schemeClr val="tx1"/>
                </a:solidFill>
                <a:latin typeface="+mn-ea"/>
                <a:ea typeface="+mn-ea"/>
              </a:defRPr>
            </a:lvl3pPr>
            <a:lvl4pPr marL="688359" indent="-176268" algn="l">
              <a:lnSpc>
                <a:spcPct val="110000"/>
              </a:lnSpc>
              <a:spcBef>
                <a:spcPts val="0"/>
              </a:spcBef>
              <a:spcAft>
                <a:spcPts val="287"/>
              </a:spcAft>
              <a:buSzPct val="120000"/>
              <a:buFont typeface="맑은 고딕" panose="020B0503020000020004" pitchFamily="50" charset="-127"/>
              <a:buChar char="›"/>
              <a:defRPr sz="2010" spc="0" baseline="0">
                <a:solidFill>
                  <a:schemeClr val="tx1"/>
                </a:solidFill>
                <a:latin typeface="+mn-ea"/>
                <a:ea typeface="+mn-ea"/>
              </a:defRPr>
            </a:lvl4pPr>
            <a:lvl5pPr marL="948202" indent="-258324" algn="l">
              <a:lnSpc>
                <a:spcPct val="110000"/>
              </a:lnSpc>
              <a:spcBef>
                <a:spcPts val="0"/>
              </a:spcBef>
              <a:spcAft>
                <a:spcPts val="287"/>
              </a:spcAft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 sz="2010" spc="0" baseline="0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  <a:endParaRPr lang="en-US" altLang="ko-KR"/>
          </a:p>
          <a:p>
            <a:pPr lvl="4"/>
            <a:r>
              <a:rPr lang="ko-KR" altLang="en-US"/>
              <a:t>다섯째 수준</a:t>
            </a:r>
            <a:endParaRPr lang="en-US" altLang="ko-KR"/>
          </a:p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" name="그림 개체 틀 20">
            <a:extLst>
              <a:ext uri="{FF2B5EF4-FFF2-40B4-BE49-F238E27FC236}">
                <a16:creationId xmlns:a16="http://schemas.microsoft.com/office/drawing/2014/main" id="{9D127019-5403-448C-8570-28AD2B35708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5144" y="1996987"/>
            <a:ext cx="4995047" cy="3758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8" name="텍스트 개체 틀 22">
            <a:extLst>
              <a:ext uri="{FF2B5EF4-FFF2-40B4-BE49-F238E27FC236}">
                <a16:creationId xmlns:a16="http://schemas.microsoft.com/office/drawing/2014/main" id="{D0663301-6849-4618-A7C3-9AF8AAD0EC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144" y="1498295"/>
            <a:ext cx="4995047" cy="415754"/>
          </a:xfrm>
          <a:prstGeom prst="snipRoundRect">
            <a:avLst>
              <a:gd name="adj1" fmla="val 0"/>
              <a:gd name="adj2" fmla="val 38441"/>
            </a:avLst>
          </a:prstGeom>
          <a:solidFill>
            <a:schemeClr val="accent1"/>
          </a:solidFill>
          <a:ln>
            <a:noFill/>
          </a:ln>
        </p:spPr>
        <p:txBody>
          <a:bodyPr anchor="ctr">
            <a:noAutofit/>
          </a:bodyPr>
          <a:lstStyle>
            <a:lvl1pPr marL="174749" indent="0" algn="l">
              <a:buNone/>
              <a:defRPr sz="2297" spc="-144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기타주제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298E7A-A9B9-44E4-AC71-5A671767BE96}"/>
              </a:ext>
            </a:extLst>
          </p:cNvPr>
          <p:cNvSpPr/>
          <p:nvPr userDrawn="1"/>
        </p:nvSpPr>
        <p:spPr>
          <a:xfrm>
            <a:off x="0" y="0"/>
            <a:ext cx="12192000" cy="434893"/>
          </a:xfrm>
          <a:prstGeom prst="rect">
            <a:avLst/>
          </a:prstGeom>
          <a:gradFill flip="none" rotWithShape="1">
            <a:gsLst>
              <a:gs pos="0">
                <a:srgbClr val="4C49A1"/>
              </a:gs>
              <a:gs pos="100000">
                <a:srgbClr val="3A3B8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7979"/>
            <a:endParaRPr lang="ko-KR" altLang="en-US" sz="1914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사각형: 잘린 한쪽 모서리 18">
            <a:extLst>
              <a:ext uri="{FF2B5EF4-FFF2-40B4-BE49-F238E27FC236}">
                <a16:creationId xmlns:a16="http://schemas.microsoft.com/office/drawing/2014/main" id="{F6047B2B-6F80-4881-81B2-2C4E98BAA319}"/>
              </a:ext>
            </a:extLst>
          </p:cNvPr>
          <p:cNvSpPr/>
          <p:nvPr userDrawn="1"/>
        </p:nvSpPr>
        <p:spPr>
          <a:xfrm>
            <a:off x="236202" y="43374"/>
            <a:ext cx="11640048" cy="391793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5095"/>
            <a:endParaRPr lang="ko-KR" altLang="en-US" sz="2106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3E926E-A50E-4BD3-A084-20D75B3DBA96}"/>
              </a:ext>
            </a:extLst>
          </p:cNvPr>
          <p:cNvGrpSpPr/>
          <p:nvPr userDrawn="1"/>
        </p:nvGrpSpPr>
        <p:grpSpPr>
          <a:xfrm>
            <a:off x="162757" y="43374"/>
            <a:ext cx="148101" cy="391519"/>
            <a:chOff x="169559" y="45311"/>
            <a:chExt cx="154291" cy="40901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D9FB249-2D19-49CC-A47B-0BCA15A79EA4}"/>
                </a:ext>
              </a:extLst>
            </p:cNvPr>
            <p:cNvSpPr/>
            <p:nvPr userDrawn="1"/>
          </p:nvSpPr>
          <p:spPr>
            <a:xfrm>
              <a:off x="246075" y="45311"/>
              <a:ext cx="77775" cy="409011"/>
            </a:xfrm>
            <a:prstGeom prst="rect">
              <a:avLst/>
            </a:prstGeom>
            <a:solidFill>
              <a:srgbClr val="9696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23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D698D21-8E15-41F1-9C08-FE53CAEE6BCC}"/>
                </a:ext>
              </a:extLst>
            </p:cNvPr>
            <p:cNvSpPr/>
            <p:nvPr userDrawn="1"/>
          </p:nvSpPr>
          <p:spPr>
            <a:xfrm>
              <a:off x="169559" y="45311"/>
              <a:ext cx="20719" cy="409011"/>
            </a:xfrm>
            <a:prstGeom prst="rect">
              <a:avLst/>
            </a:prstGeom>
            <a:solidFill>
              <a:srgbClr val="9696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23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F207E0B-83E8-4426-8B25-350ABB8B8250}"/>
              </a:ext>
            </a:extLst>
          </p:cNvPr>
          <p:cNvGrpSpPr/>
          <p:nvPr userDrawn="1"/>
        </p:nvGrpSpPr>
        <p:grpSpPr>
          <a:xfrm flipH="1">
            <a:off x="11875048" y="43374"/>
            <a:ext cx="148101" cy="391519"/>
            <a:chOff x="1960259" y="676139"/>
            <a:chExt cx="154291" cy="409011"/>
          </a:xfrm>
          <a:solidFill>
            <a:srgbClr val="9696DB"/>
          </a:solidFill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10A2D67-6E7B-48C0-BAA9-01C7A6510BE6}"/>
                </a:ext>
              </a:extLst>
            </p:cNvPr>
            <p:cNvSpPr/>
            <p:nvPr userDrawn="1"/>
          </p:nvSpPr>
          <p:spPr>
            <a:xfrm>
              <a:off x="2036775" y="676139"/>
              <a:ext cx="77775" cy="4090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23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E4D5655-7610-425B-8DA0-17310F8AACBD}"/>
                </a:ext>
              </a:extLst>
            </p:cNvPr>
            <p:cNvSpPr/>
            <p:nvPr userDrawn="1"/>
          </p:nvSpPr>
          <p:spPr>
            <a:xfrm>
              <a:off x="1960259" y="676139"/>
              <a:ext cx="20719" cy="40901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23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6" name="텍스트 개체 틀 22">
            <a:extLst>
              <a:ext uri="{FF2B5EF4-FFF2-40B4-BE49-F238E27FC236}">
                <a16:creationId xmlns:a16="http://schemas.microsoft.com/office/drawing/2014/main" id="{5FC5195C-938C-432F-A323-E072C5311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23" y="103952"/>
            <a:ext cx="11305143" cy="318164"/>
          </a:xfrm>
        </p:spPr>
        <p:txBody>
          <a:bodyPr lIns="0" tIns="0" rIns="0" bIns="0" anchor="ctr">
            <a:spAutoFit/>
          </a:bodyPr>
          <a:lstStyle>
            <a:lvl1pPr marL="0" indent="0">
              <a:buNone/>
              <a:defRPr lang="ko-KR" altLang="en-US" sz="2297" b="1" kern="1200" dirty="0">
                <a:solidFill>
                  <a:srgbClr val="4B489F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  <a:cs typeface="+mn-cs"/>
              </a:defRPr>
            </a:lvl1pPr>
            <a:lvl2pPr marL="455925" indent="0">
              <a:buNone/>
              <a:defRPr sz="2393"/>
            </a:lvl2pPr>
            <a:lvl3pPr marL="911850" indent="0">
              <a:buNone/>
              <a:defRPr sz="2393"/>
            </a:lvl3pPr>
            <a:lvl4pPr marL="1367775" indent="0">
              <a:buNone/>
              <a:defRPr sz="2393"/>
            </a:lvl4pPr>
            <a:lvl5pPr marL="1823700" indent="0">
              <a:buNone/>
              <a:defRPr sz="2393"/>
            </a:lvl5pPr>
          </a:lstStyle>
          <a:p>
            <a:pPr marL="0" lvl="0" indent="0" algn="l" defTabSz="911850" rtl="0" eaLnBrk="1" latinLnBrk="1" hangingPunct="1">
              <a:lnSpc>
                <a:spcPct val="90000"/>
              </a:lnSpc>
              <a:spcBef>
                <a:spcPts val="997"/>
              </a:spcBef>
              <a:buFont typeface="Arial" panose="020B0604020202020204" pitchFamily="34" charset="0"/>
              <a:buNone/>
            </a:pPr>
            <a:r>
              <a:rPr lang="ko-KR" altLang="en-US" dirty="0"/>
              <a:t>대주제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70" b="22259"/>
          <a:stretch/>
        </p:blipFill>
        <p:spPr bwMode="auto">
          <a:xfrm>
            <a:off x="10477051" y="57535"/>
            <a:ext cx="1371218" cy="40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7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6">
          <p15:clr>
            <a:srgbClr val="FBAE40"/>
          </p15:clr>
        </p15:guide>
        <p15:guide id="2" pos="599">
          <p15:clr>
            <a:srgbClr val="FBAE40"/>
          </p15:clr>
        </p15:guide>
        <p15:guide id="3" orient="horz" pos="4230">
          <p15:clr>
            <a:srgbClr val="FBAE40"/>
          </p15:clr>
        </p15:guide>
        <p15:guide id="4" orient="horz" pos="91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80AA2E-4539-41A6-92AA-6EC70F81E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6CD9E7-AD59-4349-8F32-F5C202555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378794-C577-45D6-A6B3-052321675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74184-3C0E-46E8-9BD5-7386B46A39F1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E013C-A93A-48EA-9145-D1299C342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E9D551-7B31-4870-AFE5-4B1E01893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05DD0-D6DC-42F8-8980-3228E7264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C5B8D-6EB0-486A-ACE7-8C1599D3C7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3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중간고사 이후 강의 가이드</a:t>
            </a:r>
            <a:br>
              <a:rPr lang="en-US" altLang="ko-KR" sz="3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</a:br>
            <a:r>
              <a:rPr lang="en-US" altLang="ko-KR" sz="3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sz="3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이론 실습</a:t>
            </a:r>
            <a:r>
              <a:rPr lang="en-US" altLang="ko-KR" sz="3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23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A2727D-F039-D390-0F86-8CBE6792F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50340"/>
              </p:ext>
            </p:extLst>
          </p:nvPr>
        </p:nvGraphicFramePr>
        <p:xfrm>
          <a:off x="965922" y="919013"/>
          <a:ext cx="986820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554">
                  <a:extLst>
                    <a:ext uri="{9D8B030D-6E8A-4147-A177-3AD203B41FA5}">
                      <a16:colId xmlns:a16="http://schemas.microsoft.com/office/drawing/2014/main" val="875735370"/>
                    </a:ext>
                  </a:extLst>
                </a:gridCol>
                <a:gridCol w="1971811">
                  <a:extLst>
                    <a:ext uri="{9D8B030D-6E8A-4147-A177-3AD203B41FA5}">
                      <a16:colId xmlns:a16="http://schemas.microsoft.com/office/drawing/2014/main" val="3544310298"/>
                    </a:ext>
                  </a:extLst>
                </a:gridCol>
                <a:gridCol w="2344504">
                  <a:extLst>
                    <a:ext uri="{9D8B030D-6E8A-4147-A177-3AD203B41FA5}">
                      <a16:colId xmlns:a16="http://schemas.microsoft.com/office/drawing/2014/main" val="884855690"/>
                    </a:ext>
                  </a:extLst>
                </a:gridCol>
                <a:gridCol w="2589691">
                  <a:extLst>
                    <a:ext uri="{9D8B030D-6E8A-4147-A177-3AD203B41FA5}">
                      <a16:colId xmlns:a16="http://schemas.microsoft.com/office/drawing/2014/main" val="3414495068"/>
                    </a:ext>
                  </a:extLst>
                </a:gridCol>
                <a:gridCol w="1973640">
                  <a:extLst>
                    <a:ext uri="{9D8B030D-6E8A-4147-A177-3AD203B41FA5}">
                      <a16:colId xmlns:a16="http://schemas.microsoft.com/office/drawing/2014/main" val="1908402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강의내용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실습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106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11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5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월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13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/ 15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정보모델링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(2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차원리스트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차원 리스트 연습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943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12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5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월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20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/ 22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중간고사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중간고사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1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13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5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월 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27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/ 29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프로젝트 설명</a:t>
                      </a:r>
                      <a:endParaRPr lang="en-US" altLang="ko-KR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활동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-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선택한 주제에 대한 문제 인식 탐색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활동보고서 제출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*</a:t>
                      </a:r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문제 인식 탐색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활동보고서 제출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이론 실습 양쪽 모두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문제 인식으로부터 문제정의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문제분해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추상화 까지 보고서 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latinLnBrk="1"/>
                      <a:endParaRPr lang="en-US" altLang="ko-KR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결과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일부평가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873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14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6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월 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3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 / 5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지방선거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알고리즘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순서도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작성하기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결과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일부평가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0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보강주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6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월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10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/12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AI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와 컴퓨팅적 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파이썬으로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부족한 내용은 집에서 수행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743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15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6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월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17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/ 19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총정리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마무리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발표평가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-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개인별 </a:t>
                      </a:r>
                      <a:r>
                        <a:rPr lang="en-US" altLang="ko-KR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2</a:t>
                      </a:r>
                      <a:r>
                        <a:rPr lang="ko-KR" altLang="en-US" sz="11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분 발표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846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EEBC26-23FB-3CD4-2743-C7F1D6A455CB}"/>
              </a:ext>
            </a:extLst>
          </p:cNvPr>
          <p:cNvSpPr txBox="1"/>
          <p:nvPr/>
        </p:nvSpPr>
        <p:spPr>
          <a:xfrm>
            <a:off x="6361797" y="3738413"/>
            <a:ext cx="18245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</a:t>
            </a:r>
            <a:r>
              <a:rPr lang="ko-KR" altLang="en-US" sz="11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기발프로젝트 가이드 참고</a:t>
            </a:r>
          </a:p>
        </p:txBody>
      </p:sp>
    </p:spTree>
    <p:extLst>
      <p:ext uri="{BB962C8B-B14F-4D97-AF65-F5344CB8AC3E}">
        <p14:creationId xmlns:p14="http://schemas.microsoft.com/office/powerpoint/2010/main" val="23377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79300-0A94-6DFC-9081-2ACF81255DEE}"/>
              </a:ext>
            </a:extLst>
          </p:cNvPr>
          <p:cNvSpPr txBox="1"/>
          <p:nvPr/>
        </p:nvSpPr>
        <p:spPr>
          <a:xfrm>
            <a:off x="598044" y="338025"/>
            <a:ext cx="2234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070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기말프로젝트 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46D78-AF37-ACDE-273D-9080BF28FDB2}"/>
              </a:ext>
            </a:extLst>
          </p:cNvPr>
          <p:cNvSpPr txBox="1"/>
          <p:nvPr/>
        </p:nvSpPr>
        <p:spPr>
          <a:xfrm>
            <a:off x="653213" y="1946574"/>
            <a:ext cx="4007542" cy="2964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학교 급식 관리 시스템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스마트폰 배터리 사용 시뮬레이션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온라인 시험 부정 감지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게임 캐릭터 체력 관리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도서관 좌석 관리 시스템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학교 셔틀버스 탑승 관리 시스템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카페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sz="14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대즐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대기 주문 호출 시스템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체육관 운동 기구 사용 분석 시스템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휴대폰 알림 과다 감지 시스템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CCED5-F06A-2A05-FA7B-FC7D025B09C7}"/>
              </a:ext>
            </a:extLst>
          </p:cNvPr>
          <p:cNvSpPr txBox="1"/>
          <p:nvPr/>
        </p:nvSpPr>
        <p:spPr>
          <a:xfrm>
            <a:off x="538456" y="841768"/>
            <a:ext cx="813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다음의 주제 중 하나를 선정하여 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문제인식</a:t>
            </a:r>
            <a:r>
              <a:rPr lang="en-US" altLang="ko-KR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문제 정의</a:t>
            </a:r>
            <a:r>
              <a:rPr lang="en-US" altLang="ko-KR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문제분해</a:t>
            </a:r>
            <a:r>
              <a:rPr lang="en-US" altLang="ko-KR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추상화</a:t>
            </a:r>
            <a:r>
              <a:rPr lang="en-US" altLang="ko-KR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알고리즘설계</a:t>
            </a:r>
            <a:r>
              <a:rPr lang="en-US" altLang="ko-KR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구현까지 컴퓨팅사고의 일련의 모든 과정을</a:t>
            </a: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수행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CEC2B-8242-5056-CE2F-0F1903767411}"/>
              </a:ext>
            </a:extLst>
          </p:cNvPr>
          <p:cNvSpPr txBox="1"/>
          <p:nvPr/>
        </p:nvSpPr>
        <p:spPr>
          <a:xfrm>
            <a:off x="704134" y="5045618"/>
            <a:ext cx="46907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</a:t>
            </a:r>
            <a:r>
              <a:rPr lang="ko-KR" altLang="en-US" sz="14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추가적인 주제 필요 </a:t>
            </a:r>
            <a:r>
              <a:rPr lang="en-US" altLang="ko-KR" sz="14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대학 내에서 발생할 수 있는 주제로</a:t>
            </a:r>
            <a:r>
              <a:rPr lang="en-US" altLang="ko-KR" sz="14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234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1BA4-4A63-AA68-3528-AA1A385A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다채로운, 비행, 연, 모니터이(가) 표시된 사진&#10;&#10;자동 생성된 설명">
            <a:extLst>
              <a:ext uri="{FF2B5EF4-FFF2-40B4-BE49-F238E27FC236}">
                <a16:creationId xmlns:a16="http://schemas.microsoft.com/office/drawing/2014/main" id="{D6F54FCB-B43A-1F42-04E5-E145C6D10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0" y="0"/>
            <a:ext cx="12157640" cy="6838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997BBB-65CD-E258-DF42-827B0E7A21E6}"/>
              </a:ext>
            </a:extLst>
          </p:cNvPr>
          <p:cNvSpPr txBox="1"/>
          <p:nvPr/>
        </p:nvSpPr>
        <p:spPr>
          <a:xfrm>
            <a:off x="982688" y="1278811"/>
            <a:ext cx="8117928" cy="710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20" b="1" dirty="0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기말 프로젝트 </a:t>
            </a:r>
            <a:r>
              <a:rPr lang="ko-KR" altLang="en-US" sz="4020" b="1" dirty="0" err="1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결고</a:t>
            </a:r>
            <a:r>
              <a:rPr lang="ko-KR" altLang="en-US" sz="4020" b="1" dirty="0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보고 작성 요령</a:t>
            </a:r>
          </a:p>
        </p:txBody>
      </p:sp>
    </p:spTree>
    <p:extLst>
      <p:ext uri="{BB962C8B-B14F-4D97-AF65-F5344CB8AC3E}">
        <p14:creationId xmlns:p14="http://schemas.microsoft.com/office/powerpoint/2010/main" val="255211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A36FC16E-E368-4A0F-A5EE-D3200FF40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257395"/>
              </p:ext>
            </p:extLst>
          </p:nvPr>
        </p:nvGraphicFramePr>
        <p:xfrm>
          <a:off x="371332" y="1261201"/>
          <a:ext cx="11488686" cy="5169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89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문제 인식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문제 정의 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479858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13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주차 문제 인식 활동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이론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의 결과 적용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주제에 따른 상황 분석을 통해 야기되는 불편함을 찾아서 작성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문제 인식의 결과를 바탕으로 해결하고자 하는 문제를 찾아 정의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최종 목표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최소 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개 이상의 문제로 분해 할 수 있는 목표 설정이 중요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문제 정의 시 무엇을 해결하기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위함인지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작성 필요</a:t>
                      </a: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97DD5FB-C34E-294D-99FB-F3BC7F32D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717517C-7987-46FA-A0B5-1D1BBB3FEBA6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9456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914" b="1" dirty="0">
                <a:ea typeface="나눔스퀘어OTF ExtraBold" panose="020B0600000101010101" pitchFamily="34" charset="-127"/>
              </a:rPr>
              <a:t>주제</a:t>
            </a:r>
            <a:r>
              <a:rPr lang="en-US" altLang="ko-KR" sz="1914" b="1" dirty="0">
                <a:ea typeface="나눔스퀘어OTF ExtraBold" panose="020B0600000101010101" pitchFamily="34" charset="-127"/>
              </a:rPr>
              <a:t>: </a:t>
            </a:r>
            <a:r>
              <a:rPr lang="ko-KR" altLang="en-US" sz="1914" b="1" dirty="0">
                <a:solidFill>
                  <a:schemeClr val="accent1"/>
                </a:solidFill>
                <a:ea typeface="나눔스퀘어OTF ExtraBold" panose="020B0600000101010101" pitchFamily="34" charset="-127"/>
              </a:rPr>
              <a:t>편의점 재고 소진 분석 시스템</a:t>
            </a:r>
            <a:endParaRPr lang="en-US" altLang="ko-KR" sz="1914" b="1" dirty="0">
              <a:solidFill>
                <a:schemeClr val="accent1"/>
              </a:solidFill>
              <a:ea typeface="나눔스퀘어OTF Extra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0BD0C-5AB5-FE19-EA31-C703E6124AA0}"/>
              </a:ext>
            </a:extLst>
          </p:cNvPr>
          <p:cNvSpPr txBox="1"/>
          <p:nvPr/>
        </p:nvSpPr>
        <p:spPr>
          <a:xfrm>
            <a:off x="9707373" y="694647"/>
            <a:ext cx="1920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빨간글씨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</a:rPr>
              <a:t>작성시 주의점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 err="1">
                <a:solidFill>
                  <a:srgbClr val="0070C0"/>
                </a:solidFill>
              </a:rPr>
              <a:t>파란글씨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en-US" altLang="ko-KR" sz="1200" dirty="0">
                <a:solidFill>
                  <a:srgbClr val="0070C0"/>
                </a:solidFill>
              </a:rPr>
              <a:t>: </a:t>
            </a:r>
            <a:r>
              <a:rPr lang="ko-KR" altLang="en-US" sz="1200" dirty="0">
                <a:solidFill>
                  <a:srgbClr val="0070C0"/>
                </a:solidFill>
              </a:rPr>
              <a:t>작성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FF4F2-9234-79DD-4DDA-6D23127845A3}"/>
              </a:ext>
            </a:extLst>
          </p:cNvPr>
          <p:cNvSpPr txBox="1"/>
          <p:nvPr/>
        </p:nvSpPr>
        <p:spPr>
          <a:xfrm>
            <a:off x="1126749" y="4820180"/>
            <a:ext cx="4118435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13</a:t>
            </a:r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주차 이론 활동 결과를 잘 작성할 수 있도록 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FAFE2-B849-6FD7-098A-C7EE3C10D4E1}"/>
              </a:ext>
            </a:extLst>
          </p:cNvPr>
          <p:cNvSpPr txBox="1"/>
          <p:nvPr/>
        </p:nvSpPr>
        <p:spPr>
          <a:xfrm>
            <a:off x="6427524" y="4820179"/>
            <a:ext cx="4762842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r>
              <a:rPr lang="ko-KR" altLang="en-US" dirty="0"/>
              <a:t>문제 인식의 결과를 기반으로 문제가 잘 정의 되었는지 지도</a:t>
            </a:r>
          </a:p>
        </p:txBody>
      </p:sp>
    </p:spTree>
    <p:extLst>
      <p:ext uri="{BB962C8B-B14F-4D97-AF65-F5344CB8AC3E}">
        <p14:creationId xmlns:p14="http://schemas.microsoft.com/office/powerpoint/2010/main" val="299419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1B15F2C2-18C2-4522-8AED-5DABD5ECE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652068"/>
              </p:ext>
            </p:extLst>
          </p:nvPr>
        </p:nvGraphicFramePr>
        <p:xfrm>
          <a:off x="371332" y="1261200"/>
          <a:ext cx="11488686" cy="4851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46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12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쓰임새 추상화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700" kern="12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문제분해와 모듈설명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205044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쓰임새 추상화를 사용하여 문제분해 및 전체 시스템의 도식화</a:t>
                      </a: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쓰임새 추상화를 통하여 도출한 각 모듈에 대한 상세 설명</a:t>
                      </a: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97DD5FB-C34E-294D-99FB-F3BC7F32D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717517C-7987-46FA-A0B5-1D1BBB3FEBA6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9456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914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문제해결전략</a:t>
            </a:r>
            <a:endParaRPr lang="en-US" altLang="ko-KR" sz="1723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09E5F-42AD-152D-1F1A-4C344B642A5B}"/>
              </a:ext>
            </a:extLst>
          </p:cNvPr>
          <p:cNvSpPr txBox="1"/>
          <p:nvPr/>
        </p:nvSpPr>
        <p:spPr>
          <a:xfrm>
            <a:off x="3081946" y="5392220"/>
            <a:ext cx="6413935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r>
              <a:rPr lang="ko-KR" altLang="en-US" dirty="0"/>
              <a:t>문제 분해를 통하여 쓰임새 추상화 작성해 보기</a:t>
            </a:r>
            <a:r>
              <a:rPr lang="en-US" altLang="ko-KR" dirty="0"/>
              <a:t>, </a:t>
            </a:r>
            <a:r>
              <a:rPr lang="ko-KR" altLang="en-US" dirty="0"/>
              <a:t>각 모듈에 대한 설명을 작성하기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C65E59D-89A6-B2B4-DB26-D4C6FBF3AC47}"/>
              </a:ext>
            </a:extLst>
          </p:cNvPr>
          <p:cNvGrpSpPr/>
          <p:nvPr/>
        </p:nvGrpSpPr>
        <p:grpSpPr>
          <a:xfrm>
            <a:off x="1612840" y="2672736"/>
            <a:ext cx="3106695" cy="2132448"/>
            <a:chOff x="7601944" y="2716073"/>
            <a:chExt cx="3106695" cy="2132448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CB5BED8-952B-0A5A-8F09-5EC9FA771C29}"/>
                </a:ext>
              </a:extLst>
            </p:cNvPr>
            <p:cNvSpPr/>
            <p:nvPr/>
          </p:nvSpPr>
          <p:spPr>
            <a:xfrm>
              <a:off x="8455430" y="2716073"/>
              <a:ext cx="1056688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모듈</a:t>
              </a:r>
              <a:r>
                <a:rPr lang="en-US" altLang="ko-KR" sz="800" dirty="0"/>
                <a:t>1:</a:t>
              </a:r>
            </a:p>
            <a:p>
              <a:pPr algn="ctr"/>
              <a:r>
                <a:rPr lang="ko-KR" altLang="en-US" sz="800" dirty="0"/>
                <a:t>메뉴 고르기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4F509AD-FB82-2898-178C-540F7F49EABF}"/>
                </a:ext>
              </a:extLst>
            </p:cNvPr>
            <p:cNvSpPr/>
            <p:nvPr/>
          </p:nvSpPr>
          <p:spPr>
            <a:xfrm>
              <a:off x="9642563" y="3356332"/>
              <a:ext cx="1056688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모듈</a:t>
              </a:r>
              <a:r>
                <a:rPr lang="en-US" altLang="ko-KR" sz="800" dirty="0"/>
                <a:t>3:</a:t>
              </a:r>
            </a:p>
            <a:p>
              <a:pPr algn="ctr"/>
              <a:r>
                <a:rPr lang="ko-KR" altLang="en-US" sz="800" dirty="0"/>
                <a:t>판매 기록 하기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71CFFD2-CDFC-5360-8D83-0C1F5B1F6FE5}"/>
                </a:ext>
              </a:extLst>
            </p:cNvPr>
            <p:cNvSpPr/>
            <p:nvPr/>
          </p:nvSpPr>
          <p:spPr>
            <a:xfrm>
              <a:off x="7601944" y="3356333"/>
              <a:ext cx="821710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모듈</a:t>
              </a:r>
              <a:r>
                <a:rPr lang="en-US" altLang="ko-KR" sz="800" dirty="0"/>
                <a:t>2:</a:t>
              </a:r>
            </a:p>
            <a:p>
              <a:pPr algn="ctr"/>
              <a:r>
                <a:rPr lang="ko-KR" altLang="en-US" sz="800" dirty="0"/>
                <a:t>재고파악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5450E46-7078-8744-2426-D6E223F2D73B}"/>
                </a:ext>
              </a:extLst>
            </p:cNvPr>
            <p:cNvSpPr/>
            <p:nvPr/>
          </p:nvSpPr>
          <p:spPr>
            <a:xfrm>
              <a:off x="8572919" y="3356332"/>
              <a:ext cx="821710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모듈</a:t>
              </a:r>
              <a:r>
                <a:rPr lang="en-US" altLang="ko-KR" sz="800" dirty="0"/>
                <a:t>3:</a:t>
              </a:r>
            </a:p>
            <a:p>
              <a:pPr algn="ctr"/>
              <a:r>
                <a:rPr lang="ko-KR" altLang="en-US" sz="800" dirty="0"/>
                <a:t>주문신청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683B858-A180-BFAB-4C29-CBB48CC7A064}"/>
                </a:ext>
              </a:extLst>
            </p:cNvPr>
            <p:cNvCxnSpPr>
              <a:stCxn id="13" idx="2"/>
              <a:endCxn id="19" idx="0"/>
            </p:cNvCxnSpPr>
            <p:nvPr/>
          </p:nvCxnSpPr>
          <p:spPr>
            <a:xfrm>
              <a:off x="8983774" y="3080100"/>
              <a:ext cx="0" cy="2762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C9612345-3437-E4D2-934C-C7C83A93C6A1}"/>
                </a:ext>
              </a:extLst>
            </p:cNvPr>
            <p:cNvCxnSpPr>
              <a:stCxn id="13" idx="2"/>
              <a:endCxn id="17" idx="0"/>
            </p:cNvCxnSpPr>
            <p:nvPr/>
          </p:nvCxnSpPr>
          <p:spPr>
            <a:xfrm rot="5400000">
              <a:off x="8360171" y="2732729"/>
              <a:ext cx="276233" cy="97097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A8FF998-50E8-DBE2-8358-54BD2C850825}"/>
                </a:ext>
              </a:extLst>
            </p:cNvPr>
            <p:cNvSpPr/>
            <p:nvPr/>
          </p:nvSpPr>
          <p:spPr>
            <a:xfrm>
              <a:off x="7601944" y="4031953"/>
              <a:ext cx="821710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모듈</a:t>
              </a:r>
              <a:r>
                <a:rPr lang="en-US" altLang="ko-KR" sz="800" dirty="0"/>
                <a:t>4:</a:t>
              </a:r>
            </a:p>
            <a:p>
              <a:pPr algn="ctr"/>
              <a:r>
                <a:rPr lang="ko-KR" altLang="en-US" sz="800" dirty="0"/>
                <a:t>전체 재고 </a:t>
              </a:r>
              <a:br>
                <a:rPr lang="en-US" altLang="ko-KR" sz="800" dirty="0"/>
              </a:br>
              <a:r>
                <a:rPr lang="ko-KR" altLang="en-US" sz="800" dirty="0"/>
                <a:t>리스트 보기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A27DA71-B0DD-BF16-ED83-25EEA873CF34}"/>
                </a:ext>
              </a:extLst>
            </p:cNvPr>
            <p:cNvSpPr/>
            <p:nvPr/>
          </p:nvSpPr>
          <p:spPr>
            <a:xfrm>
              <a:off x="8572919" y="4012211"/>
              <a:ext cx="821710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모듈</a:t>
              </a:r>
              <a:r>
                <a:rPr lang="en-US" altLang="ko-KR" sz="800" dirty="0"/>
                <a:t>5:</a:t>
              </a:r>
            </a:p>
            <a:p>
              <a:pPr algn="ctr"/>
              <a:r>
                <a:rPr lang="ko-KR" altLang="en-US" sz="800" dirty="0"/>
                <a:t>위험 재고 </a:t>
              </a:r>
              <a:br>
                <a:rPr lang="en-US" altLang="ko-KR" sz="800" dirty="0"/>
              </a:br>
              <a:r>
                <a:rPr lang="ko-KR" altLang="en-US" sz="800" dirty="0"/>
                <a:t>리스트 보기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2F967A7-567A-1977-C9AE-27D3D3765FE6}"/>
                </a:ext>
              </a:extLst>
            </p:cNvPr>
            <p:cNvCxnSpPr>
              <a:stCxn id="17" idx="2"/>
              <a:endCxn id="24" idx="0"/>
            </p:cNvCxnSpPr>
            <p:nvPr/>
          </p:nvCxnSpPr>
          <p:spPr>
            <a:xfrm>
              <a:off x="8012799" y="3720360"/>
              <a:ext cx="0" cy="311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8DD36CC-EB7E-03A5-34F4-01E88CEB5845}"/>
                </a:ext>
              </a:extLst>
            </p:cNvPr>
            <p:cNvCxnSpPr>
              <a:stCxn id="19" idx="2"/>
              <a:endCxn id="27" idx="0"/>
            </p:cNvCxnSpPr>
            <p:nvPr/>
          </p:nvCxnSpPr>
          <p:spPr>
            <a:xfrm>
              <a:off x="8983774" y="3720359"/>
              <a:ext cx="0" cy="2918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F8C5564-330E-8AEE-CC3E-1039F6289879}"/>
                </a:ext>
              </a:extLst>
            </p:cNvPr>
            <p:cNvSpPr/>
            <p:nvPr/>
          </p:nvSpPr>
          <p:spPr>
            <a:xfrm>
              <a:off x="9647617" y="3908795"/>
              <a:ext cx="1056688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입력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BF993AF-EC82-B2C0-F379-06AA8F32A33A}"/>
                </a:ext>
              </a:extLst>
            </p:cNvPr>
            <p:cNvSpPr/>
            <p:nvPr/>
          </p:nvSpPr>
          <p:spPr>
            <a:xfrm>
              <a:off x="9651951" y="4484494"/>
              <a:ext cx="1056688" cy="3640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재고 업데이트</a:t>
              </a:r>
            </a:p>
          </p:txBody>
        </p: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1C54FC9F-154B-1196-189E-86A7919640D9}"/>
                </a:ext>
              </a:extLst>
            </p:cNvPr>
            <p:cNvCxnSpPr>
              <a:stCxn id="14" idx="2"/>
              <a:endCxn id="32" idx="0"/>
            </p:cNvCxnSpPr>
            <p:nvPr/>
          </p:nvCxnSpPr>
          <p:spPr>
            <a:xfrm>
              <a:off x="10170907" y="3720359"/>
              <a:ext cx="5054" cy="188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F027DB1F-3D95-B7E3-5E90-403CC90AD741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10170907" y="4295214"/>
              <a:ext cx="9388" cy="1892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연결선: 꺾임 36">
              <a:extLst>
                <a:ext uri="{FF2B5EF4-FFF2-40B4-BE49-F238E27FC236}">
                  <a16:creationId xmlns:a16="http://schemas.microsoft.com/office/drawing/2014/main" id="{6E05FC98-86DB-B21E-D636-A32B5883902F}"/>
                </a:ext>
              </a:extLst>
            </p:cNvPr>
            <p:cNvCxnSpPr>
              <a:stCxn id="13" idx="2"/>
              <a:endCxn id="14" idx="0"/>
            </p:cNvCxnSpPr>
            <p:nvPr/>
          </p:nvCxnSpPr>
          <p:spPr>
            <a:xfrm rot="16200000" flipH="1">
              <a:off x="9439224" y="2624649"/>
              <a:ext cx="276232" cy="118713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C5B552A-793F-E607-EADE-6ED5271A63F8}"/>
              </a:ext>
            </a:extLst>
          </p:cNvPr>
          <p:cNvSpPr txBox="1"/>
          <p:nvPr/>
        </p:nvSpPr>
        <p:spPr>
          <a:xfrm>
            <a:off x="6396129" y="2502751"/>
            <a:ext cx="2690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메뉴 고르기</a:t>
            </a:r>
            <a:r>
              <a:rPr lang="en-US" altLang="ko-KR" sz="1200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: </a:t>
            </a:r>
            <a:r>
              <a:rPr lang="ko-KR" altLang="en-US" sz="1200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메뉴 리스트 보여준다</a:t>
            </a:r>
            <a:endParaRPr lang="en-US" altLang="ko-KR" sz="1200" dirty="0">
              <a:solidFill>
                <a:srgbClr val="0000CC"/>
              </a:solidFill>
              <a:ea typeface="나눔스퀘어OTF ExtraBold" panose="020B0600000101010101" pitchFamily="34" charset="-127"/>
            </a:endParaRPr>
          </a:p>
          <a:p>
            <a:r>
              <a:rPr lang="ko-KR" altLang="en-US" sz="1200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제고파악</a:t>
            </a:r>
            <a:r>
              <a:rPr lang="en-US" altLang="ko-KR" sz="1200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: </a:t>
            </a:r>
            <a:r>
              <a:rPr lang="ko-KR" altLang="en-US" sz="1200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재고파악 메뉴를 보여준다</a:t>
            </a:r>
          </a:p>
        </p:txBody>
      </p:sp>
    </p:spTree>
    <p:extLst>
      <p:ext uri="{BB962C8B-B14F-4D97-AF65-F5344CB8AC3E}">
        <p14:creationId xmlns:p14="http://schemas.microsoft.com/office/powerpoint/2010/main" val="106348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1B15F2C2-18C2-4522-8AED-5DABD5ECE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182579"/>
              </p:ext>
            </p:extLst>
          </p:nvPr>
        </p:nvGraphicFramePr>
        <p:xfrm>
          <a:off x="371332" y="1261200"/>
          <a:ext cx="11488686" cy="4851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46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추상화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제어 추상화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32195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패턴 찾기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20504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*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분해된 문제의 해결을 위한 얼개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제어 추상화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)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를 작성</a:t>
                      </a:r>
                      <a:endParaRPr lang="en-US" altLang="ko-KR" sz="1400" kern="1200" dirty="0">
                        <a:solidFill>
                          <a:srgbClr val="FF0000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algn="l" latinLnBrk="1"/>
                      <a:endParaRPr lang="en-US" altLang="ko-KR" sz="1400" kern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개의 메뉴를 화면에 보여준다</a:t>
                      </a:r>
                      <a:endParaRPr lang="en-US" altLang="ko-KR" sz="1200" kern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번은 재고관리</a:t>
                      </a: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2</a:t>
                      </a:r>
                      <a:r>
                        <a:rPr lang="ko-KR" altLang="en-US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번은 주문신청</a:t>
                      </a: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, 3</a:t>
                      </a:r>
                      <a:r>
                        <a:rPr lang="ko-KR" altLang="en-US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번은 판매기록</a:t>
                      </a:r>
                      <a:endParaRPr lang="en-US" altLang="ko-KR" sz="1200" kern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번을 선택하면 재고관리 화면으로 전환한다</a:t>
                      </a: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.</a:t>
                      </a:r>
                    </a:p>
                    <a:p>
                      <a:pPr marL="342900" indent="-342900" algn="l" latinLnBrk="1">
                        <a:buAutoNum type="arabicPeriod"/>
                      </a:pPr>
                      <a:r>
                        <a:rPr lang="en-US" altLang="ko-KR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번을</a:t>
                      </a:r>
                      <a:endParaRPr lang="en-US" altLang="ko-KR" sz="1200" kern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342900" indent="-342900" algn="l" latinLnBrk="1">
                        <a:buAutoNum type="arabicPeriod"/>
                      </a:pPr>
                      <a:endParaRPr lang="en-US" altLang="ko-KR" sz="1400" kern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  <a:p>
                      <a:pPr marL="342900" indent="-342900" algn="l" latinLnBrk="1">
                        <a:buAutoNum type="arabicPeriod"/>
                      </a:pPr>
                      <a:endParaRPr lang="ko-KR" altLang="en-US" sz="1400" kern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  <a:cs typeface="+mn-cs"/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*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핵심 아이디어를 도출하세요</a:t>
                      </a:r>
                      <a:endParaRPr lang="en-US" altLang="ko-KR" sz="1400" dirty="0">
                        <a:solidFill>
                          <a:srgbClr val="FF0000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현재 재고 수량을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LIST 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형태로 정의</a:t>
                      </a:r>
                      <a:endParaRPr lang="en-US" altLang="ko-KR" sz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items = [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   [1, "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삼각김밥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", 1500, 5],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   [2, "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컵라면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", 1200, 0],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   [3, "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초콜릿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", 1000, 10],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   [4, "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탄산음료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", 1800, 3]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만약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items[n][3]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==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0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이면 품절</a:t>
                      </a:r>
                      <a:endParaRPr lang="en-US" altLang="ko-KR" sz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만약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items[n][3]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=&lt;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판매한 물건 수량 이면 재고 부족</a:t>
                      </a:r>
                      <a:endParaRPr lang="en-US" altLang="ko-KR" sz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현재 재고량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=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현재 재고량 </a:t>
                      </a:r>
                      <a:r>
                        <a:rPr lang="en-US" altLang="ko-KR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- </a:t>
                      </a:r>
                      <a:r>
                        <a:rPr lang="ko-KR" altLang="en-US" sz="1200" dirty="0">
                          <a:solidFill>
                            <a:srgbClr val="0000CC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판매된 제품의 수량</a:t>
                      </a:r>
                      <a:endParaRPr lang="en-US" altLang="ko-KR" sz="12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97DD5FB-C34E-294D-99FB-F3BC7F32D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717517C-7987-46FA-A0B5-1D1BBB3FEBA6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모듈</a:t>
            </a:r>
            <a:r>
              <a:rPr lang="en-US" altLang="ko-KR" sz="1800" b="1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1: </a:t>
            </a:r>
            <a:r>
              <a:rPr lang="ko-KR" altLang="en-US" sz="1800" b="1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메뉴 </a:t>
            </a:r>
            <a:r>
              <a:rPr lang="ko-KR" altLang="en-US" sz="1800" b="1" dirty="0">
                <a:solidFill>
                  <a:srgbClr val="0000CC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보여주기</a:t>
            </a:r>
            <a:endParaRPr lang="en-US" altLang="ko-KR" sz="1723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FE9DC1-9FBD-F308-4E91-C2B25E03729F}"/>
              </a:ext>
            </a:extLst>
          </p:cNvPr>
          <p:cNvSpPr txBox="1"/>
          <p:nvPr/>
        </p:nvSpPr>
        <p:spPr>
          <a:xfrm>
            <a:off x="3185954" y="5487561"/>
            <a:ext cx="5242141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r>
              <a:rPr lang="ko-KR" altLang="en-US" dirty="0"/>
              <a:t>각 모듈에 대한 제어 추상화 및 패턴</a:t>
            </a:r>
            <a:r>
              <a:rPr lang="en-US" altLang="ko-KR" dirty="0"/>
              <a:t>(inc. </a:t>
            </a:r>
            <a:r>
              <a:rPr lang="ko-KR" altLang="en-US" dirty="0"/>
              <a:t>핵심아이디어</a:t>
            </a:r>
            <a:r>
              <a:rPr lang="en-US" altLang="ko-KR" dirty="0"/>
              <a:t>)</a:t>
            </a:r>
            <a:r>
              <a:rPr lang="ko-KR" altLang="en-US" dirty="0"/>
              <a:t> 찾기 수행</a:t>
            </a:r>
            <a:endParaRPr lang="en-US" altLang="ko-KR" dirty="0"/>
          </a:p>
          <a:p>
            <a:r>
              <a:rPr lang="en-US" altLang="ko-KR" sz="1100" dirty="0">
                <a:solidFill>
                  <a:srgbClr val="FF0000"/>
                </a:solidFill>
              </a:rPr>
              <a:t>*</a:t>
            </a:r>
            <a:r>
              <a:rPr lang="ko-KR" altLang="en-US" sz="1100" dirty="0">
                <a:solidFill>
                  <a:srgbClr val="FF0000"/>
                </a:solidFill>
              </a:rPr>
              <a:t>각 모듈별 작성 필요</a:t>
            </a:r>
          </a:p>
        </p:txBody>
      </p:sp>
    </p:spTree>
    <p:extLst>
      <p:ext uri="{BB962C8B-B14F-4D97-AF65-F5344CB8AC3E}">
        <p14:creationId xmlns:p14="http://schemas.microsoft.com/office/powerpoint/2010/main" val="273314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73F5-8B00-8CAD-DEC0-B009664B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6A98209B-F1D1-AF82-2ECE-453ABEFFA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745563"/>
              </p:ext>
            </p:extLst>
          </p:nvPr>
        </p:nvGraphicFramePr>
        <p:xfrm>
          <a:off x="371332" y="1261200"/>
          <a:ext cx="11488686" cy="4851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4693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알고리즘 작성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832195" rtl="0" eaLnBrk="1" latinLnBrk="1" hangingPunct="1"/>
                      <a:endParaRPr lang="ko-KR" altLang="en-US" sz="1600" kern="1200" dirty="0">
                        <a:solidFill>
                          <a:schemeClr val="tx1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20504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*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모듈별 알고리즘 작성 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순서도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) – 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모듈별 별도의 페이지 사용</a:t>
                      </a: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77C8056F-9066-82EF-BA06-FBC86BA1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67C4D647-575E-4272-031F-F385B8D280C9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모듈</a:t>
            </a:r>
            <a:r>
              <a:rPr lang="en-US" altLang="ko-KR" sz="1800" b="1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1: </a:t>
            </a:r>
            <a:r>
              <a:rPr lang="ko-KR" altLang="en-US" sz="1800" b="1" dirty="0">
                <a:solidFill>
                  <a:srgbClr val="0000CC"/>
                </a:solidFill>
                <a:ea typeface="나눔스퀘어OTF ExtraBold" panose="020B0600000101010101" pitchFamily="34" charset="-127"/>
              </a:rPr>
              <a:t>메뉴 </a:t>
            </a:r>
            <a:r>
              <a:rPr lang="ko-KR" altLang="en-US" sz="1800" b="1" dirty="0">
                <a:solidFill>
                  <a:srgbClr val="0000CC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보여주기</a:t>
            </a:r>
            <a:endParaRPr lang="en-US" altLang="ko-KR" sz="1723" b="1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pic>
        <p:nvPicPr>
          <p:cNvPr id="8" name="그림 7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C44BD2-1205-D536-2DF0-138D97470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627" y="2380171"/>
            <a:ext cx="2255324" cy="3519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BC2273-A9FF-8906-E920-D7B64B39B7DE}"/>
              </a:ext>
            </a:extLst>
          </p:cNvPr>
          <p:cNvSpPr txBox="1"/>
          <p:nvPr/>
        </p:nvSpPr>
        <p:spPr>
          <a:xfrm>
            <a:off x="1727120" y="4074118"/>
            <a:ext cx="2358338" cy="769441"/>
          </a:xfrm>
          <a:prstGeom prst="rect">
            <a:avLst/>
          </a:prstGeom>
          <a:solidFill>
            <a:srgbClr val="FFC000">
              <a:alpha val="60000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버전업으로 일부 기존 기능이 삭제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(2</a:t>
            </a:r>
            <a:r>
              <a:rPr lang="ko-KR" altLang="en-US" sz="1100" dirty="0">
                <a:solidFill>
                  <a:srgbClr val="FF0000"/>
                </a:solidFill>
              </a:rPr>
              <a:t>차원배열은 지원 안됨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오류 무시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감정 없음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100" dirty="0">
                <a:solidFill>
                  <a:srgbClr val="FF0000"/>
                </a:solidFill>
              </a:rPr>
              <a:t>흐름파악만 될 수 있으면 </a:t>
            </a:r>
            <a:r>
              <a:rPr lang="en-US" altLang="ko-KR" sz="1100" dirty="0">
                <a:solidFill>
                  <a:srgbClr val="FF0000"/>
                </a:solidFill>
              </a:rPr>
              <a:t>OK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24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6763-240F-7BC0-5CBC-7DF2293F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DC52E2A9-AD85-8DD4-9E82-9891A1DA1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9E24B1C8-D7D5-5215-0392-F54F4A6E6B0B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651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723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구현</a:t>
            </a:r>
            <a:endParaRPr lang="en-US" altLang="ko-KR" sz="1723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8A088-6C04-8067-A936-5194C6524722}"/>
              </a:ext>
            </a:extLst>
          </p:cNvPr>
          <p:cNvSpPr txBox="1"/>
          <p:nvPr/>
        </p:nvSpPr>
        <p:spPr>
          <a:xfrm>
            <a:off x="847950" y="1204754"/>
            <a:ext cx="10496099" cy="53553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발표 시 결과물 시연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395C7-1BE9-A660-5D32-E63323593C16}"/>
              </a:ext>
            </a:extLst>
          </p:cNvPr>
          <p:cNvSpPr txBox="1"/>
          <p:nvPr/>
        </p:nvSpPr>
        <p:spPr>
          <a:xfrm>
            <a:off x="9789714" y="901834"/>
            <a:ext cx="16033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최종 코드는 별도 제출</a:t>
            </a:r>
          </a:p>
        </p:txBody>
      </p:sp>
    </p:spTree>
    <p:extLst>
      <p:ext uri="{BB962C8B-B14F-4D97-AF65-F5344CB8AC3E}">
        <p14:creationId xmlns:p14="http://schemas.microsoft.com/office/powerpoint/2010/main" val="138552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C63905-19BB-95BE-BC11-50E3E043A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91628"/>
              </p:ext>
            </p:extLst>
          </p:nvPr>
        </p:nvGraphicFramePr>
        <p:xfrm>
          <a:off x="195262" y="977899"/>
          <a:ext cx="11801475" cy="52570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2923">
                  <a:extLst>
                    <a:ext uri="{9D8B030D-6E8A-4147-A177-3AD203B41FA5}">
                      <a16:colId xmlns:a16="http://schemas.microsoft.com/office/drawing/2014/main" val="2502363474"/>
                    </a:ext>
                  </a:extLst>
                </a:gridCol>
                <a:gridCol w="1770358">
                  <a:extLst>
                    <a:ext uri="{9D8B030D-6E8A-4147-A177-3AD203B41FA5}">
                      <a16:colId xmlns:a16="http://schemas.microsoft.com/office/drawing/2014/main" val="1895832646"/>
                    </a:ext>
                  </a:extLst>
                </a:gridCol>
                <a:gridCol w="2657402">
                  <a:extLst>
                    <a:ext uri="{9D8B030D-6E8A-4147-A177-3AD203B41FA5}">
                      <a16:colId xmlns:a16="http://schemas.microsoft.com/office/drawing/2014/main" val="2998043604"/>
                    </a:ext>
                  </a:extLst>
                </a:gridCol>
                <a:gridCol w="2693267">
                  <a:extLst>
                    <a:ext uri="{9D8B030D-6E8A-4147-A177-3AD203B41FA5}">
                      <a16:colId xmlns:a16="http://schemas.microsoft.com/office/drawing/2014/main" val="1523648406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369425715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1258550641"/>
                    </a:ext>
                  </a:extLst>
                </a:gridCol>
              </a:tblGrid>
              <a:tr h="1904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평가 영역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평가 요소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우수 </a:t>
                      </a:r>
                      <a:r>
                        <a:rPr lang="en-US" altLang="ko-KR" sz="1050" b="1" u="none" strike="noStrike" dirty="0">
                          <a:effectLst/>
                        </a:rPr>
                        <a:t>(</a:t>
                      </a:r>
                      <a:r>
                        <a:rPr lang="en-US" sz="1050" b="1" u="none" strike="noStrike" dirty="0">
                          <a:effectLst/>
                        </a:rPr>
                        <a:t>A)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보통 </a:t>
                      </a:r>
                      <a:r>
                        <a:rPr lang="en-US" altLang="ko-KR" sz="1050" b="1" u="none" strike="noStrike" dirty="0">
                          <a:effectLst/>
                        </a:rPr>
                        <a:t>(</a:t>
                      </a:r>
                      <a:r>
                        <a:rPr lang="en-US" sz="1050" b="1" u="none" strike="noStrike" dirty="0">
                          <a:effectLst/>
                        </a:rPr>
                        <a:t>B)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미흡 </a:t>
                      </a:r>
                      <a:r>
                        <a:rPr lang="en-US" altLang="ko-KR" sz="1050" b="1" u="none" strike="noStrike" dirty="0">
                          <a:effectLst/>
                        </a:rPr>
                        <a:t>(</a:t>
                      </a:r>
                      <a:r>
                        <a:rPr lang="en-US" sz="1050" b="1" u="none" strike="noStrike" dirty="0">
                          <a:effectLst/>
                        </a:rPr>
                        <a:t>C)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</a:rPr>
                        <a:t>배점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547368066"/>
                  </a:ext>
                </a:extLst>
              </a:tr>
              <a:tr h="7492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문제 인식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현실 문제 이해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실제 상황의 불편함을 명확하고 구체적으로 설명함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문제 상황은 제시되나 맥락 설명이 다소 부족함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문제 상황이 모호하거나 불명확함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2499119622"/>
                  </a:ext>
                </a:extLst>
              </a:tr>
              <a:tr h="9378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문제 정의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목표 명확성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해결 목표가 구체적이며 달성 가능하게</a:t>
                      </a:r>
                      <a:br>
                        <a:rPr lang="en-US" altLang="ko-KR" sz="1050" u="none" strike="noStrike" dirty="0">
                          <a:effectLst/>
                        </a:rPr>
                      </a:br>
                      <a:r>
                        <a:rPr lang="ko-KR" altLang="en-US" sz="1050" u="none" strike="noStrike" dirty="0">
                          <a:effectLst/>
                        </a:rPr>
                        <a:t> 정의됨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목표는 있으나 다소 포괄적임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목표가 불분명하거나 문제와 연결되지 않음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10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166857018"/>
                  </a:ext>
                </a:extLst>
              </a:tr>
              <a:tr h="562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문제 분해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하위 문제 도출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문제를 논리적으로 </a:t>
                      </a:r>
                      <a:r>
                        <a:rPr lang="en-US" altLang="ko-KR" sz="1050" u="none" strike="noStrike">
                          <a:effectLst/>
                        </a:rPr>
                        <a:t>2</a:t>
                      </a:r>
                      <a:r>
                        <a:rPr lang="ko-KR" altLang="en-US" sz="1050" u="none" strike="noStrike">
                          <a:effectLst/>
                        </a:rPr>
                        <a:t>개 이상 명확히 분해함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문제 분해는 있으나 논리 연결이 약함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문제 분해가 거의 없거나 형식적임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10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2427139400"/>
                  </a:ext>
                </a:extLst>
              </a:tr>
              <a:tr h="562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추상화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핵심 요소 및 패턴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불필요한 요소를 제거하고 핵심 데이터</a:t>
                      </a:r>
                      <a:r>
                        <a:rPr lang="en-US" altLang="ko-KR" sz="1050" u="none" strike="noStrike">
                          <a:effectLst/>
                        </a:rPr>
                        <a:t>·</a:t>
                      </a:r>
                      <a:r>
                        <a:rPr lang="ko-KR" altLang="en-US" sz="1050" u="none" strike="noStrike">
                          <a:effectLst/>
                        </a:rPr>
                        <a:t>패턴을 잘 도출함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핵심 요소는 있으나 추상화 수준이 낮음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핵심 요소 도출이 되지 않음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20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3316633756"/>
                  </a:ext>
                </a:extLst>
              </a:tr>
              <a:tr h="750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알고리즘 설계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절차적 사고 </a:t>
                      </a:r>
                      <a:r>
                        <a:rPr lang="en-US" altLang="ko-KR" sz="1050" u="none" strike="noStrike" dirty="0">
                          <a:effectLst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</a:rPr>
                        <a:t>순서도</a:t>
                      </a:r>
                      <a:r>
                        <a:rPr lang="en-US" altLang="ko-KR" sz="1050" u="none" strike="noStrike" dirty="0">
                          <a:effectLst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단계별 절차가 명확하며 흐름이 논리적임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전반적 흐름은 있으나 일부 단계가 불명확함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절차가 혼란스럽거나 논리성이 부족함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20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2729007915"/>
                  </a:ext>
                </a:extLst>
              </a:tr>
              <a:tr h="7500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구현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코드 또는 의사코드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결과물이 목표에 맞게 정상적으로 동작함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일부 오류 또는 누락이 있으나 </a:t>
                      </a:r>
                      <a:br>
                        <a:rPr lang="en-US" altLang="ko-KR" sz="1050" u="none" strike="noStrike" dirty="0">
                          <a:effectLst/>
                        </a:rPr>
                      </a:br>
                      <a:r>
                        <a:rPr lang="ko-KR" altLang="en-US" sz="1050" u="none" strike="noStrike" dirty="0">
                          <a:effectLst/>
                        </a:rPr>
                        <a:t>의도 파악 가능함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코드가 불완전하거나 이해 불가함</a:t>
                      </a:r>
                      <a:endParaRPr lang="en-US" altLang="ko-KR" sz="105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동작하지 않음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15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234111177"/>
                  </a:ext>
                </a:extLst>
              </a:tr>
              <a:tr h="562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결과 시연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발표력</a:t>
                      </a: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핵심을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조리있게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발표</a:t>
                      </a: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일부 기능만 동작하거나 설명에 의존함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>
                          <a:effectLst/>
                        </a:rPr>
                        <a:t>동작불가로 결과 시연 못함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10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3994711294"/>
                  </a:ext>
                </a:extLst>
              </a:tr>
              <a:tr h="1904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합계</a:t>
                      </a:r>
                      <a:endParaRPr lang="ko-KR" altLang="en-US" sz="105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　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　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　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>
                          <a:effectLst/>
                        </a:rPr>
                        <a:t>　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100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80" marR="3580" marT="3580" marB="0" anchor="ctr"/>
                </a:tc>
                <a:extLst>
                  <a:ext uri="{0D108BD9-81ED-4DB2-BD59-A6C34878D82A}">
                    <a16:rowId xmlns:a16="http://schemas.microsoft.com/office/drawing/2014/main" val="3780902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D39FD2-159C-8138-42CE-343B9899C0C4}"/>
              </a:ext>
            </a:extLst>
          </p:cNvPr>
          <p:cNvSpPr txBox="1"/>
          <p:nvPr/>
        </p:nvSpPr>
        <p:spPr>
          <a:xfrm>
            <a:off x="195262" y="15875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평가 </a:t>
            </a:r>
            <a:r>
              <a:rPr lang="ko-KR" altLang="en-US" dirty="0" err="1"/>
              <a:t>루브릭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34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다채로운, 비행, 연, 모니터이(가) 표시된 사진&#10;&#10;자동 생성된 설명">
            <a:extLst>
              <a:ext uri="{FF2B5EF4-FFF2-40B4-BE49-F238E27FC236}">
                <a16:creationId xmlns:a16="http://schemas.microsoft.com/office/drawing/2014/main" id="{949249CC-C8BB-4C8C-BD75-105E04024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0" y="0"/>
            <a:ext cx="12157640" cy="6838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78051C-3674-4D6F-B5FE-DB1681F733C6}"/>
              </a:ext>
            </a:extLst>
          </p:cNvPr>
          <p:cNvSpPr txBox="1"/>
          <p:nvPr/>
        </p:nvSpPr>
        <p:spPr>
          <a:xfrm>
            <a:off x="982688" y="1278811"/>
            <a:ext cx="7103227" cy="710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20" b="1" dirty="0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기말 프로젝트 결과 보고 양식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325683-08F0-41D1-C43C-C250D0F00BCE}"/>
              </a:ext>
            </a:extLst>
          </p:cNvPr>
          <p:cNvSpPr txBox="1"/>
          <p:nvPr/>
        </p:nvSpPr>
        <p:spPr>
          <a:xfrm>
            <a:off x="1132114" y="2830286"/>
            <a:ext cx="9813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학번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</a:p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이름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634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615D-2CF7-9B1C-2B76-1645FDA7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BA644A43-1D95-40DF-7B12-A871E029FE44}"/>
              </a:ext>
            </a:extLst>
          </p:cNvPr>
          <p:cNvGraphicFramePr>
            <a:graphicFrameLocks noGrp="1"/>
          </p:cNvGraphicFramePr>
          <p:nvPr/>
        </p:nvGraphicFramePr>
        <p:xfrm>
          <a:off x="371332" y="1261201"/>
          <a:ext cx="11488686" cy="5169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89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문제 인식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</a:rPr>
                        <a:t>문제 정의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479858"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b="0" dirty="0">
                        <a:solidFill>
                          <a:srgbClr val="FF0000"/>
                        </a:solidFill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9BAFCCFA-08A4-146A-028A-0D07E62E8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6A15C892-7EE3-58E8-689C-665977781EC6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9456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914" b="1" dirty="0">
                <a:ea typeface="나눔스퀘어OTF ExtraBold" panose="020B0600000101010101" pitchFamily="34" charset="-127"/>
              </a:rPr>
              <a:t>주제</a:t>
            </a:r>
            <a:r>
              <a:rPr lang="en-US" altLang="ko-KR" sz="1914" b="1" dirty="0">
                <a:ea typeface="나눔스퀘어OTF ExtraBold" panose="020B0600000101010101" pitchFamily="34" charset="-127"/>
              </a:rPr>
              <a:t>:</a:t>
            </a:r>
            <a:endParaRPr lang="en-US" altLang="ko-KR" sz="1914" b="1" dirty="0">
              <a:solidFill>
                <a:schemeClr val="accent1"/>
              </a:solidFill>
              <a:ea typeface="나눔스퀘어OTF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96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0191-F720-25F1-31BD-674D46D0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5FEA09DF-413D-B619-06EC-7E9231164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441200"/>
              </p:ext>
            </p:extLst>
          </p:nvPr>
        </p:nvGraphicFramePr>
        <p:xfrm>
          <a:off x="371332" y="1261200"/>
          <a:ext cx="11488686" cy="4851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46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12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쓰임새 추상화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700" kern="1200" dirty="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  <a:cs typeface="+mn-cs"/>
                        </a:rPr>
                        <a:t>문제분해와 모듈설명</a:t>
                      </a: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205044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200" kern="12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50F132F1-793D-75D4-986B-D361C7198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3F4A4DB0-4AE2-4C8C-B1A2-EC231C227618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9456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914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문제해결전략</a:t>
            </a:r>
            <a:endParaRPr lang="en-US" altLang="ko-KR" sz="1723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653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154A-59D1-B025-D54F-5EDB1B94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64C43A7E-19B1-5D2D-3500-644BD6BABDD4}"/>
              </a:ext>
            </a:extLst>
          </p:cNvPr>
          <p:cNvGraphicFramePr>
            <a:graphicFrameLocks noGrp="1"/>
          </p:cNvGraphicFramePr>
          <p:nvPr/>
        </p:nvGraphicFramePr>
        <p:xfrm>
          <a:off x="371332" y="1261200"/>
          <a:ext cx="11488686" cy="4851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46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추상화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제어 추상화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32195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패턴 찾기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핵심아이디어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205044">
                <a:tc>
                  <a:txBody>
                    <a:bodyPr/>
                    <a:lstStyle/>
                    <a:p>
                      <a:pPr algn="l" latinLnBrk="1"/>
                      <a:endParaRPr lang="en-US" altLang="ko-KR" sz="1400" kern="12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  <a:p>
                      <a:pPr marL="342900" indent="-342900" algn="l" latinLnBrk="1">
                        <a:buAutoNum type="arabicPeriod"/>
                      </a:pPr>
                      <a:endParaRPr lang="ko-KR" altLang="en-US" sz="1400" kern="12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solidFill>
                          <a:srgbClr val="0000CC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/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42D6C599-2B30-1AE4-7240-ECB756D948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2F3DDEA-7C15-B452-0C05-65C6D26FAE84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문제 분해 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(</a:t>
            </a: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모듈 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1): [</a:t>
            </a: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제목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]</a:t>
            </a:r>
            <a:endParaRPr lang="en-US" altLang="ko-KR" sz="1723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D38F4-D7B4-82FA-E862-0C3C7FCB40B8}"/>
              </a:ext>
            </a:extLst>
          </p:cNvPr>
          <p:cNvSpPr txBox="1"/>
          <p:nvPr/>
        </p:nvSpPr>
        <p:spPr>
          <a:xfrm>
            <a:off x="371332" y="6211461"/>
            <a:ext cx="1462260" cy="2616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r>
              <a:rPr lang="en-US" altLang="ko-KR" sz="1100" dirty="0">
                <a:solidFill>
                  <a:schemeClr val="bg1"/>
                </a:solidFill>
              </a:rPr>
              <a:t>*</a:t>
            </a:r>
            <a:r>
              <a:rPr lang="ko-KR" altLang="en-US" sz="1100" dirty="0">
                <a:solidFill>
                  <a:schemeClr val="bg1"/>
                </a:solidFill>
              </a:rPr>
              <a:t>각 모듈별 작성 필요</a:t>
            </a:r>
          </a:p>
        </p:txBody>
      </p:sp>
    </p:spTree>
    <p:extLst>
      <p:ext uri="{BB962C8B-B14F-4D97-AF65-F5344CB8AC3E}">
        <p14:creationId xmlns:p14="http://schemas.microsoft.com/office/powerpoint/2010/main" val="222645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73F5-8B00-8CAD-DEC0-B009664B9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2">
            <a:extLst>
              <a:ext uri="{FF2B5EF4-FFF2-40B4-BE49-F238E27FC236}">
                <a16:creationId xmlns:a16="http://schemas.microsoft.com/office/drawing/2014/main" id="{6A98209B-F1D1-AF82-2ECE-453ABEFFA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404392"/>
              </p:ext>
            </p:extLst>
          </p:nvPr>
        </p:nvGraphicFramePr>
        <p:xfrm>
          <a:off x="371332" y="1261200"/>
          <a:ext cx="11488686" cy="48519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4343">
                  <a:extLst>
                    <a:ext uri="{9D8B030D-6E8A-4147-A177-3AD203B41FA5}">
                      <a16:colId xmlns:a16="http://schemas.microsoft.com/office/drawing/2014/main" val="335150046"/>
                    </a:ext>
                  </a:extLst>
                </a:gridCol>
                <a:gridCol w="5744343">
                  <a:extLst>
                    <a:ext uri="{9D8B030D-6E8A-4147-A177-3AD203B41FA5}">
                      <a16:colId xmlns:a16="http://schemas.microsoft.com/office/drawing/2014/main" val="1364562591"/>
                    </a:ext>
                  </a:extLst>
                </a:gridCol>
              </a:tblGrid>
              <a:tr h="64693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알고리즘 작성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순서도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OTF ExtraBold" panose="020B0600000101010101" pitchFamily="34" charset="-127"/>
                          <a:ea typeface="나눔스퀘어OTF ExtraBold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832195" rtl="0" eaLnBrk="1" latinLnBrk="1" hangingPunct="1"/>
                      <a:endParaRPr lang="ko-KR" altLang="en-US" sz="1600" kern="1200" dirty="0">
                        <a:solidFill>
                          <a:schemeClr val="tx1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58801"/>
                  </a:ext>
                </a:extLst>
              </a:tr>
              <a:tr h="4205044">
                <a:tc>
                  <a:txBody>
                    <a:bodyPr/>
                    <a:lstStyle/>
                    <a:p>
                      <a:pPr algn="l" latinLnBrk="1"/>
                      <a:endParaRPr lang="ko-KR" altLang="en-US" sz="1400" kern="1200" dirty="0">
                        <a:solidFill>
                          <a:srgbClr val="FF0000"/>
                        </a:solidFill>
                        <a:latin typeface="나눔스퀘어OTF ExtraBold" panose="020B0600000101010101" pitchFamily="34" charset="-127"/>
                        <a:ea typeface="나눔스퀘어OTF ExtraBold" panose="020B0600000101010101" pitchFamily="34" charset="-127"/>
                        <a:cs typeface="+mn-cs"/>
                      </a:endParaRPr>
                    </a:p>
                  </a:txBody>
                  <a:tcPr marL="91084" marR="91084" marT="43765" marB="437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solidFill>
                          <a:srgbClr val="FF0000"/>
                        </a:solidFill>
                      </a:endParaRPr>
                    </a:p>
                  </a:txBody>
                  <a:tcPr marL="91084" marR="91084" marT="43765" marB="43765"/>
                </a:tc>
                <a:extLst>
                  <a:ext uri="{0D108BD9-81ED-4DB2-BD59-A6C34878D82A}">
                    <a16:rowId xmlns:a16="http://schemas.microsoft.com/office/drawing/2014/main" val="3324817343"/>
                  </a:ext>
                </a:extLst>
              </a:tr>
            </a:tbl>
          </a:graphicData>
        </a:graphic>
      </p:graphicFrame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77C8056F-9066-82EF-BA06-FBC86BA1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67C4D647-575E-4272-031F-F385B8D280C9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문제 분해 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(</a:t>
            </a: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모듈 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1): [</a:t>
            </a: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제목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]</a:t>
            </a:r>
            <a:endParaRPr lang="en-US" altLang="ko-KR" sz="1723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57EFF-97E6-C123-E4D4-021B0ED18C5E}"/>
              </a:ext>
            </a:extLst>
          </p:cNvPr>
          <p:cNvSpPr txBox="1"/>
          <p:nvPr/>
        </p:nvSpPr>
        <p:spPr>
          <a:xfrm>
            <a:off x="371332" y="6211461"/>
            <a:ext cx="1462260" cy="2616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에스코어 드림 4 Regular" panose="020B0503030302020204" pitchFamily="34" charset="-127"/>
                <a:ea typeface="에스코어 드림 4 Regular" panose="020B0503030302020204" pitchFamily="34" charset="-127"/>
              </a:defRPr>
            </a:lvl1pPr>
          </a:lstStyle>
          <a:p>
            <a:r>
              <a:rPr lang="en-US" altLang="ko-KR" sz="1100" dirty="0">
                <a:solidFill>
                  <a:schemeClr val="bg1"/>
                </a:solidFill>
              </a:rPr>
              <a:t>*</a:t>
            </a:r>
            <a:r>
              <a:rPr lang="ko-KR" altLang="en-US" sz="1100" dirty="0">
                <a:solidFill>
                  <a:schemeClr val="bg1"/>
                </a:solidFill>
              </a:rPr>
              <a:t>각 모듈별 작성 필요</a:t>
            </a:r>
          </a:p>
        </p:txBody>
      </p:sp>
    </p:spTree>
    <p:extLst>
      <p:ext uri="{BB962C8B-B14F-4D97-AF65-F5344CB8AC3E}">
        <p14:creationId xmlns:p14="http://schemas.microsoft.com/office/powerpoint/2010/main" val="453812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B2ED-AF56-68DD-A835-6EA71C81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5E54213-85CA-0C34-929C-E272815345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089" y="102929"/>
            <a:ext cx="11273987" cy="320209"/>
          </a:xfrm>
        </p:spPr>
        <p:txBody>
          <a:bodyPr/>
          <a:lstStyle/>
          <a:p>
            <a:r>
              <a:rPr lang="ko-KR" altLang="en-US" dirty="0"/>
              <a:t>기말 프로젝트 결과 보고서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9D15AE97-5D92-BD67-05A5-5D493B84E719}"/>
              </a:ext>
            </a:extLst>
          </p:cNvPr>
          <p:cNvSpPr txBox="1">
            <a:spLocks/>
          </p:cNvSpPr>
          <p:nvPr/>
        </p:nvSpPr>
        <p:spPr>
          <a:xfrm>
            <a:off x="511643" y="778196"/>
            <a:ext cx="9558550" cy="2769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355600" indent="-355600" algn="l" defTabSz="832195" rtl="0" eaLnBrk="1" latinLnBrk="1" hangingPunct="1">
              <a:lnSpc>
                <a:spcPct val="100000"/>
              </a:lnSpc>
              <a:spcBef>
                <a:spcPts val="910"/>
              </a:spcBef>
              <a:spcAft>
                <a:spcPts val="600"/>
              </a:spcAft>
              <a:buFont typeface="+mj-lt"/>
              <a:buAutoNum type="arabicPeriod"/>
              <a:defRPr sz="2400" b="0" kern="1200" spc="-5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266700" marR="0" indent="0" algn="l" defTabSz="685800" rtl="0" eaLnBrk="1" fontAlgn="auto" latinLnBrk="1" hangingPunct="1">
              <a:lnSpc>
                <a:spcPct val="100000"/>
              </a:lnSpc>
              <a:spcBef>
                <a:spcPts val="375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71550" indent="-285750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82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3pPr>
            <a:lvl4pPr marL="1456342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4pPr>
            <a:lvl5pPr marL="1872440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5pPr>
            <a:lvl6pPr marL="2288537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4635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0733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36831" indent="-208049" algn="l" defTabSz="832195" rtl="0" eaLnBrk="1" latinLnBrk="1" hangingPunct="1">
              <a:lnSpc>
                <a:spcPct val="90000"/>
              </a:lnSpc>
              <a:spcBef>
                <a:spcPts val="455"/>
              </a:spcBef>
              <a:buFont typeface="Arial" panose="020B0604020202020204" pitchFamily="34" charset="0"/>
              <a:buChar char="•"/>
              <a:defRPr sz="16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구현 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(</a:t>
            </a:r>
            <a:r>
              <a:rPr lang="ko-KR" altLang="en-US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주요 내용을 중심으로 서술</a:t>
            </a:r>
            <a:r>
              <a:rPr lang="en-US" altLang="ko-KR" sz="1800" b="1" dirty="0">
                <a:latin typeface="나눔스퀘어OTF Bold" panose="020B0600000101010101" pitchFamily="34" charset="-127"/>
                <a:ea typeface="나눔스퀘어OTF ExtraBold" panose="020B0600000101010101" pitchFamily="34" charset="-127"/>
              </a:rPr>
              <a:t>)</a:t>
            </a:r>
            <a:endParaRPr lang="en-US" altLang="ko-KR" sz="1723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AAD94-1453-3B28-54D4-38C03243C573}"/>
              </a:ext>
            </a:extLst>
          </p:cNvPr>
          <p:cNvSpPr txBox="1"/>
          <p:nvPr/>
        </p:nvSpPr>
        <p:spPr>
          <a:xfrm>
            <a:off x="869950" y="1133254"/>
            <a:ext cx="1537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*</a:t>
            </a:r>
            <a:r>
              <a:rPr lang="ko-KR" altLang="en-US" sz="12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화면 스크린샷 활용</a:t>
            </a:r>
          </a:p>
        </p:txBody>
      </p:sp>
    </p:spTree>
    <p:extLst>
      <p:ext uri="{BB962C8B-B14F-4D97-AF65-F5344CB8AC3E}">
        <p14:creationId xmlns:p14="http://schemas.microsoft.com/office/powerpoint/2010/main" val="382535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933</Words>
  <Application>Microsoft Office PowerPoint</Application>
  <PresentationFormat>와이드스크린</PresentationFormat>
  <Paragraphs>240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나눔스퀘어</vt:lpstr>
      <vt:lpstr>나눔스퀘어 Bold</vt:lpstr>
      <vt:lpstr>나눔스퀘어OTF Bold</vt:lpstr>
      <vt:lpstr>나눔스퀘어OTF ExtraBold</vt:lpstr>
      <vt:lpstr>맑은 고딕</vt:lpstr>
      <vt:lpstr>에스코어 드림 4 Regular</vt:lpstr>
      <vt:lpstr>Arial</vt:lpstr>
      <vt:lpstr>Calibri</vt:lpstr>
      <vt:lpstr>Wingdings</vt:lpstr>
      <vt:lpstr>Office 테마</vt:lpstr>
      <vt:lpstr>중간고사 이후 강의 가이드 (이론 실습)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융합</dc:creator>
  <cp:lastModifiedBy>kwonjounghuem</cp:lastModifiedBy>
  <cp:revision>7</cp:revision>
  <dcterms:created xsi:type="dcterms:W3CDTF">2026-05-08T05:42:44Z</dcterms:created>
  <dcterms:modified xsi:type="dcterms:W3CDTF">2026-05-08T08:05:16Z</dcterms:modified>
</cp:coreProperties>
</file>