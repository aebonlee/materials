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8" r:id="rId29"/>
    <p:sldId id="279" r:id="rId30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511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222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jpg"/><Relationship Id="rId7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8.jpg"/><Relationship Id="rId5" Type="http://schemas.openxmlformats.org/officeDocument/2006/relationships/image" Target="../media/image7.jpg"/><Relationship Id="rId6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2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98658" y="1473971"/>
            <a:ext cx="111639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98658" y="2283946"/>
            <a:ext cx="112782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영상/숏폼 기획하기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98658" y="3266926"/>
            <a:ext cx="1107338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대본 · 스토리보드 · 자막까지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b="1" kern="0" spc="-37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통합 워크플로우 실전 가이드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02853" y="4988093"/>
            <a:ext cx="203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8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9297" y="5255098"/>
            <a:ext cx="24085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및 예비 크리에이터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49894" y="668743"/>
            <a:ext cx="2933395" cy="495605"/>
          </a:xfrm>
          <a:prstGeom prst="roundRect">
            <a:avLst>
              <a:gd name="adj" fmla="val 17740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073591" y="80224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UNIVERSITY WORKSHOP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10918" b="10918"/>
          <a:stretch/>
        </p:blipFill>
        <p:spPr>
          <a:xfrm>
            <a:off x="7038690" y="2350550"/>
            <a:ext cx="4543405" cy="266347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3AC16348-F8E3-C7E3-15D7-E5BF5D2A517B}"/>
              </a:ext>
            </a:extLst>
          </p:cNvPr>
          <p:cNvGrpSpPr/>
          <p:nvPr/>
        </p:nvGrpSpPr>
        <p:grpSpPr>
          <a:xfrm>
            <a:off x="8384632" y="5563394"/>
            <a:ext cx="2968317" cy="631851"/>
            <a:chOff x="609905" y="5558463"/>
            <a:chExt cx="2968317" cy="631851"/>
          </a:xfrm>
        </p:grpSpPr>
        <p:sp>
          <p:nvSpPr>
            <p:cNvPr id="3" name="Text 9">
              <a:extLst>
                <a:ext uri="{FF2B5EF4-FFF2-40B4-BE49-F238E27FC236}">
                  <a16:creationId xmlns:a16="http://schemas.microsoft.com/office/drawing/2014/main" id="{1732B504-7227-35B6-F512-40FD46F95011}"/>
                </a:ext>
              </a:extLst>
            </p:cNvPr>
            <p:cNvSpPr txBox="1"/>
            <p:nvPr/>
          </p:nvSpPr>
          <p:spPr>
            <a:xfrm>
              <a:off x="609905" y="5650992"/>
              <a:ext cx="4005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</a:t>
              </a:r>
              <a:endParaRPr lang="en-US" sz="1300" dirty="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1B476E70-B853-908B-2A66-10AD8F1F12F2}"/>
                </a:ext>
              </a:extLst>
            </p:cNvPr>
            <p:cNvSpPr/>
            <p:nvPr/>
          </p:nvSpPr>
          <p:spPr>
            <a:xfrm>
              <a:off x="1077163" y="5631790"/>
              <a:ext cx="9144" cy="304495"/>
            </a:xfrm>
            <a:prstGeom prst="rect">
              <a:avLst/>
            </a:prstGeom>
            <a:solidFill>
              <a:srgbClr val="D1D5D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123C2C96-05A0-A97A-8813-4DD32BF70994}"/>
                </a:ext>
              </a:extLst>
            </p:cNvPr>
            <p:cNvSpPr txBox="1"/>
            <p:nvPr/>
          </p:nvSpPr>
          <p:spPr>
            <a:xfrm>
              <a:off x="609905" y="5558463"/>
              <a:ext cx="2968317" cy="631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ko-KR" altLang="en-US" sz="20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이애본</a:t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b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  <a:hlinkClick r:id="rId4"/>
                </a:rPr>
                <a:t>aebon@dreamitbiz.com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</a:p>
            <a:p>
              <a:pPr marL="0" indent="0" algn="r">
                <a:buNone/>
              </a:pP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드림아이티비즈(DreamIT Biz)</a:t>
              </a:r>
              <a:r>
                <a:rPr lang="en-US" altLang="ko-KR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300" dirty="0"/>
            </a:p>
          </p:txBody>
        </p:sp>
      </p:grpSp>
      <p:sp>
        <p:nvSpPr>
          <p:cNvPr id="16" name="Shape 3">
            <a:extLst>
              <a:ext uri="{FF2B5EF4-FFF2-40B4-BE49-F238E27FC236}">
                <a16:creationId xmlns:a16="http://schemas.microsoft.com/office/drawing/2014/main" id="{DC7D160D-01C6-A043-F63B-510351483054}"/>
              </a:ext>
            </a:extLst>
          </p:cNvPr>
          <p:cNvSpPr/>
          <p:nvPr/>
        </p:nvSpPr>
        <p:spPr>
          <a:xfrm>
            <a:off x="-476402" y="5429707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A811397-3597-805E-8149-28D8150B0A29}"/>
              </a:ext>
            </a:extLst>
          </p:cNvPr>
          <p:cNvSpPr/>
          <p:nvPr/>
        </p:nvSpPr>
        <p:spPr>
          <a:xfrm>
            <a:off x="162559" y="926976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7BC55023-EC43-6C92-87E4-A661BBF0FAC7}"/>
              </a:ext>
            </a:extLst>
          </p:cNvPr>
          <p:cNvSpPr/>
          <p:nvPr/>
        </p:nvSpPr>
        <p:spPr>
          <a:xfrm>
            <a:off x="4507063" y="1819461"/>
            <a:ext cx="3952884" cy="3952884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4ACE847-1EA8-ADF0-33A5-819A681FE1DB}"/>
              </a:ext>
            </a:extLst>
          </p:cNvPr>
          <p:cNvSpPr/>
          <p:nvPr/>
        </p:nvSpPr>
        <p:spPr>
          <a:xfrm>
            <a:off x="6748743" y="1245978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1F10AD9-C1D5-E548-CFC9-56CF34F903A5}"/>
              </a:ext>
            </a:extLst>
          </p:cNvPr>
          <p:cNvSpPr/>
          <p:nvPr/>
        </p:nvSpPr>
        <p:spPr>
          <a:xfrm>
            <a:off x="10758013" y="5286672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457200"/>
            <a:ext cx="112782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목차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3776864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1371905" y="3839956"/>
            <a:ext cx="83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371905" y="4119763"/>
            <a:ext cx="140395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숏폼 콘텐츠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트렌드 분석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850185" y="3776864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3612185" y="3839956"/>
            <a:ext cx="9363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AI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3612185" y="4119763"/>
            <a:ext cx="1578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활용의 필요성과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핵심 이점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90465" y="3776864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5852465" y="3839956"/>
            <a:ext cx="1199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전략</a:t>
            </a: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5852465" y="4119763"/>
            <a:ext cx="152569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알고리즘을 이기는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필승 전략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330745" y="3776864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8092745" y="3839956"/>
            <a:ext cx="1199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 작성</a:t>
            </a:r>
            <a:endParaRPr lang="en-US" dirty="0"/>
          </a:p>
        </p:txBody>
      </p:sp>
      <p:sp>
        <p:nvSpPr>
          <p:cNvPr id="17" name="Text 14"/>
          <p:cNvSpPr txBox="1"/>
          <p:nvPr/>
        </p:nvSpPr>
        <p:spPr>
          <a:xfrm>
            <a:off x="8092745" y="4119763"/>
            <a:ext cx="118766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프롬프트와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작법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71025" y="3776864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10333025" y="3839956"/>
            <a:ext cx="1322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스토리보드</a:t>
            </a:r>
            <a:endParaRPr lang="en-US" dirty="0"/>
          </a:p>
        </p:txBody>
      </p:sp>
      <p:sp>
        <p:nvSpPr>
          <p:cNvPr id="20" name="Text 17"/>
          <p:cNvSpPr txBox="1"/>
          <p:nvPr/>
        </p:nvSpPr>
        <p:spPr>
          <a:xfrm>
            <a:off x="10333025" y="4119763"/>
            <a:ext cx="118766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기획과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요소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09905" y="4953131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1371905" y="5015309"/>
            <a:ext cx="1199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생성</a:t>
            </a:r>
            <a:endParaRPr lang="en-US" dirty="0"/>
          </a:p>
        </p:txBody>
      </p:sp>
      <p:sp>
        <p:nvSpPr>
          <p:cNvPr id="23" name="Text 20"/>
          <p:cNvSpPr txBox="1"/>
          <p:nvPr/>
        </p:nvSpPr>
        <p:spPr>
          <a:xfrm>
            <a:off x="1371905" y="5296030"/>
            <a:ext cx="136380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가독성을 높이는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자막 활용법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2850185" y="4953131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4800" dirty="0"/>
          </a:p>
        </p:txBody>
      </p:sp>
      <p:sp>
        <p:nvSpPr>
          <p:cNvPr id="25" name="Text 22"/>
          <p:cNvSpPr txBox="1"/>
          <p:nvPr/>
        </p:nvSpPr>
        <p:spPr>
          <a:xfrm>
            <a:off x="3612185" y="5015309"/>
            <a:ext cx="1322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</a:t>
            </a:r>
            <a:endParaRPr lang="en-US" dirty="0"/>
          </a:p>
        </p:txBody>
      </p:sp>
      <p:sp>
        <p:nvSpPr>
          <p:cNvPr id="26" name="Text 23"/>
          <p:cNvSpPr txBox="1"/>
          <p:nvPr/>
        </p:nvSpPr>
        <p:spPr>
          <a:xfrm>
            <a:off x="3612185" y="5296030"/>
            <a:ext cx="118766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완성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프로세스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090465" y="4953131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4800" dirty="0"/>
          </a:p>
        </p:txBody>
      </p:sp>
      <p:sp>
        <p:nvSpPr>
          <p:cNvPr id="28" name="Text 25"/>
          <p:cNvSpPr txBox="1"/>
          <p:nvPr/>
        </p:nvSpPr>
        <p:spPr>
          <a:xfrm>
            <a:off x="5852465" y="5015309"/>
            <a:ext cx="1199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사례</a:t>
            </a:r>
            <a:endParaRPr lang="en-US" dirty="0"/>
          </a:p>
        </p:txBody>
      </p:sp>
      <p:sp>
        <p:nvSpPr>
          <p:cNvPr id="29" name="Text 26"/>
          <p:cNvSpPr txBox="1"/>
          <p:nvPr/>
        </p:nvSpPr>
        <p:spPr>
          <a:xfrm>
            <a:off x="5852465" y="5296030"/>
            <a:ext cx="1578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공부법 숏폼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케이스 스터디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330745" y="4953131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4800" dirty="0"/>
          </a:p>
        </p:txBody>
      </p:sp>
      <p:sp>
        <p:nvSpPr>
          <p:cNvPr id="31" name="Text 28"/>
          <p:cNvSpPr txBox="1"/>
          <p:nvPr/>
        </p:nvSpPr>
        <p:spPr>
          <a:xfrm>
            <a:off x="8092745" y="5015309"/>
            <a:ext cx="1459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실천 가이드</a:t>
            </a:r>
            <a:endParaRPr lang="en-US" dirty="0"/>
          </a:p>
        </p:txBody>
      </p:sp>
      <p:sp>
        <p:nvSpPr>
          <p:cNvPr id="32" name="Text 29"/>
          <p:cNvSpPr txBox="1"/>
          <p:nvPr/>
        </p:nvSpPr>
        <p:spPr>
          <a:xfrm>
            <a:off x="8092745" y="5296030"/>
            <a:ext cx="140395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플랜 및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도구 리스트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571025" y="4953131"/>
            <a:ext cx="81107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4800" dirty="0"/>
          </a:p>
        </p:txBody>
      </p:sp>
      <p:sp>
        <p:nvSpPr>
          <p:cNvPr id="34" name="Text 31"/>
          <p:cNvSpPr txBox="1"/>
          <p:nvPr/>
        </p:nvSpPr>
        <p:spPr>
          <a:xfrm>
            <a:off x="10333024" y="5015309"/>
            <a:ext cx="6475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dirty="0"/>
          </a:p>
        </p:txBody>
      </p:sp>
      <p:sp>
        <p:nvSpPr>
          <p:cNvPr id="35" name="Text 32"/>
          <p:cNvSpPr txBox="1"/>
          <p:nvPr/>
        </p:nvSpPr>
        <p:spPr>
          <a:xfrm>
            <a:off x="10333025" y="5296030"/>
            <a:ext cx="10128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 및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</a:t>
            </a:r>
            <a:endParaRPr lang="en-US" sz="12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7549E963-EC24-654E-9054-9B86B8C1414C}"/>
              </a:ext>
            </a:extLst>
          </p:cNvPr>
          <p:cNvSpPr/>
          <p:nvPr/>
        </p:nvSpPr>
        <p:spPr>
          <a:xfrm>
            <a:off x="11209462" y="702434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7B9DCBF-E314-5497-4547-C3AAB3C8C992}"/>
              </a:ext>
            </a:extLst>
          </p:cNvPr>
          <p:cNvSpPr/>
          <p:nvPr/>
        </p:nvSpPr>
        <p:spPr>
          <a:xfrm>
            <a:off x="-1247394" y="3001908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9CA384-35B3-9D3D-AEA6-873D935D64A9}"/>
              </a:ext>
            </a:extLst>
          </p:cNvPr>
          <p:cNvSpPr/>
          <p:nvPr/>
        </p:nvSpPr>
        <p:spPr>
          <a:xfrm>
            <a:off x="1578780" y="-476339"/>
            <a:ext cx="4697527" cy="4697527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56F225AD-A9C2-D459-2CCF-947064345DD1}"/>
              </a:ext>
            </a:extLst>
          </p:cNvPr>
          <p:cNvSpPr/>
          <p:nvPr/>
        </p:nvSpPr>
        <p:spPr>
          <a:xfrm>
            <a:off x="5283402" y="2791315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49A450F7-1C90-6FB7-F4ED-201220307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681" b="37681"/>
          <a:stretch/>
        </p:blipFill>
        <p:spPr>
          <a:xfrm>
            <a:off x="609905" y="1514421"/>
            <a:ext cx="10972800" cy="1800454"/>
          </a:xfrm>
          <a:prstGeom prst="rect">
            <a:avLst/>
          </a:prstGeom>
        </p:spPr>
      </p:pic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609905"/>
            <a:ext cx="7858354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숏폼 트렌드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보기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9678924" y="647395"/>
            <a:ext cx="19138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UNIVERSITY WORKSHOP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238451"/>
            <a:ext cx="5896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길이 및 후킹의 중요성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649931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숏폼은 짧은 길이 안에서 첫 몇 초의 '후킹'이 이탈률을 좌우합니다.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초반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3초 안에 시청자의 주의를 끌지 못하면 스크롤됩니다.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3441802"/>
            <a:ext cx="5705856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09905" y="3756355"/>
            <a:ext cx="5896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무음 시청 및 시각적 다양성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4167835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지하철, 학교 등에서의 무음 시청을 대비해 자막과 온스크린 텍스트는 필수입니다.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2–3초 간격의 컷 전환과 줌인/아웃으로 지루함을 방지해야 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905" y="4960620"/>
            <a:ext cx="5705856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09905" y="5275174"/>
            <a:ext cx="5820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9:16 포맷과 UX 최적화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5686654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세로형(9:16) 전체 화면을 활용하며, 텍스트가 UI(좋아요, 댓글 버튼 등)에 가려지지 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않는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'안전 영역' 내에 배치되어야 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19265" y="2164385"/>
            <a:ext cx="4667098" cy="4086454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6919265" y="2164385"/>
            <a:ext cx="4667098" cy="4086454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391927D7-0E5E-91A6-63AE-099812AA62D8}"/>
              </a:ext>
            </a:extLst>
          </p:cNvPr>
          <p:cNvSpPr txBox="1"/>
          <p:nvPr/>
        </p:nvSpPr>
        <p:spPr>
          <a:xfrm>
            <a:off x="10635843" y="910742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DCE2075-D094-83BF-20FD-BFC51526F55F}"/>
              </a:ext>
            </a:extLst>
          </p:cNvPr>
          <p:cNvSpPr/>
          <p:nvPr/>
        </p:nvSpPr>
        <p:spPr>
          <a:xfrm>
            <a:off x="6122870" y="1062533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A4CD29F-8E4C-6C6B-E962-DD93100A7876}"/>
              </a:ext>
            </a:extLst>
          </p:cNvPr>
          <p:cNvSpPr/>
          <p:nvPr/>
        </p:nvSpPr>
        <p:spPr>
          <a:xfrm>
            <a:off x="-883268" y="-737006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C20FCA2A-16AB-6DE2-203A-4FC67883FA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31" r="12531"/>
          <a:stretch/>
        </p:blipFill>
        <p:spPr>
          <a:xfrm>
            <a:off x="6919265" y="1577340"/>
            <a:ext cx="4667098" cy="4677156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605637" y="609905"/>
            <a:ext cx="7858354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왜 AI인가?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 · 일관성 · 데이터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9260129" y="647395"/>
            <a:ext cx="23253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VIDEO PRODUCTION STRATEGY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238451"/>
            <a:ext cx="5896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압도적인 제작 속도와 비용 절감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649931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아이데이션부터 자막 생성까지 AI로 자동화하여 제작 속도를 높이며,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번역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로컬라이제이션 비용을 획기적으로 줄여줍니다.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905" y="3441802"/>
            <a:ext cx="5705856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09905" y="3756355"/>
            <a:ext cx="5896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기반의 A/B 스크립트 실험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4167835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활용해 다양한 후킹과 전개 방식의 대본을 빠르게 생성하고 테스트함으로써,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완시율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(Retention)이 가장 높은 최적의 구성을 발굴합니다.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905" y="4960620"/>
            <a:ext cx="5705856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09905" y="5275174"/>
            <a:ext cx="5896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시스템화된 템플릿 운영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5686654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성공한 포맷을 템플릿화하여 반복 재생산 가능한 시스템을 구축함으로써,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크리에이터도 전문 팀 수준의 일관된 퀄리티를 유지할 수 있습니다.</a:t>
            </a:r>
            <a:endParaRPr lang="en-US" sz="1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B4CD9E6-6D5E-6EFD-8A04-1D4575B58C32}"/>
              </a:ext>
            </a:extLst>
          </p:cNvPr>
          <p:cNvSpPr txBox="1"/>
          <p:nvPr/>
        </p:nvSpPr>
        <p:spPr>
          <a:xfrm>
            <a:off x="6925299" y="560070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4CE976BC-8D9E-9C27-9CCE-36F4FA9A4599}"/>
              </a:ext>
            </a:extLst>
          </p:cNvPr>
          <p:cNvSpPr/>
          <p:nvPr/>
        </p:nvSpPr>
        <p:spPr>
          <a:xfrm>
            <a:off x="-807768" y="5731710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6B4DCBE1-D26B-A3B8-188C-A8E730A1413F}"/>
              </a:ext>
            </a:extLst>
          </p:cNvPr>
          <p:cNvSpPr/>
          <p:nvPr/>
        </p:nvSpPr>
        <p:spPr>
          <a:xfrm>
            <a:off x="8267878" y="-479635"/>
            <a:ext cx="5150500" cy="4468971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773168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571500"/>
            <a:ext cx="3854196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성공 전략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5가지</a:t>
            </a: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(1/2)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73190" y="2254214"/>
            <a:ext cx="3010205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20992" y="2368514"/>
            <a:ext cx="318851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요소: 후킹 · 메시지 · 시각화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6769" y="457200"/>
            <a:ext cx="6353251" cy="1848002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465369" y="685800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621731" y="790956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302959" y="876909"/>
            <a:ext cx="51727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후킹 (Hooking)</a:t>
            </a:r>
            <a:endParaRPr lang="en-US" dirty="0"/>
          </a:p>
        </p:txBody>
      </p:sp>
      <p:sp>
        <p:nvSpPr>
          <p:cNvPr id="13" name="Text 10"/>
          <p:cNvSpPr txBox="1"/>
          <p:nvPr/>
        </p:nvSpPr>
        <p:spPr>
          <a:xfrm>
            <a:off x="6302959" y="1345082"/>
            <a:ext cx="4974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숫자, 반전, 문제 제기, 공감 유도 등을 </a:t>
            </a: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활용해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3초 안에 시청자를 사로잡아야 합니다. '의외성'이 핵심입니다.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6769" y="2508199"/>
            <a:ext cx="6353251" cy="1848002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465369" y="2736799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621731" y="2841041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302959" y="2926993"/>
            <a:ext cx="51727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메시지 (One Message)</a:t>
            </a:r>
            <a:endParaRPr lang="en-US" dirty="0"/>
          </a:p>
        </p:txBody>
      </p:sp>
      <p:sp>
        <p:nvSpPr>
          <p:cNvPr id="18" name="Text 15"/>
          <p:cNvSpPr txBox="1"/>
          <p:nvPr/>
        </p:nvSpPr>
        <p:spPr>
          <a:xfrm>
            <a:off x="6302959" y="3396082"/>
            <a:ext cx="5105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영상에는 하나의 핵심 메시지만 담습니다.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결론부터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말하는 두괄식(Top-Down) 구조로 전달력을 극대화하세요.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236769" y="4558284"/>
            <a:ext cx="6353251" cy="1848002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465369" y="4786884"/>
            <a:ext cx="609905" cy="609905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621731" y="4892040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6302959" y="4977993"/>
            <a:ext cx="51727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시각적 다양성 (Visual Variety)</a:t>
            </a:r>
            <a:endParaRPr lang="en-US" dirty="0"/>
          </a:p>
        </p:txBody>
      </p:sp>
      <p:sp>
        <p:nvSpPr>
          <p:cNvPr id="23" name="Text 20"/>
          <p:cNvSpPr txBox="1"/>
          <p:nvPr/>
        </p:nvSpPr>
        <p:spPr>
          <a:xfrm>
            <a:off x="6302959" y="5446166"/>
            <a:ext cx="4974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B-roll, 동적 자막, 이모지, 화면 전환 효과를 </a:t>
            </a: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활용해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2~3초마다 시각적 변화를 주어 지루할 틈을 없애야 합니다.</a:t>
            </a:r>
            <a:endParaRPr lang="en-US" sz="14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74C60C0-ACBC-D82C-5673-961DD61C2B7B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CA125088-D17A-1A8D-3329-B84601B1BAB4}"/>
              </a:ext>
            </a:extLst>
          </p:cNvPr>
          <p:cNvSpPr/>
          <p:nvPr/>
        </p:nvSpPr>
        <p:spPr>
          <a:xfrm>
            <a:off x="10637672" y="5360645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BCDA4C6-85EF-4556-11B6-DA019F17AD7C}"/>
              </a:ext>
            </a:extLst>
          </p:cNvPr>
          <p:cNvSpPr/>
          <p:nvPr/>
        </p:nvSpPr>
        <p:spPr>
          <a:xfrm>
            <a:off x="4284421" y="-287554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736646EC-E166-6837-E7DA-475A410D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692585" y="3041294"/>
            <a:ext cx="3768163" cy="3299357"/>
          </a:xfrm>
          <a:prstGeom prst="rect">
            <a:avLst/>
          </a:prstGeom>
        </p:spPr>
      </p:pic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6796AB5D-8181-AD07-D8D2-FE7E2500BA8E}"/>
              </a:ext>
            </a:extLst>
          </p:cNvPr>
          <p:cNvSpPr/>
          <p:nvPr/>
        </p:nvSpPr>
        <p:spPr>
          <a:xfrm>
            <a:off x="-1390802" y="-4001548"/>
            <a:ext cx="11579231" cy="11579231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773168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685800"/>
            <a:ext cx="3854196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성공 전략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5가지</a:t>
            </a: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(2/2)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79400" y="2101748"/>
            <a:ext cx="2734056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27202" y="2216048"/>
            <a:ext cx="279440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요소: 행동 유도 · 최적화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6769" y="1143000"/>
            <a:ext cx="6353251" cy="2327467"/>
          </a:xfrm>
          <a:prstGeom prst="roundRect">
            <a:avLst>
              <a:gd name="adj" fmla="val 396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541264" y="1524305"/>
            <a:ext cx="685800" cy="685800"/>
          </a:xfrm>
          <a:prstGeom prst="roundRect">
            <a:avLst>
              <a:gd name="adj" fmla="val 33333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715000" y="1638605"/>
            <a:ext cx="419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31559" y="1536192"/>
            <a:ext cx="48673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강력한 CTA (Call to Action)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531559" y="2021738"/>
            <a:ext cx="48298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"저장해두고 나중에 보세요", "댓글로 의견을 알려주세요" 등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지시가 참여를 부릅니다.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질문형이나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득템형 멘트를 </a:t>
            </a: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활용하여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시청자의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즉각적인 반응을 유도하세요.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6769" y="3619195"/>
            <a:ext cx="6353251" cy="2095805"/>
          </a:xfrm>
          <a:prstGeom prst="roundRect">
            <a:avLst>
              <a:gd name="adj" fmla="val 396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541264" y="4000500"/>
            <a:ext cx="685800" cy="685800"/>
          </a:xfrm>
          <a:prstGeom prst="roundRect">
            <a:avLst>
              <a:gd name="adj" fmla="val 33333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715000" y="4114800"/>
            <a:ext cx="419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531559" y="4013302"/>
            <a:ext cx="48673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 최적화 (Algorithm)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6531559" y="4498848"/>
            <a:ext cx="48298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완시율(Completion Rate)을 높이는 것을 목표로 하세요.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시청을 유도하고, 업로드 직후 1시간 내의 초기 반응을 이끌어내는 것이 노출 확산의 핵심 열쇠입니다.</a:t>
            </a:r>
            <a:endParaRPr lang="en-US" sz="14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23023050-D2FB-7D09-BBA8-A2E7DF52520B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5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D9D4BA1-ECBF-328F-2BE4-9D6E5A15ED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692585" y="3041294"/>
            <a:ext cx="3768163" cy="3299357"/>
          </a:xfrm>
          <a:prstGeom prst="rect">
            <a:avLst/>
          </a:prstGeom>
        </p:spPr>
      </p:pic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31B2AFE-D13E-4A19-3B36-DA749F97428F}"/>
              </a:ext>
            </a:extLst>
          </p:cNvPr>
          <p:cNvSpPr/>
          <p:nvPr/>
        </p:nvSpPr>
        <p:spPr>
          <a:xfrm>
            <a:off x="-939550" y="-325376"/>
            <a:ext cx="4188563" cy="4188563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5DE4510-A66C-D731-1463-1F14EEAF7E6A}"/>
              </a:ext>
            </a:extLst>
          </p:cNvPr>
          <p:cNvSpPr/>
          <p:nvPr/>
        </p:nvSpPr>
        <p:spPr>
          <a:xfrm>
            <a:off x="8594679" y="-1596227"/>
            <a:ext cx="7241275" cy="724127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609905"/>
            <a:ext cx="85350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대본 작성 프로세스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9678924" y="647395"/>
            <a:ext cx="19138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UNIVERSITY WORKSHOP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703571"/>
            <a:ext cx="5820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구조: Hook - Value - CTA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51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영상의 성공 공식입니다. 0-3초 내에 시선을 </a:t>
            </a: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끄는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'Hook’,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시청자에게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가치를 전달하는 'Value', 좋아요나 팔로우 등 </a:t>
            </a: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행동을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유도하는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'CTA' 순서로 구성합니다.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3026664"/>
            <a:ext cx="5705856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09905" y="3221475"/>
            <a:ext cx="5820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길이와 문체: 짧게, 말하듯이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3632955"/>
            <a:ext cx="57817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1분 미만 숏폼 대본은 소리 내어 읽어 보며 영상 길이에 맞춥니다.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눈으로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읽는 글이 아닌 입으로 말하는 '구어체'로 짧고 간결하게 </a:t>
            </a: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작성해야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전달력이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높아집니다.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4545482"/>
            <a:ext cx="5705856" cy="9144"/>
          </a:xfrm>
          <a:prstGeom prst="rect">
            <a:avLst/>
          </a:prstGeom>
          <a:solidFill>
            <a:srgbClr val="FF6908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09905" y="4739379"/>
            <a:ext cx="58960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프롬프트 작성법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5150859"/>
            <a:ext cx="57817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"너는 숏폼 전문 작가야. 대상=대학생, 톤=친근/속도감. 주제=AI 공부법.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=Hook-Value-CTA, 120자 이내로 3가지 버전 작성해줘."와 </a:t>
            </a: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같이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</a:t>
            </a: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페르소나와 제약 조건을 명시하세요.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19265" y="1577340"/>
            <a:ext cx="4667098" cy="4677156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12531" r="12531"/>
          <a:stretch/>
        </p:blipFill>
        <p:spPr>
          <a:xfrm>
            <a:off x="6919265" y="1577340"/>
            <a:ext cx="4667098" cy="4677156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BE602BB2-6E59-FC9E-5D7C-C9830298139E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48332EE9-FCEB-BD6B-033E-61B9676B65D2}"/>
              </a:ext>
            </a:extLst>
          </p:cNvPr>
          <p:cNvSpPr/>
          <p:nvPr/>
        </p:nvSpPr>
        <p:spPr>
          <a:xfrm>
            <a:off x="5792191" y="816559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19782" y="1705356"/>
            <a:ext cx="1628546" cy="381305"/>
          </a:xfrm>
          <a:prstGeom prst="roundRect">
            <a:avLst>
              <a:gd name="adj" fmla="val 17985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030094" y="1781251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A: 이득 강조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9295" y="2238451"/>
            <a:ext cx="2104949" cy="2667305"/>
          </a:xfrm>
          <a:prstGeom prst="roundRect">
            <a:avLst>
              <a:gd name="adj" fmla="val 4718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3721" r="23721"/>
          <a:stretch/>
        </p:blipFill>
        <p:spPr>
          <a:xfrm>
            <a:off x="579295" y="2238451"/>
            <a:ext cx="2104949" cy="26673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75607" y="1705356"/>
            <a:ext cx="1781251" cy="381305"/>
          </a:xfrm>
          <a:prstGeom prst="roundRect">
            <a:avLst>
              <a:gd name="adj" fmla="val 17985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3285005" y="1781251"/>
            <a:ext cx="1640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B: 호기심 유발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11015" y="2238451"/>
            <a:ext cx="2104949" cy="2667305"/>
          </a:xfrm>
          <a:prstGeom prst="roundRect">
            <a:avLst>
              <a:gd name="adj" fmla="val 4718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23721" r="23721"/>
          <a:stretch/>
        </p:blipFill>
        <p:spPr>
          <a:xfrm>
            <a:off x="2911015" y="2238451"/>
            <a:ext cx="2104949" cy="26673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10401" y="1705356"/>
            <a:ext cx="1971446" cy="381305"/>
          </a:xfrm>
          <a:prstGeom prst="roundRect">
            <a:avLst>
              <a:gd name="adj" fmla="val 179856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5519798" y="1781251"/>
            <a:ext cx="1901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C: 공감/문제 해결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242735" y="2238451"/>
            <a:ext cx="2104949" cy="2667305"/>
          </a:xfrm>
          <a:prstGeom prst="roundRect">
            <a:avLst>
              <a:gd name="adj" fmla="val 4718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23721" r="23721"/>
          <a:stretch/>
        </p:blipFill>
        <p:spPr>
          <a:xfrm>
            <a:off x="5242735" y="2238451"/>
            <a:ext cx="2104949" cy="26673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9295" y="5020056"/>
            <a:ext cx="2104949" cy="1338246"/>
          </a:xfrm>
          <a:prstGeom prst="roundRect">
            <a:avLst>
              <a:gd name="adj" fmla="val 13658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8" name="Text 5"/>
          <p:cNvSpPr txBox="1"/>
          <p:nvPr/>
        </p:nvSpPr>
        <p:spPr>
          <a:xfrm>
            <a:off x="759475" y="5189930"/>
            <a:ext cx="1781251" cy="125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"공부 시간 </a:t>
            </a: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절반으로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줄이고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성적은 올리는 방법? </a:t>
            </a:r>
          </a:p>
          <a:p>
            <a:pPr marL="0" indent="0" algn="ctr">
              <a:lnSpc>
                <a:spcPts val="1400"/>
              </a:lnSpc>
              <a:buNone/>
            </a:pPr>
            <a:endParaRPr lang="en-US" sz="1100" b="1" dirty="0">
              <a:solidFill>
                <a:srgbClr val="FF6908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요약부터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퀴즈까지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 해줍니다."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911015" y="5020056"/>
            <a:ext cx="2104949" cy="1338246"/>
          </a:xfrm>
          <a:prstGeom prst="roundRect">
            <a:avLst>
              <a:gd name="adj" fmla="val 13658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4" name="Text 10"/>
          <p:cNvSpPr txBox="1"/>
          <p:nvPr/>
        </p:nvSpPr>
        <p:spPr>
          <a:xfrm>
            <a:off x="3091195" y="5189930"/>
            <a:ext cx="1781251" cy="125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"아직도 무작정 외우시나요? </a:t>
            </a:r>
          </a:p>
          <a:p>
            <a:pPr marL="0" indent="0" algn="ctr">
              <a:lnSpc>
                <a:spcPts val="1400"/>
              </a:lnSpc>
              <a:buNone/>
            </a:pPr>
            <a:endParaRPr lang="en-US" sz="1100" b="1" dirty="0">
              <a:solidFill>
                <a:srgbClr val="FF6908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1% </a:t>
            </a: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대학생들은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'이것'으로 공부합니다."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242735" y="5020056"/>
            <a:ext cx="2104949" cy="1338246"/>
          </a:xfrm>
          <a:prstGeom prst="roundRect">
            <a:avLst>
              <a:gd name="adj" fmla="val 13658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20" name="Text 15"/>
          <p:cNvSpPr txBox="1"/>
          <p:nvPr/>
        </p:nvSpPr>
        <p:spPr>
          <a:xfrm>
            <a:off x="5394568" y="5189930"/>
            <a:ext cx="1781251" cy="125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"시험 기간만 </a:t>
            </a: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되면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밤새는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사람 주목! </a:t>
            </a:r>
          </a:p>
          <a:p>
            <a:pPr marL="0" indent="0" algn="ctr">
              <a:lnSpc>
                <a:spcPts val="1400"/>
              </a:lnSpc>
              <a:buNone/>
            </a:pPr>
            <a:endParaRPr lang="en-US" sz="1100" b="1" dirty="0">
              <a:solidFill>
                <a:srgbClr val="FF6908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걸릴 공부,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만에 끝내는 법 </a:t>
            </a: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알려드림</a:t>
            </a: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."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803055" y="1705356"/>
            <a:ext cx="2238451" cy="448056"/>
          </a:xfrm>
          <a:prstGeom prst="roundRect">
            <a:avLst>
              <a:gd name="adj" fmla="val 130265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8050857" y="1800454"/>
            <a:ext cx="21387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 대본 작성 전략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803055" y="2381098"/>
            <a:ext cx="42483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구조화된 프롬프트 활용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7803055" y="2743200"/>
            <a:ext cx="41340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ChatGPT에게 "너는 숏폼 전문 작가야.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대학생을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대상으로 친근한 톤으로 작성해줘.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Hook-Value-CTA 구조를 </a:t>
            </a: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지켜줘"라고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페르소나와 형식을 지정하세요.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803055" y="4315054"/>
            <a:ext cx="4172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변주(Variation)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7803055" y="4677156"/>
            <a:ext cx="41340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주제라도 이득 강조, 호기심 유발, 공감형 등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후킹 전략으로 3가지 버전을 생성하고,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매력적인 안을 선택하거나 A/B 테스트를 진행하세요.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0" y="499698"/>
            <a:ext cx="5403581" cy="78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8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</a:t>
            </a:r>
            <a:r>
              <a:rPr lang="en-US" sz="4800" b="1" kern="0" spc="-75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</a:t>
            </a:r>
            <a:r>
              <a:rPr lang="en-US" sz="48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4800" b="1" kern="0" spc="-75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</a:t>
            </a:r>
            <a:r>
              <a:rPr lang="en-US" sz="48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예시</a:t>
            </a:r>
            <a:endParaRPr lang="en-US" sz="48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FADA348-16FD-C694-0E6A-F9372E85C409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2688828D-AC41-B9F7-2AE5-19DBA6D59527}"/>
              </a:ext>
            </a:extLst>
          </p:cNvPr>
          <p:cNvSpPr/>
          <p:nvPr/>
        </p:nvSpPr>
        <p:spPr>
          <a:xfrm>
            <a:off x="8700142" y="-2168630"/>
            <a:ext cx="5655938" cy="5655938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773168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905" y="571500"/>
            <a:ext cx="3854196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대본 작성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주의사항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09905" y="2174304"/>
            <a:ext cx="3486607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57707" y="2288604"/>
            <a:ext cx="34866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체크리스트: 과부하 방지 &amp; 리듬감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15315" r="15315"/>
          <a:stretch/>
        </p:blipFill>
        <p:spPr>
          <a:xfrm>
            <a:off x="609905" y="2840126"/>
            <a:ext cx="3705149" cy="35625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236769" y="1578428"/>
            <a:ext cx="6353251" cy="1499708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465369" y="1763944"/>
            <a:ext cx="609905" cy="494956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621731" y="1849281"/>
            <a:ext cx="381305" cy="325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302959" y="1982110"/>
            <a:ext cx="5172761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과적재 금지 (No Info Overload)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02959" y="2298970"/>
            <a:ext cx="5134356" cy="55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숏폼에는 반드시 하나의 메시지만 담으세요.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욕심내어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과도한 정보를 담으면 시청자는 피로감을 느끼고 이탈합니다.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6769" y="3242874"/>
            <a:ext cx="6353251" cy="1499708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465369" y="3428389"/>
            <a:ext cx="609905" cy="494956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621731" y="3512985"/>
            <a:ext cx="381305" cy="325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302959" y="3645813"/>
            <a:ext cx="5172761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낭독 테스트 (Read Aloud)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302959" y="3963417"/>
            <a:ext cx="5134356" cy="55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작성한 대본을 1.2배속으로 소리 내어 읽어보세요.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입에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붙지 않거나 호흡이 끊기는 문장은 시청자의 귀에도 들리지 않습니다.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236769" y="4906577"/>
            <a:ext cx="6353251" cy="1499708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465369" y="5092093"/>
            <a:ext cx="609905" cy="494956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621731" y="5177430"/>
            <a:ext cx="381305" cy="325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6302959" y="5310260"/>
            <a:ext cx="5172761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 길이 최적화 (Short Sentences)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302959" y="5627120"/>
            <a:ext cx="5134356" cy="55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문장은 12~15자 내외로 짧게 끊으세요. 접속사는 최소화하고,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구어체를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사용하여 영상의 속도감을 유지해야 합니다.</a:t>
            </a:r>
            <a:endParaRPr lang="en-US" sz="12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F85D1267-980D-7C41-1990-2742689E9E39}"/>
              </a:ext>
            </a:extLst>
          </p:cNvPr>
          <p:cNvSpPr txBox="1"/>
          <p:nvPr/>
        </p:nvSpPr>
        <p:spPr>
          <a:xfrm>
            <a:off x="10633188" y="428954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BA40438-7F8E-2636-446C-29DF2EDFB03F}"/>
              </a:ext>
            </a:extLst>
          </p:cNvPr>
          <p:cNvSpPr/>
          <p:nvPr/>
        </p:nvSpPr>
        <p:spPr>
          <a:xfrm>
            <a:off x="10222078" y="46728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500" dirty="0"/>
          </a:p>
        </p:txBody>
      </p:sp>
      <p:sp>
        <p:nvSpPr>
          <p:cNvPr id="5" name="Text 3"/>
          <p:cNvSpPr txBox="1"/>
          <p:nvPr/>
        </p:nvSpPr>
        <p:spPr>
          <a:xfrm>
            <a:off x="709075" y="458114"/>
            <a:ext cx="5136554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</a:t>
            </a:r>
            <a:r>
              <a:rPr lang="en-US" sz="4200" b="1" kern="0" spc="-75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스토리보드</a:t>
            </a:r>
            <a:r>
              <a:rPr lang="en-US" sz="4200" b="1" kern="0" spc="-75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</a:t>
            </a:r>
            <a:r>
              <a:rPr lang="en-US" sz="4200" b="1" kern="0" spc="-75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요소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09905" y="2144268"/>
            <a:ext cx="5581498" cy="1248156"/>
          </a:xfrm>
          <a:prstGeom prst="roundRect">
            <a:avLst>
              <a:gd name="adj" fmla="val 11185"/>
            </a:avLst>
          </a:prstGeom>
          <a:solidFill>
            <a:srgbClr val="FFFFFF"/>
          </a:solidFill>
          <a:ln/>
          <a:effectLst>
            <a:outerShdw blurRad="190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09905" y="2144268"/>
            <a:ext cx="57607" cy="1248156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95198" y="23728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8700" y="2506370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43507" y="2372868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칼럼 구조 (Structure)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43507" y="2734970"/>
            <a:ext cx="44961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 번호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(스케치/사진), </a:t>
            </a: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오디오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(대사/BGM), </a:t>
            </a: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온스크린 텍스트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(자막), </a:t>
            </a: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(Duration) 5가지 요소가 반드시 포함되어야 합니다.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9905" y="3582619"/>
            <a:ext cx="5581498" cy="1248156"/>
          </a:xfrm>
          <a:prstGeom prst="roundRect">
            <a:avLst>
              <a:gd name="adj" fmla="val 11185"/>
            </a:avLst>
          </a:prstGeom>
          <a:solidFill>
            <a:srgbClr val="FFFFFF"/>
          </a:solidFill>
          <a:ln/>
          <a:effectLst>
            <a:outerShdw blurRad="190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3582619"/>
            <a:ext cx="57607" cy="1248156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95198" y="381121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8700" y="3943807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43507" y="3811219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가이드 (Guidelines)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543507" y="4172407"/>
            <a:ext cx="44961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앵글(Full/Bust/Close-up), 피사체의 구체적 동작, 화면 </a:t>
            </a: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(Cut/Fade/Zoom) 등 연출 의도를 명확히 텍스트로 명시합니다.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9905" y="5020970"/>
            <a:ext cx="5581498" cy="1248156"/>
          </a:xfrm>
          <a:prstGeom prst="roundRect">
            <a:avLst>
              <a:gd name="adj" fmla="val 11185"/>
            </a:avLst>
          </a:prstGeom>
          <a:solidFill>
            <a:srgbClr val="FFFFFF"/>
          </a:solidFill>
          <a:ln/>
          <a:effectLst>
            <a:outerShdw blurRad="190500" dist="381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09905" y="5020970"/>
            <a:ext cx="57607" cy="1248156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95198" y="52495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2474" y="5382158"/>
            <a:ext cx="142646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43507" y="5249570"/>
            <a:ext cx="4534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체크리스트 (Quality Assurance)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543507" y="5610758"/>
            <a:ext cx="44961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내 텍스트가 UI에 가려지지 않는지(안전 영역), 컷 간의 연결 흐름이 자연스러운지, 정보량이 과하지 않은지 사전에 검토합니다.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741103" y="609905"/>
            <a:ext cx="18480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8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STORYBOARD PLANNING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644945" y="1371600"/>
            <a:ext cx="2381098" cy="4876495"/>
          </a:xfrm>
          <a:prstGeom prst="roundRect">
            <a:avLst>
              <a:gd name="adj" fmla="val 368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33704" r="33704"/>
          <a:stretch/>
        </p:blipFill>
        <p:spPr>
          <a:xfrm>
            <a:off x="6644945" y="1371600"/>
            <a:ext cx="2381098" cy="487649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208922" y="990295"/>
            <a:ext cx="2381098" cy="4476902"/>
          </a:xfrm>
          <a:prstGeom prst="roundRect">
            <a:avLst>
              <a:gd name="adj" fmla="val 3687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32282" r="32282"/>
          <a:stretch/>
        </p:blipFill>
        <p:spPr>
          <a:xfrm>
            <a:off x="9208922" y="990295"/>
            <a:ext cx="2381098" cy="4476902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1A95059A-624B-B970-3615-A8A345A70F92}"/>
              </a:ext>
            </a:extLst>
          </p:cNvPr>
          <p:cNvSpPr/>
          <p:nvPr/>
        </p:nvSpPr>
        <p:spPr>
          <a:xfrm>
            <a:off x="10484641" y="5168450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8556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03174" y="592532"/>
            <a:ext cx="3516782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스토리보드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워크플로우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03174" y="2009852"/>
            <a:ext cx="3076956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50976" y="2124152"/>
            <a:ext cx="30723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프로세스 (4-Step Process)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07585" y="457200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136185" y="875995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275174" y="972007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780898"/>
            <a:ext cx="5572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 (GPT)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104595"/>
            <a:ext cx="55348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작성된 대본을 GPT에 입력하여 "6컷 숏폼용 샷 리스트(Shot List)"로 변환합니다.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요소와 오디오를 분리해 구조를 잡습니다.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07585" y="1981505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136185" y="2400300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275174" y="2495398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305202"/>
            <a:ext cx="5572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 (Canva/Figma)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2628900"/>
            <a:ext cx="55348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툴의 템플릿에 텍스트를 배치하고,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Midjourney나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스톡 사이트에서 상황에 맞는 레퍼런스 이미지를 찾아 삽입합니다.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07585" y="3504895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136185" y="3924605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275174" y="4019702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3829507"/>
            <a:ext cx="5572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매핑 (CapCut)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4153205"/>
            <a:ext cx="55348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보드를 기반으로 CapCut 템플릿을 매핑합니다.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단계에서 템플릿을 선정하면 제작 시간을 50% 이상 단축할 수 있습니다.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07585" y="5029200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136185" y="5447995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275174" y="5544007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5352898"/>
            <a:ext cx="55723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검토 (Final Review)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5676595"/>
            <a:ext cx="55348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영상의 컷 호흡, 오디오 싱크, 자막 가독성을 </a:t>
            </a: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점검하고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숏폼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플랫폼(9:16) 규격에 맞춰 최종 렌더링을 수행합니다.</a:t>
            </a:r>
            <a:endParaRPr lang="en-US" sz="12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20184605-E601-F4EA-356E-ECDC8AE26379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5829D11-01ED-C8FE-0856-E6C76B122DFD}"/>
              </a:ext>
            </a:extLst>
          </p:cNvPr>
          <p:cNvSpPr/>
          <p:nvPr/>
        </p:nvSpPr>
        <p:spPr>
          <a:xfrm>
            <a:off x="10575037" y="5226252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891040B-17D8-81B5-76F3-9F514CD95C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692585" y="3041294"/>
            <a:ext cx="3768163" cy="3299357"/>
          </a:xfrm>
          <a:prstGeom prst="rect">
            <a:avLst/>
          </a:prstGeom>
        </p:spPr>
      </p:pic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773168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93359" y="552298"/>
            <a:ext cx="3952124" cy="1107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</a:t>
            </a:r>
            <a:r>
              <a:rPr lang="en-US" sz="3700" b="1" kern="0" spc="-112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스토리보드</a:t>
            </a:r>
            <a:r>
              <a:rPr lang="en-US" sz="37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</a:t>
            </a:r>
            <a:r>
              <a:rPr lang="en-US" sz="3700" b="1" kern="0" spc="-112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</a:t>
            </a:r>
            <a:r>
              <a:rPr lang="en-US" sz="37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: </a:t>
            </a:r>
            <a:r>
              <a:rPr lang="en-US" sz="37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공부법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1769233" y="1902127"/>
            <a:ext cx="2648102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2017035" y="2016427"/>
            <a:ext cx="256214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 프레임 구성 (Structure)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6769" y="1191462"/>
            <a:ext cx="6353251" cy="1619913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465369" y="1391847"/>
            <a:ext cx="609905" cy="534628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621731" y="1484024"/>
            <a:ext cx="381305" cy="35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302959" y="1568586"/>
            <a:ext cx="5172761" cy="217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F1-2. 도입 (Hook): 패턴 인터럽트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302959" y="1944910"/>
            <a:ext cx="5134356" cy="375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책더미가 무너지는 컷이나 강렬한 사운드 이펙트로 시선을 끌고,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"아직도 무식하게 암기해?" 같은 핵심 질문 자막을 0~3초 내 배치합니다.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36769" y="2989317"/>
            <a:ext cx="6353251" cy="1619913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465369" y="3189703"/>
            <a:ext cx="609905" cy="534628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5621731" y="3281079"/>
            <a:ext cx="381305" cy="35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302959" y="3366443"/>
            <a:ext cx="5172761" cy="217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F3-5. 본론 (Value): AI 툴 데모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302959" y="3741964"/>
            <a:ext cx="5134356" cy="375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요약을 생성하고 퀴즈를 내는 실제 화면 녹화와, 학생이 </a:t>
            </a: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놀라워하는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B-</a:t>
            </a: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roll을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교차 편집하여 리듬감을 부여하고 신뢰도를 높입니다.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236769" y="4786372"/>
            <a:ext cx="6353251" cy="1619913"/>
          </a:xfrm>
          <a:prstGeom prst="roundRect">
            <a:avLst>
              <a:gd name="adj" fmla="val 510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465369" y="4986757"/>
            <a:ext cx="609905" cy="534628"/>
          </a:xfrm>
          <a:prstGeom prst="roundRect">
            <a:avLst>
              <a:gd name="adj" fmla="val 37481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621731" y="5078934"/>
            <a:ext cx="381305" cy="35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6302959" y="5163496"/>
            <a:ext cx="5172761" cy="217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F6. 마무리 (CTA): 행동 유도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302959" y="5539820"/>
            <a:ext cx="5134356" cy="375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"시험 기간에 다시 보려면 저장하세요"와 같이 구체적이고 즉각적인 </a:t>
            </a: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행동을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유도하여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알고리즘 점수(저장/공유)를 확보합니다.</a:t>
            </a:r>
            <a:endParaRPr lang="en-US" sz="12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FB63DFE5-E18A-323A-46B4-4D686B8F8C98}"/>
              </a:ext>
            </a:extLst>
          </p:cNvPr>
          <p:cNvSpPr txBox="1"/>
          <p:nvPr/>
        </p:nvSpPr>
        <p:spPr>
          <a:xfrm>
            <a:off x="10842498" y="501481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</a:rPr>
              <a:t>09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DE500498-CD9C-EF65-09B8-0DEC3C7372B9}"/>
              </a:ext>
            </a:extLst>
          </p:cNvPr>
          <p:cNvSpPr/>
          <p:nvPr/>
        </p:nvSpPr>
        <p:spPr>
          <a:xfrm>
            <a:off x="-1186561" y="-624737"/>
            <a:ext cx="2539237" cy="2539237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8B8AD5-6677-DF75-A698-5D15B51F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692585" y="3041294"/>
            <a:ext cx="3768163" cy="3299357"/>
          </a:xfrm>
          <a:prstGeom prst="rect">
            <a:avLst/>
          </a:prstGeom>
        </p:spPr>
      </p:pic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58891" y="697296"/>
            <a:ext cx="8401507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</a:t>
            </a:r>
            <a:r>
              <a:rPr lang="en-US" sz="4200" b="1" kern="0" spc="-75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자막의</a:t>
            </a: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4200" b="1" kern="0" spc="-75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중요성과</a:t>
            </a: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4200" b="1" kern="0" spc="-75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9678924" y="905256"/>
            <a:ext cx="19138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UNIVERSITY WORKSHOP</a:t>
            </a:r>
            <a:endParaRPr lang="en-US" sz="10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E7889DC-221A-7652-BFF3-802381405B3C}"/>
              </a:ext>
            </a:extLst>
          </p:cNvPr>
          <p:cNvGrpSpPr/>
          <p:nvPr/>
        </p:nvGrpSpPr>
        <p:grpSpPr>
          <a:xfrm>
            <a:off x="724205" y="1828506"/>
            <a:ext cx="5896051" cy="4086454"/>
            <a:chOff x="609905" y="2238451"/>
            <a:chExt cx="5896051" cy="3943808"/>
          </a:xfrm>
        </p:grpSpPr>
        <p:sp>
          <p:nvSpPr>
            <p:cNvPr id="6" name="Text 4"/>
            <p:cNvSpPr txBox="1"/>
            <p:nvPr/>
          </p:nvSpPr>
          <p:spPr>
            <a:xfrm>
              <a:off x="609905" y="2238451"/>
              <a:ext cx="582015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무음 시청 대비 (Sound-Off Strategy)</a:t>
              </a:r>
              <a:endParaRPr lang="en-US" sz="18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609905" y="2649931"/>
              <a:ext cx="5781751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대중교통이나 공공장소에서는 소리를 끄고 보는 '무음 시청'이 흔합니다.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소리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없이도 내용을 완전히 이해할 수 </a:t>
              </a: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있도록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핵심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키워드 자막이나 요약 텍스트를 반드시 포함해야 합니다.</a:t>
              </a: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3441802"/>
              <a:ext cx="5705856" cy="9144"/>
            </a:xfrm>
            <a:prstGeom prst="rect">
              <a:avLst/>
            </a:prstGeom>
            <a:solidFill>
              <a:srgbClr val="FF6908">
                <a:alpha val="4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609905" y="3756355"/>
              <a:ext cx="589605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2줄 규칙과 안전 영역</a:t>
              </a:r>
              <a:endParaRPr lang="en-US" sz="18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609905" y="4167835"/>
              <a:ext cx="5781751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한 화면에 자막이 두 줄을 넘지 않도록 하여 영상 몰입을 방해하지 않아야 합니다.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또한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플랫폼별 UI(좋아요, 댓글 등)에 가려지지 않는 안전 영역을 준수하세요.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905" y="4960620"/>
              <a:ext cx="5705856" cy="9144"/>
            </a:xfrm>
            <a:prstGeom prst="rect">
              <a:avLst/>
            </a:prstGeom>
            <a:solidFill>
              <a:srgbClr val="FF6908">
                <a:alpha val="4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09905" y="5275174"/>
              <a:ext cx="582015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적절한 노출 속도 (12-17자/초)</a:t>
              </a:r>
              <a:endParaRPr lang="en-US" sz="18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09905" y="5686654"/>
              <a:ext cx="5781751" cy="495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시청자가 편안하게 읽을 수 있는 속도는 초당 12~17자 내외입니다.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말하는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속도보다 자막이 너무 빠르면 정보를 놓치게 되므로,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컷 전환에 맞춰 싱크를 조절하는 것이 중요합니다.</a:t>
              </a:r>
              <a:endParaRPr lang="en-US" sz="1200" dirty="0"/>
            </a:p>
          </p:txBody>
        </p:sp>
      </p:grp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17879" r="17879"/>
          <a:stretch/>
        </p:blipFill>
        <p:spPr>
          <a:xfrm>
            <a:off x="7033565" y="1362066"/>
            <a:ext cx="4667098" cy="4086454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7BA76DDB-4541-42F7-A937-04285A33C002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FE4D60EA-F60C-3D1D-3F88-B5AFF536C22F}"/>
              </a:ext>
            </a:extLst>
          </p:cNvPr>
          <p:cNvSpPr/>
          <p:nvPr/>
        </p:nvSpPr>
        <p:spPr>
          <a:xfrm>
            <a:off x="10515447" y="5333913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3AE219E-37EA-EAA9-6737-92FF25ABA1AF}"/>
              </a:ext>
            </a:extLst>
          </p:cNvPr>
          <p:cNvSpPr/>
          <p:nvPr/>
        </p:nvSpPr>
        <p:spPr>
          <a:xfrm>
            <a:off x="6078930" y="554583"/>
            <a:ext cx="7065417" cy="7065417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773168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75158" y="492862"/>
            <a:ext cx="3854196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AI 자막 생성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</a:t>
            </a:r>
            <a:r>
              <a:rPr lang="en-US" sz="4200" b="1" kern="0" spc="-112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75158" y="1894637"/>
            <a:ext cx="3581705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008937"/>
            <a:ext cx="366400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프로세스: STT · 편집 · 강조 · 출력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36769" y="457200"/>
            <a:ext cx="6353251" cy="1371600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65369" y="854964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612587" y="954634"/>
            <a:ext cx="3529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265469" y="761695"/>
            <a:ext cx="52102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STT 자동 생성 (Auto-Caption)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5469" y="1104595"/>
            <a:ext cx="5172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Whisper, Vrew, CapCut 등 AI 툴을 활용하여 오디오를 텍스트로 변환합니다.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자막을 자동으로 만들어 작업 시간을 단축합니다.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36769" y="1982419"/>
            <a:ext cx="6353251" cy="1371600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65369" y="2380183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12587" y="2480767"/>
            <a:ext cx="3529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65469" y="2287829"/>
            <a:ext cx="52102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 편집 (Editing)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5469" y="2630729"/>
            <a:ext cx="5172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생성된 자막의 오타를 수정하고,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문맥에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맞게 줄바꿈을 조정하며 불필요한 추임새를 제거해 가독성을 높입니다.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36769" y="3508553"/>
            <a:ext cx="6353251" cy="1371600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465369" y="3905402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612587" y="4005986"/>
            <a:ext cx="3529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65469" y="3813048"/>
            <a:ext cx="52102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강조 (Highlight)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65469" y="4155948"/>
            <a:ext cx="5172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메시지에 노란색/형광색 색상이나 폰트 크기 변화를 </a:t>
            </a: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주어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지속 시간을 늘리는 시각적 후킹 요소를 추가합니다.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6769" y="5033772"/>
            <a:ext cx="6353251" cy="1371600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465369" y="5431536"/>
            <a:ext cx="571500" cy="571500"/>
          </a:xfrm>
          <a:prstGeom prst="roundRect">
            <a:avLst>
              <a:gd name="adj" fmla="val 42667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612587" y="5531206"/>
            <a:ext cx="3529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265469" y="5338267"/>
            <a:ext cx="52102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플랫폼별 익스포트 (Safe Zone)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65469" y="5681167"/>
            <a:ext cx="5172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Shorts, Reels, TikTok 등 각 플랫폼 UI에 가려지지 </a:t>
            </a: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않는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</a:t>
            </a: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영역(Safe Zone)을 최종 확인하고 영상을 내보냅니다.</a:t>
            </a:r>
            <a:endParaRPr lang="en-US" sz="12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9111AD1A-D9FA-CDEA-56F7-C5F44DDACE32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66DA7E0-3768-96F0-5729-04751EA3D500}"/>
              </a:ext>
            </a:extLst>
          </p:cNvPr>
          <p:cNvSpPr/>
          <p:nvPr/>
        </p:nvSpPr>
        <p:spPr>
          <a:xfrm>
            <a:off x="-476402" y="5429707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B0CF3910-8119-6944-7BF1-C999B115D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692585" y="3041294"/>
            <a:ext cx="3768163" cy="3299357"/>
          </a:xfrm>
          <a:prstGeom prst="rect">
            <a:avLst/>
          </a:prstGeom>
        </p:spPr>
      </p:pic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7605085-63BD-7F47-BD84-FAE7C1CFEC3F}"/>
              </a:ext>
            </a:extLst>
          </p:cNvPr>
          <p:cNvSpPr/>
          <p:nvPr/>
        </p:nvSpPr>
        <p:spPr>
          <a:xfrm>
            <a:off x="-880117" y="-2645511"/>
            <a:ext cx="7129751" cy="7129751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508605E-3380-AADB-6ABA-52DD31F8BDBA}"/>
              </a:ext>
            </a:extLst>
          </p:cNvPr>
          <p:cNvGrpSpPr/>
          <p:nvPr/>
        </p:nvGrpSpPr>
        <p:grpSpPr>
          <a:xfrm>
            <a:off x="653448" y="517349"/>
            <a:ext cx="4562856" cy="2172615"/>
            <a:chOff x="653448" y="806980"/>
            <a:chExt cx="4562856" cy="2172615"/>
          </a:xfrm>
        </p:grpSpPr>
        <p:sp>
          <p:nvSpPr>
            <p:cNvPr id="4" name="Text 2"/>
            <p:cNvSpPr txBox="1"/>
            <p:nvPr/>
          </p:nvSpPr>
          <p:spPr>
            <a:xfrm>
              <a:off x="653448" y="806980"/>
              <a:ext cx="450616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000000">
                      <a:alpha val="80000"/>
                    </a:srgbClr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Global Expansion</a:t>
              </a:r>
              <a:endParaRPr lang="en-US" sz="1800" dirty="0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653448" y="1302585"/>
              <a:ext cx="4562856" cy="16770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4800" b="1" kern="0" spc="-150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12. 다국어</a:t>
              </a:r>
              <a:endParaRPr lang="en-US" sz="4800" dirty="0"/>
            </a:p>
            <a:p>
              <a:pPr marL="0" indent="0" algn="l">
                <a:buNone/>
              </a:pPr>
              <a:r>
                <a:rPr lang="en-US" sz="4800" b="1" kern="0" spc="-150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      </a:t>
              </a:r>
              <a:r>
                <a:rPr lang="en-US" sz="4800" b="1" kern="0" spc="-150" dirty="0" err="1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자막</a:t>
              </a:r>
              <a:r>
                <a:rPr lang="en-US" sz="4800" b="1" kern="0" spc="-150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전략</a:t>
              </a:r>
              <a:endParaRPr lang="en-US" sz="48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751419" y="2860679"/>
              <a:ext cx="571500" cy="57607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Shape 5"/>
          <p:cNvSpPr/>
          <p:nvPr/>
        </p:nvSpPr>
        <p:spPr>
          <a:xfrm>
            <a:off x="4675923" y="1511247"/>
            <a:ext cx="2286000" cy="1429207"/>
          </a:xfrm>
          <a:prstGeom prst="roundRect">
            <a:avLst>
              <a:gd name="adj" fmla="val 8531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762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5054" r="5054"/>
          <a:stretch/>
        </p:blipFill>
        <p:spPr>
          <a:xfrm>
            <a:off x="4634315" y="1463603"/>
            <a:ext cx="2286000" cy="14292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83662" y="1463603"/>
            <a:ext cx="1990649" cy="381305"/>
          </a:xfrm>
          <a:prstGeom prst="roundRect">
            <a:avLst>
              <a:gd name="adj" fmla="val 179856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7393059" y="1539498"/>
            <a:ext cx="1669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ENGLISH SUBTITLES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83662" y="1959208"/>
            <a:ext cx="4688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조회수 풀(Pool)을 전 세계로 확장하세요.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영어권 시청자의 유입은 알고리즘 추천 범위를 넓혀줍니다.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89698" y="3320845"/>
            <a:ext cx="2286000" cy="1429207"/>
          </a:xfrm>
          <a:prstGeom prst="roundRect">
            <a:avLst>
              <a:gd name="adj" fmla="val 8531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762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3063" b="3063"/>
          <a:stretch/>
        </p:blipFill>
        <p:spPr>
          <a:xfrm>
            <a:off x="4634315" y="3273201"/>
            <a:ext cx="2286000" cy="14292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83662" y="3273201"/>
            <a:ext cx="1695298" cy="381305"/>
          </a:xfrm>
          <a:prstGeom prst="roundRect">
            <a:avLst>
              <a:gd name="adj" fmla="val 179856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7393059" y="3350010"/>
            <a:ext cx="1374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TRANSLATION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183662" y="3768805"/>
            <a:ext cx="4688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 초벌 번역 후, 뉘앙스를 다듬으세요.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직역보다는 현지의 구어체와 밈(Meme)을 반영해야 자연스럽습니다.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89698" y="5130442"/>
            <a:ext cx="2286000" cy="1429207"/>
          </a:xfrm>
          <a:prstGeom prst="roundRect">
            <a:avLst>
              <a:gd name="adj" fmla="val 8531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762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6389" r="6389"/>
          <a:stretch/>
        </p:blipFill>
        <p:spPr>
          <a:xfrm>
            <a:off x="4634315" y="5082798"/>
            <a:ext cx="2286000" cy="142920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183662" y="5082798"/>
            <a:ext cx="1543507" cy="381305"/>
          </a:xfrm>
          <a:prstGeom prst="roundRect">
            <a:avLst>
              <a:gd name="adj" fmla="val 179856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 txBox="1"/>
          <p:nvPr/>
        </p:nvSpPr>
        <p:spPr>
          <a:xfrm>
            <a:off x="7393059" y="5159608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LOCALIZATION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183662" y="5578403"/>
            <a:ext cx="46886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철저한 현지화(Localization)가 핵심입니다.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화폐 단위, 문화적 예시를 타겟 국가에 맞춰 치환하여 공감대를 높이세요.</a:t>
            </a:r>
            <a:endParaRPr lang="en-US" sz="1200" dirty="0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88ECBEDE-11F2-C89C-0A21-9B148541C692}"/>
              </a:ext>
            </a:extLst>
          </p:cNvPr>
          <p:cNvSpPr txBox="1"/>
          <p:nvPr/>
        </p:nvSpPr>
        <p:spPr>
          <a:xfrm>
            <a:off x="10693692" y="328301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59816A28-5B55-1304-85CE-D66ED52F6A7B}"/>
              </a:ext>
            </a:extLst>
          </p:cNvPr>
          <p:cNvSpPr/>
          <p:nvPr/>
        </p:nvSpPr>
        <p:spPr>
          <a:xfrm>
            <a:off x="10730736" y="-493159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D4141734-3270-8BE7-BF1D-63DBF3D70E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172" r="7172"/>
          <a:stretch/>
        </p:blipFill>
        <p:spPr>
          <a:xfrm>
            <a:off x="835653" y="3176192"/>
            <a:ext cx="2987816" cy="2616095"/>
          </a:xfrm>
          <a:prstGeom prst="rect">
            <a:avLst/>
          </a:prstGeom>
        </p:spPr>
      </p:pic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6257" y="896875"/>
            <a:ext cx="75050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20060" y="1126345"/>
            <a:ext cx="2921000" cy="1094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kern="0" spc="-300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901185" y="1897119"/>
            <a:ext cx="15590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901185" y="2567374"/>
            <a:ext cx="3819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워크플로우</a:t>
            </a:r>
            <a:endParaRPr lang="en-US" sz="4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84D05EC-0DA4-4756-C9F4-D96C14A53F4E}"/>
              </a:ext>
            </a:extLst>
          </p:cNvPr>
          <p:cNvGrpSpPr/>
          <p:nvPr/>
        </p:nvGrpSpPr>
        <p:grpSpPr>
          <a:xfrm>
            <a:off x="609905" y="4015087"/>
            <a:ext cx="3940324" cy="413809"/>
            <a:chOff x="609905" y="4171035"/>
            <a:chExt cx="2693081" cy="257861"/>
          </a:xfrm>
        </p:grpSpPr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rcRect l="-760" r="-760"/>
            <a:stretch/>
          </p:blipFill>
          <p:spPr>
            <a:xfrm>
              <a:off x="609905" y="4224528"/>
              <a:ext cx="152705" cy="171907"/>
            </a:xfrm>
            <a:prstGeom prst="rect">
              <a:avLst/>
            </a:prstGeom>
          </p:spPr>
        </p:pic>
        <p:sp>
          <p:nvSpPr>
            <p:cNvPr id="9" name="Text 6"/>
            <p:cNvSpPr txBox="1"/>
            <p:nvPr/>
          </p:nvSpPr>
          <p:spPr>
            <a:xfrm>
              <a:off x="854223" y="4171035"/>
              <a:ext cx="2448763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효율성 극대화 (Efficiency)</a:t>
              </a:r>
              <a:endParaRPr lang="en-US" sz="1600" dirty="0"/>
            </a:p>
          </p:txBody>
        </p:sp>
      </p:grpSp>
      <p:sp>
        <p:nvSpPr>
          <p:cNvPr id="10" name="Shape 7"/>
          <p:cNvSpPr/>
          <p:nvPr/>
        </p:nvSpPr>
        <p:spPr>
          <a:xfrm>
            <a:off x="609905" y="4533595"/>
            <a:ext cx="5029200" cy="1714500"/>
          </a:xfrm>
          <a:prstGeom prst="roundRect">
            <a:avLst>
              <a:gd name="adj" fmla="val 7111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0" dist="762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24511" b="24511"/>
          <a:stretch/>
        </p:blipFill>
        <p:spPr>
          <a:xfrm>
            <a:off x="609905" y="4533595"/>
            <a:ext cx="5029200" cy="1714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48095" y="1067105"/>
            <a:ext cx="5333695" cy="1686154"/>
          </a:xfrm>
          <a:prstGeom prst="roundRect">
            <a:avLst>
              <a:gd name="adj" fmla="val 9192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26302" b="26302"/>
          <a:stretch/>
        </p:blipFill>
        <p:spPr>
          <a:xfrm>
            <a:off x="6248095" y="1067105"/>
            <a:ext cx="5333695" cy="1686154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54694A89-16E9-5513-BC06-723A338F22F6}"/>
              </a:ext>
            </a:extLst>
          </p:cNvPr>
          <p:cNvGrpSpPr/>
          <p:nvPr/>
        </p:nvGrpSpPr>
        <p:grpSpPr>
          <a:xfrm>
            <a:off x="6302523" y="3343046"/>
            <a:ext cx="5333695" cy="3005633"/>
            <a:chOff x="6248095" y="3052267"/>
            <a:chExt cx="5333695" cy="3005633"/>
          </a:xfrm>
        </p:grpSpPr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248095" y="3114446"/>
              <a:ext cx="228600" cy="228600"/>
            </a:xfrm>
            <a:prstGeom prst="rect">
              <a:avLst/>
            </a:prstGeom>
          </p:spPr>
        </p:pic>
        <p:sp>
          <p:nvSpPr>
            <p:cNvPr id="15" name="Text 9"/>
            <p:cNvSpPr txBox="1"/>
            <p:nvPr/>
          </p:nvSpPr>
          <p:spPr>
            <a:xfrm>
              <a:off x="6628942" y="3052267"/>
              <a:ext cx="210769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프로세스 타임라인</a:t>
              </a:r>
              <a:endParaRPr lang="en-US" sz="2000" dirty="0"/>
            </a:p>
          </p:txBody>
        </p:sp>
        <p:sp>
          <p:nvSpPr>
            <p:cNvPr id="16" name="Shape 10"/>
            <p:cNvSpPr/>
            <p:nvPr/>
          </p:nvSpPr>
          <p:spPr>
            <a:xfrm>
              <a:off x="6248095" y="4000500"/>
              <a:ext cx="533369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" name="Shape 11"/>
            <p:cNvSpPr/>
            <p:nvPr/>
          </p:nvSpPr>
          <p:spPr>
            <a:xfrm>
              <a:off x="6248095" y="3590849"/>
              <a:ext cx="761695" cy="333756"/>
            </a:xfrm>
            <a:prstGeom prst="roundRect">
              <a:avLst>
                <a:gd name="adj" fmla="val 156556"/>
              </a:avLst>
            </a:prstGeom>
            <a:solidFill>
              <a:srgbClr val="FFF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8" name="Text 12"/>
            <p:cNvSpPr txBox="1"/>
            <p:nvPr/>
          </p:nvSpPr>
          <p:spPr>
            <a:xfrm>
              <a:off x="6457493" y="3657600"/>
              <a:ext cx="352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5분</a:t>
              </a:r>
              <a:endParaRPr lang="en-US" sz="1400" dirty="0"/>
            </a:p>
          </p:txBody>
        </p:sp>
        <p:sp>
          <p:nvSpPr>
            <p:cNvPr id="19" name="Text 13"/>
            <p:cNvSpPr txBox="1"/>
            <p:nvPr/>
          </p:nvSpPr>
          <p:spPr>
            <a:xfrm>
              <a:off x="7162495" y="3614623"/>
              <a:ext cx="2221992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33333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아이데이션 (Ideation)</a:t>
              </a:r>
              <a:endParaRPr lang="en-US" sz="1600" dirty="0"/>
            </a:p>
          </p:txBody>
        </p:sp>
        <p:sp>
          <p:nvSpPr>
            <p:cNvPr id="20" name="Shape 14"/>
            <p:cNvSpPr/>
            <p:nvPr/>
          </p:nvSpPr>
          <p:spPr>
            <a:xfrm>
              <a:off x="6248095" y="4533595"/>
              <a:ext cx="533369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1" name="Shape 15"/>
            <p:cNvSpPr/>
            <p:nvPr/>
          </p:nvSpPr>
          <p:spPr>
            <a:xfrm>
              <a:off x="6248095" y="4123944"/>
              <a:ext cx="761695" cy="333756"/>
            </a:xfrm>
            <a:prstGeom prst="roundRect">
              <a:avLst>
                <a:gd name="adj" fmla="val 156556"/>
              </a:avLst>
            </a:prstGeom>
            <a:solidFill>
              <a:srgbClr val="FFF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2" name="Text 16"/>
            <p:cNvSpPr txBox="1"/>
            <p:nvPr/>
          </p:nvSpPr>
          <p:spPr>
            <a:xfrm>
              <a:off x="6457493" y="4190695"/>
              <a:ext cx="352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7분</a:t>
              </a:r>
              <a:endParaRPr lang="en-US" sz="1400" dirty="0"/>
            </a:p>
          </p:txBody>
        </p:sp>
        <p:sp>
          <p:nvSpPr>
            <p:cNvPr id="23" name="Text 17"/>
            <p:cNvSpPr txBox="1"/>
            <p:nvPr/>
          </p:nvSpPr>
          <p:spPr>
            <a:xfrm>
              <a:off x="7162495" y="4147718"/>
              <a:ext cx="2120494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33333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AI 대본 작성 (Script)</a:t>
              </a:r>
              <a:endParaRPr lang="en-US" sz="1600" dirty="0"/>
            </a:p>
          </p:txBody>
        </p:sp>
        <p:sp>
          <p:nvSpPr>
            <p:cNvPr id="24" name="Shape 18"/>
            <p:cNvSpPr/>
            <p:nvPr/>
          </p:nvSpPr>
          <p:spPr>
            <a:xfrm>
              <a:off x="6248095" y="5067605"/>
              <a:ext cx="533369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5" name="Shape 19"/>
            <p:cNvSpPr/>
            <p:nvPr/>
          </p:nvSpPr>
          <p:spPr>
            <a:xfrm>
              <a:off x="6248095" y="4657954"/>
              <a:ext cx="761695" cy="333756"/>
            </a:xfrm>
            <a:prstGeom prst="roundRect">
              <a:avLst>
                <a:gd name="adj" fmla="val 156556"/>
              </a:avLst>
            </a:prstGeom>
            <a:solidFill>
              <a:srgbClr val="FFF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6" name="Text 20"/>
            <p:cNvSpPr txBox="1"/>
            <p:nvPr/>
          </p:nvSpPr>
          <p:spPr>
            <a:xfrm>
              <a:off x="6457493" y="4724705"/>
              <a:ext cx="352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6분</a:t>
              </a:r>
              <a:endParaRPr lang="en-US" sz="1400" dirty="0"/>
            </a:p>
          </p:txBody>
        </p:sp>
        <p:sp>
          <p:nvSpPr>
            <p:cNvPr id="27" name="Text 21"/>
            <p:cNvSpPr txBox="1"/>
            <p:nvPr/>
          </p:nvSpPr>
          <p:spPr>
            <a:xfrm>
              <a:off x="7162495" y="4681728"/>
              <a:ext cx="3080614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33333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스토리보드 구성 (Storyboard)</a:t>
              </a:r>
              <a:endParaRPr lang="en-US" sz="1600" dirty="0"/>
            </a:p>
          </p:txBody>
        </p:sp>
        <p:sp>
          <p:nvSpPr>
            <p:cNvPr id="28" name="Shape 22"/>
            <p:cNvSpPr/>
            <p:nvPr/>
          </p:nvSpPr>
          <p:spPr>
            <a:xfrm>
              <a:off x="6248095" y="5600700"/>
              <a:ext cx="5333695" cy="9144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9" name="Shape 23"/>
            <p:cNvSpPr/>
            <p:nvPr/>
          </p:nvSpPr>
          <p:spPr>
            <a:xfrm>
              <a:off x="6248095" y="5191049"/>
              <a:ext cx="761695" cy="333756"/>
            </a:xfrm>
            <a:prstGeom prst="roundRect">
              <a:avLst>
                <a:gd name="adj" fmla="val 156556"/>
              </a:avLst>
            </a:prstGeom>
            <a:solidFill>
              <a:srgbClr val="FFF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6457493" y="5257800"/>
              <a:ext cx="352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7분</a:t>
              </a:r>
              <a:endParaRPr lang="en-US" sz="14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7162495" y="5214823"/>
              <a:ext cx="2822753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33333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영상 편집 및 자막 (Subtitle)</a:t>
              </a:r>
              <a:endParaRPr lang="en-US" sz="160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6248095" y="5724144"/>
              <a:ext cx="761695" cy="333756"/>
            </a:xfrm>
            <a:prstGeom prst="roundRect">
              <a:avLst>
                <a:gd name="adj" fmla="val 156556"/>
              </a:avLst>
            </a:prstGeom>
            <a:solidFill>
              <a:srgbClr val="FFF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6457493" y="5790895"/>
              <a:ext cx="35295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5분</a:t>
              </a:r>
              <a:endParaRPr lang="en-US" sz="1400" dirty="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7162495" y="5747918"/>
              <a:ext cx="3003804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33333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최종 검토 및 업로드 (Review)</a:t>
              </a:r>
              <a:endParaRPr lang="en-US" sz="16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88FB3E4D-948E-C184-2ACF-5CAC084B06D9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C0531D9E-C3E7-3C7D-19CC-80B2B1EA8128}"/>
              </a:ext>
            </a:extLst>
          </p:cNvPr>
          <p:cNvSpPr/>
          <p:nvPr/>
        </p:nvSpPr>
        <p:spPr>
          <a:xfrm>
            <a:off x="10010480" y="-684755"/>
            <a:ext cx="3251476" cy="3251476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803478BC-D510-9BAC-FA87-ABBFDC5B02C4}"/>
              </a:ext>
            </a:extLst>
          </p:cNvPr>
          <p:cNvSpPr/>
          <p:nvPr/>
        </p:nvSpPr>
        <p:spPr>
          <a:xfrm>
            <a:off x="-476402" y="5429707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609905"/>
            <a:ext cx="8401507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30분 워크플로우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        </a:t>
            </a:r>
            <a:r>
              <a:rPr lang="en-US" sz="4200" b="1" kern="0" spc="-75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9678924" y="647395"/>
            <a:ext cx="19138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UNIVERSITY WORKSHOP</a:t>
            </a:r>
            <a:endParaRPr lang="en-US" sz="10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D439EBC-2D8F-60AB-D3E8-D1DE069326F9}"/>
              </a:ext>
            </a:extLst>
          </p:cNvPr>
          <p:cNvGrpSpPr/>
          <p:nvPr/>
        </p:nvGrpSpPr>
        <p:grpSpPr>
          <a:xfrm>
            <a:off x="1001184" y="2229210"/>
            <a:ext cx="6041823" cy="3578047"/>
            <a:chOff x="609905" y="2706624"/>
            <a:chExt cx="5896051" cy="3578047"/>
          </a:xfrm>
        </p:grpSpPr>
        <p:sp>
          <p:nvSpPr>
            <p:cNvPr id="6" name="Text 4"/>
            <p:cNvSpPr txBox="1"/>
            <p:nvPr/>
          </p:nvSpPr>
          <p:spPr>
            <a:xfrm>
              <a:off x="876910" y="2706624"/>
              <a:ext cx="555315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아이데이션 (Ideation)</a:t>
              </a:r>
              <a:endParaRPr lang="en-US" dirty="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09905" y="2768803"/>
              <a:ext cx="190195" cy="190195"/>
            </a:xfrm>
            <a:prstGeom prst="rect">
              <a:avLst/>
            </a:prstGeom>
          </p:spPr>
        </p:pic>
        <p:sp>
          <p:nvSpPr>
            <p:cNvPr id="8" name="Text 5"/>
            <p:cNvSpPr txBox="1"/>
            <p:nvPr/>
          </p:nvSpPr>
          <p:spPr>
            <a:xfrm>
              <a:off x="609905" y="3079699"/>
              <a:ext cx="578175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타겟 페르소나, 해결할 문제, 제공할 약속(Value)이 한 줄로 명확히 </a:t>
              </a: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정리되었나요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?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모호한 컨셉은 제작 시간을 지연시킵니다.</a:t>
              </a:r>
              <a:endParaRPr lang="en-US" sz="12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609905" y="3803904"/>
              <a:ext cx="5705856" cy="9144"/>
            </a:xfrm>
            <a:prstGeom prst="rect">
              <a:avLst/>
            </a:prstGeom>
            <a:solidFill>
              <a:srgbClr val="FF6908">
                <a:alpha val="4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876910" y="4080053"/>
              <a:ext cx="562904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대본 및 스토리보드</a:t>
              </a:r>
              <a:endParaRPr lang="en-US" dirty="0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09905" y="4142232"/>
              <a:ext cx="190195" cy="190195"/>
            </a:xfrm>
            <a:prstGeom prst="rect">
              <a:avLst/>
            </a:prstGeom>
          </p:spPr>
        </p:pic>
        <p:sp>
          <p:nvSpPr>
            <p:cNvPr id="12" name="Text 8"/>
            <p:cNvSpPr txBox="1"/>
            <p:nvPr/>
          </p:nvSpPr>
          <p:spPr>
            <a:xfrm>
              <a:off x="609905" y="4454042"/>
              <a:ext cx="578175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Hook 3가지 버전 중 최적안을 선택했나요?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6프레임 썸네일 스케치를 통해 시각적 구성을 미리 확정했는지 확인하세요.</a:t>
              </a:r>
              <a:endParaRPr lang="en-US" sz="120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609905" y="5177333"/>
              <a:ext cx="5705856" cy="9144"/>
            </a:xfrm>
            <a:prstGeom prst="rect">
              <a:avLst/>
            </a:prstGeom>
            <a:solidFill>
              <a:srgbClr val="FF6908">
                <a:alpha val="4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ko-KR" altLang="en-US"/>
            </a:p>
          </p:txBody>
        </p:sp>
        <p:sp>
          <p:nvSpPr>
            <p:cNvPr id="14" name="Text 10"/>
            <p:cNvSpPr txBox="1"/>
            <p:nvPr/>
          </p:nvSpPr>
          <p:spPr>
            <a:xfrm>
              <a:off x="876910" y="5453482"/>
              <a:ext cx="5553151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자막 편집 및 QA</a:t>
              </a:r>
              <a:endParaRPr lang="en-US" dirty="0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09905" y="5515661"/>
              <a:ext cx="190195" cy="190195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609905" y="5827471"/>
              <a:ext cx="578175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자동 생성된 자막의 오타를 수정하고 핵심 키워드를 강조했나요?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텍스트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잘림, 라인 간격, 정렬 등 시청 방해 요소를 최종 점검하세요.</a:t>
              </a:r>
              <a:endParaRPr lang="en-US" sz="1200" dirty="0"/>
            </a:p>
          </p:txBody>
        </p:sp>
      </p:grp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C5B3708F-01E3-AFBE-7000-38040D23D5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36" r="26236"/>
          <a:stretch/>
        </p:blipFill>
        <p:spPr>
          <a:xfrm>
            <a:off x="7517957" y="1068891"/>
            <a:ext cx="4074806" cy="4466844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C885FB7E-1EA3-8082-32D8-1D40EF229F36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DEB0BEC9-8378-E9F7-665C-95E74399AAE7}"/>
              </a:ext>
            </a:extLst>
          </p:cNvPr>
          <p:cNvSpPr/>
          <p:nvPr/>
        </p:nvSpPr>
        <p:spPr>
          <a:xfrm>
            <a:off x="-844925" y="1893365"/>
            <a:ext cx="5714608" cy="5714608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695281A-91C2-BFDB-EED7-9EC7D8C373C2}"/>
              </a:ext>
            </a:extLst>
          </p:cNvPr>
          <p:cNvSpPr/>
          <p:nvPr/>
        </p:nvSpPr>
        <p:spPr>
          <a:xfrm>
            <a:off x="6808318" y="202955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E2C62C0B-4F3A-DFA5-CDB1-76D8D8C85C70}"/>
              </a:ext>
            </a:extLst>
          </p:cNvPr>
          <p:cNvSpPr/>
          <p:nvPr/>
        </p:nvSpPr>
        <p:spPr>
          <a:xfrm>
            <a:off x="3375975" y="-1542217"/>
            <a:ext cx="5853967" cy="5853967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773168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5429707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D5E5D2B-4DE0-F3E1-3FDA-4C4A39FA082A}"/>
              </a:ext>
            </a:extLst>
          </p:cNvPr>
          <p:cNvGrpSpPr/>
          <p:nvPr/>
        </p:nvGrpSpPr>
        <p:grpSpPr>
          <a:xfrm>
            <a:off x="5236769" y="1802282"/>
            <a:ext cx="6353251" cy="4604004"/>
            <a:chOff x="5236769" y="457200"/>
            <a:chExt cx="6353251" cy="5949086"/>
          </a:xfrm>
        </p:grpSpPr>
        <p:sp>
          <p:nvSpPr>
            <p:cNvPr id="6" name="Shape 4"/>
            <p:cNvSpPr/>
            <p:nvPr/>
          </p:nvSpPr>
          <p:spPr>
            <a:xfrm>
              <a:off x="5236769" y="457200"/>
              <a:ext cx="6353251" cy="1848002"/>
            </a:xfrm>
            <a:prstGeom prst="roundRect">
              <a:avLst>
                <a:gd name="adj" fmla="val 5101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465369" y="685800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621731" y="790956"/>
              <a:ext cx="381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01</a:t>
              </a:r>
              <a:endParaRPr lang="en-US" sz="21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6302959" y="954634"/>
              <a:ext cx="5172761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1111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시간 관리 (Time Management)</a:t>
              </a:r>
              <a:endParaRPr lang="en-US" sz="16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6302959" y="1345082"/>
              <a:ext cx="51343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타이머(포모도로), 키보드 단축키, 에셋 </a:t>
              </a: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라이브러리를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적극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활용하여 반복 작업 시간을 단축하고 제작 효율을 높입니다.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236769" y="2508199"/>
              <a:ext cx="6353251" cy="1848002"/>
            </a:xfrm>
            <a:prstGeom prst="roundRect">
              <a:avLst>
                <a:gd name="adj" fmla="val 5101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5465369" y="2736799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5621731" y="2841041"/>
              <a:ext cx="381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02</a:t>
              </a:r>
              <a:endParaRPr lang="en-US" sz="21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302959" y="3004718"/>
              <a:ext cx="5172761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1111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품질 보증 (QA Checklist)</a:t>
              </a:r>
              <a:endParaRPr lang="en-US" sz="16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6302959" y="3396082"/>
              <a:ext cx="51343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글자 잘림, 라인 간격, 폰트 정렬, 배경 대비, 오디오 피크(음량) 등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시청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경험을 해치는 요소를 최종적으로 점검합니다.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236769" y="4558284"/>
              <a:ext cx="6353251" cy="1848002"/>
            </a:xfrm>
            <a:prstGeom prst="roundRect">
              <a:avLst>
                <a:gd name="adj" fmla="val 5101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5465369" y="4786884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5621731" y="4892040"/>
              <a:ext cx="381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03</a:t>
              </a:r>
              <a:endParaRPr lang="en-US" sz="21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302959" y="5055718"/>
              <a:ext cx="5172761" cy="3145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1111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업로드 최적화 (Upload)</a:t>
              </a:r>
              <a:endParaRPr lang="en-US" sz="16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6302959" y="5446166"/>
              <a:ext cx="51343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썸네일, 영상 설명, 관련 해시태그, 고정 댓글 작성 등 </a:t>
              </a:r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플랫폼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알고리즘이 선호하는 메타데이터를 꼼꼼히 챙깁니다.</a:t>
              </a:r>
              <a:endParaRPr lang="en-US" sz="1400" dirty="0"/>
            </a:p>
          </p:txBody>
        </p:sp>
      </p:grpSp>
      <p:sp>
        <p:nvSpPr>
          <p:cNvPr id="21" name="Text 19"/>
          <p:cNvSpPr txBox="1"/>
          <p:nvPr/>
        </p:nvSpPr>
        <p:spPr>
          <a:xfrm>
            <a:off x="795071" y="680679"/>
            <a:ext cx="3854196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시간 관리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</a:t>
            </a:r>
            <a:r>
              <a:rPr lang="en-US" sz="4200" b="1" kern="0" spc="-112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</a:t>
            </a:r>
            <a:r>
              <a:rPr lang="en-US" sz="4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QA</a:t>
            </a:r>
            <a:endParaRPr lang="en-US" sz="4200" dirty="0"/>
          </a:p>
        </p:txBody>
      </p:sp>
      <p:sp>
        <p:nvSpPr>
          <p:cNvPr id="22" name="Text 20"/>
          <p:cNvSpPr txBox="1"/>
          <p:nvPr/>
        </p:nvSpPr>
        <p:spPr>
          <a:xfrm>
            <a:off x="9787738" y="1013521"/>
            <a:ext cx="18022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효율화 및 최종 점검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39936" y="899221"/>
            <a:ext cx="2018995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F7749414-CDA1-92F7-95DB-0FA3CF3E01F9}"/>
              </a:ext>
            </a:extLst>
          </p:cNvPr>
          <p:cNvSpPr txBox="1"/>
          <p:nvPr/>
        </p:nvSpPr>
        <p:spPr>
          <a:xfrm>
            <a:off x="161849" y="5625035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75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85F222E-B28D-D761-6B20-5C4247484D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838087" y="2305157"/>
            <a:ext cx="3768163" cy="3299357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E3A66B35-A523-F223-1C2A-14EE8B85A0F3}"/>
              </a:ext>
            </a:extLst>
          </p:cNvPr>
          <p:cNvSpPr/>
          <p:nvPr/>
        </p:nvSpPr>
        <p:spPr>
          <a:xfrm>
            <a:off x="-1472917" y="-1170479"/>
            <a:ext cx="8759088" cy="8759088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448556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20852" y="579730"/>
            <a:ext cx="351678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</a:t>
            </a:r>
            <a:r>
              <a:rPr lang="en-US" sz="3900" b="1" kern="0" spc="-112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</a:t>
            </a:r>
            <a:r>
              <a:rPr lang="en-US" sz="39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900" b="1" kern="0" spc="-112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</a:t>
            </a:r>
            <a:r>
              <a:rPr lang="en-US" sz="39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: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AI 공부법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</a:t>
            </a:r>
            <a:r>
              <a:rPr lang="en-US" sz="3900" b="1" kern="0" spc="-112" dirty="0" err="1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숏폼</a:t>
            </a:r>
            <a:r>
              <a:rPr lang="en-US" sz="39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제작기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690329" y="2593239"/>
            <a:ext cx="2066544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38131" y="2707539"/>
            <a:ext cx="18059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 제작 프로세스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07585" y="457200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Shape 7"/>
          <p:cNvSpPr/>
          <p:nvPr/>
        </p:nvSpPr>
        <p:spPr>
          <a:xfrm>
            <a:off x="5097780" y="874166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5236769" y="969264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21985" y="769010"/>
            <a:ext cx="5686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(Planning)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21985" y="1111910"/>
            <a:ext cx="56491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"AI로 공부 시간 절반 줄이기"라는 명확한 컨셉을 정의하고,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시청자에게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확실한 이득을 약속하여 후킹합니다.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07585" y="1982419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Shape 12"/>
          <p:cNvSpPr/>
          <p:nvPr/>
        </p:nvSpPr>
        <p:spPr>
          <a:xfrm>
            <a:off x="5097780" y="2399386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5236769" y="2494483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821985" y="2294230"/>
            <a:ext cx="5686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 작성 (Scripting)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21985" y="2637130"/>
            <a:ext cx="56491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GPT에게 페르소나를 부여하고,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Hook-Body-</a:t>
            </a: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CTA의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3단 구조로 120자 이내의 간결한 대본을 작성합니다.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07585" y="3508553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Shape 17"/>
          <p:cNvSpPr/>
          <p:nvPr/>
        </p:nvSpPr>
        <p:spPr>
          <a:xfrm>
            <a:off x="5097780" y="3924605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20" name="Text 18"/>
          <p:cNvSpPr txBox="1"/>
          <p:nvPr/>
        </p:nvSpPr>
        <p:spPr>
          <a:xfrm>
            <a:off x="5236769" y="4019702"/>
            <a:ext cx="3337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821985" y="3820363"/>
            <a:ext cx="5686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스토리보드 (Storyboard)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821985" y="4163263"/>
            <a:ext cx="56491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6컷 구조(도입 2컷, 본론 3컷, 마무리 1컷)로 시각화하여,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전환과 자막 위치를 미리 설계합니다.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07585" y="5033772"/>
            <a:ext cx="6676949" cy="1371600"/>
          </a:xfrm>
          <a:prstGeom prst="roundRect">
            <a:avLst>
              <a:gd name="adj" fmla="val 740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Shape 22"/>
          <p:cNvSpPr/>
          <p:nvPr/>
        </p:nvSpPr>
        <p:spPr>
          <a:xfrm>
            <a:off x="5097780" y="5450738"/>
            <a:ext cx="533095" cy="533095"/>
          </a:xfrm>
          <a:prstGeom prst="roundRect">
            <a:avLst>
              <a:gd name="adj" fmla="val 42882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FF6908">
                <a:alpha val="30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sp>
        <p:nvSpPr>
          <p:cNvPr id="25" name="Text 23"/>
          <p:cNvSpPr txBox="1"/>
          <p:nvPr/>
        </p:nvSpPr>
        <p:spPr>
          <a:xfrm>
            <a:off x="5236769" y="5545836"/>
            <a:ext cx="43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821985" y="5345582"/>
            <a:ext cx="5686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(Editing)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821985" y="5688482"/>
            <a:ext cx="56491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CapCut 템플릿을 활용해 컷 편집 시간을 단축하고,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Vrew의</a:t>
            </a:r>
            <a:r>
              <a:rPr lang="en-US" sz="14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자동 자막 기능을 사용하여 15분 내 완성합니다.</a:t>
            </a:r>
            <a:endParaRPr lang="en-US" sz="14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1E1AA35A-135B-9BAD-10CA-14E7B9062F61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75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3D8C570-BCDE-1906-848E-A8D213E8EAA0}"/>
              </a:ext>
            </a:extLst>
          </p:cNvPr>
          <p:cNvSpPr/>
          <p:nvPr/>
        </p:nvSpPr>
        <p:spPr>
          <a:xfrm>
            <a:off x="10948873" y="-726037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A45F0A3F-2F16-51AF-6D8D-31F16860A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720852" y="3355305"/>
            <a:ext cx="3461414" cy="3030771"/>
          </a:xfrm>
          <a:prstGeom prst="rect">
            <a:avLst/>
          </a:prstGeom>
        </p:spPr>
      </p:pic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8556" y="457200"/>
            <a:ext cx="9144" cy="594360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03174" y="518922"/>
            <a:ext cx="3516782" cy="1705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성과 지표와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</a:t>
            </a:r>
            <a:r>
              <a:rPr lang="en-US" sz="4000" b="1" kern="0" spc="-112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660636" y="678244"/>
            <a:ext cx="1923898" cy="523951"/>
          </a:xfrm>
          <a:prstGeom prst="roundRect">
            <a:avLst>
              <a:gd name="adj" fmla="val 158655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945929" y="811747"/>
            <a:ext cx="161848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및 개선 전략</a:t>
            </a:r>
            <a:endParaRPr lang="en-US" sz="13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9C63C5D-1BEB-C24B-363C-37B8196F1157}"/>
              </a:ext>
            </a:extLst>
          </p:cNvPr>
          <p:cNvGrpSpPr/>
          <p:nvPr/>
        </p:nvGrpSpPr>
        <p:grpSpPr>
          <a:xfrm>
            <a:off x="4907585" y="1600200"/>
            <a:ext cx="6676949" cy="4806086"/>
            <a:chOff x="4907585" y="457200"/>
            <a:chExt cx="6676949" cy="5949086"/>
          </a:xfrm>
        </p:grpSpPr>
        <p:sp>
          <p:nvSpPr>
            <p:cNvPr id="8" name="Shape 6"/>
            <p:cNvSpPr/>
            <p:nvPr/>
          </p:nvSpPr>
          <p:spPr>
            <a:xfrm>
              <a:off x="4907585" y="457200"/>
              <a:ext cx="6676949" cy="1848002"/>
            </a:xfrm>
            <a:prstGeom prst="roundRect">
              <a:avLst>
                <a:gd name="adj" fmla="val 5101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5212080" y="761695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5368442" y="866851"/>
              <a:ext cx="381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01</a:t>
              </a:r>
              <a:endParaRPr lang="en-US" sz="21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6050585" y="926287"/>
              <a:ext cx="534375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1111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주요 지표 (Key Metrics)</a:t>
              </a:r>
              <a:endParaRPr lang="en-US" sz="18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060614" y="1461301"/>
              <a:ext cx="5306263" cy="486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AI 영상의 성과를 정량적으로 확인했습니다. </a:t>
              </a:r>
            </a:p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b="1" dirty="0" err="1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완시율</a:t>
              </a:r>
              <a:r>
                <a:rPr lang="en-US" sz="14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38%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en-US" sz="14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저장률 2.3%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</a:t>
              </a:r>
              <a:r>
                <a:rPr lang="en-US" sz="14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댓글 0.7%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를 달성하여 목표치를 상회했습니다.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907585" y="2508199"/>
              <a:ext cx="6676949" cy="1848002"/>
            </a:xfrm>
            <a:prstGeom prst="roundRect">
              <a:avLst>
                <a:gd name="adj" fmla="val 5101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5212080" y="2812694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5368442" y="2916936"/>
              <a:ext cx="381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02</a:t>
              </a:r>
              <a:endParaRPr lang="en-US" sz="210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050585" y="2976372"/>
              <a:ext cx="534375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1111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인사이트 (Key Insights)</a:t>
              </a:r>
              <a:endParaRPr lang="en-US" sz="18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060614" y="3512302"/>
              <a:ext cx="5306263" cy="486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시청자 이탈을 막는 데 </a:t>
              </a:r>
              <a:r>
                <a:rPr lang="en-US" sz="14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첫 3초 후킹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 결정적이었습니다. </a:t>
              </a:r>
            </a:p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시각적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패턴 인터럽트가 초기 시청 지속 시간을 크게 늘렸습니다.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907585" y="4558284"/>
              <a:ext cx="6676949" cy="1848002"/>
            </a:xfrm>
            <a:prstGeom prst="roundRect">
              <a:avLst>
                <a:gd name="adj" fmla="val 5101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5212080" y="4862779"/>
              <a:ext cx="609905" cy="609905"/>
            </a:xfrm>
            <a:prstGeom prst="roundRect">
              <a:avLst>
                <a:gd name="adj" fmla="val 37481"/>
              </a:avLst>
            </a:prstGeom>
            <a:solidFill>
              <a:srgbClr val="FF690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38100" dir="16200000" algn="bl" rotWithShape="0">
                <a:srgbClr val="FF6908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5368442" y="4967935"/>
              <a:ext cx="381305" cy="40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03</a:t>
              </a:r>
              <a:endParaRPr lang="en-US" sz="210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6050585" y="5027371"/>
              <a:ext cx="5343754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11111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개선 포인트 (Next Step)</a:t>
              </a:r>
              <a:endParaRPr lang="en-US" sz="18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6060614" y="5562385"/>
              <a:ext cx="5306263" cy="486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참여도를 더 높이기 위해 </a:t>
              </a:r>
              <a:r>
                <a:rPr lang="en-US" sz="14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CTA(행동 유도)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를 강화합니다. </a:t>
              </a:r>
            </a:p>
            <a:p>
              <a:pPr marL="0" indent="0" algn="l">
                <a:lnSpc>
                  <a:spcPts val="1800"/>
                </a:lnSpc>
                <a:buNone/>
              </a:pPr>
              <a:r>
                <a:rPr lang="en-US" sz="1400" dirty="0" err="1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질문형</a:t>
              </a:r>
              <a:r>
                <a:rPr lang="en-US" sz="1400" dirty="0">
                  <a:solidFill>
                    <a:srgbClr val="444444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멘트로 댓글 작성을 유도하여 커뮤니티 활성화를 목표로 합니다.</a:t>
              </a:r>
              <a:endParaRPr lang="en-US" sz="1400" dirty="0"/>
            </a:p>
          </p:txBody>
        </p:sp>
      </p:grpSp>
      <p:sp>
        <p:nvSpPr>
          <p:cNvPr id="24" name="Text 2">
            <a:extLst>
              <a:ext uri="{FF2B5EF4-FFF2-40B4-BE49-F238E27FC236}">
                <a16:creationId xmlns:a16="http://schemas.microsoft.com/office/drawing/2014/main" id="{FD9A9E58-64A8-00D5-9EA5-1494C851BC31}"/>
              </a:ext>
            </a:extLst>
          </p:cNvPr>
          <p:cNvSpPr txBox="1"/>
          <p:nvPr/>
        </p:nvSpPr>
        <p:spPr>
          <a:xfrm>
            <a:off x="201930" y="5714042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75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D22147EF-F1D7-BAD5-3FE4-68A89BAC81BF}"/>
              </a:ext>
            </a:extLst>
          </p:cNvPr>
          <p:cNvSpPr/>
          <p:nvPr/>
        </p:nvSpPr>
        <p:spPr>
          <a:xfrm>
            <a:off x="-436321" y="5430811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5600E7CE-CEF0-1802-C9CB-4073F561466D}"/>
              </a:ext>
            </a:extLst>
          </p:cNvPr>
          <p:cNvSpPr/>
          <p:nvPr/>
        </p:nvSpPr>
        <p:spPr>
          <a:xfrm>
            <a:off x="-523037" y="-2264295"/>
            <a:ext cx="5357440" cy="5357440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A11EC1F-41C4-7003-0E9B-40F96FD8E1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7172"/>
          <a:stretch/>
        </p:blipFill>
        <p:spPr>
          <a:xfrm>
            <a:off x="703174" y="2346672"/>
            <a:ext cx="3461414" cy="3030771"/>
          </a:xfrm>
          <a:prstGeom prst="rect">
            <a:avLst/>
          </a:prstGeom>
        </p:spPr>
      </p:pic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609905"/>
            <a:ext cx="85350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실천 가이드: 주간 플랜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9678924" y="905256"/>
            <a:ext cx="19138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UNIVERSITY WORKSHOP</a:t>
            </a:r>
            <a:endParaRPr lang="en-US" sz="10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6B64135-8A97-60F4-7300-C96CE62E4367}"/>
              </a:ext>
            </a:extLst>
          </p:cNvPr>
          <p:cNvGrpSpPr/>
          <p:nvPr/>
        </p:nvGrpSpPr>
        <p:grpSpPr>
          <a:xfrm>
            <a:off x="609904" y="1687286"/>
            <a:ext cx="5996635" cy="4512127"/>
            <a:chOff x="609905" y="2059229"/>
            <a:chExt cx="5820156" cy="3616452"/>
          </a:xfrm>
        </p:grpSpPr>
        <p:sp>
          <p:nvSpPr>
            <p:cNvPr id="6" name="Text 4"/>
            <p:cNvSpPr txBox="1"/>
            <p:nvPr/>
          </p:nvSpPr>
          <p:spPr>
            <a:xfrm>
              <a:off x="609905" y="2059229"/>
              <a:ext cx="582015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기획 단계 (월 / 화)</a:t>
              </a:r>
              <a:endParaRPr lang="en-US" sz="1800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609905" y="2452421"/>
              <a:ext cx="57817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월요일 (</a:t>
              </a:r>
              <a:r>
                <a:rPr lang="en-US" sz="1400" b="1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아이데이션</a:t>
              </a: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페르소나와 문제를 정의하여 아이디어 5안 도출</a:t>
              </a:r>
              <a:endParaRPr lang="en-US" sz="1400" dirty="0"/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화요일 (대본 </a:t>
              </a:r>
              <a:r>
                <a:rPr lang="en-US" sz="1400" b="1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작성</a:t>
              </a: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선정된 아이디어로 Hook-Value-CTA 구조의 대본 3안 작성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09905" y="3168833"/>
              <a:ext cx="5705856" cy="9144"/>
            </a:xfrm>
            <a:prstGeom prst="rect">
              <a:avLst/>
            </a:prstGeom>
            <a:solidFill>
              <a:srgbClr val="FF6908">
                <a:alpha val="4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609905" y="3347618"/>
              <a:ext cx="582015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제작 단계 (수 / 목)</a:t>
              </a:r>
              <a:endParaRPr lang="en-US" sz="18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609905" y="3739896"/>
              <a:ext cx="5781751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수요일 (</a:t>
              </a:r>
              <a:r>
                <a:rPr lang="en-US" sz="1400" b="1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스토리보드</a:t>
              </a: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최적의 대본 1개를 선택하여 6프레임 스토리보드 구체화</a:t>
              </a:r>
              <a:endParaRPr lang="en-US" sz="1400" dirty="0"/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목요일 (촬영/</a:t>
              </a:r>
              <a:r>
                <a:rPr lang="en-US" sz="1400" b="1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편집</a:t>
              </a: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B-roll 촬영 및 컷 편집, AI 툴을 활용한 자막 생성 완료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09905" y="4457223"/>
              <a:ext cx="5705856" cy="9144"/>
            </a:xfrm>
            <a:prstGeom prst="rect">
              <a:avLst/>
            </a:prstGeom>
            <a:solidFill>
              <a:srgbClr val="FF6908">
                <a:alpha val="4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09905" y="4635094"/>
              <a:ext cx="582015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F690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배포 및 분석 (금 / 토 / 일)</a:t>
              </a:r>
              <a:endParaRPr lang="en-US" sz="18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09905" y="5027371"/>
              <a:ext cx="5781751" cy="64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금요일</a:t>
              </a: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업로드 및 초기 1시간 반응 모니터링 (댓글 유도)</a:t>
              </a:r>
              <a:endParaRPr lang="en-US" sz="1400" dirty="0"/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토요일</a:t>
              </a: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데이터 분석 (조회수, 완시율 체크)</a:t>
              </a:r>
              <a:endParaRPr lang="en-US" sz="1400" dirty="0"/>
            </a:p>
            <a:p>
              <a:pPr marL="0" indent="0" algn="l">
                <a:lnSpc>
                  <a:spcPct val="150000"/>
                </a:lnSpc>
                <a:buNone/>
              </a:pPr>
              <a:r>
                <a:rPr lang="en-US" sz="1400" b="1" dirty="0" err="1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일요일</a:t>
              </a:r>
              <a:r>
                <a:rPr lang="en-US" sz="1400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성과 저조 시 썸네일/캡션을 변형하여 리퍼포징 계획</a:t>
              </a:r>
              <a:endParaRPr lang="en-US" sz="14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6925665" y="1660122"/>
            <a:ext cx="4667098" cy="4772254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92100" dist="1016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17336" r="17336"/>
          <a:stretch/>
        </p:blipFill>
        <p:spPr>
          <a:xfrm>
            <a:off x="6925665" y="1380345"/>
            <a:ext cx="4667098" cy="4772254"/>
          </a:xfrm>
          <a:prstGeom prst="rect">
            <a:avLst/>
          </a:prstGeom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08E83C5A-2C13-587D-2C0F-1FCFFD377FC3}"/>
              </a:ext>
            </a:extLst>
          </p:cNvPr>
          <p:cNvSpPr/>
          <p:nvPr/>
        </p:nvSpPr>
        <p:spPr>
          <a:xfrm>
            <a:off x="10629747" y="5429707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92AD1C4-4941-AFA9-F313-B474DC56D525}"/>
              </a:ext>
            </a:extLst>
          </p:cNvPr>
          <p:cNvSpPr txBox="1"/>
          <p:nvPr/>
        </p:nvSpPr>
        <p:spPr>
          <a:xfrm>
            <a:off x="10948873" y="5645048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2BA46A89-0235-6043-2555-8C7A4A9C657A}"/>
              </a:ext>
            </a:extLst>
          </p:cNvPr>
          <p:cNvSpPr/>
          <p:nvPr/>
        </p:nvSpPr>
        <p:spPr>
          <a:xfrm>
            <a:off x="-718304" y="-1422019"/>
            <a:ext cx="4063847" cy="4063847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1FDE013-AD33-2AFD-B25A-7331A623021F}"/>
              </a:ext>
            </a:extLst>
          </p:cNvPr>
          <p:cNvSpPr/>
          <p:nvPr/>
        </p:nvSpPr>
        <p:spPr>
          <a:xfrm>
            <a:off x="6315761" y="996134"/>
            <a:ext cx="1310973" cy="1310973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2C11E0E9-86C7-7CBA-10D5-255758BE90A3}"/>
              </a:ext>
            </a:extLst>
          </p:cNvPr>
          <p:cNvSpPr/>
          <p:nvPr/>
        </p:nvSpPr>
        <p:spPr>
          <a:xfrm>
            <a:off x="1250275" y="5091632"/>
            <a:ext cx="1310973" cy="1310973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09905" y="457200"/>
            <a:ext cx="3864254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112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Q&amp;A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12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및 마무리</a:t>
            </a:r>
            <a:endParaRPr lang="en-US" sz="4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6236" r="26236"/>
          <a:stretch/>
        </p:blipFill>
        <p:spPr>
          <a:xfrm>
            <a:off x="649856" y="1935785"/>
            <a:ext cx="3715207" cy="44668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08169" y="1009498"/>
            <a:ext cx="6581851" cy="19202"/>
          </a:xfrm>
          <a:prstGeom prst="rect">
            <a:avLst/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008169" y="457200"/>
            <a:ext cx="1143000" cy="400507"/>
          </a:xfrm>
          <a:prstGeom prst="roundRect">
            <a:avLst>
              <a:gd name="adj" fmla="val 108719"/>
            </a:avLst>
          </a:prstGeom>
          <a:solidFill>
            <a:srgbClr val="FF690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159958" y="514807"/>
            <a:ext cx="10223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6297473" y="543154"/>
            <a:ext cx="44140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리스트 (워크플로우 순서) — 무료 범위는 각 공식 페이지 참조(2026-10 기준)</a:t>
            </a:r>
            <a:r>
              <a:rPr lang="en-US" sz="16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600" b="1" dirty="0"/>
          </a:p>
        </p:txBody>
      </p:sp>
      <p:sp>
        <p:nvSpPr>
          <p:cNvPr id="10" name="Shape 7"/>
          <p:cNvSpPr/>
          <p:nvPr/>
        </p:nvSpPr>
        <p:spPr>
          <a:xfrm>
            <a:off x="5008169" y="1257300"/>
            <a:ext cx="3200400" cy="1867205"/>
          </a:xfrm>
          <a:prstGeom prst="roundRect">
            <a:avLst>
              <a:gd name="adj" fmla="val 3998"/>
            </a:avLst>
          </a:prstGeom>
          <a:solidFill>
            <a:srgbClr val="F8F9F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207508" y="145755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275174" y="1495044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27218" y="1481329"/>
            <a:ext cx="1426757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&amp; 대본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07508" y="1876349"/>
            <a:ext cx="2800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949470" y="2220920"/>
            <a:ext cx="2302340" cy="377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ChatGPT, Notion AI</a:t>
            </a:r>
            <a:endParaRPr lang="en-US" sz="1200" b="1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49748" y="2284623"/>
            <a:ext cx="240109" cy="24010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390534" y="1257300"/>
            <a:ext cx="3200400" cy="1867205"/>
          </a:xfrm>
          <a:prstGeom prst="roundRect">
            <a:avLst>
              <a:gd name="adj" fmla="val 3998"/>
            </a:avLst>
          </a:prstGeom>
          <a:solidFill>
            <a:srgbClr val="F8F9F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589874" y="145755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8657539" y="1495044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009582" y="1481329"/>
            <a:ext cx="1671241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&amp; 소스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589874" y="1876349"/>
            <a:ext cx="2800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9331835" y="2220920"/>
            <a:ext cx="2857200" cy="377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Canva, Figma, Unsplash</a:t>
            </a:r>
            <a:endParaRPr lang="en-US" sz="1200" b="1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32114" y="2284623"/>
            <a:ext cx="240109" cy="24010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008169" y="3310128"/>
            <a:ext cx="3200400" cy="1867205"/>
          </a:xfrm>
          <a:prstGeom prst="roundRect">
            <a:avLst>
              <a:gd name="adj" fmla="val 3998"/>
            </a:avLst>
          </a:prstGeom>
          <a:solidFill>
            <a:srgbClr val="F8F9F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207508" y="351038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275174" y="3547872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627218" y="3534157"/>
            <a:ext cx="1426757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&amp; 편집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207508" y="3929177"/>
            <a:ext cx="2800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5968672" y="4273748"/>
            <a:ext cx="1545587" cy="377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Vrew, CapCut</a:t>
            </a:r>
            <a:endParaRPr lang="en-US" sz="1200" b="1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5549748" y="4337452"/>
            <a:ext cx="274645" cy="24010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390534" y="3310128"/>
            <a:ext cx="3200400" cy="1867205"/>
          </a:xfrm>
          <a:prstGeom prst="roundRect">
            <a:avLst>
              <a:gd name="adj" fmla="val 3998"/>
            </a:avLst>
          </a:prstGeom>
          <a:solidFill>
            <a:srgbClr val="F8F9F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8589874" y="3510382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8657539" y="3547872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009582" y="3534157"/>
            <a:ext cx="1671241" cy="231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 &amp; 글로벌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8589874" y="3929177"/>
            <a:ext cx="2800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9331835" y="4273748"/>
            <a:ext cx="1783578" cy="377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DeepL, Whisper</a:t>
            </a:r>
            <a:endParaRPr lang="en-US" sz="1200" b="1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32114" y="4337451"/>
            <a:ext cx="240109" cy="240109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08169" y="5477256"/>
            <a:ext cx="6581851" cy="923544"/>
          </a:xfrm>
          <a:prstGeom prst="roundRect">
            <a:avLst>
              <a:gd name="adj" fmla="val 20414"/>
            </a:avLst>
          </a:prstGeom>
          <a:solidFill>
            <a:srgbClr val="FFF9F5"/>
          </a:solidFill>
          <a:ln w="12700">
            <a:solidFill>
              <a:srgbClr val="FF690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8927069" y="5733997"/>
            <a:ext cx="2348398" cy="157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궁금한 점은 언제든 문의주세요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8687776" y="5984045"/>
            <a:ext cx="2587690" cy="20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aebon@dreamitbiz.com</a:t>
            </a:r>
            <a:endParaRPr lang="en-US" sz="16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211B5C93-A727-9752-12E0-50132F62F5A9}"/>
              </a:ext>
            </a:extLst>
          </p:cNvPr>
          <p:cNvSpPr txBox="1"/>
          <p:nvPr/>
        </p:nvSpPr>
        <p:spPr>
          <a:xfrm>
            <a:off x="10826756" y="523493"/>
            <a:ext cx="1266444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dirty="0">
                <a:solidFill>
                  <a:srgbClr val="FF6908">
                    <a:alpha val="2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75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D505ED3-F12B-65BF-55C5-9EDA4E7B1C3E}"/>
              </a:ext>
            </a:extLst>
          </p:cNvPr>
          <p:cNvSpPr/>
          <p:nvPr/>
        </p:nvSpPr>
        <p:spPr>
          <a:xfrm>
            <a:off x="0" y="-452657"/>
            <a:ext cx="4801270" cy="4801270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EFF9B6C-E0D0-651B-7DC2-A681B802E3CC}"/>
              </a:ext>
            </a:extLst>
          </p:cNvPr>
          <p:cNvSpPr/>
          <p:nvPr/>
        </p:nvSpPr>
        <p:spPr>
          <a:xfrm>
            <a:off x="-558828" y="-409194"/>
            <a:ext cx="1904695" cy="1904695"/>
          </a:xfrm>
          <a:prstGeom prst="ellipse">
            <a:avLst/>
          </a:prstGeom>
          <a:solidFill>
            <a:srgbClr val="FF690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2186</Words>
  <Application>Microsoft Office PowerPoint</Application>
  <PresentationFormat>와이드스크린</PresentationFormat>
  <Paragraphs>402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Noto Sans KR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9</cp:revision>
  <dcterms:created xsi:type="dcterms:W3CDTF">2026-01-27T14:32:06Z</dcterms:created>
  <dcterms:modified xsi:type="dcterms:W3CDTF">2026-01-29T00:22:52Z</dcterms:modified>
</cp:coreProperties>
</file>