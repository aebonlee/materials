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70" r:id="rId12"/>
    <p:sldId id="271" r:id="rId22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3"/>
    <p:sldId id="267" r:id="rId14"/>
    <p:sldId id="268" r:id="rId15"/>
    <p:sldId id="269" r:id="rId16"/>
    <p:sldId id="272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587" y="8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5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062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9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microsoft.com/office/2007/relationships/hdphoto" Target="../media/hdphoto1.wdp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44.png"/><Relationship Id="rId10" Type="http://schemas.openxmlformats.org/officeDocument/2006/relationships/image" Target="../media/image4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476695" y="-3810305"/>
            <a:ext cx="7619695" cy="7619695"/>
          </a:xfrm>
          <a:prstGeom prst="ellipse">
            <a:avLst/>
          </a:prstGeom>
          <a:solidFill>
            <a:srgbClr val="0284C7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-952805" y="3047695"/>
            <a:ext cx="5715000" cy="5715000"/>
          </a:xfrm>
          <a:prstGeom prst="ellipse">
            <a:avLst/>
          </a:prstGeom>
          <a:solidFill>
            <a:srgbClr val="1E3A8A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287000" y="761695"/>
            <a:ext cx="1904695" cy="9144"/>
          </a:xfrm>
          <a:prstGeom prst="rect">
            <a:avLst/>
          </a:prstGeom>
          <a:solidFill>
            <a:srgbClr val="38BDF8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0277856" y="761695"/>
            <a:ext cx="9144" cy="571500"/>
          </a:xfrm>
          <a:prstGeom prst="rect">
            <a:avLst/>
          </a:prstGeom>
          <a:solidFill>
            <a:srgbClr val="38BDF8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0253909" y="1314907"/>
            <a:ext cx="52293" cy="52293"/>
          </a:xfrm>
          <a:prstGeom prst="ellipse">
            <a:avLst/>
          </a:prstGeom>
          <a:solidFill>
            <a:srgbClr val="38BDF8">
              <a:alpha val="6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2700" dir="16200000" algn="bl" rotWithShape="0">
              <a:srgbClr val="38BDF8">
                <a:alpha val="8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0" y="6086246"/>
            <a:ext cx="1429207" cy="9144"/>
          </a:xfrm>
          <a:prstGeom prst="rect">
            <a:avLst/>
          </a:prstGeom>
          <a:solidFill>
            <a:srgbClr val="38BDF8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429207" y="5715000"/>
            <a:ext cx="9144" cy="381305"/>
          </a:xfrm>
          <a:prstGeom prst="rect">
            <a:avLst/>
          </a:prstGeom>
          <a:solidFill>
            <a:srgbClr val="38BDF8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429207" y="6467551"/>
            <a:ext cx="381305" cy="9144"/>
          </a:xfrm>
          <a:prstGeom prst="rect">
            <a:avLst/>
          </a:prstGeom>
          <a:solidFill>
            <a:srgbClr val="38BDF8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790395" y="6439205"/>
            <a:ext cx="57607" cy="57607"/>
          </a:xfrm>
          <a:prstGeom prst="ellipse">
            <a:avLst/>
          </a:prstGeom>
          <a:solidFill>
            <a:srgbClr val="38BDF8">
              <a:alpha val="6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2700" dir="16200000" algn="bl" rotWithShape="0">
              <a:srgbClr val="38BDF8">
                <a:alpha val="8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860036" y="1037844"/>
            <a:ext cx="2476195" cy="437998"/>
          </a:xfrm>
          <a:prstGeom prst="roundRect">
            <a:avLst>
              <a:gd name="adj" fmla="val 208768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60290" y="1181405"/>
            <a:ext cx="152705" cy="15270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307178" y="1037844"/>
            <a:ext cx="21424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대상 SW기초·교양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078784" y="4008729"/>
            <a:ext cx="603412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분해 · 패턴 · 추상화 · 알고리즘</a:t>
            </a: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활용한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체계적인 문제 해결과 과제 수행 프로세스</a:t>
            </a:r>
            <a:endParaRPr lang="en-US" sz="180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53A26BAD-A453-EF95-80B7-1AF9A4A03F88}"/>
              </a:ext>
            </a:extLst>
          </p:cNvPr>
          <p:cNvGrpSpPr/>
          <p:nvPr/>
        </p:nvGrpSpPr>
        <p:grpSpPr>
          <a:xfrm>
            <a:off x="970684" y="5125211"/>
            <a:ext cx="3008378" cy="780898"/>
            <a:chOff x="2867557" y="5467198"/>
            <a:chExt cx="3008378" cy="780898"/>
          </a:xfrm>
        </p:grpSpPr>
        <p:sp>
          <p:nvSpPr>
            <p:cNvPr id="17" name="Shape 14"/>
            <p:cNvSpPr/>
            <p:nvPr/>
          </p:nvSpPr>
          <p:spPr>
            <a:xfrm>
              <a:off x="2867557" y="5467198"/>
              <a:ext cx="2847443" cy="780898"/>
            </a:xfrm>
            <a:prstGeom prst="roundRect">
              <a:avLst>
                <a:gd name="adj" fmla="val 22848"/>
              </a:avLst>
            </a:prstGeom>
            <a:solidFill>
              <a:srgbClr val="FFFFFF">
                <a:alpha val="3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Shape 15"/>
            <p:cNvSpPr/>
            <p:nvPr/>
          </p:nvSpPr>
          <p:spPr>
            <a:xfrm>
              <a:off x="3103474" y="5629046"/>
              <a:ext cx="457200" cy="45720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3217774" y="5743346"/>
              <a:ext cx="228600" cy="228600"/>
            </a:xfrm>
            <a:prstGeom prst="rect">
              <a:avLst/>
            </a:prstGeom>
          </p:spPr>
        </p:pic>
        <p:sp>
          <p:nvSpPr>
            <p:cNvPr id="20" name="Text 16"/>
            <p:cNvSpPr txBox="1"/>
            <p:nvPr/>
          </p:nvSpPr>
          <p:spPr>
            <a:xfrm>
              <a:off x="3750869" y="5629046"/>
              <a:ext cx="1648663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kern="0" spc="45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Key Objectives</a:t>
              </a:r>
              <a:endParaRPr lang="en-US" sz="900" dirty="0"/>
            </a:p>
          </p:txBody>
        </p:sp>
        <p:sp>
          <p:nvSpPr>
            <p:cNvPr id="21" name="Text 17"/>
            <p:cNvSpPr txBox="1"/>
            <p:nvPr/>
          </p:nvSpPr>
          <p:spPr>
            <a:xfrm>
              <a:off x="3750869" y="5820156"/>
              <a:ext cx="2125066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정의 · 의미 · 핵심요소</a:t>
              </a:r>
              <a:endParaRPr lang="en-US" sz="1300" dirty="0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2540E312-1B17-D724-6163-7696D660FD4A}"/>
              </a:ext>
            </a:extLst>
          </p:cNvPr>
          <p:cNvGrpSpPr/>
          <p:nvPr/>
        </p:nvGrpSpPr>
        <p:grpSpPr>
          <a:xfrm>
            <a:off x="9578121" y="1276173"/>
            <a:ext cx="2143792" cy="708864"/>
            <a:chOff x="7697215" y="5429707"/>
            <a:chExt cx="2361642" cy="780898"/>
          </a:xfrm>
        </p:grpSpPr>
        <p:sp>
          <p:nvSpPr>
            <p:cNvPr id="22" name="Shape 18"/>
            <p:cNvSpPr/>
            <p:nvPr/>
          </p:nvSpPr>
          <p:spPr>
            <a:xfrm>
              <a:off x="7697215" y="5429707"/>
              <a:ext cx="2210817" cy="780898"/>
            </a:xfrm>
            <a:prstGeom prst="roundRect">
              <a:avLst>
                <a:gd name="adj" fmla="val 22848"/>
              </a:avLst>
            </a:prstGeom>
            <a:solidFill>
              <a:srgbClr val="FFFFFF">
                <a:alpha val="3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Shape 19"/>
            <p:cNvSpPr/>
            <p:nvPr/>
          </p:nvSpPr>
          <p:spPr>
            <a:xfrm>
              <a:off x="7911846" y="5591555"/>
              <a:ext cx="457200" cy="45720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4" name="Image 2" descr="preencoded.png"/>
            <p:cNvPicPr>
              <a:picLocks noChangeAspect="1"/>
            </p:cNvPicPr>
            <p:nvPr/>
          </p:nvPicPr>
          <p:blipFill>
            <a:blip r:embed="rId5"/>
            <a:srcRect l="-57" r="-57"/>
            <a:stretch/>
          </p:blipFill>
          <p:spPr>
            <a:xfrm>
              <a:off x="8039862" y="5705855"/>
              <a:ext cx="200254" cy="228600"/>
            </a:xfrm>
            <a:prstGeom prst="rect">
              <a:avLst/>
            </a:prstGeom>
          </p:spPr>
        </p:pic>
        <p:sp>
          <p:nvSpPr>
            <p:cNvPr id="25" name="Text 20"/>
            <p:cNvSpPr txBox="1"/>
            <p:nvPr/>
          </p:nvSpPr>
          <p:spPr>
            <a:xfrm>
              <a:off x="8559241" y="5591555"/>
              <a:ext cx="1276502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kern="0" spc="45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Target Audience</a:t>
              </a:r>
              <a:endParaRPr lang="en-US" sz="900" dirty="0"/>
            </a:p>
          </p:txBody>
        </p:sp>
        <p:sp>
          <p:nvSpPr>
            <p:cNvPr id="26" name="Text 21"/>
            <p:cNvSpPr txBox="1"/>
            <p:nvPr/>
          </p:nvSpPr>
          <p:spPr>
            <a:xfrm>
              <a:off x="8559241" y="5782665"/>
              <a:ext cx="1499616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대학생 및 입문자</a:t>
              </a:r>
              <a:endParaRPr lang="en-US" sz="1300" dirty="0"/>
            </a:p>
          </p:txBody>
        </p:sp>
      </p:grpSp>
      <p:sp>
        <p:nvSpPr>
          <p:cNvPr id="27" name="Text 22"/>
          <p:cNvSpPr txBox="1"/>
          <p:nvPr/>
        </p:nvSpPr>
        <p:spPr>
          <a:xfrm>
            <a:off x="743407" y="485546"/>
            <a:ext cx="249448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Creative Convergence SW Basics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10317175" y="457200"/>
            <a:ext cx="1266444" cy="247802"/>
          </a:xfrm>
          <a:prstGeom prst="roundRect">
            <a:avLst>
              <a:gd name="adj" fmla="val 369004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 l="-1911" r="-1911"/>
          <a:stretch/>
        </p:blipFill>
        <p:spPr>
          <a:xfrm>
            <a:off x="10440619" y="523951"/>
            <a:ext cx="133502" cy="1143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10650017" y="495605"/>
            <a:ext cx="96377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Master Lecture</a:t>
            </a:r>
            <a:endParaRPr lang="en-US" sz="900" dirty="0"/>
          </a:p>
        </p:txBody>
      </p:sp>
      <p:sp>
        <p:nvSpPr>
          <p:cNvPr id="31" name="Text 25"/>
          <p:cNvSpPr txBox="1"/>
          <p:nvPr/>
        </p:nvSpPr>
        <p:spPr>
          <a:xfrm>
            <a:off x="2774290" y="1781251"/>
            <a:ext cx="6648602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-13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컴퓨터사고력으로</a:t>
            </a:r>
            <a:endParaRPr lang="en-US" sz="5400" dirty="0"/>
          </a:p>
        </p:txBody>
      </p:sp>
      <p:sp>
        <p:nvSpPr>
          <p:cNvPr id="32" name="Text 26"/>
          <p:cNvSpPr txBox="1"/>
          <p:nvPr/>
        </p:nvSpPr>
        <p:spPr>
          <a:xfrm>
            <a:off x="3361334" y="2714854"/>
            <a:ext cx="5474513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-135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설계하기</a:t>
            </a:r>
            <a:endParaRPr lang="en-US" sz="5400" dirty="0"/>
          </a:p>
        </p:txBody>
      </p:sp>
      <p:sp>
        <p:nvSpPr>
          <p:cNvPr id="33" name="Shape 27"/>
          <p:cNvSpPr/>
          <p:nvPr/>
        </p:nvSpPr>
        <p:spPr>
          <a:xfrm>
            <a:off x="3259836" y="1552651"/>
            <a:ext cx="304495" cy="1920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8"/>
          <p:cNvSpPr/>
          <p:nvPr/>
        </p:nvSpPr>
        <p:spPr>
          <a:xfrm>
            <a:off x="3259836" y="1552651"/>
            <a:ext cx="19202" cy="304495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9"/>
          <p:cNvSpPr/>
          <p:nvPr/>
        </p:nvSpPr>
        <p:spPr>
          <a:xfrm>
            <a:off x="8627364" y="3781044"/>
            <a:ext cx="304495" cy="1920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8912657" y="3495751"/>
            <a:ext cx="19202" cy="304495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5">
            <a:extLst>
              <a:ext uri="{FF2B5EF4-FFF2-40B4-BE49-F238E27FC236}">
                <a16:creationId xmlns:a16="http://schemas.microsoft.com/office/drawing/2014/main" id="{0D60F20F-A98A-FFD5-B287-9072C7EB7E8C}"/>
              </a:ext>
            </a:extLst>
          </p:cNvPr>
          <p:cNvSpPr/>
          <p:nvPr/>
        </p:nvSpPr>
        <p:spPr>
          <a:xfrm>
            <a:off x="7769653" y="5768721"/>
            <a:ext cx="381305" cy="381305"/>
          </a:xfrm>
          <a:prstGeom prst="ellipse">
            <a:avLst/>
          </a:prstGeom>
          <a:solidFill>
            <a:schemeClr val="bg1">
              <a:alpha val="10000"/>
            </a:scheme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2" descr="preencoded.png">
            <a:extLst>
              <a:ext uri="{FF2B5EF4-FFF2-40B4-BE49-F238E27FC236}">
                <a16:creationId xmlns:a16="http://schemas.microsoft.com/office/drawing/2014/main" id="{1A94DB76-6755-8F9D-F781-8AF8E27C51E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064" r="-1064"/>
          <a:stretch/>
        </p:blipFill>
        <p:spPr>
          <a:xfrm>
            <a:off x="7850121" y="5873877"/>
            <a:ext cx="219456" cy="171907"/>
          </a:xfrm>
          <a:prstGeom prst="rect">
            <a:avLst/>
          </a:prstGeom>
        </p:spPr>
      </p:pic>
      <p:sp>
        <p:nvSpPr>
          <p:cNvPr id="41" name="Text 11">
            <a:extLst>
              <a:ext uri="{FF2B5EF4-FFF2-40B4-BE49-F238E27FC236}">
                <a16:creationId xmlns:a16="http://schemas.microsoft.com/office/drawing/2014/main" id="{D1230525-5B25-152C-0F6C-8724E4737F45}"/>
              </a:ext>
            </a:extLst>
          </p:cNvPr>
          <p:cNvSpPr txBox="1"/>
          <p:nvPr/>
        </p:nvSpPr>
        <p:spPr>
          <a:xfrm>
            <a:off x="8303660" y="5724373"/>
            <a:ext cx="3638397" cy="366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이애본</a:t>
            </a:r>
            <a:b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드림아이티비즈(DreamIT Biz)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/>
            </a:r>
            <a:b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hlinkClick r:id="rId8"/>
              </a:rPr>
              <a:t>aebon@dreamitbiz.com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5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609905" y="609905"/>
            <a:ext cx="16669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952805"/>
            <a:ext cx="112782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도입: 왜 컴퓨터사고력인가?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386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609905" y="2095805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838505" y="1981505"/>
            <a:ext cx="1093531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소프트웨어 교육의 본질은 단순 코딩이 아닌 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'문제 해결을 위한 사고력 중심 교육'</a:t>
            </a: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562149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838505" y="2447849"/>
            <a:ext cx="1093531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미래 사회가 요구하는 컴퓨팅 사고력을 가진 창의·융합 인재양성을 목표로 합니다.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029407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838505" y="2915107"/>
            <a:ext cx="1093531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일상의 복잡한 문제들을 컴퓨팅 관점에서 재정의하고, 효율적인 해결 절차를 설계합니다.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4515307"/>
            <a:ext cx="10972800" cy="1580998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09905" y="4515307"/>
            <a:ext cx="57607" cy="158099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 t="-530" b="-530"/>
          <a:stretch/>
        </p:blipFill>
        <p:spPr>
          <a:xfrm>
            <a:off x="895198" y="4743907"/>
            <a:ext cx="247802" cy="286207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71600" y="4743907"/>
            <a:ext cx="9925202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"컴퓨팅 사고력이란, 컴퓨팅의 기본적인 개념과 원리를 기반으로</a:t>
            </a:r>
            <a:endParaRPr lang="en-US" sz="1800" dirty="0"/>
          </a:p>
          <a:p>
            <a:pPr marL="0" indent="0" algn="l">
              <a:buNone/>
            </a:pPr>
            <a:r>
              <a:rPr lang="en-US" sz="1800" i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                                           </a:t>
            </a:r>
            <a:r>
              <a:rPr lang="en-US" sz="1800" i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문제를</a:t>
            </a:r>
            <a:r>
              <a:rPr lang="en-US" sz="1800" i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효율적으로 해결할 수 있는 사고 능력을 말한다."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093804" y="5601156"/>
            <a:ext cx="61246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창의융합SW기초 교재개발 (이애본, 2020)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10211105" y="761695"/>
            <a:ext cx="1218895" cy="1218895"/>
          </a:xfrm>
          <a:prstGeom prst="roundRect">
            <a:avLst>
              <a:gd name="adj" fmla="val 75019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609905" y="609905"/>
            <a:ext cx="14484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Definitions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952805"/>
            <a:ext cx="112782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컴퓨팅 사고력 정의 모음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56179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BBE675F4-4EDF-4E2A-BCBB-C2B814B59F6C}"/>
              </a:ext>
            </a:extLst>
          </p:cNvPr>
          <p:cNvGrpSpPr/>
          <p:nvPr/>
        </p:nvGrpSpPr>
        <p:grpSpPr>
          <a:xfrm>
            <a:off x="609905" y="1828800"/>
            <a:ext cx="10972800" cy="2877312"/>
            <a:chOff x="609905" y="1828800"/>
            <a:chExt cx="10972800" cy="2152498"/>
          </a:xfrm>
        </p:grpSpPr>
        <p:sp>
          <p:nvSpPr>
            <p:cNvPr id="7" name="Shape 5"/>
            <p:cNvSpPr/>
            <p:nvPr/>
          </p:nvSpPr>
          <p:spPr>
            <a:xfrm>
              <a:off x="609905" y="1828800"/>
              <a:ext cx="10972800" cy="1000354"/>
            </a:xfrm>
            <a:prstGeom prst="rect">
              <a:avLst/>
            </a:prstGeom>
            <a:solidFill>
              <a:srgbClr val="38BDF8">
                <a:alpha val="8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828800"/>
              <a:ext cx="57607" cy="1000354"/>
            </a:xfrm>
            <a:prstGeom prst="rect">
              <a:avLst/>
            </a:prstGeom>
            <a:solidFill>
              <a:srgbClr val="38BDF8"/>
            </a:solidFill>
            <a:ln w="12700">
              <a:solidFill>
                <a:srgbClr val="38BDF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preencoded.png"/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rcRect l="-57" r="-57"/>
            <a:stretch/>
          </p:blipFill>
          <p:spPr>
            <a:xfrm>
              <a:off x="857707" y="2057400"/>
              <a:ext cx="200254" cy="228600"/>
            </a:xfrm>
            <a:prstGeom prst="rect">
              <a:avLst/>
            </a:prstGeom>
          </p:spPr>
        </p:pic>
        <p:sp>
          <p:nvSpPr>
            <p:cNvPr id="10" name="Text 7"/>
            <p:cNvSpPr txBox="1"/>
            <p:nvPr/>
          </p:nvSpPr>
          <p:spPr>
            <a:xfrm>
              <a:off x="1248156" y="2018995"/>
              <a:ext cx="7810805" cy="6199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i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"컴퓨터(사람이나 기계)가 효과적으로 수행할 수 있도록</a:t>
              </a:r>
              <a:endParaRPr lang="en-US" dirty="0"/>
            </a:p>
            <a:p>
              <a:pPr marL="0" indent="0" algn="l">
                <a:buNone/>
              </a:pPr>
              <a:r>
                <a:rPr lang="en-US" b="1" i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문제를 정의하고 그에 대한 답을 기술</a:t>
              </a:r>
              <a:r>
                <a:rPr lang="en-US" i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하는 것이 포함된 사고 과정 일체" (Wing, 2010)</a:t>
              </a:r>
              <a:endParaRPr lang="en-US" dirty="0"/>
            </a:p>
          </p:txBody>
        </p:sp>
        <p:sp>
          <p:nvSpPr>
            <p:cNvPr id="11" name="Shape 8"/>
            <p:cNvSpPr/>
            <p:nvPr/>
          </p:nvSpPr>
          <p:spPr>
            <a:xfrm>
              <a:off x="609905" y="2980944"/>
              <a:ext cx="10972800" cy="1000354"/>
            </a:xfrm>
            <a:prstGeom prst="rect">
              <a:avLst/>
            </a:prstGeom>
            <a:solidFill>
              <a:srgbClr val="38BDF8">
                <a:alpha val="8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9"/>
            <p:cNvSpPr/>
            <p:nvPr/>
          </p:nvSpPr>
          <p:spPr>
            <a:xfrm>
              <a:off x="609905" y="2980944"/>
              <a:ext cx="57607" cy="1000354"/>
            </a:xfrm>
            <a:prstGeom prst="rect">
              <a:avLst/>
            </a:prstGeom>
            <a:solidFill>
              <a:srgbClr val="38BDF8"/>
            </a:solidFill>
            <a:ln w="12700">
              <a:solidFill>
                <a:srgbClr val="38BDF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preencoded.png"/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rcRect l="-57" r="-57"/>
            <a:stretch/>
          </p:blipFill>
          <p:spPr>
            <a:xfrm>
              <a:off x="857707" y="3209544"/>
              <a:ext cx="200254" cy="228600"/>
            </a:xfrm>
            <a:prstGeom prst="rect">
              <a:avLst/>
            </a:prstGeom>
          </p:spPr>
        </p:pic>
        <p:sp>
          <p:nvSpPr>
            <p:cNvPr id="14" name="Text 10"/>
            <p:cNvSpPr txBox="1"/>
            <p:nvPr/>
          </p:nvSpPr>
          <p:spPr>
            <a:xfrm>
              <a:off x="1248156" y="3172054"/>
              <a:ext cx="6667805" cy="6199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i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"문제를 컴퓨터로 풀 수 있는 형태로 세우는 정신 활동이며, 그 해법은</a:t>
              </a:r>
              <a:endParaRPr lang="en-US" dirty="0"/>
            </a:p>
            <a:p>
              <a:pPr marL="0" indent="0" algn="l">
                <a:buNone/>
              </a:pPr>
              <a:r>
                <a:rPr lang="en-US" b="1" i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사람이나 기계, 또는 둘이 함께 수행할 수 있다" (Wing, 2010)</a:t>
              </a:r>
              <a:endParaRPr lang="en-US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6F8E7AD4-A15C-C17A-958D-2E4EE9681889}"/>
              </a:ext>
            </a:extLst>
          </p:cNvPr>
          <p:cNvGrpSpPr/>
          <p:nvPr/>
        </p:nvGrpSpPr>
        <p:grpSpPr>
          <a:xfrm>
            <a:off x="569265" y="5152643"/>
            <a:ext cx="12441327" cy="1162203"/>
            <a:chOff x="609905" y="4134002"/>
            <a:chExt cx="12441327" cy="1162203"/>
          </a:xfrm>
        </p:grpSpPr>
        <p:sp>
          <p:nvSpPr>
            <p:cNvPr id="15" name="Shape 11"/>
            <p:cNvSpPr/>
            <p:nvPr/>
          </p:nvSpPr>
          <p:spPr>
            <a:xfrm>
              <a:off x="609905" y="4134002"/>
              <a:ext cx="19202" cy="1162202"/>
            </a:xfrm>
            <a:prstGeom prst="rect">
              <a:avLst/>
            </a:prstGeom>
            <a:solidFill>
              <a:srgbClr val="374151"/>
            </a:solidFill>
            <a:ln w="12700">
              <a:solidFill>
                <a:srgbClr val="37415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2"/>
            <p:cNvSpPr txBox="1"/>
            <p:nvPr/>
          </p:nvSpPr>
          <p:spPr>
            <a:xfrm>
              <a:off x="780898" y="4134002"/>
              <a:ext cx="10916107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kern="0" spc="105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KEY IMPLICATIONS</a:t>
              </a:r>
              <a:endParaRPr lang="en-US" sz="1000" dirty="0"/>
            </a:p>
          </p:txBody>
        </p:sp>
        <p:sp>
          <p:nvSpPr>
            <p:cNvPr id="17" name="Shape 13"/>
            <p:cNvSpPr/>
            <p:nvPr/>
          </p:nvSpPr>
          <p:spPr>
            <a:xfrm>
              <a:off x="780898" y="4552798"/>
              <a:ext cx="75895" cy="75895"/>
            </a:xfrm>
            <a:prstGeom prst="ellipse">
              <a:avLst/>
            </a:prstGeom>
            <a:solidFill>
              <a:srgbClr val="38BDF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4"/>
            <p:cNvSpPr txBox="1"/>
            <p:nvPr/>
          </p:nvSpPr>
          <p:spPr>
            <a:xfrm>
              <a:off x="1009498" y="4438498"/>
              <a:ext cx="12041734" cy="3721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dirty="0">
                  <a:solidFill>
                    <a:srgbClr val="E5E7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정답이 하나가 아닌 </a:t>
              </a:r>
              <a:r>
                <a:rPr lang="en-US" sz="18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열린 문제(Open-ended Problem)</a:t>
              </a:r>
              <a:r>
                <a:rPr lang="en-US" sz="1800" dirty="0">
                  <a:solidFill>
                    <a:srgbClr val="E5E7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에 대해 포괄적이고 유의미한 해답 도출을 지원합니다.</a:t>
              </a:r>
              <a:endParaRPr lang="en-US" sz="1800" dirty="0"/>
            </a:p>
          </p:txBody>
        </p:sp>
        <p:sp>
          <p:nvSpPr>
            <p:cNvPr id="19" name="Shape 15"/>
            <p:cNvSpPr/>
            <p:nvPr/>
          </p:nvSpPr>
          <p:spPr>
            <a:xfrm>
              <a:off x="780898" y="5038344"/>
              <a:ext cx="75895" cy="75895"/>
            </a:xfrm>
            <a:prstGeom prst="ellipse">
              <a:avLst/>
            </a:prstGeom>
            <a:solidFill>
              <a:srgbClr val="38BDF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6"/>
            <p:cNvSpPr txBox="1"/>
            <p:nvPr/>
          </p:nvSpPr>
          <p:spPr>
            <a:xfrm>
              <a:off x="1009498" y="4924044"/>
              <a:ext cx="10763402" cy="3721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dirty="0">
                  <a:solidFill>
                    <a:srgbClr val="E5E7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단순히 컴퓨터처럼 생각하는 것을 넘어, 문제 해결의 전 과정을 논리적으로 설계하는 역량입니다.</a:t>
              </a:r>
              <a:endParaRPr lang="en-US" sz="1800" dirty="0"/>
            </a:p>
          </p:txBody>
        </p:sp>
      </p:grpSp>
      <p:sp>
        <p:nvSpPr>
          <p:cNvPr id="21" name="Shape 17"/>
          <p:cNvSpPr/>
          <p:nvPr/>
        </p:nvSpPr>
        <p:spPr>
          <a:xfrm>
            <a:off x="10211105" y="761695"/>
            <a:ext cx="1218895" cy="1218895"/>
          </a:xfrm>
          <a:prstGeom prst="roundRect">
            <a:avLst>
              <a:gd name="adj" fmla="val 75019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0" y="6819595"/>
            <a:ext cx="12191695" cy="38405"/>
          </a:xfrm>
          <a:prstGeom prst="rect">
            <a:avLst/>
          </a:prstGeom>
          <a:solidFill>
            <a:srgbClr val="0C4A6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tage3 Note"/>
          <p:cNvSpPr txBox="1"/>
          <p:nvPr/>
        </p:nvSpPr>
        <p:spPr>
          <a:xfrm>
            <a:off x="571500" y="645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Wing, J. M. (2010). Computational thinking: What and why? Carnegie Mellon University. https://www.cs.cmu.edu/~CompThink/resources/TheLinkWing.pdf</a:t>
            </a:r>
          </a:p>
        </p:txBody>
      </p:sp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17721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Components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61695"/>
            <a:ext cx="115827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컴퓨팅 사고 핵심 구성요소 (1/2)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957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561795"/>
            <a:ext cx="5486400" cy="4410151"/>
          </a:xfrm>
          <a:prstGeom prst="roundRect">
            <a:avLst>
              <a:gd name="adj" fmla="val 7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66344" y="1571854"/>
            <a:ext cx="5467198" cy="809244"/>
          </a:xfrm>
          <a:prstGeom prst="roundRect">
            <a:avLst>
              <a:gd name="adj" fmla="val 21270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66344" y="2371954"/>
            <a:ext cx="54671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760" r="-760"/>
          <a:stretch/>
        </p:blipFill>
        <p:spPr>
          <a:xfrm>
            <a:off x="771754" y="1886407"/>
            <a:ext cx="152705" cy="17190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52144" y="1762049"/>
            <a:ext cx="206380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자료(Data) 처리 영역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" y="2029054"/>
            <a:ext cx="18105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 · 분석 · 표현</a:t>
            </a:r>
            <a:endParaRPr lang="en-US" sz="9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5556" y="2631949"/>
            <a:ext cx="105156" cy="1051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61695" y="2572207"/>
            <a:ext cx="39630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수집 (Collection)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61695" y="2876702"/>
            <a:ext cx="45802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해결에 필요한 적절한 자료를 다양한 경로로 모으는 과정</a:t>
            </a:r>
            <a:endParaRPr lang="en-US" sz="12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5556" y="3275687"/>
            <a:ext cx="105156" cy="1051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61695" y="3215945"/>
            <a:ext cx="3877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분석 (Analysis)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761695" y="3520440"/>
            <a:ext cx="45802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자료를 이해하고 관계를 파악하여 </a:t>
            </a:r>
            <a:r>
              <a:rPr lang="en-US" sz="1200" dirty="0">
                <a:solidFill>
                  <a:srgbClr val="7DD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패턴과 결론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도출</a:t>
            </a:r>
            <a:endParaRPr lang="en-US" sz="120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5556" y="3919424"/>
            <a:ext cx="105156" cy="10515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61695" y="3859682"/>
            <a:ext cx="39529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표현 (Representation)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761695" y="4164178"/>
            <a:ext cx="47631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결과를 표, 그래프, 다이어그램 등으로 </a:t>
            </a:r>
            <a:r>
              <a:rPr lang="en-US" sz="1200" dirty="0">
                <a:solidFill>
                  <a:srgbClr val="7DD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구조화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하여 가시화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6248095" y="1561795"/>
            <a:ext cx="5486400" cy="4410151"/>
          </a:xfrm>
          <a:prstGeom prst="roundRect">
            <a:avLst>
              <a:gd name="adj" fmla="val 7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6258154" y="1571854"/>
            <a:ext cx="5467198" cy="809244"/>
          </a:xfrm>
          <a:prstGeom prst="roundRect">
            <a:avLst>
              <a:gd name="adj" fmla="val 21270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6258154" y="2371954"/>
            <a:ext cx="54671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6448349" y="1781251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312E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rcRect t="-842" b="-842"/>
          <a:stretch/>
        </p:blipFill>
        <p:spPr>
          <a:xfrm>
            <a:off x="6543446" y="1886407"/>
            <a:ext cx="190195" cy="17190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943954" y="1762049"/>
            <a:ext cx="282275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분해 (Decomposition)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943954" y="2029054"/>
            <a:ext cx="256214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문제 → 작은 단위</a:t>
            </a:r>
            <a:endParaRPr lang="en-US" sz="90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78144" y="2652675"/>
            <a:ext cx="105156" cy="105156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553505" y="2572207"/>
            <a:ext cx="51535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개념</a:t>
            </a:r>
            <a:endParaRPr lang="en-US" sz="1300" dirty="0"/>
          </a:p>
        </p:txBody>
      </p:sp>
      <p:sp>
        <p:nvSpPr>
          <p:cNvPr id="31" name="Text 23"/>
          <p:cNvSpPr txBox="1"/>
          <p:nvPr/>
        </p:nvSpPr>
        <p:spPr>
          <a:xfrm>
            <a:off x="6553505" y="2876702"/>
            <a:ext cx="602498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 불가능해 보이는 큰 문제를 </a:t>
            </a:r>
            <a:r>
              <a:rPr lang="en-US" sz="1200" dirty="0">
                <a:solidFill>
                  <a:srgbClr val="A5B4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가능한 작은 단위(Module)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나누어 접근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6448349" y="3215945"/>
            <a:ext cx="5086807" cy="1181405"/>
          </a:xfrm>
          <a:prstGeom prst="roundRect">
            <a:avLst>
              <a:gd name="adj" fmla="val 4994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5"/>
          <p:cNvSpPr/>
          <p:nvPr/>
        </p:nvSpPr>
        <p:spPr>
          <a:xfrm>
            <a:off x="6448349" y="3215945"/>
            <a:ext cx="38405" cy="118140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7"/>
          <a:srcRect l="-2512" r="-2512"/>
          <a:stretch/>
        </p:blipFill>
        <p:spPr>
          <a:xfrm>
            <a:off x="6615684" y="3354934"/>
            <a:ext cx="105156" cy="133502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6796735" y="3344875"/>
            <a:ext cx="102504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실생활 적용 예시</a:t>
            </a:r>
            <a:endParaRPr lang="en-US" sz="900" dirty="0"/>
          </a:p>
        </p:txBody>
      </p:sp>
      <p:sp>
        <p:nvSpPr>
          <p:cNvPr id="36" name="Text 27"/>
          <p:cNvSpPr txBox="1"/>
          <p:nvPr/>
        </p:nvSpPr>
        <p:spPr>
          <a:xfrm>
            <a:off x="6615684" y="3535985"/>
            <a:ext cx="4981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"대학 행사(축제) 운영하기"</a:t>
            </a:r>
            <a:endParaRPr lang="en-US" sz="1200" dirty="0"/>
          </a:p>
        </p:txBody>
      </p:sp>
      <p:sp>
        <p:nvSpPr>
          <p:cNvPr id="37" name="Shape 28"/>
          <p:cNvSpPr/>
          <p:nvPr/>
        </p:nvSpPr>
        <p:spPr>
          <a:xfrm>
            <a:off x="6615684" y="3840480"/>
            <a:ext cx="19202" cy="418795"/>
          </a:xfrm>
          <a:prstGeom prst="rect">
            <a:avLst/>
          </a:prstGeom>
          <a:solidFill>
            <a:srgbClr val="4B5563"/>
          </a:solidFill>
          <a:ln w="12700">
            <a:solidFill>
              <a:srgbClr val="4B55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29"/>
          <p:cNvSpPr txBox="1"/>
          <p:nvPr/>
        </p:nvSpPr>
        <p:spPr>
          <a:xfrm>
            <a:off x="6711696" y="3840480"/>
            <a:ext cx="240761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기획/홍보</a:t>
            </a:r>
            <a:endParaRPr lang="en-US" sz="1000" dirty="0"/>
          </a:p>
        </p:txBody>
      </p:sp>
      <p:sp>
        <p:nvSpPr>
          <p:cNvPr id="39" name="Text 30"/>
          <p:cNvSpPr txBox="1"/>
          <p:nvPr/>
        </p:nvSpPr>
        <p:spPr>
          <a:xfrm>
            <a:off x="9096451" y="3840480"/>
            <a:ext cx="240761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예산/정산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6711696" y="4069080"/>
            <a:ext cx="240761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부스 설치</a:t>
            </a:r>
            <a:endParaRPr lang="en-US" sz="1000" dirty="0"/>
          </a:p>
        </p:txBody>
      </p:sp>
      <p:sp>
        <p:nvSpPr>
          <p:cNvPr id="41" name="Text 32"/>
          <p:cNvSpPr txBox="1"/>
          <p:nvPr/>
        </p:nvSpPr>
        <p:spPr>
          <a:xfrm>
            <a:off x="9096451" y="4069080"/>
            <a:ext cx="240761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안전 관리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353251" y="4503420"/>
            <a:ext cx="52770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"나누면 해결의 실마리가 보인다"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457200" y="6124651"/>
            <a:ext cx="11277295" cy="914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8">
            <a:alphaModFix amt="50000"/>
          </a:blip>
          <a:srcRect/>
          <a:stretch/>
        </p:blipFill>
        <p:spPr>
          <a:xfrm>
            <a:off x="457200" y="6267298"/>
            <a:ext cx="114300" cy="114300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647395" y="6238951"/>
            <a:ext cx="208940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>
                    <a:alpha val="5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창의융합SW기초 교재 발췌 및 재구성</a:t>
            </a:r>
            <a:endParaRPr lang="en-US" sz="9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33095" y="381305"/>
            <a:ext cx="1962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Components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33095" y="685800"/>
            <a:ext cx="114300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컴퓨팅 사고 핵심 구성요소 (2/2)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3095" y="121889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33095" y="1485900"/>
            <a:ext cx="5410505" cy="4562856"/>
          </a:xfrm>
          <a:prstGeom prst="roundRect">
            <a:avLst>
              <a:gd name="adj" fmla="val 66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43154" y="1495044"/>
            <a:ext cx="5391302" cy="809244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3154" y="2295144"/>
            <a:ext cx="5391302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5995" y="1809598"/>
            <a:ext cx="171907" cy="17190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66444" y="1686154"/>
            <a:ext cx="270936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사고 (Core Thinking)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66444" y="1952244"/>
            <a:ext cx="245882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 및 절차 설계</a:t>
            </a:r>
            <a:endParaRPr lang="en-US" sz="9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71754" y="2495398"/>
            <a:ext cx="105156" cy="1051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75995" y="2495398"/>
            <a:ext cx="4944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추상화 (Abstraction)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875995" y="2800807"/>
            <a:ext cx="71158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해결을 위해 </a:t>
            </a:r>
            <a:r>
              <a:rPr lang="en-US" sz="1200" dirty="0">
                <a:solidFill>
                  <a:srgbClr val="7DD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 세부 요소는 제거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하고,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요소만을 추출하여 단순화된 모델(Model)을 만드는 과정</a:t>
            </a:r>
            <a:endParaRPr lang="en-US" sz="12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71754" y="3600907"/>
            <a:ext cx="105156" cy="1051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75995" y="3600907"/>
            <a:ext cx="4944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알고리즘 (Algorithms)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75995" y="3905402"/>
            <a:ext cx="699424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나누어진 문제들을 해결하기 위한 </a:t>
            </a:r>
            <a:r>
              <a:rPr lang="en-US" sz="1200" dirty="0">
                <a:solidFill>
                  <a:srgbClr val="7DD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일련의 절차와 </a:t>
            </a:r>
            <a:r>
              <a:rPr lang="en-US" sz="1200" dirty="0" err="1">
                <a:solidFill>
                  <a:srgbClr val="7DD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</a:t>
            </a:r>
            <a:r>
              <a:rPr lang="en-US" sz="12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순서대로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명확하게 표현하는 단계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48095" y="1485900"/>
            <a:ext cx="5410505" cy="4562856"/>
          </a:xfrm>
          <a:prstGeom prst="roundRect">
            <a:avLst>
              <a:gd name="adj" fmla="val 66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6258154" y="1495044"/>
            <a:ext cx="5391302" cy="809244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6"/>
          <p:cNvSpPr/>
          <p:nvPr/>
        </p:nvSpPr>
        <p:spPr>
          <a:xfrm>
            <a:off x="6258154" y="2295144"/>
            <a:ext cx="5391302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6486754" y="1705356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312E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5"/>
          <a:srcRect l="-1064" r="-1064"/>
          <a:stretch/>
        </p:blipFill>
        <p:spPr>
          <a:xfrm>
            <a:off x="6567221" y="1809598"/>
            <a:ext cx="219456" cy="17190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81444" y="1686154"/>
            <a:ext cx="25054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및 확장 (Execution)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6981444" y="1952244"/>
            <a:ext cx="227411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컴퓨터/기계 활용 및 최적화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6486754" y="2495398"/>
            <a:ext cx="4934102" cy="91440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6486754" y="2495398"/>
            <a:ext cx="38405" cy="9144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6"/>
          <a:srcRect l="-1507" r="-1507"/>
          <a:stretch/>
        </p:blipFill>
        <p:spPr>
          <a:xfrm>
            <a:off x="6676949" y="2678278"/>
            <a:ext cx="171907" cy="13350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924751" y="2625242"/>
            <a:ext cx="18278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18C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자동화 (Automation)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6676949" y="2887675"/>
            <a:ext cx="6741871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설계된 알고리즘과 절차를 컴퓨터나 기계가 실행할 수 </a:t>
            </a: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있도록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코딩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등을 통해 자동 처리 시스템을 구축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486754" y="3515868"/>
            <a:ext cx="4934102" cy="91440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6486754" y="3515868"/>
            <a:ext cx="38405" cy="9144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6676949" y="3698748"/>
            <a:ext cx="171907" cy="13350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924751" y="3644798"/>
            <a:ext cx="210860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시뮬레이션 (Simulation)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6676949" y="3908146"/>
            <a:ext cx="665957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현실적으로 직접 실행하기 어렵거나 비용이 많이 드는 </a:t>
            </a: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문제를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환경에서 모의 실험하여 결과 예측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6486754" y="4535424"/>
            <a:ext cx="4934102" cy="91440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6486754" y="4535424"/>
            <a:ext cx="38405" cy="914400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6676949" y="4718304"/>
            <a:ext cx="171907" cy="13350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924751" y="4665269"/>
            <a:ext cx="20747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084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병렬화 (Parallelization)</a:t>
            </a:r>
            <a:endParaRPr lang="en-US" sz="1200" dirty="0"/>
          </a:p>
        </p:txBody>
      </p:sp>
      <p:sp>
        <p:nvSpPr>
          <p:cNvPr id="40" name="Text 31"/>
          <p:cNvSpPr txBox="1"/>
          <p:nvPr/>
        </p:nvSpPr>
        <p:spPr>
          <a:xfrm>
            <a:off x="6676949" y="4927702"/>
            <a:ext cx="6017666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목표에 효율적으로 도달하기 위해 여러 작업을 동시에 </a:t>
            </a: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실행하도록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자원과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프로세스를 조직화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33095" y="6124651"/>
            <a:ext cx="11125505" cy="914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9">
            <a:alphaModFix amt="50000"/>
          </a:blip>
          <a:srcRect/>
          <a:stretch/>
        </p:blipFill>
        <p:spPr>
          <a:xfrm>
            <a:off x="533095" y="6305702"/>
            <a:ext cx="152705" cy="152705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61695" y="6286500"/>
            <a:ext cx="24377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>
                    <a:alpha val="5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창의융합SW기초 교재 발췌 및 재구성</a:t>
            </a:r>
            <a:endParaRPr lang="en-US" sz="1000" dirty="0"/>
          </a:p>
        </p:txBody>
      </p:sp>
      <p:sp>
        <p:nvSpPr>
          <p:cNvPr id="44" name="Shape 34"/>
          <p:cNvSpPr/>
          <p:nvPr/>
        </p:nvSpPr>
        <p:spPr>
          <a:xfrm>
            <a:off x="9753905" y="4419295"/>
            <a:ext cx="2438705" cy="2438705"/>
          </a:xfrm>
          <a:prstGeom prst="roundRect">
            <a:avLst>
              <a:gd name="adj" fmla="val 37495"/>
            </a:avLst>
          </a:prstGeom>
          <a:solidFill>
            <a:srgbClr val="312E81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33095" y="533095"/>
            <a:ext cx="238749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Focus: Decomposition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33095" y="838505"/>
            <a:ext cx="113157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집중: 문제 분해 (Problem Decomposition)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3095" y="1371600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33095" y="1730045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761695" y="1638605"/>
            <a:ext cx="1108710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복잡하고 거대한 문제를 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 가능한 작은 단위(Sub-problems)</a:t>
            </a:r>
            <a:r>
              <a:rPr lang="en-US" sz="15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나누어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단계적으로 접근하는 핵심 사고 과정입니다.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33095" y="2905049"/>
            <a:ext cx="5372100" cy="91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533095" y="2562149"/>
            <a:ext cx="5563210" cy="26791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분해의 3단계 방법론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448202"/>
            <a:ext cx="19202" cy="3621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33095" y="3143707"/>
            <a:ext cx="304495" cy="3044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635508" y="3167482"/>
            <a:ext cx="1810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1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90295" y="3143707"/>
            <a:ext cx="47914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입출력·제약 조건 식별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90295" y="3429000"/>
            <a:ext cx="5287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무엇이 주어지고(Input), 무엇을 얻어야 하며(Output), 한계는 무엇인가?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153205"/>
            <a:ext cx="19202" cy="3621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33095" y="3847795"/>
            <a:ext cx="304495" cy="3044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635508" y="3871570"/>
            <a:ext cx="1810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1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90295" y="3847795"/>
            <a:ext cx="44293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구조적 분해 (WBS 활용)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90295" y="4134002"/>
            <a:ext cx="5000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기능(Function), 데이터(Data), 프로세스(Process) 관점에서 쪼개기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3095" y="4552798"/>
            <a:ext cx="304495" cy="3044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635508" y="4576572"/>
            <a:ext cx="1810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1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90295" y="4552798"/>
            <a:ext cx="36201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인터페이스 정의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90295" y="4839005"/>
            <a:ext cx="41413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나눠진 조각들이 다시 합쳐질 때 필요한 연결 고리 확인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86500" y="2562149"/>
            <a:ext cx="5372100" cy="3610051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6286500" y="2562149"/>
            <a:ext cx="57607" cy="3610051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6572707" y="2809951"/>
            <a:ext cx="256946" cy="22860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943954" y="2790749"/>
            <a:ext cx="26865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Example: 학과 박람회 운영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572707" y="3209544"/>
            <a:ext cx="4858207" cy="724205"/>
          </a:xfrm>
          <a:prstGeom prst="roundRect">
            <a:avLst>
              <a:gd name="adj" fmla="val 6645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 txBox="1"/>
          <p:nvPr/>
        </p:nvSpPr>
        <p:spPr>
          <a:xfrm>
            <a:off x="6696151" y="3333902"/>
            <a:ext cx="12088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참가자 관리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696151" y="3581705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신청 접수, 명찰 제작, 출석 확인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572707" y="4048049"/>
            <a:ext cx="4858207" cy="724205"/>
          </a:xfrm>
          <a:prstGeom prst="roundRect">
            <a:avLst>
              <a:gd name="adj" fmla="val 6645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6696151" y="4172407"/>
            <a:ext cx="9409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현장 운영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6696151" y="4419295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부스 배치도 설계, 장비 설치, 안전 관리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572707" y="4886554"/>
            <a:ext cx="4858207" cy="724205"/>
          </a:xfrm>
          <a:prstGeom prst="roundRect">
            <a:avLst>
              <a:gd name="adj" fmla="val 6645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6696151" y="5009998"/>
            <a:ext cx="9637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재무/정산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696151" y="525780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수립, 물품 구매, 영수증 처리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0211105" y="761695"/>
            <a:ext cx="1218895" cy="1218895"/>
          </a:xfrm>
          <a:prstGeom prst="roundRect">
            <a:avLst>
              <a:gd name="adj" fmla="val 75019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504565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Focus: Pattern Recognition &amp; Generalization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61695"/>
            <a:ext cx="115827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집중: 패턴 인식과 일반화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957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561795"/>
            <a:ext cx="11277295" cy="923544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1561795"/>
            <a:ext cx="57607" cy="92354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5002" y="1790395"/>
            <a:ext cx="228600" cy="2286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86307" y="1752905"/>
            <a:ext cx="823783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"문제 안에 숨어 있는 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</a:t>
            </a: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찾아 다음에 표시될 단계를 생각해 문제를 해결해 본다."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72007" y="2100377"/>
            <a:ext cx="68680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창의융합SW기초 교재개발 (p.11)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710282"/>
            <a:ext cx="112398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 및 핵심 가치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014777"/>
            <a:ext cx="1123980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간의 공통점과 규칙을 발견하여 복잡성을 줄이고, 이를 </a:t>
            </a:r>
            <a:r>
              <a:rPr lang="en-US" sz="13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재사용 가능한 해결 틀(Model)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만드는 과정입니다.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522269"/>
            <a:ext cx="111639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 방법 (Process)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85800" y="3865169"/>
            <a:ext cx="6810451" cy="533095"/>
          </a:xfrm>
          <a:prstGeom prst="roundRect">
            <a:avLst>
              <a:gd name="adj" fmla="val 24504"/>
            </a:avLst>
          </a:prstGeom>
          <a:solidFill>
            <a:srgbClr val="1F2937">
              <a:alpha val="4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809244" y="3988613"/>
            <a:ext cx="905256" cy="286207"/>
          </a:xfrm>
          <a:prstGeom prst="roundRect">
            <a:avLst>
              <a:gd name="adj" fmla="val 31948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910742" y="4028846"/>
            <a:ext cx="83941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사례 묶기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787652" y="4016959"/>
            <a:ext cx="758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Grouping</a:t>
            </a:r>
            <a:endParaRPr lang="en-US" sz="120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2564892" y="4064508"/>
            <a:ext cx="114300" cy="133502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2793492" y="3988613"/>
            <a:ext cx="905256" cy="286207"/>
          </a:xfrm>
          <a:prstGeom prst="roundRect">
            <a:avLst>
              <a:gd name="adj" fmla="val 31948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 txBox="1"/>
          <p:nvPr/>
        </p:nvSpPr>
        <p:spPr>
          <a:xfrm>
            <a:off x="2894076" y="4028846"/>
            <a:ext cx="83941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규칙 발견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3771900" y="4016959"/>
            <a:ext cx="10661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Finding</a:t>
            </a:r>
            <a:endParaRPr lang="en-US" sz="12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4779569" y="4064508"/>
            <a:ext cx="114300" cy="133502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008169" y="3988613"/>
            <a:ext cx="905256" cy="286207"/>
          </a:xfrm>
          <a:prstGeom prst="roundRect">
            <a:avLst>
              <a:gd name="adj" fmla="val 31948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0"/>
          <p:cNvSpPr txBox="1"/>
          <p:nvPr/>
        </p:nvSpPr>
        <p:spPr>
          <a:xfrm>
            <a:off x="5109667" y="4028846"/>
            <a:ext cx="83941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예외 식별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5986577" y="4016959"/>
            <a:ext cx="1655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Exception Handling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85800" y="4626864"/>
            <a:ext cx="112398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및 산출물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685800" y="4931359"/>
            <a:ext cx="1123980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[예시] 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 수단 비교 시 '시간과 비용은 반비례한다'는 패턴 발견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[산출물] 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재사용 가능한 체크리스트, 표준 템플릿, 공통 함수 모듈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10668305" y="609905"/>
            <a:ext cx="914400" cy="914400"/>
          </a:xfrm>
          <a:prstGeom prst="roundRect">
            <a:avLst>
              <a:gd name="adj" fmla="val 100000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33095" y="533095"/>
            <a:ext cx="21406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Focus: Abstraction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33095" y="838505"/>
            <a:ext cx="113157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집중: 추상화 (Abstraction)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3095" y="1371600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33095" y="1561795"/>
            <a:ext cx="11125505" cy="961949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33095" y="1561795"/>
            <a:ext cx="57607" cy="961949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rcRect l="-1648" r="-1648"/>
          <a:stretch/>
        </p:blipFill>
        <p:spPr>
          <a:xfrm>
            <a:off x="780898" y="1752905"/>
            <a:ext cx="171907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04595" y="1752905"/>
            <a:ext cx="1132393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"추상화란 다양한 문제를 해결하기 위해 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 요소는 삭제</a:t>
            </a: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 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핵심 요소</a:t>
            </a: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파악하여 단순화하는 것을 말한다."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2138782"/>
            <a:ext cx="1061499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altLang="ko-KR" sz="10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창의융합SW기초</a:t>
            </a:r>
            <a:r>
              <a:rPr lang="en-US" altLang="ko-KR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0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교재개발</a:t>
            </a:r>
            <a:r>
              <a:rPr lang="en-US" altLang="ko-KR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(이애본, 2020)</a:t>
            </a:r>
            <a:endParaRPr lang="en-US" altLang="ko-KR" sz="1000" dirty="0"/>
          </a:p>
        </p:txBody>
      </p:sp>
      <p:sp>
        <p:nvSpPr>
          <p:cNvPr id="12" name="Shape 9"/>
          <p:cNvSpPr/>
          <p:nvPr/>
        </p:nvSpPr>
        <p:spPr>
          <a:xfrm>
            <a:off x="609905" y="3439058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 txBox="1"/>
          <p:nvPr/>
        </p:nvSpPr>
        <p:spPr>
          <a:xfrm>
            <a:off x="838505" y="3339389"/>
            <a:ext cx="109353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요소 파악 (Identifying Essentials) : 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해결에 직접적인 영향을 주는 데이터와 변수만 남깁니다.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09905" y="3831336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838505" y="3732581"/>
            <a:ext cx="109353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복잡성 제거 (Removing Complexity) : 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현실 세계의 지엽적이거나 사소한 세부사항을 과감히 생략합니다.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09905" y="4224528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838505" y="4125773"/>
            <a:ext cx="1101120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 (Modeling) : 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단순화된 요소들을 구조화하여 해결 가능한 형태(모델)로 만듭니다.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3095" y="5224882"/>
            <a:ext cx="11125505" cy="1104595"/>
          </a:xfrm>
          <a:prstGeom prst="roundRect">
            <a:avLst>
              <a:gd name="adj" fmla="val 570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 l="-1282" r="-1282"/>
          <a:stretch/>
        </p:blipFill>
        <p:spPr>
          <a:xfrm>
            <a:off x="809244" y="5674766"/>
            <a:ext cx="219456" cy="19019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333195" y="5386730"/>
            <a:ext cx="47347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실생활 예시: 내비게이션 지도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1333195" y="5691226"/>
            <a:ext cx="10196196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현실의</a:t>
            </a:r>
            <a:r>
              <a:rPr lang="en-US" sz="14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건물</a:t>
            </a:r>
            <a:r>
              <a:rPr lang="en-US" sz="14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색상, 가로수 종류, 간판 모양</a:t>
            </a:r>
            <a:r>
              <a:rPr lang="en-US" sz="14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</a:t>
            </a:r>
            <a:r>
              <a:rPr lang="en-US" sz="14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삭제하고</a:t>
            </a:r>
            <a:r>
              <a:rPr lang="en-US" sz="14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4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오직</a:t>
            </a:r>
            <a:r>
              <a:rPr lang="en-US" sz="14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도로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거리, 제한 속도,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방향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정보만</a:t>
            </a:r>
            <a:r>
              <a:rPr lang="en-US" sz="14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남겨 경로 계산에 활용함.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10211105" y="761695"/>
            <a:ext cx="1218895" cy="1218895"/>
          </a:xfrm>
          <a:prstGeom prst="roundRect">
            <a:avLst>
              <a:gd name="adj" fmla="val 75019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24963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Deep Dive: Algorithms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61695"/>
            <a:ext cx="114684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집중: 알고리즘 (Algorithm)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957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653235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685800" y="1561795"/>
            <a:ext cx="120554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알고리즘</a:t>
            </a:r>
            <a:r>
              <a:rPr lang="en-US" sz="15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이란 작게 나누어진(분해된) 하위 문제들을 해결하기 위해 수행해야 할 일련의 절차를 순서대로 명확히 기술하는 것입니다.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18895" y="2116969"/>
            <a:ext cx="26865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알고리즘의 4가지 기준</a:t>
            </a:r>
            <a:endParaRPr lang="en-US" sz="15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3202" y="2110588"/>
            <a:ext cx="190195" cy="19019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76827" y="2600553"/>
            <a:ext cx="2686507" cy="819302"/>
          </a:xfrm>
          <a:prstGeom prst="roundRect">
            <a:avLst>
              <a:gd name="adj" fmla="val 10382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2" name="Text 9"/>
          <p:cNvSpPr txBox="1"/>
          <p:nvPr/>
        </p:nvSpPr>
        <p:spPr>
          <a:xfrm>
            <a:off x="1138676" y="2762402"/>
            <a:ext cx="25511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정확성</a:t>
            </a:r>
            <a:endParaRPr lang="en-US" dirty="0"/>
          </a:p>
        </p:txBody>
      </p:sp>
      <p:sp>
        <p:nvSpPr>
          <p:cNvPr id="13" name="Text 10"/>
          <p:cNvSpPr txBox="1"/>
          <p:nvPr/>
        </p:nvSpPr>
        <p:spPr>
          <a:xfrm>
            <a:off x="1138676" y="3067811"/>
            <a:ext cx="263804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입력에 대해 올바른 결과를 도출해야 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399516" y="3564461"/>
            <a:ext cx="2686507" cy="819302"/>
          </a:xfrm>
          <a:prstGeom prst="roundRect">
            <a:avLst>
              <a:gd name="adj" fmla="val 10382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5" name="Text 12"/>
          <p:cNvSpPr txBox="1"/>
          <p:nvPr/>
        </p:nvSpPr>
        <p:spPr>
          <a:xfrm>
            <a:off x="1561365" y="3726310"/>
            <a:ext cx="25511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효율성</a:t>
            </a:r>
            <a:endParaRPr lang="en-US" dirty="0"/>
          </a:p>
        </p:txBody>
      </p:sp>
      <p:sp>
        <p:nvSpPr>
          <p:cNvPr id="16" name="Text 13"/>
          <p:cNvSpPr txBox="1"/>
          <p:nvPr/>
        </p:nvSpPr>
        <p:spPr>
          <a:xfrm>
            <a:off x="1561365" y="4031719"/>
            <a:ext cx="25575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시간과 자원을 최소한으로 사용해야 함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942852" y="4541801"/>
            <a:ext cx="2686507" cy="819302"/>
          </a:xfrm>
          <a:prstGeom prst="roundRect">
            <a:avLst>
              <a:gd name="adj" fmla="val 10382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8" name="Text 15"/>
          <p:cNvSpPr txBox="1"/>
          <p:nvPr/>
        </p:nvSpPr>
        <p:spPr>
          <a:xfrm>
            <a:off x="2104701" y="4703650"/>
            <a:ext cx="25511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명확성</a:t>
            </a:r>
            <a:endParaRPr lang="en-US" dirty="0"/>
          </a:p>
        </p:txBody>
      </p:sp>
      <p:sp>
        <p:nvSpPr>
          <p:cNvPr id="19" name="Text 16"/>
          <p:cNvSpPr txBox="1"/>
          <p:nvPr/>
        </p:nvSpPr>
        <p:spPr>
          <a:xfrm>
            <a:off x="2104701" y="5008145"/>
            <a:ext cx="255117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단계가 모호하지 않고 명확해야 함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420209" y="5558704"/>
            <a:ext cx="2686507" cy="819302"/>
          </a:xfrm>
          <a:prstGeom prst="roundRect">
            <a:avLst>
              <a:gd name="adj" fmla="val 10382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1" name="Text 18"/>
          <p:cNvSpPr txBox="1"/>
          <p:nvPr/>
        </p:nvSpPr>
        <p:spPr>
          <a:xfrm>
            <a:off x="2582058" y="5720553"/>
            <a:ext cx="25511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재사용성</a:t>
            </a:r>
            <a:endParaRPr lang="en-US" dirty="0"/>
          </a:p>
        </p:txBody>
      </p:sp>
      <p:sp>
        <p:nvSpPr>
          <p:cNvPr id="22" name="Text 19"/>
          <p:cNvSpPr txBox="1"/>
          <p:nvPr/>
        </p:nvSpPr>
        <p:spPr>
          <a:xfrm>
            <a:off x="2582058" y="6025048"/>
            <a:ext cx="263804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비슷한 다른 문제에도 적용 가능해야 함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98633" y="2189469"/>
            <a:ext cx="4580667" cy="373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의사코드(Pseudocode) 예시: 교통수단 선택</a:t>
            </a:r>
            <a:endParaRPr lang="en-US" sz="1500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58625" y="2243191"/>
            <a:ext cx="332564" cy="26605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6145834" y="2727968"/>
            <a:ext cx="5033466" cy="3689469"/>
          </a:xfrm>
          <a:prstGeom prst="roundRect">
            <a:avLst>
              <a:gd name="adj" fmla="val 45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2"/>
          <p:cNvSpPr/>
          <p:nvPr/>
        </p:nvSpPr>
        <p:spPr>
          <a:xfrm>
            <a:off x="10597461" y="2809827"/>
            <a:ext cx="505097" cy="277563"/>
          </a:xfrm>
          <a:prstGeom prst="roundRect">
            <a:avLst>
              <a:gd name="adj" fmla="val 88634"/>
            </a:avLst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E1E93ECC-B599-9FF6-E62A-4E1812B37B6F}"/>
              </a:ext>
            </a:extLst>
          </p:cNvPr>
          <p:cNvGrpSpPr/>
          <p:nvPr/>
        </p:nvGrpSpPr>
        <p:grpSpPr>
          <a:xfrm>
            <a:off x="6425956" y="3034948"/>
            <a:ext cx="4465961" cy="3014820"/>
            <a:chOff x="6448349" y="3364992"/>
            <a:chExt cx="5277002" cy="2155241"/>
          </a:xfrm>
        </p:grpSpPr>
        <p:sp>
          <p:nvSpPr>
            <p:cNvPr id="27" name="Text 23"/>
            <p:cNvSpPr txBox="1"/>
            <p:nvPr/>
          </p:nvSpPr>
          <p:spPr>
            <a:xfrm>
              <a:off x="6448349" y="3364992"/>
              <a:ext cx="52011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Function </a:t>
              </a:r>
              <a:r>
                <a:rPr lang="en-US" sz="1400" dirty="0">
                  <a:solidFill>
                    <a:srgbClr val="FCD34D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SelectTransport</a:t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(Budget, TimeLimit):</a:t>
              </a:r>
              <a:endParaRPr lang="en-US" sz="1400" dirty="0"/>
            </a:p>
          </p:txBody>
        </p:sp>
        <p:sp>
          <p:nvSpPr>
            <p:cNvPr id="28" name="Shape 24"/>
            <p:cNvSpPr/>
            <p:nvPr/>
          </p:nvSpPr>
          <p:spPr>
            <a:xfrm>
              <a:off x="6448349" y="3657600"/>
              <a:ext cx="19202" cy="1571854"/>
            </a:xfrm>
            <a:prstGeom prst="rect">
              <a:avLst/>
            </a:prstGeom>
            <a:solidFill>
              <a:srgbClr val="374151"/>
            </a:solidFill>
            <a:ln w="12700">
              <a:solidFill>
                <a:srgbClr val="37415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9" name="Text 25"/>
            <p:cNvSpPr txBox="1"/>
            <p:nvPr/>
          </p:nvSpPr>
          <p:spPr>
            <a:xfrm>
              <a:off x="6620256" y="3657600"/>
              <a:ext cx="50292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1. List </a:t>
              </a:r>
              <a:r>
                <a:rPr lang="en-US" sz="1400" dirty="0">
                  <a:solidFill>
                    <a:srgbClr val="60A5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/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candidates = [Plane, Train, Bus]</a:t>
              </a:r>
              <a:endParaRPr lang="en-US" sz="1400" dirty="0"/>
            </a:p>
          </p:txBody>
        </p:sp>
        <p:sp>
          <p:nvSpPr>
            <p:cNvPr id="30" name="Text 26"/>
            <p:cNvSpPr txBox="1"/>
            <p:nvPr/>
          </p:nvSpPr>
          <p:spPr>
            <a:xfrm>
              <a:off x="6620256" y="3912718"/>
              <a:ext cx="50292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2. For each option in </a:t>
              </a:r>
              <a:r>
                <a:rPr lang="en-US" sz="1400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/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/>
              </a:r>
              <a:r>
                <a:rPr lang="en-US" sz="1400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/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candidates:</a:t>
              </a:r>
              <a:endParaRPr lang="en-US" sz="1400" dirty="0"/>
            </a:p>
          </p:txBody>
        </p:sp>
        <p:sp>
          <p:nvSpPr>
            <p:cNvPr id="31" name="Shape 27"/>
            <p:cNvSpPr/>
            <p:nvPr/>
          </p:nvSpPr>
          <p:spPr>
            <a:xfrm>
              <a:off x="6620256" y="4166921"/>
              <a:ext cx="19202" cy="809244"/>
            </a:xfrm>
            <a:prstGeom prst="rect">
              <a:avLst/>
            </a:prstGeom>
            <a:solidFill>
              <a:srgbClr val="374151"/>
            </a:solidFill>
            <a:ln w="12700">
              <a:solidFill>
                <a:srgbClr val="37415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32" name="Text 28"/>
            <p:cNvSpPr txBox="1"/>
            <p:nvPr/>
          </p:nvSpPr>
          <p:spPr>
            <a:xfrm>
              <a:off x="6791249" y="4166921"/>
              <a:ext cx="4858207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If (option.cost &gt; Budget) </a:t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/>
              </a:r>
              <a:r>
                <a:rPr lang="en-US" sz="1400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OR</a:t>
              </a:r>
              <a:endParaRPr lang="en-US" sz="1400" dirty="0"/>
            </a:p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(option.time &gt; TimeLimit):</a:t>
              </a:r>
              <a:endParaRPr lang="en-US" sz="1400" dirty="0"/>
            </a:p>
          </p:txBody>
        </p:sp>
        <p:sp>
          <p:nvSpPr>
            <p:cNvPr id="33" name="Text 29"/>
            <p:cNvSpPr txBox="1"/>
            <p:nvPr/>
          </p:nvSpPr>
          <p:spPr>
            <a:xfrm>
              <a:off x="6791249" y="4600346"/>
              <a:ext cx="4934102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6B7280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// 제약 조건 위반 시 제외</a:t>
              </a:r>
              <a:endParaRPr lang="en-US" sz="1200" dirty="0"/>
            </a:p>
          </p:txBody>
        </p:sp>
        <p:sp>
          <p:nvSpPr>
            <p:cNvPr id="34" name="Text 30"/>
            <p:cNvSpPr txBox="1"/>
            <p:nvPr/>
          </p:nvSpPr>
          <p:spPr>
            <a:xfrm>
              <a:off x="6791249" y="4753051"/>
              <a:ext cx="48582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F87171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Remove </a:t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option from candidates</a:t>
              </a:r>
              <a:endParaRPr lang="en-US" sz="1400" dirty="0"/>
            </a:p>
          </p:txBody>
        </p:sp>
        <p:sp>
          <p:nvSpPr>
            <p:cNvPr id="35" name="Text 31"/>
            <p:cNvSpPr txBox="1"/>
            <p:nvPr/>
          </p:nvSpPr>
          <p:spPr>
            <a:xfrm>
              <a:off x="6620256" y="5008169"/>
              <a:ext cx="50292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3. Return option with Min(TotalCost) </a:t>
              </a:r>
              <a:r>
                <a:rPr lang="en-US" sz="1400" dirty="0">
                  <a:solidFill>
                    <a:srgbClr val="34D399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/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/>
              </a:r>
              <a:r>
                <a:rPr lang="en-US" sz="1400" dirty="0">
                  <a:solidFill>
                    <a:srgbClr val="FCD34D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/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from candidates</a:t>
              </a:r>
              <a:endParaRPr lang="en-US" sz="1400" dirty="0"/>
            </a:p>
          </p:txBody>
        </p:sp>
        <p:sp>
          <p:nvSpPr>
            <p:cNvPr id="36" name="Text 32"/>
            <p:cNvSpPr txBox="1"/>
            <p:nvPr/>
          </p:nvSpPr>
          <p:spPr>
            <a:xfrm>
              <a:off x="6448349" y="5300777"/>
              <a:ext cx="52011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End Function</a:t>
              </a:r>
              <a:endParaRPr lang="en-US" sz="1400" dirty="0"/>
            </a:p>
          </p:txBody>
        </p:sp>
      </p:grpSp>
      <p:sp>
        <p:nvSpPr>
          <p:cNvPr id="37" name="Shape 33"/>
          <p:cNvSpPr/>
          <p:nvPr/>
        </p:nvSpPr>
        <p:spPr>
          <a:xfrm>
            <a:off x="10706710" y="191301"/>
            <a:ext cx="1218895" cy="1218895"/>
          </a:xfrm>
          <a:prstGeom prst="roundRect">
            <a:avLst>
              <a:gd name="adj" fmla="val 75019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381305" y="381305"/>
            <a:ext cx="29818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Assignment Design Process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81305" y="685800"/>
            <a:ext cx="116211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과제설계 프로세스 (CT 6단계 적용)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81305" y="1143000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29488" y="2244195"/>
            <a:ext cx="10287000" cy="38405"/>
          </a:xfrm>
          <a:prstGeom prst="rect">
            <a:avLst/>
          </a:prstGeom>
          <a:solidFill>
            <a:srgbClr val="1E29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8" name="Shape 6"/>
          <p:cNvSpPr/>
          <p:nvPr/>
        </p:nvSpPr>
        <p:spPr>
          <a:xfrm>
            <a:off x="381305" y="5477256"/>
            <a:ext cx="11430000" cy="847649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381305" y="5477256"/>
            <a:ext cx="11430000" cy="914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724205" y="5820156"/>
            <a:ext cx="6574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6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645006" y="5639105"/>
            <a:ext cx="1904695" cy="533095"/>
          </a:xfrm>
          <a:prstGeom prst="roundRect">
            <a:avLst>
              <a:gd name="adj" fmla="val 1225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661465" y="5724144"/>
            <a:ext cx="1872691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브리프</a:t>
            </a:r>
            <a:endParaRPr lang="en-US" sz="10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2512" r="-2512"/>
          <a:stretch/>
        </p:blipFill>
        <p:spPr>
          <a:xfrm>
            <a:off x="1730045" y="5724144"/>
            <a:ext cx="105156" cy="13350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3654857" y="5639105"/>
            <a:ext cx="1904695" cy="533095"/>
          </a:xfrm>
          <a:prstGeom prst="roundRect">
            <a:avLst>
              <a:gd name="adj" fmla="val 1225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3671316" y="5724144"/>
            <a:ext cx="1872691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분해도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l="-837" r="-837"/>
          <a:stretch/>
        </p:blipFill>
        <p:spPr>
          <a:xfrm>
            <a:off x="3740810" y="5724144"/>
            <a:ext cx="152705" cy="13350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665622" y="5639105"/>
            <a:ext cx="1904695" cy="533095"/>
          </a:xfrm>
          <a:prstGeom prst="roundRect">
            <a:avLst>
              <a:gd name="adj" fmla="val 1225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 txBox="1"/>
          <p:nvPr/>
        </p:nvSpPr>
        <p:spPr>
          <a:xfrm>
            <a:off x="5682082" y="5724144"/>
            <a:ext cx="1872691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모델(변수)</a:t>
            </a:r>
            <a:endParaRPr lang="en-US" sz="10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751576" y="5724144"/>
            <a:ext cx="133502" cy="13350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675474" y="5639105"/>
            <a:ext cx="1904695" cy="533095"/>
          </a:xfrm>
          <a:prstGeom prst="roundRect">
            <a:avLst>
              <a:gd name="adj" fmla="val 1225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7691933" y="5724144"/>
            <a:ext cx="1872691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절차도</a:t>
            </a:r>
            <a:endParaRPr lang="en-US" sz="100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761427" y="5724144"/>
            <a:ext cx="133502" cy="133502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9686239" y="5639105"/>
            <a:ext cx="1904695" cy="533095"/>
          </a:xfrm>
          <a:prstGeom prst="roundRect">
            <a:avLst>
              <a:gd name="adj" fmla="val 1225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9702698" y="5724144"/>
            <a:ext cx="1872691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테스트케이스</a:t>
            </a:r>
            <a:endParaRPr lang="en-US" sz="10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772193" y="5724144"/>
            <a:ext cx="133502" cy="133502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85267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27" name="Shape 20"/>
          <p:cNvSpPr/>
          <p:nvPr/>
        </p:nvSpPr>
        <p:spPr>
          <a:xfrm>
            <a:off x="357988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28" name="Text 21"/>
          <p:cNvSpPr txBox="1"/>
          <p:nvPr/>
        </p:nvSpPr>
        <p:spPr>
          <a:xfrm>
            <a:off x="427482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4302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목표, 성공기준,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제약사항 명확화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06146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2400" dirty="0"/>
          </a:p>
        </p:txBody>
      </p:sp>
      <p:sp>
        <p:nvSpPr>
          <p:cNvPr id="31" name="Shape 24"/>
          <p:cNvSpPr/>
          <p:nvPr/>
        </p:nvSpPr>
        <p:spPr>
          <a:xfrm>
            <a:off x="281863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32" name="Shape 25"/>
          <p:cNvSpPr/>
          <p:nvPr/>
        </p:nvSpPr>
        <p:spPr>
          <a:xfrm>
            <a:off x="2323948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33" name="Text 26"/>
          <p:cNvSpPr txBox="1"/>
          <p:nvPr/>
        </p:nvSpPr>
        <p:spPr>
          <a:xfrm>
            <a:off x="2393442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분해</a:t>
            </a:r>
            <a:endParaRPr lang="en-US" sz="2000" dirty="0"/>
          </a:p>
        </p:txBody>
      </p:sp>
      <p:sp>
        <p:nvSpPr>
          <p:cNvPr id="34" name="Text 27"/>
          <p:cNvSpPr txBox="1"/>
          <p:nvPr/>
        </p:nvSpPr>
        <p:spPr>
          <a:xfrm>
            <a:off x="240898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하위 과업 식별,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구분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302742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2400" dirty="0"/>
          </a:p>
        </p:txBody>
      </p:sp>
      <p:sp>
        <p:nvSpPr>
          <p:cNvPr id="36" name="Shape 29"/>
          <p:cNvSpPr/>
          <p:nvPr/>
        </p:nvSpPr>
        <p:spPr>
          <a:xfrm>
            <a:off x="478459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37" name="Shape 30"/>
          <p:cNvSpPr/>
          <p:nvPr/>
        </p:nvSpPr>
        <p:spPr>
          <a:xfrm>
            <a:off x="4288993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38" name="Text 31"/>
          <p:cNvSpPr txBox="1"/>
          <p:nvPr/>
        </p:nvSpPr>
        <p:spPr>
          <a:xfrm>
            <a:off x="4359402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인식</a:t>
            </a:r>
            <a:endParaRPr lang="en-US" sz="2000" dirty="0"/>
          </a:p>
        </p:txBody>
      </p:sp>
      <p:sp>
        <p:nvSpPr>
          <p:cNvPr id="39" name="Text 32"/>
          <p:cNvSpPr txBox="1"/>
          <p:nvPr/>
        </p:nvSpPr>
        <p:spPr>
          <a:xfrm>
            <a:off x="437494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유사 사례 분석,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규칙 발견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499338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2400" dirty="0"/>
          </a:p>
        </p:txBody>
      </p:sp>
      <p:sp>
        <p:nvSpPr>
          <p:cNvPr id="41" name="Shape 34"/>
          <p:cNvSpPr/>
          <p:nvPr/>
        </p:nvSpPr>
        <p:spPr>
          <a:xfrm>
            <a:off x="675055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42" name="Shape 35"/>
          <p:cNvSpPr/>
          <p:nvPr/>
        </p:nvSpPr>
        <p:spPr>
          <a:xfrm>
            <a:off x="6254953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43" name="Text 36"/>
          <p:cNvSpPr txBox="1"/>
          <p:nvPr/>
        </p:nvSpPr>
        <p:spPr>
          <a:xfrm>
            <a:off x="6325362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추상화</a:t>
            </a:r>
            <a:endParaRPr lang="en-US" sz="2000" dirty="0"/>
          </a:p>
        </p:txBody>
      </p:sp>
      <p:sp>
        <p:nvSpPr>
          <p:cNvPr id="44" name="Text 37"/>
          <p:cNvSpPr txBox="1"/>
          <p:nvPr/>
        </p:nvSpPr>
        <p:spPr>
          <a:xfrm>
            <a:off x="634090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변수 선정,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모델 확정</a:t>
            </a:r>
            <a:endParaRPr lang="en-US" sz="1200" dirty="0"/>
          </a:p>
        </p:txBody>
      </p:sp>
      <p:sp>
        <p:nvSpPr>
          <p:cNvPr id="45" name="Text 38"/>
          <p:cNvSpPr txBox="1"/>
          <p:nvPr/>
        </p:nvSpPr>
        <p:spPr>
          <a:xfrm>
            <a:off x="695934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2400" dirty="0"/>
          </a:p>
        </p:txBody>
      </p:sp>
      <p:sp>
        <p:nvSpPr>
          <p:cNvPr id="46" name="Shape 39"/>
          <p:cNvSpPr/>
          <p:nvPr/>
        </p:nvSpPr>
        <p:spPr>
          <a:xfrm>
            <a:off x="871651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47" name="Shape 40"/>
          <p:cNvSpPr/>
          <p:nvPr/>
        </p:nvSpPr>
        <p:spPr>
          <a:xfrm>
            <a:off x="8220913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48" name="Text 41"/>
          <p:cNvSpPr txBox="1"/>
          <p:nvPr/>
        </p:nvSpPr>
        <p:spPr>
          <a:xfrm>
            <a:off x="8291322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알고리즘</a:t>
            </a:r>
            <a:endParaRPr lang="en-US" sz="2000" dirty="0"/>
          </a:p>
        </p:txBody>
      </p:sp>
      <p:sp>
        <p:nvSpPr>
          <p:cNvPr id="49" name="Text 42"/>
          <p:cNvSpPr txBox="1"/>
          <p:nvPr/>
        </p:nvSpPr>
        <p:spPr>
          <a:xfrm>
            <a:off x="830686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절차 및 역할,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흐름 설계</a:t>
            </a:r>
            <a:endParaRPr lang="en-US" sz="1200" dirty="0"/>
          </a:p>
        </p:txBody>
      </p:sp>
      <p:sp>
        <p:nvSpPr>
          <p:cNvPr id="50" name="Text 43"/>
          <p:cNvSpPr txBox="1"/>
          <p:nvPr/>
        </p:nvSpPr>
        <p:spPr>
          <a:xfrm>
            <a:off x="892530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2400" dirty="0"/>
          </a:p>
        </p:txBody>
      </p:sp>
      <p:sp>
        <p:nvSpPr>
          <p:cNvPr id="51" name="Shape 44"/>
          <p:cNvSpPr/>
          <p:nvPr/>
        </p:nvSpPr>
        <p:spPr>
          <a:xfrm>
            <a:off x="1068247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52" name="Shape 45"/>
          <p:cNvSpPr/>
          <p:nvPr/>
        </p:nvSpPr>
        <p:spPr>
          <a:xfrm>
            <a:off x="10186873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53" name="Text 46"/>
          <p:cNvSpPr txBox="1"/>
          <p:nvPr/>
        </p:nvSpPr>
        <p:spPr>
          <a:xfrm>
            <a:off x="10256368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2000" dirty="0"/>
          </a:p>
        </p:txBody>
      </p:sp>
      <p:sp>
        <p:nvSpPr>
          <p:cNvPr id="54" name="Text 47"/>
          <p:cNvSpPr txBox="1"/>
          <p:nvPr/>
        </p:nvSpPr>
        <p:spPr>
          <a:xfrm>
            <a:off x="1027282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시뮬레이션,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체크리스트 점검</a:t>
            </a:r>
            <a:endParaRPr lang="en-US" sz="1200" dirty="0"/>
          </a:p>
        </p:txBody>
      </p:sp>
      <p:sp>
        <p:nvSpPr>
          <p:cNvPr id="55" name="Text 48"/>
          <p:cNvSpPr txBox="1"/>
          <p:nvPr/>
        </p:nvSpPr>
        <p:spPr>
          <a:xfrm>
            <a:off x="1089126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2400" dirty="0"/>
          </a:p>
        </p:txBody>
      </p:sp>
      <p:sp>
        <p:nvSpPr>
          <p:cNvPr id="56" name="Stage3 Note"/>
          <p:cNvSpPr txBox="1"/>
          <p:nvPr/>
        </p:nvSpPr>
        <p:spPr>
          <a:xfrm>
            <a:off x="427482" y="4650000"/>
            <a:ext cx="1130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>
                <a:solidFill>
                  <a:srgbClr val="C9D1DD"/>
                </a:solidFill>
                <a:latin typeface="Noto Sans KR"/>
                <a:ea typeface="Noto Sans KR"/>
                <a:cs typeface="Noto Sans KR"/>
              </a:rPr>
              <a:t>디자인씽킹 6단계와의 비교는 B02 「디자인씽킹과 생성형 AI」의 「디자인씽킹 6단계 프로세스」를 참고한다. 두 과정 모두 검증·테스트에서 막히면 앞 단계로 돌아가 다시 설계한다.</a:t>
            </a:r>
          </a:p>
        </p:txBody>
      </p:sp>
      <p:sp>
        <p:nvSpPr>
          <p:cNvPr id="5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381305"/>
            <a:ext cx="249539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Application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85800"/>
            <a:ext cx="114684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실습: '부산→서울 콘서트' 문제 적용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693034"/>
            <a:ext cx="3610051" cy="4638751"/>
          </a:xfrm>
          <a:prstGeom prst="roundRect">
            <a:avLst>
              <a:gd name="adj" fmla="val 535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8" name="Shape 6"/>
          <p:cNvSpPr/>
          <p:nvPr/>
        </p:nvSpPr>
        <p:spPr>
          <a:xfrm>
            <a:off x="457200" y="1693034"/>
            <a:ext cx="3610051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9" name="Shape 7"/>
          <p:cNvSpPr/>
          <p:nvPr/>
        </p:nvSpPr>
        <p:spPr>
          <a:xfrm>
            <a:off x="457200" y="1730524"/>
            <a:ext cx="3610051" cy="694944"/>
          </a:xfrm>
          <a:prstGeom prst="rect">
            <a:avLst/>
          </a:prstGeom>
          <a:solidFill>
            <a:srgbClr val="162032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Shape 8"/>
          <p:cNvSpPr/>
          <p:nvPr/>
        </p:nvSpPr>
        <p:spPr>
          <a:xfrm>
            <a:off x="457200" y="2416324"/>
            <a:ext cx="3610051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733349" y="1993871"/>
            <a:ext cx="133502" cy="15270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067105" y="1860369"/>
            <a:ext cx="9144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01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067105" y="2062061"/>
            <a:ext cx="165432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브리프</a:t>
            </a:r>
            <a:endParaRPr lang="en-US" dirty="0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EA616A1C-CE45-47F6-FB29-874A61974346}"/>
              </a:ext>
            </a:extLst>
          </p:cNvPr>
          <p:cNvGrpSpPr/>
          <p:nvPr/>
        </p:nvGrpSpPr>
        <p:grpSpPr>
          <a:xfrm>
            <a:off x="632765" y="2593718"/>
            <a:ext cx="3433572" cy="1867467"/>
            <a:chOff x="632765" y="2310689"/>
            <a:chExt cx="4471416" cy="1601115"/>
          </a:xfrm>
        </p:grpSpPr>
        <p:sp>
          <p:nvSpPr>
            <p:cNvPr id="14" name="Shape 11"/>
            <p:cNvSpPr/>
            <p:nvPr/>
          </p:nvSpPr>
          <p:spPr>
            <a:xfrm>
              <a:off x="632765" y="2310689"/>
              <a:ext cx="3258007" cy="800100"/>
            </a:xfrm>
            <a:prstGeom prst="roundRect">
              <a:avLst>
                <a:gd name="adj" fmla="val 5442"/>
              </a:avLst>
            </a:prstGeom>
            <a:solidFill>
              <a:srgbClr val="1F2937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5" name="Shape 12"/>
            <p:cNvSpPr/>
            <p:nvPr/>
          </p:nvSpPr>
          <p:spPr>
            <a:xfrm>
              <a:off x="632765" y="2310689"/>
              <a:ext cx="38405" cy="800100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6" name="Text 13"/>
            <p:cNvSpPr txBox="1"/>
            <p:nvPr/>
          </p:nvSpPr>
          <p:spPr>
            <a:xfrm>
              <a:off x="784555" y="2424989"/>
              <a:ext cx="3182112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시나리오</a:t>
              </a:r>
              <a:endParaRPr lang="en-US" sz="1400" dirty="0"/>
            </a:p>
          </p:txBody>
        </p:sp>
        <p:sp>
          <p:nvSpPr>
            <p:cNvPr id="17" name="Text 14"/>
            <p:cNvSpPr txBox="1"/>
            <p:nvPr/>
          </p:nvSpPr>
          <p:spPr>
            <a:xfrm>
              <a:off x="784555" y="2615184"/>
              <a:ext cx="4319626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"부산에 사는 </a:t>
              </a:r>
              <a:r>
                <a:rPr lang="en-US" sz="1400" dirty="0" err="1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철수가</a:t>
              </a:r>
              <a:r>
                <a:rPr lang="en-US" sz="14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400" dirty="0" err="1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서울에서</a:t>
              </a:r>
              <a:r>
                <a:rPr lang="en-US" sz="14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열리는 콘서트에 참가하려고 한다."</a:t>
              </a:r>
              <a:endParaRPr lang="en-US" sz="1400" dirty="0"/>
            </a:p>
          </p:txBody>
        </p:sp>
        <p:pic>
          <p:nvPicPr>
            <p:cNvPr id="18" name="Image 1" descr="preencoded.png"/>
            <p:cNvPicPr>
              <a:picLocks noChangeAspect="1"/>
            </p:cNvPicPr>
            <p:nvPr/>
          </p:nvPicPr>
          <p:blipFill>
            <a:blip r:embed="rId4"/>
            <a:srcRect l="-12400" r="-12400"/>
            <a:stretch/>
          </p:blipFill>
          <p:spPr>
            <a:xfrm>
              <a:off x="632765" y="3339389"/>
              <a:ext cx="142646" cy="114300"/>
            </a:xfrm>
            <a:prstGeom prst="rect">
              <a:avLst/>
            </a:prstGeom>
          </p:spPr>
        </p:pic>
        <p:sp>
          <p:nvSpPr>
            <p:cNvPr id="19" name="Text 15"/>
            <p:cNvSpPr txBox="1"/>
            <p:nvPr/>
          </p:nvSpPr>
          <p:spPr>
            <a:xfrm>
              <a:off x="851306" y="3225089"/>
              <a:ext cx="3999586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목표</a:t>
              </a: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 </a:t>
              </a:r>
              <a:r>
                <a:rPr lang="en-US" sz="1400" dirty="0" err="1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최적의</a:t>
              </a: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이동 계획 </a:t>
              </a:r>
              <a:r>
                <a:rPr lang="en-US" sz="1400" dirty="0" err="1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수립</a:t>
              </a: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(시간 최소화 vs 비용 최소화)</a:t>
              </a:r>
              <a:endParaRPr lang="en-US" sz="1400" dirty="0"/>
            </a:p>
          </p:txBody>
        </p:sp>
        <p:pic>
          <p:nvPicPr>
            <p:cNvPr id="20" name="Image 2" descr="preencoded.png"/>
            <p:cNvPicPr>
              <a:picLocks noChangeAspect="1"/>
            </p:cNvPicPr>
            <p:nvPr/>
          </p:nvPicPr>
          <p:blipFill>
            <a:blip r:embed="rId5"/>
            <a:srcRect l="-16800" r="-16800"/>
            <a:stretch/>
          </p:blipFill>
          <p:spPr>
            <a:xfrm>
              <a:off x="632765" y="3768787"/>
              <a:ext cx="152705" cy="114300"/>
            </a:xfrm>
            <a:prstGeom prst="rect">
              <a:avLst/>
            </a:prstGeom>
          </p:spPr>
        </p:pic>
        <p:sp>
          <p:nvSpPr>
            <p:cNvPr id="21" name="Text 16"/>
            <p:cNvSpPr txBox="1"/>
            <p:nvPr/>
          </p:nvSpPr>
          <p:spPr>
            <a:xfrm>
              <a:off x="861365" y="3720694"/>
              <a:ext cx="3583534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제약</a:t>
              </a: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 </a:t>
              </a:r>
              <a:r>
                <a:rPr lang="en-US" sz="1400" dirty="0" err="1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콘서트</a:t>
              </a: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시작 1시간 전 도착, </a:t>
              </a:r>
            </a:p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         </a:t>
              </a:r>
              <a:r>
                <a:rPr lang="en-US" sz="1400" dirty="0" err="1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예산</a:t>
              </a: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한도 내 운영</a:t>
              </a:r>
              <a:endParaRPr lang="en-US" sz="1400" dirty="0"/>
            </a:p>
          </p:txBody>
        </p:sp>
      </p:grpSp>
      <p:sp>
        <p:nvSpPr>
          <p:cNvPr id="22" name="Shape 17"/>
          <p:cNvSpPr/>
          <p:nvPr/>
        </p:nvSpPr>
        <p:spPr>
          <a:xfrm>
            <a:off x="4292194" y="1693034"/>
            <a:ext cx="3610051" cy="4638751"/>
          </a:xfrm>
          <a:prstGeom prst="roundRect">
            <a:avLst>
              <a:gd name="adj" fmla="val 535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Shape 18"/>
          <p:cNvSpPr/>
          <p:nvPr/>
        </p:nvSpPr>
        <p:spPr>
          <a:xfrm>
            <a:off x="4292194" y="1693034"/>
            <a:ext cx="3610051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Shape 19"/>
          <p:cNvSpPr/>
          <p:nvPr/>
        </p:nvSpPr>
        <p:spPr>
          <a:xfrm>
            <a:off x="4292194" y="1730524"/>
            <a:ext cx="3610051" cy="694944"/>
          </a:xfrm>
          <a:prstGeom prst="rect">
            <a:avLst/>
          </a:prstGeom>
          <a:solidFill>
            <a:srgbClr val="162032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25" name="Shape 20"/>
          <p:cNvSpPr/>
          <p:nvPr/>
        </p:nvSpPr>
        <p:spPr>
          <a:xfrm>
            <a:off x="4292194" y="2416324"/>
            <a:ext cx="3610051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559198" y="1993871"/>
            <a:ext cx="152705" cy="15270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4902098" y="1860369"/>
            <a:ext cx="9144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02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4902098" y="2062061"/>
            <a:ext cx="165432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 가이드</a:t>
            </a:r>
            <a:endParaRPr lang="en-US" dirty="0"/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8D156CFE-3A45-1D69-8476-FD9A5AF47D80}"/>
              </a:ext>
            </a:extLst>
          </p:cNvPr>
          <p:cNvGrpSpPr/>
          <p:nvPr/>
        </p:nvGrpSpPr>
        <p:grpSpPr>
          <a:xfrm>
            <a:off x="4453128" y="2670070"/>
            <a:ext cx="3440887" cy="3396995"/>
            <a:chOff x="4559198" y="2365553"/>
            <a:chExt cx="3029407" cy="2403043"/>
          </a:xfrm>
        </p:grpSpPr>
        <p:sp>
          <p:nvSpPr>
            <p:cNvPr id="29" name="Text 23"/>
            <p:cNvSpPr txBox="1"/>
            <p:nvPr/>
          </p:nvSpPr>
          <p:spPr>
            <a:xfrm>
              <a:off x="4559198" y="2365553"/>
              <a:ext cx="761695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자료 수집:</a:t>
              </a:r>
              <a:endParaRPr lang="en-US" sz="1400" dirty="0"/>
            </a:p>
          </p:txBody>
        </p:sp>
        <p:sp>
          <p:nvSpPr>
            <p:cNvPr id="30" name="Text 24"/>
            <p:cNvSpPr txBox="1"/>
            <p:nvPr/>
          </p:nvSpPr>
          <p:spPr>
            <a:xfrm>
              <a:off x="4559198" y="2557577"/>
              <a:ext cx="3029407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교통수단(KTX, 버스, 비행기)별 시간표, 비용, 소요시간 검색</a:t>
              </a:r>
              <a:endParaRPr lang="en-US" sz="14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4559198" y="3033065"/>
              <a:ext cx="99578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분석 및 표현:</a:t>
              </a:r>
              <a:endParaRPr lang="en-US" sz="1400" dirty="0"/>
            </a:p>
          </p:txBody>
        </p:sp>
        <p:sp>
          <p:nvSpPr>
            <p:cNvPr id="32" name="Text 26"/>
            <p:cNvSpPr txBox="1"/>
            <p:nvPr/>
          </p:nvSpPr>
          <p:spPr>
            <a:xfrm>
              <a:off x="4559198" y="3225089"/>
              <a:ext cx="293888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수집된 데이터를 비교표(Matrix)로 구조화</a:t>
              </a:r>
              <a:endParaRPr lang="en-US" sz="1400" dirty="0"/>
            </a:p>
          </p:txBody>
        </p:sp>
        <p:sp>
          <p:nvSpPr>
            <p:cNvPr id="33" name="Text 27"/>
            <p:cNvSpPr txBox="1"/>
            <p:nvPr/>
          </p:nvSpPr>
          <p:spPr>
            <a:xfrm>
              <a:off x="4559198" y="3508553"/>
              <a:ext cx="761695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문제 분해:</a:t>
              </a:r>
              <a:endParaRPr lang="en-US" sz="1400" dirty="0"/>
            </a:p>
          </p:txBody>
        </p:sp>
        <p:sp>
          <p:nvSpPr>
            <p:cNvPr id="34" name="Text 28"/>
            <p:cNvSpPr txBox="1"/>
            <p:nvPr/>
          </p:nvSpPr>
          <p:spPr>
            <a:xfrm>
              <a:off x="4559198" y="3700577"/>
              <a:ext cx="2953512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[준비] → [이동] → [대기] → [관람] → [귀가] 단계로 쪼개기</a:t>
              </a:r>
              <a:endParaRPr lang="en-US" sz="1400" dirty="0"/>
            </a:p>
          </p:txBody>
        </p:sp>
        <p:sp>
          <p:nvSpPr>
            <p:cNvPr id="35" name="Text 29"/>
            <p:cNvSpPr txBox="1"/>
            <p:nvPr/>
          </p:nvSpPr>
          <p:spPr>
            <a:xfrm>
              <a:off x="4559198" y="4176065"/>
              <a:ext cx="105430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알고리즘 설계:</a:t>
              </a:r>
              <a:endParaRPr lang="en-US" sz="1400" dirty="0"/>
            </a:p>
          </p:txBody>
        </p:sp>
        <p:sp>
          <p:nvSpPr>
            <p:cNvPr id="36" name="Text 30"/>
            <p:cNvSpPr txBox="1"/>
            <p:nvPr/>
          </p:nvSpPr>
          <p:spPr>
            <a:xfrm>
              <a:off x="4559198" y="4368089"/>
              <a:ext cx="2924251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조건(예산, 도착시간)에 따른 선택 절차를 의사코드(Pseudo-code)로 작성</a:t>
              </a:r>
              <a:endParaRPr lang="en-US" sz="1400" dirty="0"/>
            </a:p>
          </p:txBody>
        </p:sp>
      </p:grpSp>
      <p:sp>
        <p:nvSpPr>
          <p:cNvPr id="37" name="Shape 31"/>
          <p:cNvSpPr/>
          <p:nvPr/>
        </p:nvSpPr>
        <p:spPr>
          <a:xfrm>
            <a:off x="8128102" y="1693034"/>
            <a:ext cx="3610051" cy="4638751"/>
          </a:xfrm>
          <a:prstGeom prst="roundRect">
            <a:avLst>
              <a:gd name="adj" fmla="val 535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Shape 32"/>
          <p:cNvSpPr/>
          <p:nvPr/>
        </p:nvSpPr>
        <p:spPr>
          <a:xfrm>
            <a:off x="8128102" y="1693034"/>
            <a:ext cx="3610051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9" name="Shape 33"/>
          <p:cNvSpPr/>
          <p:nvPr/>
        </p:nvSpPr>
        <p:spPr>
          <a:xfrm>
            <a:off x="8128102" y="1730524"/>
            <a:ext cx="3610051" cy="694944"/>
          </a:xfrm>
          <a:prstGeom prst="rect">
            <a:avLst/>
          </a:prstGeom>
          <a:solidFill>
            <a:srgbClr val="162032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40" name="Shape 34"/>
          <p:cNvSpPr/>
          <p:nvPr/>
        </p:nvSpPr>
        <p:spPr>
          <a:xfrm>
            <a:off x="8128102" y="2416324"/>
            <a:ext cx="3610051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413394" y="1993871"/>
            <a:ext cx="114300" cy="152705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8738006" y="1860369"/>
            <a:ext cx="9144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03</a:t>
            </a:r>
            <a:endParaRPr lang="en-US" sz="1000" dirty="0"/>
          </a:p>
        </p:txBody>
      </p:sp>
      <p:sp>
        <p:nvSpPr>
          <p:cNvPr id="43" name="Text 36"/>
          <p:cNvSpPr txBox="1"/>
          <p:nvPr/>
        </p:nvSpPr>
        <p:spPr>
          <a:xfrm>
            <a:off x="8738006" y="2062061"/>
            <a:ext cx="165432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체크</a:t>
            </a:r>
            <a:endParaRPr lang="en-US" dirty="0"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22781AFB-B638-795F-B63E-E052EC27D8F4}"/>
              </a:ext>
            </a:extLst>
          </p:cNvPr>
          <p:cNvGrpSpPr/>
          <p:nvPr/>
        </p:nvGrpSpPr>
        <p:grpSpPr>
          <a:xfrm>
            <a:off x="8302752" y="2593718"/>
            <a:ext cx="3301419" cy="3322668"/>
            <a:chOff x="8302752" y="2310689"/>
            <a:chExt cx="4069450" cy="1529791"/>
          </a:xfrm>
        </p:grpSpPr>
        <p:sp>
          <p:nvSpPr>
            <p:cNvPr id="44" name="Text 37"/>
            <p:cNvSpPr txBox="1"/>
            <p:nvPr/>
          </p:nvSpPr>
          <p:spPr>
            <a:xfrm>
              <a:off x="8302752" y="2310689"/>
              <a:ext cx="3448202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다음 항목이 포함되었는지 확인하세요:</a:t>
              </a:r>
              <a:endParaRPr lang="en-US" sz="1200" dirty="0"/>
            </a:p>
          </p:txBody>
        </p:sp>
        <p:sp>
          <p:nvSpPr>
            <p:cNvPr id="45" name="Text 38"/>
            <p:cNvSpPr txBox="1"/>
            <p:nvPr/>
          </p:nvSpPr>
          <p:spPr>
            <a:xfrm>
              <a:off x="8531351" y="2567635"/>
              <a:ext cx="378546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교통수단별 비교 분석표 (비용/시간)</a:t>
              </a:r>
              <a:endParaRPr lang="en-US" sz="1400" dirty="0"/>
            </a:p>
          </p:txBody>
        </p:sp>
        <p:sp>
          <p:nvSpPr>
            <p:cNvPr id="46" name="Text 39"/>
            <p:cNvSpPr txBox="1"/>
            <p:nvPr/>
          </p:nvSpPr>
          <p:spPr>
            <a:xfrm>
              <a:off x="8531351" y="2835554"/>
              <a:ext cx="371337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이동 경로 시각화 모델 (출발지 → 목적지)</a:t>
              </a:r>
              <a:endParaRPr lang="en-US" sz="1400" dirty="0"/>
            </a:p>
          </p:txBody>
        </p:sp>
        <p:sp>
          <p:nvSpPr>
            <p:cNvPr id="47" name="Text 40"/>
            <p:cNvSpPr txBox="1"/>
            <p:nvPr/>
          </p:nvSpPr>
          <p:spPr>
            <a:xfrm>
              <a:off x="8531352" y="3104388"/>
              <a:ext cx="384085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의사결정 트리 또는 순서도</a:t>
              </a:r>
              <a:endParaRPr lang="en-US" sz="1400" dirty="0"/>
            </a:p>
          </p:txBody>
        </p:sp>
        <p:sp>
          <p:nvSpPr>
            <p:cNvPr id="48" name="Text 41"/>
            <p:cNvSpPr txBox="1"/>
            <p:nvPr/>
          </p:nvSpPr>
          <p:spPr>
            <a:xfrm>
              <a:off x="8531352" y="3372307"/>
              <a:ext cx="371337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최종 선택안 및 </a:t>
              </a:r>
              <a:r>
                <a:rPr lang="en-US" sz="1400" dirty="0" err="1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근거</a:t>
              </a: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("KTX가 비싸지만 정시성 보장")</a:t>
              </a:r>
              <a:endParaRPr lang="en-US" sz="1400" dirty="0"/>
            </a:p>
          </p:txBody>
        </p:sp>
        <p:sp>
          <p:nvSpPr>
            <p:cNvPr id="49" name="Text 42"/>
            <p:cNvSpPr txBox="1"/>
            <p:nvPr/>
          </p:nvSpPr>
          <p:spPr>
            <a:xfrm>
              <a:off x="8531352" y="3640226"/>
              <a:ext cx="371337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비상 상황 대처 방안 (예: 매진 시 대안)</a:t>
              </a:r>
              <a:endParaRPr lang="en-US" sz="1400" dirty="0"/>
            </a:p>
          </p:txBody>
        </p:sp>
      </p:grpSp>
      <p:sp>
        <p:nvSpPr>
          <p:cNvPr id="50" name="Shape 43"/>
          <p:cNvSpPr/>
          <p:nvPr/>
        </p:nvSpPr>
        <p:spPr>
          <a:xfrm>
            <a:off x="457200" y="6483575"/>
            <a:ext cx="11277295" cy="914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5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249539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Application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66344" y="761695"/>
            <a:ext cx="745301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예시: 부산→서울 콘서트 문제 해결 (CT 6단계)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57300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447495"/>
            <a:ext cx="11277295" cy="761695"/>
          </a:xfrm>
          <a:prstGeom prst="roundRect">
            <a:avLst>
              <a:gd name="adj" fmla="val 12005"/>
            </a:avLst>
          </a:prstGeom>
          <a:solidFill>
            <a:srgbClr val="1F2937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1447495"/>
            <a:ext cx="38405" cy="761695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762610" y="1561795"/>
            <a:ext cx="11009375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시나리오</a:t>
            </a:r>
            <a:r>
              <a:rPr lang="en-US" sz="13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</a:t>
            </a:r>
            <a:r>
              <a:rPr lang="en-US" sz="1300" dirty="0" err="1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부산에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사는 대학생 철수가 서울 잠실주경기장에서 열리는 콘서트(19:00 시작)에 </a:t>
            </a:r>
            <a:r>
              <a:rPr lang="en-US" sz="1300" dirty="0" err="1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참가하기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위해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비용으로 늦지 않게 도착하는" 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 계획을 세운다.</a:t>
            </a:r>
            <a:endParaRPr lang="en-US" sz="13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760" r="-760"/>
          <a:stretch/>
        </p:blipFill>
        <p:spPr>
          <a:xfrm>
            <a:off x="609905" y="1504188"/>
            <a:ext cx="152705" cy="171907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2438705"/>
            <a:ext cx="11277295" cy="3962095"/>
          </a:xfrm>
          <a:prstGeom prst="roundRect">
            <a:avLst>
              <a:gd name="adj" fmla="val 66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62290"/>
              </p:ext>
            </p:extLst>
          </p:nvPr>
        </p:nvGraphicFramePr>
        <p:xfrm>
          <a:off x="638250" y="2155241"/>
          <a:ext cx="11258093" cy="4155185"/>
        </p:xfrm>
        <a:graphic>
          <a:graphicData uri="http://schemas.openxmlformats.org/drawingml/2006/table">
            <a:tbl>
              <a:tblPr/>
              <a:tblGrid>
                <a:gridCol w="1454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29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8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920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단계 (STEP)</a:t>
                      </a:r>
                      <a:endParaRPr lang="en-US" sz="1200" dirty="0">
                        <a:solidFill>
                          <a:schemeClr val="bg1"/>
                        </a:solidFill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 anchor="ctr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BAE6F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활동 내용 (ACTIVITY)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 anchor="ctr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BAE6F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입력/과정 (PROCESS)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 anchor="ctr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BAE6F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결과물 (OUTPUT)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 anchor="ctr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자료 수집/분석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D1D5D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이동 수단별 정보 검색 및 비교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KTX, 고속버스, 비행기 웹사이트 검색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(소요시간, 편도 비용, 터미널 위치)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7DD3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비교 매트릭스 표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KTX: 2.5h/6만원 | 버스: 4.5h/3.5만원 (예시 값, 2026-01 기준)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문제 분해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D1D5D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여정을 단위 구간으로 쪼개기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집 → 부산역/터미널 (이동1)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부산 → 서울 (이동2: 핵심)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서울 → 경기장 (이동3)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7DD3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구간별 소요시간/비용 목록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총 시간 = T1 + T2 + T3 + 대기시간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패턴 인식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D1D5D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교통 체증 및 환승 규칙 발견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"주말 서울 시내는 지하철이 빠르다"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"기차/버스는 출발 15분 전 도착 필요"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7DD3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제약 조건(Constraint) 도출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여유 시간(Buffer) = 30분 설정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추상화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D1D5D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핵심 변수만 남겨 모델링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불필요: 좌석 색상, 차종, 휴게소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필요: 출발시각, 도착시각, 비용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7DD3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단순화된 경로 모델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Route(Cost, Time, ArriveBy)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알고리즘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D1D5D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최적해 선택 절차 수립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IF (도착시각 &lt; 18:00) AND (비용 최소)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THEN 선택 ELSE 다음 대안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7DD3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의사결정 트리 / 순서도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결과: 12:00 고속버스 출발 (가성비 최적)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249539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Application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61695"/>
            <a:ext cx="115827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 연결: 과제설계 템플릿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957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714146" y="1652321"/>
            <a:ext cx="63157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제출물 구성 요소 (Checklist)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690726"/>
            <a:ext cx="142646" cy="19019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072030"/>
            <a:ext cx="6458407" cy="685800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57200" y="2072030"/>
            <a:ext cx="38405" cy="685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1" name="Shape 8"/>
          <p:cNvSpPr/>
          <p:nvPr/>
        </p:nvSpPr>
        <p:spPr>
          <a:xfrm>
            <a:off x="609905" y="2281428"/>
            <a:ext cx="267005" cy="2670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2571" r="-2571"/>
          <a:stretch/>
        </p:blipFill>
        <p:spPr>
          <a:xfrm>
            <a:off x="690372" y="2357323"/>
            <a:ext cx="105156" cy="1143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90295" y="2169722"/>
            <a:ext cx="4094535" cy="283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브리프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990295" y="2440534"/>
            <a:ext cx="4831938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정의, 성공 기준, 제약 사항 명확화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57200" y="2872130"/>
            <a:ext cx="6458407" cy="685800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457200" y="2872130"/>
            <a:ext cx="38405" cy="685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7" name="Shape 13"/>
          <p:cNvSpPr/>
          <p:nvPr/>
        </p:nvSpPr>
        <p:spPr>
          <a:xfrm>
            <a:off x="609905" y="3081528"/>
            <a:ext cx="267005" cy="2670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 l="-2571" r="-2571"/>
          <a:stretch/>
        </p:blipFill>
        <p:spPr>
          <a:xfrm>
            <a:off x="690372" y="3157423"/>
            <a:ext cx="105156" cy="1143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90295" y="2969822"/>
            <a:ext cx="5155361" cy="283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분해도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990294" y="3240634"/>
            <a:ext cx="5884681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WBS(작업 분할 구조) 또는 기능 단위 분해 시각화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457200" y="3672230"/>
            <a:ext cx="6458407" cy="685800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457200" y="3672230"/>
            <a:ext cx="38405" cy="685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3" name="Shape 18"/>
          <p:cNvSpPr/>
          <p:nvPr/>
        </p:nvSpPr>
        <p:spPr>
          <a:xfrm>
            <a:off x="609905" y="3881628"/>
            <a:ext cx="267005" cy="2670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rcRect l="-2571" r="-2571"/>
          <a:stretch/>
        </p:blipFill>
        <p:spPr>
          <a:xfrm>
            <a:off x="690372" y="3957523"/>
            <a:ext cx="105156" cy="1143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0295" y="3769922"/>
            <a:ext cx="4565115" cy="283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모델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990294" y="4040734"/>
            <a:ext cx="5318691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변수, 데이터 관계 및 입출력 구조 정의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4472330"/>
            <a:ext cx="6458407" cy="685800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457200" y="4472330"/>
            <a:ext cx="38405" cy="685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9" name="Shape 23"/>
          <p:cNvSpPr/>
          <p:nvPr/>
        </p:nvSpPr>
        <p:spPr>
          <a:xfrm>
            <a:off x="609905" y="4681728"/>
            <a:ext cx="267005" cy="2670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rcRect l="-2571" r="-2571"/>
          <a:stretch/>
        </p:blipFill>
        <p:spPr>
          <a:xfrm>
            <a:off x="690372" y="4757623"/>
            <a:ext cx="105156" cy="11430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90295" y="4570022"/>
            <a:ext cx="5063186" cy="283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절차 설계 (Algorithm)</a:t>
            </a:r>
            <a:endParaRPr lang="en-US" sz="2000" dirty="0"/>
          </a:p>
        </p:txBody>
      </p:sp>
      <p:sp>
        <p:nvSpPr>
          <p:cNvPr id="32" name="Text 25"/>
          <p:cNvSpPr txBox="1"/>
          <p:nvPr/>
        </p:nvSpPr>
        <p:spPr>
          <a:xfrm>
            <a:off x="990295" y="4840834"/>
            <a:ext cx="576986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순서도(Flowchart) 또는 의사코드(Pseudocode)</a:t>
            </a:r>
            <a:endParaRPr lang="en-US" sz="1400" dirty="0"/>
          </a:p>
        </p:txBody>
      </p:sp>
      <p:sp>
        <p:nvSpPr>
          <p:cNvPr id="33" name="Shape 26"/>
          <p:cNvSpPr/>
          <p:nvPr/>
        </p:nvSpPr>
        <p:spPr>
          <a:xfrm>
            <a:off x="457200" y="5272430"/>
            <a:ext cx="6458407" cy="685800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7"/>
          <p:cNvSpPr/>
          <p:nvPr/>
        </p:nvSpPr>
        <p:spPr>
          <a:xfrm>
            <a:off x="457200" y="5272430"/>
            <a:ext cx="38405" cy="685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35" name="Shape 28"/>
          <p:cNvSpPr/>
          <p:nvPr/>
        </p:nvSpPr>
        <p:spPr>
          <a:xfrm>
            <a:off x="609905" y="5481828"/>
            <a:ext cx="267005" cy="2670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4"/>
          <a:srcRect l="-2571" r="-2571"/>
          <a:stretch/>
        </p:blipFill>
        <p:spPr>
          <a:xfrm>
            <a:off x="690372" y="5557723"/>
            <a:ext cx="105156" cy="11430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90294" y="5370122"/>
            <a:ext cx="4493963" cy="283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계획</a:t>
            </a:r>
            <a:endParaRPr lang="en-US" sz="2000" dirty="0"/>
          </a:p>
        </p:txBody>
      </p:sp>
      <p:sp>
        <p:nvSpPr>
          <p:cNvPr id="38" name="Text 30"/>
          <p:cNvSpPr txBox="1"/>
          <p:nvPr/>
        </p:nvSpPr>
        <p:spPr>
          <a:xfrm>
            <a:off x="990294" y="5640934"/>
            <a:ext cx="5173151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 케이스, 시뮬레이션 로그, 예상 결과</a:t>
            </a:r>
            <a:endParaRPr lang="en-US" sz="1400" dirty="0"/>
          </a:p>
        </p:txBody>
      </p:sp>
      <p:sp>
        <p:nvSpPr>
          <p:cNvPr id="39" name="Shape 31"/>
          <p:cNvSpPr/>
          <p:nvPr/>
        </p:nvSpPr>
        <p:spPr>
          <a:xfrm>
            <a:off x="7213702" y="1485900"/>
            <a:ext cx="4524451" cy="4638751"/>
          </a:xfrm>
          <a:prstGeom prst="roundRect">
            <a:avLst>
              <a:gd name="adj" fmla="val 5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5">
            <a:alphaModFix amt="50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-44" r="-44"/>
          <a:stretch/>
        </p:blipFill>
        <p:spPr>
          <a:xfrm>
            <a:off x="11058754" y="1647749"/>
            <a:ext cx="514807" cy="685800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457200" y="6124651"/>
            <a:ext cx="11277295" cy="914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3"/>
          <p:cNvSpPr txBox="1"/>
          <p:nvPr/>
        </p:nvSpPr>
        <p:spPr>
          <a:xfrm>
            <a:off x="457200" y="6248095"/>
            <a:ext cx="6302960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*본 템플릿은 컴퓨팅 사고력 기반 과제 제출 시 표준으로 권장됩니다.</a:t>
            </a:r>
            <a:endParaRPr lang="en-US" sz="1200" dirty="0"/>
          </a:p>
        </p:txBody>
      </p:sp>
      <p:sp>
        <p:nvSpPr>
          <p:cNvPr id="43" name="Text 34"/>
          <p:cNvSpPr txBox="1"/>
          <p:nvPr/>
        </p:nvSpPr>
        <p:spPr>
          <a:xfrm>
            <a:off x="7708392" y="2336292"/>
            <a:ext cx="390631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 및 작성 Tip</a:t>
            </a:r>
            <a:endParaRPr lang="en-US" sz="1500" dirty="0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451446" y="2373782"/>
            <a:ext cx="142646" cy="190195"/>
          </a:xfrm>
          <a:prstGeom prst="rect">
            <a:avLst/>
          </a:prstGeom>
        </p:spPr>
      </p:pic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451446" y="2830982"/>
            <a:ext cx="133502" cy="133502"/>
          </a:xfrm>
          <a:prstGeom prst="rect">
            <a:avLst/>
          </a:prstGeom>
        </p:spPr>
      </p:pic>
      <p:pic>
        <p:nvPicPr>
          <p:cNvPr id="47" name="Image 9" descr="preencoded.png"/>
          <p:cNvPicPr>
            <a:picLocks noChangeAspect="1"/>
          </p:cNvPicPr>
          <p:nvPr/>
        </p:nvPicPr>
        <p:blipFill>
          <a:blip r:embed="rId9"/>
          <a:srcRect l="-837" r="-837"/>
          <a:stretch/>
        </p:blipFill>
        <p:spPr>
          <a:xfrm>
            <a:off x="7451446" y="3721608"/>
            <a:ext cx="152705" cy="133502"/>
          </a:xfrm>
          <a:prstGeom prst="rect">
            <a:avLst/>
          </a:prstGeom>
        </p:spPr>
      </p:pic>
      <p:pic>
        <p:nvPicPr>
          <p:cNvPr id="49" name="Image 10" descr="preencoded.png"/>
          <p:cNvPicPr>
            <a:picLocks noChangeAspect="1"/>
          </p:cNvPicPr>
          <p:nvPr/>
        </p:nvPicPr>
        <p:blipFill>
          <a:blip r:embed="rId10"/>
          <a:srcRect l="-837" r="-837"/>
          <a:stretch/>
        </p:blipFill>
        <p:spPr>
          <a:xfrm>
            <a:off x="7451446" y="4612234"/>
            <a:ext cx="152705" cy="133502"/>
          </a:xfrm>
          <a:prstGeom prst="rect">
            <a:avLst/>
          </a:prstGeom>
        </p:spPr>
      </p:pic>
      <p:grpSp>
        <p:nvGrpSpPr>
          <p:cNvPr id="54" name="그룹 53">
            <a:extLst>
              <a:ext uri="{FF2B5EF4-FFF2-40B4-BE49-F238E27FC236}">
                <a16:creationId xmlns:a16="http://schemas.microsoft.com/office/drawing/2014/main" id="{3E36B62F-2D71-8A0C-2979-D5DB7E0D66D0}"/>
              </a:ext>
            </a:extLst>
          </p:cNvPr>
          <p:cNvGrpSpPr/>
          <p:nvPr/>
        </p:nvGrpSpPr>
        <p:grpSpPr>
          <a:xfrm>
            <a:off x="7699248" y="3059582"/>
            <a:ext cx="3832251" cy="2220164"/>
            <a:chOff x="7699248" y="3059582"/>
            <a:chExt cx="5891479" cy="2220164"/>
          </a:xfrm>
        </p:grpSpPr>
        <p:sp>
          <p:nvSpPr>
            <p:cNvPr id="46" name="Text 35"/>
            <p:cNvSpPr txBox="1"/>
            <p:nvPr/>
          </p:nvSpPr>
          <p:spPr>
            <a:xfrm>
              <a:off x="7699248" y="3059582"/>
              <a:ext cx="5891479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슬라이드당 텍스트는 </a:t>
              </a:r>
              <a:r>
                <a:rPr lang="en-US" sz="1400" b="1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6~8줄</a:t>
              </a: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을 넘지 않도록 합니다. 복잡한 내용은 시각적 요소로 대체하세요.</a:t>
              </a:r>
              <a:endParaRPr lang="en-US" sz="1400" dirty="0"/>
            </a:p>
          </p:txBody>
        </p:sp>
        <p:sp>
          <p:nvSpPr>
            <p:cNvPr id="48" name="Text 36"/>
            <p:cNvSpPr txBox="1"/>
            <p:nvPr/>
          </p:nvSpPr>
          <p:spPr>
            <a:xfrm>
              <a:off x="7718450" y="3950208"/>
              <a:ext cx="586313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줄글보다는 다이어그램, 표, 프로세스 맵을 적극 활용하여 정보의 구조를 한눈에 보여주세요.</a:t>
              </a:r>
              <a:endParaRPr lang="en-US" sz="1400" dirty="0"/>
            </a:p>
          </p:txBody>
        </p:sp>
        <p:sp>
          <p:nvSpPr>
            <p:cNvPr id="50" name="Text 37"/>
            <p:cNvSpPr txBox="1"/>
            <p:nvPr/>
          </p:nvSpPr>
          <p:spPr>
            <a:xfrm>
              <a:off x="7718450" y="4840834"/>
              <a:ext cx="5071262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각 단계별 산출물(모델, 절차 등)은 섞이지 않게 명확히 구분하여 제시합니다.</a:t>
              </a:r>
              <a:endParaRPr lang="en-US" sz="1400" dirty="0"/>
            </a:p>
          </p:txBody>
        </p:sp>
      </p:grpSp>
      <p:sp>
        <p:nvSpPr>
          <p:cNvPr id="51" name="Text 38"/>
          <p:cNvSpPr txBox="1"/>
          <p:nvPr/>
        </p:nvSpPr>
        <p:spPr>
          <a:xfrm>
            <a:off x="7699248" y="2793492"/>
            <a:ext cx="11713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과밀 방지</a:t>
            </a:r>
            <a:endParaRPr lang="en-US" sz="1200" dirty="0"/>
          </a:p>
        </p:txBody>
      </p:sp>
      <p:sp>
        <p:nvSpPr>
          <p:cNvPr id="52" name="Text 39"/>
          <p:cNvSpPr txBox="1"/>
          <p:nvPr/>
        </p:nvSpPr>
        <p:spPr>
          <a:xfrm>
            <a:off x="7718450" y="3684118"/>
            <a:ext cx="10725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구조적 시각화</a:t>
            </a:r>
            <a:endParaRPr lang="en-US" sz="1200" dirty="0"/>
          </a:p>
        </p:txBody>
      </p:sp>
      <p:sp>
        <p:nvSpPr>
          <p:cNvPr id="53" name="Text 40"/>
          <p:cNvSpPr txBox="1"/>
          <p:nvPr/>
        </p:nvSpPr>
        <p:spPr>
          <a:xfrm>
            <a:off x="7718450" y="4574743"/>
            <a:ext cx="9107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분리</a:t>
            </a:r>
            <a:endParaRPr lang="en-US" sz="12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238018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Summary &amp; Next Steps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61695"/>
            <a:ext cx="115827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정리와 다음 단계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957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752551" y="1954987"/>
            <a:ext cx="62773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 (Key Takeaways)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282" r="-1282"/>
          <a:stretch/>
        </p:blipFill>
        <p:spPr>
          <a:xfrm>
            <a:off x="457200" y="1993392"/>
            <a:ext cx="219456" cy="19019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373782"/>
            <a:ext cx="6458407" cy="10479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57200" y="2373782"/>
            <a:ext cx="38405" cy="104790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647395" y="2526487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3407" y="2621585"/>
            <a:ext cx="152705" cy="15270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43000" y="2526487"/>
            <a:ext cx="58110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F4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 프로세스의 순환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57200" y="3531413"/>
            <a:ext cx="6458407" cy="10479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457200" y="3531413"/>
            <a:ext cx="38405" cy="104790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647395" y="3684118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752551" y="3779215"/>
            <a:ext cx="133502" cy="15270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143000" y="3684118"/>
            <a:ext cx="58110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F4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사고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457200" y="4689043"/>
            <a:ext cx="6458407" cy="10479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457200" y="4689043"/>
            <a:ext cx="38405" cy="104790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647395" y="4840834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43407" y="4935931"/>
            <a:ext cx="152705" cy="1527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43000" y="4840834"/>
            <a:ext cx="58110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F4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구조적 문제 해결력</a:t>
            </a:r>
            <a:endParaRPr lang="en-US" sz="1300" dirty="0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63E1FFC-7741-42AE-37D3-F7C1628822BB}"/>
              </a:ext>
            </a:extLst>
          </p:cNvPr>
          <p:cNvGrpSpPr/>
          <p:nvPr/>
        </p:nvGrpSpPr>
        <p:grpSpPr>
          <a:xfrm>
            <a:off x="1142999" y="2830982"/>
            <a:ext cx="5772607" cy="2754173"/>
            <a:chOff x="1142999" y="2830982"/>
            <a:chExt cx="8124686" cy="2754173"/>
          </a:xfrm>
        </p:grpSpPr>
        <p:sp>
          <p:nvSpPr>
            <p:cNvPr id="14" name="Text 10"/>
            <p:cNvSpPr txBox="1"/>
            <p:nvPr/>
          </p:nvSpPr>
          <p:spPr>
            <a:xfrm>
              <a:off x="1142999" y="2830982"/>
              <a:ext cx="8124686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컴퓨팅 사고는 정의→분해→패턴→추상화→알고리즘→검증의 단방향이 아닌, 피드백을 통해 반복하고 개선하는 순환적 과정입니다.</a:t>
              </a:r>
              <a:endParaRPr lang="en-US" sz="1400" dirty="0"/>
            </a:p>
          </p:txBody>
        </p:sp>
        <p:sp>
          <p:nvSpPr>
            <p:cNvPr id="20" name="Text 15"/>
            <p:cNvSpPr txBox="1"/>
            <p:nvPr/>
          </p:nvSpPr>
          <p:spPr>
            <a:xfrm>
              <a:off x="1143000" y="3988613"/>
              <a:ext cx="798189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자료 수집, 분석, 표현은 모든 단계의 기초가 됩니다. 데이터가 없으면 패턴 인식과 추상화도 불가능합니다.</a:t>
              </a:r>
              <a:endParaRPr lang="en-US" sz="1400" dirty="0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1143000" y="5146243"/>
              <a:ext cx="7823606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단순 코딩 기술이 아니라, 복잡한 문제를 해결 가능한 작은 단위로 쪼개고 논리적으로 재조립하는 설계 능력이 핵심입니다.</a:t>
              </a:r>
              <a:endParaRPr lang="en-US" sz="1400" dirty="0"/>
            </a:p>
          </p:txBody>
        </p:sp>
      </p:grpSp>
      <p:sp>
        <p:nvSpPr>
          <p:cNvPr id="27" name="Shape 21"/>
          <p:cNvSpPr/>
          <p:nvPr/>
        </p:nvSpPr>
        <p:spPr>
          <a:xfrm>
            <a:off x="7213702" y="1561795"/>
            <a:ext cx="4524451" cy="4562856"/>
          </a:xfrm>
          <a:prstGeom prst="roundRect">
            <a:avLst>
              <a:gd name="adj" fmla="val 5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751080" y="402750"/>
            <a:ext cx="914400" cy="91440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457200" y="6124651"/>
            <a:ext cx="11277295" cy="914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 txBox="1"/>
          <p:nvPr/>
        </p:nvSpPr>
        <p:spPr>
          <a:xfrm>
            <a:off x="7670902" y="1876349"/>
            <a:ext cx="289864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Self Checklist</a:t>
            </a:r>
            <a:endParaRPr lang="en-US" sz="15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451446" y="1914754"/>
            <a:ext cx="142646" cy="190195"/>
          </a:xfrm>
          <a:prstGeom prst="rect">
            <a:avLst/>
          </a:prstGeom>
        </p:spPr>
      </p:pic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451446" y="2343607"/>
            <a:ext cx="133502" cy="13350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7680046" y="2295144"/>
            <a:ext cx="32269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정의가 측정 가능하고 모순이 없는가?</a:t>
            </a:r>
            <a:endParaRPr lang="en-US" sz="1200" dirty="0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451446" y="2686507"/>
            <a:ext cx="133502" cy="13350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680046" y="2638044"/>
            <a:ext cx="36109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분해된 요소 간의 연결(인터페이스)이 명확한가?</a:t>
            </a:r>
            <a:endParaRPr lang="en-US" sz="1200" dirty="0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451446" y="3029407"/>
            <a:ext cx="133502" cy="133502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680046" y="2980944"/>
            <a:ext cx="33732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알고리즘이 제3자도 실행할 만큼 명시적인가?</a:t>
            </a:r>
            <a:endParaRPr lang="en-US" sz="1200" dirty="0"/>
          </a:p>
        </p:txBody>
      </p:sp>
      <p:sp>
        <p:nvSpPr>
          <p:cNvPr id="39" name="Shape 28"/>
          <p:cNvSpPr/>
          <p:nvPr/>
        </p:nvSpPr>
        <p:spPr>
          <a:xfrm>
            <a:off x="7451446" y="3890772"/>
            <a:ext cx="4048049" cy="91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29"/>
          <p:cNvSpPr txBox="1"/>
          <p:nvPr/>
        </p:nvSpPr>
        <p:spPr>
          <a:xfrm>
            <a:off x="7676388" y="4105197"/>
            <a:ext cx="39346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 Challenge</a:t>
            </a:r>
            <a:endParaRPr lang="en-US" sz="130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10"/>
          <a:srcRect l="-760" r="-760"/>
          <a:stretch/>
        </p:blipFill>
        <p:spPr>
          <a:xfrm>
            <a:off x="7447788" y="4153660"/>
            <a:ext cx="152705" cy="171907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7447788" y="4486502"/>
            <a:ext cx="4048049" cy="1390343"/>
          </a:xfrm>
          <a:prstGeom prst="roundRect">
            <a:avLst>
              <a:gd name="adj" fmla="val 9697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1"/>
          <p:cNvSpPr txBox="1"/>
          <p:nvPr/>
        </p:nvSpPr>
        <p:spPr>
          <a:xfrm>
            <a:off x="7572146" y="4610860"/>
            <a:ext cx="399135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실천 과제</a:t>
            </a:r>
            <a:endParaRPr lang="en-US" sz="1400" dirty="0"/>
          </a:p>
        </p:txBody>
      </p:sp>
      <p:sp>
        <p:nvSpPr>
          <p:cNvPr id="44" name="Text 32"/>
          <p:cNvSpPr txBox="1"/>
          <p:nvPr/>
        </p:nvSpPr>
        <p:spPr>
          <a:xfrm>
            <a:off x="7572146" y="4839460"/>
            <a:ext cx="3848753" cy="619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본인의 전공(또는 관심 분야) 과제 하나를 선정하여,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</a:t>
            </a: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학습한 CT 6단계 프로세스로 재설계한 후 제출하세요.</a:t>
            </a:r>
            <a:endParaRPr lang="en-US" sz="12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1839</Words>
  <Application>Microsoft Office PowerPoint</Application>
  <PresentationFormat>와이드스크린</PresentationFormat>
  <Paragraphs>345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Noto Sans KR</vt:lpstr>
      <vt:lpstr>Noto Sans Mono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2</cp:revision>
  <dcterms:created xsi:type="dcterms:W3CDTF">2026-01-25T19:50:10Z</dcterms:created>
  <dcterms:modified xsi:type="dcterms:W3CDTF">2026-01-25T21:16:56Z</dcterms:modified>
</cp:coreProperties>
</file>