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</p:sldIdLst>
  <p:sldSz cx="18288000" cy="10287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4192250" y="-2381250"/>
            <a:ext cx="7429500" cy="7429500"/>
          </a:xfrm>
          <a:prstGeom prst="ellipse">
            <a:avLst/>
          </a:prstGeom>
          <a:solidFill>
            <a:srgbClr val="F1F5FB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15430500" y="-1143000"/>
            <a:ext cx="4953000" cy="49530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15906750" y="5905500"/>
            <a:ext cx="4953000" cy="4953000"/>
          </a:xfrm>
          <a:prstGeom prst="ellipse">
            <a:avLst/>
          </a:prstGeom>
          <a:solidFill>
            <a:srgbClr val="F5F6F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-1714500" y="2857500"/>
            <a:ext cx="2857500" cy="28575"/>
          </a:xfrm>
          <a:prstGeom prst="rect">
            <a:avLst/>
          </a:prstGeom>
          <a:solidFill>
            <a:srgbClr val="E6E9E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-2857500" y="6953250"/>
            <a:ext cx="6953250" cy="6953250"/>
          </a:xfrm>
          <a:prstGeom prst="ellipse">
            <a:avLst/>
          </a:prstGeom>
          <a:solidFill>
            <a:srgbClr val="EEF2FA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-1581150" y="8229600"/>
            <a:ext cx="4400550" cy="440055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3390900" y="8953500"/>
            <a:ext cx="742950" cy="742950"/>
          </a:xfrm>
          <a:prstGeom prst="ellipse">
            <a:avLst/>
          </a:prstGeom>
          <a:solidFill>
            <a:srgbClr val="EBEEF2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4457700" y="9563100"/>
            <a:ext cx="342900" cy="342900"/>
          </a:xfrm>
          <a:prstGeom prst="ellipse">
            <a:avLst/>
          </a:prstGeom>
          <a:solidFill>
            <a:srgbClr val="E1E9F7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1143000" y="9639300"/>
            <a:ext cx="1619250" cy="28575"/>
          </a:xfrm>
          <a:prstGeom prst="rect">
            <a:avLst/>
          </a:prstGeom>
          <a:solidFill>
            <a:srgbClr val="E6E9E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1143000" y="2857500"/>
            <a:ext cx="16002000" cy="28575"/>
          </a:xfrm>
          <a:prstGeom prst="rect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143000" y="3486150"/>
            <a:ext cx="8572500" cy="4191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00" b="1" spc="120">
                <a:solidFill>
                  <a:srgbClr val="1E5BC6"/>
                </a:solidFill>
                <a:latin typeface="Pretendard"/>
                <a:ea typeface="Pretendard"/>
                <a:cs typeface="Pretendard"/>
              </a:rPr>
              <a:t>5-2 · Docker Compose로 Spark 마스터-워커 구축 · 이론 1H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143000" y="3905250"/>
            <a:ext cx="16002000" cy="13837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8700" b="1" spc="-324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Spark 클러스터 배포 구조 이해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143000" y="5498592"/>
            <a:ext cx="16002000" cy="5715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3300" b="1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마스터·워커·드라이버·익스큐터 — 누가 무엇을 하나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572500" y="7677150"/>
            <a:ext cx="8572500" cy="857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50000"/>
              </a:lnSpc>
            </a:pPr>
            <a:r>
              <a:rPr sz="1950" b="1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수도권ICT 이노베이션스퀘어</a:t>
            </a:r>
          </a:p>
          <a:p>
            <a:pPr algn="r">
              <a:lnSpc>
                <a:spcPct val="150000"/>
              </a:lnSpc>
            </a:pPr>
            <a:r>
              <a:rPr sz="1950" b="1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데이터 엔지니어링 &amp; RAG 파이프라인 160H · 3기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5811500" y="8382000"/>
            <a:ext cx="4953000" cy="4953000"/>
          </a:xfrm>
          <a:prstGeom prst="ellipse">
            <a:avLst/>
          </a:prstGeom>
          <a:solidFill>
            <a:srgbClr val="F3F6FC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16859250" y="9429750"/>
            <a:ext cx="2857500" cy="28575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-1428750" y="1428750"/>
            <a:ext cx="2857500" cy="2857500"/>
          </a:xfrm>
          <a:prstGeom prst="ellipse">
            <a:avLst/>
          </a:prstGeom>
          <a:solidFill>
            <a:srgbClr val="F7F8FA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8382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50" b="1" spc="160">
                <a:solidFill>
                  <a:srgbClr val="1E5BC6"/>
                </a:solidFill>
                <a:latin typeface="Pretendard"/>
                <a:ea typeface="Pretendard"/>
                <a:cs typeface="Pretendard"/>
              </a:rPr>
              <a:t>이 시간의 목표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1162050"/>
            <a:ext cx="160020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100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1시간 뒤에는</a:t>
            </a:r>
          </a:p>
        </p:txBody>
      </p:sp>
      <p:sp>
        <p:nvSpPr>
          <p:cNvPr id="7" name="Rectangle 6"/>
          <p:cNvSpPr/>
          <p:nvPr/>
        </p:nvSpPr>
        <p:spPr>
          <a:xfrm>
            <a:off x="1143000" y="2038350"/>
            <a:ext cx="16002000" cy="28575"/>
          </a:xfrm>
          <a:prstGeom prst="rect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1143000" y="2895600"/>
            <a:ext cx="16002000" cy="819150"/>
          </a:xfrm>
          <a:prstGeom prst="roundRect">
            <a:avLst>
              <a:gd name="adj" fmla="val 581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390650" y="3038475"/>
            <a:ext cx="533400" cy="533400"/>
          </a:xfrm>
          <a:prstGeom prst="ellipse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390650" y="3162300"/>
            <a:ext cx="5334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1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①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190750" y="2895600"/>
            <a:ext cx="14573250" cy="8191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32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마스터·워커·드라이버·익스큐터의 역할을 구별한다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1143000" y="3886200"/>
            <a:ext cx="16002000" cy="819150"/>
          </a:xfrm>
          <a:prstGeom prst="roundRect">
            <a:avLst>
              <a:gd name="adj" fmla="val 581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1390650" y="4029075"/>
            <a:ext cx="533400" cy="533400"/>
          </a:xfrm>
          <a:prstGeom prst="ellipse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390650" y="4152900"/>
            <a:ext cx="5334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1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②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190750" y="3886200"/>
            <a:ext cx="14573250" cy="8191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32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잡을 제출하면 벌어지는 여섯 단계를 순서대로 말한다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1143000" y="4876800"/>
            <a:ext cx="16002000" cy="819150"/>
          </a:xfrm>
          <a:prstGeom prst="roundRect">
            <a:avLst>
              <a:gd name="adj" fmla="val 581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1390650" y="5019675"/>
            <a:ext cx="533400" cy="533400"/>
          </a:xfrm>
          <a:prstGeom prst="ellipse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390650" y="5143500"/>
            <a:ext cx="5334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1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③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190750" y="4876800"/>
            <a:ext cx="14573250" cy="8191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32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Standalone·YARN·Kubernetes 는 --master 만 바뀜을 안다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1143000" y="5867400"/>
            <a:ext cx="16002000" cy="819150"/>
          </a:xfrm>
          <a:prstGeom prst="roundRect">
            <a:avLst>
              <a:gd name="adj" fmla="val 581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1390650" y="6010275"/>
            <a:ext cx="533400" cy="533400"/>
          </a:xfrm>
          <a:prstGeom prst="ellipse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1390650" y="6134100"/>
            <a:ext cx="5334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1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④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2190750" y="5867400"/>
            <a:ext cx="14573250" cy="8191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32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포트 세 개 7077·8080·4040 의 쓰임을 안다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1143000" y="6953250"/>
            <a:ext cx="16002000" cy="876300"/>
          </a:xfrm>
          <a:prstGeom prst="roundRect">
            <a:avLst>
              <a:gd name="adj" fmla="val 5434"/>
            </a:avLst>
          </a:prstGeom>
          <a:solidFill>
            <a:srgbClr val="EDF3FD"/>
          </a:solidFill>
          <a:ln w="9525">
            <a:solidFill>
              <a:srgbClr val="BFD3F5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143000" y="7200900"/>
            <a:ext cx="16002000" cy="4381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47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다음 1.5H 실습에서 compose 파일 하나로 마스터 1 + 워커 2 를 실제로 띄웁니다</a:t>
            </a:r>
          </a:p>
        </p:txBody>
      </p:sp>
      <p:sp>
        <p:nvSpPr>
          <p:cNvPr id="26" name="Rectangle 25"/>
          <p:cNvSpPr/>
          <p:nvPr/>
        </p:nvSpPr>
        <p:spPr>
          <a:xfrm>
            <a:off x="1143000" y="8058150"/>
            <a:ext cx="16002000" cy="9525"/>
          </a:xfrm>
          <a:prstGeom prst="rect">
            <a:avLst/>
          </a:prstGeom>
          <a:solidFill>
            <a:srgbClr val="DCE1E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1143000" y="8248650"/>
            <a:ext cx="1333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데이터 엔지니어링 &amp; RAG 파이프라인 160H · 5-2 · 이론 1H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5240000" y="8248650"/>
            <a:ext cx="190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02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5811500" y="8382000"/>
            <a:ext cx="4953000" cy="4953000"/>
          </a:xfrm>
          <a:prstGeom prst="ellipse">
            <a:avLst/>
          </a:prstGeom>
          <a:solidFill>
            <a:srgbClr val="F3F6FC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16859250" y="9429750"/>
            <a:ext cx="2857500" cy="28575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-1428750" y="1428750"/>
            <a:ext cx="2857500" cy="2857500"/>
          </a:xfrm>
          <a:prstGeom prst="ellipse">
            <a:avLst/>
          </a:prstGeom>
          <a:solidFill>
            <a:srgbClr val="F7F8FA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8382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50" b="1" spc="160">
                <a:solidFill>
                  <a:srgbClr val="1E5BC6"/>
                </a:solidFill>
                <a:latin typeface="Pretendard"/>
                <a:ea typeface="Pretendard"/>
                <a:cs typeface="Pretendard"/>
              </a:rPr>
              <a:t>1. 마스터와 워커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1162050"/>
            <a:ext cx="160020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100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네 가지 역할 — 하는 일 · 몇 개 · 언제 사나</a:t>
            </a:r>
          </a:p>
        </p:txBody>
      </p:sp>
      <p:sp>
        <p:nvSpPr>
          <p:cNvPr id="7" name="Rectangle 6"/>
          <p:cNvSpPr/>
          <p:nvPr/>
        </p:nvSpPr>
        <p:spPr>
          <a:xfrm>
            <a:off x="1143000" y="2038350"/>
            <a:ext cx="16002000" cy="28575"/>
          </a:xfrm>
          <a:prstGeom prst="rect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1143000" y="2781300"/>
            <a:ext cx="2202180" cy="590550"/>
          </a:xfrm>
          <a:prstGeom prst="rect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143000" y="2781300"/>
            <a:ext cx="2202180" cy="5905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02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역할</a:t>
            </a:r>
          </a:p>
        </p:txBody>
      </p:sp>
      <p:sp>
        <p:nvSpPr>
          <p:cNvPr id="10" name="Rectangle 9"/>
          <p:cNvSpPr/>
          <p:nvPr/>
        </p:nvSpPr>
        <p:spPr>
          <a:xfrm>
            <a:off x="3383280" y="2781300"/>
            <a:ext cx="5722620" cy="590550"/>
          </a:xfrm>
          <a:prstGeom prst="rect">
            <a:avLst/>
          </a:prstGeom>
          <a:solidFill>
            <a:srgbClr val="1E5BC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3383280" y="2781300"/>
            <a:ext cx="5722620" cy="5905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02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하는 일</a:t>
            </a:r>
          </a:p>
        </p:txBody>
      </p:sp>
      <p:sp>
        <p:nvSpPr>
          <p:cNvPr id="12" name="Rectangle 11"/>
          <p:cNvSpPr/>
          <p:nvPr/>
        </p:nvSpPr>
        <p:spPr>
          <a:xfrm>
            <a:off x="9144000" y="2781300"/>
            <a:ext cx="3802380" cy="590550"/>
          </a:xfrm>
          <a:prstGeom prst="rect">
            <a:avLst/>
          </a:prstGeom>
          <a:solidFill>
            <a:srgbClr val="1E5BC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144000" y="2781300"/>
            <a:ext cx="3802380" cy="5905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02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몇 개</a:t>
            </a:r>
          </a:p>
        </p:txBody>
      </p:sp>
      <p:sp>
        <p:nvSpPr>
          <p:cNvPr id="14" name="Rectangle 13"/>
          <p:cNvSpPr/>
          <p:nvPr/>
        </p:nvSpPr>
        <p:spPr>
          <a:xfrm>
            <a:off x="12984480" y="2781300"/>
            <a:ext cx="4160520" cy="590550"/>
          </a:xfrm>
          <a:prstGeom prst="rect">
            <a:avLst/>
          </a:prstGeom>
          <a:solidFill>
            <a:srgbClr val="1E5BC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2984480" y="2781300"/>
            <a:ext cx="4160520" cy="5905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02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언제 사나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1143000" y="3448050"/>
            <a:ext cx="2202180" cy="647700"/>
          </a:xfrm>
          <a:prstGeom prst="roundRect">
            <a:avLst>
              <a:gd name="adj" fmla="val 5882"/>
            </a:avLst>
          </a:prstGeom>
          <a:solidFill>
            <a:srgbClr val="EDF3FD"/>
          </a:solidFill>
          <a:ln w="9525">
            <a:solidFill>
              <a:srgbClr val="BFD3F5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238250" y="3448050"/>
            <a:ext cx="201168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마스터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3383280" y="3448050"/>
            <a:ext cx="572262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3478530" y="3448050"/>
            <a:ext cx="553212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자원을 관리하고 배치를 결정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9144000" y="3448050"/>
            <a:ext cx="380238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9239250" y="3448050"/>
            <a:ext cx="361188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1개 (이중화 가능)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12984480" y="3448050"/>
            <a:ext cx="416052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13079730" y="3448050"/>
            <a:ext cx="397002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클러스터가 사는 동안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1143000" y="4171950"/>
            <a:ext cx="2202180" cy="647700"/>
          </a:xfrm>
          <a:prstGeom prst="roundRect">
            <a:avLst>
              <a:gd name="adj" fmla="val 5882"/>
            </a:avLst>
          </a:prstGeom>
          <a:solidFill>
            <a:srgbClr val="EDF3FD"/>
          </a:solidFill>
          <a:ln w="9525">
            <a:solidFill>
              <a:srgbClr val="BFD3F5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238250" y="4171950"/>
            <a:ext cx="201168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워커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3383280" y="4171950"/>
            <a:ext cx="572262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478530" y="4171950"/>
            <a:ext cx="553212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자기 장비의 자원을 마스터에 등록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9144000" y="4171950"/>
            <a:ext cx="380238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9239250" y="4171950"/>
            <a:ext cx="361188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여러 개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12984480" y="4171950"/>
            <a:ext cx="416052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13079730" y="4171950"/>
            <a:ext cx="397002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클러스터가 사는 동안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1143000" y="4895850"/>
            <a:ext cx="2202180" cy="647700"/>
          </a:xfrm>
          <a:prstGeom prst="roundRect">
            <a:avLst>
              <a:gd name="adj" fmla="val 5882"/>
            </a:avLst>
          </a:prstGeom>
          <a:solidFill>
            <a:srgbClr val="EDF3FD"/>
          </a:solidFill>
          <a:ln w="9525">
            <a:solidFill>
              <a:srgbClr val="BFD3F5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1238250" y="4895850"/>
            <a:ext cx="201168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드라이버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3383280" y="4895850"/>
            <a:ext cx="572262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3478530" y="4895850"/>
            <a:ext cx="553212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내 코드가 도는 곳 · 계획을 세움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9144000" y="4895850"/>
            <a:ext cx="380238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9239250" y="4895850"/>
            <a:ext cx="361188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애플리케이션당 1개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12984480" y="4895850"/>
            <a:ext cx="416052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13079730" y="4895850"/>
            <a:ext cx="397002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그 잡이 도는 동안만</a:t>
            </a:r>
          </a:p>
        </p:txBody>
      </p:sp>
      <p:sp>
        <p:nvSpPr>
          <p:cNvPr id="40" name="Rounded Rectangle 39"/>
          <p:cNvSpPr/>
          <p:nvPr/>
        </p:nvSpPr>
        <p:spPr>
          <a:xfrm>
            <a:off x="1143000" y="5619750"/>
            <a:ext cx="2202180" cy="647700"/>
          </a:xfrm>
          <a:prstGeom prst="roundRect">
            <a:avLst>
              <a:gd name="adj" fmla="val 5882"/>
            </a:avLst>
          </a:prstGeom>
          <a:solidFill>
            <a:srgbClr val="EDF3FD"/>
          </a:solidFill>
          <a:ln w="9525">
            <a:solidFill>
              <a:srgbClr val="BFD3F5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1238250" y="5619750"/>
            <a:ext cx="201168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익스큐터</a:t>
            </a:r>
          </a:p>
        </p:txBody>
      </p:sp>
      <p:sp>
        <p:nvSpPr>
          <p:cNvPr id="42" name="Rounded Rectangle 41"/>
          <p:cNvSpPr/>
          <p:nvPr/>
        </p:nvSpPr>
        <p:spPr>
          <a:xfrm>
            <a:off x="3383280" y="5619750"/>
            <a:ext cx="572262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3478530" y="5619750"/>
            <a:ext cx="553212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실제 계산 · 워커 위에 뜸</a:t>
            </a:r>
          </a:p>
        </p:txBody>
      </p:sp>
      <p:sp>
        <p:nvSpPr>
          <p:cNvPr id="44" name="Rounded Rectangle 43"/>
          <p:cNvSpPr/>
          <p:nvPr/>
        </p:nvSpPr>
        <p:spPr>
          <a:xfrm>
            <a:off x="9144000" y="5619750"/>
            <a:ext cx="380238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9239250" y="5619750"/>
            <a:ext cx="361188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여러 개</a:t>
            </a:r>
          </a:p>
        </p:txBody>
      </p:sp>
      <p:sp>
        <p:nvSpPr>
          <p:cNvPr id="46" name="Rounded Rectangle 45"/>
          <p:cNvSpPr/>
          <p:nvPr/>
        </p:nvSpPr>
        <p:spPr>
          <a:xfrm>
            <a:off x="12984480" y="5619750"/>
            <a:ext cx="416052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13079730" y="5619750"/>
            <a:ext cx="397002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그 잡이 도는 동안만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1143000" y="76200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875" b="1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5-1 주방 비유의 확장 — 홀 매니저(마스터)가 빈 조리대(워커)에 요리사(익스큐터)를 배치한다</a:t>
            </a:r>
          </a:p>
        </p:txBody>
      </p:sp>
      <p:sp>
        <p:nvSpPr>
          <p:cNvPr id="49" name="Rectangle 48"/>
          <p:cNvSpPr/>
          <p:nvPr/>
        </p:nvSpPr>
        <p:spPr>
          <a:xfrm>
            <a:off x="1143000" y="8058150"/>
            <a:ext cx="16002000" cy="9525"/>
          </a:xfrm>
          <a:prstGeom prst="rect">
            <a:avLst/>
          </a:prstGeom>
          <a:solidFill>
            <a:srgbClr val="DCE1E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1143000" y="8248650"/>
            <a:ext cx="1333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데이터 엔지니어링 &amp; RAG 파이프라인 160H · 5-2 · 이론 1H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15240000" y="8248650"/>
            <a:ext cx="190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03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5811500" y="8382000"/>
            <a:ext cx="4953000" cy="4953000"/>
          </a:xfrm>
          <a:prstGeom prst="ellipse">
            <a:avLst/>
          </a:prstGeom>
          <a:solidFill>
            <a:srgbClr val="F3F6FC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16859250" y="9429750"/>
            <a:ext cx="2857500" cy="28575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-1428750" y="1428750"/>
            <a:ext cx="2857500" cy="2857500"/>
          </a:xfrm>
          <a:prstGeom prst="ellipse">
            <a:avLst/>
          </a:prstGeom>
          <a:solidFill>
            <a:srgbClr val="F7F8FA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8382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50" b="1" spc="160">
                <a:solidFill>
                  <a:srgbClr val="1E5BC6"/>
                </a:solidFill>
                <a:latin typeface="Pretendard"/>
                <a:ea typeface="Pretendard"/>
                <a:cs typeface="Pretendard"/>
              </a:rPr>
              <a:t>1. 마스터와 워커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1162050"/>
            <a:ext cx="160020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100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워커와 익스큐터는 다르다 — 장비와 프로세스</a:t>
            </a:r>
          </a:p>
        </p:txBody>
      </p:sp>
      <p:sp>
        <p:nvSpPr>
          <p:cNvPr id="7" name="Rectangle 6"/>
          <p:cNvSpPr/>
          <p:nvPr/>
        </p:nvSpPr>
        <p:spPr>
          <a:xfrm>
            <a:off x="1143000" y="2038350"/>
            <a:ext cx="16002000" cy="28575"/>
          </a:xfrm>
          <a:prstGeom prst="rect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43000" y="2857500"/>
            <a:ext cx="7372350" cy="533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3150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워커 — 장비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43000" y="3467100"/>
            <a:ext cx="7372350" cy="8763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6000"/>
              </a:lnSpc>
            </a:pPr>
            <a:r>
              <a:rPr sz="225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클러스터가 사는 동안 상시 떠 있다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143000" y="4610100"/>
            <a:ext cx="7372350" cy="2857500"/>
          </a:xfrm>
          <a:prstGeom prst="roundRect">
            <a:avLst>
              <a:gd name="adj" fmla="val 1666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1447800" y="5016817"/>
            <a:ext cx="97155" cy="97155"/>
          </a:xfrm>
          <a:prstGeom prst="ellipse">
            <a:avLst/>
          </a:prstGeom>
          <a:solidFill>
            <a:srgbClr val="1E5BC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633538" y="4838700"/>
            <a:ext cx="6634162" cy="45339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5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자기 장비의 코어·메모리를 마스터에 등록</a:t>
            </a:r>
          </a:p>
        </p:txBody>
      </p:sp>
      <p:sp>
        <p:nvSpPr>
          <p:cNvPr id="13" name="Oval 12"/>
          <p:cNvSpPr/>
          <p:nvPr/>
        </p:nvSpPr>
        <p:spPr>
          <a:xfrm>
            <a:off x="1447800" y="5527358"/>
            <a:ext cx="97155" cy="97155"/>
          </a:xfrm>
          <a:prstGeom prst="ellipse">
            <a:avLst/>
          </a:prstGeom>
          <a:solidFill>
            <a:srgbClr val="1E5BC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633538" y="5349240"/>
            <a:ext cx="6634162" cy="45339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5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compose 의 spark-worker 서비스</a:t>
            </a:r>
          </a:p>
        </p:txBody>
      </p:sp>
      <p:sp>
        <p:nvSpPr>
          <p:cNvPr id="15" name="Oval 14"/>
          <p:cNvSpPr/>
          <p:nvPr/>
        </p:nvSpPr>
        <p:spPr>
          <a:xfrm>
            <a:off x="1447800" y="6037898"/>
            <a:ext cx="97155" cy="97155"/>
          </a:xfrm>
          <a:prstGeom prst="ellipse">
            <a:avLst/>
          </a:prstGeom>
          <a:solidFill>
            <a:srgbClr val="1E5BC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633538" y="5859780"/>
            <a:ext cx="6634162" cy="45339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5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잡이 끝나도 남는다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772650" y="2857500"/>
            <a:ext cx="7372350" cy="533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3150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익스큐터 — 프로세스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772650" y="3467100"/>
            <a:ext cx="7372350" cy="8763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6000"/>
              </a:lnSpc>
            </a:pPr>
            <a:r>
              <a:rPr sz="225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잡마다 워커 위에 새로 떠서 계산한다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9772650" y="4610100"/>
            <a:ext cx="7372350" cy="2857500"/>
          </a:xfrm>
          <a:prstGeom prst="roundRect">
            <a:avLst>
              <a:gd name="adj" fmla="val 1666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10077450" y="5016817"/>
            <a:ext cx="97155" cy="97155"/>
          </a:xfrm>
          <a:prstGeom prst="ellipse">
            <a:avLst/>
          </a:prstGeom>
          <a:solidFill>
            <a:srgbClr val="1E5BC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0263188" y="4838700"/>
            <a:ext cx="6634162" cy="45339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5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마스터가 빈 워커에 띄우라고 지시</a:t>
            </a:r>
          </a:p>
        </p:txBody>
      </p:sp>
      <p:sp>
        <p:nvSpPr>
          <p:cNvPr id="22" name="Oval 21"/>
          <p:cNvSpPr/>
          <p:nvPr/>
        </p:nvSpPr>
        <p:spPr>
          <a:xfrm>
            <a:off x="10077450" y="5527358"/>
            <a:ext cx="97155" cy="97155"/>
          </a:xfrm>
          <a:prstGeom prst="ellipse">
            <a:avLst/>
          </a:prstGeom>
          <a:solidFill>
            <a:srgbClr val="1E5BC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10263188" y="5349240"/>
            <a:ext cx="6634162" cy="45339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5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드라이버에 「준비됐습니다」 등록</a:t>
            </a:r>
          </a:p>
        </p:txBody>
      </p:sp>
      <p:sp>
        <p:nvSpPr>
          <p:cNvPr id="24" name="Oval 23"/>
          <p:cNvSpPr/>
          <p:nvPr/>
        </p:nvSpPr>
        <p:spPr>
          <a:xfrm>
            <a:off x="10077450" y="6037898"/>
            <a:ext cx="97155" cy="97155"/>
          </a:xfrm>
          <a:prstGeom prst="ellipse">
            <a:avLst/>
          </a:prstGeom>
          <a:solidFill>
            <a:srgbClr val="1E5BC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0263188" y="5859780"/>
            <a:ext cx="6634162" cy="45339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5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잡이 끝나면 사라진다</a:t>
            </a:r>
          </a:p>
        </p:txBody>
      </p:sp>
      <p:sp>
        <p:nvSpPr>
          <p:cNvPr id="26" name="Oval 25"/>
          <p:cNvSpPr/>
          <p:nvPr/>
        </p:nvSpPr>
        <p:spPr>
          <a:xfrm>
            <a:off x="8686800" y="3771900"/>
            <a:ext cx="914400" cy="914400"/>
          </a:xfrm>
          <a:prstGeom prst="ellipse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8686800" y="4057650"/>
            <a:ext cx="91440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25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VS</a:t>
            </a:r>
          </a:p>
        </p:txBody>
      </p:sp>
      <p:sp>
        <p:nvSpPr>
          <p:cNvPr id="28" name="Rectangle 27"/>
          <p:cNvSpPr/>
          <p:nvPr/>
        </p:nvSpPr>
        <p:spPr>
          <a:xfrm>
            <a:off x="1143000" y="8058150"/>
            <a:ext cx="16002000" cy="9525"/>
          </a:xfrm>
          <a:prstGeom prst="rect">
            <a:avLst/>
          </a:prstGeom>
          <a:solidFill>
            <a:srgbClr val="DCE1E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1143000" y="8248650"/>
            <a:ext cx="1333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데이터 엔지니어링 &amp; RAG 파이프라인 160H · 5-2 · 이론 1H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5240000" y="8248650"/>
            <a:ext cx="190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04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5811500" y="8382000"/>
            <a:ext cx="4953000" cy="4953000"/>
          </a:xfrm>
          <a:prstGeom prst="ellipse">
            <a:avLst/>
          </a:prstGeom>
          <a:solidFill>
            <a:srgbClr val="F3F6FC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16859250" y="9429750"/>
            <a:ext cx="2857500" cy="28575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-1428750" y="1428750"/>
            <a:ext cx="2857500" cy="2857500"/>
          </a:xfrm>
          <a:prstGeom prst="ellipse">
            <a:avLst/>
          </a:prstGeom>
          <a:solidFill>
            <a:srgbClr val="F7F8FA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8382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50" b="1" spc="160">
                <a:solidFill>
                  <a:srgbClr val="1E5BC6"/>
                </a:solidFill>
                <a:latin typeface="Pretendard"/>
                <a:ea typeface="Pretendard"/>
                <a:cs typeface="Pretendard"/>
              </a:rPr>
              <a:t>2. 제출 흐름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1162050"/>
            <a:ext cx="160020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100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잡을 제출하면 벌어지는 여섯 단계</a:t>
            </a:r>
          </a:p>
        </p:txBody>
      </p:sp>
      <p:sp>
        <p:nvSpPr>
          <p:cNvPr id="7" name="Rectangle 6"/>
          <p:cNvSpPr/>
          <p:nvPr/>
        </p:nvSpPr>
        <p:spPr>
          <a:xfrm>
            <a:off x="1143000" y="2038350"/>
            <a:ext cx="16002000" cy="28575"/>
          </a:xfrm>
          <a:prstGeom prst="rect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1143000" y="2781300"/>
            <a:ext cx="2524125" cy="704850"/>
          </a:xfrm>
          <a:prstGeom prst="rect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143000" y="2781300"/>
            <a:ext cx="2524125" cy="7048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4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① 제출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143000" y="3657600"/>
            <a:ext cx="2524125" cy="1428750"/>
          </a:xfrm>
          <a:prstGeom prst="roundRect">
            <a:avLst>
              <a:gd name="adj" fmla="val 333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276350" y="3657600"/>
            <a:ext cx="2257425" cy="14287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35000"/>
              </a:lnSpc>
            </a:pPr>
            <a:r>
              <a:rPr sz="18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spark-submit</a:t>
            </a:r>
          </a:p>
          <a:p>
            <a:pPr algn="ctr">
              <a:lnSpc>
                <a:spcPct val="135000"/>
              </a:lnSpc>
            </a:pPr>
            <a:r>
              <a:rPr sz="18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드라이버가 뜬다</a:t>
            </a:r>
          </a:p>
        </p:txBody>
      </p:sp>
      <p:sp>
        <p:nvSpPr>
          <p:cNvPr id="12" name="Right Arrow 11"/>
          <p:cNvSpPr/>
          <p:nvPr/>
        </p:nvSpPr>
        <p:spPr>
          <a:xfrm>
            <a:off x="3686175" y="3028950"/>
            <a:ext cx="133350" cy="209550"/>
          </a:xfrm>
          <a:prstGeom prst="rightArrow">
            <a:avLst/>
          </a:prstGeom>
          <a:solidFill>
            <a:srgbClr val="1E5BC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3838575" y="2781300"/>
            <a:ext cx="2524125" cy="704850"/>
          </a:xfrm>
          <a:prstGeom prst="rect">
            <a:avLst/>
          </a:prstGeom>
          <a:solidFill>
            <a:srgbClr val="1E5BC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3838575" y="2781300"/>
            <a:ext cx="2524125" cy="7048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4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② 요청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3838575" y="3657600"/>
            <a:ext cx="2524125" cy="1428750"/>
          </a:xfrm>
          <a:prstGeom prst="roundRect">
            <a:avLst>
              <a:gd name="adj" fmla="val 333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3971925" y="3657600"/>
            <a:ext cx="2257425" cy="14287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35000"/>
              </a:lnSpc>
            </a:pPr>
            <a:r>
              <a:rPr sz="18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드라이버→마스터</a:t>
            </a:r>
          </a:p>
          <a:p>
            <a:pPr algn="ctr">
              <a:lnSpc>
                <a:spcPct val="135000"/>
              </a:lnSpc>
            </a:pPr>
            <a:r>
              <a:rPr sz="18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코어 2 · 메모리 2G</a:t>
            </a:r>
          </a:p>
        </p:txBody>
      </p:sp>
      <p:sp>
        <p:nvSpPr>
          <p:cNvPr id="17" name="Right Arrow 16"/>
          <p:cNvSpPr/>
          <p:nvPr/>
        </p:nvSpPr>
        <p:spPr>
          <a:xfrm>
            <a:off x="6381750" y="3028950"/>
            <a:ext cx="133350" cy="209550"/>
          </a:xfrm>
          <a:prstGeom prst="rightArrow">
            <a:avLst/>
          </a:prstGeom>
          <a:solidFill>
            <a:srgbClr val="1E5BC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6534150" y="2781300"/>
            <a:ext cx="2524125" cy="704850"/>
          </a:xfrm>
          <a:prstGeom prst="rect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534150" y="2781300"/>
            <a:ext cx="2524125" cy="7048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4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③ 배치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534150" y="3657600"/>
            <a:ext cx="2524125" cy="1428750"/>
          </a:xfrm>
          <a:prstGeom prst="roundRect">
            <a:avLst>
              <a:gd name="adj" fmla="val 333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667500" y="3657600"/>
            <a:ext cx="2257425" cy="14287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35000"/>
              </a:lnSpc>
            </a:pPr>
            <a:r>
              <a:rPr sz="18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마스터가 빈 워커에</a:t>
            </a:r>
          </a:p>
          <a:p>
            <a:pPr algn="ctr">
              <a:lnSpc>
                <a:spcPct val="135000"/>
              </a:lnSpc>
            </a:pPr>
            <a:r>
              <a:rPr sz="18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익스큐터 지시</a:t>
            </a:r>
          </a:p>
        </p:txBody>
      </p:sp>
      <p:sp>
        <p:nvSpPr>
          <p:cNvPr id="22" name="Right Arrow 21"/>
          <p:cNvSpPr/>
          <p:nvPr/>
        </p:nvSpPr>
        <p:spPr>
          <a:xfrm>
            <a:off x="9077325" y="3028950"/>
            <a:ext cx="133350" cy="209550"/>
          </a:xfrm>
          <a:prstGeom prst="rightArrow">
            <a:avLst/>
          </a:prstGeom>
          <a:solidFill>
            <a:srgbClr val="1E5BC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9229725" y="2781300"/>
            <a:ext cx="2524125" cy="704850"/>
          </a:xfrm>
          <a:prstGeom prst="rect">
            <a:avLst/>
          </a:prstGeom>
          <a:solidFill>
            <a:srgbClr val="1E5BC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9229725" y="2781300"/>
            <a:ext cx="2524125" cy="7048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4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④ 등록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9229725" y="3657600"/>
            <a:ext cx="2524125" cy="1428750"/>
          </a:xfrm>
          <a:prstGeom prst="roundRect">
            <a:avLst>
              <a:gd name="adj" fmla="val 333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9363075" y="3657600"/>
            <a:ext cx="2257425" cy="14287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35000"/>
              </a:lnSpc>
            </a:pPr>
            <a:r>
              <a:rPr sz="18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익스큐터→드라이버</a:t>
            </a:r>
          </a:p>
          <a:p>
            <a:pPr algn="ctr">
              <a:lnSpc>
                <a:spcPct val="135000"/>
              </a:lnSpc>
            </a:pPr>
            <a:r>
              <a:rPr sz="18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「준비됐습니다」</a:t>
            </a:r>
          </a:p>
        </p:txBody>
      </p:sp>
      <p:sp>
        <p:nvSpPr>
          <p:cNvPr id="27" name="Right Arrow 26"/>
          <p:cNvSpPr/>
          <p:nvPr/>
        </p:nvSpPr>
        <p:spPr>
          <a:xfrm>
            <a:off x="11772900" y="3028950"/>
            <a:ext cx="133350" cy="209550"/>
          </a:xfrm>
          <a:prstGeom prst="rightArrow">
            <a:avLst/>
          </a:prstGeom>
          <a:solidFill>
            <a:srgbClr val="1E5BC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11925300" y="2781300"/>
            <a:ext cx="2524125" cy="704850"/>
          </a:xfrm>
          <a:prstGeom prst="rect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11925300" y="2781300"/>
            <a:ext cx="2524125" cy="7048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4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⑤ 배분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11925300" y="3657600"/>
            <a:ext cx="2524125" cy="1428750"/>
          </a:xfrm>
          <a:prstGeom prst="roundRect">
            <a:avLst>
              <a:gd name="adj" fmla="val 333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12058650" y="3657600"/>
            <a:ext cx="2257425" cy="14287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35000"/>
              </a:lnSpc>
            </a:pPr>
            <a:r>
              <a:rPr sz="18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드라이버가 태스크</a:t>
            </a:r>
          </a:p>
          <a:p>
            <a:pPr algn="ctr">
              <a:lnSpc>
                <a:spcPct val="135000"/>
              </a:lnSpc>
            </a:pPr>
            <a:r>
              <a:rPr sz="18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익스큐터가 계산</a:t>
            </a:r>
          </a:p>
        </p:txBody>
      </p:sp>
      <p:sp>
        <p:nvSpPr>
          <p:cNvPr id="32" name="Right Arrow 31"/>
          <p:cNvSpPr/>
          <p:nvPr/>
        </p:nvSpPr>
        <p:spPr>
          <a:xfrm>
            <a:off x="14468475" y="3028950"/>
            <a:ext cx="133350" cy="209550"/>
          </a:xfrm>
          <a:prstGeom prst="rightArrow">
            <a:avLst/>
          </a:prstGeom>
          <a:solidFill>
            <a:srgbClr val="1E5BC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14620875" y="2781300"/>
            <a:ext cx="2524125" cy="704850"/>
          </a:xfrm>
          <a:prstGeom prst="rect">
            <a:avLst/>
          </a:prstGeom>
          <a:solidFill>
            <a:srgbClr val="1E5BC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14620875" y="2781300"/>
            <a:ext cx="2524125" cy="7048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4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⑥ 종료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14620875" y="3657600"/>
            <a:ext cx="2524125" cy="1428750"/>
          </a:xfrm>
          <a:prstGeom prst="roundRect">
            <a:avLst>
              <a:gd name="adj" fmla="val 333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14754225" y="3657600"/>
            <a:ext cx="2257425" cy="14287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35000"/>
              </a:lnSpc>
            </a:pPr>
            <a:r>
              <a:rPr sz="18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결과를 모으고</a:t>
            </a:r>
          </a:p>
          <a:p>
            <a:pPr algn="ctr">
              <a:lnSpc>
                <a:spcPct val="135000"/>
              </a:lnSpc>
            </a:pPr>
            <a:r>
              <a:rPr sz="18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익스큐터 정리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1143000" y="76200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875" b="1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②에서 자원이 모자라면 ⑤로 못 간다 — 「Initial job has not accepted any resources」 경고가 그것</a:t>
            </a:r>
          </a:p>
        </p:txBody>
      </p:sp>
      <p:sp>
        <p:nvSpPr>
          <p:cNvPr id="38" name="Rectangle 37"/>
          <p:cNvSpPr/>
          <p:nvPr/>
        </p:nvSpPr>
        <p:spPr>
          <a:xfrm>
            <a:off x="1143000" y="8058150"/>
            <a:ext cx="16002000" cy="9525"/>
          </a:xfrm>
          <a:prstGeom prst="rect">
            <a:avLst/>
          </a:prstGeom>
          <a:solidFill>
            <a:srgbClr val="DCE1E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1143000" y="8248650"/>
            <a:ext cx="1333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데이터 엔지니어링 &amp; RAG 파이프라인 160H · 5-2 · 이론 1H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15240000" y="8248650"/>
            <a:ext cx="190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05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5811500" y="8382000"/>
            <a:ext cx="4953000" cy="4953000"/>
          </a:xfrm>
          <a:prstGeom prst="ellipse">
            <a:avLst/>
          </a:prstGeom>
          <a:solidFill>
            <a:srgbClr val="F3F6FC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16859250" y="9429750"/>
            <a:ext cx="2857500" cy="28575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-1428750" y="1428750"/>
            <a:ext cx="2857500" cy="2857500"/>
          </a:xfrm>
          <a:prstGeom prst="ellipse">
            <a:avLst/>
          </a:prstGeom>
          <a:solidFill>
            <a:srgbClr val="F7F8FA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8382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50" b="1" spc="160">
                <a:solidFill>
                  <a:srgbClr val="1E5BC6"/>
                </a:solidFill>
                <a:latin typeface="Pretendard"/>
                <a:ea typeface="Pretendard"/>
                <a:cs typeface="Pretendard"/>
              </a:rPr>
              <a:t>3. 클러스터 매니저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1162050"/>
            <a:ext cx="160020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100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클러스터 매니저 3종 — 이번 주는 Standalone</a:t>
            </a:r>
          </a:p>
        </p:txBody>
      </p:sp>
      <p:sp>
        <p:nvSpPr>
          <p:cNvPr id="7" name="Rectangle 6"/>
          <p:cNvSpPr/>
          <p:nvPr/>
        </p:nvSpPr>
        <p:spPr>
          <a:xfrm>
            <a:off x="1143000" y="2038350"/>
            <a:ext cx="16002000" cy="28575"/>
          </a:xfrm>
          <a:prstGeom prst="rect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1143000" y="2781300"/>
            <a:ext cx="3482340" cy="590550"/>
          </a:xfrm>
          <a:prstGeom prst="rect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143000" y="2781300"/>
            <a:ext cx="3482340" cy="5905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02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매니저</a:t>
            </a:r>
          </a:p>
        </p:txBody>
      </p:sp>
      <p:sp>
        <p:nvSpPr>
          <p:cNvPr id="10" name="Rectangle 9"/>
          <p:cNvSpPr/>
          <p:nvPr/>
        </p:nvSpPr>
        <p:spPr>
          <a:xfrm>
            <a:off x="4663440" y="2781300"/>
            <a:ext cx="5722620" cy="590550"/>
          </a:xfrm>
          <a:prstGeom prst="rect">
            <a:avLst/>
          </a:prstGeom>
          <a:solidFill>
            <a:srgbClr val="1E5BC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663440" y="2781300"/>
            <a:ext cx="5722620" cy="5905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02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특징</a:t>
            </a:r>
          </a:p>
        </p:txBody>
      </p:sp>
      <p:sp>
        <p:nvSpPr>
          <p:cNvPr id="12" name="Rectangle 11"/>
          <p:cNvSpPr/>
          <p:nvPr/>
        </p:nvSpPr>
        <p:spPr>
          <a:xfrm>
            <a:off x="10424160" y="2781300"/>
            <a:ext cx="6720840" cy="590550"/>
          </a:xfrm>
          <a:prstGeom prst="rect">
            <a:avLst/>
          </a:prstGeom>
          <a:solidFill>
            <a:srgbClr val="1E5BC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424160" y="2781300"/>
            <a:ext cx="6720840" cy="5905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02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언제 쓰나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1143000" y="3448050"/>
            <a:ext cx="3482340" cy="647700"/>
          </a:xfrm>
          <a:prstGeom prst="roundRect">
            <a:avLst>
              <a:gd name="adj" fmla="val 5882"/>
            </a:avLst>
          </a:prstGeom>
          <a:solidFill>
            <a:srgbClr val="EDF3FD"/>
          </a:solidFill>
          <a:ln w="9525">
            <a:solidFill>
              <a:srgbClr val="BFD3F5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238250" y="3448050"/>
            <a:ext cx="329184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Standalone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4663440" y="3448050"/>
            <a:ext cx="572262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758690" y="3448050"/>
            <a:ext cx="553212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Spark 내장 · 가장 단순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10424160" y="3448050"/>
            <a:ext cx="672084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0519410" y="3448050"/>
            <a:ext cx="653034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학습 · 작은 전용 클러스터(이번 주)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1143000" y="4171950"/>
            <a:ext cx="3482340" cy="647700"/>
          </a:xfrm>
          <a:prstGeom prst="roundRect">
            <a:avLst>
              <a:gd name="adj" fmla="val 5882"/>
            </a:avLst>
          </a:prstGeom>
          <a:solidFill>
            <a:srgbClr val="EDF3FD"/>
          </a:solidFill>
          <a:ln w="9525">
            <a:solidFill>
              <a:srgbClr val="BFD3F5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238250" y="4171950"/>
            <a:ext cx="329184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YARN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4663440" y="4171950"/>
            <a:ext cx="572262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4758690" y="4171950"/>
            <a:ext cx="553212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하둡 생태계의 자원 관리자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10424160" y="4171950"/>
            <a:ext cx="672084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0519410" y="4171950"/>
            <a:ext cx="653034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기존 하둡 클러스터가 있을 때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1143000" y="4895850"/>
            <a:ext cx="3482340" cy="647700"/>
          </a:xfrm>
          <a:prstGeom prst="roundRect">
            <a:avLst>
              <a:gd name="adj" fmla="val 5882"/>
            </a:avLst>
          </a:prstGeom>
          <a:solidFill>
            <a:srgbClr val="EDF3FD"/>
          </a:solidFill>
          <a:ln w="9525">
            <a:solidFill>
              <a:srgbClr val="BFD3F5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1238250" y="4895850"/>
            <a:ext cx="329184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Kubernetes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4663440" y="4895850"/>
            <a:ext cx="572262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4758690" y="4895850"/>
            <a:ext cx="553212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컨테이너 오케스트레이터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10424160" y="4895850"/>
            <a:ext cx="672084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10519410" y="4895850"/>
            <a:ext cx="653034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요즘 신규 구축의 기본값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1143000" y="5619750"/>
            <a:ext cx="3482340" cy="647700"/>
          </a:xfrm>
          <a:prstGeom prst="roundRect">
            <a:avLst>
              <a:gd name="adj" fmla="val 5882"/>
            </a:avLst>
          </a:prstGeom>
          <a:solidFill>
            <a:srgbClr val="EDF3FD"/>
          </a:solidFill>
          <a:ln w="9525">
            <a:solidFill>
              <a:srgbClr val="BFD3F5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1238250" y="5619750"/>
            <a:ext cx="329184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Mesos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4663440" y="5619750"/>
            <a:ext cx="572262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4758690" y="5619750"/>
            <a:ext cx="553212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(지원 종료)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10424160" y="5619750"/>
            <a:ext cx="672084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10519410" y="5619750"/>
            <a:ext cx="653034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—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1143000" y="76200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875" b="1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어느 매니저든 드라이버·익스큐터 개념과 코드는 그대로 — --master 옵션만 바뀐다</a:t>
            </a:r>
          </a:p>
        </p:txBody>
      </p:sp>
      <p:sp>
        <p:nvSpPr>
          <p:cNvPr id="39" name="Rectangle 38"/>
          <p:cNvSpPr/>
          <p:nvPr/>
        </p:nvSpPr>
        <p:spPr>
          <a:xfrm>
            <a:off x="1143000" y="8058150"/>
            <a:ext cx="16002000" cy="9525"/>
          </a:xfrm>
          <a:prstGeom prst="rect">
            <a:avLst/>
          </a:prstGeom>
          <a:solidFill>
            <a:srgbClr val="DCE1E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1143000" y="8248650"/>
            <a:ext cx="1333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데이터 엔지니어링 &amp; RAG 파이프라인 160H · 5-2 · 이론 1H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15240000" y="8248650"/>
            <a:ext cx="190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06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5811500" y="8382000"/>
            <a:ext cx="4953000" cy="4953000"/>
          </a:xfrm>
          <a:prstGeom prst="ellipse">
            <a:avLst/>
          </a:prstGeom>
          <a:solidFill>
            <a:srgbClr val="F3F6FC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16859250" y="9429750"/>
            <a:ext cx="2857500" cy="28575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-1428750" y="1428750"/>
            <a:ext cx="2857500" cy="2857500"/>
          </a:xfrm>
          <a:prstGeom prst="ellipse">
            <a:avLst/>
          </a:prstGeom>
          <a:solidFill>
            <a:srgbClr val="F7F8FA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8382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50" b="1" spc="160">
                <a:solidFill>
                  <a:srgbClr val="1E5BC6"/>
                </a:solidFill>
                <a:latin typeface="Pretendard"/>
                <a:ea typeface="Pretendard"/>
                <a:cs typeface="Pretendard"/>
              </a:rPr>
              <a:t>3. 배포 모드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1162050"/>
            <a:ext cx="160020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100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client 모드와 cluster 모드 — 오늘은 client</a:t>
            </a:r>
          </a:p>
        </p:txBody>
      </p:sp>
      <p:sp>
        <p:nvSpPr>
          <p:cNvPr id="7" name="Rectangle 6"/>
          <p:cNvSpPr/>
          <p:nvPr/>
        </p:nvSpPr>
        <p:spPr>
          <a:xfrm>
            <a:off x="1143000" y="2038350"/>
            <a:ext cx="16002000" cy="28575"/>
          </a:xfrm>
          <a:prstGeom prst="rect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43000" y="2857500"/>
            <a:ext cx="7372350" cy="533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3150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client 모드 — 오늘 실습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43000" y="3467100"/>
            <a:ext cx="7372350" cy="8763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6000"/>
              </a:lnSpc>
            </a:pPr>
            <a:r>
              <a:rPr sz="225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드라이버가 spark-submit 을 친 그 자리에 뜬다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143000" y="4610100"/>
            <a:ext cx="7372350" cy="2857500"/>
          </a:xfrm>
          <a:prstGeom prst="roundRect">
            <a:avLst>
              <a:gd name="adj" fmla="val 1666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1447800" y="5016817"/>
            <a:ext cx="97155" cy="97155"/>
          </a:xfrm>
          <a:prstGeom prst="ellipse">
            <a:avLst/>
          </a:prstGeom>
          <a:solidFill>
            <a:srgbClr val="1E5BC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633538" y="4838700"/>
            <a:ext cx="6634162" cy="45339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5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로그가 내 터미널에 바로 나온다</a:t>
            </a:r>
          </a:p>
        </p:txBody>
      </p:sp>
      <p:sp>
        <p:nvSpPr>
          <p:cNvPr id="13" name="Oval 12"/>
          <p:cNvSpPr/>
          <p:nvPr/>
        </p:nvSpPr>
        <p:spPr>
          <a:xfrm>
            <a:off x="1447800" y="5527358"/>
            <a:ext cx="97155" cy="97155"/>
          </a:xfrm>
          <a:prstGeom prst="ellipse">
            <a:avLst/>
          </a:prstGeom>
          <a:solidFill>
            <a:srgbClr val="1E5BC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633538" y="5349240"/>
            <a:ext cx="6634162" cy="45339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5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터미널을 닫으면 잡이 죽는다</a:t>
            </a:r>
          </a:p>
        </p:txBody>
      </p:sp>
      <p:sp>
        <p:nvSpPr>
          <p:cNvPr id="15" name="Oval 14"/>
          <p:cNvSpPr/>
          <p:nvPr/>
        </p:nvSpPr>
        <p:spPr>
          <a:xfrm>
            <a:off x="1447800" y="6037898"/>
            <a:ext cx="97155" cy="97155"/>
          </a:xfrm>
          <a:prstGeom prst="ellipse">
            <a:avLst/>
          </a:prstGeom>
          <a:solidFill>
            <a:srgbClr val="1E5BC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633538" y="5859780"/>
            <a:ext cx="6634162" cy="45339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5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개발·디버깅에 알맞다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772650" y="2857500"/>
            <a:ext cx="7372350" cy="533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3150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cluster 모드 — 운영 배치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772650" y="3467100"/>
            <a:ext cx="7372350" cy="8763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6000"/>
              </a:lnSpc>
            </a:pPr>
            <a:r>
              <a:rPr sz="225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드라이버가 클러스터 안의 워커에 뜬다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9772650" y="4610100"/>
            <a:ext cx="7372350" cy="2857500"/>
          </a:xfrm>
          <a:prstGeom prst="roundRect">
            <a:avLst>
              <a:gd name="adj" fmla="val 1666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10077450" y="5016817"/>
            <a:ext cx="97155" cy="97155"/>
          </a:xfrm>
          <a:prstGeom prst="ellipse">
            <a:avLst/>
          </a:prstGeom>
          <a:solidFill>
            <a:srgbClr val="1E5BC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0263188" y="4838700"/>
            <a:ext cx="6634162" cy="45339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5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로그는 클러스터 로그를 봐야 한다</a:t>
            </a:r>
          </a:p>
        </p:txBody>
      </p:sp>
      <p:sp>
        <p:nvSpPr>
          <p:cNvPr id="22" name="Oval 21"/>
          <p:cNvSpPr/>
          <p:nvPr/>
        </p:nvSpPr>
        <p:spPr>
          <a:xfrm>
            <a:off x="10077450" y="5527358"/>
            <a:ext cx="97155" cy="97155"/>
          </a:xfrm>
          <a:prstGeom prst="ellipse">
            <a:avLst/>
          </a:prstGeom>
          <a:solidFill>
            <a:srgbClr val="1E5BC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10263188" y="5349240"/>
            <a:ext cx="6634162" cy="45339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5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터미널을 닫아도 계속 돈다</a:t>
            </a:r>
          </a:p>
        </p:txBody>
      </p:sp>
      <p:sp>
        <p:nvSpPr>
          <p:cNvPr id="24" name="Oval 23"/>
          <p:cNvSpPr/>
          <p:nvPr/>
        </p:nvSpPr>
        <p:spPr>
          <a:xfrm>
            <a:off x="10077450" y="6037898"/>
            <a:ext cx="97155" cy="97155"/>
          </a:xfrm>
          <a:prstGeom prst="ellipse">
            <a:avLst/>
          </a:prstGeom>
          <a:solidFill>
            <a:srgbClr val="1E5BC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0263188" y="5859780"/>
            <a:ext cx="6634162" cy="45339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5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8주차 Airflow 스케줄링 때 쓴다</a:t>
            </a:r>
          </a:p>
        </p:txBody>
      </p:sp>
      <p:sp>
        <p:nvSpPr>
          <p:cNvPr id="26" name="Oval 25"/>
          <p:cNvSpPr/>
          <p:nvPr/>
        </p:nvSpPr>
        <p:spPr>
          <a:xfrm>
            <a:off x="8686800" y="3771900"/>
            <a:ext cx="914400" cy="914400"/>
          </a:xfrm>
          <a:prstGeom prst="ellipse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8686800" y="4057650"/>
            <a:ext cx="91440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25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VS</a:t>
            </a:r>
          </a:p>
        </p:txBody>
      </p:sp>
      <p:sp>
        <p:nvSpPr>
          <p:cNvPr id="28" name="Rectangle 27"/>
          <p:cNvSpPr/>
          <p:nvPr/>
        </p:nvSpPr>
        <p:spPr>
          <a:xfrm>
            <a:off x="1143000" y="8058150"/>
            <a:ext cx="16002000" cy="9525"/>
          </a:xfrm>
          <a:prstGeom prst="rect">
            <a:avLst/>
          </a:prstGeom>
          <a:solidFill>
            <a:srgbClr val="DCE1E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1143000" y="8248650"/>
            <a:ext cx="1333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데이터 엔지니어링 &amp; RAG 파이프라인 160H · 5-2 · 이론 1H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5240000" y="8248650"/>
            <a:ext cx="190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07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5811500" y="8382000"/>
            <a:ext cx="4953000" cy="4953000"/>
          </a:xfrm>
          <a:prstGeom prst="ellipse">
            <a:avLst/>
          </a:prstGeom>
          <a:solidFill>
            <a:srgbClr val="F3F6FC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16859250" y="9429750"/>
            <a:ext cx="2857500" cy="28575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-1428750" y="1428750"/>
            <a:ext cx="2857500" cy="2857500"/>
          </a:xfrm>
          <a:prstGeom prst="ellipse">
            <a:avLst/>
          </a:prstGeom>
          <a:solidFill>
            <a:srgbClr val="F7F8FA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8382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50" b="1" spc="160">
                <a:solidFill>
                  <a:srgbClr val="1E5BC6"/>
                </a:solidFill>
                <a:latin typeface="Pretendard"/>
                <a:ea typeface="Pretendard"/>
                <a:cs typeface="Pretendard"/>
              </a:rPr>
              <a:t>4. 네트워크와 포트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1162050"/>
            <a:ext cx="160020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100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서비스 이름으로 찾고, 포트 세 개로 본다</a:t>
            </a:r>
          </a:p>
        </p:txBody>
      </p:sp>
      <p:sp>
        <p:nvSpPr>
          <p:cNvPr id="7" name="Rectangle 6"/>
          <p:cNvSpPr/>
          <p:nvPr/>
        </p:nvSpPr>
        <p:spPr>
          <a:xfrm>
            <a:off x="1143000" y="2038350"/>
            <a:ext cx="16002000" cy="28575"/>
          </a:xfrm>
          <a:prstGeom prst="rect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1143000" y="2933700"/>
            <a:ext cx="11430000" cy="1095375"/>
          </a:xfrm>
          <a:prstGeom prst="roundRect">
            <a:avLst>
              <a:gd name="adj" fmla="val 4347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447800" y="3181350"/>
            <a:ext cx="590550" cy="590550"/>
          </a:xfrm>
          <a:prstGeom prst="ellipse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447800" y="3333750"/>
            <a:ext cx="59055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25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324100" y="3143250"/>
            <a:ext cx="9906000" cy="4000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47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7077 — 마스터 접수 창구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324100" y="3543300"/>
            <a:ext cx="9906000" cy="3619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02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워커와 드라이버가 접속하는 곳 — 호스트명 spark-master 는 compose 서비스 이름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1143000" y="4200525"/>
            <a:ext cx="11430000" cy="1095375"/>
          </a:xfrm>
          <a:prstGeom prst="roundRect">
            <a:avLst>
              <a:gd name="adj" fmla="val 4347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1447800" y="4448175"/>
            <a:ext cx="590550" cy="590550"/>
          </a:xfrm>
          <a:prstGeom prst="ellipse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447800" y="4600575"/>
            <a:ext cx="59055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25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324100" y="4410075"/>
            <a:ext cx="9906000" cy="4000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47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8080 — 마스터 웹 UI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324100" y="4810125"/>
            <a:ext cx="9906000" cy="3619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02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워커 목록과 애플리케이션 이력을 본다 — 4-4 의 Trino 도 8080 을 쓴다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1143000" y="5467350"/>
            <a:ext cx="11430000" cy="1095375"/>
          </a:xfrm>
          <a:prstGeom prst="roundRect">
            <a:avLst>
              <a:gd name="adj" fmla="val 4347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1447800" y="5715000"/>
            <a:ext cx="590550" cy="590550"/>
          </a:xfrm>
          <a:prstGeom prst="ellipse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447800" y="5867400"/>
            <a:ext cx="59055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25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2324100" y="5676900"/>
            <a:ext cx="9906000" cy="4000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47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4040 — 실행 중인 잡 UI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24100" y="6076950"/>
            <a:ext cx="9906000" cy="3619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02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5-1 에서 본 그 화면 — 잡이 끝나면 사라진다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13144500" y="2933700"/>
            <a:ext cx="4000500" cy="3629025"/>
          </a:xfrm>
          <a:prstGeom prst="roundRect">
            <a:avLst>
              <a:gd name="adj" fmla="val 1312"/>
            </a:avLst>
          </a:prstGeom>
          <a:solidFill>
            <a:srgbClr val="EDF3FD"/>
          </a:solidFill>
          <a:ln w="9525">
            <a:solidFill>
              <a:srgbClr val="BFD3F5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13487400" y="3929062"/>
            <a:ext cx="3314700" cy="304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800" b="1" spc="190">
                <a:solidFill>
                  <a:srgbClr val="1E5BC6"/>
                </a:solidFill>
                <a:latin typeface="Pretendard"/>
                <a:ea typeface="Pretendard"/>
                <a:cs typeface="Pretendard"/>
              </a:rPr>
              <a:t>4주차 Trino 가 떠 있으면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3487400" y="4329112"/>
            <a:ext cx="3314700" cy="1238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8000"/>
              </a:lnSpc>
            </a:pPr>
            <a:r>
              <a:rPr sz="2700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8080 충돌 시</a:t>
            </a:r>
          </a:p>
          <a:p>
            <a:pPr algn="l">
              <a:lnSpc>
                <a:spcPct val="138000"/>
              </a:lnSpc>
            </a:pPr>
            <a:r>
              <a:rPr sz="2700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8081:8080</a:t>
            </a:r>
          </a:p>
        </p:txBody>
      </p:sp>
      <p:sp>
        <p:nvSpPr>
          <p:cNvPr id="26" name="Rectangle 25"/>
          <p:cNvSpPr/>
          <p:nvPr/>
        </p:nvSpPr>
        <p:spPr>
          <a:xfrm>
            <a:off x="1143000" y="8058150"/>
            <a:ext cx="16002000" cy="9525"/>
          </a:xfrm>
          <a:prstGeom prst="rect">
            <a:avLst/>
          </a:prstGeom>
          <a:solidFill>
            <a:srgbClr val="DCE1E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1143000" y="8248650"/>
            <a:ext cx="1333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데이터 엔지니어링 &amp; RAG 파이프라인 160H · 5-2 · 이론 1H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5240000" y="8248650"/>
            <a:ext cx="190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08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5811500" y="8382000"/>
            <a:ext cx="4953000" cy="4953000"/>
          </a:xfrm>
          <a:prstGeom prst="ellipse">
            <a:avLst/>
          </a:prstGeom>
          <a:solidFill>
            <a:srgbClr val="F3F6FC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16859250" y="9429750"/>
            <a:ext cx="2857500" cy="28575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-1428750" y="1428750"/>
            <a:ext cx="2857500" cy="2857500"/>
          </a:xfrm>
          <a:prstGeom prst="ellipse">
            <a:avLst/>
          </a:prstGeom>
          <a:solidFill>
            <a:srgbClr val="F7F8FA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8382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50" b="1" spc="160">
                <a:solidFill>
                  <a:srgbClr val="1E5BC6"/>
                </a:solidFill>
                <a:latin typeface="Pretendard"/>
                <a:ea typeface="Pretendard"/>
                <a:cs typeface="Pretendard"/>
              </a:rPr>
              <a:t>5. 자원 배분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1162050"/>
            <a:ext cx="160020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100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자원을 어떻게 나눌 것인가 — 옵션 네 개</a:t>
            </a:r>
          </a:p>
        </p:txBody>
      </p:sp>
      <p:sp>
        <p:nvSpPr>
          <p:cNvPr id="7" name="Rectangle 6"/>
          <p:cNvSpPr/>
          <p:nvPr/>
        </p:nvSpPr>
        <p:spPr>
          <a:xfrm>
            <a:off x="1143000" y="2038350"/>
            <a:ext cx="16002000" cy="28575"/>
          </a:xfrm>
          <a:prstGeom prst="rect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1143000" y="2781300"/>
            <a:ext cx="5082540" cy="590550"/>
          </a:xfrm>
          <a:prstGeom prst="rect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143000" y="2781300"/>
            <a:ext cx="5082540" cy="5905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02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옵션</a:t>
            </a:r>
          </a:p>
        </p:txBody>
      </p:sp>
      <p:sp>
        <p:nvSpPr>
          <p:cNvPr id="10" name="Rectangle 9"/>
          <p:cNvSpPr/>
          <p:nvPr/>
        </p:nvSpPr>
        <p:spPr>
          <a:xfrm>
            <a:off x="6263640" y="2781300"/>
            <a:ext cx="5082540" cy="590550"/>
          </a:xfrm>
          <a:prstGeom prst="rect">
            <a:avLst/>
          </a:prstGeom>
          <a:solidFill>
            <a:srgbClr val="1E5BC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263640" y="2781300"/>
            <a:ext cx="5082540" cy="5905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02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뜻</a:t>
            </a:r>
          </a:p>
        </p:txBody>
      </p:sp>
      <p:sp>
        <p:nvSpPr>
          <p:cNvPr id="12" name="Rectangle 11"/>
          <p:cNvSpPr/>
          <p:nvPr/>
        </p:nvSpPr>
        <p:spPr>
          <a:xfrm>
            <a:off x="11384280" y="2781300"/>
            <a:ext cx="5760720" cy="590550"/>
          </a:xfrm>
          <a:prstGeom prst="rect">
            <a:avLst/>
          </a:prstGeom>
          <a:solidFill>
            <a:srgbClr val="1E5BC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1384280" y="2781300"/>
            <a:ext cx="5760720" cy="5905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02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주의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1143000" y="3448050"/>
            <a:ext cx="5082540" cy="647700"/>
          </a:xfrm>
          <a:prstGeom prst="roundRect">
            <a:avLst>
              <a:gd name="adj" fmla="val 5882"/>
            </a:avLst>
          </a:prstGeom>
          <a:solidFill>
            <a:srgbClr val="EDF3FD"/>
          </a:solidFill>
          <a:ln w="9525">
            <a:solidFill>
              <a:srgbClr val="BFD3F5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238250" y="3448050"/>
            <a:ext cx="489204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--executor-memory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263640" y="3448050"/>
            <a:ext cx="508254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358890" y="3448050"/>
            <a:ext cx="489204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익스큐터 하나가 쓸 메모리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11384280" y="3448050"/>
            <a:ext cx="576072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1479530" y="3448050"/>
            <a:ext cx="557022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워커 메모리보다 크면 배치 안 됨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1143000" y="4171950"/>
            <a:ext cx="5082540" cy="647700"/>
          </a:xfrm>
          <a:prstGeom prst="roundRect">
            <a:avLst>
              <a:gd name="adj" fmla="val 5882"/>
            </a:avLst>
          </a:prstGeom>
          <a:solidFill>
            <a:srgbClr val="EDF3FD"/>
          </a:solidFill>
          <a:ln w="9525">
            <a:solidFill>
              <a:srgbClr val="BFD3F5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238250" y="4171950"/>
            <a:ext cx="489204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--executor-cores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263640" y="4171950"/>
            <a:ext cx="508254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358890" y="4171950"/>
            <a:ext cx="489204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익스큐터 하나가 쓸 코어 수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11384280" y="4171950"/>
            <a:ext cx="576072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1479530" y="4171950"/>
            <a:ext cx="557022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—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1143000" y="4895850"/>
            <a:ext cx="5082540" cy="647700"/>
          </a:xfrm>
          <a:prstGeom prst="roundRect">
            <a:avLst>
              <a:gd name="adj" fmla="val 5882"/>
            </a:avLst>
          </a:prstGeom>
          <a:solidFill>
            <a:srgbClr val="EDF3FD"/>
          </a:solidFill>
          <a:ln w="9525">
            <a:solidFill>
              <a:srgbClr val="BFD3F5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1238250" y="4895850"/>
            <a:ext cx="489204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--total-executor-cores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6263640" y="4895850"/>
            <a:ext cx="508254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6358890" y="4895850"/>
            <a:ext cx="489204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이 잡이 쓸 전체 코어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11384280" y="4895850"/>
            <a:ext cx="576072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11479530" y="4895850"/>
            <a:ext cx="557022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Standalone 에서 쓰는 옵션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1143000" y="5619750"/>
            <a:ext cx="5082540" cy="647700"/>
          </a:xfrm>
          <a:prstGeom prst="roundRect">
            <a:avLst>
              <a:gd name="adj" fmla="val 5882"/>
            </a:avLst>
          </a:prstGeom>
          <a:solidFill>
            <a:srgbClr val="EDF3FD"/>
          </a:solidFill>
          <a:ln w="9525">
            <a:solidFill>
              <a:srgbClr val="BFD3F5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1238250" y="5619750"/>
            <a:ext cx="489204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--driver-memory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6263640" y="5619750"/>
            <a:ext cx="508254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6358890" y="5619750"/>
            <a:ext cx="489204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드라이버 메모리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11384280" y="5619750"/>
            <a:ext cx="576072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11479530" y="5619750"/>
            <a:ext cx="557022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collect() 를 쓸 때 중요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1143000" y="76200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875" b="1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기본값은 「워커의 자원을 최대한 쓴다」 — 여러 잡을 동시에 돌릴 때는 --total-executor-cores 로 제한</a:t>
            </a:r>
          </a:p>
        </p:txBody>
      </p:sp>
      <p:sp>
        <p:nvSpPr>
          <p:cNvPr id="39" name="Rectangle 38"/>
          <p:cNvSpPr/>
          <p:nvPr/>
        </p:nvSpPr>
        <p:spPr>
          <a:xfrm>
            <a:off x="1143000" y="8058150"/>
            <a:ext cx="16002000" cy="9525"/>
          </a:xfrm>
          <a:prstGeom prst="rect">
            <a:avLst/>
          </a:prstGeom>
          <a:solidFill>
            <a:srgbClr val="DCE1E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1143000" y="8248650"/>
            <a:ext cx="1333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데이터 엔지니어링 &amp; RAG 파이프라인 160H · 5-2 · 이론 1H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15240000" y="8248650"/>
            <a:ext cx="190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09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5811500" y="8382000"/>
            <a:ext cx="4953000" cy="4953000"/>
          </a:xfrm>
          <a:prstGeom prst="ellipse">
            <a:avLst/>
          </a:prstGeom>
          <a:solidFill>
            <a:srgbClr val="F3F6FC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16859250" y="9429750"/>
            <a:ext cx="2857500" cy="28575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-1428750" y="1428750"/>
            <a:ext cx="2857500" cy="2857500"/>
          </a:xfrm>
          <a:prstGeom prst="ellipse">
            <a:avLst/>
          </a:prstGeom>
          <a:solidFill>
            <a:srgbClr val="F7F8FA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8382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50" b="1" spc="160">
                <a:solidFill>
                  <a:srgbClr val="1E5BC6"/>
                </a:solidFill>
                <a:latin typeface="Pretendard"/>
                <a:ea typeface="Pretendard"/>
                <a:cs typeface="Pretendard"/>
              </a:rPr>
              <a:t>정리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1162050"/>
            <a:ext cx="160020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100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이 1시간에서 꼭 가져갈 것</a:t>
            </a:r>
          </a:p>
        </p:txBody>
      </p:sp>
      <p:sp>
        <p:nvSpPr>
          <p:cNvPr id="7" name="Rectangle 6"/>
          <p:cNvSpPr/>
          <p:nvPr/>
        </p:nvSpPr>
        <p:spPr>
          <a:xfrm>
            <a:off x="1143000" y="2038350"/>
            <a:ext cx="16002000" cy="28575"/>
          </a:xfrm>
          <a:prstGeom prst="rect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1143000" y="2990850"/>
            <a:ext cx="16002000" cy="819150"/>
          </a:xfrm>
          <a:prstGeom prst="roundRect">
            <a:avLst>
              <a:gd name="adj" fmla="val 581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390650" y="3133725"/>
            <a:ext cx="533400" cy="533400"/>
          </a:xfrm>
          <a:prstGeom prst="ellipse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390650" y="3257550"/>
            <a:ext cx="5334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1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190750" y="2990850"/>
            <a:ext cx="14573250" cy="8191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32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워커는 상시 떠 있는 장비, 익스큐터는 잡마다 뜨는 프로세스다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1143000" y="3981450"/>
            <a:ext cx="16002000" cy="819150"/>
          </a:xfrm>
          <a:prstGeom prst="roundRect">
            <a:avLst>
              <a:gd name="adj" fmla="val 581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1390650" y="4124325"/>
            <a:ext cx="533400" cy="533400"/>
          </a:xfrm>
          <a:prstGeom prst="ellipse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390650" y="4248150"/>
            <a:ext cx="5334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1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190750" y="3981450"/>
            <a:ext cx="14573250" cy="8191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32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제출 → 마스터 자원 요청 → 워커에 익스큐터 배치 → 태스크 배분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1143000" y="4972050"/>
            <a:ext cx="16002000" cy="819150"/>
          </a:xfrm>
          <a:prstGeom prst="roundRect">
            <a:avLst>
              <a:gd name="adj" fmla="val 581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1390650" y="5114925"/>
            <a:ext cx="533400" cy="533400"/>
          </a:xfrm>
          <a:prstGeom prst="ellipse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390650" y="5238750"/>
            <a:ext cx="5334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1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190750" y="4972050"/>
            <a:ext cx="14573250" cy="8191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32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자원이 모자라면 잡이 대기 상태로 멈춘다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1143000" y="5962650"/>
            <a:ext cx="16002000" cy="819150"/>
          </a:xfrm>
          <a:prstGeom prst="roundRect">
            <a:avLst>
              <a:gd name="adj" fmla="val 581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1390650" y="6105525"/>
            <a:ext cx="533400" cy="533400"/>
          </a:xfrm>
          <a:prstGeom prst="ellipse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1390650" y="6229350"/>
            <a:ext cx="5334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1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2190750" y="5962650"/>
            <a:ext cx="14573250" cy="8191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32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Standalone·YARN·Kubernetes 는 --master 만 바뀌고 코드는 그대로다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1143000" y="6953250"/>
            <a:ext cx="16002000" cy="819150"/>
          </a:xfrm>
          <a:prstGeom prst="roundRect">
            <a:avLst>
              <a:gd name="adj" fmla="val 581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5" name="Oval 24"/>
          <p:cNvSpPr/>
          <p:nvPr/>
        </p:nvSpPr>
        <p:spPr>
          <a:xfrm>
            <a:off x="1390650" y="7096125"/>
            <a:ext cx="533400" cy="533400"/>
          </a:xfrm>
          <a:prstGeom prst="ellipse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1390650" y="7219950"/>
            <a:ext cx="5334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1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5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2190750" y="6953250"/>
            <a:ext cx="14573250" cy="8191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32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포트 세 개: 7077(접수) · 8080(마스터 UI) · 4040(잡 UI)</a:t>
            </a:r>
          </a:p>
        </p:txBody>
      </p:sp>
      <p:sp>
        <p:nvSpPr>
          <p:cNvPr id="28" name="Rectangle 27"/>
          <p:cNvSpPr/>
          <p:nvPr/>
        </p:nvSpPr>
        <p:spPr>
          <a:xfrm>
            <a:off x="1143000" y="8058150"/>
            <a:ext cx="16002000" cy="9525"/>
          </a:xfrm>
          <a:prstGeom prst="rect">
            <a:avLst/>
          </a:prstGeom>
          <a:solidFill>
            <a:srgbClr val="DCE1E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1143000" y="8248650"/>
            <a:ext cx="1333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데이터 엔지니어링 &amp; RAG 파이프라인 160H · 5-2 · 이론 1H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5240000" y="8248650"/>
            <a:ext cx="190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10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4859000" y="6667500"/>
            <a:ext cx="5905500" cy="5905500"/>
          </a:xfrm>
          <a:prstGeom prst="ellipse">
            <a:avLst/>
          </a:prstGeom>
          <a:solidFill>
            <a:srgbClr val="F3F6FC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-2095500" y="-2095500"/>
            <a:ext cx="4381500" cy="4381500"/>
          </a:xfrm>
          <a:prstGeom prst="ellipse">
            <a:avLst/>
          </a:prstGeom>
          <a:solidFill>
            <a:srgbClr val="F5F6F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143000" y="2857500"/>
            <a:ext cx="16002000" cy="28575"/>
          </a:xfrm>
          <a:prstGeom prst="rect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3352800"/>
            <a:ext cx="8572500" cy="4191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00" b="1">
                <a:solidFill>
                  <a:srgbClr val="1E5BC6"/>
                </a:solidFill>
                <a:latin typeface="Pretendard"/>
                <a:ea typeface="Pretendard"/>
                <a:cs typeface="Pretendard"/>
              </a:rPr>
              <a:t>5-2 · 이론 1H 마무리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3771900"/>
            <a:ext cx="16002000" cy="8001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100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다음은 클러스터 구축 실습 (1.5H)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43000" y="4724400"/>
            <a:ext cx="16002000" cy="4381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24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compose 파일 하나로 마스터 1 + 워커 2 를 띄우고, 워커가 마스터에 등록되는 것을 로그와 UI 로 확인합니다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1143000" y="5257800"/>
            <a:ext cx="7772400" cy="819150"/>
          </a:xfrm>
          <a:prstGeom prst="roundRect">
            <a:avLst>
              <a:gd name="adj" fmla="val 6976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428750" y="5486400"/>
            <a:ext cx="41910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75" b="1">
                <a:solidFill>
                  <a:srgbClr val="1E5BC6"/>
                </a:solidFill>
                <a:latin typeface="Pretendard"/>
                <a:ea typeface="Pretendard"/>
                <a:cs typeface="Pretendard"/>
              </a:rPr>
              <a:t>✓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905000" y="5486400"/>
            <a:ext cx="672465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7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8080 포트 비우기 · compose 파일 작성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9372600" y="5257800"/>
            <a:ext cx="7772400" cy="819150"/>
          </a:xfrm>
          <a:prstGeom prst="roundRect">
            <a:avLst>
              <a:gd name="adj" fmla="val 6976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658350" y="5486400"/>
            <a:ext cx="41910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75" b="1">
                <a:solidFill>
                  <a:srgbClr val="1E5BC6"/>
                </a:solidFill>
                <a:latin typeface="Pretendard"/>
                <a:ea typeface="Pretendard"/>
                <a:cs typeface="Pretendard"/>
              </a:rPr>
              <a:t>✓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134600" y="5486400"/>
            <a:ext cx="672465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7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docker compose up -d · ps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1143000" y="6286500"/>
            <a:ext cx="7772400" cy="819150"/>
          </a:xfrm>
          <a:prstGeom prst="roundRect">
            <a:avLst>
              <a:gd name="adj" fmla="val 6976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428750" y="6515100"/>
            <a:ext cx="41910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75" b="1">
                <a:solidFill>
                  <a:srgbClr val="1E5BC6"/>
                </a:solidFill>
                <a:latin typeface="Pretendard"/>
                <a:ea typeface="Pretendard"/>
                <a:cs typeface="Pretendard"/>
              </a:rPr>
              <a:t>✓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905000" y="6515100"/>
            <a:ext cx="672465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7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로그에서 Registering worker 찾기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9372600" y="6286500"/>
            <a:ext cx="7772400" cy="819150"/>
          </a:xfrm>
          <a:prstGeom prst="roundRect">
            <a:avLst>
              <a:gd name="adj" fmla="val 6976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658350" y="6515100"/>
            <a:ext cx="41910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75" b="1">
                <a:solidFill>
                  <a:srgbClr val="1E5BC6"/>
                </a:solidFill>
                <a:latin typeface="Pretendard"/>
                <a:ea typeface="Pretendard"/>
                <a:cs typeface="Pretendard"/>
              </a:rPr>
              <a:t>✓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134600" y="6515100"/>
            <a:ext cx="672465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7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--scale 로 워커 늘렸다 줄이기</a:t>
            </a:r>
          </a:p>
        </p:txBody>
      </p:sp>
      <p:sp>
        <p:nvSpPr>
          <p:cNvPr id="20" name="Rectangle 19"/>
          <p:cNvSpPr/>
          <p:nvPr/>
        </p:nvSpPr>
        <p:spPr>
          <a:xfrm>
            <a:off x="1143000" y="7715250"/>
            <a:ext cx="47625" cy="819150"/>
          </a:xfrm>
          <a:prstGeom prst="rect">
            <a:avLst/>
          </a:prstGeom>
          <a:solidFill>
            <a:srgbClr val="1E5BC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409700" y="7734300"/>
            <a:ext cx="8572500" cy="304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800" b="1" spc="140">
                <a:solidFill>
                  <a:srgbClr val="1E5BC6"/>
                </a:solidFill>
                <a:latin typeface="Pretendard"/>
                <a:ea typeface="Pretendard"/>
                <a:cs typeface="Pretendard"/>
              </a:rPr>
              <a:t>준비할 것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409700" y="8077200"/>
            <a:ext cx="8572500" cy="4000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00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Docker Desktop 실행 · 5-1 컨테이너 종료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