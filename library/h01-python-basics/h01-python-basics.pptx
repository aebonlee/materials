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3" r:id="rId114"/>
    <p:sldId id="364" r:id="rId115"/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5" r:id="rId1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C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H01 · 프로그래밍 입문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파이썬 기초·응용·심화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설치부터 작은 프로젝트·웹 크롤링까지 — 처음 배우는 사람을 위한 파이썬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이애본 지음 · 홍문원(洪文院) 발행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CC BY-NC-ND 4.0 · useful-ai.dreamitbiz.com</a:t>
            </a:r>
          </a:p>
        </p:txBody>
      </p:sp>
      <p:sp>
        <p:nvSpPr>
          <p:cNvPr id="1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전체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강의안의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개발 환경 준비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4250" y="41719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준비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9300" y="48768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기초 문법 — 변수·연산·조건·반복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34250" y="48958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9300" y="56007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자료구조 — 리스트·튜플·딕셔너리·세트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4250" y="56197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기초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9300" y="63246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함수와 모듈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4250" y="63436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응용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10800" y="41529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파일과 예외 처리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525750" y="41719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응용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48768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3종 — 계산기·숫자 맞추기·타이머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25750" y="48958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10800" y="56007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 크롤링 맛보기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525750" y="56197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심화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345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345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5631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5631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10800" y="6324600"/>
            <a:ext cx="5334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점검과 다음 학습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525750" y="6343650"/>
            <a:ext cx="142875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6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강의안을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파이썬과 가상환경을 설치하고 코드를 실행한다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변수·조건·반복·자료구조로 작은 문제를 푼다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함수·모듈로 코드를 나누고 다시 쓴다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읽고 쓰며, 예외로 프로그램을 지킨다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규칙을 지켜 웹 페이지에서 데이터를 모은다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결과물 — 직접 실행해 본 프로젝트 3개와 수집한 CSV 파일 하나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3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준비물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시작 전에 갖출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컴퓨터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Windows 또는 macOS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 권한이 있는 계정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프로그램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Python(3.12 이상) · VS Code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PART 1 에서 함께 설치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대안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설치가 어려우면 Google Colab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구글 계정과 브라우저만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마음가짐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눈으로 읽지 말고 직접 쳐 본다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오류 메시지도 교재다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개발 환경 준비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파이썬을 설치하고, 프로젝트마다 가상환경을 만들고, VS Code 에서 첫 프로그램을 실행합니다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프로그래밍 언어란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컴퓨터의 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컴퓨터는 0과 1로 된 명령만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직접 알아듣는다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통역 규칙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사람이 읽는 글로 쓰면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컴퓨터가 실행할 형태로 바뀐다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비유 — 레시피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순서대로 정확히 적은 지시문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줄만 틀려도 결과가 달라진다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일, 다른 길이 — 파이썬과 자바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파이썬 — 한 줄이면 된다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"Hello, World!"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Hello, World!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// 자바 — 클래스와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메서드 안에 써야 한다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public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Hello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public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static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void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String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[]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args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{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System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out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println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"Hello, World!"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}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두 코드 모두 실행해 같은 결과를 확인(파이썬 3.12 · 자바 21) — 파이썬은 군더더기가 적어 입문에 알맞다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특징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파이썬의 강점과 약점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읽기 쉬운 문법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들여쓰기로 구조가 드러나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 배우는 사람도 읽고 쓰기 쉽다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넓은 쓰임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분석 · AI · 웹 · 업무 자동화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언어로 여러 분야를 다룬다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풍부한 라이브러리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명령 한 줄로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남이 만든 도구를 가져다 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1A2A5E"/>
          </a:solidFill>
          <a:ln w="952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약점 — 실행 속도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C·자바보다 대체로 느리다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무거운 계산은 C로 만든 라이브러리에 맡긴다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설치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python.org 에서 파이썬 설치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python.org 접속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Downloads 에서 내 운영체제용 최신 안정판(3.12 이상)을 받는다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Windows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 화면에 「Add python.exe to PATH」가 보이면 체크한다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macOS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내려받은 .pkg 를 열어 안내대로 설치한다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터미널을 새로 열고 버전을 확인한다(다음 장)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기준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2026년 10월 기준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3.12~3.14 실행 확인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설치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버전이 나오면 성공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Windows — 명령 프롬프트 또는 PowerShell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py --version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python --version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macOS — 터미널(macOS 는 python3 라는 이름을 쓴다)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python3 --version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[실행 결과 예 — 숫자는 설치한 판에 따라 다르다]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Python 3.12.15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「명령을 찾을 수 없다」가 나오면 PATH 문제 — 이 파트 끝의 오류 표를 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가상환경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venv — 프로젝트마다 따로 쓰는 필통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1) 프로젝트 폴더에서 가상환경 만들기 → .venv 폴더가 생긴다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python -m venv .venv            # macOS 는 python3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2) 켜기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.venv\Scripts\activate          # Windows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source .venv/bin/activate       # macOS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3) 켜지면 프롬프트 앞에 (.venv) 가 붙는다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(.venv) $ python --version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4) 끄기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deactivate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켠 상태에서 설치한 라이브러리는 이 폴더 안에만 들어간다 — 프로젝트끼리 섞이지 않고, .venv 를 지우면 깨끗이 정리된다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라이브러리 설치 — pip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pip install requests                  # 설치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pip install requests beautifulsoup4   # 여러 개 한 번에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pip list                              # 설치된 목록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pip uninstall requests                # 지우기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설치 목록을 파일로 남기고, 다른 컴퓨터에서 그대로 재현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pip freeze &gt; requirements.txt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pip install -r requirements.txt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가상환경을 켠 뒤에 설치한다 — 켜지 않으면 컴퓨터 전체 파이썬에 들어가 다른 프로젝트와 섞인다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편집기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VS Code 준비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VS Code 설치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code.visualstudio.com 에서 내려받아 설치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Python 확장 설치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왼쪽 확장(Extensions)에서 「Python」(Microsoft) 검색 → 설치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폴더 열기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File → Open Folder 로 프로젝트 폴더를 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인터프리터 고르기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Ctrl+Shift+P(macOS ⌘+Shift+P) → Python: Select Interpreter → .venv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상태 표시줄에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.venv 가 보이면 끝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  <p:sp>
        <p:nvSpPr>
          <p:cNvPr id="34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첫 실행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첫 프로그램 — hello.py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hello.py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"안녕하세요, 파이썬!"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"2 + 3 ="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안녕하세요, 파이썬!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5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 + 3 =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실행 — 편집기 오른쪽 위 실행 버튼, 또는 터미널에서 python hello.py(macOS 는 python3)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다른 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설치가 어렵다면 — Google Colab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VS Code + venv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컴퓨터에서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파일·폴더로 프로젝트를 관리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인터넷 없이도 실행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강의안의 기본 환경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Google Colab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colab.research.google.com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구글 계정만 있으면 설치 없이 시작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셀 단위로 실행하는 노트북(Jupyter 형식)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세션이 끝나면 설치한 것이 사라짐 — !pip install 로 다시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참고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Anaconda 는?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무엇인가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+ 데이터 과학 패키지를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한데 묶은 배포판(conda 명령)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강의안에서는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python.org + venv + pip 를 쓴다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구조가 단순하고 가볍다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방식을 섞으면 어느 파이썬이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도는지 헷갈린다 · 기관은 약관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흔한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설치에서 자주 막히는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348234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781300"/>
            <a:ext cx="73609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python 명령을 찾을 수 없음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 미등록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784080" y="34480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9330" y="34480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 추가를 체크해 다시 설치 · Windows 는 py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macOS 에 python 이 없음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이름이 python3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784080" y="41719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79330" y="41719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python3 · pip3 로 실행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PowerShell 이 activate 를 거부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정책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48958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79330" y="48958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Set-ExecutionPolicy -Scope CurrentUser RemoteSigned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설치했는데 import 가 안 됨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다른 파이썬에 설치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784080" y="5619750"/>
            <a:ext cx="73609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879330" y="5619750"/>
            <a:ext cx="71704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.venv 를 켜고 설치 · VS Code 도 .venv 선택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오류 문구를 그대로 검색창에 붙여 넣으면 대개 같은 일을 겪은 사람의 답이 나온다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  <p:sp>
        <p:nvSpPr>
          <p:cNvPr id="4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체크포인트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환경 준비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터미널에서 파이썬 버전이 나온다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폴더에 .venv 를 만들고 켤 수 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VS Code 에서 .venv 인터프리터를 골랐다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hello.py 를 실행해 출력을 봤다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넷 다 되면 PART 2 로 — 막히면 Colab 으로 먼저 진행해도 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기초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값을 담고(변수), 계산하고(연산), 고르고(조건), 되풀이(반복)합니다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변수 — 이름표 붙은 상자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상자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값을 담아 두는 곳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숫자·글자·참거짓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이름표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상자를 부르는 이름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뜻이 드러나게 짓는다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= 의 뜻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「같다」가 아니라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「오른쪽 값을 왼쪽에 넣어라」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변수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변수 만들고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"민지"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오른쪽을 먼저 계산해 다시 넣는다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my_score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이름: 영문·숫자·밑줄, 숫자로 시작 불가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my_score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민지 20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21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90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기본 자료형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2781300"/>
            <a:ext cx="284226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0332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2781300"/>
            <a:ext cx="540258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2781300"/>
            <a:ext cx="54025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024360" y="2781300"/>
            <a:ext cx="5120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쓰임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0332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9857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34480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8930" y="34480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10, -3, 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024360" y="34480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119610" y="34480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개수 · 나이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float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0332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9857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41719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78930" y="41719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3.14, 0.5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024360" y="41719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119610" y="41719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 · 평균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str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70332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857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8958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78930" y="48958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"안녕", '파이썬'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024360" y="48958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119610" y="48958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 · 문장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bool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70332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79857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불리언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583680" y="5619750"/>
            <a:ext cx="54025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8930" y="5619750"/>
            <a:ext cx="52120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True, False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2024360" y="5619750"/>
            <a:ext cx="51206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2119610" y="5619750"/>
            <a:ext cx="4930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참 · 거짓 판단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문자열은 큰따옴표와 작은따옴표 둘 다 된다 — 시작과 끝만 같으면 된다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  <p:sp>
        <p:nvSpPr>
          <p:cNvPr id="5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자료형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type() 으로 확인하고 형 변환하기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3.14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"안녕"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type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형 변환 — 다른 자료형으로 바꾸기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"42"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+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float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"3.5"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*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str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+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"점"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3.9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소수점 아래를 버린다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&lt;class 'int'&gt;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&lt;class 'float'&gt;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&lt;class 'str'&gt;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&lt;class 'bool'&gt;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43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7.0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100점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연산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산술 연산자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더하기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빼기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곱하기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/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나누기 — 결과는 늘 실수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//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몫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%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나머지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**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거듭제곱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22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12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85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3.4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289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비유 — 사탕 17개를 5명에게 나누면 한 명당 3개(몫 //), 2개가 남는다(나머지 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문자열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문자열 — 번호로 꺼내고 자르기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"Python"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],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[-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첫 글자, 마지막 글자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  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0번부터 3번 앞까지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글자 수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"파이"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"썬"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이어 붙이기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"ha"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되풀이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"y"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들어 있나?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P n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Pyt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6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파이썬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hahaha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번호(인덱스)는 0부터 센다 — 음수는 뒤에서부터. [시작:끝] 은 끝 번호를 포함하지 않는다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문자열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문자열 메서드와 f-string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  Hello, Python  "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strip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      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양끝 공백 제거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strip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upper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대문자로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strip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replace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"Python"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"World"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"a,b,c"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split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","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쉼표로 나누기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"민지"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92.456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f"{name}님의 점수는 {score}점"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f"소수 둘째 자리: {score:.2f}"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f"천 단위 쉼표: {1234567:,}"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Hello, Python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HELLO, PYTHON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Hello, World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['a', 'b', 'c']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민지님의 점수는 92.456점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소수 둘째 자리: 92.46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천 단위 쉼표: 1,234,567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입력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input() — 키보드로 입력받기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"이름을 입력하세요: 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"나이를 입력하세요: 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글자 → 정수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f"{name}님은 내년에 {age + 1}살입니다."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예 — 민지, 20 을 입력]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이름을 입력하세요: 민지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나이를 입력하세요: 20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민지님은 내년에 21살입니다.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input() 이 돌려주는 값은 언제나 문자열 — 계산하려면 int() · float() 로 바꾼다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흔한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흔한 오류 ① 문자열 + 숫자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"나이:"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쉼표로 나열 — 된다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f"나이: {age}"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f-string — 된다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"나이: 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str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문자열로 바꿔 붙이기 — 된다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"나이: 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문자열 + 정수 — 오류!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 — 오류]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나이: 20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나이: 20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나이: 20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TypeError: can only concatenate str (not "int") to str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오류 메시지는 맨 아래 줄부터 읽는다 — 「TypeError: 문자열(str)에는 문자열만 이어 붙일 수 있다」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연산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비교 연산자와 논리 연산자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크다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같다(= 하나는 대입)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!=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다르다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and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둘 다 참이어야 참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하나만 참이어도 참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not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참·거짓 뒤집기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이어 쓰기도 된다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False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False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조건문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if · elif · else — 갈림길 만들기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85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90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"A"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elif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80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"B"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elif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70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"C"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grade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"F"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f"{score}점은 {grade}학점"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85점은 B학점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위에서부터 검사해 처음 참인 곳 하나만 실행한다 — 그래서 큰 기준부터 쓴다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흔한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흔한 오류 ② 들여쓰기와 = · ==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85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"합격"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→ IndentationError: expected an indented block after 'if' statement on line 2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85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"딱 85점"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→ SyntaxError: invalid syntax. Maybe you meant '==' or ':=' instead of '='?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콜론(:) 다음 줄은 4칸 들여쓴다 · 같은 블록은 같은 칸 수로 · 비교는 ==, 대입은 =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반복문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for 와 range — 정해진 횟수만큼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range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0, 1, 2, 3, 4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 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range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1부터 10까지 3씩 건너뛰며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end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 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range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total = total + n 의 줄임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"1부터 100까지 합:"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0 1 2 3 4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 4 7 10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1부터 100까지 합: 5050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range(끝) · range(시작, 끝) · range(시작, 끝, 간격) — 끝 숫자는 포함하지 않는다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반복문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while — 조건이 참인 동안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while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f"{count}..."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빼먹으면 끝나지 않는다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"발사!"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3...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2...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1...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발사!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몇 번 돌지 미리 모를 때 while 을 쓴다 — 언젠가 조건이 거짓이 되도록 값을 바꿔 준다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반복문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break 와 continue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range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%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continue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짝수는 건너뛰고 다음 바퀴로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break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7보다 크면 반복을 끝낸다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end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 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"반복 끝"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 3 5 7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반복 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흔한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흔한 오류 ③ 끝나지 않는 반복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while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n += 1 을 빠뜨렸다 → n 은 계속 1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…(끝나지 않는다 — Ctrl+C 로 멈춘다)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화면이 멈추고 같은 줄만 쏟아지면 무한 반복 — Ctrl+C 로 멈추고 조건이 바뀌는지 확인한다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몫과 나머지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print(17 // 5, 17 % 5) 의 출력은?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3.4 0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3 2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3 3.4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6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36</a:t>
            </a:r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확인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EDC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3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// 는 몫, % 는 나머지입니다. 17 = 5 × 3 + 2 이므로 몫 3, 나머지 2 — print 는 쉼표로 나열한 값을 빈칸 하나로 띄워 출력합니다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37</a:t>
            </a:r>
          </a:p>
        </p:txBody>
      </p:sp>
      <p:sp>
        <p:nvSpPr>
          <p:cNvPr id="18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체크포인트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기초 문법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변수에 값을 넣고 print 로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int · float · str · bool 과 형 변환을 구분한다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if · elif · else 로 갈림길을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for · while 로 반복하고 break 로 멈춘다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오류 메시지 마지막 줄을 읽고 원인을 찾는다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38</a:t>
            </a: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자료구조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 여러 개를 한데 담는 그릇 네 가지 — 리스트 · 튜플 · 딕셔너리 · 세트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39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네 가지 그릇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리스트 [ ]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번호 붙은 사물함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 있음 · 넣고 빼고 바꿀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튜플 ( )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봉인된 상자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순서 있음 · 만든 뒤에는 바꿀 수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딕셔너리 { 키: 값 }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국어사전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단어(키)로 뜻(값)을 바로 찾는다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세트 { }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스티커 도감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것은 한 번만 들어간다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40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리스트 — 번호로 꺼내고 바꾸기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"사과"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"바나나"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"포도"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"딸기"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 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첫째 — 번호는 0부터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[-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끝에서 첫째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1번부터 3번 앞까지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"망고"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바꾸기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사과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딸기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['바나나', '포도']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4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['사과', '망고', '포도', '딸기']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41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리스트 메서드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끝에 추가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insert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0번 자리에 끼우기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remove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값 1 을 앞에서부터 하나 지우기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last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pop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끝 값을 꺼내며 지우기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last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sort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오름차순 정렬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[9, 3, 1, 4, 1]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[9, 3, 4] 1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[3, 4, 9]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 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42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흔한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흔한 오류 ④ 없는 번호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"사과"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"바나나"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"포도"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fruits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번호는 0, 1, 2 까지만 있다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 — 오류]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IndexError: list index out of range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항목이 3개면 번호는 0~2 — 마지막은 len(리스트) - 1 또는 [-1] 로 꺼낸다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43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리스트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리스트와 반복 — 합계·평균·거르기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88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92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75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64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95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"합계:"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sum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"평균:"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sum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/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"최고:"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"최저:"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passed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80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passed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"80점 이상:"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passed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scores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80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같은 일을 한 줄로(컴프리헨션)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합계: 414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평균: 82.8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최고: 95 최저: 64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80점 이상: [88, 92, 95]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[88, 92, 95]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44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튜플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튜플 — 바꿀 수 없는 묶음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(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언패킹 — 하나씩 나눠 담기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두 값 바꾸기도 한 줄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point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8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튜플은 바꿀 수 없다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 — 오류]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 5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 1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TypeError: 'tuple' object does not support item assignment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좌표·날짜처럼 바뀌면 안 되는 값을 묶을 때 쓴다 — 바꾸려 하면 TypeError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45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딕셔너리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딕셔너리 — 키로 찾기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"이름"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"민지"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"학년"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"이름"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"전공"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"컴퓨터"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없는 키 → 추가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"학년"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=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있는 키 → 수정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del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"전공"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지우기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"나이"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없으면 None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"나이"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없을 때 쓸 기본값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"이름"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민지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{'이름': '민지', '학년': 3}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None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0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46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딕셔너리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딕셔너리 순회 — items()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"사과"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"바나나"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"포도"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qty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():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qty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f"{name}: 품절"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f"{name}: {qty}개"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list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sum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사과: 5개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바나나: 품절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포도: 12개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['사과', '바나나', '포도']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47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흔한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흔한 오류 ⑤ 없는 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"사과"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"배"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안전한 조회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stock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"배"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      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없는 키 → 오류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 — 오류]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KeyError: '배'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있는지 모르는 키는 get(키, 기본값) 으로 꺼내거나 if 키 in 딕셔너리: 로 먼저 확인한다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48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세트 — 중복 없애기와 집합 연산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visits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"민지"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"준호"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"민지"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"서연"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"준호"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people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set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visits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중복 제거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people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sorted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people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"파이썬"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"자바"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{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"파이썬"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"자바스크립트"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&amp;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교집합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sorted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|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합집합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sorted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차집합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 ['민지', '서연', '준호']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{'파이썬'}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['C', '자바', '자바스크립트', '파이썬']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['C', '자바']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세트는 순서가 없어 출력 순서가 실행마다 달라질 수 있다 — 그래서 sorted() 로 정렬해 보여 준다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49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네 그릇 한눈에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그릇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348234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모양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81300"/>
            <a:ext cx="348234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순서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384280" y="2781300"/>
            <a:ext cx="252222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84280" y="2781300"/>
            <a:ext cx="25222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바꾸기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944600" y="2781300"/>
            <a:ext cx="3200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리스트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86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[1, 2]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909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34480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34480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944600" y="34480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039850" y="34480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튜플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434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86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(1, 2)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6384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909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384280" y="41719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79530" y="41719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944600" y="41719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39850" y="41719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허용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딕셔너리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4386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{"a": 1}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6384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5909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넣은 순서 유지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84280" y="48958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79530" y="48958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944600" y="48958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039850" y="48958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키는 불가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세트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434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86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{1, 2}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86384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5909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없음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84280" y="5619750"/>
            <a:ext cx="25222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79530" y="5619750"/>
            <a:ext cx="23317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가능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944600" y="5619750"/>
            <a:ext cx="3200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039850" y="5619750"/>
            <a:ext cx="3009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불가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고르는 법 — 차례가 중요하면 리스트, 이름으로 찾으면 딕셔너리, 중복을 없애려면 세트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50</a:t>
            </a:r>
          </a:p>
        </p:txBody>
      </p:sp>
      <p:sp>
        <p:nvSpPr>
          <p:cNvPr id="6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함수와 모듈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자주 쓰는 코드를 묶어 이름을 붙이고(함수), 파일로 나눠 가져다 씁니다(모듈)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51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함수 — 자판기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넣는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매개변수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동전과 버튼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하는 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 본문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기계 안의 동작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나오는 것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반환값(return)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떨어지는 음료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52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def 로 정의하고 호출하기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8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   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정의 — 아직 실행되지 않는다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f"안녕하세요, {name}님!"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msg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"민지"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</a:t>
            </a: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호출 — 이때 실행된다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msg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greet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"준호"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area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width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height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area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안녕하세요, 민지님!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안녕하세요, 준호님!</a:t>
            </a:r>
          </a:p>
          <a:p>
            <a:pPr algn="l">
              <a:lnSpc>
                <a:spcPct val="115000"/>
              </a:lnSpc>
            </a:pPr>
            <a:r>
              <a:rPr sz="18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53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기본값과 키워드 인자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menu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size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"보통"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f"{menu} {size} {count}잔"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"라떼"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 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기본값 사용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"라떼"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"큰"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순서대로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"라떼"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이름으로 골라 넘기기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order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menu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"녹차"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</a:t>
            </a: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이름이면 순서 무관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라떼 보통 1잔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라떼 큰 1잔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라떼 보통 3잔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녹차 보통 2잔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54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흔한 혼동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print 와 return 은 다르다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add_print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화면에 보여 주기만 한다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add_return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값을 돌려준다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add_print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add_return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"x ="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돌려준 값이 없으면 None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"y ="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y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add_return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*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돌려받은 값은 계속 쓸 수 있다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5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x = None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y = 5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50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print 는 사람에게 보여 주기, return 은 프로그램에 돌려주기 — 계산 결과를 다시 쓰려면 return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55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여러 값 돌려주기와 변수의 범위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min_max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min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nums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두 값을 튜플로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min_max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lo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hi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make_total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():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함수 안에서 만든 지역 변수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make_total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total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함수 밖에서는 보이지 않는다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 — 오류]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 9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NameError: name 'total' is not defined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함수 안에서 만든 변수는 함수가 끝나면 사라진다 — 밖에서 쓰려면 return 으로 돌려받는다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56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람다 — 이름 없는 한 줄 함수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square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lambda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*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x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</a:t>
            </a: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이름 없는 한 줄 함수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square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words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"banana"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"kiwi"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"apple"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sorted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words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                 </a:t>
            </a: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알파벳순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sorted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words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        </a:t>
            </a: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길이순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sorted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words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lambda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[-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]))   </a:t>
            </a: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끝 글자순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"민지"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92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"준호"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78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"서연"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85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)]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best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max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students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key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lambda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"1등:"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best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25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['apple', 'banana', 'kiwi']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['kiwi', 'apple', 'banana']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['banana', 'apple', 'kiwi']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1등: 민지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sorted · max 의 key 에 「무엇을 기준으로 비교할지」를 넘길 때 가장 많이 쓴다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57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내장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자주 쓰는 내장 함수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412242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 → 결과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길이(개수)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3448050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3448050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len("abc") →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sum · max · min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044043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044043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합 · 최대 · 최소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4044043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9250" y="4044043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max([3, 8, 2]) → 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sorted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640036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640036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정렬한 새 리스트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0" y="4640036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9250" y="4640036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sorted([3, 1, 2]) → [1, 2, 3]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round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236029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236029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반올림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5236029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39250" y="5236029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round(3.14159, 2) → 3.14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abs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5832021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5832021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절댓값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144000" y="5832021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239250" y="5832021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abs(-7) → 7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range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428014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428014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정수 범위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44000" y="6428014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39250" y="6428014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list(range(3)) → [0, 1, 2]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3802380" cy="519793"/>
          </a:xfrm>
          <a:prstGeom prst="roundRect">
            <a:avLst>
              <a:gd name="adj" fmla="val 7329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61188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isinstance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983480" y="7024007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78730" y="7024007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자료형 확인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44000" y="7024007"/>
            <a:ext cx="80010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239250" y="7024007"/>
            <a:ext cx="78105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isinstance(3, int) → True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내장 함수는 import 없이 바로 쓴다 — 전체 목록은 파이썬 공식 문서 「Built-in Functions」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58</a:t>
            </a:r>
          </a:p>
        </p:txBody>
      </p:sp>
      <p:sp>
        <p:nvSpPr>
          <p:cNvPr id="60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내장 함수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enumerate 와 zip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menu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"김밥"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"라면"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"떡볶이"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enumerate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menu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start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번호 붙이기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3000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4500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5000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item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zip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menu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   </a:t>
            </a: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짝 맞추기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f"{item}: {price:,}원"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dict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zip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menu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prices</a:t>
            </a: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)))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 김밥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 라면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 떡볶이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김밥: 3,000원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라면: 4,500원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떡볶이: 5,000원</a:t>
            </a:r>
          </a:p>
          <a:p>
            <a:pPr algn="l">
              <a:lnSpc>
                <a:spcPct val="115000"/>
              </a:lnSpc>
            </a:pPr>
            <a:r>
              <a:rPr sz="15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{'김밥': 3000, '라면': 4500, '떡볶이': 5000}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59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표준 라이브러리와 import 세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① 모듈 통째로 — math.이름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datetime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② 필요한 것만 — 이름만으로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③ 별명 붙이기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sqrt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floor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3.7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round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math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pi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seed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같은 결과를 다시 보려고 씨앗 고정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주사위 1~6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choice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"가위"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"바위"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"보"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date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2026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weekday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0=월요일 … 6=일요일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4.0 3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3.142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보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60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모듈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 모듈 만들기와 __name__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6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파일 ① mytools.py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__name__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== 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"__main__"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 파일을 직접 실행할 때만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"시험:"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파일 ② main.py — 같은 폴더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mytools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  </a:t>
            </a: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가져올 때는 시험 코드가 돌지 않는다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mytools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mytools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add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6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[python mytools.py 결과]  시험: 2</a:t>
            </a:r>
          </a:p>
          <a:p>
            <a:pPr algn="l">
              <a:lnSpc>
                <a:spcPct val="115000"/>
              </a:lnSpc>
            </a:pPr>
            <a:r>
              <a:rPr sz="16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[python main.py 결과]     30 / 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파일 하나가 모듈이다 — __name__ 은 직접 실행하면 "__main__", import 되면 모듈 이름이 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61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객체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클래스 맛보기 — 붕어빵 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Dog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             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붕어빵 틀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__init__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만들 때 한 번 실행(초기화)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name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 붕어빵의 속성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tricks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[]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learn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trick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메서드 — 이 객체가 하는 일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tricks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trick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f"{self.name}: {', '.join(self.tricks)}"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Dog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"초코"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틀로 찍어 낸 객체 둘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Dog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"보리"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learn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"앉아"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);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learn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"손"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learn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"엎드려"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초코: 앉아, 손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보리: 엎드려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클래스는 틀, 객체는 틀로 찍은 붕어빵 — 객체마다 자기 속성(이름·재주)을 따로 가진다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62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흔한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흔한 오류 ⑥ 모듈이 없다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bs4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설치하지 않은 라이브러리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 — 오류]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ModuleNotFoundError: No module named 'bs4'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해결 — 가상환경을 켠 뒤 설치(설치 이름과 import 이름이 다르다)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pip install beautifulsoup4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설치했는데도 같은 오류면 VS Code 가 다른 파이썬을 쓰는 중 — 인터프리터가 .venv 인지 확인한다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63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체크포인트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자료구조·함수·모듈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리스트·튜플·딕셔너리·세트를 골라 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IndexError · KeyError 의 뜻을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매개변수와 return 이 있는 함수를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import 세 방식과 __name__ 을 설명한다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pip 이름과 import 이름이 다를 수 있음을 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64</a:t>
            </a: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파일과 예외 처리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프로그램이 끝나도 남도록 파일에 쓰고, 문제가 생겨도 멈추지 않도록 예외를 처리합니다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65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여는 방식(모드)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"r" 읽기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있는 공책을 펼쳐 읽기만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기본값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"w" 쓰기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공책 — 같은 이름이 있으면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내용을 지우고 처음부터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"a" 이어 쓰기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공책 마지막 줄 뒤에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덧붙인다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66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with open — 쓰고, 이어 쓰고,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with — 블록이 끝나면 파일을 자동으로 닫는다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with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open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"memo.txt"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write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"첫째 줄\n"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write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"둘째 줄\n"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with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open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"memo.txt"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write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"덧붙인 줄\n"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with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open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"memo.txt"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8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첫째 줄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둘째 줄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덧붙인 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67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줄씩 읽기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with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open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"memo.txt"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line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enumerate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start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i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line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strip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줄 끝의 \n 을 떼고 출력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with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open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"memo.txt"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lines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readlines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줄들을 리스트로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lines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"줄"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 첫째 줄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 둘째 줄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 덧붙인 줄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 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encoding="utf-8" 을 늘 붙인다 — 빼면 Windows 에서 한글이 깨지거나 UnicodeDecodeError 가 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68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CSV 파일 — 표 데이터 저장하기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csv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[[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"이름"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"점수"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], [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"민지"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92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], [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"준호"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78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]]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with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open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"scores.csv"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newline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csv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writer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writerows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with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open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"scores.csv"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newline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csv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DictReader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    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첫 줄을 열 이름으로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"이름"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], </a:t>
            </a: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"점수"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 + 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5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민지 97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준호 83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엑셀에서 한글이 깨지면 encoding="utf-8-sig" 로 저장 · 표가 커지면 pandas 가 편하다(다음 학습)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69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개념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예외 — 비상구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예외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 중에 생긴 문제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0으로 나누기, 없는 파일…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그대로 두면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프로그램이 그 자리에서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멈춘다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try · except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문제가 생기면 준비해 둔 길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(비상구)로 돌린다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70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예외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try · except — 예외 잡기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safe_divide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/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except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ZeroDivisionError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return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"0으로 나눌 수 없습니다"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safe_divide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safe_divide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"42"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"사십이"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* </a:t>
            </a:r>
            <a:r>
              <a:rPr sz="150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2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except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ValueError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f"'{text}' 는 숫자가 아닙니다"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2.5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0으로 나눌 수 없습니다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84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'사십이' 는 숫자가 아닙니다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71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예외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else 와 finally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524500"/>
          </a:xfrm>
          <a:prstGeom prst="roundRect">
            <a:avLst>
              <a:gd name="adj" fmla="val 1724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524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5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5105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read_file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path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open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path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except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FileNotFoundError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f"{path}: 파일이 없습니다"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               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오류가 없을 때만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strip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close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50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finally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                    </a:t>
            </a: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오류가 있든 없든 늘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50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"확인 끝"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read_file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"memo.txt"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read_file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50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"nofile.txt"</a:t>
            </a: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안녕하세요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확인 끝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nofile.txt: 파일이 없습니다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확인 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72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자주 만나는 예외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예외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476250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NameError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448050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8890" y="3448050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이름을 썼다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print(totl)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3969544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3969544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TypeError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969544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3969544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자료형이 맞지 않는다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3969544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3969544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"나이: " + 20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491038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491038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ValueError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491038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8890" y="4491038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값의 모양이 틀렸다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491038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491038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int("사십")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012531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012531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IndexError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5012531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8890" y="5012531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번호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012531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012531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[1, 2][5]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534025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534025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KeyError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3640" y="5534025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58890" y="5534025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5534025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5534025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{"a": 1}["b"]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055519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055519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ZeroDivisionError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6055519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8890" y="6055519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0으로 나눴다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055519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055519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10 / 0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6577012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6577012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FileNotFoundError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263640" y="6577012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58890" y="6577012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없는 파일을 열었다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064240" y="6577012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159490" y="6577012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open("없음.txt")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7098506"/>
            <a:ext cx="5082540" cy="445294"/>
          </a:xfrm>
          <a:prstGeom prst="roundRect">
            <a:avLst>
              <a:gd name="adj" fmla="val 8556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238250" y="7098506"/>
            <a:ext cx="489204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ModuleNotFoundError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263640" y="7098506"/>
            <a:ext cx="476250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58890" y="7098506"/>
            <a:ext cx="457200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 안 된 모듈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1064240" y="7098506"/>
            <a:ext cx="6080760" cy="445294"/>
          </a:xfrm>
          <a:prstGeom prst="roundRect">
            <a:avLst>
              <a:gd name="adj" fmla="val 855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159490" y="7098506"/>
            <a:ext cx="5890260" cy="44529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from bs4 import 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모든 예를 실제로 실행해 표의 예외가 나는 것을 확인했다 — except 에는 잡을 예외 이름을 구체적으로 쓴다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73</a:t>
            </a:r>
          </a:p>
        </p:txBody>
      </p:sp>
      <p:sp>
        <p:nvSpPr>
          <p:cNvPr id="66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체크포인트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파일·예외 점검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861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6290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7528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34861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with open 으로 파일을 쓰고 읽는다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44767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6196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7434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44767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 · w · a 모드의 차이를 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4673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6102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7340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54673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encoding="utf-8" 을 빠뜨리지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4579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60082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7246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64579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try · except 로 ValueError 를 잡아 다시 묻는다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74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3종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계산기 · 숫자 맞추기 · 타이머 — 배운 문법을 엮어 실제로 동작하는 프로그램을 만듭니다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75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프로젝트는 이 순서로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요구사항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무엇을 만들지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문장으로 적기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뼈대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함수 이름과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TODO 주석만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완성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빈칸을 채우고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실행해 확인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기능을 하나씩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더하기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번에 다 쓰지 않는다 — 조금 쓰고 실행하고, 또 조금 쓰고 실행한다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76</a:t>
            </a:r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1 · 계산기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요구사항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연산자(+ - * /)와 숫자 두 개를 입력받는다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결과를 출력한다 — 0으로 나누면 안내 문구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숫자가 아닌 입력은 다시 묻는다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모르는 연산자는 안내하고, q 를 넣으면 끝낸다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쓰는 문법 — 함수 · if · while · try/except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77</a:t>
            </a:r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1 · 계산기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계산기 —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8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calculate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op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① op 에 따라 + - * / 결과를 돌려준다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② 0으로 나누면 None 을 돌려준다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pass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read_number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prompt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③ 숫자를 받을 때까지 다시 묻는다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pass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():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④ q 가 나올 때까지 입력 → 계산 → 출력을 반복한다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8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pass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</a:t>
            </a: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pass 는 「아직 비워 둠」 — 뼈대도 실행은 된다(아무것도 출력하지 않을 뿐)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78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1 · 계산기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계산기 — 완성 (1/2)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def calculate(a, op, b):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if op == "+":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return a + b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elif op == "-":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return a - b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elif op == "*":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return a * b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elif op == "/":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if b == 0: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return None             # 0으로 나누기는 막는다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return a / b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def read_number(prompt):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while True: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try: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return float(input(prompt))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except ValueError: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print("숫자를 입력하세요.")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read_number 는 숫자를 받을 때까지 while True 로 되묻는다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79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1 · 계산기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계산기 — 완성 (2/2)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20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29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30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def main():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print("계산기 (끝내려면 연산자에 q)")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while True: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op = input("연산자(+ - * /): ")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if op == "q":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print("종료합니다.")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break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if op not in ["+", "-", "*", "/"]: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print("지원하지 않는 연산자입니다.")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continue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a = read_number("첫 번째 수: ")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b = read_number("두 번째 수: ")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result = calculate(a, op, b)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if result is None: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print("0으로 나눌 수 없습니다.")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else: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print(f"결과: {a} {op} {b} = {result}")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main()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op not in [...] — 목록에 없는 연산자는 continue 로 처음부터 다시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80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1 · 계산기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계산기 — 실행 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계산기 (끝내려면 연산자에 q)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연산자(+ - * /): +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첫 번째 수: 3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두 번째 수: 4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결과: 3.0 + 4.0 = 7.0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연산자(+ - * /): /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첫 번째 수: 10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두 번째 수: 0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0으로 나눌 수 없습니다.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연산자(+ - * /): %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지원하지 않는 연산자입니다.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연산자(+ - * /): *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첫 번째 수: 둘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숫자를 입력하세요.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첫 번째 수: 2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두 번째 수: 5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결과: 2.0 * 5.0 = 10.0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연산자(+ - * /): q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종료합니다.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0으로 나누기 · 모르는 연산자(%) · 숫자가 아닌 입력(둘)까지 넣어 본 실제 실행 화면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81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1 · 계산기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확장 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연산 더하기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거듭제곱 ** 와 나머지 % 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calculate 에 추가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깔끔한 표시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7.0 처럼 정수로 떨어지면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 로 보여 주기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계산 기록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결과를 리스트에 모아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끝날 때 한꺼번에 출력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저장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기록을 history.txt 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 쓰기("a" 모드)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82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2 · 숫자 맞추기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요구사항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컴퓨터가 1~100 사이 숫자를 몰래 정한다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추측을 입력하면 「더 큰 수」「더 작은 수」를 알려 준다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맞히면 시도 횟수를 알려 주고 끝낸다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숫자가 아닌 입력은 횟수에 넣지 않고 다시 묻는다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쓰는 문법 — random 모듈 · while True · break · try/except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83</a:t>
            </a:r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2 · 숫자 맞추기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 맞추기 —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secret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컴퓨터가 몰래 정한 수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tries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while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① 입력을 정수로 바꾼다 — 실패하면 다시 묻는다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② tries 를 1 늘린다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③ 크다·작다·정답을 알려 주고, 정답이면 break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break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뼈대의 break 는 일단 반복을 한 번에 끝내 두는 자리표시 — 완성하면서 정답일 때만 break 하게 바꾼다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84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2 · 숫자 맞추기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 맞추기 — 완성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secret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random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randint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100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</a:t>
            </a: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컴퓨터가 몰래 정한 수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tries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while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guess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"추측(1~100): 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except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ValueError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"정수를 입력하세요."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continue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tries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+= </a:t>
            </a:r>
            <a:r>
              <a:rPr sz="14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guess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&lt;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secret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"더 큰 수입니다."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elif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guess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secret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"더 작은 수입니다."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else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f"정답! {tries}번 만에 맞혔습니다."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break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random.randint(1, 100) 은 1과 100을 모두 포함한다 — 실행할 때마다 다른 수가 정해진다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85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2 · 숫자 맞추기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 맞추기 — 실행 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추측(1~100): 50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더 작은 수입니다.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추측(1~100): 오십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정수를 입력하세요.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추측(1~100): 25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더 작은 수입니다.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추측(1~100): 12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더 큰 수입니다.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추측(1~100): 18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더 작은 수입니다.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추측(1~100): 15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더 큰 수입니다.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추측(1~100): 16</a:t>
            </a:r>
          </a:p>
          <a:p>
            <a:pPr algn="l">
              <a:lnSpc>
                <a:spcPct val="115000"/>
              </a:lnSpc>
            </a:pPr>
            <a:r>
              <a:rPr sz="18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정답! 6번 만에 맞혔습니다.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절반씩 좁혀 가면(이분 탐색) 1~100 은 7번 안에 반드시 맞힌다 — 숫자가 아닌 입력은 횟수에서 빠진다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86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2 · 숫자 맞추기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확장 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범위 검사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1~100 밖의 수는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안내하고 다시 묻기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기회 제한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7번 안에 못 맞히면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정답을 알려 주고 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다시 하기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끝난 뒤 「한 판 더?(y/n)」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함수로 묶어 반복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난이도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쉬움 1~50 · 어려움 1~1000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을 골라 시작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87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3 · 타이머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요구사항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몇 초를 셀지 입력받는다 — 1 이상의 정수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1초마다 남은 시간을 MM:SS 로 같은 줄에 갱신한다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0이 되면 「시간 종료!」를 출력한다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숫자가 아니거나 0 이하이면 안내하고 다시 묻는다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쓰는 문법 — time 모듈 · divmod · f-string 서식 · 예외 처리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88</a:t>
            </a:r>
          </a:p>
        </p:txBody>
      </p:sp>
      <p:sp>
        <p:nvSpPr>
          <p:cNvPr id="2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3 · 타이머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타이머 — 뼈대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countdown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seconds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① seconds 가 0보다 큰 동안 반복한다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② divmod 로 분·초를 나눠 MM:SS 로 같은 줄에 출력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③ 1초 쉬고 seconds 를 1 줄인다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"시간 종료!"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TODO ④ 1 이상의 정수를 받을 때까지 묻는다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2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countdown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입력 부분을 만들기 전에는 sec = 3 처럼 값을 박아 두고 countdown 부터 완성한다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89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3 · 타이머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타이머 — 완성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def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countdown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seconds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while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seconds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 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0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mins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divmod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seconds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60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몫=분, 나머지=초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f"{mins:02d}:{secs:02d}"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"\r"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같은 줄에 덮어쓰기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sleep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     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1초 쉬기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seconds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-= 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"시간 종료!"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while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try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input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"몇 초? 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&gt;= 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break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"1 이상을 입력하세요."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except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ValueError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"정수를 입력하세요."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countdown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sec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end="\r" 는 줄을 바꾸지 않고 줄 맨 앞으로 돌아가 같은 자리에 덮어쓴다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90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3 · 타이머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타이머 — 실행 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code"/>
          <p:cNvSpPr txBox="1"/>
          <p:nvPr/>
        </p:nvSpPr>
        <p:spPr>
          <a:xfrm>
            <a:off x="1352550" y="2552700"/>
            <a:ext cx="155829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몇 초? 삼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정수를 입력하세요.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몇 초? 0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1 이상을 입력하세요.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몇 초? 3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00:03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00:02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00:01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시간 종료!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화면에서는 00:03 → 00:02 → 00:01 이 한 줄에서 바뀐다 — 여기서는 덮어쓴 값을 줄마다 펼쳐 보였다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91</a:t>
            </a:r>
          </a:p>
        </p:txBody>
      </p:sp>
      <p:sp>
        <p:nvSpPr>
          <p:cNvPr id="15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프로젝트 3 · 타이머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확장 과제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분:초 입력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"1:30" 을 split(":") 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나눠 90초로 바꾸기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중단 처리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Ctrl+C 를 누르면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KeyboardInterrupt 로 잡아 안내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뽀모도로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25분 집중 · 5분 휴식을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정한 횟수만큼 반복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기록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끝난 시각을 datetime 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log.txt 에 이어 쓰기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92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웹 크롤링 맛보기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 페이지를 받아 오고(requests), 필요한 부분만 골라(BeautifulSoup), 파일로 저장합니다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93</a:t>
            </a:r>
          </a:p>
        </p:txBody>
      </p:sp>
      <p:sp>
        <p:nvSpPr>
          <p:cNvPr id="1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한눈에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크롤링의 네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requests.get(주소)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— 페이지 달라고 부탁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응답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HTML 글자 덩어리를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받는다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파싱·추출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BeautifulSoup 으로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필요한 태그만 고른다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리스트에 모아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CSV 로 쓴다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준비 — 가상환경을 켜고 pip install requests beautifulsoup4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94</a:t>
            </a:r>
          </a:p>
        </p:txBody>
      </p:sp>
      <p:sp>
        <p:nvSpPr>
          <p:cNvPr id="32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먼저 지킬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robots.txt 와 이용약관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robots.txt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76550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76550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사이트주소/robots.txt 의 허용·금지 경로를 먼저 확인한다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이용약관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533775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533775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수집을 금지하는 조항이 있으면 하지 않는다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서버 배려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191000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191000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요청 사이에 1초 이상 쉬고, 필요한 페이지만 받는다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우회 금지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4848225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4848225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막아 둔 곳을 브라우저인 척 꾸며서 뚫지 않는다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데이터 취급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5505450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5505450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개인정보·저작물은 함부로 저장·공개하지 않는다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285750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23241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연습 장소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500" y="6162675"/>
            <a:ext cx="1314450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6250" y="6162675"/>
            <a:ext cx="1257300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수집 연습용으로 공개된 사이트에서 연습한다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6FD"/>
          </a:solidFill>
          <a:ln w="9525">
            <a:solidFill>
              <a:srgbClr val="BEDC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장의 실습 사이트 books.toscrape.com · quotes.toscrape.com 은 수집 연습용으로 만든 공개 사이트다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95</a:t>
            </a:r>
          </a:p>
        </p:txBody>
      </p:sp>
      <p:sp>
        <p:nvSpPr>
          <p:cNvPr id="3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규칙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robots.txt 를 코드로 확인하기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4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urllib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robotparser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① 규칙 읽는 법 — 예시 규칙으로 연습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robotparser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RobotFileParser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parse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"User-agent: *"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"Disallow: /private/"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can_fetch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"*"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"/books/1.html"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rp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can_fetch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"*"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"/private/a.html"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② 연습 사이트의 robots.txt 확인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site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"https://books.toscrape.com"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rp2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robotparser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RobotFileParser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site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"/robots.txt"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rp2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read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rp2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can_fetch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"*"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site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+ </a:t>
            </a:r>
            <a:r>
              <a:rPr sz="14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"/catalogue/page-2.html"</a:t>
            </a: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False</a:t>
            </a:r>
          </a:p>
          <a:p>
            <a:pPr algn="l">
              <a:lnSpc>
                <a:spcPct val="115000"/>
              </a:lnSpc>
            </a:pPr>
            <a:r>
              <a:rPr sz="14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연습 사이트는 robots.txt 가 없어(404) 「모두 허용」으로 판정된다 — 결과가 False 인 주소는 수집하지 않는다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96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HTML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책 한 권은 이렇게 생겼다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&lt;article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"product_pod"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&lt;a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href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"catalogue/a-light-in-the-attic_1000/index.html"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title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 Light in the Attic"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 Light in the ...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&lt;/h3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&lt;div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"product_price"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&lt;p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250" b="0">
                <a:solidFill>
                  <a:srgbClr val="9FE8C0"/>
                </a:solidFill>
                <a:latin typeface="나눔고딕코딩"/>
                <a:ea typeface="나눔고딕코딩"/>
                <a:cs typeface="나눔고딕코딩"/>
              </a:rPr>
              <a:t>class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2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"price_color"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£51.77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&lt;/p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&lt;/div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&lt;/article</a:t>
            </a:r>
            <a:r>
              <a:rPr sz="22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페이지에서 필요한 부분만 줄인 것 — 브라우저에서 F12(개발자 도구) → 요소 고르기로 태그와 class 를 찾는다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97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요청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requests — 페이지 받아 오기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7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"https://books.toscrape.com/"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timeout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10초 안에 답이 없으면 포기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raise_for_status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        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200번대가 아니면 오류로 멈춘다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    </a:t>
            </a: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이 사이트의 글자 인코딩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status_code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headers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7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"Content-Type"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strip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()[:</a:t>
            </a:r>
            <a:r>
              <a:rPr sz="17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200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text/html</a:t>
            </a:r>
          </a:p>
          <a:p>
            <a:pPr algn="l">
              <a:lnSpc>
                <a:spcPct val="115000"/>
              </a:lnSpc>
            </a:pPr>
            <a:r>
              <a:rPr sz="17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&lt;!DOCTYPE html&gt;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상태 코드 200 은 성공, 404 는 없는 페이지, 500 은 서버 오류 — raise_for_status() 가 실패를 바로 알려 준다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98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파싱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BeautifulSoup — 태그 고르기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bs4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"""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&lt;ul id="menu"&gt;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  &lt;li class="item"&gt;김밥 &lt;span class="price"&gt;3000&lt;/span&gt;&lt;/li&gt;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  &lt;li class="item"&gt;라면 &lt;span class="price"&gt;4500&lt;/span&gt;&lt;/li&gt;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&lt;/ul&gt;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"""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html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"html.parser"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find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"li"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get_text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 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strip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True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첫 번째 하나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find_all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"li"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)))         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전부 — 리스트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"li.item .price"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CSS 선택자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get_text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김밥 3000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3000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4500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find 는 첫 하나, find_all · select 는 전부(리스트) — select 는 CSS 선택자(.class · #id · 태그) · 속성 값은 태그["이름"]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99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첫 페이지의 책 제목과 가격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bs4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"https://books.toscrape.com/"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timeout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"html.parser"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books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"article.product_pod"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books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"권"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books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[: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3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title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h3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"title"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전체 제목은 title 속성에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select_one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".price_color"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get_text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title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20 권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£51.77 A Light in the Attic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£53.74 Tipping the Velvet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£50.10 Soumission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화면에 보이는 제목은 「…」로 잘려 있다 — 전체 제목은 a 태그의 title 속성에 들어 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100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여러 페이지 모아 CSV 로 저장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14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15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16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17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18</a:t>
            </a:r>
          </a:p>
          <a:p>
            <a:pPr algn="r">
              <a:lnSpc>
                <a:spcPct val="115000"/>
              </a:lnSpc>
            </a:pPr>
            <a:r>
              <a:rPr sz="13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19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csv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bs4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"https://books.toscrape.com/catalogue/page-{}.html"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[]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page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range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4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           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1~3쪽만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format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page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timeout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"utf-8"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"html.parser"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"article.product_pod"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select_one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".price_color"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get_text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append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book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h3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a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[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"title"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price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sleep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                           </a:t>
            </a: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서버 배려 — 1초 쉬기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with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open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"books.csv"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"w"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newline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encoding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"utf-8-sig"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</a:t>
            </a:r>
            <a:r>
              <a:rPr sz="1350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as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: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csv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writer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f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).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writerows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([[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"제목"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"가격"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]] + 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rows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), </a:t>
            </a:r>
            <a:r>
              <a:rPr sz="1350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"권 저장"</a:t>
            </a: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60 권 저장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페이지 주소의 숫자만 바꿔 가며 요청한다 — 엑셀에서 열 파일이라 utf-8-sig 로 저장했다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101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정적 · 동적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requests 로 안 보이는 페이지도 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정적 페이지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quotes.toscrape.com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서버가 내용이 다 담긴 HTML 을 보낸다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requests 로 받은 HTML 에 내용이 있다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 장의 방법으로 수집된다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동적 페이지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quotes.toscrape.com/js/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 틀을 받은 뒤 JavaScript 가 내용을 채운다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requests 로는 내용이 비어 보인다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브라우저를 움직이는 도구가 필요하다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102</a:t>
            </a:r>
          </a:p>
        </p:txBody>
      </p:sp>
      <p:sp>
        <p:nvSpPr>
          <p:cNvPr id="31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정적 · 동적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같은 내용, 다른 결과 — 직접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17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bs4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for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17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[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"https://quotes.toscrape.com/"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       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"https://quotes.toscrape.com/js/"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]: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timeout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17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"html.parser"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 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url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"→ 명언"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17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len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"div.quote"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)), </a:t>
            </a:r>
            <a:r>
              <a:rPr sz="217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"개"</a:t>
            </a: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결과]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https://quotes.toscrape.com/ → 명언 10 개</a:t>
            </a:r>
          </a:p>
          <a:p>
            <a:pPr algn="l">
              <a:lnSpc>
                <a:spcPct val="115000"/>
              </a:lnSpc>
            </a:pPr>
            <a:r>
              <a:rPr sz="217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https://quotes.toscrape.com/js/ → 명언 0 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동적 페이지는 Selenium · Playwright 처럼 브라우저를 직접 움직이는 도구로 다루거나, 사이트가 공개한 API 를 쓴다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103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흔한 오류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흔한 오류 ⑦ 아무것도 못 찾았다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11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12</a:t>
            </a:r>
          </a:p>
          <a:p>
            <a:pPr algn="r">
              <a:lnSpc>
                <a:spcPct val="115000"/>
              </a:lnSpc>
            </a:pPr>
            <a:r>
              <a:rPr sz="2025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13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from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bs4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D9A7FF"/>
                </a:solidFill>
                <a:latin typeface="나눔고딕코딩"/>
                <a:ea typeface="나눔고딕코딩"/>
                <a:cs typeface="나눔고딕코딩"/>
              </a:rPr>
              <a:t>import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requests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"https://books.toscrape.com/"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timeout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=</a:t>
            </a:r>
            <a:r>
              <a:rPr sz="2025" b="0">
                <a:solidFill>
                  <a:srgbClr val="FFB08A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BeautifulSoup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res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text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, 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"html.parser"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= 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soup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select_one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F5C97A"/>
                </a:solidFill>
                <a:latin typeface="나눔고딕코딩"/>
                <a:ea typeface="나눔고딕코딩"/>
                <a:cs typeface="나눔고딕코딩"/>
              </a:rPr>
              <a:t>".book-title"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   </a:t>
            </a: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없는 class 이름(오타)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ABFFF"/>
                </a:solidFill>
                <a:latin typeface="나눔고딕코딩"/>
                <a:ea typeface="나눔고딕코딩"/>
                <a:cs typeface="나눔고딕코딩"/>
              </a:rPr>
              <a:t>print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tag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.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get_text</a:t>
            </a: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())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[실행 결과 — 오류]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None</a:t>
            </a:r>
          </a:p>
          <a:p>
            <a:pPr algn="l">
              <a:lnSpc>
                <a:spcPct val="115000"/>
              </a:lnSpc>
            </a:pPr>
            <a:r>
              <a:rPr sz="2025" b="0">
                <a:solidFill>
                  <a:srgbClr val="8F9DB5"/>
                </a:solidFill>
                <a:latin typeface="나눔고딕코딩"/>
                <a:ea typeface="나눔고딕코딩"/>
                <a:cs typeface="나눔고딕코딩"/>
              </a:rPr>
              <a:t># AttributeError: 'NoneType' object has no attribute 'get_text'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EDC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선택자가 아무것도 못 찾으면 None — 개발자 도구로 class 이름을 다시 보고, if tag: 로 먼저 검사한다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104</a:t>
            </a:r>
          </a:p>
        </p:txBody>
      </p:sp>
      <p:sp>
        <p:nvSpPr>
          <p:cNvPr id="1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최종 점검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끝까지 왔다면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285750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환경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00500" y="287178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86250" y="287178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venv 를 만들어 켜고 pip 로 설치할 수 있다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05212"/>
            <a:ext cx="285750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05212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00500" y="3605212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86250" y="3605212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변수·조건·반복으로 작은 문제를 푼다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338638"/>
            <a:ext cx="285750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33863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자료구조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00500" y="433863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86250" y="433863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리스트와 딕셔너리를 골라 쓰고 순회한다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072062"/>
            <a:ext cx="285750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072062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함수·모듈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000500" y="5072062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86250" y="5072062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return 하는 함수를 만들고 import 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805488"/>
            <a:ext cx="285750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80548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파일·예외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00500" y="580548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86250" y="580548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utf-8 로 읽고 쓰며 try·except 로 지킨다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538912"/>
            <a:ext cx="285750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538912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프로젝트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00500" y="6538912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86250" y="6538912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요구사항 → 뼈대 → 완성 → 확장으로 만든다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7272338"/>
            <a:ext cx="2857500" cy="6191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409700" y="7272338"/>
            <a:ext cx="23241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크롤링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00500" y="7272338"/>
            <a:ext cx="13144500" cy="6191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86250" y="7272338"/>
            <a:ext cx="125730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robots.txt·약관을 확인하고 정적 페이지를 모은다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105</a:t>
            </a:r>
          </a:p>
        </p:txBody>
      </p:sp>
      <p:sp>
        <p:nvSpPr>
          <p:cNvPr id="39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다음 학습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여기서 어디로 갈까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80962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분석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pandas 로 CSV 를 표처럼 다루고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matplotlib 로 그래프 그리기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34500" y="2924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334500" y="2924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58350" y="3248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자동화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폴더 정리 · 엑셀 보고서 · 메일 같은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반복 업무를 스크립트로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430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80962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68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동적 페이지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Selenium · Playwright 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브라우저를 움직여 수집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4500" y="5591175"/>
            <a:ext cx="78105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334500" y="5591175"/>
            <a:ext cx="7810500" cy="47625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58350" y="5915025"/>
            <a:ext cx="71628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3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객체지향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클래스 · 상속으로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 프로그램을 나눠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useful-ai 강의안 전집 · H01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106</a:t>
            </a:r>
          </a:p>
        </p:txBody>
      </p:sp>
      <p:sp>
        <p:nvSpPr>
          <p:cNvPr id="27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H01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파이썬 기초·응용·심화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문법은 외우는 것이 아니라 쳐 보고 틀려 보며 손에 익히는 것입니다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가상환경을 만들고 VS Code 에서 실행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변수·조건·반복·자료구조·함수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파일·예외로 튼튼한 프로그램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규칙을 지켜 웹 데이터 수집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72CE"/>
                </a:solidFill>
                <a:latin typeface="Pretendard"/>
                <a:ea typeface="Pretendard"/>
                <a:cs typeface="Pretendard"/>
              </a:rPr>
              <a:t>오늘의 산출물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프로젝트 3개 + books.csv</a:t>
            </a:r>
          </a:p>
        </p:txBody>
      </p:sp>
      <p:sp>
        <p:nvSpPr>
          <p:cNvPr id="23" name="deckgen:wrap:footer"/>
          <p:cNvSpPr txBox="1"/>
          <p:nvPr/>
        </p:nvSpPr>
        <p:spPr>
          <a:xfrm>
            <a:off x="548640" y="9824085"/>
            <a:ext cx="17190720" cy="360045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A8F99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HOW TO USE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이 자료 사용 방법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수업·강의·자습에 그대로 쓰셔도 됩니다. 출처만 남겨 주세요.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PDF 는 화면으로 읽는 용도, PPTX 는 발표용입니다. PPTX 는 Pretendard 글꼴이 설치된 컴퓨터에서 가장 똑같이 보입니다.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출처 표기 예: 이애본(드림아이티비즈), 「자료 제목」, 홍문원, useful-ai.dreamitbiz.com, CC BY-NC-ND 4.0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프롬프트는 복사해 바로 쓸 수 있습니다. [대괄호]만 내 상황으로 바꾸세요.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모든 자료와 영상 강의는 useful-ai.dreamitbiz.com 에서 다시 받을 수 있습니다.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COPYRIGHT · LICENSE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저작권 · 이용 조건 (CC BY-NC-ND 4.0)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1.  저작권 © 2026 이애본(드림아이티비즈 DreamIT Biz). 발행 홍문원(洪文院, 출판사 신고번호 제2026-000026호). 이애본이 2026년 대학·기관 강의 현장에서 쓴 강의안을 전자출판용으로 다시 묶은 것입니다. ISBN: 등록 후 기재.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2.  이 자료는 크리에이티브 커먼즈 저작자표시-비영리-변경금지 4.0 국제(CC BY-NC-ND 4.0) 라이선스를 따릅니다. creativecommons.org/licenses/by-nc-nd/4.0/deed.ko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3.  저작자 표시(BY): 출처를 밝히면 그대로 복사해 수업·강의·자습에 쓸 수 있습니다. 비영리(NC): 유료 강의·판매·광고 수익 목적에는 쓸 수 없습니다. 변경금지(ND): 내용을 고치거나 잘라 재조합해 배포할 수 없습니다.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4.  자료 안의 외부 서비스 화면 캡처와 상표는 교육 목적 인용이며 각 서비스의 소유입니다. AI 생성 이미지는 생성 도구의 이용 약관을 따릅니다.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5.  라이선스 범위 밖의 이용(영리·변형·2차 저작)은 먼저 문의해 주세요. aebon@dreamitbiz.com · 카카오톡 ID aebon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wrap:bg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kgen:wrap:side"/>
          <p:cNvSpPr/>
          <p:nvPr/>
        </p:nvSpPr>
        <p:spPr>
          <a:xfrm>
            <a:off x="0" y="0"/>
            <a:ext cx="219456" cy="102870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kgen:wrap:rule"/>
          <p:cNvSpPr/>
          <p:nvPr/>
        </p:nvSpPr>
        <p:spPr>
          <a:xfrm>
            <a:off x="1280160" y="3086100"/>
            <a:ext cx="1463040" cy="38100"/>
          </a:xfrm>
          <a:prstGeom prst="rect">
            <a:avLst/>
          </a:prstGeom>
          <a:solidFill>
            <a:srgbClr val="0072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kgen:wrap:eyebrow"/>
          <p:cNvSpPr txBox="1"/>
          <p:nvPr/>
        </p:nvSpPr>
        <p:spPr>
          <a:xfrm>
            <a:off x="1280160" y="174879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72CE"/>
                </a:solidFill>
                <a:latin typeface="Pretendard"/>
              </a:rPr>
              <a:t>CREDITS · CONTACT</a:t>
            </a:r>
          </a:p>
        </p:txBody>
      </p:sp>
      <p:sp>
        <p:nvSpPr>
          <p:cNvPr id="6" name="deckgen:wrap:title"/>
          <p:cNvSpPr txBox="1"/>
          <p:nvPr/>
        </p:nvSpPr>
        <p:spPr>
          <a:xfrm>
            <a:off x="1280160" y="2160270"/>
            <a:ext cx="15727680" cy="92583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A2A5E"/>
                </a:solidFill>
                <a:latin typeface="Pretendard"/>
              </a:rPr>
              <a:t>출처 · 문의</a:t>
            </a:r>
          </a:p>
        </p:txBody>
      </p:sp>
      <p:sp>
        <p:nvSpPr>
          <p:cNvPr id="7" name="deckgen:wrap:body"/>
          <p:cNvSpPr txBox="1"/>
          <p:nvPr/>
        </p:nvSpPr>
        <p:spPr>
          <a:xfrm>
            <a:off x="1280160" y="3600450"/>
            <a:ext cx="15727680" cy="5349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333333"/>
                </a:solidFill>
                <a:latin typeface="Pretendard"/>
              </a:rPr>
              <a:t>이애본 (Aebon Lee, Ph.D) — 드림아이티비즈 대표 · 한신대학교 AI·SW대학 겸임교수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useful-ai.dreamitbiz.com — 강의안·영상 강의 라이브러리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aebon@dreamitbiz.com · 카카오톡 ID aebon</a:t>
            </a:r>
          </a:p>
          <a:p>
            <a:pPr algn="l">
              <a:lnSpc>
                <a:spcPct val="130000"/>
              </a:lnSpc>
              <a:spcBef>
                <a:spcPts val="900"/>
              </a:spcBef>
            </a:pPr>
            <a:r>
              <a:rPr sz="1500" b="0">
                <a:solidFill>
                  <a:srgbClr val="333333"/>
                </a:solidFill>
                <a:latin typeface="Pretendard"/>
              </a:rPr>
              <a:t>© 2026 이애본 · 발행 홍문원(洪文院) · CC BY-NC-ND 4.0</a:t>
            </a:r>
          </a:p>
        </p:txBody>
      </p:sp>
      <p:sp>
        <p:nvSpPr>
          <p:cNvPr id="8" name="deckgen:wrap:footer"/>
          <p:cNvSpPr txBox="1"/>
          <p:nvPr/>
        </p:nvSpPr>
        <p:spPr>
          <a:xfrm>
            <a:off x="1280160" y="9361170"/>
            <a:ext cx="15727680" cy="514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900" b="0">
                <a:solidFill>
                  <a:srgbClr val="888888"/>
                </a:solidFill>
                <a:latin typeface="Pretendard"/>
              </a:rPr>
              <a:t>© 2026 이애본 · 홍문원(洪文院) 발행 · CC BY-NC-ND 4.0 · useful-ai.dreamitbiz.com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