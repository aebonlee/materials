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73" r:id="rId23"/>
    <p:sldId id="274" r:id="rId24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2" r:id="rId17"/>
    <p:sldId id="275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7" d="100"/>
          <a:sy n="137" d="100"/>
        </p:scale>
        <p:origin x="17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989004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F83EB-129D-EDD4-AEA5-EAB3ECEFF3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70D029-2F9E-E115-BA8F-FFBF43473F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8DF957-2C52-B0B3-3916-3DF041D69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DBAC98-547B-1652-DBAB-4636C4D6B1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846758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image" Target="../media/image20.png"/><Relationship Id="rId9" Type="http://schemas.openxmlformats.org/officeDocument/2006/relationships/image" Target="../media/image2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Relationship Id="rId8" Type="http://schemas.openxmlformats.org/officeDocument/2006/relationships/image" Target="../media/image30.png"/><Relationship Id="rId9" Type="http://schemas.openxmlformats.org/officeDocument/2006/relationships/image" Target="../media/image31.png"/><Relationship Id="rId10" Type="http://schemas.openxmlformats.org/officeDocument/2006/relationships/image" Target="../media/image32.png"/><Relationship Id="rId11" Type="http://schemas.openxmlformats.org/officeDocument/2006/relationships/image" Target="../media/image3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42.png"/><Relationship Id="rId5" Type="http://schemas.openxmlformats.org/officeDocument/2006/relationships/image" Target="../media/image4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4.png"/><Relationship Id="rId4" Type="http://schemas.openxmlformats.org/officeDocument/2006/relationships/image" Target="../media/image45.png"/><Relationship Id="rId5" Type="http://schemas.openxmlformats.org/officeDocument/2006/relationships/image" Target="../media/image46.png"/><Relationship Id="rId6" Type="http://schemas.openxmlformats.org/officeDocument/2006/relationships/image" Target="../media/image47.png"/><Relationship Id="rId7" Type="http://schemas.openxmlformats.org/officeDocument/2006/relationships/image" Target="../media/image48.png"/><Relationship Id="rId8" Type="http://schemas.openxmlformats.org/officeDocument/2006/relationships/image" Target="../media/image49.png"/><Relationship Id="rId9" Type="http://schemas.openxmlformats.org/officeDocument/2006/relationships/image" Target="../media/image50.png"/><Relationship Id="rId10" Type="http://schemas.openxmlformats.org/officeDocument/2006/relationships/image" Target="../media/image51.png"/><Relationship Id="rId11" Type="http://schemas.openxmlformats.org/officeDocument/2006/relationships/image" Target="../media/image52.png"/><Relationship Id="rId12" Type="http://schemas.openxmlformats.org/officeDocument/2006/relationships/image" Target="../media/image5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image" Target="../media/image56.png"/><Relationship Id="rId6" Type="http://schemas.openxmlformats.org/officeDocument/2006/relationships/image" Target="../media/image57.png"/><Relationship Id="rId7" Type="http://schemas.openxmlformats.org/officeDocument/2006/relationships/image" Target="../media/image58.png"/><Relationship Id="rId8" Type="http://schemas.openxmlformats.org/officeDocument/2006/relationships/image" Target="../media/image59.png"/><Relationship Id="rId9" Type="http://schemas.openxmlformats.org/officeDocument/2006/relationships/image" Target="../media/image60.png"/><Relationship Id="rId10" Type="http://schemas.openxmlformats.org/officeDocument/2006/relationships/image" Target="../media/image61.png"/><Relationship Id="rId11" Type="http://schemas.openxmlformats.org/officeDocument/2006/relationships/image" Target="../media/image62.png"/><Relationship Id="rId12" Type="http://schemas.openxmlformats.org/officeDocument/2006/relationships/image" Target="../media/image63.png"/><Relationship Id="rId13" Type="http://schemas.openxmlformats.org/officeDocument/2006/relationships/image" Target="../media/image6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8.png"/><Relationship Id="rId4" Type="http://schemas.openxmlformats.org/officeDocument/2006/relationships/image" Target="../media/image69.png"/><Relationship Id="rId5" Type="http://schemas.openxmlformats.org/officeDocument/2006/relationships/image" Target="../media/image70.png"/><Relationship Id="rId6" Type="http://schemas.openxmlformats.org/officeDocument/2006/relationships/image" Target="../media/image71.png"/><Relationship Id="rId7" Type="http://schemas.openxmlformats.org/officeDocument/2006/relationships/image" Target="../media/image7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3.png"/><Relationship Id="rId4" Type="http://schemas.openxmlformats.org/officeDocument/2006/relationships/image" Target="../media/image74.png"/><Relationship Id="rId5" Type="http://schemas.openxmlformats.org/officeDocument/2006/relationships/image" Target="../media/image75.png"/><Relationship Id="rId6" Type="http://schemas.openxmlformats.org/officeDocument/2006/relationships/image" Target="../media/image76.png"/><Relationship Id="rId7" Type="http://schemas.openxmlformats.org/officeDocument/2006/relationships/image" Target="../media/image77.png"/><Relationship Id="rId8" Type="http://schemas.openxmlformats.org/officeDocument/2006/relationships/image" Target="../media/image78.png"/><Relationship Id="rId9" Type="http://schemas.openxmlformats.org/officeDocument/2006/relationships/image" Target="../media/image7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8858707" y="-1429207"/>
            <a:ext cx="4762195" cy="4762195"/>
          </a:xfrm>
          <a:prstGeom prst="ellipse">
            <a:avLst/>
          </a:prstGeom>
          <a:solidFill>
            <a:srgbClr val="1D4ED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-761695" y="4762195"/>
            <a:ext cx="2857500" cy="2857500"/>
          </a:xfrm>
          <a:prstGeom prst="ellipse">
            <a:avLst/>
          </a:prstGeom>
          <a:solidFill>
            <a:srgbClr val="0EA5E9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5524805" y="1767535"/>
            <a:ext cx="1143000" cy="75895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Text 5"/>
          <p:cNvSpPr txBox="1"/>
          <p:nvPr/>
        </p:nvSpPr>
        <p:spPr>
          <a:xfrm>
            <a:off x="4121201" y="2082089"/>
            <a:ext cx="395478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kern="0" spc="15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CREATIVE PROBLEM SOLVING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822399" y="2567635"/>
            <a:ext cx="8549640" cy="7150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100" b="1" kern="0" spc="-150" dirty="0" err="1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디자인씽킹과</a:t>
            </a:r>
            <a:r>
              <a:rPr lang="en-US" sz="5100" b="1" kern="0" spc="-150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5100" b="1" kern="0" spc="-150" dirty="0" err="1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</a:t>
            </a:r>
            <a:r>
              <a:rPr lang="en-US" sz="5100" b="1" kern="0" spc="-15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</a:t>
            </a:r>
            <a:endParaRPr lang="en-US" sz="5100" dirty="0"/>
          </a:p>
        </p:txBody>
      </p:sp>
      <p:sp>
        <p:nvSpPr>
          <p:cNvPr id="9" name="Text 7"/>
          <p:cNvSpPr txBox="1"/>
          <p:nvPr/>
        </p:nvSpPr>
        <p:spPr>
          <a:xfrm>
            <a:off x="1228039" y="3375965"/>
            <a:ext cx="9744761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700" kern="0" spc="-37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공감(Empathize)</a:t>
            </a:r>
            <a:r>
              <a:rPr lang="en-US" sz="2700" kern="0" spc="-37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|</a:t>
            </a:r>
            <a:r>
              <a:rPr lang="en-US" sz="2700" kern="0" spc="-37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정의(Define)</a:t>
            </a:r>
            <a:r>
              <a:rPr lang="en-US" sz="2700" kern="0" spc="-37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|</a:t>
            </a:r>
            <a:r>
              <a:rPr lang="en-US" sz="2700" kern="0" spc="-37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아이데이션(Ideate)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2506370" y="4508906"/>
            <a:ext cx="7181698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57" r="-57"/>
          <a:stretch/>
        </p:blipFill>
        <p:spPr>
          <a:xfrm>
            <a:off x="546941" y="6239038"/>
            <a:ext cx="200254" cy="2286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76456" y="6210692"/>
            <a:ext cx="110368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 대상</a:t>
            </a:r>
            <a:endParaRPr lang="en-US" sz="15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744407" y="507949"/>
            <a:ext cx="228600" cy="22860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838590" y="479603"/>
            <a:ext cx="3193999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중심 문제해결 &amp; GenAI 활용</a:t>
            </a:r>
            <a:endParaRPr lang="en-US" sz="1500" dirty="0"/>
          </a:p>
        </p:txBody>
      </p:sp>
      <p:sp>
        <p:nvSpPr>
          <p:cNvPr id="19" name="Shape 5">
            <a:extLst>
              <a:ext uri="{FF2B5EF4-FFF2-40B4-BE49-F238E27FC236}">
                <a16:creationId xmlns:a16="http://schemas.microsoft.com/office/drawing/2014/main" id="{B6F974F2-91BE-9F40-A962-E676922DD0C7}"/>
              </a:ext>
            </a:extLst>
          </p:cNvPr>
          <p:cNvSpPr/>
          <p:nvPr/>
        </p:nvSpPr>
        <p:spPr>
          <a:xfrm>
            <a:off x="7659925" y="5745175"/>
            <a:ext cx="381305" cy="381305"/>
          </a:xfrm>
          <a:prstGeom prst="ellipse">
            <a:avLst/>
          </a:prstGeom>
          <a:solidFill>
            <a:schemeClr val="bg1">
              <a:alpha val="10000"/>
            </a:scheme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>
            <a:extLst>
              <a:ext uri="{FF2B5EF4-FFF2-40B4-BE49-F238E27FC236}">
                <a16:creationId xmlns:a16="http://schemas.microsoft.com/office/drawing/2014/main" id="{4320AABE-0833-DF8C-A20C-62D883D4832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-1064" r="-1064"/>
          <a:stretch/>
        </p:blipFill>
        <p:spPr>
          <a:xfrm>
            <a:off x="7740393" y="5850331"/>
            <a:ext cx="219456" cy="171907"/>
          </a:xfrm>
          <a:prstGeom prst="rect">
            <a:avLst/>
          </a:prstGeom>
        </p:spPr>
      </p:pic>
      <p:sp>
        <p:nvSpPr>
          <p:cNvPr id="21" name="Text 11">
            <a:extLst>
              <a:ext uri="{FF2B5EF4-FFF2-40B4-BE49-F238E27FC236}">
                <a16:creationId xmlns:a16="http://schemas.microsoft.com/office/drawing/2014/main" id="{C3753747-08FF-1F90-5EAF-4734F14B7EAA}"/>
              </a:ext>
            </a:extLst>
          </p:cNvPr>
          <p:cNvSpPr txBox="1"/>
          <p:nvPr/>
        </p:nvSpPr>
        <p:spPr>
          <a:xfrm>
            <a:off x="8193932" y="5700827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이애본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드림아이티비즈(DreamIT Biz)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/>
            </a:r>
            <a:b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6"/>
              </a:rPr>
              <a:t>aebon@dreamitbiz.com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2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399946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476402"/>
            <a:ext cx="3486607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Course Overview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800100"/>
            <a:ext cx="48170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학습목표와 진행 구성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61695" y="1705356"/>
            <a:ext cx="5143500" cy="4677156"/>
          </a:xfrm>
          <a:prstGeom prst="roundRect">
            <a:avLst>
              <a:gd name="adj" fmla="val 63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705356"/>
            <a:ext cx="57607" cy="4677156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6307" y="2495398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086307" y="197144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62202" y="2048256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80998" y="1990649"/>
            <a:ext cx="230154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 &amp; 산출물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86307" y="2772461"/>
            <a:ext cx="45719" cy="66751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5" name="Text 12"/>
          <p:cNvSpPr txBox="1"/>
          <p:nvPr/>
        </p:nvSpPr>
        <p:spPr>
          <a:xfrm>
            <a:off x="1257300" y="2695651"/>
            <a:ext cx="4635365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이해</a:t>
            </a:r>
            <a:endParaRPr lang="en-US" sz="14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중심의 문제해결 프로세스 습득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1086307" y="3429000"/>
            <a:ext cx="45719" cy="66751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7" name="Text 14"/>
          <p:cNvSpPr txBox="1"/>
          <p:nvPr/>
        </p:nvSpPr>
        <p:spPr>
          <a:xfrm>
            <a:off x="1257300" y="3353105"/>
            <a:ext cx="546227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공감-정의-아이데이션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</a:t>
            </a:r>
            <a:endParaRPr lang="en-US" sz="14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도출부터 아이디어 발산까지 경험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1086307" y="4086454"/>
            <a:ext cx="45719" cy="66751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19" name="Text 16"/>
          <p:cNvSpPr txBox="1"/>
          <p:nvPr/>
        </p:nvSpPr>
        <p:spPr>
          <a:xfrm>
            <a:off x="1257300" y="4009644"/>
            <a:ext cx="527491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GenAI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4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AI를 도구로 활용해 결과물 고도화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1086307" y="5838444"/>
            <a:ext cx="1214323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#인터뷰인사이트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2285086" y="5838444"/>
            <a:ext cx="838505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#페르소나</a:t>
            </a:r>
            <a:endParaRPr lang="en-US" sz="1000" dirty="0"/>
          </a:p>
        </p:txBody>
      </p:sp>
      <p:sp>
        <p:nvSpPr>
          <p:cNvPr id="22" name="Text 19"/>
          <p:cNvSpPr txBox="1"/>
          <p:nvPr/>
        </p:nvSpPr>
        <p:spPr>
          <a:xfrm>
            <a:off x="3117190" y="5838444"/>
            <a:ext cx="1090879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#아이디어보드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6286500" y="1705356"/>
            <a:ext cx="5143500" cy="4677156"/>
          </a:xfrm>
          <a:prstGeom prst="roundRect">
            <a:avLst>
              <a:gd name="adj" fmla="val 63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6286500" y="1705356"/>
            <a:ext cx="57607" cy="467715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6610198" y="2495398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6610198" y="1971446"/>
            <a:ext cx="381305" cy="381305"/>
          </a:xfrm>
          <a:prstGeom prst="roundRect">
            <a:avLst>
              <a:gd name="adj" fmla="val 59952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1" descr="preencoded.png"/>
          <p:cNvPicPr>
            <a:picLocks noChangeAspect="1"/>
          </p:cNvPicPr>
          <p:nvPr/>
        </p:nvPicPr>
        <p:blipFill>
          <a:blip r:embed="rId4"/>
          <a:srcRect t="-45" b="-45"/>
          <a:stretch/>
        </p:blipFill>
        <p:spPr>
          <a:xfrm>
            <a:off x="6672377" y="2048256"/>
            <a:ext cx="256946" cy="228600"/>
          </a:xfrm>
          <a:prstGeom prst="rect">
            <a:avLst/>
          </a:prstGeom>
        </p:spPr>
      </p:pic>
      <p:sp>
        <p:nvSpPr>
          <p:cNvPr id="28" name="Text 24"/>
          <p:cNvSpPr txBox="1"/>
          <p:nvPr/>
        </p:nvSpPr>
        <p:spPr>
          <a:xfrm>
            <a:off x="7105802" y="1990649"/>
            <a:ext cx="14237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&amp; 운영</a:t>
            </a:r>
            <a:endParaRPr lang="en-US" sz="1800" dirty="0"/>
          </a:p>
        </p:txBody>
      </p:sp>
      <p:sp>
        <p:nvSpPr>
          <p:cNvPr id="29" name="Shape 25"/>
          <p:cNvSpPr/>
          <p:nvPr/>
        </p:nvSpPr>
        <p:spPr>
          <a:xfrm>
            <a:off x="6610198" y="2781605"/>
            <a:ext cx="62179" cy="57607"/>
          </a:xfrm>
          <a:prstGeom prst="ellipse">
            <a:avLst/>
          </a:prstGeom>
          <a:solidFill>
            <a:srgbClr val="7DD3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0" name="Text 26"/>
          <p:cNvSpPr txBox="1"/>
          <p:nvPr/>
        </p:nvSpPr>
        <p:spPr>
          <a:xfrm>
            <a:off x="6782104" y="2695651"/>
            <a:ext cx="4936223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(개념 +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</a:t>
            </a:r>
          </a:p>
          <a:p>
            <a:pPr marL="0" indent="0" algn="l">
              <a:buNone/>
            </a:pPr>
            <a:r>
              <a:rPr lang="en-US" sz="14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디자인씽킹의</a:t>
            </a: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이해와 Empathize 단계</a:t>
            </a:r>
            <a:endParaRPr lang="en-US" sz="1400" dirty="0"/>
          </a:p>
        </p:txBody>
      </p:sp>
      <p:sp>
        <p:nvSpPr>
          <p:cNvPr id="31" name="Shape 27"/>
          <p:cNvSpPr/>
          <p:nvPr/>
        </p:nvSpPr>
        <p:spPr>
          <a:xfrm>
            <a:off x="6610198" y="3438144"/>
            <a:ext cx="62179" cy="57607"/>
          </a:xfrm>
          <a:prstGeom prst="ellipse">
            <a:avLst/>
          </a:prstGeom>
          <a:solidFill>
            <a:srgbClr val="7DD3FC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2000"/>
          </a:p>
        </p:txBody>
      </p:sp>
      <p:sp>
        <p:nvSpPr>
          <p:cNvPr id="32" name="Text 28"/>
          <p:cNvSpPr txBox="1"/>
          <p:nvPr/>
        </p:nvSpPr>
        <p:spPr>
          <a:xfrm>
            <a:off x="6782105" y="3353105"/>
            <a:ext cx="5274912" cy="5056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 (정의 + </a:t>
            </a:r>
            <a:r>
              <a:rPr lang="en-US" sz="14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</a:t>
            </a: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) </a:t>
            </a:r>
          </a:p>
          <a:p>
            <a:pPr marL="0" indent="0" algn="l">
              <a:buNone/>
            </a:pPr>
            <a:r>
              <a:rPr lang="en-US" sz="14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Define, Ideate 단계 및 GenAI 활용 실습</a:t>
            </a:r>
            <a:endParaRPr lang="en-US" sz="1400" dirty="0"/>
          </a:p>
        </p:txBody>
      </p:sp>
      <p:sp>
        <p:nvSpPr>
          <p:cNvPr id="35" name="Text 31"/>
          <p:cNvSpPr txBox="1"/>
          <p:nvPr/>
        </p:nvSpPr>
        <p:spPr>
          <a:xfrm>
            <a:off x="6610198" y="5838444"/>
            <a:ext cx="1010412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#Interactive</a:t>
            </a:r>
            <a:endParaRPr lang="en-US" sz="1000" dirty="0"/>
          </a:p>
        </p:txBody>
      </p:sp>
      <p:sp>
        <p:nvSpPr>
          <p:cNvPr id="36" name="Text 32"/>
          <p:cNvSpPr txBox="1"/>
          <p:nvPr/>
        </p:nvSpPr>
        <p:spPr>
          <a:xfrm>
            <a:off x="7611466" y="5838444"/>
            <a:ext cx="972007" cy="277063"/>
          </a:xfrm>
          <a:prstGeom prst="rect">
            <a:avLst/>
          </a:prstGeom>
          <a:solidFill>
            <a:srgbClr val="FFFFFF">
              <a:alpha val="500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#Workshop</a:t>
            </a:r>
            <a:endParaRPr lang="en-US" sz="10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352398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1500" y="476402"/>
            <a:ext cx="40672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Definition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771754"/>
            <a:ext cx="544433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디자인씽킹이란 무엇인가?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571500" y="5829300"/>
            <a:ext cx="11048695" cy="552298"/>
          </a:xfrm>
          <a:prstGeom prst="rect">
            <a:avLst/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571500" y="5829300"/>
            <a:ext cx="38405" cy="552298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 l="-1528" r="-1528"/>
          <a:stretch/>
        </p:blipFill>
        <p:spPr>
          <a:xfrm>
            <a:off x="847649" y="6001207"/>
            <a:ext cx="161849" cy="20939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00607" y="5829300"/>
            <a:ext cx="7791602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단순한 문제 해결 기술이 </a:t>
            </a:r>
            <a:r>
              <a:rPr lang="en-US" sz="1500" dirty="0" err="1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아닌</a:t>
            </a:r>
            <a:r>
              <a:rPr lang="en-US" sz="15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5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사람에</a:t>
            </a: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대한 공감</a:t>
            </a:r>
            <a:r>
              <a:rPr lang="en-US" sz="15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을 바탕으로 혁신을 만들어내는 사고의 태도입니다.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71500" y="1605686"/>
            <a:ext cx="5381244" cy="3238805"/>
          </a:xfrm>
          <a:prstGeom prst="roundRect">
            <a:avLst>
              <a:gd name="adj" fmla="val 132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0"/>
          <p:cNvSpPr/>
          <p:nvPr/>
        </p:nvSpPr>
        <p:spPr>
          <a:xfrm>
            <a:off x="571500" y="1605686"/>
            <a:ext cx="5381244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rcRect l="-233" r="-233"/>
          <a:stretch/>
        </p:blipFill>
        <p:spPr>
          <a:xfrm>
            <a:off x="761695" y="1844345"/>
            <a:ext cx="418795" cy="476402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238951" y="1605686"/>
            <a:ext cx="5381244" cy="3238805"/>
          </a:xfrm>
          <a:prstGeom prst="roundRect">
            <a:avLst>
              <a:gd name="adj" fmla="val 132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3"/>
          <p:cNvSpPr/>
          <p:nvPr/>
        </p:nvSpPr>
        <p:spPr>
          <a:xfrm>
            <a:off x="6238951" y="1605686"/>
            <a:ext cx="5381244" cy="47549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rcRect l="-233" r="-233"/>
          <a:stretch/>
        </p:blipFill>
        <p:spPr>
          <a:xfrm>
            <a:off x="6429146" y="1844345"/>
            <a:ext cx="418795" cy="476402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767182" y="2555748"/>
            <a:ext cx="499171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“사람들의 필요를 기술적으로 가능하고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사업으로 고객 가치가 될 수 있는 것과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맞춰 내는, 디자이너의 방법” (Brown, 2008)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6433718" y="2555748"/>
            <a:ext cx="499171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“사람 중심으로 직접 해 보며 문제를 풀면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혁신이 생기고, 혁신은 차별화와</a:t>
            </a:r>
          </a:p>
          <a:p>
            <a:pPr marL="0" indent="0" algn="ctr">
              <a:lnSpc>
                <a:spcPct val="200000"/>
              </a:lnSpc>
              <a:buNone/>
            </a:pPr>
            <a:r>
              <a:rPr lang="en-US" sz="1800" b="1" dirty="0" err="1">
                <a:solidFill>
                  <a:srgbClr val="E2E8F0"/>
                </a:solidFill>
                <a:latin typeface="Noto Serif KR" pitchFamily="34" charset="0"/>
                <a:ea typeface="Noto Serif KR" pitchFamily="34" charset="-122"/>
                <a:cs typeface="Noto Serif KR" pitchFamily="34" charset="-120"/>
              </a:rPr>
              <a:t>경쟁 우위로 이어진다는 생각” (Gibbons, 2016)</a:t>
            </a:r>
            <a:endParaRPr lang="en-US" sz="1800" dirty="0"/>
          </a:p>
        </p:txBody>
      </p:sp>
      <p:sp>
        <p:nvSpPr>
          <p:cNvPr id="22" name="Stage3 Note"/>
          <p:cNvSpPr txBox="1"/>
          <p:nvPr/>
        </p:nvSpPr>
        <p:spPr>
          <a:xfrm>
            <a:off x="571500" y="6460000"/>
            <a:ext cx="11049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Brown, T. (2008). Design thinking. Harvard Business Review, 86(6), 84–92.  ·  Gibbons, S. (2016). Design thinking 101. Nielsen Norman Group. https://www.nngroup.com/articles/design-thinking/</a:t>
            </a:r>
          </a:p>
        </p:txBody>
      </p:sp>
      <p:sp>
        <p:nvSpPr>
          <p:cNvPr id="2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88036"/>
            <a:ext cx="39913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Agenda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83387"/>
            <a:ext cx="472379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흐름</a:t>
            </a:r>
            <a:r>
              <a:rPr lang="en-US" sz="2800" b="1" dirty="0" err="1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61695" y="1429207"/>
            <a:ext cx="6067044" cy="4953305"/>
          </a:xfrm>
          <a:prstGeom prst="roundRect">
            <a:avLst>
              <a:gd name="adj" fmla="val 568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429207"/>
            <a:ext cx="6067044" cy="57607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28700" y="2162556"/>
            <a:ext cx="5533949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28700" y="1805026"/>
            <a:ext cx="209398" cy="20939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352398" y="1752905"/>
            <a:ext cx="3072384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순서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1028700" y="2952598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2076602" y="2419502"/>
            <a:ext cx="29818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도입: 디자인씽킹 &amp; AI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2076602" y="2648102"/>
            <a:ext cx="348295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디자인씽킹의 핵심 개념과 생성형 AI의 역할 소개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028700" y="3600907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2076602" y="3066898"/>
            <a:ext cx="344088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핵심: 공감과 정의 (Empathize &amp; Define)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2076602" y="3295498"/>
            <a:ext cx="379110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공감하기와 문제정의 단계 심층 이해 및 AI 활용 사례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28700" y="4248302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0"/>
          <p:cNvSpPr txBox="1"/>
          <p:nvPr/>
        </p:nvSpPr>
        <p:spPr>
          <a:xfrm>
            <a:off x="2076602" y="3715207"/>
            <a:ext cx="289316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실습: 미니 워크숍 (Ideation)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2076602" y="3943807"/>
            <a:ext cx="343174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AI를 활용한 아이디어 발산 및 수렴 실습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028700" y="4895698"/>
            <a:ext cx="5533949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4"/>
          <p:cNvSpPr txBox="1"/>
          <p:nvPr/>
        </p:nvSpPr>
        <p:spPr>
          <a:xfrm>
            <a:off x="2076602" y="4362602"/>
            <a:ext cx="239755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정리: 발표 및 회고</a:t>
            </a:r>
            <a:endParaRPr lang="en-US" sz="1200" dirty="0"/>
          </a:p>
        </p:txBody>
      </p:sp>
      <p:sp>
        <p:nvSpPr>
          <p:cNvPr id="28" name="Text 25"/>
          <p:cNvSpPr txBox="1"/>
          <p:nvPr/>
        </p:nvSpPr>
        <p:spPr>
          <a:xfrm>
            <a:off x="2076602" y="4591202"/>
            <a:ext cx="274960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조별 결과 공유 및 핵심 내용 리마인드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2076602" y="5009998"/>
            <a:ext cx="2734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및 마무리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2076602" y="5238598"/>
            <a:ext cx="312907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질의응답 및 다음 단계 안내 (Optional)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7208215" y="1429207"/>
            <a:ext cx="4229100" cy="4953305"/>
          </a:xfrm>
          <a:prstGeom prst="roundRect">
            <a:avLst>
              <a:gd name="adj" fmla="val 779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30"/>
          <p:cNvSpPr/>
          <p:nvPr/>
        </p:nvSpPr>
        <p:spPr>
          <a:xfrm>
            <a:off x="7208215" y="1429207"/>
            <a:ext cx="4229100" cy="57607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 txBox="1"/>
          <p:nvPr/>
        </p:nvSpPr>
        <p:spPr>
          <a:xfrm>
            <a:off x="7475220" y="1752905"/>
            <a:ext cx="38103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8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활동 (Activities)</a:t>
            </a:r>
            <a:endParaRPr lang="en-US" sz="1100" dirty="0"/>
          </a:p>
        </p:txBody>
      </p:sp>
      <p:sp>
        <p:nvSpPr>
          <p:cNvPr id="35" name="Shape 32"/>
          <p:cNvSpPr/>
          <p:nvPr/>
        </p:nvSpPr>
        <p:spPr>
          <a:xfrm>
            <a:off x="7475220" y="2061972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1" descr="preencoded.png"/>
          <p:cNvPicPr>
            <a:picLocks noChangeAspect="1"/>
          </p:cNvPicPr>
          <p:nvPr/>
        </p:nvPicPr>
        <p:blipFill>
          <a:blip r:embed="rId4"/>
          <a:srcRect t="-180" b="-180"/>
          <a:stretch/>
        </p:blipFill>
        <p:spPr>
          <a:xfrm>
            <a:off x="7617866" y="2204618"/>
            <a:ext cx="190195" cy="152705"/>
          </a:xfrm>
          <a:prstGeom prst="rect">
            <a:avLst/>
          </a:prstGeom>
        </p:spPr>
      </p:pic>
      <p:sp>
        <p:nvSpPr>
          <p:cNvPr id="37" name="Text 33"/>
          <p:cNvSpPr txBox="1"/>
          <p:nvPr/>
        </p:nvSpPr>
        <p:spPr>
          <a:xfrm>
            <a:off x="7923276" y="2061972"/>
            <a:ext cx="129387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가상 인터뷰 실습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7475220" y="2595982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2" descr="preencoded.png"/>
          <p:cNvPicPr>
            <a:picLocks noChangeAspect="1"/>
          </p:cNvPicPr>
          <p:nvPr/>
        </p:nvPicPr>
        <p:blipFill>
          <a:blip r:embed="rId5"/>
          <a:srcRect t="-180" b="-180"/>
          <a:stretch/>
        </p:blipFill>
        <p:spPr>
          <a:xfrm>
            <a:off x="7617866" y="2738628"/>
            <a:ext cx="190195" cy="152705"/>
          </a:xfrm>
          <a:prstGeom prst="rect">
            <a:avLst/>
          </a:prstGeom>
        </p:spPr>
      </p:pic>
      <p:sp>
        <p:nvSpPr>
          <p:cNvPr id="40" name="Text 35"/>
          <p:cNvSpPr txBox="1"/>
          <p:nvPr/>
        </p:nvSpPr>
        <p:spPr>
          <a:xfrm>
            <a:off x="7923276" y="2595982"/>
            <a:ext cx="104058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설정</a:t>
            </a:r>
            <a:endParaRPr lang="en-US" sz="1200" dirty="0"/>
          </a:p>
        </p:txBody>
      </p:sp>
      <p:sp>
        <p:nvSpPr>
          <p:cNvPr id="41" name="Shape 36"/>
          <p:cNvSpPr/>
          <p:nvPr/>
        </p:nvSpPr>
        <p:spPr>
          <a:xfrm>
            <a:off x="7475220" y="3129077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617866" y="3271723"/>
            <a:ext cx="152705" cy="152705"/>
          </a:xfrm>
          <a:prstGeom prst="rect">
            <a:avLst/>
          </a:prstGeom>
        </p:spPr>
      </p:pic>
      <p:sp>
        <p:nvSpPr>
          <p:cNvPr id="43" name="Text 37"/>
          <p:cNvSpPr txBox="1"/>
          <p:nvPr/>
        </p:nvSpPr>
        <p:spPr>
          <a:xfrm>
            <a:off x="7884871" y="3129077"/>
            <a:ext cx="12353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브레인스토밍</a:t>
            </a:r>
            <a:endParaRPr lang="en-US" sz="1200" dirty="0"/>
          </a:p>
        </p:txBody>
      </p:sp>
      <p:sp>
        <p:nvSpPr>
          <p:cNvPr id="44" name="Text 38"/>
          <p:cNvSpPr txBox="1"/>
          <p:nvPr/>
        </p:nvSpPr>
        <p:spPr>
          <a:xfrm>
            <a:off x="7475220" y="4833518"/>
            <a:ext cx="381030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8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산출물 (Outputs)</a:t>
            </a:r>
            <a:endParaRPr lang="en-US" sz="1100" dirty="0"/>
          </a:p>
        </p:txBody>
      </p:sp>
      <p:sp>
        <p:nvSpPr>
          <p:cNvPr id="45" name="Shape 39"/>
          <p:cNvSpPr/>
          <p:nvPr/>
        </p:nvSpPr>
        <p:spPr>
          <a:xfrm>
            <a:off x="7475220" y="5143500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4" descr="preencoded.png"/>
          <p:cNvPicPr>
            <a:picLocks noChangeAspect="1"/>
          </p:cNvPicPr>
          <p:nvPr/>
        </p:nvPicPr>
        <p:blipFill>
          <a:blip r:embed="rId7"/>
          <a:srcRect t="-100" b="-100"/>
          <a:stretch/>
        </p:blipFill>
        <p:spPr>
          <a:xfrm>
            <a:off x="7617866" y="5286146"/>
            <a:ext cx="114300" cy="152705"/>
          </a:xfrm>
          <a:prstGeom prst="rect">
            <a:avLst/>
          </a:prstGeom>
        </p:spPr>
      </p:pic>
      <p:sp>
        <p:nvSpPr>
          <p:cNvPr id="47" name="Text 40"/>
          <p:cNvSpPr txBox="1"/>
          <p:nvPr/>
        </p:nvSpPr>
        <p:spPr>
          <a:xfrm>
            <a:off x="7846466" y="5143500"/>
            <a:ext cx="132679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문제정의서 (POV)</a:t>
            </a:r>
            <a:endParaRPr lang="en-US" sz="1200" dirty="0"/>
          </a:p>
        </p:txBody>
      </p:sp>
      <p:sp>
        <p:nvSpPr>
          <p:cNvPr id="48" name="Shape 41"/>
          <p:cNvSpPr/>
          <p:nvPr/>
        </p:nvSpPr>
        <p:spPr>
          <a:xfrm>
            <a:off x="7475220" y="5676595"/>
            <a:ext cx="3696005" cy="437998"/>
          </a:xfrm>
          <a:prstGeom prst="roundRect">
            <a:avLst>
              <a:gd name="adj" fmla="val 36307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38BDF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9" name="Image 5" descr="preencoded.png"/>
          <p:cNvPicPr>
            <a:picLocks noChangeAspect="1"/>
          </p:cNvPicPr>
          <p:nvPr/>
        </p:nvPicPr>
        <p:blipFill>
          <a:blip r:embed="rId8"/>
          <a:srcRect t="-100" b="-100"/>
          <a:stretch/>
        </p:blipFill>
        <p:spPr>
          <a:xfrm>
            <a:off x="7617866" y="5820156"/>
            <a:ext cx="114300" cy="152705"/>
          </a:xfrm>
          <a:prstGeom prst="rect">
            <a:avLst/>
          </a:prstGeom>
        </p:spPr>
      </p:pic>
      <p:sp>
        <p:nvSpPr>
          <p:cNvPr id="50" name="Text 42"/>
          <p:cNvSpPr txBox="1"/>
          <p:nvPr/>
        </p:nvSpPr>
        <p:spPr>
          <a:xfrm>
            <a:off x="7846466" y="5676595"/>
            <a:ext cx="104058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보드</a:t>
            </a:r>
            <a:endParaRPr lang="en-US" sz="1200" dirty="0"/>
          </a:p>
        </p:txBody>
      </p:sp>
      <p:sp>
        <p:nvSpPr>
          <p:cNvPr id="5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48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33856"/>
            <a:ext cx="10668305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316382"/>
            <a:ext cx="35341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38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Process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92531"/>
            <a:ext cx="4816145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 6단계 개요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1238098" y="1733702"/>
            <a:ext cx="9715500" cy="38405"/>
          </a:xfrm>
          <a:prstGeom prst="roundRect">
            <a:avLst>
              <a:gd name="adj" fmla="val 1190470"/>
            </a:avLst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1238098" y="1733702"/>
            <a:ext cx="5124298" cy="38405"/>
          </a:xfrm>
          <a:prstGeom prst="roundRect">
            <a:avLst>
              <a:gd name="adj" fmla="val 1190470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grpSp>
        <p:nvGrpSpPr>
          <p:cNvPr id="61" name="그룹 60">
            <a:extLst>
              <a:ext uri="{FF2B5EF4-FFF2-40B4-BE49-F238E27FC236}">
                <a16:creationId xmlns:a16="http://schemas.microsoft.com/office/drawing/2014/main" id="{1FE41740-404C-7CE1-E127-0E41215B6EC0}"/>
              </a:ext>
            </a:extLst>
          </p:cNvPr>
          <p:cNvGrpSpPr/>
          <p:nvPr/>
        </p:nvGrpSpPr>
        <p:grpSpPr>
          <a:xfrm>
            <a:off x="850514" y="2282499"/>
            <a:ext cx="1562202" cy="2689094"/>
            <a:chOff x="965606" y="2819094"/>
            <a:chExt cx="752727" cy="1295705"/>
          </a:xfrm>
        </p:grpSpPr>
        <p:sp>
          <p:nvSpPr>
            <p:cNvPr id="10" name="Shape 8"/>
            <p:cNvSpPr/>
            <p:nvPr/>
          </p:nvSpPr>
          <p:spPr>
            <a:xfrm>
              <a:off x="1046870" y="2937688"/>
              <a:ext cx="590198" cy="590198"/>
            </a:xfrm>
            <a:prstGeom prst="ellipse">
              <a:avLst/>
            </a:prstGeom>
            <a:solidFill>
              <a:srgbClr val="3B82F6"/>
            </a:solidFill>
            <a:ln w="38100">
              <a:solidFill>
                <a:srgbClr val="60A5FA"/>
              </a:solidFill>
              <a:prstDash val="solid"/>
            </a:ln>
            <a:effectLst>
              <a:outerShdw blurRad="139700" dist="12700" dir="16200000" algn="bl" rotWithShape="0">
                <a:srgbClr val="3B82F6">
                  <a:alpha val="5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11" name="Image 0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243466" y="3135515"/>
              <a:ext cx="197006" cy="197006"/>
            </a:xfrm>
            <a:prstGeom prst="rect">
              <a:avLst/>
            </a:prstGeom>
          </p:spPr>
        </p:pic>
        <p:sp>
          <p:nvSpPr>
            <p:cNvPr id="12" name="Shape 9"/>
            <p:cNvSpPr/>
            <p:nvPr/>
          </p:nvSpPr>
          <p:spPr>
            <a:xfrm>
              <a:off x="1239362" y="2819094"/>
              <a:ext cx="205215" cy="205215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3" name="Text 10"/>
            <p:cNvSpPr txBox="1"/>
            <p:nvPr/>
          </p:nvSpPr>
          <p:spPr>
            <a:xfrm>
              <a:off x="1273428" y="2838637"/>
              <a:ext cx="137084" cy="162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3B82F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</a:t>
              </a:r>
              <a:endParaRPr lang="en-US" sz="1100" dirty="0"/>
            </a:p>
          </p:txBody>
        </p:sp>
        <p:sp>
          <p:nvSpPr>
            <p:cNvPr id="14" name="Text 11"/>
            <p:cNvSpPr txBox="1"/>
            <p:nvPr/>
          </p:nvSpPr>
          <p:spPr>
            <a:xfrm>
              <a:off x="965606" y="3644447"/>
              <a:ext cx="752727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공감하기</a:t>
              </a:r>
              <a:endParaRPr lang="en-US" sz="2000" dirty="0"/>
            </a:p>
          </p:txBody>
        </p:sp>
        <p:sp>
          <p:nvSpPr>
            <p:cNvPr id="15" name="Text 12"/>
            <p:cNvSpPr txBox="1"/>
            <p:nvPr/>
          </p:nvSpPr>
          <p:spPr>
            <a:xfrm>
              <a:off x="965606" y="3935031"/>
              <a:ext cx="752727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93C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Empathize</a:t>
              </a:r>
              <a:endParaRPr lang="en-US" sz="1200" dirty="0"/>
            </a:p>
          </p:txBody>
        </p:sp>
      </p:grpSp>
      <p:grpSp>
        <p:nvGrpSpPr>
          <p:cNvPr id="60" name="그룹 59">
            <a:extLst>
              <a:ext uri="{FF2B5EF4-FFF2-40B4-BE49-F238E27FC236}">
                <a16:creationId xmlns:a16="http://schemas.microsoft.com/office/drawing/2014/main" id="{2BA22ABB-B188-33CB-81DA-1A23FA03F251}"/>
              </a:ext>
            </a:extLst>
          </p:cNvPr>
          <p:cNvGrpSpPr/>
          <p:nvPr/>
        </p:nvGrpSpPr>
        <p:grpSpPr>
          <a:xfrm>
            <a:off x="2711792" y="2282499"/>
            <a:ext cx="1514504" cy="2689094"/>
            <a:chOff x="2555683" y="2819094"/>
            <a:chExt cx="729744" cy="1295705"/>
          </a:xfrm>
        </p:grpSpPr>
        <p:sp>
          <p:nvSpPr>
            <p:cNvPr id="16" name="Shape 13"/>
            <p:cNvSpPr/>
            <p:nvPr/>
          </p:nvSpPr>
          <p:spPr>
            <a:xfrm>
              <a:off x="2625456" y="2937688"/>
              <a:ext cx="590198" cy="590198"/>
            </a:xfrm>
            <a:prstGeom prst="ellipse">
              <a:avLst/>
            </a:prstGeom>
            <a:solidFill>
              <a:srgbClr val="3B82F6"/>
            </a:solidFill>
            <a:ln w="38100">
              <a:solidFill>
                <a:srgbClr val="60A5FA"/>
              </a:solidFill>
              <a:prstDash val="solid"/>
            </a:ln>
            <a:effectLst>
              <a:outerShdw blurRad="139700" dist="12700" dir="16200000" algn="bl" rotWithShape="0">
                <a:srgbClr val="3B82F6">
                  <a:alpha val="5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17" name="Image 1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2822052" y="3135515"/>
              <a:ext cx="197006" cy="197006"/>
            </a:xfrm>
            <a:prstGeom prst="rect">
              <a:avLst/>
            </a:prstGeom>
          </p:spPr>
        </p:pic>
        <p:sp>
          <p:nvSpPr>
            <p:cNvPr id="18" name="Shape 14"/>
            <p:cNvSpPr/>
            <p:nvPr/>
          </p:nvSpPr>
          <p:spPr>
            <a:xfrm>
              <a:off x="2817948" y="2819094"/>
              <a:ext cx="205215" cy="205215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19" name="Text 15"/>
            <p:cNvSpPr txBox="1"/>
            <p:nvPr/>
          </p:nvSpPr>
          <p:spPr>
            <a:xfrm>
              <a:off x="2852014" y="2838637"/>
              <a:ext cx="137084" cy="162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3B82F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</a:t>
              </a:r>
              <a:endParaRPr lang="en-US" sz="1100" dirty="0"/>
            </a:p>
          </p:txBody>
        </p:sp>
        <p:sp>
          <p:nvSpPr>
            <p:cNvPr id="20" name="Text 16"/>
            <p:cNvSpPr txBox="1"/>
            <p:nvPr/>
          </p:nvSpPr>
          <p:spPr>
            <a:xfrm>
              <a:off x="2555683" y="3644447"/>
              <a:ext cx="729744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문제정의</a:t>
              </a:r>
              <a:endParaRPr lang="en-US" sz="2000" dirty="0"/>
            </a:p>
          </p:txBody>
        </p:sp>
        <p:sp>
          <p:nvSpPr>
            <p:cNvPr id="21" name="Text 17"/>
            <p:cNvSpPr txBox="1"/>
            <p:nvPr/>
          </p:nvSpPr>
          <p:spPr>
            <a:xfrm>
              <a:off x="2569638" y="3935031"/>
              <a:ext cx="701834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93C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Define</a:t>
              </a:r>
              <a:endParaRPr lang="en-US" sz="1200" dirty="0"/>
            </a:p>
          </p:txBody>
        </p:sp>
      </p:grp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FE613050-B17E-3F70-36E7-B125B76939CA}"/>
              </a:ext>
            </a:extLst>
          </p:cNvPr>
          <p:cNvGrpSpPr/>
          <p:nvPr/>
        </p:nvGrpSpPr>
        <p:grpSpPr>
          <a:xfrm>
            <a:off x="4525372" y="2282499"/>
            <a:ext cx="1514504" cy="2689094"/>
            <a:chOff x="4248294" y="2819094"/>
            <a:chExt cx="729744" cy="1295705"/>
          </a:xfrm>
        </p:grpSpPr>
        <p:sp>
          <p:nvSpPr>
            <p:cNvPr id="22" name="Shape 18"/>
            <p:cNvSpPr/>
            <p:nvPr/>
          </p:nvSpPr>
          <p:spPr>
            <a:xfrm>
              <a:off x="4318067" y="2937688"/>
              <a:ext cx="590198" cy="590198"/>
            </a:xfrm>
            <a:prstGeom prst="ellipse">
              <a:avLst/>
            </a:prstGeom>
            <a:solidFill>
              <a:srgbClr val="3B82F6"/>
            </a:solidFill>
            <a:ln w="38100">
              <a:solidFill>
                <a:srgbClr val="60A5FA"/>
              </a:solidFill>
              <a:prstDash val="solid"/>
            </a:ln>
            <a:effectLst>
              <a:outerShdw blurRad="139700" dist="12700" dir="16200000" algn="bl" rotWithShape="0">
                <a:srgbClr val="3B82F6">
                  <a:alpha val="5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23" name="Image 2" descr="preencoded.png"/>
            <p:cNvPicPr>
              <a:picLocks noChangeAspect="1"/>
            </p:cNvPicPr>
            <p:nvPr/>
          </p:nvPicPr>
          <p:blipFill>
            <a:blip r:embed="rId5"/>
            <a:srcRect t="-847" b="-847"/>
            <a:stretch/>
          </p:blipFill>
          <p:spPr>
            <a:xfrm>
              <a:off x="4540520" y="3135515"/>
              <a:ext cx="145292" cy="197006"/>
            </a:xfrm>
            <a:prstGeom prst="rect">
              <a:avLst/>
            </a:prstGeom>
          </p:spPr>
        </p:pic>
        <p:sp>
          <p:nvSpPr>
            <p:cNvPr id="24" name="Shape 19"/>
            <p:cNvSpPr/>
            <p:nvPr/>
          </p:nvSpPr>
          <p:spPr>
            <a:xfrm>
              <a:off x="4510558" y="2819094"/>
              <a:ext cx="205215" cy="205215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25" name="Text 20"/>
            <p:cNvSpPr txBox="1"/>
            <p:nvPr/>
          </p:nvSpPr>
          <p:spPr>
            <a:xfrm>
              <a:off x="4544624" y="2838637"/>
              <a:ext cx="137084" cy="16253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3B82F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</a:t>
              </a:r>
              <a:endParaRPr lang="en-US" sz="1100" dirty="0"/>
            </a:p>
          </p:txBody>
        </p:sp>
        <p:sp>
          <p:nvSpPr>
            <p:cNvPr id="26" name="Text 21"/>
            <p:cNvSpPr txBox="1"/>
            <p:nvPr/>
          </p:nvSpPr>
          <p:spPr>
            <a:xfrm>
              <a:off x="4248294" y="3644447"/>
              <a:ext cx="729744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아이디어</a:t>
              </a:r>
              <a:endParaRPr lang="en-US" sz="2000" dirty="0"/>
            </a:p>
          </p:txBody>
        </p:sp>
        <p:sp>
          <p:nvSpPr>
            <p:cNvPr id="27" name="Text 22"/>
            <p:cNvSpPr txBox="1"/>
            <p:nvPr/>
          </p:nvSpPr>
          <p:spPr>
            <a:xfrm>
              <a:off x="4262248" y="3935031"/>
              <a:ext cx="701834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93C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Ideate</a:t>
              </a:r>
              <a:endParaRPr lang="en-US" sz="1200" dirty="0"/>
            </a:p>
          </p:txBody>
        </p:sp>
      </p:grp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E19078DC-66AE-6421-F90F-A0B36236394B}"/>
              </a:ext>
            </a:extLst>
          </p:cNvPr>
          <p:cNvGrpSpPr/>
          <p:nvPr/>
        </p:nvGrpSpPr>
        <p:grpSpPr>
          <a:xfrm>
            <a:off x="5999318" y="2282499"/>
            <a:ext cx="1890999" cy="2689094"/>
            <a:chOff x="5848968" y="2819094"/>
            <a:chExt cx="911153" cy="1295705"/>
          </a:xfrm>
        </p:grpSpPr>
        <p:sp>
          <p:nvSpPr>
            <p:cNvPr id="28" name="Shape 23"/>
            <p:cNvSpPr/>
            <p:nvPr/>
          </p:nvSpPr>
          <p:spPr>
            <a:xfrm>
              <a:off x="6026684" y="2951642"/>
              <a:ext cx="555721" cy="555721"/>
            </a:xfrm>
            <a:prstGeom prst="ellipse">
              <a:avLst/>
            </a:prstGeom>
            <a:solidFill>
              <a:srgbClr val="1E293B"/>
            </a:solidFill>
            <a:ln w="38100">
              <a:solidFill>
                <a:srgbClr val="475569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29" name="Image 3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219175" y="3144544"/>
              <a:ext cx="170738" cy="170738"/>
            </a:xfrm>
            <a:prstGeom prst="rect">
              <a:avLst/>
            </a:prstGeom>
          </p:spPr>
        </p:pic>
        <p:sp>
          <p:nvSpPr>
            <p:cNvPr id="30" name="Text 24"/>
            <p:cNvSpPr txBox="1"/>
            <p:nvPr/>
          </p:nvSpPr>
          <p:spPr>
            <a:xfrm>
              <a:off x="5848968" y="3644447"/>
              <a:ext cx="911153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프로토타입</a:t>
              </a:r>
              <a:endParaRPr lang="en-US" sz="2000" dirty="0"/>
            </a:p>
          </p:txBody>
        </p:sp>
        <p:sp>
          <p:nvSpPr>
            <p:cNvPr id="31" name="Text 25"/>
            <p:cNvSpPr txBox="1"/>
            <p:nvPr/>
          </p:nvSpPr>
          <p:spPr>
            <a:xfrm>
              <a:off x="5876877" y="3935031"/>
              <a:ext cx="855335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64748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Prototype</a:t>
              </a:r>
              <a:endParaRPr lang="en-US" sz="1200" dirty="0"/>
            </a:p>
          </p:txBody>
        </p:sp>
        <p:sp>
          <p:nvSpPr>
            <p:cNvPr id="40" name="Shape 32"/>
            <p:cNvSpPr/>
            <p:nvPr/>
          </p:nvSpPr>
          <p:spPr>
            <a:xfrm>
              <a:off x="6210555" y="2819094"/>
              <a:ext cx="187977" cy="187977"/>
            </a:xfrm>
            <a:prstGeom prst="ellipse">
              <a:avLst/>
            </a:prstGeom>
            <a:solidFill>
              <a:srgbClr val="47556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6236003" y="2838637"/>
              <a:ext cx="137084" cy="1543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4</a:t>
              </a:r>
              <a:endParaRPr lang="en-US" sz="1100" dirty="0"/>
            </a:p>
          </p:txBody>
        </p:sp>
      </p:grpSp>
      <p:grpSp>
        <p:nvGrpSpPr>
          <p:cNvPr id="57" name="그룹 56">
            <a:extLst>
              <a:ext uri="{FF2B5EF4-FFF2-40B4-BE49-F238E27FC236}">
                <a16:creationId xmlns:a16="http://schemas.microsoft.com/office/drawing/2014/main" id="{7379C60A-432F-06D3-E9F2-5B36BA29C0D7}"/>
              </a:ext>
            </a:extLst>
          </p:cNvPr>
          <p:cNvGrpSpPr/>
          <p:nvPr/>
        </p:nvGrpSpPr>
        <p:grpSpPr>
          <a:xfrm>
            <a:off x="8071827" y="2282499"/>
            <a:ext cx="1153337" cy="2689093"/>
            <a:chOff x="7764441" y="2819094"/>
            <a:chExt cx="555721" cy="1295705"/>
          </a:xfrm>
        </p:grpSpPr>
        <p:sp>
          <p:nvSpPr>
            <p:cNvPr id="32" name="Shape 26"/>
            <p:cNvSpPr/>
            <p:nvPr/>
          </p:nvSpPr>
          <p:spPr>
            <a:xfrm>
              <a:off x="7764441" y="2951642"/>
              <a:ext cx="555721" cy="555721"/>
            </a:xfrm>
            <a:prstGeom prst="ellipse">
              <a:avLst/>
            </a:prstGeom>
            <a:solidFill>
              <a:srgbClr val="1E293B"/>
            </a:solidFill>
            <a:ln w="38100">
              <a:solidFill>
                <a:srgbClr val="475569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33" name="Image 4" descr="preencoded.png"/>
            <p:cNvPicPr>
              <a:picLocks noChangeAspect="1"/>
            </p:cNvPicPr>
            <p:nvPr/>
          </p:nvPicPr>
          <p:blipFill>
            <a:blip r:embed="rId7"/>
            <a:srcRect/>
            <a:stretch/>
          </p:blipFill>
          <p:spPr>
            <a:xfrm>
              <a:off x="7956933" y="3144544"/>
              <a:ext cx="170738" cy="170738"/>
            </a:xfrm>
            <a:prstGeom prst="rect">
              <a:avLst/>
            </a:prstGeom>
          </p:spPr>
        </p:pic>
        <p:sp>
          <p:nvSpPr>
            <p:cNvPr id="34" name="Text 27"/>
            <p:cNvSpPr txBox="1"/>
            <p:nvPr/>
          </p:nvSpPr>
          <p:spPr>
            <a:xfrm>
              <a:off x="7768546" y="3644447"/>
              <a:ext cx="547513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테스트</a:t>
              </a:r>
              <a:endParaRPr lang="en-US" sz="2000" dirty="0"/>
            </a:p>
          </p:txBody>
        </p:sp>
        <p:sp>
          <p:nvSpPr>
            <p:cNvPr id="35" name="Text 28"/>
            <p:cNvSpPr txBox="1"/>
            <p:nvPr/>
          </p:nvSpPr>
          <p:spPr>
            <a:xfrm>
              <a:off x="7768546" y="3935031"/>
              <a:ext cx="547513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64748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Test</a:t>
              </a:r>
              <a:endParaRPr lang="en-US" sz="12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7948313" y="2819094"/>
              <a:ext cx="187977" cy="187977"/>
            </a:xfrm>
            <a:prstGeom prst="ellipse">
              <a:avLst/>
            </a:prstGeom>
            <a:solidFill>
              <a:srgbClr val="47556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3" name="Text 35"/>
            <p:cNvSpPr txBox="1"/>
            <p:nvPr/>
          </p:nvSpPr>
          <p:spPr>
            <a:xfrm>
              <a:off x="7973760" y="2838637"/>
              <a:ext cx="137084" cy="1543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5</a:t>
              </a:r>
              <a:endParaRPr lang="en-US" sz="1100" dirty="0"/>
            </a:p>
          </p:txBody>
        </p:sp>
      </p:grpSp>
      <p:grpSp>
        <p:nvGrpSpPr>
          <p:cNvPr id="56" name="그룹 55">
            <a:extLst>
              <a:ext uri="{FF2B5EF4-FFF2-40B4-BE49-F238E27FC236}">
                <a16:creationId xmlns:a16="http://schemas.microsoft.com/office/drawing/2014/main" id="{A7F8FF3C-67C7-5D07-45C2-33BBAB8B0327}"/>
              </a:ext>
            </a:extLst>
          </p:cNvPr>
          <p:cNvGrpSpPr/>
          <p:nvPr/>
        </p:nvGrpSpPr>
        <p:grpSpPr>
          <a:xfrm>
            <a:off x="9781142" y="2282499"/>
            <a:ext cx="1172076" cy="2689094"/>
            <a:chOff x="8859533" y="2819094"/>
            <a:chExt cx="564750" cy="1295705"/>
          </a:xfrm>
        </p:grpSpPr>
        <p:sp>
          <p:nvSpPr>
            <p:cNvPr id="36" name="Shape 29"/>
            <p:cNvSpPr/>
            <p:nvPr/>
          </p:nvSpPr>
          <p:spPr>
            <a:xfrm>
              <a:off x="8864047" y="2951642"/>
              <a:ext cx="555721" cy="555721"/>
            </a:xfrm>
            <a:prstGeom prst="ellipse">
              <a:avLst/>
            </a:prstGeom>
            <a:solidFill>
              <a:srgbClr val="1E293B"/>
            </a:solidFill>
            <a:ln w="38100">
              <a:solidFill>
                <a:srgbClr val="475569"/>
              </a:solidFill>
              <a:prstDash val="solid"/>
            </a:ln>
            <a:effectLst>
              <a:outerShdw blurRad="63500" dist="38100" dir="16200000" algn="bl" rotWithShape="0">
                <a:srgbClr val="000000">
                  <a:alpha val="30000"/>
                </a:srgbClr>
              </a:outerShdw>
            </a:effectLst>
          </p:spPr>
          <p:txBody>
            <a:bodyPr/>
            <a:lstStyle/>
            <a:p>
              <a:endParaRPr lang="ko-KR" altLang="en-US" sz="2800"/>
            </a:p>
          </p:txBody>
        </p:sp>
        <p:pic>
          <p:nvPicPr>
            <p:cNvPr id="37" name="Image 5" descr="preencoded.png"/>
            <p:cNvPicPr>
              <a:picLocks noChangeAspect="1"/>
            </p:cNvPicPr>
            <p:nvPr/>
          </p:nvPicPr>
          <p:blipFill>
            <a:blip r:embed="rId8"/>
            <a:srcRect l="-1648" r="-1648"/>
            <a:stretch/>
          </p:blipFill>
          <p:spPr>
            <a:xfrm>
              <a:off x="9064747" y="3144544"/>
              <a:ext cx="154321" cy="170738"/>
            </a:xfrm>
            <a:prstGeom prst="rect">
              <a:avLst/>
            </a:prstGeom>
          </p:spPr>
        </p:pic>
        <p:sp>
          <p:nvSpPr>
            <p:cNvPr id="38" name="Text 30"/>
            <p:cNvSpPr txBox="1"/>
            <p:nvPr/>
          </p:nvSpPr>
          <p:spPr>
            <a:xfrm>
              <a:off x="8859533" y="3644447"/>
              <a:ext cx="564750" cy="256929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2000" b="1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실현</a:t>
              </a:r>
              <a:endParaRPr lang="en-US" sz="20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8859533" y="3935031"/>
              <a:ext cx="564750" cy="179768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200" kern="0" spc="38" dirty="0">
                  <a:solidFill>
                    <a:srgbClr val="64748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Implement</a:t>
              </a:r>
              <a:endParaRPr lang="en-US" sz="1200" dirty="0"/>
            </a:p>
          </p:txBody>
        </p:sp>
        <p:sp>
          <p:nvSpPr>
            <p:cNvPr id="44" name="Shape 36"/>
            <p:cNvSpPr/>
            <p:nvPr/>
          </p:nvSpPr>
          <p:spPr>
            <a:xfrm>
              <a:off x="9047919" y="2819094"/>
              <a:ext cx="187977" cy="187977"/>
            </a:xfrm>
            <a:prstGeom prst="ellipse">
              <a:avLst/>
            </a:prstGeom>
            <a:solidFill>
              <a:srgbClr val="475569"/>
            </a:solidFill>
            <a:ln w="12700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/>
            <a:lstStyle/>
            <a:p>
              <a:endParaRPr lang="ko-KR" altLang="en-US" sz="280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9073366" y="2838637"/>
              <a:ext cx="137084" cy="15432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</a:pPr>
              <a:r>
                <a:rPr lang="en-US" sz="1100" b="1" dirty="0">
                  <a:solidFill>
                    <a:srgbClr val="1E293B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6</a:t>
              </a:r>
              <a:endParaRPr lang="en-US" sz="1100" dirty="0"/>
            </a:p>
          </p:txBody>
        </p:sp>
      </p:grpSp>
      <p:sp>
        <p:nvSpPr>
          <p:cNvPr id="46" name="Shape 38"/>
          <p:cNvSpPr/>
          <p:nvPr/>
        </p:nvSpPr>
        <p:spPr>
          <a:xfrm>
            <a:off x="761695" y="5600700"/>
            <a:ext cx="10668305" cy="780898"/>
          </a:xfrm>
          <a:prstGeom prst="rect">
            <a:avLst/>
          </a:prstGeom>
          <a:solidFill>
            <a:srgbClr val="1E293B">
              <a:alpha val="7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9"/>
          <p:cNvSpPr/>
          <p:nvPr/>
        </p:nvSpPr>
        <p:spPr>
          <a:xfrm>
            <a:off x="761695" y="5600700"/>
            <a:ext cx="38405" cy="78089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0"/>
          <p:cNvSpPr txBox="1"/>
          <p:nvPr/>
        </p:nvSpPr>
        <p:spPr>
          <a:xfrm>
            <a:off x="1505102" y="5869534"/>
            <a:ext cx="852678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본 강의에서는 </a:t>
            </a:r>
            <a:r>
              <a:rPr lang="en-US" sz="12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- 정의 - 아이데이션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의 앞 3단계에 집중하여 문제해결의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기초를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다집니다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sz="1200" dirty="0"/>
          </a:p>
        </p:txBody>
      </p:sp>
      <p:pic>
        <p:nvPicPr>
          <p:cNvPr id="49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86307" y="5886907"/>
            <a:ext cx="228600" cy="228600"/>
          </a:xfrm>
          <a:prstGeom prst="rect">
            <a:avLst/>
          </a:prstGeom>
        </p:spPr>
      </p:pic>
      <p:sp>
        <p:nvSpPr>
          <p:cNvPr id="62" name="Stage3 Note"/>
          <p:cNvSpPr txBox="1"/>
          <p:nvPr/>
        </p:nvSpPr>
        <p:spPr>
          <a:xfrm>
            <a:off x="571500" y="6420000"/>
            <a:ext cx="11049000" cy="3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6단계 구성은 Gibbons(2016)를 따른다. 스탠퍼드 d.school 은 공감~테스트의 5단계로 설명한다(Design Thinking Bootleg).  Gibbons, S. (2016). Design thinking 101. Nielsen Norman Group. https://www.nngroup.com/articles/design-thinking/</a:t>
            </a:r>
          </a:p>
        </p:txBody>
      </p:sp>
      <p:sp>
        <p:nvSpPr>
          <p:cNvPr id="6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429500" y="2095805"/>
            <a:ext cx="5715000" cy="5715000"/>
          </a:xfrm>
          <a:prstGeom prst="ellipse">
            <a:avLst/>
          </a:prstGeom>
          <a:solidFill>
            <a:srgbClr val="0EA5E9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476402" y="913290"/>
            <a:ext cx="1729130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kern="0" spc="-375" dirty="0">
                <a:ln w="19050">
                  <a:solidFill>
                    <a:srgbClr val="3B82F6"/>
                  </a:solidFill>
                </a:ln>
                <a:solidFill>
                  <a:srgbClr val="1E293B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500" dirty="0"/>
          </a:p>
        </p:txBody>
      </p:sp>
      <p:sp>
        <p:nvSpPr>
          <p:cNvPr id="7" name="Text 5"/>
          <p:cNvSpPr txBox="1"/>
          <p:nvPr/>
        </p:nvSpPr>
        <p:spPr>
          <a:xfrm>
            <a:off x="2247900" y="1809598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3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01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571500" y="4025189"/>
            <a:ext cx="952805" cy="57607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 txBox="1"/>
          <p:nvPr/>
        </p:nvSpPr>
        <p:spPr>
          <a:xfrm>
            <a:off x="571500" y="4463186"/>
            <a:ext cx="704911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사용자의 경험을 깊이 있게 이해하고</a:t>
            </a:r>
            <a:endParaRPr lang="en-US" sz="1500" dirty="0"/>
          </a:p>
          <a:p>
            <a:pPr marL="0" indent="0" algn="l">
              <a:buNone/>
            </a:pPr>
            <a:r>
              <a:rPr lang="en-US" sz="15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숨겨진 니즈와 인사이트를 발견하는 과정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852514" y="1514246"/>
            <a:ext cx="9144" cy="4114800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 txBox="1"/>
          <p:nvPr/>
        </p:nvSpPr>
        <p:spPr>
          <a:xfrm>
            <a:off x="7433158" y="1814170"/>
            <a:ext cx="4305910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kern="0" spc="75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Key Takeaways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7433158" y="2385670"/>
            <a:ext cx="4190695" cy="790956"/>
          </a:xfrm>
          <a:prstGeom prst="roundRect">
            <a:avLst>
              <a:gd name="adj" fmla="val 16714"/>
            </a:avLst>
          </a:prstGeom>
          <a:solidFill>
            <a:srgbClr val="1E293B">
              <a:alpha val="8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7671816" y="2542946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95260" y="2667305"/>
            <a:ext cx="228600" cy="228600"/>
          </a:xfrm>
          <a:prstGeom prst="rect">
            <a:avLst/>
          </a:prstGeom>
        </p:spPr>
      </p:pic>
      <p:sp>
        <p:nvSpPr>
          <p:cNvPr id="15" name="Text 12"/>
          <p:cNvSpPr txBox="1"/>
          <p:nvPr/>
        </p:nvSpPr>
        <p:spPr>
          <a:xfrm>
            <a:off x="8338414" y="2490826"/>
            <a:ext cx="159471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목표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8338414" y="2757830"/>
            <a:ext cx="1833372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맥락 이해</a:t>
            </a:r>
            <a:endParaRPr lang="en-US" sz="1600" dirty="0"/>
          </a:p>
        </p:txBody>
      </p:sp>
      <p:sp>
        <p:nvSpPr>
          <p:cNvPr id="17" name="Shape 14"/>
          <p:cNvSpPr/>
          <p:nvPr/>
        </p:nvSpPr>
        <p:spPr>
          <a:xfrm>
            <a:off x="7433158" y="3366821"/>
            <a:ext cx="4190695" cy="790956"/>
          </a:xfrm>
          <a:prstGeom prst="roundRect">
            <a:avLst>
              <a:gd name="adj" fmla="val 16714"/>
            </a:avLst>
          </a:prstGeom>
          <a:solidFill>
            <a:srgbClr val="1E293B">
              <a:alpha val="8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5"/>
          <p:cNvSpPr/>
          <p:nvPr/>
        </p:nvSpPr>
        <p:spPr>
          <a:xfrm>
            <a:off x="7671816" y="3524098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9" name="Image 1" descr="preencoded.png"/>
          <p:cNvPicPr>
            <a:picLocks noChangeAspect="1"/>
          </p:cNvPicPr>
          <p:nvPr/>
        </p:nvPicPr>
        <p:blipFill>
          <a:blip r:embed="rId4"/>
          <a:srcRect t="-45" b="-45"/>
          <a:stretch/>
        </p:blipFill>
        <p:spPr>
          <a:xfrm>
            <a:off x="7780630" y="3648456"/>
            <a:ext cx="256946" cy="228600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8338414" y="3471977"/>
            <a:ext cx="208849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산출물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8338414" y="3738982"/>
            <a:ext cx="246796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지도 &amp; 주요 니즈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7433158" y="4347972"/>
            <a:ext cx="4190695" cy="790956"/>
          </a:xfrm>
          <a:prstGeom prst="roundRect">
            <a:avLst>
              <a:gd name="adj" fmla="val 16714"/>
            </a:avLst>
          </a:prstGeom>
          <a:solidFill>
            <a:srgbClr val="1E293B">
              <a:alpha val="80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7671816" y="4505249"/>
            <a:ext cx="476402" cy="476402"/>
          </a:xfrm>
          <a:prstGeom prst="roundRect">
            <a:avLst>
              <a:gd name="adj" fmla="val 383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7766914" y="4629607"/>
            <a:ext cx="286207" cy="228600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8338414" y="4453128"/>
            <a:ext cx="186263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 방식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338414" y="4719218"/>
            <a:ext cx="237286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 · 인터뷰 · 경험</a:t>
            </a:r>
            <a:endParaRPr lang="en-US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571500" y="2222906"/>
            <a:ext cx="65919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개념 + 공감</a:t>
            </a:r>
            <a:endParaRPr lang="en-US" sz="5400" dirty="0"/>
          </a:p>
        </p:txBody>
      </p:sp>
      <p:sp>
        <p:nvSpPr>
          <p:cNvPr id="28" name="Text 23"/>
          <p:cNvSpPr txBox="1"/>
          <p:nvPr/>
        </p:nvSpPr>
        <p:spPr>
          <a:xfrm>
            <a:off x="571500" y="3072384"/>
            <a:ext cx="647761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 Phase</a:t>
            </a:r>
            <a:endParaRPr lang="en-US" sz="3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028700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208483"/>
            <a:ext cx="857707" cy="247802"/>
          </a:xfrm>
          <a:prstGeom prst="roundRect">
            <a:avLst>
              <a:gd name="adj" fmla="val 283849"/>
            </a:avLst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180490" y="589686"/>
            <a:ext cx="368411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공감하기 (Empathize)</a:t>
            </a:r>
            <a:endParaRPr lang="en-US" sz="27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1695" y="626262"/>
            <a:ext cx="304495" cy="30449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57707" y="236830"/>
            <a:ext cx="743407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PHASE 01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761695" y="1238098"/>
            <a:ext cx="5181905" cy="5238598"/>
          </a:xfrm>
          <a:prstGeom prst="roundRect">
            <a:avLst>
              <a:gd name="adj" fmla="val 519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761695" y="1238098"/>
            <a:ext cx="5181905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1028700" y="1981505"/>
            <a:ext cx="4647895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461" r="-461"/>
          <a:stretch/>
        </p:blipFill>
        <p:spPr>
          <a:xfrm>
            <a:off x="1028700" y="1604772"/>
            <a:ext cx="237744" cy="209398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362456" y="1552651"/>
            <a:ext cx="196778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 및 방법</a:t>
            </a:r>
            <a:endParaRPr lang="en-US" sz="1600" dirty="0"/>
          </a:p>
        </p:txBody>
      </p:sp>
      <p:sp>
        <p:nvSpPr>
          <p:cNvPr id="15" name="Shape 11"/>
          <p:cNvSpPr/>
          <p:nvPr/>
        </p:nvSpPr>
        <p:spPr>
          <a:xfrm>
            <a:off x="1028700" y="2200046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 l="-33" r="-33"/>
          <a:stretch/>
        </p:blipFill>
        <p:spPr>
          <a:xfrm>
            <a:off x="1114654" y="2295144"/>
            <a:ext cx="171907" cy="1527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85900" y="2180844"/>
            <a:ext cx="35058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 (Observation)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1485900" y="2467051"/>
            <a:ext cx="403159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사용자의 행동 패턴과 숨겨진 니즈를 제3자의 눈으로 발견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1028700" y="2842870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t="-180" b="-180"/>
          <a:stretch/>
        </p:blipFill>
        <p:spPr>
          <a:xfrm>
            <a:off x="1104595" y="2938882"/>
            <a:ext cx="190195" cy="1527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485900" y="2824582"/>
            <a:ext cx="35433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 (Interview)</a:t>
            </a:r>
            <a:endParaRPr lang="en-US" sz="1300" dirty="0"/>
          </a:p>
        </p:txBody>
      </p:sp>
      <p:sp>
        <p:nvSpPr>
          <p:cNvPr id="22" name="Text 16"/>
          <p:cNvSpPr txBox="1"/>
          <p:nvPr/>
        </p:nvSpPr>
        <p:spPr>
          <a:xfrm>
            <a:off x="1485900" y="3109874"/>
            <a:ext cx="413400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 대화를 통해 "왜(Why)"라는 질문으로 심층 심리 파악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1028700" y="3486607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t="-180" b="-180"/>
          <a:stretch/>
        </p:blipFill>
        <p:spPr>
          <a:xfrm>
            <a:off x="1152144" y="3581705"/>
            <a:ext cx="95098" cy="15270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485900" y="3467405"/>
            <a:ext cx="3419856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체험 (Experience)</a:t>
            </a:r>
            <a:endParaRPr lang="en-US" sz="1300" dirty="0"/>
          </a:p>
        </p:txBody>
      </p:sp>
      <p:sp>
        <p:nvSpPr>
          <p:cNvPr id="26" name="Text 19"/>
          <p:cNvSpPr txBox="1"/>
          <p:nvPr/>
        </p:nvSpPr>
        <p:spPr>
          <a:xfrm>
            <a:off x="1485900" y="3752698"/>
            <a:ext cx="394563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사용자의 환경에 직접 들어가 불편함을 몸소 느끼는 과정</a:t>
            </a:r>
            <a:endParaRPr lang="en-US" sz="1100" dirty="0"/>
          </a:p>
        </p:txBody>
      </p:sp>
      <p:sp>
        <p:nvSpPr>
          <p:cNvPr id="27" name="Shape 20"/>
          <p:cNvSpPr/>
          <p:nvPr/>
        </p:nvSpPr>
        <p:spPr>
          <a:xfrm>
            <a:off x="1028700" y="5529377"/>
            <a:ext cx="4647895" cy="685800"/>
          </a:xfrm>
          <a:prstGeom prst="roundRect">
            <a:avLst>
              <a:gd name="adj" fmla="val 18519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1139342" y="5652821"/>
            <a:ext cx="21899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Sympathy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1097280" y="5857646"/>
            <a:ext cx="2274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동정 (불쌍함)</a:t>
            </a:r>
            <a:endParaRPr lang="en-US" sz="1200" dirty="0"/>
          </a:p>
        </p:txBody>
      </p:sp>
      <p:sp>
        <p:nvSpPr>
          <p:cNvPr id="30" name="Text 23"/>
          <p:cNvSpPr txBox="1"/>
          <p:nvPr/>
        </p:nvSpPr>
        <p:spPr>
          <a:xfrm>
            <a:off x="3386938" y="5652821"/>
            <a:ext cx="218998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Empathy</a:t>
            </a:r>
            <a:endParaRPr lang="en-US" sz="900" dirty="0"/>
          </a:p>
        </p:txBody>
      </p:sp>
      <p:sp>
        <p:nvSpPr>
          <p:cNvPr id="31" name="Text 24"/>
          <p:cNvSpPr txBox="1"/>
          <p:nvPr/>
        </p:nvSpPr>
        <p:spPr>
          <a:xfrm>
            <a:off x="3344875" y="5857646"/>
            <a:ext cx="22741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(상대 입장에서 느끼기)</a:t>
            </a:r>
            <a:endParaRPr lang="en-US" sz="1200" dirty="0"/>
          </a:p>
        </p:txBody>
      </p:sp>
      <p:sp>
        <p:nvSpPr>
          <p:cNvPr id="32" name="Shape 25"/>
          <p:cNvSpPr/>
          <p:nvPr/>
        </p:nvSpPr>
        <p:spPr>
          <a:xfrm>
            <a:off x="6229807" y="1238098"/>
            <a:ext cx="5201107" cy="5238598"/>
          </a:xfrm>
          <a:prstGeom prst="roundRect">
            <a:avLst>
              <a:gd name="adj" fmla="val 515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6"/>
          <p:cNvSpPr/>
          <p:nvPr/>
        </p:nvSpPr>
        <p:spPr>
          <a:xfrm>
            <a:off x="6229807" y="1238098"/>
            <a:ext cx="5201107" cy="475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4" name="Shape 27"/>
          <p:cNvSpPr/>
          <p:nvPr/>
        </p:nvSpPr>
        <p:spPr>
          <a:xfrm>
            <a:off x="6505956" y="1981505"/>
            <a:ext cx="4647895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5" descr="preencoded.png"/>
          <p:cNvPicPr>
            <a:picLocks noChangeAspect="1"/>
          </p:cNvPicPr>
          <p:nvPr/>
        </p:nvPicPr>
        <p:blipFill>
          <a:blip r:embed="rId8"/>
          <a:srcRect l="-1004" r="-1004"/>
          <a:stretch/>
        </p:blipFill>
        <p:spPr>
          <a:xfrm>
            <a:off x="6505956" y="1604772"/>
            <a:ext cx="267005" cy="209398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6867144" y="1552651"/>
            <a:ext cx="166237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</a:t>
            </a:r>
            <a:endParaRPr lang="en-US" sz="1600" dirty="0"/>
          </a:p>
        </p:txBody>
      </p:sp>
      <p:sp>
        <p:nvSpPr>
          <p:cNvPr id="37" name="Shape 29"/>
          <p:cNvSpPr/>
          <p:nvPr/>
        </p:nvSpPr>
        <p:spPr>
          <a:xfrm>
            <a:off x="6505956" y="2180844"/>
            <a:ext cx="4647895" cy="1076249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0"/>
          <p:cNvSpPr/>
          <p:nvPr/>
        </p:nvSpPr>
        <p:spPr>
          <a:xfrm>
            <a:off x="6505956" y="2180844"/>
            <a:ext cx="28346" cy="10762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31"/>
          <p:cNvSpPr txBox="1"/>
          <p:nvPr/>
        </p:nvSpPr>
        <p:spPr>
          <a:xfrm>
            <a:off x="6933895" y="2295144"/>
            <a:ext cx="4239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 질문 생성</a:t>
            </a:r>
            <a:endParaRPr lang="en-US" sz="1200" dirty="0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705295" y="2333549"/>
            <a:ext cx="152705" cy="152705"/>
          </a:xfrm>
          <a:prstGeom prst="rect">
            <a:avLst/>
          </a:prstGeom>
        </p:spPr>
      </p:pic>
      <p:sp>
        <p:nvSpPr>
          <p:cNvPr id="41" name="Shape 32"/>
          <p:cNvSpPr/>
          <p:nvPr/>
        </p:nvSpPr>
        <p:spPr>
          <a:xfrm>
            <a:off x="6705295" y="2581351"/>
            <a:ext cx="4276649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3"/>
          <p:cNvSpPr/>
          <p:nvPr/>
        </p:nvSpPr>
        <p:spPr>
          <a:xfrm>
            <a:off x="6505956" y="3395167"/>
            <a:ext cx="4647895" cy="1076249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4"/>
          <p:cNvSpPr/>
          <p:nvPr/>
        </p:nvSpPr>
        <p:spPr>
          <a:xfrm>
            <a:off x="6505956" y="3395167"/>
            <a:ext cx="28346" cy="10762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5"/>
          <p:cNvSpPr txBox="1"/>
          <p:nvPr/>
        </p:nvSpPr>
        <p:spPr>
          <a:xfrm>
            <a:off x="6895490" y="3509467"/>
            <a:ext cx="42775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요약 및 감정 분석</a:t>
            </a:r>
            <a:endParaRPr lang="en-US" sz="1200" dirty="0"/>
          </a:p>
        </p:txBody>
      </p:sp>
      <p:pic>
        <p:nvPicPr>
          <p:cNvPr id="45" name="Image 7" descr="preencoded.png"/>
          <p:cNvPicPr>
            <a:picLocks noChangeAspect="1"/>
          </p:cNvPicPr>
          <p:nvPr/>
        </p:nvPicPr>
        <p:blipFill>
          <a:blip r:embed="rId10"/>
          <a:srcRect t="-100" b="-100"/>
          <a:stretch/>
        </p:blipFill>
        <p:spPr>
          <a:xfrm>
            <a:off x="6705295" y="3546958"/>
            <a:ext cx="114300" cy="152705"/>
          </a:xfrm>
          <a:prstGeom prst="rect">
            <a:avLst/>
          </a:prstGeom>
        </p:spPr>
      </p:pic>
      <p:sp>
        <p:nvSpPr>
          <p:cNvPr id="46" name="Shape 36"/>
          <p:cNvSpPr/>
          <p:nvPr/>
        </p:nvSpPr>
        <p:spPr>
          <a:xfrm>
            <a:off x="6705295" y="3794760"/>
            <a:ext cx="4276649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Shape 37"/>
          <p:cNvSpPr/>
          <p:nvPr/>
        </p:nvSpPr>
        <p:spPr>
          <a:xfrm>
            <a:off x="6505956" y="5606186"/>
            <a:ext cx="4647895" cy="599846"/>
          </a:xfrm>
          <a:prstGeom prst="roundRect">
            <a:avLst>
              <a:gd name="adj" fmla="val 19357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57746" y="5739689"/>
            <a:ext cx="171907" cy="171907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924751" y="5730545"/>
            <a:ext cx="6305702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 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AI는 데이터 기반의 추론만 가능합니다. 실제 사용자의 미묘한 뉘앙스나 </a:t>
            </a:r>
            <a:r>
              <a:rPr lang="en-US" sz="900" dirty="0" err="1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표정은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직접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확인해야 하며, AI의 분석 결과를 맹신하지 마세요.</a:t>
            </a:r>
            <a:endParaRPr lang="en-US" sz="900" dirty="0"/>
          </a:p>
        </p:txBody>
      </p:sp>
      <p:sp>
        <p:nvSpPr>
          <p:cNvPr id="50" name="Text 39"/>
          <p:cNvSpPr txBox="1"/>
          <p:nvPr/>
        </p:nvSpPr>
        <p:spPr>
          <a:xfrm>
            <a:off x="3277210" y="5777179"/>
            <a:ext cx="22860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900" dirty="0"/>
          </a:p>
        </p:txBody>
      </p:sp>
      <p:sp>
        <p:nvSpPr>
          <p:cNvPr id="51" name="Text 40"/>
          <p:cNvSpPr txBox="1"/>
          <p:nvPr/>
        </p:nvSpPr>
        <p:spPr>
          <a:xfrm>
            <a:off x="6829654" y="2695651"/>
            <a:ext cx="6148426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"대학생들의 [수강신청] 경험과 관련된 불편함을 깊이 파악하고 싶어.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심층</a:t>
            </a: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인터뷰를 위한 질문 리스트 10개를 만들어줘."</a:t>
            </a:r>
            <a:endParaRPr lang="en-US" sz="900" dirty="0"/>
          </a:p>
        </p:txBody>
      </p:sp>
      <p:sp>
        <p:nvSpPr>
          <p:cNvPr id="52" name="Text 41"/>
          <p:cNvSpPr txBox="1"/>
          <p:nvPr/>
        </p:nvSpPr>
        <p:spPr>
          <a:xfrm>
            <a:off x="6829654" y="3909060"/>
            <a:ext cx="5936285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"다음 인터뷰 내용에서 사용자가 느낀 핵심 감정(Emotion) 3가지와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가장</a:t>
            </a:r>
            <a:r>
              <a:rPr lang="en-US" sz="900" dirty="0">
                <a:solidFill>
                  <a:srgbClr val="A78B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큰 페인포인트를 요약해줘."</a:t>
            </a:r>
            <a:endParaRPr lang="en-US" sz="900" dirty="0"/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190549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1500" y="381305"/>
            <a:ext cx="4429354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Activity Canvas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657454"/>
            <a:ext cx="6024067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실습: 인터뷰 → 인사이트</a:t>
            </a:r>
            <a:endParaRPr lang="en-US" sz="2700" dirty="0"/>
          </a:p>
        </p:txBody>
      </p:sp>
      <p:sp>
        <p:nvSpPr>
          <p:cNvPr id="7" name="Text 5"/>
          <p:cNvSpPr txBox="1"/>
          <p:nvPr/>
        </p:nvSpPr>
        <p:spPr>
          <a:xfrm>
            <a:off x="10545317" y="610819"/>
            <a:ext cx="128747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총 소요시간: 20분</a:t>
            </a:r>
            <a:endParaRPr lang="en-US" sz="12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321747" y="658368"/>
            <a:ext cx="152705" cy="152705"/>
          </a:xfrm>
          <a:prstGeom prst="rect">
            <a:avLst/>
          </a:prstGeom>
        </p:spPr>
      </p:pic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rcRect t="-1087" b="-1087"/>
          <a:stretch/>
        </p:blipFill>
        <p:spPr>
          <a:xfrm>
            <a:off x="3183941" y="3848710"/>
            <a:ext cx="105156" cy="171907"/>
          </a:xfrm>
          <a:prstGeom prst="rect">
            <a:avLst/>
          </a:prstGeom>
        </p:spPr>
      </p:pic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4"/>
          <a:srcRect t="-1087" b="-1087"/>
          <a:stretch/>
        </p:blipFill>
        <p:spPr>
          <a:xfrm>
            <a:off x="6043270" y="3848710"/>
            <a:ext cx="105156" cy="171907"/>
          </a:xfrm>
          <a:prstGeom prst="rect">
            <a:avLst/>
          </a:prstGeom>
        </p:spPr>
      </p:pic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4"/>
          <a:srcRect t="-1087" b="-1087"/>
          <a:stretch/>
        </p:blipFill>
        <p:spPr>
          <a:xfrm>
            <a:off x="8903513" y="3848710"/>
            <a:ext cx="105156" cy="171907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571500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7"/>
          <p:cNvSpPr/>
          <p:nvPr/>
        </p:nvSpPr>
        <p:spPr>
          <a:xfrm>
            <a:off x="571500" y="1392631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8"/>
          <p:cNvSpPr/>
          <p:nvPr/>
        </p:nvSpPr>
        <p:spPr>
          <a:xfrm>
            <a:off x="743407" y="1297534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5" name="Text 9"/>
          <p:cNvSpPr txBox="1"/>
          <p:nvPr/>
        </p:nvSpPr>
        <p:spPr>
          <a:xfrm>
            <a:off x="836676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16" name="Text 10"/>
          <p:cNvSpPr txBox="1"/>
          <p:nvPr/>
        </p:nvSpPr>
        <p:spPr>
          <a:xfrm>
            <a:off x="780898" y="1687982"/>
            <a:ext cx="115671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User Interview</a:t>
            </a:r>
            <a:endParaRPr lang="en-US" sz="1500" dirty="0"/>
          </a:p>
        </p:txBody>
      </p:sp>
      <p:sp>
        <p:nvSpPr>
          <p:cNvPr id="17" name="Shape 11"/>
          <p:cNvSpPr/>
          <p:nvPr/>
        </p:nvSpPr>
        <p:spPr>
          <a:xfrm>
            <a:off x="2321662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2397557" y="1747418"/>
            <a:ext cx="123444" cy="123444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2569464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7분</a:t>
            </a:r>
            <a:endParaRPr lang="en-US" sz="900" dirty="0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6"/>
          <a:srcRect l="-775" r="-775"/>
          <a:stretch/>
        </p:blipFill>
        <p:spPr>
          <a:xfrm>
            <a:off x="1648663" y="2307031"/>
            <a:ext cx="314554" cy="24780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780898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4"/>
          <p:cNvSpPr/>
          <p:nvPr/>
        </p:nvSpPr>
        <p:spPr>
          <a:xfrm>
            <a:off x="914400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5"/>
          <p:cNvSpPr txBox="1"/>
          <p:nvPr/>
        </p:nvSpPr>
        <p:spPr>
          <a:xfrm>
            <a:off x="1143000" y="2848356"/>
            <a:ext cx="1700784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짝과 역할 나누기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(사용자 / 인터뷰어)</a:t>
            </a:r>
            <a:endParaRPr lang="en-US" sz="1000" dirty="0"/>
          </a:p>
        </p:txBody>
      </p:sp>
      <p:sp>
        <p:nvSpPr>
          <p:cNvPr id="24" name="Shape 16"/>
          <p:cNvSpPr/>
          <p:nvPr/>
        </p:nvSpPr>
        <p:spPr>
          <a:xfrm>
            <a:off x="914400" y="3325673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7"/>
          <p:cNvSpPr txBox="1"/>
          <p:nvPr/>
        </p:nvSpPr>
        <p:spPr>
          <a:xfrm>
            <a:off x="1143000" y="3210001"/>
            <a:ext cx="2269541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최근 경험한 '불편함' 스토리 듣기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914400" y="3775558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19"/>
          <p:cNvSpPr txBox="1"/>
          <p:nvPr/>
        </p:nvSpPr>
        <p:spPr>
          <a:xfrm>
            <a:off x="1139800" y="3795445"/>
            <a:ext cx="99761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"왜?" 3번 묻기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3431743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1"/>
          <p:cNvSpPr/>
          <p:nvPr/>
        </p:nvSpPr>
        <p:spPr>
          <a:xfrm>
            <a:off x="3431743" y="1392631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2"/>
          <p:cNvSpPr/>
          <p:nvPr/>
        </p:nvSpPr>
        <p:spPr>
          <a:xfrm>
            <a:off x="3602736" y="1297534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3"/>
          <p:cNvSpPr txBox="1"/>
          <p:nvPr/>
        </p:nvSpPr>
        <p:spPr>
          <a:xfrm>
            <a:off x="3696919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32" name="Text 24"/>
          <p:cNvSpPr txBox="1"/>
          <p:nvPr/>
        </p:nvSpPr>
        <p:spPr>
          <a:xfrm>
            <a:off x="3641141" y="1687982"/>
            <a:ext cx="963778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관찰/메모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Observation</a:t>
            </a:r>
            <a:endParaRPr lang="en-US" sz="1500" dirty="0"/>
          </a:p>
        </p:txBody>
      </p:sp>
      <p:sp>
        <p:nvSpPr>
          <p:cNvPr id="33" name="Shape 25"/>
          <p:cNvSpPr/>
          <p:nvPr/>
        </p:nvSpPr>
        <p:spPr>
          <a:xfrm>
            <a:off x="5181905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4" name="Image 6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57800" y="1747418"/>
            <a:ext cx="123444" cy="123444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5428793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5분</a:t>
            </a:r>
            <a:endParaRPr lang="en-US" sz="900" dirty="0"/>
          </a:p>
        </p:txBody>
      </p:sp>
      <p:pic>
        <p:nvPicPr>
          <p:cNvPr id="36" name="Image 7" descr="preencoded.png"/>
          <p:cNvPicPr>
            <a:picLocks noChangeAspect="1"/>
          </p:cNvPicPr>
          <p:nvPr/>
        </p:nvPicPr>
        <p:blipFill>
          <a:blip r:embed="rId7"/>
          <a:srcRect l="-1169" r="-1169"/>
          <a:stretch/>
        </p:blipFill>
        <p:spPr>
          <a:xfrm>
            <a:off x="4571086" y="2307031"/>
            <a:ext cx="190195" cy="247802"/>
          </a:xfrm>
          <a:prstGeom prst="rect">
            <a:avLst/>
          </a:prstGeom>
        </p:spPr>
      </p:pic>
      <p:sp>
        <p:nvSpPr>
          <p:cNvPr id="37" name="Shape 27"/>
          <p:cNvSpPr/>
          <p:nvPr/>
        </p:nvSpPr>
        <p:spPr>
          <a:xfrm>
            <a:off x="3641141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28"/>
          <p:cNvSpPr/>
          <p:nvPr/>
        </p:nvSpPr>
        <p:spPr>
          <a:xfrm>
            <a:off x="3774643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Text 29"/>
          <p:cNvSpPr txBox="1"/>
          <p:nvPr/>
        </p:nvSpPr>
        <p:spPr>
          <a:xfrm>
            <a:off x="4003243" y="2848356"/>
            <a:ext cx="113111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키워드 기록</a:t>
            </a:r>
            <a:endParaRPr lang="en-US" sz="1000" dirty="0"/>
          </a:p>
        </p:txBody>
      </p:sp>
      <p:sp>
        <p:nvSpPr>
          <p:cNvPr id="40" name="Shape 30"/>
          <p:cNvSpPr/>
          <p:nvPr/>
        </p:nvSpPr>
        <p:spPr>
          <a:xfrm>
            <a:off x="3774643" y="3139135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1"/>
          <p:cNvSpPr txBox="1"/>
          <p:nvPr/>
        </p:nvSpPr>
        <p:spPr>
          <a:xfrm>
            <a:off x="4003243" y="3110789"/>
            <a:ext cx="149047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단어 포착</a:t>
            </a:r>
            <a:endParaRPr lang="en-US" sz="1000" dirty="0"/>
          </a:p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(답답함, 짜증 등)</a:t>
            </a:r>
            <a:endParaRPr lang="en-US" sz="1000" dirty="0"/>
          </a:p>
        </p:txBody>
      </p:sp>
      <p:sp>
        <p:nvSpPr>
          <p:cNvPr id="42" name="Shape 32"/>
          <p:cNvSpPr/>
          <p:nvPr/>
        </p:nvSpPr>
        <p:spPr>
          <a:xfrm>
            <a:off x="3774643" y="3589020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Text 33"/>
          <p:cNvSpPr txBox="1"/>
          <p:nvPr/>
        </p:nvSpPr>
        <p:spPr>
          <a:xfrm>
            <a:off x="4003243" y="3579419"/>
            <a:ext cx="164409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장애물(Pain Point) 식별</a:t>
            </a:r>
            <a:endParaRPr lang="en-US" sz="1000" dirty="0"/>
          </a:p>
        </p:txBody>
      </p:sp>
      <p:sp>
        <p:nvSpPr>
          <p:cNvPr id="44" name="Shape 34"/>
          <p:cNvSpPr/>
          <p:nvPr/>
        </p:nvSpPr>
        <p:spPr>
          <a:xfrm>
            <a:off x="6291072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5"/>
          <p:cNvSpPr/>
          <p:nvPr/>
        </p:nvSpPr>
        <p:spPr>
          <a:xfrm>
            <a:off x="6291072" y="1392631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6"/>
          <p:cNvSpPr/>
          <p:nvPr/>
        </p:nvSpPr>
        <p:spPr>
          <a:xfrm>
            <a:off x="6462979" y="1297534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7"/>
          <p:cNvSpPr txBox="1"/>
          <p:nvPr/>
        </p:nvSpPr>
        <p:spPr>
          <a:xfrm>
            <a:off x="6556248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48" name="Text 38"/>
          <p:cNvSpPr txBox="1"/>
          <p:nvPr/>
        </p:nvSpPr>
        <p:spPr>
          <a:xfrm>
            <a:off x="6500470" y="1687982"/>
            <a:ext cx="1077163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 지도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Empathy Map</a:t>
            </a:r>
            <a:endParaRPr lang="en-US" sz="1500" dirty="0"/>
          </a:p>
        </p:txBody>
      </p:sp>
      <p:sp>
        <p:nvSpPr>
          <p:cNvPr id="49" name="Shape 39"/>
          <p:cNvSpPr/>
          <p:nvPr/>
        </p:nvSpPr>
        <p:spPr>
          <a:xfrm>
            <a:off x="8041234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0" name="Image 8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117129" y="1747418"/>
            <a:ext cx="123444" cy="123444"/>
          </a:xfrm>
          <a:prstGeom prst="rect">
            <a:avLst/>
          </a:prstGeom>
        </p:spPr>
      </p:pic>
      <p:sp>
        <p:nvSpPr>
          <p:cNvPr id="51" name="Text 40"/>
          <p:cNvSpPr txBox="1"/>
          <p:nvPr/>
        </p:nvSpPr>
        <p:spPr>
          <a:xfrm>
            <a:off x="8289036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5분</a:t>
            </a:r>
            <a:endParaRPr lang="en-US" sz="900" dirty="0"/>
          </a:p>
        </p:txBody>
      </p:sp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8"/>
          <a:srcRect t="-476" b="-476"/>
          <a:stretch/>
        </p:blipFill>
        <p:spPr>
          <a:xfrm>
            <a:off x="7387438" y="2307031"/>
            <a:ext cx="276149" cy="247802"/>
          </a:xfrm>
          <a:prstGeom prst="rect">
            <a:avLst/>
          </a:prstGeom>
        </p:spPr>
      </p:pic>
      <p:sp>
        <p:nvSpPr>
          <p:cNvPr id="53" name="Shape 41"/>
          <p:cNvSpPr/>
          <p:nvPr/>
        </p:nvSpPr>
        <p:spPr>
          <a:xfrm>
            <a:off x="6500470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4" name="Shape 42"/>
          <p:cNvSpPr/>
          <p:nvPr/>
        </p:nvSpPr>
        <p:spPr>
          <a:xfrm>
            <a:off x="6633972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5" name="Text 43"/>
          <p:cNvSpPr txBox="1"/>
          <p:nvPr/>
        </p:nvSpPr>
        <p:spPr>
          <a:xfrm>
            <a:off x="6862572" y="2848356"/>
            <a:ext cx="10433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Says: 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발언</a:t>
            </a:r>
            <a:endParaRPr lang="en-US" sz="1000" dirty="0"/>
          </a:p>
        </p:txBody>
      </p:sp>
      <p:sp>
        <p:nvSpPr>
          <p:cNvPr id="56" name="Shape 44"/>
          <p:cNvSpPr/>
          <p:nvPr/>
        </p:nvSpPr>
        <p:spPr>
          <a:xfrm>
            <a:off x="6633972" y="3139135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45"/>
          <p:cNvSpPr txBox="1"/>
          <p:nvPr/>
        </p:nvSpPr>
        <p:spPr>
          <a:xfrm>
            <a:off x="6862572" y="3110789"/>
            <a:ext cx="136062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Thinks: 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속마음 추측</a:t>
            </a:r>
            <a:endParaRPr lang="en-US" sz="1000" dirty="0"/>
          </a:p>
        </p:txBody>
      </p:sp>
      <p:sp>
        <p:nvSpPr>
          <p:cNvPr id="58" name="Shape 46"/>
          <p:cNvSpPr/>
          <p:nvPr/>
        </p:nvSpPr>
        <p:spPr>
          <a:xfrm>
            <a:off x="6633972" y="340248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7"/>
          <p:cNvSpPr txBox="1"/>
          <p:nvPr/>
        </p:nvSpPr>
        <p:spPr>
          <a:xfrm>
            <a:off x="6862572" y="3373222"/>
            <a:ext cx="10661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Does: 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행동 패턴</a:t>
            </a:r>
            <a:endParaRPr lang="en-US" sz="1000" dirty="0"/>
          </a:p>
        </p:txBody>
      </p:sp>
      <p:sp>
        <p:nvSpPr>
          <p:cNvPr id="60" name="Shape 48"/>
          <p:cNvSpPr/>
          <p:nvPr/>
        </p:nvSpPr>
        <p:spPr>
          <a:xfrm>
            <a:off x="6633972" y="3664915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49"/>
          <p:cNvSpPr txBox="1"/>
          <p:nvPr/>
        </p:nvSpPr>
        <p:spPr>
          <a:xfrm>
            <a:off x="6862572" y="3636569"/>
            <a:ext cx="10881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Feels: </a:t>
            </a: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감정 상태</a:t>
            </a:r>
            <a:endParaRPr lang="en-US" sz="1000" dirty="0"/>
          </a:p>
        </p:txBody>
      </p:sp>
      <p:sp>
        <p:nvSpPr>
          <p:cNvPr id="62" name="Shape 50"/>
          <p:cNvSpPr/>
          <p:nvPr/>
        </p:nvSpPr>
        <p:spPr>
          <a:xfrm>
            <a:off x="9151315" y="1392631"/>
            <a:ext cx="2476195" cy="5086807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51"/>
          <p:cNvSpPr/>
          <p:nvPr/>
        </p:nvSpPr>
        <p:spPr>
          <a:xfrm>
            <a:off x="9151315" y="1392631"/>
            <a:ext cx="2476195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Shape 52"/>
          <p:cNvSpPr/>
          <p:nvPr/>
        </p:nvSpPr>
        <p:spPr>
          <a:xfrm>
            <a:off x="9322308" y="1297534"/>
            <a:ext cx="267005" cy="267005"/>
          </a:xfrm>
          <a:prstGeom prst="ellipse">
            <a:avLst/>
          </a:prstGeom>
          <a:solidFill>
            <a:srgbClr val="38BDF8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5" name="Text 53"/>
          <p:cNvSpPr txBox="1"/>
          <p:nvPr/>
        </p:nvSpPr>
        <p:spPr>
          <a:xfrm>
            <a:off x="9416491" y="1330452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66" name="Text 54"/>
          <p:cNvSpPr txBox="1"/>
          <p:nvPr/>
        </p:nvSpPr>
        <p:spPr>
          <a:xfrm>
            <a:off x="9360713" y="1687982"/>
            <a:ext cx="91897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</a:t>
            </a:r>
            <a:r>
              <a:rPr lang="en-US" sz="10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Insight POV</a:t>
            </a:r>
            <a:endParaRPr lang="en-US" sz="1500" dirty="0"/>
          </a:p>
        </p:txBody>
      </p:sp>
      <p:sp>
        <p:nvSpPr>
          <p:cNvPr id="67" name="Shape 55"/>
          <p:cNvSpPr/>
          <p:nvPr/>
        </p:nvSpPr>
        <p:spPr>
          <a:xfrm>
            <a:off x="10901477" y="1687982"/>
            <a:ext cx="514807" cy="247802"/>
          </a:xfrm>
          <a:prstGeom prst="roundRect">
            <a:avLst>
              <a:gd name="adj" fmla="val 283849"/>
            </a:avLst>
          </a:prstGeom>
          <a:solidFill>
            <a:srgbClr val="38BDF8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10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977372" y="1747418"/>
            <a:ext cx="123444" cy="123444"/>
          </a:xfrm>
          <a:prstGeom prst="rect">
            <a:avLst/>
          </a:prstGeom>
        </p:spPr>
      </p:pic>
      <p:sp>
        <p:nvSpPr>
          <p:cNvPr id="69" name="Text 56"/>
          <p:cNvSpPr txBox="1"/>
          <p:nvPr/>
        </p:nvSpPr>
        <p:spPr>
          <a:xfrm>
            <a:off x="11149279" y="1687982"/>
            <a:ext cx="2670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3분</a:t>
            </a:r>
            <a:endParaRPr lang="en-US" sz="900" dirty="0"/>
          </a:p>
        </p:txBody>
      </p:sp>
      <p:pic>
        <p:nvPicPr>
          <p:cNvPr id="70" name="Image 11" descr="preencoded.png"/>
          <p:cNvPicPr>
            <a:picLocks noChangeAspect="1"/>
          </p:cNvPicPr>
          <p:nvPr/>
        </p:nvPicPr>
        <p:blipFill>
          <a:blip r:embed="rId10"/>
          <a:srcRect l="-1169" r="-1169"/>
          <a:stretch/>
        </p:blipFill>
        <p:spPr>
          <a:xfrm>
            <a:off x="10290658" y="2307031"/>
            <a:ext cx="190195" cy="247802"/>
          </a:xfrm>
          <a:prstGeom prst="rect">
            <a:avLst/>
          </a:prstGeom>
        </p:spPr>
      </p:pic>
      <p:sp>
        <p:nvSpPr>
          <p:cNvPr id="71" name="Shape 57"/>
          <p:cNvSpPr/>
          <p:nvPr/>
        </p:nvSpPr>
        <p:spPr>
          <a:xfrm>
            <a:off x="9360713" y="2714854"/>
            <a:ext cx="2057400" cy="3552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2" name="Shape 58"/>
          <p:cNvSpPr/>
          <p:nvPr/>
        </p:nvSpPr>
        <p:spPr>
          <a:xfrm>
            <a:off x="9494215" y="2876702"/>
            <a:ext cx="152705" cy="152705"/>
          </a:xfrm>
          <a:prstGeom prst="roundRect">
            <a:avLst>
              <a:gd name="adj" fmla="val 149700"/>
            </a:avLst>
          </a:prstGeom>
          <a:noFill/>
          <a:ln w="25400">
            <a:solidFill>
              <a:srgbClr val="38BDF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3" name="Text 59"/>
          <p:cNvSpPr txBox="1"/>
          <p:nvPr/>
        </p:nvSpPr>
        <p:spPr>
          <a:xfrm>
            <a:off x="9722815" y="2848356"/>
            <a:ext cx="135239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줄 문장 완성하기</a:t>
            </a:r>
            <a:endParaRPr lang="en-US" sz="1000" dirty="0"/>
          </a:p>
        </p:txBody>
      </p:sp>
      <p:sp>
        <p:nvSpPr>
          <p:cNvPr id="74" name="Shape 60"/>
          <p:cNvSpPr/>
          <p:nvPr/>
        </p:nvSpPr>
        <p:spPr>
          <a:xfrm>
            <a:off x="9494215" y="3110789"/>
            <a:ext cx="1790395" cy="504749"/>
          </a:xfrm>
          <a:prstGeom prst="roundRect">
            <a:avLst>
              <a:gd name="adj" fmla="val 27345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5" name="Text 61"/>
          <p:cNvSpPr txBox="1"/>
          <p:nvPr/>
        </p:nvSpPr>
        <p:spPr>
          <a:xfrm>
            <a:off x="9570110" y="3186684"/>
            <a:ext cx="1950415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"사용자는</a:t>
            </a:r>
            <a:r>
              <a:rPr lang="en-US" sz="900" b="1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 ]</a:t>
            </a:r>
            <a:r>
              <a:rPr lang="en-US" sz="9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때문에</a:t>
            </a:r>
            <a:r>
              <a:rPr lang="en-US" sz="900" b="1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[ ]</a:t>
            </a:r>
            <a:r>
              <a:rPr lang="en-US" sz="900" dirty="0">
                <a:solidFill>
                  <a:srgbClr val="E0F2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를 원한다"</a:t>
            </a:r>
            <a:endParaRPr lang="en-US" sz="900" dirty="0"/>
          </a:p>
        </p:txBody>
      </p:sp>
      <p:sp>
        <p:nvSpPr>
          <p:cNvPr id="7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79806"/>
            <a:ext cx="4629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 Phase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46811"/>
            <a:ext cx="575614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정의(Define): 진짜 문제 찾기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761695" y="1380744"/>
            <a:ext cx="3457346" cy="5000854"/>
          </a:xfrm>
          <a:prstGeom prst="roundRect">
            <a:avLst>
              <a:gd name="adj" fmla="val 874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380744"/>
            <a:ext cx="3457346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90295" y="2172614"/>
            <a:ext cx="3000146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990295" y="1657807"/>
            <a:ext cx="400507" cy="400507"/>
          </a:xfrm>
          <a:prstGeom prst="roundRect">
            <a:avLst>
              <a:gd name="adj" fmla="val 43488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076249" y="1742846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05102" y="1714500"/>
            <a:ext cx="93543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990295" y="2438705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1133856" y="2352751"/>
            <a:ext cx="4476902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공감을 통해 얻은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인사이트를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바탕으로</a:t>
            </a:r>
            <a:endParaRPr lang="en-US" sz="1100" dirty="0">
              <a:solidFill>
                <a:srgbClr val="CBD5E1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1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진짜</a:t>
            </a: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문제를 발견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하는 단계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90295" y="3057754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133856" y="2971800"/>
            <a:ext cx="3400654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사용자가 원하는 것(Needs)과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문제점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(Pain Points)의 윤곽을 명확히 정의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0295" y="3676802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1133856" y="3590849"/>
            <a:ext cx="259598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현상이 아닌 </a:t>
            </a: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근본 원인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에 집중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990295" y="5341925"/>
            <a:ext cx="3000146" cy="819302"/>
          </a:xfrm>
          <a:prstGeom prst="roundRect">
            <a:avLst>
              <a:gd name="adj" fmla="val 7787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990295" y="5341925"/>
            <a:ext cx="28346" cy="81930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19"/>
          <p:cNvSpPr txBox="1"/>
          <p:nvPr/>
        </p:nvSpPr>
        <p:spPr>
          <a:xfrm>
            <a:off x="1133856" y="5456225"/>
            <a:ext cx="285292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Output Goal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1133856" y="5665622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"우리가 해결해야 할 문제는 ____ 이다" </a:t>
            </a: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라고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문장으로 정의하기</a:t>
            </a:r>
            <a:endParaRPr lang="en-US" sz="1000" dirty="0"/>
          </a:p>
        </p:txBody>
      </p:sp>
      <p:sp>
        <p:nvSpPr>
          <p:cNvPr id="24" name="Shape 21"/>
          <p:cNvSpPr/>
          <p:nvPr/>
        </p:nvSpPr>
        <p:spPr>
          <a:xfrm>
            <a:off x="4369003" y="1380744"/>
            <a:ext cx="3457346" cy="5000854"/>
          </a:xfrm>
          <a:prstGeom prst="roundRect">
            <a:avLst>
              <a:gd name="adj" fmla="val 874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2"/>
          <p:cNvSpPr/>
          <p:nvPr/>
        </p:nvSpPr>
        <p:spPr>
          <a:xfrm>
            <a:off x="4369003" y="1380744"/>
            <a:ext cx="3457346" cy="47549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3"/>
          <p:cNvSpPr/>
          <p:nvPr/>
        </p:nvSpPr>
        <p:spPr>
          <a:xfrm>
            <a:off x="4597603" y="2172614"/>
            <a:ext cx="3000146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4597603" y="1657807"/>
            <a:ext cx="400507" cy="400507"/>
          </a:xfrm>
          <a:prstGeom prst="roundRect">
            <a:avLst>
              <a:gd name="adj" fmla="val 43488"/>
            </a:avLst>
          </a:prstGeom>
          <a:solidFill>
            <a:srgbClr val="38BDF8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4683557" y="1742846"/>
            <a:ext cx="228600" cy="228600"/>
          </a:xfrm>
          <a:prstGeom prst="rect">
            <a:avLst/>
          </a:prstGeom>
        </p:spPr>
      </p:pic>
      <p:sp>
        <p:nvSpPr>
          <p:cNvPr id="29" name="Text 25"/>
          <p:cNvSpPr txBox="1"/>
          <p:nvPr/>
        </p:nvSpPr>
        <p:spPr>
          <a:xfrm>
            <a:off x="5111496" y="1714500"/>
            <a:ext cx="93543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도구</a:t>
            </a:r>
            <a:endParaRPr lang="en-US" sz="1500" dirty="0"/>
          </a:p>
        </p:txBody>
      </p:sp>
      <p:sp>
        <p:nvSpPr>
          <p:cNvPr id="30" name="Shape 26"/>
          <p:cNvSpPr/>
          <p:nvPr/>
        </p:nvSpPr>
        <p:spPr>
          <a:xfrm>
            <a:off x="4597603" y="2438705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 txBox="1"/>
          <p:nvPr/>
        </p:nvSpPr>
        <p:spPr>
          <a:xfrm>
            <a:off x="4740250" y="2352751"/>
            <a:ext cx="3848710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(Persona)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사용자를 대표하는 가상의 인물 설정</a:t>
            </a:r>
            <a:endParaRPr lang="en-US" sz="1100" dirty="0"/>
          </a:p>
        </p:txBody>
      </p:sp>
      <p:sp>
        <p:nvSpPr>
          <p:cNvPr id="32" name="Shape 28"/>
          <p:cNvSpPr/>
          <p:nvPr/>
        </p:nvSpPr>
        <p:spPr>
          <a:xfrm>
            <a:off x="4597603" y="3057754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9"/>
          <p:cNvSpPr txBox="1"/>
          <p:nvPr/>
        </p:nvSpPr>
        <p:spPr>
          <a:xfrm>
            <a:off x="4740250" y="2971800"/>
            <a:ext cx="308518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브리프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목표, 범위, 제약사항 등을 문서화</a:t>
            </a:r>
            <a:endParaRPr lang="en-US" sz="1100" dirty="0"/>
          </a:p>
        </p:txBody>
      </p:sp>
      <p:sp>
        <p:nvSpPr>
          <p:cNvPr id="34" name="Shape 30"/>
          <p:cNvSpPr/>
          <p:nvPr/>
        </p:nvSpPr>
        <p:spPr>
          <a:xfrm>
            <a:off x="4597603" y="3676802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31"/>
          <p:cNvSpPr txBox="1"/>
          <p:nvPr/>
        </p:nvSpPr>
        <p:spPr>
          <a:xfrm>
            <a:off x="4740250" y="3590849"/>
            <a:ext cx="2154326" cy="4288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POV (Point of View)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+ 니즈 + 인사이트 조합</a:t>
            </a:r>
            <a:endParaRPr lang="en-US" sz="1100" dirty="0"/>
          </a:p>
        </p:txBody>
      </p:sp>
      <p:sp>
        <p:nvSpPr>
          <p:cNvPr id="36" name="Shape 32"/>
          <p:cNvSpPr/>
          <p:nvPr/>
        </p:nvSpPr>
        <p:spPr>
          <a:xfrm>
            <a:off x="4597603" y="5341925"/>
            <a:ext cx="3000146" cy="819302"/>
          </a:xfrm>
          <a:prstGeom prst="roundRect">
            <a:avLst>
              <a:gd name="adj" fmla="val 7787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3"/>
          <p:cNvSpPr/>
          <p:nvPr/>
        </p:nvSpPr>
        <p:spPr>
          <a:xfrm>
            <a:off x="4597603" y="5341925"/>
            <a:ext cx="28346" cy="819302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4"/>
          <p:cNvSpPr txBox="1"/>
          <p:nvPr/>
        </p:nvSpPr>
        <p:spPr>
          <a:xfrm>
            <a:off x="4740250" y="5456225"/>
            <a:ext cx="285292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POV Example</a:t>
            </a:r>
            <a:endParaRPr lang="en-US" sz="900" dirty="0"/>
          </a:p>
        </p:txBody>
      </p:sp>
      <p:sp>
        <p:nvSpPr>
          <p:cNvPr id="39" name="Text 35"/>
          <p:cNvSpPr txBox="1"/>
          <p:nvPr/>
        </p:nvSpPr>
        <p:spPr>
          <a:xfrm>
            <a:off x="4740250" y="5665622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"30대 직장인 A씨는 [야근 때문에] [건강한 식사]를 </a:t>
            </a:r>
          </a:p>
          <a:p>
            <a:pPr marL="0" indent="0" algn="l">
              <a:buNone/>
            </a:pP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하길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원한다."</a:t>
            </a:r>
            <a:endParaRPr lang="en-US" sz="1000" dirty="0"/>
          </a:p>
        </p:txBody>
      </p:sp>
      <p:sp>
        <p:nvSpPr>
          <p:cNvPr id="40" name="Shape 36"/>
          <p:cNvSpPr/>
          <p:nvPr/>
        </p:nvSpPr>
        <p:spPr>
          <a:xfrm>
            <a:off x="7975397" y="1380744"/>
            <a:ext cx="3457346" cy="5000854"/>
          </a:xfrm>
          <a:prstGeom prst="roundRect">
            <a:avLst>
              <a:gd name="adj" fmla="val 874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7"/>
          <p:cNvSpPr/>
          <p:nvPr/>
        </p:nvSpPr>
        <p:spPr>
          <a:xfrm>
            <a:off x="7975397" y="1380744"/>
            <a:ext cx="3457346" cy="4754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Shape 38"/>
          <p:cNvSpPr/>
          <p:nvPr/>
        </p:nvSpPr>
        <p:spPr>
          <a:xfrm>
            <a:off x="8203997" y="2172614"/>
            <a:ext cx="3000146" cy="9144"/>
          </a:xfrm>
          <a:prstGeom prst="rect">
            <a:avLst/>
          </a:prstGeom>
          <a:solidFill>
            <a:srgbClr val="94A3B8">
              <a:alpha val="20000"/>
            </a:srgbClr>
          </a:solidFill>
          <a:ln w="12700">
            <a:solidFill>
              <a:srgbClr val="94A3B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3" name="Shape 39"/>
          <p:cNvSpPr/>
          <p:nvPr/>
        </p:nvSpPr>
        <p:spPr>
          <a:xfrm>
            <a:off x="8203997" y="1657807"/>
            <a:ext cx="400507" cy="400507"/>
          </a:xfrm>
          <a:prstGeom prst="roundRect">
            <a:avLst>
              <a:gd name="adj" fmla="val 43488"/>
            </a:avLst>
          </a:prstGeom>
          <a:solidFill>
            <a:srgbClr val="6366F1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8261604" y="1742846"/>
            <a:ext cx="286207" cy="228600"/>
          </a:xfrm>
          <a:prstGeom prst="rect">
            <a:avLst/>
          </a:prstGeom>
        </p:spPr>
      </p:pic>
      <p:sp>
        <p:nvSpPr>
          <p:cNvPr id="45" name="Text 40"/>
          <p:cNvSpPr txBox="1"/>
          <p:nvPr/>
        </p:nvSpPr>
        <p:spPr>
          <a:xfrm>
            <a:off x="8718804" y="1714500"/>
            <a:ext cx="703174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활용</a:t>
            </a:r>
            <a:endParaRPr lang="en-US" sz="1500" dirty="0"/>
          </a:p>
        </p:txBody>
      </p:sp>
      <p:sp>
        <p:nvSpPr>
          <p:cNvPr id="46" name="Shape 41"/>
          <p:cNvSpPr/>
          <p:nvPr/>
        </p:nvSpPr>
        <p:spPr>
          <a:xfrm>
            <a:off x="8203997" y="2438705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42"/>
          <p:cNvSpPr txBox="1"/>
          <p:nvPr/>
        </p:nvSpPr>
        <p:spPr>
          <a:xfrm>
            <a:off x="8347558" y="2352751"/>
            <a:ext cx="293431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생성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 데이터를 </a:t>
            </a: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입력해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구체적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페르소나 초안 작성 요청</a:t>
            </a:r>
            <a:endParaRPr lang="en-US" sz="1100" dirty="0"/>
          </a:p>
        </p:txBody>
      </p:sp>
      <p:sp>
        <p:nvSpPr>
          <p:cNvPr id="48" name="Shape 43"/>
          <p:cNvSpPr/>
          <p:nvPr/>
        </p:nvSpPr>
        <p:spPr>
          <a:xfrm>
            <a:off x="8203997" y="3271723"/>
            <a:ext cx="47549" cy="47549"/>
          </a:xfrm>
          <a:prstGeom prst="ellipse">
            <a:avLst/>
          </a:prstGeom>
          <a:solidFill>
            <a:srgbClr val="94A3B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44"/>
          <p:cNvSpPr txBox="1"/>
          <p:nvPr/>
        </p:nvSpPr>
        <p:spPr>
          <a:xfrm>
            <a:off x="8347558" y="3185770"/>
            <a:ext cx="2934310" cy="6483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HMW 질문 도출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"How Might We</a:t>
            </a:r>
          </a:p>
          <a:p>
            <a:pPr marL="0" indent="0" algn="l">
              <a:buNone/>
            </a:pP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(우리가 어떻게 하면 ~할 수 있을까?)" </a:t>
            </a:r>
          </a:p>
          <a:p>
            <a:pPr marL="0" indent="0" algn="l">
              <a:buNone/>
            </a:pPr>
            <a:r>
              <a:rPr lang="en-US" sz="11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문장</a:t>
            </a:r>
            <a:r>
              <a:rPr lang="en-US" sz="11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10개 생성</a:t>
            </a:r>
            <a:endParaRPr lang="en-US" sz="1100" dirty="0"/>
          </a:p>
        </p:txBody>
      </p:sp>
      <p:sp>
        <p:nvSpPr>
          <p:cNvPr id="50" name="Shape 45"/>
          <p:cNvSpPr/>
          <p:nvPr/>
        </p:nvSpPr>
        <p:spPr>
          <a:xfrm>
            <a:off x="8203997" y="5341925"/>
            <a:ext cx="3000146" cy="819302"/>
          </a:xfrm>
          <a:prstGeom prst="roundRect">
            <a:avLst>
              <a:gd name="adj" fmla="val 7787"/>
            </a:avLst>
          </a:prstGeom>
          <a:solidFill>
            <a:srgbClr val="0F172A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6"/>
          <p:cNvSpPr/>
          <p:nvPr/>
        </p:nvSpPr>
        <p:spPr>
          <a:xfrm>
            <a:off x="8203997" y="5341925"/>
            <a:ext cx="28346" cy="819302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7"/>
          <p:cNvSpPr txBox="1"/>
          <p:nvPr/>
        </p:nvSpPr>
        <p:spPr>
          <a:xfrm>
            <a:off x="8347558" y="5456225"/>
            <a:ext cx="285292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Idea</a:t>
            </a:r>
            <a:endParaRPr lang="en-US" sz="900" dirty="0"/>
          </a:p>
        </p:txBody>
      </p:sp>
      <p:sp>
        <p:nvSpPr>
          <p:cNvPr id="53" name="Text 48"/>
          <p:cNvSpPr txBox="1"/>
          <p:nvPr/>
        </p:nvSpPr>
        <p:spPr>
          <a:xfrm>
            <a:off x="8347558" y="5665622"/>
            <a:ext cx="4305910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"이 인터뷰 내용을 바탕으로 20대 대학생 </a:t>
            </a: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페르소나의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000" i="1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하루</a:t>
            </a:r>
            <a:r>
              <a:rPr lang="en-US" sz="1000" i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일과를 작성해줘."</a:t>
            </a:r>
            <a:endParaRPr lang="en-US" sz="10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933602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571500" y="202997"/>
            <a:ext cx="875995" cy="247802"/>
          </a:xfrm>
          <a:prstGeom prst="roundRect">
            <a:avLst>
              <a:gd name="adj" fmla="val 283849"/>
            </a:avLst>
          </a:prstGeom>
          <a:solidFill>
            <a:srgbClr val="F59E0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/>
          <p:cNvSpPr txBox="1"/>
          <p:nvPr/>
        </p:nvSpPr>
        <p:spPr>
          <a:xfrm>
            <a:off x="1926728" y="362102"/>
            <a:ext cx="350398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내기 (Ideate)</a:t>
            </a:r>
            <a:endParaRPr lang="en-US" sz="24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612174" y="395935"/>
            <a:ext cx="200254" cy="267005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666598" y="231343"/>
            <a:ext cx="76261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75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PHASE 03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71500" y="1143000"/>
            <a:ext cx="5372100" cy="5429707"/>
          </a:xfrm>
          <a:prstGeom prst="roundRect">
            <a:avLst>
              <a:gd name="adj" fmla="val 423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8"/>
          <p:cNvSpPr/>
          <p:nvPr/>
        </p:nvSpPr>
        <p:spPr>
          <a:xfrm>
            <a:off x="571500" y="1143000"/>
            <a:ext cx="5372100" cy="47549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9"/>
          <p:cNvSpPr/>
          <p:nvPr/>
        </p:nvSpPr>
        <p:spPr>
          <a:xfrm>
            <a:off x="800100" y="1819656"/>
            <a:ext cx="4914900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rcRect l="-1282" r="-1282"/>
          <a:stretch/>
        </p:blipFill>
        <p:spPr>
          <a:xfrm>
            <a:off x="800100" y="1466698"/>
            <a:ext cx="219456" cy="190195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114654" y="1419149"/>
            <a:ext cx="1788566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기법 및 도구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800100" y="1990649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95198" y="2085746"/>
            <a:ext cx="152705" cy="152705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257300" y="1971446"/>
            <a:ext cx="404896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브레인스토밍 (Brainstorming)</a:t>
            </a:r>
            <a:endParaRPr lang="en-US" sz="1200" dirty="0"/>
          </a:p>
        </p:txBody>
      </p:sp>
      <p:sp>
        <p:nvSpPr>
          <p:cNvPr id="18" name="Text 13"/>
          <p:cNvSpPr txBox="1"/>
          <p:nvPr/>
        </p:nvSpPr>
        <p:spPr>
          <a:xfrm>
            <a:off x="1257300" y="2253082"/>
            <a:ext cx="47036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비판 금지, 자유로운 발언을 통해 최대한 많은 아이디어를 쏟아내는 과정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800100" y="2624328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3" descr="preencoded.png"/>
          <p:cNvPicPr>
            <a:picLocks noChangeAspect="1"/>
          </p:cNvPicPr>
          <p:nvPr/>
        </p:nvPicPr>
        <p:blipFill>
          <a:blip r:embed="rId6"/>
          <a:srcRect l="-33" r="-33"/>
          <a:stretch/>
        </p:blipFill>
        <p:spPr>
          <a:xfrm>
            <a:off x="886054" y="2719426"/>
            <a:ext cx="171907" cy="152705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257300" y="2605126"/>
            <a:ext cx="392460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마인드맵 &amp; 시각화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1257300" y="2885846"/>
            <a:ext cx="44156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단어에서 가지를 뻗어 나가며 생각을 확장하고 구조적으로 정리</a:t>
            </a:r>
            <a:endParaRPr lang="en-US" sz="1000" dirty="0"/>
          </a:p>
        </p:txBody>
      </p:sp>
      <p:sp>
        <p:nvSpPr>
          <p:cNvPr id="23" name="Shape 17"/>
          <p:cNvSpPr/>
          <p:nvPr/>
        </p:nvSpPr>
        <p:spPr>
          <a:xfrm>
            <a:off x="800100" y="3258007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F59E0B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4" descr="preencoded.png"/>
          <p:cNvPicPr>
            <a:picLocks noChangeAspect="1"/>
          </p:cNvPicPr>
          <p:nvPr/>
        </p:nvPicPr>
        <p:blipFill>
          <a:blip r:embed="rId7"/>
          <a:srcRect t="-43" b="-43"/>
          <a:stretch/>
        </p:blipFill>
        <p:spPr>
          <a:xfrm>
            <a:off x="905256" y="3353105"/>
            <a:ext cx="133502" cy="152705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1257300" y="3238805"/>
            <a:ext cx="408645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포스트업 &amp; 브레인라이팅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1257300" y="3519526"/>
            <a:ext cx="462320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침묵 속에 각자 포스트잇에 적어 붙이며 타인의 생각에 아이디어를 더함</a:t>
            </a:r>
            <a:endParaRPr lang="en-US" sz="1000" dirty="0"/>
          </a:p>
        </p:txBody>
      </p:sp>
      <p:sp>
        <p:nvSpPr>
          <p:cNvPr id="27" name="Shape 20"/>
          <p:cNvSpPr/>
          <p:nvPr/>
        </p:nvSpPr>
        <p:spPr>
          <a:xfrm>
            <a:off x="800100" y="5605272"/>
            <a:ext cx="4914900" cy="743407"/>
          </a:xfrm>
          <a:prstGeom prst="roundRect">
            <a:avLst>
              <a:gd name="adj" fmla="val 12616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1"/>
          <p:cNvSpPr txBox="1"/>
          <p:nvPr/>
        </p:nvSpPr>
        <p:spPr>
          <a:xfrm>
            <a:off x="886054" y="5747918"/>
            <a:ext cx="47439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BBF2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"Quantity drives Quality"</a:t>
            </a:r>
            <a:endParaRPr lang="en-US" sz="1200" dirty="0"/>
          </a:p>
        </p:txBody>
      </p:sp>
      <p:sp>
        <p:nvSpPr>
          <p:cNvPr id="29" name="Text 22"/>
          <p:cNvSpPr txBox="1"/>
          <p:nvPr/>
        </p:nvSpPr>
        <p:spPr>
          <a:xfrm>
            <a:off x="847649" y="6014923"/>
            <a:ext cx="481980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양이 질을 만든다: 초기에는 무조건 많은 양이 중요</a:t>
            </a:r>
            <a:endParaRPr lang="en-US" sz="900" dirty="0"/>
          </a:p>
        </p:txBody>
      </p:sp>
      <p:sp>
        <p:nvSpPr>
          <p:cNvPr id="30" name="Shape 23"/>
          <p:cNvSpPr/>
          <p:nvPr/>
        </p:nvSpPr>
        <p:spPr>
          <a:xfrm>
            <a:off x="6229807" y="1143000"/>
            <a:ext cx="5391302" cy="5429707"/>
          </a:xfrm>
          <a:prstGeom prst="roundRect">
            <a:avLst>
              <a:gd name="adj" fmla="val 42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4"/>
          <p:cNvSpPr/>
          <p:nvPr/>
        </p:nvSpPr>
        <p:spPr>
          <a:xfrm>
            <a:off x="6229807" y="1143000"/>
            <a:ext cx="5391302" cy="47549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5"/>
          <p:cNvSpPr/>
          <p:nvPr/>
        </p:nvSpPr>
        <p:spPr>
          <a:xfrm>
            <a:off x="6467551" y="1819656"/>
            <a:ext cx="4914900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6467551" y="1466698"/>
            <a:ext cx="237744" cy="190195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01307" y="1419149"/>
            <a:ext cx="1511503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활용</a:t>
            </a:r>
            <a:endParaRPr lang="en-US" sz="1500" dirty="0"/>
          </a:p>
        </p:txBody>
      </p:sp>
      <p:sp>
        <p:nvSpPr>
          <p:cNvPr id="35" name="Shape 27"/>
          <p:cNvSpPr/>
          <p:nvPr/>
        </p:nvSpPr>
        <p:spPr>
          <a:xfrm>
            <a:off x="6467551" y="1971446"/>
            <a:ext cx="4914900" cy="1057046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6467551" y="1971446"/>
            <a:ext cx="28346" cy="105704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9"/>
          <p:cNvSpPr txBox="1"/>
          <p:nvPr/>
        </p:nvSpPr>
        <p:spPr>
          <a:xfrm>
            <a:off x="6838798" y="2085746"/>
            <a:ext cx="45061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무한 발산 (Diverge)</a:t>
            </a:r>
            <a:endParaRPr lang="en-US" sz="1100" dirty="0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648602" y="2126894"/>
            <a:ext cx="133502" cy="133502"/>
          </a:xfrm>
          <a:prstGeom prst="rect">
            <a:avLst/>
          </a:prstGeom>
        </p:spPr>
      </p:pic>
      <p:sp>
        <p:nvSpPr>
          <p:cNvPr id="39" name="Shape 30"/>
          <p:cNvSpPr/>
          <p:nvPr/>
        </p:nvSpPr>
        <p:spPr>
          <a:xfrm>
            <a:off x="6648602" y="2357323"/>
            <a:ext cx="4581144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1"/>
          <p:cNvSpPr/>
          <p:nvPr/>
        </p:nvSpPr>
        <p:spPr>
          <a:xfrm>
            <a:off x="6467551" y="3142793"/>
            <a:ext cx="4914900" cy="1057046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Shape 32"/>
          <p:cNvSpPr/>
          <p:nvPr/>
        </p:nvSpPr>
        <p:spPr>
          <a:xfrm>
            <a:off x="6467551" y="3142793"/>
            <a:ext cx="28346" cy="105704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3"/>
          <p:cNvSpPr txBox="1"/>
          <p:nvPr/>
        </p:nvSpPr>
        <p:spPr>
          <a:xfrm>
            <a:off x="6838798" y="3257093"/>
            <a:ext cx="45061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SCAMPER 변형 기법</a:t>
            </a:r>
            <a:endParaRPr lang="en-US" sz="1100" dirty="0"/>
          </a:p>
        </p:txBody>
      </p:sp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6648602" y="3297326"/>
            <a:ext cx="133502" cy="133502"/>
          </a:xfrm>
          <a:prstGeom prst="rect">
            <a:avLst/>
          </a:prstGeom>
        </p:spPr>
      </p:pic>
      <p:sp>
        <p:nvSpPr>
          <p:cNvPr id="44" name="Shape 34"/>
          <p:cNvSpPr/>
          <p:nvPr/>
        </p:nvSpPr>
        <p:spPr>
          <a:xfrm>
            <a:off x="6648602" y="3527755"/>
            <a:ext cx="4581144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35"/>
          <p:cNvSpPr/>
          <p:nvPr/>
        </p:nvSpPr>
        <p:spPr>
          <a:xfrm>
            <a:off x="6467551" y="4313225"/>
            <a:ext cx="4914900" cy="1057046"/>
          </a:xfrm>
          <a:prstGeom prst="rect">
            <a:avLst/>
          </a:prstGeom>
          <a:solidFill>
            <a:srgbClr val="8B5C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6" name="Shape 36"/>
          <p:cNvSpPr/>
          <p:nvPr/>
        </p:nvSpPr>
        <p:spPr>
          <a:xfrm>
            <a:off x="6467551" y="4313225"/>
            <a:ext cx="28346" cy="1057046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7" name="Text 37"/>
          <p:cNvSpPr txBox="1"/>
          <p:nvPr/>
        </p:nvSpPr>
        <p:spPr>
          <a:xfrm>
            <a:off x="6838798" y="4427525"/>
            <a:ext cx="450616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DDD6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 및 수렴 (Converge)</a:t>
            </a:r>
            <a:endParaRPr lang="en-US" sz="1100" dirty="0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648602" y="4467758"/>
            <a:ext cx="133502" cy="133502"/>
          </a:xfrm>
          <a:prstGeom prst="rect">
            <a:avLst/>
          </a:prstGeom>
        </p:spPr>
      </p:pic>
      <p:sp>
        <p:nvSpPr>
          <p:cNvPr id="49" name="Shape 38"/>
          <p:cNvSpPr/>
          <p:nvPr/>
        </p:nvSpPr>
        <p:spPr>
          <a:xfrm>
            <a:off x="6648602" y="4699102"/>
            <a:ext cx="4581144" cy="562356"/>
          </a:xfrm>
          <a:prstGeom prst="roundRect">
            <a:avLst>
              <a:gd name="adj" fmla="val 16536"/>
            </a:avLst>
          </a:prstGeom>
          <a:solidFill>
            <a:srgbClr val="11182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39"/>
          <p:cNvSpPr/>
          <p:nvPr/>
        </p:nvSpPr>
        <p:spPr>
          <a:xfrm>
            <a:off x="6467551" y="5739689"/>
            <a:ext cx="4914900" cy="599846"/>
          </a:xfrm>
          <a:prstGeom prst="roundRect">
            <a:avLst>
              <a:gd name="adj" fmla="val 19357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EF4444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1" name="Image 9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6590995" y="5882335"/>
            <a:ext cx="152705" cy="152705"/>
          </a:xfrm>
          <a:prstGeom prst="rect">
            <a:avLst/>
          </a:prstGeom>
        </p:spPr>
      </p:pic>
      <p:sp>
        <p:nvSpPr>
          <p:cNvPr id="52" name="Text 40"/>
          <p:cNvSpPr txBox="1"/>
          <p:nvPr/>
        </p:nvSpPr>
        <p:spPr>
          <a:xfrm>
            <a:off x="6838798" y="5863133"/>
            <a:ext cx="4543653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주의: 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 아이디어는 기존 데이터를 기반으로 하므로 '뻔한(Cliché)' 것일 수 있습니다.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인간의</a:t>
            </a:r>
            <a:r>
              <a:rPr lang="en-US" sz="9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직관으로 필터링하고 발전시키세요.</a:t>
            </a:r>
            <a:endParaRPr lang="en-US" sz="900" dirty="0"/>
          </a:p>
        </p:txBody>
      </p:sp>
      <p:sp>
        <p:nvSpPr>
          <p:cNvPr id="53" name="Text 41"/>
          <p:cNvSpPr txBox="1"/>
          <p:nvPr/>
        </p:nvSpPr>
        <p:spPr>
          <a:xfrm>
            <a:off x="6752844" y="2471623"/>
            <a:ext cx="4115453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"정의된 문제(POV)를 해결할 수 있는 창의적이고 기발한 </a:t>
            </a: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아이디어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20가지를 리스트로 제안해줘. 비용은 고려하지 마."</a:t>
            </a:r>
            <a:endParaRPr lang="en-US" sz="900" dirty="0"/>
          </a:p>
        </p:txBody>
      </p:sp>
      <p:sp>
        <p:nvSpPr>
          <p:cNvPr id="54" name="Text 42"/>
          <p:cNvSpPr txBox="1"/>
          <p:nvPr/>
        </p:nvSpPr>
        <p:spPr>
          <a:xfrm>
            <a:off x="6752844" y="3642055"/>
            <a:ext cx="4354068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"이 아이디어를 [뒤집기(Reverse)] 기법을 적용해서 완전히 다르게 </a:t>
            </a: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접근하는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방법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3가지를 알려줘."</a:t>
            </a:r>
            <a:endParaRPr lang="en-US" sz="900" dirty="0"/>
          </a:p>
        </p:txBody>
      </p:sp>
      <p:sp>
        <p:nvSpPr>
          <p:cNvPr id="55" name="Text 43"/>
          <p:cNvSpPr txBox="1"/>
          <p:nvPr/>
        </p:nvSpPr>
        <p:spPr>
          <a:xfrm>
            <a:off x="6752845" y="4813402"/>
            <a:ext cx="4431284" cy="3246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"제안된 아이디어 중 [독창성]과 [실현 가능성] 점수를 </a:t>
            </a: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매겨서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9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상위</a:t>
            </a:r>
            <a:r>
              <a:rPr lang="en-US" sz="9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3개를 추천해줘."</a:t>
            </a:r>
            <a:endParaRPr lang="en-US" sz="900" dirty="0"/>
          </a:p>
        </p:txBody>
      </p:sp>
      <p:sp>
        <p:nvSpPr>
          <p:cNvPr id="5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3976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571500" y="1123798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571500" y="251460"/>
            <a:ext cx="5753405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with GenAI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1500" y="546811"/>
            <a:ext cx="80695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미니 실습: AI 협업 문제해결 워크시트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10744200" y="437998"/>
            <a:ext cx="882396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25 MIN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0054742" y="780898"/>
            <a:ext cx="15736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Total Workshop Time</a:t>
            </a:r>
            <a:endParaRPr lang="en-US" sz="1000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3191256" y="3804818"/>
            <a:ext cx="95098" cy="152705"/>
          </a:xfrm>
          <a:prstGeom prst="rect">
            <a:avLst/>
          </a:prstGeom>
        </p:spPr>
      </p:pic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6048756" y="3804818"/>
            <a:ext cx="95098" cy="152705"/>
          </a:xfrm>
          <a:prstGeom prst="rect">
            <a:avLst/>
          </a:prstGeom>
        </p:spPr>
      </p:pic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8906256" y="3804818"/>
            <a:ext cx="95098" cy="152705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5715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8"/>
          <p:cNvSpPr/>
          <p:nvPr/>
        </p:nvSpPr>
        <p:spPr>
          <a:xfrm>
            <a:off x="571500" y="1380744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9"/>
          <p:cNvSpPr txBox="1"/>
          <p:nvPr/>
        </p:nvSpPr>
        <p:spPr>
          <a:xfrm>
            <a:off x="780898" y="1705356"/>
            <a:ext cx="79369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공감하기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1300" dirty="0"/>
          </a:p>
        </p:txBody>
      </p:sp>
      <p:sp>
        <p:nvSpPr>
          <p:cNvPr id="15" name="Shape 10"/>
          <p:cNvSpPr/>
          <p:nvPr/>
        </p:nvSpPr>
        <p:spPr>
          <a:xfrm>
            <a:off x="23618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2438705" y="1762049"/>
            <a:ext cx="114300" cy="1143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25904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6분</a:t>
            </a:r>
            <a:endParaRPr lang="en-US" sz="900" dirty="0"/>
          </a:p>
        </p:txBody>
      </p:sp>
      <p:pic>
        <p:nvPicPr>
          <p:cNvPr id="18" name="Image 4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1666951" y="2335378"/>
            <a:ext cx="286207" cy="228600"/>
          </a:xfrm>
          <a:prstGeom prst="rect">
            <a:avLst/>
          </a:prstGeom>
        </p:spPr>
      </p:pic>
      <p:sp>
        <p:nvSpPr>
          <p:cNvPr id="19" name="Shape 12"/>
          <p:cNvSpPr/>
          <p:nvPr/>
        </p:nvSpPr>
        <p:spPr>
          <a:xfrm>
            <a:off x="7808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3"/>
          <p:cNvSpPr/>
          <p:nvPr/>
        </p:nvSpPr>
        <p:spPr>
          <a:xfrm>
            <a:off x="8951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4"/>
          <p:cNvSpPr txBox="1"/>
          <p:nvPr/>
        </p:nvSpPr>
        <p:spPr>
          <a:xfrm>
            <a:off x="1104595" y="2840126"/>
            <a:ext cx="113111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대상 사용자 선정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8951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6"/>
          <p:cNvSpPr txBox="1"/>
          <p:nvPr/>
        </p:nvSpPr>
        <p:spPr>
          <a:xfrm>
            <a:off x="1104595" y="3084271"/>
            <a:ext cx="91074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생성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8951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18"/>
          <p:cNvSpPr txBox="1"/>
          <p:nvPr/>
        </p:nvSpPr>
        <p:spPr>
          <a:xfrm>
            <a:off x="1104595" y="3327502"/>
            <a:ext cx="129387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공감지도(Map) 초안</a:t>
            </a:r>
            <a:endParaRPr lang="en-US" sz="1000" dirty="0"/>
          </a:p>
        </p:txBody>
      </p:sp>
      <p:sp>
        <p:nvSpPr>
          <p:cNvPr id="26" name="Shape 19"/>
          <p:cNvSpPr/>
          <p:nvPr/>
        </p:nvSpPr>
        <p:spPr>
          <a:xfrm>
            <a:off x="7808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4F46E5">
              <a:alpha val="10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5" descr="preencoded.png"/>
          <p:cNvPicPr>
            <a:picLocks noChangeAspect="1"/>
          </p:cNvPicPr>
          <p:nvPr/>
        </p:nvPicPr>
        <p:blipFill>
          <a:blip r:embed="rId6"/>
          <a:srcRect t="-1750" b="-1750"/>
          <a:stretch/>
        </p:blipFill>
        <p:spPr>
          <a:xfrm>
            <a:off x="886054" y="5375758"/>
            <a:ext cx="114300" cy="105156"/>
          </a:xfrm>
          <a:prstGeom prst="rect">
            <a:avLst/>
          </a:prstGeom>
        </p:spPr>
      </p:pic>
      <p:sp>
        <p:nvSpPr>
          <p:cNvPr id="28" name="Text 20"/>
          <p:cNvSpPr txBox="1"/>
          <p:nvPr/>
        </p:nvSpPr>
        <p:spPr>
          <a:xfrm>
            <a:off x="1037844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29" name="Shape 21"/>
          <p:cNvSpPr/>
          <p:nvPr/>
        </p:nvSpPr>
        <p:spPr>
          <a:xfrm>
            <a:off x="8860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0" name="Text 22"/>
          <p:cNvSpPr txBox="1"/>
          <p:nvPr/>
        </p:nvSpPr>
        <p:spPr>
          <a:xfrm>
            <a:off x="942746" y="5611673"/>
            <a:ext cx="1733702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"20대 대학생의 [수강신청] 관련 페르소나와 </a:t>
            </a:r>
            <a:r>
              <a:rPr lang="en-US" sz="8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공감지도를</a:t>
            </a: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800" dirty="0" err="1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표로</a:t>
            </a: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작성해줘."</a:t>
            </a:r>
            <a:endParaRPr lang="en-US" sz="800" dirty="0"/>
          </a:p>
        </p:txBody>
      </p:sp>
      <p:sp>
        <p:nvSpPr>
          <p:cNvPr id="31" name="Shape 23"/>
          <p:cNvSpPr/>
          <p:nvPr/>
        </p:nvSpPr>
        <p:spPr>
          <a:xfrm>
            <a:off x="34290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2" name="Shape 24"/>
          <p:cNvSpPr/>
          <p:nvPr/>
        </p:nvSpPr>
        <p:spPr>
          <a:xfrm>
            <a:off x="3429000" y="1380744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25"/>
          <p:cNvSpPr txBox="1"/>
          <p:nvPr/>
        </p:nvSpPr>
        <p:spPr>
          <a:xfrm>
            <a:off x="3638398" y="1705356"/>
            <a:ext cx="81655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정의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</a:t>
            </a:r>
            <a:endParaRPr lang="en-US" sz="1300" dirty="0"/>
          </a:p>
        </p:txBody>
      </p:sp>
      <p:sp>
        <p:nvSpPr>
          <p:cNvPr id="34" name="Shape 26"/>
          <p:cNvSpPr/>
          <p:nvPr/>
        </p:nvSpPr>
        <p:spPr>
          <a:xfrm>
            <a:off x="52193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6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5296205" y="1762049"/>
            <a:ext cx="114300" cy="114300"/>
          </a:xfrm>
          <a:prstGeom prst="rect">
            <a:avLst/>
          </a:prstGeom>
        </p:spPr>
      </p:pic>
      <p:sp>
        <p:nvSpPr>
          <p:cNvPr id="36" name="Text 27"/>
          <p:cNvSpPr txBox="1"/>
          <p:nvPr/>
        </p:nvSpPr>
        <p:spPr>
          <a:xfrm>
            <a:off x="54479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6분</a:t>
            </a:r>
            <a:endParaRPr lang="en-US" sz="900" dirty="0"/>
          </a:p>
        </p:txBody>
      </p:sp>
      <p:pic>
        <p:nvPicPr>
          <p:cNvPr id="37" name="Image 7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4552798" y="2335378"/>
            <a:ext cx="228600" cy="228600"/>
          </a:xfrm>
          <a:prstGeom prst="rect">
            <a:avLst/>
          </a:prstGeom>
        </p:spPr>
      </p:pic>
      <p:sp>
        <p:nvSpPr>
          <p:cNvPr id="38" name="Shape 28"/>
          <p:cNvSpPr/>
          <p:nvPr/>
        </p:nvSpPr>
        <p:spPr>
          <a:xfrm>
            <a:off x="36383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29"/>
          <p:cNvSpPr/>
          <p:nvPr/>
        </p:nvSpPr>
        <p:spPr>
          <a:xfrm>
            <a:off x="37526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0"/>
          <p:cNvSpPr txBox="1"/>
          <p:nvPr/>
        </p:nvSpPr>
        <p:spPr>
          <a:xfrm>
            <a:off x="3962095" y="2840126"/>
            <a:ext cx="154167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불편함(Pain) 파악</a:t>
            </a:r>
            <a:endParaRPr lang="en-US" sz="1000" dirty="0"/>
          </a:p>
        </p:txBody>
      </p:sp>
      <p:sp>
        <p:nvSpPr>
          <p:cNvPr id="41" name="Shape 31"/>
          <p:cNvSpPr/>
          <p:nvPr/>
        </p:nvSpPr>
        <p:spPr>
          <a:xfrm>
            <a:off x="37526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2" name="Text 32"/>
          <p:cNvSpPr txBox="1"/>
          <p:nvPr/>
        </p:nvSpPr>
        <p:spPr>
          <a:xfrm>
            <a:off x="3962095" y="3084271"/>
            <a:ext cx="99395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근본 원인 탐색</a:t>
            </a:r>
            <a:endParaRPr lang="en-US" sz="1000" dirty="0"/>
          </a:p>
        </p:txBody>
      </p:sp>
      <p:sp>
        <p:nvSpPr>
          <p:cNvPr id="43" name="Shape 33"/>
          <p:cNvSpPr/>
          <p:nvPr/>
        </p:nvSpPr>
        <p:spPr>
          <a:xfrm>
            <a:off x="37526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4"/>
          <p:cNvSpPr txBox="1"/>
          <p:nvPr/>
        </p:nvSpPr>
        <p:spPr>
          <a:xfrm>
            <a:off x="3962095" y="3327502"/>
            <a:ext cx="17574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POV(Point Of View) 작성</a:t>
            </a:r>
            <a:endParaRPr lang="en-US" sz="1000" dirty="0"/>
          </a:p>
        </p:txBody>
      </p:sp>
      <p:sp>
        <p:nvSpPr>
          <p:cNvPr id="45" name="Shape 35"/>
          <p:cNvSpPr/>
          <p:nvPr/>
        </p:nvSpPr>
        <p:spPr>
          <a:xfrm>
            <a:off x="36383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4F46E5">
              <a:alpha val="10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6" name="Image 8" descr="preencoded.png"/>
          <p:cNvPicPr>
            <a:picLocks noChangeAspect="1"/>
          </p:cNvPicPr>
          <p:nvPr/>
        </p:nvPicPr>
        <p:blipFill>
          <a:blip r:embed="rId8"/>
          <a:srcRect l="-783" r="-783"/>
          <a:stretch/>
        </p:blipFill>
        <p:spPr>
          <a:xfrm>
            <a:off x="3743554" y="5375758"/>
            <a:ext cx="133502" cy="105156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3914546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48" name="Shape 37"/>
          <p:cNvSpPr/>
          <p:nvPr/>
        </p:nvSpPr>
        <p:spPr>
          <a:xfrm>
            <a:off x="37435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9" name="Text 38"/>
          <p:cNvSpPr txBox="1"/>
          <p:nvPr/>
        </p:nvSpPr>
        <p:spPr>
          <a:xfrm>
            <a:off x="3800246" y="5611673"/>
            <a:ext cx="1714500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"위 페르소나가 겪는 가장 큰 문제를 '사용자는 [ ] 때문에 [ ]를 원한다' 형식으로 정의해줘."</a:t>
            </a:r>
            <a:endParaRPr lang="en-US" sz="800" dirty="0"/>
          </a:p>
        </p:txBody>
      </p:sp>
      <p:sp>
        <p:nvSpPr>
          <p:cNvPr id="50" name="Shape 39"/>
          <p:cNvSpPr/>
          <p:nvPr/>
        </p:nvSpPr>
        <p:spPr>
          <a:xfrm>
            <a:off x="62865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1" name="Shape 40"/>
          <p:cNvSpPr/>
          <p:nvPr/>
        </p:nvSpPr>
        <p:spPr>
          <a:xfrm>
            <a:off x="6286500" y="1380744"/>
            <a:ext cx="2476195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Text 41"/>
          <p:cNvSpPr txBox="1"/>
          <p:nvPr/>
        </p:nvSpPr>
        <p:spPr>
          <a:xfrm>
            <a:off x="6495898" y="1705356"/>
            <a:ext cx="759866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Ideate</a:t>
            </a:r>
            <a:endParaRPr lang="en-US" sz="1300" dirty="0"/>
          </a:p>
        </p:txBody>
      </p:sp>
      <p:sp>
        <p:nvSpPr>
          <p:cNvPr id="53" name="Shape 42"/>
          <p:cNvSpPr/>
          <p:nvPr/>
        </p:nvSpPr>
        <p:spPr>
          <a:xfrm>
            <a:off x="80768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54" name="Image 9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153705" y="1762049"/>
            <a:ext cx="114300" cy="114300"/>
          </a:xfrm>
          <a:prstGeom prst="rect">
            <a:avLst/>
          </a:prstGeom>
        </p:spPr>
      </p:pic>
      <p:sp>
        <p:nvSpPr>
          <p:cNvPr id="55" name="Text 43"/>
          <p:cNvSpPr txBox="1"/>
          <p:nvPr/>
        </p:nvSpPr>
        <p:spPr>
          <a:xfrm>
            <a:off x="83054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7분</a:t>
            </a:r>
            <a:endParaRPr lang="en-US" sz="900" dirty="0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9"/>
          <a:srcRect l="-133" r="-133"/>
          <a:stretch/>
        </p:blipFill>
        <p:spPr>
          <a:xfrm>
            <a:off x="7438644" y="2335378"/>
            <a:ext cx="171907" cy="228600"/>
          </a:xfrm>
          <a:prstGeom prst="rect">
            <a:avLst/>
          </a:prstGeom>
        </p:spPr>
      </p:pic>
      <p:sp>
        <p:nvSpPr>
          <p:cNvPr id="57" name="Shape 44"/>
          <p:cNvSpPr/>
          <p:nvPr/>
        </p:nvSpPr>
        <p:spPr>
          <a:xfrm>
            <a:off x="64958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8" name="Shape 45"/>
          <p:cNvSpPr/>
          <p:nvPr/>
        </p:nvSpPr>
        <p:spPr>
          <a:xfrm>
            <a:off x="66101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9" name="Text 46"/>
          <p:cNvSpPr txBox="1"/>
          <p:nvPr/>
        </p:nvSpPr>
        <p:spPr>
          <a:xfrm>
            <a:off x="6819595" y="2840126"/>
            <a:ext cx="135331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브레인스토밍 (발산)</a:t>
            </a:r>
            <a:endParaRPr lang="en-US" sz="1000" dirty="0"/>
          </a:p>
        </p:txBody>
      </p:sp>
      <p:sp>
        <p:nvSpPr>
          <p:cNvPr id="60" name="Shape 47"/>
          <p:cNvSpPr/>
          <p:nvPr/>
        </p:nvSpPr>
        <p:spPr>
          <a:xfrm>
            <a:off x="66101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1" name="Text 48"/>
          <p:cNvSpPr txBox="1"/>
          <p:nvPr/>
        </p:nvSpPr>
        <p:spPr>
          <a:xfrm>
            <a:off x="6819595" y="3084271"/>
            <a:ext cx="134416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How Might We 질문</a:t>
            </a:r>
            <a:endParaRPr lang="en-US" sz="1000" dirty="0"/>
          </a:p>
        </p:txBody>
      </p:sp>
      <p:sp>
        <p:nvSpPr>
          <p:cNvPr id="62" name="Shape 49"/>
          <p:cNvSpPr/>
          <p:nvPr/>
        </p:nvSpPr>
        <p:spPr>
          <a:xfrm>
            <a:off x="66101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3" name="Text 50"/>
          <p:cNvSpPr txBox="1"/>
          <p:nvPr/>
        </p:nvSpPr>
        <p:spPr>
          <a:xfrm>
            <a:off x="6819595" y="3327502"/>
            <a:ext cx="10277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10개 이상 도출</a:t>
            </a:r>
            <a:endParaRPr lang="en-US" sz="1000" dirty="0"/>
          </a:p>
        </p:txBody>
      </p:sp>
      <p:sp>
        <p:nvSpPr>
          <p:cNvPr id="64" name="Shape 51"/>
          <p:cNvSpPr/>
          <p:nvPr/>
        </p:nvSpPr>
        <p:spPr>
          <a:xfrm>
            <a:off x="64958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4F46E5">
              <a:alpha val="10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1" descr="preencoded.png"/>
          <p:cNvPicPr>
            <a:picLocks noChangeAspect="1"/>
          </p:cNvPicPr>
          <p:nvPr/>
        </p:nvPicPr>
        <p:blipFill>
          <a:blip r:embed="rId10"/>
          <a:srcRect l="-1677" r="-1677"/>
          <a:stretch/>
        </p:blipFill>
        <p:spPr>
          <a:xfrm>
            <a:off x="6601054" y="5375758"/>
            <a:ext cx="95098" cy="105156"/>
          </a:xfrm>
          <a:prstGeom prst="rect">
            <a:avLst/>
          </a:prstGeom>
        </p:spPr>
      </p:pic>
      <p:sp>
        <p:nvSpPr>
          <p:cNvPr id="66" name="Text 52"/>
          <p:cNvSpPr txBox="1"/>
          <p:nvPr/>
        </p:nvSpPr>
        <p:spPr>
          <a:xfrm>
            <a:off x="6734556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67" name="Shape 53"/>
          <p:cNvSpPr/>
          <p:nvPr/>
        </p:nvSpPr>
        <p:spPr>
          <a:xfrm>
            <a:off x="66010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8" name="Text 54"/>
          <p:cNvSpPr txBox="1"/>
          <p:nvPr/>
        </p:nvSpPr>
        <p:spPr>
          <a:xfrm>
            <a:off x="6657746" y="5611673"/>
            <a:ext cx="176296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E9D5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"정의된 문제를 해결할 수 있는 창의적인 아이디어 10가지를 리스트로 제안해줘."</a:t>
            </a:r>
            <a:endParaRPr lang="en-US" sz="800" dirty="0"/>
          </a:p>
        </p:txBody>
      </p:sp>
      <p:sp>
        <p:nvSpPr>
          <p:cNvPr id="69" name="Shape 55"/>
          <p:cNvSpPr/>
          <p:nvPr/>
        </p:nvSpPr>
        <p:spPr>
          <a:xfrm>
            <a:off x="9144000" y="1380744"/>
            <a:ext cx="2476195" cy="5000854"/>
          </a:xfrm>
          <a:prstGeom prst="roundRect">
            <a:avLst>
              <a:gd name="adj" fmla="val 2272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56"/>
          <p:cNvSpPr/>
          <p:nvPr/>
        </p:nvSpPr>
        <p:spPr>
          <a:xfrm>
            <a:off x="9144000" y="1380744"/>
            <a:ext cx="2476195" cy="38405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57"/>
          <p:cNvSpPr txBox="1"/>
          <p:nvPr/>
        </p:nvSpPr>
        <p:spPr>
          <a:xfrm>
            <a:off x="9353398" y="1705356"/>
            <a:ext cx="83941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평가/선정</a:t>
            </a:r>
            <a:endParaRPr lang="en-US" sz="1300" dirty="0"/>
          </a:p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Converge</a:t>
            </a:r>
            <a:endParaRPr lang="en-US" sz="1300" dirty="0"/>
          </a:p>
        </p:txBody>
      </p:sp>
      <p:sp>
        <p:nvSpPr>
          <p:cNvPr id="72" name="Shape 58"/>
          <p:cNvSpPr/>
          <p:nvPr/>
        </p:nvSpPr>
        <p:spPr>
          <a:xfrm>
            <a:off x="10934395" y="1705356"/>
            <a:ext cx="485546" cy="228600"/>
          </a:xfrm>
          <a:prstGeom prst="roundRect">
            <a:avLst>
              <a:gd name="adj" fmla="val 20000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73" name="Image 12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11011205" y="1762049"/>
            <a:ext cx="114300" cy="114300"/>
          </a:xfrm>
          <a:prstGeom prst="rect">
            <a:avLst/>
          </a:prstGeom>
        </p:spPr>
      </p:pic>
      <p:sp>
        <p:nvSpPr>
          <p:cNvPr id="74" name="Text 59"/>
          <p:cNvSpPr txBox="1"/>
          <p:nvPr/>
        </p:nvSpPr>
        <p:spPr>
          <a:xfrm>
            <a:off x="11162995" y="1705356"/>
            <a:ext cx="2578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6분</a:t>
            </a:r>
            <a:endParaRPr lang="en-US" sz="900" dirty="0"/>
          </a:p>
        </p:txBody>
      </p:sp>
      <p:pic>
        <p:nvPicPr>
          <p:cNvPr id="75" name="Image 13" descr="preencoded.png"/>
          <p:cNvPicPr>
            <a:picLocks noChangeAspect="1"/>
          </p:cNvPicPr>
          <p:nvPr/>
        </p:nvPicPr>
        <p:blipFill>
          <a:blip r:embed="rId12"/>
          <a:srcRect/>
          <a:stretch/>
        </p:blipFill>
        <p:spPr>
          <a:xfrm>
            <a:off x="10267798" y="2335378"/>
            <a:ext cx="228600" cy="228600"/>
          </a:xfrm>
          <a:prstGeom prst="rect">
            <a:avLst/>
          </a:prstGeom>
        </p:spPr>
      </p:pic>
      <p:sp>
        <p:nvSpPr>
          <p:cNvPr id="76" name="Shape 60"/>
          <p:cNvSpPr/>
          <p:nvPr/>
        </p:nvSpPr>
        <p:spPr>
          <a:xfrm>
            <a:off x="9353398" y="2725826"/>
            <a:ext cx="2057400" cy="2409444"/>
          </a:xfrm>
          <a:prstGeom prst="roundRect">
            <a:avLst>
              <a:gd name="adj" fmla="val 2058"/>
            </a:avLst>
          </a:prstGeom>
          <a:solidFill>
            <a:srgbClr val="0F172A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61"/>
          <p:cNvSpPr/>
          <p:nvPr/>
        </p:nvSpPr>
        <p:spPr>
          <a:xfrm>
            <a:off x="9467698" y="2868473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62"/>
          <p:cNvSpPr txBox="1"/>
          <p:nvPr/>
        </p:nvSpPr>
        <p:spPr>
          <a:xfrm>
            <a:off x="9677095" y="2840126"/>
            <a:ext cx="113111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실현 가능성 평가</a:t>
            </a:r>
            <a:endParaRPr lang="en-US" sz="1000" dirty="0"/>
          </a:p>
        </p:txBody>
      </p:sp>
      <p:sp>
        <p:nvSpPr>
          <p:cNvPr id="79" name="Shape 63"/>
          <p:cNvSpPr/>
          <p:nvPr/>
        </p:nvSpPr>
        <p:spPr>
          <a:xfrm>
            <a:off x="9467698" y="3112618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0" name="Text 64"/>
          <p:cNvSpPr txBox="1"/>
          <p:nvPr/>
        </p:nvSpPr>
        <p:spPr>
          <a:xfrm>
            <a:off x="9677095" y="3084271"/>
            <a:ext cx="773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독창성 평가</a:t>
            </a:r>
            <a:endParaRPr lang="en-US" sz="1000" dirty="0"/>
          </a:p>
        </p:txBody>
      </p:sp>
      <p:sp>
        <p:nvSpPr>
          <p:cNvPr id="81" name="Shape 65"/>
          <p:cNvSpPr/>
          <p:nvPr/>
        </p:nvSpPr>
        <p:spPr>
          <a:xfrm>
            <a:off x="9467698" y="3356762"/>
            <a:ext cx="133502" cy="133502"/>
          </a:xfrm>
          <a:prstGeom prst="roundRect">
            <a:avLst>
              <a:gd name="adj" fmla="val 146771"/>
            </a:avLst>
          </a:prstGeom>
          <a:noFill/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2" name="Text 66"/>
          <p:cNvSpPr txBox="1"/>
          <p:nvPr/>
        </p:nvSpPr>
        <p:spPr>
          <a:xfrm>
            <a:off x="9677095" y="3327502"/>
            <a:ext cx="94183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최종 1개 선정</a:t>
            </a:r>
            <a:endParaRPr lang="en-US" sz="1000" dirty="0"/>
          </a:p>
        </p:txBody>
      </p:sp>
      <p:sp>
        <p:nvSpPr>
          <p:cNvPr id="83" name="Shape 67"/>
          <p:cNvSpPr/>
          <p:nvPr/>
        </p:nvSpPr>
        <p:spPr>
          <a:xfrm>
            <a:off x="9353398" y="5244998"/>
            <a:ext cx="2057400" cy="933602"/>
          </a:xfrm>
          <a:prstGeom prst="roundRect">
            <a:avLst>
              <a:gd name="adj" fmla="val 9994"/>
            </a:avLst>
          </a:prstGeom>
          <a:solidFill>
            <a:srgbClr val="059669">
              <a:alpha val="10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4" name="Image 14" descr="preencoded.png"/>
          <p:cNvPicPr>
            <a:picLocks noChangeAspect="1"/>
          </p:cNvPicPr>
          <p:nvPr/>
        </p:nvPicPr>
        <p:blipFill>
          <a:blip r:embed="rId13"/>
          <a:srcRect/>
          <a:stretch/>
        </p:blipFill>
        <p:spPr>
          <a:xfrm>
            <a:off x="9458554" y="5375758"/>
            <a:ext cx="105156" cy="105156"/>
          </a:xfrm>
          <a:prstGeom prst="rect">
            <a:avLst/>
          </a:prstGeom>
        </p:spPr>
      </p:pic>
      <p:sp>
        <p:nvSpPr>
          <p:cNvPr id="85" name="Text 68"/>
          <p:cNvSpPr txBox="1"/>
          <p:nvPr/>
        </p:nvSpPr>
        <p:spPr>
          <a:xfrm>
            <a:off x="9601200" y="5349240"/>
            <a:ext cx="60624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EE7B7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 Prompt</a:t>
            </a:r>
            <a:endParaRPr lang="en-US" sz="800" dirty="0"/>
          </a:p>
        </p:txBody>
      </p:sp>
      <p:sp>
        <p:nvSpPr>
          <p:cNvPr id="86" name="Shape 69"/>
          <p:cNvSpPr/>
          <p:nvPr/>
        </p:nvSpPr>
        <p:spPr>
          <a:xfrm>
            <a:off x="9458554" y="5544922"/>
            <a:ext cx="1848002" cy="523951"/>
          </a:xfrm>
          <a:prstGeom prst="roundRect">
            <a:avLst>
              <a:gd name="adj" fmla="val 12692"/>
            </a:avLst>
          </a:prstGeom>
          <a:solidFill>
            <a:srgbClr val="000000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7" name="Text 70"/>
          <p:cNvSpPr txBox="1"/>
          <p:nvPr/>
        </p:nvSpPr>
        <p:spPr>
          <a:xfrm>
            <a:off x="9515246" y="5611673"/>
            <a:ext cx="176296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800" dirty="0">
                <a:solidFill>
                  <a:srgbClr val="D1FAE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"제안된 아이디어 중 실현 가능성과 임팩트가 가장 큰 3가지를 선정하고 이유를 말해줘."</a:t>
            </a:r>
            <a:endParaRPr lang="en-US" sz="800" dirty="0"/>
          </a:p>
        </p:txBody>
      </p:sp>
      <p:sp>
        <p:nvSpPr>
          <p:cNvPr id="88" name="Shape 71"/>
          <p:cNvSpPr/>
          <p:nvPr/>
        </p:nvSpPr>
        <p:spPr>
          <a:xfrm>
            <a:off x="724205" y="1285646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9" name="Text 72"/>
          <p:cNvSpPr txBox="1"/>
          <p:nvPr/>
        </p:nvSpPr>
        <p:spPr>
          <a:xfrm>
            <a:off x="8174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90" name="Shape 73"/>
          <p:cNvSpPr/>
          <p:nvPr/>
        </p:nvSpPr>
        <p:spPr>
          <a:xfrm>
            <a:off x="3581705" y="1285646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Text 74"/>
          <p:cNvSpPr txBox="1"/>
          <p:nvPr/>
        </p:nvSpPr>
        <p:spPr>
          <a:xfrm>
            <a:off x="36749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92" name="Shape 75"/>
          <p:cNvSpPr/>
          <p:nvPr/>
        </p:nvSpPr>
        <p:spPr>
          <a:xfrm>
            <a:off x="6439205" y="1285646"/>
            <a:ext cx="267005" cy="267005"/>
          </a:xfrm>
          <a:prstGeom prst="ellipse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3" name="Text 76"/>
          <p:cNvSpPr txBox="1"/>
          <p:nvPr/>
        </p:nvSpPr>
        <p:spPr>
          <a:xfrm>
            <a:off x="65324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94" name="Shape 77"/>
          <p:cNvSpPr/>
          <p:nvPr/>
        </p:nvSpPr>
        <p:spPr>
          <a:xfrm>
            <a:off x="9296705" y="1285646"/>
            <a:ext cx="267005" cy="267005"/>
          </a:xfrm>
          <a:prstGeom prst="ellipse">
            <a:avLst/>
          </a:prstGeom>
          <a:solidFill>
            <a:srgbClr val="10B981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blurRad="38100" dist="254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5" name="Text 78"/>
          <p:cNvSpPr txBox="1"/>
          <p:nvPr/>
        </p:nvSpPr>
        <p:spPr>
          <a:xfrm>
            <a:off x="9389974" y="1319479"/>
            <a:ext cx="16276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1000" dirty="0"/>
          </a:p>
        </p:txBody>
      </p:sp>
      <p:sp>
        <p:nvSpPr>
          <p:cNvPr id="9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28600"/>
            <a:ext cx="326715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Generative AI Guidelines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23951"/>
            <a:ext cx="462777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생성형 AI 사용 원칙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761695" y="1380744"/>
            <a:ext cx="5143500" cy="4181551"/>
          </a:xfrm>
          <a:prstGeom prst="roundRect">
            <a:avLst>
              <a:gd name="adj" fmla="val 79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380744"/>
            <a:ext cx="57607" cy="4181551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086307" y="2104949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1086307" y="1647749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1143000" y="1705356"/>
            <a:ext cx="228600" cy="22860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1561795" y="1647749"/>
            <a:ext cx="185897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Do: 올바른 활용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1086307" y="2391156"/>
            <a:ext cx="57607" cy="57607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1220723" y="2289681"/>
            <a:ext cx="52568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프롬프트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기록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생성된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결과물의 출처와 사용한 프롬프트를 명시합니다.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1086307" y="3000146"/>
            <a:ext cx="57607" cy="57607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4"/>
          <p:cNvSpPr txBox="1"/>
          <p:nvPr/>
        </p:nvSpPr>
        <p:spPr>
          <a:xfrm>
            <a:off x="1200607" y="3007308"/>
            <a:ext cx="50676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팩트 체크 (Fact Check)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환각(Hallucination) 가능성을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고려해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사실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관계를 반드시 확인합니다.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86307" y="3848252"/>
            <a:ext cx="57607" cy="57607"/>
          </a:xfrm>
          <a:prstGeom prst="ellipse">
            <a:avLst/>
          </a:prstGeom>
          <a:solidFill>
            <a:srgbClr val="60A5F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6"/>
          <p:cNvSpPr txBox="1"/>
          <p:nvPr/>
        </p:nvSpPr>
        <p:spPr>
          <a:xfrm>
            <a:off x="1200607" y="3737812"/>
            <a:ext cx="59335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윤리적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수정</a:t>
            </a:r>
            <a:endParaRPr lang="en-US" sz="12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편향되거나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부적절한 표현은 사용자가 직접 필터링하고 수정합니다.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286500" y="1380744"/>
            <a:ext cx="5143500" cy="4181551"/>
          </a:xfrm>
          <a:prstGeom prst="roundRect">
            <a:avLst>
              <a:gd name="adj" fmla="val 797"/>
            </a:avLst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6286500" y="1380744"/>
            <a:ext cx="57607" cy="4181551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6610198" y="2104949"/>
            <a:ext cx="4552798" cy="9144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6610198" y="1647749"/>
            <a:ext cx="342900" cy="342900"/>
          </a:xfrm>
          <a:prstGeom prst="roundRect">
            <a:avLst>
              <a:gd name="adj" fmla="val 59259"/>
            </a:avLst>
          </a:prstGeom>
          <a:solidFill>
            <a:srgbClr val="EF4444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6667805" y="1705356"/>
            <a:ext cx="228600" cy="2286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7086600" y="1647749"/>
            <a:ext cx="199522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Don't: 주의 사항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>
            <a:off x="6610198" y="2391156"/>
            <a:ext cx="57607" cy="57607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3"/>
          <p:cNvSpPr txBox="1"/>
          <p:nvPr/>
        </p:nvSpPr>
        <p:spPr>
          <a:xfrm>
            <a:off x="6743700" y="2303628"/>
            <a:ext cx="64090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개인정보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금지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자신과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타인의 민감한 정보나 대외비 데이터를 입력하지 않습니다.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6610198" y="3000146"/>
            <a:ext cx="57607" cy="57607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5"/>
          <p:cNvSpPr txBox="1"/>
          <p:nvPr/>
        </p:nvSpPr>
        <p:spPr>
          <a:xfrm>
            <a:off x="6743700" y="2913533"/>
            <a:ext cx="61712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저작권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침해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주의</a:t>
            </a:r>
            <a:endParaRPr lang="en-US" sz="12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타인의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창작물을 무단으로 모방하거나 그대로 사용하지 않습니다.</a:t>
            </a:r>
            <a:endParaRPr lang="en-US" sz="1200" dirty="0"/>
          </a:p>
        </p:txBody>
      </p:sp>
      <p:sp>
        <p:nvSpPr>
          <p:cNvPr id="30" name="Shape 26"/>
          <p:cNvSpPr/>
          <p:nvPr/>
        </p:nvSpPr>
        <p:spPr>
          <a:xfrm>
            <a:off x="6610198" y="3610051"/>
            <a:ext cx="57607" cy="57607"/>
          </a:xfrm>
          <a:prstGeom prst="ellipse">
            <a:avLst/>
          </a:prstGeom>
          <a:solidFill>
            <a:srgbClr val="F8717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7"/>
          <p:cNvSpPr txBox="1"/>
          <p:nvPr/>
        </p:nvSpPr>
        <p:spPr>
          <a:xfrm>
            <a:off x="6743700" y="3522524"/>
            <a:ext cx="57140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맹목적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신뢰</a:t>
            </a: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금지</a:t>
            </a:r>
            <a:endParaRPr lang="en-US" sz="12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  <a:cs typeface="Noto Sans KR" pitchFamily="34" charset="-120"/>
            </a:endParaRPr>
          </a:p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: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AI의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답변을 비판 없이 최종 결과물로 확정하지 않습니다.</a:t>
            </a:r>
            <a:endParaRPr lang="en-US" sz="1200" dirty="0"/>
          </a:p>
        </p:txBody>
      </p:sp>
      <p:sp>
        <p:nvSpPr>
          <p:cNvPr id="32" name="Shape 28"/>
          <p:cNvSpPr/>
          <p:nvPr/>
        </p:nvSpPr>
        <p:spPr>
          <a:xfrm>
            <a:off x="761695" y="5753405"/>
            <a:ext cx="10668305" cy="629107"/>
          </a:xfrm>
          <a:prstGeom prst="roundRect">
            <a:avLst>
              <a:gd name="adj" fmla="val 26427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80283" y="5971946"/>
            <a:ext cx="142646" cy="190195"/>
          </a:xfrm>
          <a:prstGeom prst="rect">
            <a:avLst/>
          </a:prstGeom>
        </p:spPr>
      </p:pic>
      <p:sp>
        <p:nvSpPr>
          <p:cNvPr id="34" name="Text 29"/>
          <p:cNvSpPr txBox="1"/>
          <p:nvPr/>
        </p:nvSpPr>
        <p:spPr>
          <a:xfrm>
            <a:off x="3438144" y="5753405"/>
            <a:ext cx="5658307" cy="6291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수업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허용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200" dirty="0" err="1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범위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</a:t>
            </a:r>
            <a:r>
              <a:rPr lang="en-US" sz="1200" b="1" dirty="0" err="1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아이데이션</a:t>
            </a:r>
            <a:r>
              <a:rPr lang="en-US" sz="12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보조 및 초안 작성 도구</a:t>
            </a: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로만 활용 (최종 의사결정은 인간의 몫)</a:t>
            </a:r>
            <a:endParaRPr lang="en-US" sz="1200" dirty="0"/>
          </a:p>
        </p:txBody>
      </p:sp>
      <p:sp>
        <p:nvSpPr>
          <p:cNvPr id="3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1123798"/>
            <a:ext cx="1066830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293522"/>
            <a:ext cx="5744261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Prompt Library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569671"/>
            <a:ext cx="791961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1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단계별 생성형 AI 프롬프트 템플릿</a:t>
            </a:r>
            <a:endParaRPr lang="en-US" sz="3100" dirty="0"/>
          </a:p>
        </p:txBody>
      </p:sp>
      <p:sp>
        <p:nvSpPr>
          <p:cNvPr id="8" name="Shape 6"/>
          <p:cNvSpPr/>
          <p:nvPr/>
        </p:nvSpPr>
        <p:spPr>
          <a:xfrm>
            <a:off x="761695" y="1380744"/>
            <a:ext cx="3467405" cy="4086454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1380744"/>
            <a:ext cx="3467405" cy="47549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952805" y="1619402"/>
            <a:ext cx="847649" cy="247802"/>
          </a:xfrm>
          <a:prstGeom prst="roundRect">
            <a:avLst>
              <a:gd name="adj" fmla="val 283849"/>
            </a:avLst>
          </a:prstGeom>
          <a:solidFill>
            <a:srgbClr val="6366F1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t="-180" b="-180"/>
          <a:stretch/>
        </p:blipFill>
        <p:spPr>
          <a:xfrm>
            <a:off x="3847795" y="1664208"/>
            <a:ext cx="190195" cy="15270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952805" y="1976018"/>
            <a:ext cx="327721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심층 인터뷰 질문 생성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362602" y="1380744"/>
            <a:ext cx="3467405" cy="4086454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4362602" y="1380744"/>
            <a:ext cx="3467405" cy="47549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Shape 12"/>
          <p:cNvSpPr/>
          <p:nvPr/>
        </p:nvSpPr>
        <p:spPr>
          <a:xfrm>
            <a:off x="4552798" y="1619402"/>
            <a:ext cx="599846" cy="247802"/>
          </a:xfrm>
          <a:prstGeom prst="roundRect">
            <a:avLst>
              <a:gd name="adj" fmla="val 283849"/>
            </a:avLst>
          </a:prstGeom>
          <a:solidFill>
            <a:srgbClr val="3B82F6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6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487107" y="1664208"/>
            <a:ext cx="152705" cy="152705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552798" y="1976018"/>
            <a:ext cx="32004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&amp; POV 정의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7962595" y="1380744"/>
            <a:ext cx="3467405" cy="4086454"/>
          </a:xfrm>
          <a:prstGeom prst="roundRect">
            <a:avLst>
              <a:gd name="adj" fmla="val 1159"/>
            </a:avLst>
          </a:prstGeom>
          <a:solidFill>
            <a:srgbClr val="1E293B"/>
          </a:solidFill>
          <a:ln/>
          <a:effectLst>
            <a:outerShdw blurRad="139700" dist="101600" dir="162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7962595" y="1380744"/>
            <a:ext cx="3467405" cy="47549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8153705" y="1619402"/>
            <a:ext cx="580644" cy="247802"/>
          </a:xfrm>
          <a:prstGeom prst="roundRect">
            <a:avLst>
              <a:gd name="adj" fmla="val 283849"/>
            </a:avLst>
          </a:prstGeom>
          <a:solidFill>
            <a:srgbClr val="0EA5E9">
              <a:alpha val="2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t="-100" b="-100"/>
          <a:stretch/>
        </p:blipFill>
        <p:spPr>
          <a:xfrm>
            <a:off x="11125505" y="1664208"/>
            <a:ext cx="114300" cy="152705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8153705" y="1976018"/>
            <a:ext cx="3200400" cy="2578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발산 (SCAMPER)</a:t>
            </a:r>
            <a:endParaRPr lang="en-US" sz="1300" dirty="0"/>
          </a:p>
        </p:txBody>
      </p:sp>
      <p:sp>
        <p:nvSpPr>
          <p:cNvPr id="23" name="Text 18"/>
          <p:cNvSpPr txBox="1"/>
          <p:nvPr/>
        </p:nvSpPr>
        <p:spPr>
          <a:xfrm>
            <a:off x="1028700" y="1647749"/>
            <a:ext cx="77175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818C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4629607" y="1647749"/>
            <a:ext cx="52395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8229600" y="1647749"/>
            <a:ext cx="505663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IDEATE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952805" y="2328977"/>
            <a:ext cx="3086100" cy="1238098"/>
          </a:xfrm>
          <a:prstGeom prst="roundRect">
            <a:avLst>
              <a:gd name="adj" fmla="val 454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3819449" y="2414930"/>
            <a:ext cx="133502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1076249" y="2408568"/>
            <a:ext cx="2915107" cy="1886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Role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당신은 전문 UX 리서처입니다.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Task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[타겟 사용자]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가 겪는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[문제 상황]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에 대해 심층 인터뷰를 진행하려 합니다. 사용자의 잠재된 니즈를 파악할 수 있는 "열린 질문(Open-ended)" 10가지를 작성해주세요.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Constraint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단답형 질문은 제외하세요.</a:t>
            </a:r>
            <a:endParaRPr lang="en-US" sz="900" dirty="0"/>
          </a:p>
        </p:txBody>
      </p:sp>
      <p:sp>
        <p:nvSpPr>
          <p:cNvPr id="29" name="Shape 23"/>
          <p:cNvSpPr/>
          <p:nvPr/>
        </p:nvSpPr>
        <p:spPr>
          <a:xfrm>
            <a:off x="4552798" y="2328977"/>
            <a:ext cx="3086100" cy="1238098"/>
          </a:xfrm>
          <a:prstGeom prst="roundRect">
            <a:avLst>
              <a:gd name="adj" fmla="val 454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7420356" y="2414930"/>
            <a:ext cx="133502" cy="133502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4677156" y="2452421"/>
            <a:ext cx="2915107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Context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인터뷰 요약: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[인터뷰 내용]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Task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내용을 바탕으로 대표적인 페르소나 1명을 생성하고, 아래 형식으로 POV(Point of View)를 정의해주세요.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Output Format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이름/나이/직업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Pain Point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POV: "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[사용자]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는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[이유]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때문에</a:t>
            </a: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[니즈]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를 원한다"</a:t>
            </a:r>
            <a:endParaRPr lang="en-US" sz="900" dirty="0"/>
          </a:p>
        </p:txBody>
      </p:sp>
      <p:sp>
        <p:nvSpPr>
          <p:cNvPr id="32" name="Shape 25"/>
          <p:cNvSpPr/>
          <p:nvPr/>
        </p:nvSpPr>
        <p:spPr>
          <a:xfrm>
            <a:off x="8153705" y="2328977"/>
            <a:ext cx="3086100" cy="1238098"/>
          </a:xfrm>
          <a:prstGeom prst="roundRect">
            <a:avLst>
              <a:gd name="adj" fmla="val 4545"/>
            </a:avLst>
          </a:prstGeom>
          <a:solidFill>
            <a:srgbClr val="0F172A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6"/>
          <a:srcRect l="-7143" r="-7143"/>
          <a:stretch/>
        </p:blipFill>
        <p:spPr>
          <a:xfrm>
            <a:off x="11020349" y="2414930"/>
            <a:ext cx="133502" cy="133502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267548" y="2392984"/>
            <a:ext cx="2915107" cy="188640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Problem</a:t>
            </a:r>
            <a:endParaRPr lang="en-US" sz="900" dirty="0"/>
          </a:p>
          <a:p>
            <a:pPr marL="0" indent="0" algn="l">
              <a:buNone/>
            </a:pPr>
            <a:r>
              <a:rPr lang="en-US" sz="9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[정의된 문제]</a:t>
            </a: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Task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위 문제를 해결하기 위한 창의적인 아이디어 20개를 제안해주세요. SCAMPER 기법을 활용하여 기존의 방식을 비틀거나 결합하는 혁신적인 아이디어를 </a:t>
            </a:r>
            <a:r>
              <a:rPr lang="en-US" sz="900" dirty="0" err="1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포함해주세요</a:t>
            </a: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Note</a:t>
            </a:r>
            <a:endParaRPr lang="en-US" sz="900" dirty="0"/>
          </a:p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실현 가능성보다 독창성을 우선시하세요.</a:t>
            </a:r>
            <a:endParaRPr lang="en-US" sz="900" dirty="0"/>
          </a:p>
        </p:txBody>
      </p:sp>
      <p:sp>
        <p:nvSpPr>
          <p:cNvPr id="35" name="Shape 27"/>
          <p:cNvSpPr/>
          <p:nvPr/>
        </p:nvSpPr>
        <p:spPr>
          <a:xfrm>
            <a:off x="761695" y="5619902"/>
            <a:ext cx="10668305" cy="761695"/>
          </a:xfrm>
          <a:prstGeom prst="roundRect">
            <a:avLst>
              <a:gd name="adj" fmla="val 18007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961949" y="5928970"/>
            <a:ext cx="142646" cy="142646"/>
          </a:xfrm>
          <a:prstGeom prst="rect">
            <a:avLst/>
          </a:prstGeom>
        </p:spPr>
      </p:pic>
      <p:sp>
        <p:nvSpPr>
          <p:cNvPr id="37" name="Text 28"/>
          <p:cNvSpPr txBox="1"/>
          <p:nvPr/>
        </p:nvSpPr>
        <p:spPr>
          <a:xfrm>
            <a:off x="1181405" y="5893308"/>
            <a:ext cx="12508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입력 변수 가이드</a:t>
            </a:r>
            <a:endParaRPr lang="en-US" sz="1100" dirty="0"/>
          </a:p>
        </p:txBody>
      </p:sp>
      <p:sp>
        <p:nvSpPr>
          <p:cNvPr id="38" name="Shape 29"/>
          <p:cNvSpPr/>
          <p:nvPr/>
        </p:nvSpPr>
        <p:spPr>
          <a:xfrm>
            <a:off x="2410358" y="5781751"/>
            <a:ext cx="981151" cy="437998"/>
          </a:xfrm>
          <a:prstGeom prst="roundRect">
            <a:avLst>
              <a:gd name="adj" fmla="val 18154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0"/>
          <p:cNvSpPr/>
          <p:nvPr/>
        </p:nvSpPr>
        <p:spPr>
          <a:xfrm>
            <a:off x="5356555" y="5781751"/>
            <a:ext cx="857707" cy="437998"/>
          </a:xfrm>
          <a:prstGeom prst="roundRect">
            <a:avLst>
              <a:gd name="adj" fmla="val 18154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1"/>
          <p:cNvSpPr/>
          <p:nvPr/>
        </p:nvSpPr>
        <p:spPr>
          <a:xfrm>
            <a:off x="8496605" y="5781751"/>
            <a:ext cx="981151" cy="437998"/>
          </a:xfrm>
          <a:prstGeom prst="roundRect">
            <a:avLst>
              <a:gd name="adj" fmla="val 18154"/>
            </a:avLst>
          </a:prstGeom>
          <a:solidFill>
            <a:srgbClr val="FACC15">
              <a:alpha val="1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2"/>
          <p:cNvSpPr txBox="1"/>
          <p:nvPr/>
        </p:nvSpPr>
        <p:spPr>
          <a:xfrm>
            <a:off x="2457907" y="5820156"/>
            <a:ext cx="93634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[타겟 사용자]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3445459" y="5800954"/>
            <a:ext cx="2311603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대학생, 1인 가구, 사회초년생</a:t>
            </a:r>
            <a:endParaRPr lang="en-US" sz="1000" dirty="0"/>
          </a:p>
        </p:txBody>
      </p:sp>
      <p:sp>
        <p:nvSpPr>
          <p:cNvPr id="43" name="Text 34"/>
          <p:cNvSpPr txBox="1"/>
          <p:nvPr/>
        </p:nvSpPr>
        <p:spPr>
          <a:xfrm>
            <a:off x="5404104" y="5820156"/>
            <a:ext cx="797357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[문제 상황]</a:t>
            </a:r>
            <a:endParaRPr lang="en-US" sz="1000" dirty="0"/>
          </a:p>
        </p:txBody>
      </p:sp>
      <p:sp>
        <p:nvSpPr>
          <p:cNvPr id="44" name="Text 35"/>
          <p:cNvSpPr txBox="1"/>
          <p:nvPr/>
        </p:nvSpPr>
        <p:spPr>
          <a:xfrm>
            <a:off x="6262726" y="5800954"/>
            <a:ext cx="2722169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예: 수강신청 실패, 점심 메뉴 결정 장애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8544154" y="5820156"/>
            <a:ext cx="936346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ACC1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[인터뷰 내용]</a:t>
            </a:r>
            <a:endParaRPr lang="en-US" sz="1000" dirty="0"/>
          </a:p>
        </p:txBody>
      </p:sp>
      <p:sp>
        <p:nvSpPr>
          <p:cNvPr id="46" name="Text 37"/>
          <p:cNvSpPr txBox="1"/>
          <p:nvPr/>
        </p:nvSpPr>
        <p:spPr>
          <a:xfrm>
            <a:off x="9531706" y="5800954"/>
            <a:ext cx="2115007" cy="3913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수행한 인터뷰 노트 요약본</a:t>
            </a:r>
            <a:endParaRPr lang="en-US" sz="1000" dirty="0"/>
          </a:p>
        </p:txBody>
      </p:sp>
      <p:sp>
        <p:nvSpPr>
          <p:cNvPr id="4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666598" y="1123798"/>
            <a:ext cx="10858500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666598" y="316382"/>
            <a:ext cx="26453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kern="0" spc="15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Wrap-up &amp; Q&amp;A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66598" y="583387"/>
            <a:ext cx="3738982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정리와 다음 단계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666598" y="1380744"/>
            <a:ext cx="5286146" cy="3762756"/>
          </a:xfrm>
          <a:prstGeom prst="roundRect">
            <a:avLst>
              <a:gd name="adj" fmla="val 738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666598" y="1380744"/>
            <a:ext cx="5286146" cy="38405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95198" y="1709928"/>
            <a:ext cx="142646" cy="190195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133856" y="1647749"/>
            <a:ext cx="102870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요약</a:t>
            </a:r>
            <a:endParaRPr lang="en-US" sz="16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198" y="2180844"/>
            <a:ext cx="114300" cy="133502"/>
          </a:xfrm>
          <a:prstGeom prst="rect">
            <a:avLst/>
          </a:prstGeom>
        </p:spPr>
      </p:pic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198" y="2771546"/>
            <a:ext cx="114300" cy="133502"/>
          </a:xfrm>
          <a:prstGeom prst="rect">
            <a:avLst/>
          </a:prstGeom>
        </p:spPr>
      </p:pic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198" y="3362249"/>
            <a:ext cx="114300" cy="133502"/>
          </a:xfrm>
          <a:prstGeom prst="rect">
            <a:avLst/>
          </a:prstGeom>
        </p:spPr>
      </p:pic>
      <p:sp>
        <p:nvSpPr>
          <p:cNvPr id="15" name="Shape 9"/>
          <p:cNvSpPr/>
          <p:nvPr/>
        </p:nvSpPr>
        <p:spPr>
          <a:xfrm>
            <a:off x="6238951" y="1380744"/>
            <a:ext cx="5286146" cy="3762756"/>
          </a:xfrm>
          <a:prstGeom prst="roundRect">
            <a:avLst>
              <a:gd name="adj" fmla="val 738"/>
            </a:avLst>
          </a:prstGeom>
          <a:solidFill>
            <a:srgbClr val="1E293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0"/>
          <p:cNvSpPr/>
          <p:nvPr/>
        </p:nvSpPr>
        <p:spPr>
          <a:xfrm>
            <a:off x="6238951" y="1380744"/>
            <a:ext cx="5286146" cy="38405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5"/>
          <a:srcRect l="-1648" r="-1648"/>
          <a:stretch/>
        </p:blipFill>
        <p:spPr>
          <a:xfrm>
            <a:off x="6467551" y="1709928"/>
            <a:ext cx="171907" cy="190195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6734556" y="1647749"/>
            <a:ext cx="1882750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 (과제)</a:t>
            </a:r>
            <a:endParaRPr lang="en-US" sz="160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467551" y="2180844"/>
            <a:ext cx="105156" cy="133502"/>
          </a:xfrm>
          <a:prstGeom prst="rect">
            <a:avLst/>
          </a:prstGeom>
        </p:spPr>
      </p:pic>
      <p:pic>
        <p:nvPicPr>
          <p:cNvPr id="20" name="Image 6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467551" y="2771546"/>
            <a:ext cx="105156" cy="133502"/>
          </a:xfrm>
          <a:prstGeom prst="rect">
            <a:avLst/>
          </a:prstGeom>
        </p:spPr>
      </p:pic>
      <p:pic>
        <p:nvPicPr>
          <p:cNvPr id="21" name="Image 7" descr="preencoded.png"/>
          <p:cNvPicPr>
            <a:picLocks noChangeAspect="1"/>
          </p:cNvPicPr>
          <p:nvPr/>
        </p:nvPicPr>
        <p:blipFill>
          <a:blip r:embed="rId6"/>
          <a:srcRect l="-2512" r="-2512"/>
          <a:stretch/>
        </p:blipFill>
        <p:spPr>
          <a:xfrm>
            <a:off x="6467551" y="3362249"/>
            <a:ext cx="105156" cy="133502"/>
          </a:xfrm>
          <a:prstGeom prst="rect">
            <a:avLst/>
          </a:prstGeom>
        </p:spPr>
      </p:pic>
      <p:sp>
        <p:nvSpPr>
          <p:cNvPr id="22" name="Text 12"/>
          <p:cNvSpPr txBox="1"/>
          <p:nvPr/>
        </p:nvSpPr>
        <p:spPr>
          <a:xfrm>
            <a:off x="1123798" y="2133295"/>
            <a:ext cx="40078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중심 공감 → 명확한 정의 → 다각도 아이데이션</a:t>
            </a:r>
            <a:endParaRPr lang="en-US" sz="1200" dirty="0"/>
          </a:p>
        </p:txBody>
      </p:sp>
      <p:sp>
        <p:nvSpPr>
          <p:cNvPr id="23" name="Text 13"/>
          <p:cNvSpPr txBox="1"/>
          <p:nvPr/>
        </p:nvSpPr>
        <p:spPr>
          <a:xfrm>
            <a:off x="1123798" y="2381098"/>
            <a:ext cx="337322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해결의 시작은 사용자에 대한 깊은 이해</a:t>
            </a:r>
            <a:endParaRPr lang="en-US" sz="1200" dirty="0"/>
          </a:p>
        </p:txBody>
      </p:sp>
      <p:sp>
        <p:nvSpPr>
          <p:cNvPr id="24" name="Text 14"/>
          <p:cNvSpPr txBox="1"/>
          <p:nvPr/>
        </p:nvSpPr>
        <p:spPr>
          <a:xfrm>
            <a:off x="1123798" y="2723998"/>
            <a:ext cx="1334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실무 적용 포인트</a:t>
            </a:r>
            <a:endParaRPr lang="en-US" sz="1200" dirty="0"/>
          </a:p>
        </p:txBody>
      </p:sp>
      <p:sp>
        <p:nvSpPr>
          <p:cNvPr id="25" name="Text 15"/>
          <p:cNvSpPr txBox="1"/>
          <p:nvPr/>
        </p:nvSpPr>
        <p:spPr>
          <a:xfrm>
            <a:off x="1123798" y="2971800"/>
            <a:ext cx="37572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작은 프로토타입 제작, 빠른 학습과 반복적인 개선</a:t>
            </a:r>
            <a:endParaRPr lang="en-US" sz="1200" dirty="0"/>
          </a:p>
        </p:txBody>
      </p:sp>
      <p:sp>
        <p:nvSpPr>
          <p:cNvPr id="26" name="Text 16"/>
          <p:cNvSpPr txBox="1"/>
          <p:nvPr/>
        </p:nvSpPr>
        <p:spPr>
          <a:xfrm>
            <a:off x="1123798" y="3314700"/>
            <a:ext cx="1334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문제 해결의 본질</a:t>
            </a:r>
            <a:endParaRPr lang="en-US" sz="1200" dirty="0"/>
          </a:p>
        </p:txBody>
      </p:sp>
      <p:sp>
        <p:nvSpPr>
          <p:cNvPr id="27" name="Text 17"/>
          <p:cNvSpPr txBox="1"/>
          <p:nvPr/>
        </p:nvSpPr>
        <p:spPr>
          <a:xfrm>
            <a:off x="1123798" y="3562502"/>
            <a:ext cx="40133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설계(Design)를 통해 실용적이고 기능적인 해답 도출</a:t>
            </a:r>
            <a:endParaRPr lang="en-US" sz="1200" dirty="0"/>
          </a:p>
        </p:txBody>
      </p:sp>
      <p:sp>
        <p:nvSpPr>
          <p:cNvPr id="28" name="Text 18"/>
          <p:cNvSpPr txBox="1"/>
          <p:nvPr/>
        </p:nvSpPr>
        <p:spPr>
          <a:xfrm>
            <a:off x="6687007" y="2133295"/>
            <a:ext cx="11567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팀 주제 선정</a:t>
            </a:r>
            <a:endParaRPr lang="en-US" sz="1200" dirty="0"/>
          </a:p>
        </p:txBody>
      </p:sp>
      <p:sp>
        <p:nvSpPr>
          <p:cNvPr id="29" name="Text 19"/>
          <p:cNvSpPr txBox="1"/>
          <p:nvPr/>
        </p:nvSpPr>
        <p:spPr>
          <a:xfrm>
            <a:off x="6687007" y="2381098"/>
            <a:ext cx="33183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 간 논의를 통해 해결할 문제 영역 결정</a:t>
            </a:r>
            <a:endParaRPr lang="en-US" sz="1200" dirty="0"/>
          </a:p>
        </p:txBody>
      </p:sp>
      <p:sp>
        <p:nvSpPr>
          <p:cNvPr id="30" name="Text 20"/>
          <p:cNvSpPr txBox="1"/>
          <p:nvPr/>
        </p:nvSpPr>
        <p:spPr>
          <a:xfrm>
            <a:off x="6687007" y="2723998"/>
            <a:ext cx="21652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공감 자료 수집 (3개 이상)</a:t>
            </a:r>
            <a:endParaRPr lang="en-US" sz="1200" dirty="0"/>
          </a:p>
        </p:txBody>
      </p:sp>
      <p:sp>
        <p:nvSpPr>
          <p:cNvPr id="31" name="Text 21"/>
          <p:cNvSpPr txBox="1"/>
          <p:nvPr/>
        </p:nvSpPr>
        <p:spPr>
          <a:xfrm>
            <a:off x="6687007" y="2971800"/>
            <a:ext cx="394015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인터뷰, 관찰, 경험을 통한 실제 사용자 데이터 확보</a:t>
            </a:r>
            <a:endParaRPr lang="en-US" sz="1200" dirty="0"/>
          </a:p>
        </p:txBody>
      </p:sp>
      <p:sp>
        <p:nvSpPr>
          <p:cNvPr id="32" name="Text 22"/>
          <p:cNvSpPr txBox="1"/>
          <p:nvPr/>
        </p:nvSpPr>
        <p:spPr>
          <a:xfrm>
            <a:off x="6687007" y="3314700"/>
            <a:ext cx="10433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1차안 작성</a:t>
            </a:r>
            <a:endParaRPr lang="en-US" sz="1200" dirty="0"/>
          </a:p>
        </p:txBody>
      </p:sp>
      <p:sp>
        <p:nvSpPr>
          <p:cNvPr id="33" name="Text 23"/>
          <p:cNvSpPr txBox="1"/>
          <p:nvPr/>
        </p:nvSpPr>
        <p:spPr>
          <a:xfrm>
            <a:off x="6687007" y="3562502"/>
            <a:ext cx="330007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 브리프, 페르소나, HMW 질문 도출</a:t>
            </a:r>
            <a:endParaRPr lang="en-US" sz="1200" dirty="0"/>
          </a:p>
        </p:txBody>
      </p:sp>
      <p:sp>
        <p:nvSpPr>
          <p:cNvPr id="34" name="Shape 24"/>
          <p:cNvSpPr/>
          <p:nvPr/>
        </p:nvSpPr>
        <p:spPr>
          <a:xfrm>
            <a:off x="666598" y="5333695"/>
            <a:ext cx="5391302" cy="1247902"/>
          </a:xfrm>
          <a:prstGeom prst="roundRect">
            <a:avLst>
              <a:gd name="adj" fmla="val 9519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5" name="Text 25"/>
          <p:cNvSpPr txBox="1"/>
          <p:nvPr/>
        </p:nvSpPr>
        <p:spPr>
          <a:xfrm>
            <a:off x="866851" y="5481828"/>
            <a:ext cx="51060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References</a:t>
            </a:r>
            <a:endParaRPr lang="en-US" sz="1000" dirty="0"/>
          </a:p>
        </p:txBody>
      </p:sp>
      <p:pic>
        <p:nvPicPr>
          <p:cNvPr id="36" name="Image 8" descr="preencoded.png"/>
          <p:cNvPicPr>
            <a:picLocks noChangeAspect="1"/>
          </p:cNvPicPr>
          <p:nvPr/>
        </p:nvPicPr>
        <p:blipFill>
          <a:blip r:embed="rId7"/>
          <a:srcRect t="-1100" b="-1100"/>
          <a:stretch/>
        </p:blipFill>
        <p:spPr>
          <a:xfrm>
            <a:off x="866851" y="5790895"/>
            <a:ext cx="114300" cy="133502"/>
          </a:xfrm>
          <a:prstGeom prst="rect">
            <a:avLst/>
          </a:prstGeom>
        </p:spPr>
      </p:pic>
      <p:sp>
        <p:nvSpPr>
          <p:cNvPr id="37" name="Text 26"/>
          <p:cNvSpPr txBox="1"/>
          <p:nvPr/>
        </p:nvSpPr>
        <p:spPr>
          <a:xfrm>
            <a:off x="1057046" y="5757977"/>
            <a:ext cx="464881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Tim Brown, "Design Thinking", Harvard Business Review (2008)</a:t>
            </a:r>
            <a:endParaRPr lang="en-US" sz="1000" dirty="0"/>
          </a:p>
        </p:txBody>
      </p:sp>
      <p:pic>
        <p:nvPicPr>
          <p:cNvPr id="38" name="Image 9" descr="preencoded.png"/>
          <p:cNvPicPr>
            <a:picLocks noChangeAspect="1"/>
          </p:cNvPicPr>
          <p:nvPr/>
        </p:nvPicPr>
        <p:blipFill>
          <a:blip r:embed="rId8"/>
          <a:srcRect l="-1507" r="-1507"/>
          <a:stretch/>
        </p:blipFill>
        <p:spPr>
          <a:xfrm>
            <a:off x="866851" y="6029554"/>
            <a:ext cx="171907" cy="133502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1114654" y="5995721"/>
            <a:ext cx="327629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Stanford d.school - Design Thinking Bootleg (5단계)</a:t>
            </a:r>
            <a:endParaRPr lang="en-US" sz="1000" dirty="0"/>
          </a:p>
        </p:txBody>
      </p:sp>
      <p:sp>
        <p:nvSpPr>
          <p:cNvPr id="39" name="Text 27"/>
          <p:cNvSpPr txBox="1"/>
          <p:nvPr/>
        </p:nvSpPr>
        <p:spPr>
          <a:xfrm>
            <a:off x="1114654" y="6233721"/>
            <a:ext cx="500000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Sarah Gibbons, "Design Thinking 101", Nielsen Norman Group (2016)</a:t>
            </a:r>
            <a:endParaRPr lang="en-US" sz="1000" dirty="0"/>
          </a:p>
        </p:txBody>
      </p:sp>
      <p:sp>
        <p:nvSpPr>
          <p:cNvPr id="4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97499-D6D1-C5AD-C7C5-D6DF087BB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4A2A700-E2AA-191B-DF2D-F0CE8063F3F0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5C85038-F443-B60D-CCB5-C1AA385F62A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60A7DB1-29F9-7029-0619-4AD4A8F72232}"/>
              </a:ext>
            </a:extLst>
          </p:cNvPr>
          <p:cNvSpPr/>
          <p:nvPr/>
        </p:nvSpPr>
        <p:spPr>
          <a:xfrm>
            <a:off x="-1904695" y="-1904695"/>
            <a:ext cx="7619695" cy="7619695"/>
          </a:xfrm>
          <a:prstGeom prst="ellipse">
            <a:avLst/>
          </a:prstGeom>
          <a:solidFill>
            <a:srgbClr val="3B82F6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3A60724-15C5-A9E0-EED4-2F580F49EE32}"/>
              </a:ext>
            </a:extLst>
          </p:cNvPr>
          <p:cNvSpPr/>
          <p:nvPr/>
        </p:nvSpPr>
        <p:spPr>
          <a:xfrm>
            <a:off x="7429500" y="2095805"/>
            <a:ext cx="5715000" cy="5715000"/>
          </a:xfrm>
          <a:prstGeom prst="ellipse">
            <a:avLst/>
          </a:prstGeom>
          <a:solidFill>
            <a:srgbClr val="0EA5E9">
              <a:alpha val="1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3D09B264-FA19-64CD-AC6F-F52760220645}"/>
              </a:ext>
            </a:extLst>
          </p:cNvPr>
          <p:cNvSpPr txBox="1"/>
          <p:nvPr/>
        </p:nvSpPr>
        <p:spPr>
          <a:xfrm>
            <a:off x="476402" y="913290"/>
            <a:ext cx="1729130" cy="10671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0" b="1" kern="0" spc="-375" dirty="0">
                <a:ln w="19050">
                  <a:solidFill>
                    <a:srgbClr val="3B82F6"/>
                  </a:solidFill>
                </a:ln>
                <a:solidFill>
                  <a:srgbClr val="1E293B">
                    <a:alpha val="5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5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23CD8981-7E24-9EBC-2E43-CF7AB1CB91AE}"/>
              </a:ext>
            </a:extLst>
          </p:cNvPr>
          <p:cNvSpPr txBox="1"/>
          <p:nvPr/>
        </p:nvSpPr>
        <p:spPr>
          <a:xfrm>
            <a:off x="2247900" y="1809598"/>
            <a:ext cx="64008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300" dirty="0">
                <a:solidFill>
                  <a:srgbClr val="38BDF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Section 02</a:t>
            </a:r>
            <a:endParaRPr lang="en-US" sz="18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E06CCA1B-A4F4-8FE0-315E-033BA5E03C3D}"/>
              </a:ext>
            </a:extLst>
          </p:cNvPr>
          <p:cNvSpPr/>
          <p:nvPr/>
        </p:nvSpPr>
        <p:spPr>
          <a:xfrm>
            <a:off x="571500" y="4025189"/>
            <a:ext cx="952805" cy="57607"/>
          </a:xfrm>
          <a:prstGeom prst="rect">
            <a:avLst/>
          </a:prstGeom>
          <a:solidFill>
            <a:srgbClr val="3B82F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AE370498-4AC2-9AAC-6F22-E0962FAB93A3}"/>
              </a:ext>
            </a:extLst>
          </p:cNvPr>
          <p:cNvSpPr txBox="1"/>
          <p:nvPr/>
        </p:nvSpPr>
        <p:spPr>
          <a:xfrm>
            <a:off x="571499" y="4463186"/>
            <a:ext cx="11028317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씽킹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(Design Thinking)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프로세스는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다음 장과 같은 6단계(Gibbons, 2016)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구성되어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있습니다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교육에서는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1~5단계가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가능하며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1단계 '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공감'은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혁신을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첫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단계입니다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 </a:t>
            </a:r>
          </a:p>
          <a:p>
            <a:pPr>
              <a:lnSpc>
                <a:spcPct val="150000"/>
              </a:lnSpc>
            </a:pP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5단계 '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실패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시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2단계 '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정의'로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돌아가는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반복적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과정이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altLang="ko-KR" sz="16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중요합니다</a:t>
            </a:r>
            <a:r>
              <a:rPr lang="en-US" altLang="ko-KR" sz="16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.</a:t>
            </a:r>
            <a:endParaRPr lang="en-US" altLang="ko-KR" sz="1600" dirty="0"/>
          </a:p>
        </p:txBody>
      </p:sp>
      <p:sp>
        <p:nvSpPr>
          <p:cNvPr id="27" name="Text 22">
            <a:extLst>
              <a:ext uri="{FF2B5EF4-FFF2-40B4-BE49-F238E27FC236}">
                <a16:creationId xmlns:a16="http://schemas.microsoft.com/office/drawing/2014/main" id="{5498DEA7-B5BC-ED0E-EE3B-2E8D8B1197DC}"/>
              </a:ext>
            </a:extLst>
          </p:cNvPr>
          <p:cNvSpPr txBox="1"/>
          <p:nvPr/>
        </p:nvSpPr>
        <p:spPr>
          <a:xfrm>
            <a:off x="571500" y="2222906"/>
            <a:ext cx="6591910" cy="762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5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요약정리</a:t>
            </a:r>
            <a:endParaRPr lang="en-US" sz="5400" dirty="0"/>
          </a:p>
        </p:txBody>
      </p:sp>
      <p:sp>
        <p:nvSpPr>
          <p:cNvPr id="28" name="Text 23">
            <a:extLst>
              <a:ext uri="{FF2B5EF4-FFF2-40B4-BE49-F238E27FC236}">
                <a16:creationId xmlns:a16="http://schemas.microsoft.com/office/drawing/2014/main" id="{F08EE2FC-E972-8029-FA06-7D328DF1ABF0}"/>
              </a:ext>
            </a:extLst>
          </p:cNvPr>
          <p:cNvSpPr txBox="1"/>
          <p:nvPr/>
        </p:nvSpPr>
        <p:spPr>
          <a:xfrm>
            <a:off x="571500" y="3072384"/>
            <a:ext cx="647761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Summarization Phase</a:t>
            </a:r>
            <a:endParaRPr lang="en-US" sz="3000" dirty="0"/>
          </a:p>
        </p:txBody>
      </p:sp>
      <p:sp>
        <p:nvSpPr>
          <p:cNvPr id="29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  <p:extLst>
      <p:ext uri="{BB962C8B-B14F-4D97-AF65-F5344CB8AC3E}">
        <p14:creationId xmlns:p14="http://schemas.microsoft.com/office/powerpoint/2010/main" val="39026486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3923E3C-5EAB-A4E2-ACDE-002B4E8F0454}"/>
              </a:ext>
            </a:extLst>
          </p:cNvPr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A69478B5-428F-FE44-F73C-100B0FFFCF03}"/>
              </a:ext>
            </a:extLst>
          </p:cNvPr>
          <p:cNvSpPr/>
          <p:nvPr/>
        </p:nvSpPr>
        <p:spPr>
          <a:xfrm flipV="1">
            <a:off x="3289357" y="1543891"/>
            <a:ext cx="3787705" cy="1575026"/>
          </a:xfrm>
          <a:prstGeom prst="rect">
            <a:avLst/>
          </a:prstGeom>
          <a:noFill/>
          <a:ln w="254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6769C44-14E4-CEA9-3B9A-F44F97F2F674}"/>
              </a:ext>
            </a:extLst>
          </p:cNvPr>
          <p:cNvSpPr/>
          <p:nvPr/>
        </p:nvSpPr>
        <p:spPr>
          <a:xfrm>
            <a:off x="638511" y="3669084"/>
            <a:ext cx="11077041" cy="45719"/>
          </a:xfrm>
          <a:prstGeom prst="rect">
            <a:avLst/>
          </a:prstGeom>
          <a:solidFill>
            <a:srgbClr val="33415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 sz="3600"/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2045811E-B937-4435-01BC-0C582D822729}"/>
              </a:ext>
            </a:extLst>
          </p:cNvPr>
          <p:cNvSpPr/>
          <p:nvPr/>
        </p:nvSpPr>
        <p:spPr>
          <a:xfrm>
            <a:off x="3257353" y="2849340"/>
            <a:ext cx="114300" cy="95098"/>
          </a:xfrm>
          <a:prstGeom prst="rect">
            <a:avLst/>
          </a:prstGeom>
          <a:noFill/>
          <a:ln w="762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>
            <a:extLst>
              <a:ext uri="{FF2B5EF4-FFF2-40B4-BE49-F238E27FC236}">
                <a16:creationId xmlns:a16="http://schemas.microsoft.com/office/drawing/2014/main" id="{3FA7C74C-26DB-4F15-862C-DF4C5434BC7D}"/>
              </a:ext>
            </a:extLst>
          </p:cNvPr>
          <p:cNvSpPr/>
          <p:nvPr/>
        </p:nvSpPr>
        <p:spPr>
          <a:xfrm>
            <a:off x="7991202" y="2896889"/>
            <a:ext cx="95098" cy="95098"/>
          </a:xfrm>
          <a:prstGeom prst="ellipse">
            <a:avLst/>
          </a:prstGeom>
          <a:solidFill>
            <a:srgbClr val="64748B">
              <a:alpha val="50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C72D6100-B340-382F-6495-84E65D983478}"/>
              </a:ext>
            </a:extLst>
          </p:cNvPr>
          <p:cNvSpPr txBox="1"/>
          <p:nvPr/>
        </p:nvSpPr>
        <p:spPr>
          <a:xfrm>
            <a:off x="4796841" y="1211008"/>
            <a:ext cx="2444912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chemeClr val="bg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 실패 시 재정의 (Iteration)</a:t>
            </a:r>
            <a:endParaRPr lang="en-US" sz="1400" dirty="0">
              <a:solidFill>
                <a:schemeClr val="bg1"/>
              </a:solidFill>
            </a:endParaRP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552DF3CC-CE17-189F-C9F2-2F380BF9D699}"/>
              </a:ext>
            </a:extLst>
          </p:cNvPr>
          <p:cNvSpPr/>
          <p:nvPr/>
        </p:nvSpPr>
        <p:spPr>
          <a:xfrm>
            <a:off x="666597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CA6BE993-3361-746A-CC2C-B91E97379417}"/>
              </a:ext>
            </a:extLst>
          </p:cNvPr>
          <p:cNvSpPr txBox="1"/>
          <p:nvPr/>
        </p:nvSpPr>
        <p:spPr>
          <a:xfrm>
            <a:off x="790956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아이스브레이크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320BDEC0-43D5-E64A-1F5F-8735A3159BBF}"/>
              </a:ext>
            </a:extLst>
          </p:cNvPr>
          <p:cNvSpPr txBox="1"/>
          <p:nvPr/>
        </p:nvSpPr>
        <p:spPr>
          <a:xfrm>
            <a:off x="790956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icebreak</a:t>
            </a:r>
            <a:endParaRPr lang="en-US" sz="120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B9BD5E54-C0FA-A9F9-DDBB-16B1FA787C91}"/>
              </a:ext>
            </a:extLst>
          </p:cNvPr>
          <p:cNvSpPr txBox="1"/>
          <p:nvPr/>
        </p:nvSpPr>
        <p:spPr>
          <a:xfrm>
            <a:off x="790956" y="4727448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닉네임 정하기</a:t>
            </a:r>
            <a:endParaRPr lang="en-US" sz="12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C252BFC5-4F8B-A029-FCFC-0F6F4F24CC6A}"/>
              </a:ext>
            </a:extLst>
          </p:cNvPr>
          <p:cNvSpPr txBox="1"/>
          <p:nvPr/>
        </p:nvSpPr>
        <p:spPr>
          <a:xfrm>
            <a:off x="790955" y="4912157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얼굴 그리기</a:t>
            </a:r>
            <a:endParaRPr lang="en-US" sz="12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FD49C239-B1FC-067C-286B-11ED574F183E}"/>
              </a:ext>
            </a:extLst>
          </p:cNvPr>
          <p:cNvSpPr txBox="1"/>
          <p:nvPr/>
        </p:nvSpPr>
        <p:spPr>
          <a:xfrm>
            <a:off x="790956" y="5182819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EBE91463-517D-EFC4-F798-E6DBEE2CF632}"/>
              </a:ext>
            </a:extLst>
          </p:cNvPr>
          <p:cNvSpPr txBox="1"/>
          <p:nvPr/>
        </p:nvSpPr>
        <p:spPr>
          <a:xfrm>
            <a:off x="790956" y="5369357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12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A946F917-D028-3389-99E9-B98A7746D6CE}"/>
              </a:ext>
            </a:extLst>
          </p:cNvPr>
          <p:cNvSpPr txBox="1"/>
          <p:nvPr/>
        </p:nvSpPr>
        <p:spPr>
          <a:xfrm>
            <a:off x="790956" y="5574182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관찰/설문조사/인터뷰</a:t>
            </a:r>
            <a:endParaRPr lang="en-US" sz="12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D7ED2213-7FED-C4C1-9629-45B74964E08A}"/>
              </a:ext>
            </a:extLst>
          </p:cNvPr>
          <p:cNvSpPr txBox="1"/>
          <p:nvPr/>
        </p:nvSpPr>
        <p:spPr>
          <a:xfrm>
            <a:off x="790956" y="5785802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롤플레잉게임</a:t>
            </a:r>
            <a:endParaRPr lang="en-US" sz="1200" dirty="0"/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2AF7D1F3-BC91-4B06-3020-608B5F03C091}"/>
              </a:ext>
            </a:extLst>
          </p:cNvPr>
          <p:cNvSpPr txBox="1"/>
          <p:nvPr/>
        </p:nvSpPr>
        <p:spPr>
          <a:xfrm>
            <a:off x="790956" y="5987451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벤치마킹</a:t>
            </a:r>
            <a:endParaRPr lang="en-US" sz="1200" dirty="0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219B5EBA-576C-3599-08AC-19AA23965363}"/>
              </a:ext>
            </a:extLst>
          </p:cNvPr>
          <p:cNvSpPr txBox="1"/>
          <p:nvPr/>
        </p:nvSpPr>
        <p:spPr>
          <a:xfrm>
            <a:off x="790955" y="6204514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SWOT분석</a:t>
            </a:r>
            <a:endParaRPr lang="en-US" sz="1200" dirty="0"/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AAAE194E-5786-92CE-0DB7-6F3C73D88B53}"/>
              </a:ext>
            </a:extLst>
          </p:cNvPr>
          <p:cNvSpPr/>
          <p:nvPr/>
        </p:nvSpPr>
        <p:spPr>
          <a:xfrm>
            <a:off x="2572206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8B196BC5-D7BE-1E7C-AE0D-79B9638E3831}"/>
              </a:ext>
            </a:extLst>
          </p:cNvPr>
          <p:cNvSpPr txBox="1"/>
          <p:nvPr/>
        </p:nvSpPr>
        <p:spPr>
          <a:xfrm>
            <a:off x="2695651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방향성 정의</a:t>
            </a:r>
            <a:endParaRPr lang="en-US" sz="140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E15AF422-7CE8-A8FB-61AD-504AD19AB45F}"/>
              </a:ext>
            </a:extLst>
          </p:cNvPr>
          <p:cNvSpPr txBox="1"/>
          <p:nvPr/>
        </p:nvSpPr>
        <p:spPr>
          <a:xfrm>
            <a:off x="2695651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 project</a:t>
            </a:r>
            <a:endParaRPr lang="en-US" sz="12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ABAA1D5-5337-4883-F36B-B11A408FA943}"/>
              </a:ext>
            </a:extLst>
          </p:cNvPr>
          <p:cNvSpPr txBox="1"/>
          <p:nvPr/>
        </p:nvSpPr>
        <p:spPr>
          <a:xfrm>
            <a:off x="2695651" y="4727448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프로젝트브리프 작성</a:t>
            </a:r>
            <a:endParaRPr lang="en-US" sz="12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E5CA2BB-EECC-A11C-8852-59A1E81261D9}"/>
              </a:ext>
            </a:extLst>
          </p:cNvPr>
          <p:cNvSpPr txBox="1"/>
          <p:nvPr/>
        </p:nvSpPr>
        <p:spPr>
          <a:xfrm>
            <a:off x="2695651" y="4912157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차별화 전략 수립</a:t>
            </a:r>
            <a:endParaRPr lang="en-US" sz="12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2739289E-E9BF-396F-6DB5-710EE5D1EAE7}"/>
              </a:ext>
            </a:extLst>
          </p:cNvPr>
          <p:cNvSpPr txBox="1"/>
          <p:nvPr/>
        </p:nvSpPr>
        <p:spPr>
          <a:xfrm>
            <a:off x="2695651" y="5182819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정의</a:t>
            </a:r>
            <a:endParaRPr lang="en-US" sz="1400" dirty="0"/>
          </a:p>
        </p:txBody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C9E02548-5897-4DD6-B622-801CA1A19FD5}"/>
              </a:ext>
            </a:extLst>
          </p:cNvPr>
          <p:cNvSpPr txBox="1"/>
          <p:nvPr/>
        </p:nvSpPr>
        <p:spPr>
          <a:xfrm>
            <a:off x="2695651" y="5369357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 user</a:t>
            </a:r>
            <a:endParaRPr lang="en-US" sz="1200" dirty="0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62313CF3-9ABF-F57D-CDC7-B2B492B3D289}"/>
              </a:ext>
            </a:extLst>
          </p:cNvPr>
          <p:cNvSpPr txBox="1"/>
          <p:nvPr/>
        </p:nvSpPr>
        <p:spPr>
          <a:xfrm>
            <a:off x="2695651" y="5574182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요구사항 정의</a:t>
            </a:r>
            <a:endParaRPr lang="en-US" sz="12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1800552B-86B9-52CD-FB07-DE8AA67F5653}"/>
              </a:ext>
            </a:extLst>
          </p:cNvPr>
          <p:cNvSpPr txBox="1"/>
          <p:nvPr/>
        </p:nvSpPr>
        <p:spPr>
          <a:xfrm>
            <a:off x="2695651" y="5720486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페르소나 정의</a:t>
            </a:r>
            <a:endParaRPr lang="en-US" sz="1200" dirty="0"/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FF562916-2BE5-6D16-FF35-5982FC0E9767}"/>
              </a:ext>
            </a:extLst>
          </p:cNvPr>
          <p:cNvSpPr/>
          <p:nvPr/>
        </p:nvSpPr>
        <p:spPr>
          <a:xfrm>
            <a:off x="4476901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2AFE92D-6EE0-0D70-0B39-1BABF7A232C6}"/>
              </a:ext>
            </a:extLst>
          </p:cNvPr>
          <p:cNvSpPr txBox="1"/>
          <p:nvPr/>
        </p:nvSpPr>
        <p:spPr>
          <a:xfrm>
            <a:off x="4600346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브레인스토밍</a:t>
            </a:r>
            <a:endParaRPr lang="en-US" sz="14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A4BBE4FA-0FD9-035D-3EF6-DD11699F9E47}"/>
              </a:ext>
            </a:extLst>
          </p:cNvPr>
          <p:cNvSpPr txBox="1"/>
          <p:nvPr/>
        </p:nvSpPr>
        <p:spPr>
          <a:xfrm>
            <a:off x="4606922" y="4435440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brainstorming</a:t>
            </a:r>
            <a:endParaRPr lang="en-US" sz="12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024C0C38-B525-8566-8690-15901D301E31}"/>
              </a:ext>
            </a:extLst>
          </p:cNvPr>
          <p:cNvSpPr txBox="1"/>
          <p:nvPr/>
        </p:nvSpPr>
        <p:spPr>
          <a:xfrm>
            <a:off x="4600346" y="4727448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마인드맵</a:t>
            </a:r>
            <a:endParaRPr lang="en-US" sz="120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E69DEF6E-D573-BAC2-A3ED-8ED4A7779982}"/>
              </a:ext>
            </a:extLst>
          </p:cNvPr>
          <p:cNvSpPr txBox="1"/>
          <p:nvPr/>
        </p:nvSpPr>
        <p:spPr>
          <a:xfrm>
            <a:off x="4600346" y="4912157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포스트업</a:t>
            </a:r>
            <a:endParaRPr lang="en-US" sz="12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390290E8-07F4-9111-3AA8-20C957E4A88D}"/>
              </a:ext>
            </a:extLst>
          </p:cNvPr>
          <p:cNvSpPr txBox="1"/>
          <p:nvPr/>
        </p:nvSpPr>
        <p:spPr>
          <a:xfrm>
            <a:off x="4600346" y="5096866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브레인라이팅</a:t>
            </a:r>
            <a:endParaRPr lang="en-US" sz="12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5EDB492D-2CD5-9E8A-38A5-D0E8B94BA2F7}"/>
              </a:ext>
            </a:extLst>
          </p:cNvPr>
          <p:cNvSpPr txBox="1"/>
          <p:nvPr/>
        </p:nvSpPr>
        <p:spPr>
          <a:xfrm>
            <a:off x="4600346" y="5367528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시각화</a:t>
            </a:r>
            <a:endParaRPr lang="en-US" sz="140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3F373A78-98CF-0D2D-C706-892893348A94}"/>
              </a:ext>
            </a:extLst>
          </p:cNvPr>
          <p:cNvSpPr txBox="1"/>
          <p:nvPr/>
        </p:nvSpPr>
        <p:spPr>
          <a:xfrm>
            <a:off x="4600346" y="5554066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visualize idea</a:t>
            </a:r>
            <a:endParaRPr lang="en-US" sz="12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DAB2E5D0-8FCD-B028-6921-1BF417DB301C}"/>
              </a:ext>
            </a:extLst>
          </p:cNvPr>
          <p:cNvSpPr txBox="1"/>
          <p:nvPr/>
        </p:nvSpPr>
        <p:spPr>
          <a:xfrm>
            <a:off x="4600345" y="5758891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사용자 시나리오</a:t>
            </a:r>
            <a:endParaRPr lang="en-US" sz="12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1087AB5B-BD7B-4C13-AC8D-111027DE75B5}"/>
              </a:ext>
            </a:extLst>
          </p:cNvPr>
          <p:cNvSpPr txBox="1"/>
          <p:nvPr/>
        </p:nvSpPr>
        <p:spPr>
          <a:xfrm>
            <a:off x="4600346" y="5975954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정보구조도/스토리보드</a:t>
            </a:r>
            <a:endParaRPr lang="en-US" sz="1200" dirty="0"/>
          </a:p>
        </p:txBody>
      </p:sp>
      <p:sp>
        <p:nvSpPr>
          <p:cNvPr id="42" name="Text 40">
            <a:extLst>
              <a:ext uri="{FF2B5EF4-FFF2-40B4-BE49-F238E27FC236}">
                <a16:creationId xmlns:a16="http://schemas.microsoft.com/office/drawing/2014/main" id="{33F55451-AB3B-0AD1-A0F7-15497479A026}"/>
              </a:ext>
            </a:extLst>
          </p:cNvPr>
          <p:cNvSpPr txBox="1"/>
          <p:nvPr/>
        </p:nvSpPr>
        <p:spPr>
          <a:xfrm>
            <a:off x="4600346" y="6183046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 방향성</a:t>
            </a:r>
            <a:endParaRPr lang="en-US" sz="1200" dirty="0"/>
          </a:p>
        </p:txBody>
      </p:sp>
      <p:sp>
        <p:nvSpPr>
          <p:cNvPr id="43" name="Shape 41">
            <a:extLst>
              <a:ext uri="{FF2B5EF4-FFF2-40B4-BE49-F238E27FC236}">
                <a16:creationId xmlns:a16="http://schemas.microsoft.com/office/drawing/2014/main" id="{BCE662F5-1C4C-89D3-D25D-AB4A2B932FE0}"/>
              </a:ext>
            </a:extLst>
          </p:cNvPr>
          <p:cNvSpPr/>
          <p:nvPr/>
        </p:nvSpPr>
        <p:spPr>
          <a:xfrm>
            <a:off x="6381597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C74CEB4-BF5F-FDED-1E7B-AF7FEA0729C3}"/>
              </a:ext>
            </a:extLst>
          </p:cNvPr>
          <p:cNvSpPr txBox="1"/>
          <p:nvPr/>
        </p:nvSpPr>
        <p:spPr>
          <a:xfrm>
            <a:off x="6505956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프로토타이핑</a:t>
            </a:r>
            <a:endParaRPr lang="en-US" sz="14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F28C6F93-E85A-0196-03F4-1E0452BC0213}"/>
              </a:ext>
            </a:extLst>
          </p:cNvPr>
          <p:cNvSpPr txBox="1"/>
          <p:nvPr/>
        </p:nvSpPr>
        <p:spPr>
          <a:xfrm>
            <a:off x="6505956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prototyping</a:t>
            </a:r>
            <a:endParaRPr lang="en-US" sz="1200" dirty="0"/>
          </a:p>
        </p:txBody>
      </p:sp>
      <p:sp>
        <p:nvSpPr>
          <p:cNvPr id="46" name="Text 44">
            <a:extLst>
              <a:ext uri="{FF2B5EF4-FFF2-40B4-BE49-F238E27FC236}">
                <a16:creationId xmlns:a16="http://schemas.microsoft.com/office/drawing/2014/main" id="{96571E44-EDFE-B9EB-865D-EE259324304D}"/>
              </a:ext>
            </a:extLst>
          </p:cNvPr>
          <p:cNvSpPr txBox="1"/>
          <p:nvPr/>
        </p:nvSpPr>
        <p:spPr>
          <a:xfrm>
            <a:off x="6505956" y="4727448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레고 실습</a:t>
            </a:r>
            <a:endParaRPr lang="en-US" sz="1200" dirty="0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87ABECB4-1673-E4DA-3BE4-BB512EEC71D6}"/>
              </a:ext>
            </a:extLst>
          </p:cNvPr>
          <p:cNvSpPr txBox="1"/>
          <p:nvPr/>
        </p:nvSpPr>
        <p:spPr>
          <a:xfrm>
            <a:off x="6505956" y="4912157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시안 제작</a:t>
            </a:r>
            <a:endParaRPr lang="en-US" sz="12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A5B08839-1FB2-E857-BFDB-02E9CDC9E042}"/>
              </a:ext>
            </a:extLst>
          </p:cNvPr>
          <p:cNvSpPr txBox="1"/>
          <p:nvPr/>
        </p:nvSpPr>
        <p:spPr>
          <a:xfrm>
            <a:off x="6505955" y="5096866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목업 (Mock-up)</a:t>
            </a:r>
            <a:endParaRPr lang="en-US" sz="1200" dirty="0"/>
          </a:p>
        </p:txBody>
      </p:sp>
      <p:sp>
        <p:nvSpPr>
          <p:cNvPr id="49" name="Shape 47">
            <a:extLst>
              <a:ext uri="{FF2B5EF4-FFF2-40B4-BE49-F238E27FC236}">
                <a16:creationId xmlns:a16="http://schemas.microsoft.com/office/drawing/2014/main" id="{67D9A9C0-554F-68C4-D0A6-8A8B3C832E3F}"/>
              </a:ext>
            </a:extLst>
          </p:cNvPr>
          <p:cNvSpPr/>
          <p:nvPr/>
        </p:nvSpPr>
        <p:spPr>
          <a:xfrm>
            <a:off x="8287206" y="4259274"/>
            <a:ext cx="45719" cy="2215473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>
                <a:alpha val="0"/>
              </a:srgbClr>
            </a:solidFill>
            <a:prstDash val="solid"/>
          </a:ln>
        </p:spPr>
        <p:txBody>
          <a:bodyPr/>
          <a:lstStyle/>
          <a:p>
            <a:pPr>
              <a:lnSpc>
                <a:spcPct val="150000"/>
              </a:lnSpc>
            </a:pPr>
            <a:endParaRPr lang="ko-KR" altLang="en-US" sz="360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B85AABD2-7D64-141E-6BB4-88B13EB8C37D}"/>
              </a:ext>
            </a:extLst>
          </p:cNvPr>
          <p:cNvSpPr txBox="1"/>
          <p:nvPr/>
        </p:nvSpPr>
        <p:spPr>
          <a:xfrm>
            <a:off x="8410651" y="4259275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400" b="1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사용성 테스트</a:t>
            </a:r>
            <a:endParaRPr lang="en-US" sz="140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B2E65897-6792-D44E-7BEC-F6733B972ABD}"/>
              </a:ext>
            </a:extLst>
          </p:cNvPr>
          <p:cNvSpPr txBox="1"/>
          <p:nvPr/>
        </p:nvSpPr>
        <p:spPr>
          <a:xfrm>
            <a:off x="8410651" y="4484218"/>
            <a:ext cx="1642001" cy="1847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i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usability test</a:t>
            </a:r>
            <a:endParaRPr lang="en-US" sz="120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5CAD01F6-E138-4C5A-C391-D052945ABD0C}"/>
              </a:ext>
            </a:extLst>
          </p:cNvPr>
          <p:cNvSpPr txBox="1"/>
          <p:nvPr/>
        </p:nvSpPr>
        <p:spPr>
          <a:xfrm>
            <a:off x="8410650" y="4727448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사용대상자 선정</a:t>
            </a:r>
            <a:endParaRPr lang="en-US" sz="120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46737E89-A1C7-532B-36BA-3A308C64F524}"/>
              </a:ext>
            </a:extLst>
          </p:cNvPr>
          <p:cNvSpPr txBox="1"/>
          <p:nvPr/>
        </p:nvSpPr>
        <p:spPr>
          <a:xfrm>
            <a:off x="8410651" y="4912157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사용형태 관찰</a:t>
            </a:r>
            <a:endParaRPr lang="en-US" sz="1200" dirty="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CED0F69F-AB44-9265-E9B1-D3B9751414A0}"/>
              </a:ext>
            </a:extLst>
          </p:cNvPr>
          <p:cNvSpPr txBox="1"/>
          <p:nvPr/>
        </p:nvSpPr>
        <p:spPr>
          <a:xfrm>
            <a:off x="8410650" y="5096866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사용경험 인터뷰</a:t>
            </a:r>
            <a:endParaRPr lang="en-US" sz="1200" dirty="0"/>
          </a:p>
        </p:txBody>
      </p:sp>
      <p:sp>
        <p:nvSpPr>
          <p:cNvPr id="55" name="Text 53">
            <a:extLst>
              <a:ext uri="{FF2B5EF4-FFF2-40B4-BE49-F238E27FC236}">
                <a16:creationId xmlns:a16="http://schemas.microsoft.com/office/drawing/2014/main" id="{98825FE7-242E-5386-4A76-B70BFE9F5509}"/>
              </a:ext>
            </a:extLst>
          </p:cNvPr>
          <p:cNvSpPr txBox="1"/>
          <p:nvPr/>
        </p:nvSpPr>
        <p:spPr>
          <a:xfrm>
            <a:off x="8410651" y="5281574"/>
            <a:ext cx="1667676" cy="1732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50000"/>
              </a:lnSpc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피드백 수집 및 분석</a:t>
            </a:r>
            <a:endParaRPr lang="en-US" sz="1200" dirty="0"/>
          </a:p>
        </p:txBody>
      </p:sp>
      <p:sp>
        <p:nvSpPr>
          <p:cNvPr id="56" name="Shape 54">
            <a:extLst>
              <a:ext uri="{FF2B5EF4-FFF2-40B4-BE49-F238E27FC236}">
                <a16:creationId xmlns:a16="http://schemas.microsoft.com/office/drawing/2014/main" id="{31ADB2FC-F8B2-3AC6-4DC4-2E8CD0B56B16}"/>
              </a:ext>
            </a:extLst>
          </p:cNvPr>
          <p:cNvSpPr/>
          <p:nvPr/>
        </p:nvSpPr>
        <p:spPr>
          <a:xfrm>
            <a:off x="571500" y="933602"/>
            <a:ext cx="11048695" cy="19202"/>
          </a:xfrm>
          <a:prstGeom prst="rect">
            <a:avLst/>
          </a:prstGeom>
          <a:solidFill>
            <a:srgbClr val="1E293B"/>
          </a:solidFill>
          <a:ln w="12700">
            <a:solidFill>
              <a:srgbClr val="1E293B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6E96E499-6A1A-96BB-44B6-A691678CAE1E}"/>
              </a:ext>
            </a:extLst>
          </p:cNvPr>
          <p:cNvSpPr txBox="1"/>
          <p:nvPr/>
        </p:nvSpPr>
        <p:spPr>
          <a:xfrm>
            <a:off x="571500" y="283464"/>
            <a:ext cx="355335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75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Design Thinking Process</a:t>
            </a:r>
            <a:endParaRPr lang="en-US" sz="1050" dirty="0"/>
          </a:p>
        </p:txBody>
      </p:sp>
      <p:sp>
        <p:nvSpPr>
          <p:cNvPr id="58" name="Text 56">
            <a:extLst>
              <a:ext uri="{FF2B5EF4-FFF2-40B4-BE49-F238E27FC236}">
                <a16:creationId xmlns:a16="http://schemas.microsoft.com/office/drawing/2014/main" id="{A2AEB1D1-21F9-E418-942C-774FFBA44CB2}"/>
              </a:ext>
            </a:extLst>
          </p:cNvPr>
          <p:cNvSpPr txBox="1"/>
          <p:nvPr/>
        </p:nvSpPr>
        <p:spPr>
          <a:xfrm>
            <a:off x="571500" y="579140"/>
            <a:ext cx="408371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디자인씽킹 6단계 프로세스</a:t>
            </a:r>
            <a:endParaRPr lang="en-US" sz="2800" dirty="0"/>
          </a:p>
        </p:txBody>
      </p:sp>
      <p:sp>
        <p:nvSpPr>
          <p:cNvPr id="60" name="Shape 58">
            <a:extLst>
              <a:ext uri="{FF2B5EF4-FFF2-40B4-BE49-F238E27FC236}">
                <a16:creationId xmlns:a16="http://schemas.microsoft.com/office/drawing/2014/main" id="{5122229D-702B-A16C-BDE4-86960E5477CF}"/>
              </a:ext>
            </a:extLst>
          </p:cNvPr>
          <p:cNvSpPr/>
          <p:nvPr/>
        </p:nvSpPr>
        <p:spPr>
          <a:xfrm>
            <a:off x="771099" y="1706340"/>
            <a:ext cx="1143000" cy="1143000"/>
          </a:xfrm>
          <a:prstGeom prst="ellipse">
            <a:avLst/>
          </a:prstGeom>
          <a:solidFill>
            <a:srgbClr val="FCA5A5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6208A217-6E9C-E3EF-6BF1-8C1FE19B9C7F}"/>
              </a:ext>
            </a:extLst>
          </p:cNvPr>
          <p:cNvSpPr txBox="1"/>
          <p:nvPr/>
        </p:nvSpPr>
        <p:spPr>
          <a:xfrm>
            <a:off x="1203610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3600" dirty="0"/>
          </a:p>
        </p:txBody>
      </p:sp>
      <p:sp>
        <p:nvSpPr>
          <p:cNvPr id="62" name="Shape 60">
            <a:extLst>
              <a:ext uri="{FF2B5EF4-FFF2-40B4-BE49-F238E27FC236}">
                <a16:creationId xmlns:a16="http://schemas.microsoft.com/office/drawing/2014/main" id="{B38CE883-34C0-6A52-EF3E-133E9A1B06C2}"/>
              </a:ext>
            </a:extLst>
          </p:cNvPr>
          <p:cNvSpPr/>
          <p:nvPr/>
        </p:nvSpPr>
        <p:spPr>
          <a:xfrm>
            <a:off x="676002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3" name="Shape 61">
            <a:extLst>
              <a:ext uri="{FF2B5EF4-FFF2-40B4-BE49-F238E27FC236}">
                <a16:creationId xmlns:a16="http://schemas.microsoft.com/office/drawing/2014/main" id="{E7ACCB4F-7837-CB32-4A38-D5F3B6E84741}"/>
              </a:ext>
            </a:extLst>
          </p:cNvPr>
          <p:cNvSpPr/>
          <p:nvPr/>
        </p:nvSpPr>
        <p:spPr>
          <a:xfrm>
            <a:off x="676002" y="2944438"/>
            <a:ext cx="1333195" cy="38405"/>
          </a:xfrm>
          <a:prstGeom prst="rect">
            <a:avLst/>
          </a:prstGeom>
          <a:solidFill>
            <a:srgbClr val="FCA5A5"/>
          </a:solidFill>
          <a:ln w="12700">
            <a:solidFill>
              <a:srgbClr val="FCA5A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64" name="Text 62">
            <a:extLst>
              <a:ext uri="{FF2B5EF4-FFF2-40B4-BE49-F238E27FC236}">
                <a16:creationId xmlns:a16="http://schemas.microsoft.com/office/drawing/2014/main" id="{50A7ED1F-6BD5-7C0A-6EE2-457B4E261AFF}"/>
              </a:ext>
            </a:extLst>
          </p:cNvPr>
          <p:cNvSpPr txBox="1"/>
          <p:nvPr/>
        </p:nvSpPr>
        <p:spPr>
          <a:xfrm>
            <a:off x="622966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공감</a:t>
            </a:r>
            <a:endParaRPr lang="en-US" sz="1200" dirty="0"/>
          </a:p>
        </p:txBody>
      </p:sp>
      <p:sp>
        <p:nvSpPr>
          <p:cNvPr id="65" name="Text 63">
            <a:extLst>
              <a:ext uri="{FF2B5EF4-FFF2-40B4-BE49-F238E27FC236}">
                <a16:creationId xmlns:a16="http://schemas.microsoft.com/office/drawing/2014/main" id="{523CFCDF-9898-3E7B-A830-E94E7587F2C9}"/>
              </a:ext>
            </a:extLst>
          </p:cNvPr>
          <p:cNvSpPr txBox="1"/>
          <p:nvPr/>
        </p:nvSpPr>
        <p:spPr>
          <a:xfrm>
            <a:off x="638511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Empathize</a:t>
            </a:r>
            <a:endParaRPr lang="en-US" sz="900" dirty="0"/>
          </a:p>
        </p:txBody>
      </p:sp>
      <p:pic>
        <p:nvPicPr>
          <p:cNvPr id="66" name="Image 0" descr="preencoded.png">
            <a:extLst>
              <a:ext uri="{FF2B5EF4-FFF2-40B4-BE49-F238E27FC236}">
                <a16:creationId xmlns:a16="http://schemas.microsoft.com/office/drawing/2014/main" id="{9B567FE5-538B-A0DE-2FF0-4A1B14877F5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2171960" y="2531129"/>
            <a:ext cx="75895" cy="152705"/>
          </a:xfrm>
          <a:prstGeom prst="rect">
            <a:avLst/>
          </a:prstGeom>
        </p:spPr>
      </p:pic>
      <p:sp>
        <p:nvSpPr>
          <p:cNvPr id="67" name="Shape 64">
            <a:extLst>
              <a:ext uri="{FF2B5EF4-FFF2-40B4-BE49-F238E27FC236}">
                <a16:creationId xmlns:a16="http://schemas.microsoft.com/office/drawing/2014/main" id="{9910BBBB-B02E-9372-D2AB-1AB00EE31289}"/>
              </a:ext>
            </a:extLst>
          </p:cNvPr>
          <p:cNvSpPr/>
          <p:nvPr/>
        </p:nvSpPr>
        <p:spPr>
          <a:xfrm>
            <a:off x="2676709" y="1706340"/>
            <a:ext cx="1143000" cy="1143000"/>
          </a:xfrm>
          <a:prstGeom prst="ellipse">
            <a:avLst/>
          </a:prstGeom>
          <a:solidFill>
            <a:srgbClr val="F87171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18B556DF-D3FE-B49A-ADB4-9E535445B2EA}"/>
              </a:ext>
            </a:extLst>
          </p:cNvPr>
          <p:cNvSpPr txBox="1"/>
          <p:nvPr/>
        </p:nvSpPr>
        <p:spPr>
          <a:xfrm>
            <a:off x="3108306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3600" dirty="0"/>
          </a:p>
        </p:txBody>
      </p:sp>
      <p:sp>
        <p:nvSpPr>
          <p:cNvPr id="69" name="Shape 66">
            <a:extLst>
              <a:ext uri="{FF2B5EF4-FFF2-40B4-BE49-F238E27FC236}">
                <a16:creationId xmlns:a16="http://schemas.microsoft.com/office/drawing/2014/main" id="{BF6BA1C0-BF97-4ACF-0656-5E1CAAA027A5}"/>
              </a:ext>
            </a:extLst>
          </p:cNvPr>
          <p:cNvSpPr/>
          <p:nvPr/>
        </p:nvSpPr>
        <p:spPr>
          <a:xfrm>
            <a:off x="2581611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0" name="Shape 67">
            <a:extLst>
              <a:ext uri="{FF2B5EF4-FFF2-40B4-BE49-F238E27FC236}">
                <a16:creationId xmlns:a16="http://schemas.microsoft.com/office/drawing/2014/main" id="{FE8BC8DF-B21F-FB59-200E-0D5E9C759CF2}"/>
              </a:ext>
            </a:extLst>
          </p:cNvPr>
          <p:cNvSpPr/>
          <p:nvPr/>
        </p:nvSpPr>
        <p:spPr>
          <a:xfrm>
            <a:off x="2581611" y="2944438"/>
            <a:ext cx="1333195" cy="38405"/>
          </a:xfrm>
          <a:prstGeom prst="rect">
            <a:avLst/>
          </a:prstGeom>
          <a:solidFill>
            <a:srgbClr val="F87171"/>
          </a:solidFill>
          <a:ln w="12700">
            <a:solidFill>
              <a:srgbClr val="F87171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1" name="Text 68">
            <a:extLst>
              <a:ext uri="{FF2B5EF4-FFF2-40B4-BE49-F238E27FC236}">
                <a16:creationId xmlns:a16="http://schemas.microsoft.com/office/drawing/2014/main" id="{5088EDEA-7510-15D8-5F28-75C7A6057541}"/>
              </a:ext>
            </a:extLst>
          </p:cNvPr>
          <p:cNvSpPr txBox="1"/>
          <p:nvPr/>
        </p:nvSpPr>
        <p:spPr>
          <a:xfrm>
            <a:off x="2527662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정의</a:t>
            </a:r>
            <a:endParaRPr lang="en-US" sz="1200" dirty="0"/>
          </a:p>
        </p:txBody>
      </p:sp>
      <p:sp>
        <p:nvSpPr>
          <p:cNvPr id="72" name="Text 69">
            <a:extLst>
              <a:ext uri="{FF2B5EF4-FFF2-40B4-BE49-F238E27FC236}">
                <a16:creationId xmlns:a16="http://schemas.microsoft.com/office/drawing/2014/main" id="{C3F4315D-6313-F2BA-0040-9018AD687032}"/>
              </a:ext>
            </a:extLst>
          </p:cNvPr>
          <p:cNvSpPr txBox="1"/>
          <p:nvPr/>
        </p:nvSpPr>
        <p:spPr>
          <a:xfrm>
            <a:off x="2543206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Define</a:t>
            </a:r>
            <a:endParaRPr lang="en-US" sz="900" dirty="0"/>
          </a:p>
        </p:txBody>
      </p:sp>
      <p:pic>
        <p:nvPicPr>
          <p:cNvPr id="73" name="Image 1" descr="preencoded.png">
            <a:extLst>
              <a:ext uri="{FF2B5EF4-FFF2-40B4-BE49-F238E27FC236}">
                <a16:creationId xmlns:a16="http://schemas.microsoft.com/office/drawing/2014/main" id="{EA5FC857-97BC-F2DA-5DF6-068A42D210B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4076655" y="2531129"/>
            <a:ext cx="75895" cy="152705"/>
          </a:xfrm>
          <a:prstGeom prst="rect">
            <a:avLst/>
          </a:prstGeom>
        </p:spPr>
      </p:pic>
      <p:sp>
        <p:nvSpPr>
          <p:cNvPr id="74" name="Shape 70">
            <a:extLst>
              <a:ext uri="{FF2B5EF4-FFF2-40B4-BE49-F238E27FC236}">
                <a16:creationId xmlns:a16="http://schemas.microsoft.com/office/drawing/2014/main" id="{EB45CC6B-3563-C17B-4A86-DDA7D691A891}"/>
              </a:ext>
            </a:extLst>
          </p:cNvPr>
          <p:cNvSpPr/>
          <p:nvPr/>
        </p:nvSpPr>
        <p:spPr>
          <a:xfrm>
            <a:off x="4581404" y="1706340"/>
            <a:ext cx="1143000" cy="1143000"/>
          </a:xfrm>
          <a:prstGeom prst="ellipse">
            <a:avLst/>
          </a:prstGeom>
          <a:solidFill>
            <a:srgbClr val="F472B6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5" name="Text 71">
            <a:extLst>
              <a:ext uri="{FF2B5EF4-FFF2-40B4-BE49-F238E27FC236}">
                <a16:creationId xmlns:a16="http://schemas.microsoft.com/office/drawing/2014/main" id="{830E3762-5634-1DE5-F1CE-70C58C54E0D7}"/>
              </a:ext>
            </a:extLst>
          </p:cNvPr>
          <p:cNvSpPr txBox="1"/>
          <p:nvPr/>
        </p:nvSpPr>
        <p:spPr>
          <a:xfrm>
            <a:off x="5013915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3600" dirty="0"/>
          </a:p>
        </p:txBody>
      </p:sp>
      <p:sp>
        <p:nvSpPr>
          <p:cNvPr id="76" name="Shape 72">
            <a:extLst>
              <a:ext uri="{FF2B5EF4-FFF2-40B4-BE49-F238E27FC236}">
                <a16:creationId xmlns:a16="http://schemas.microsoft.com/office/drawing/2014/main" id="{F6327935-7098-5236-9524-057B533001F0}"/>
              </a:ext>
            </a:extLst>
          </p:cNvPr>
          <p:cNvSpPr/>
          <p:nvPr/>
        </p:nvSpPr>
        <p:spPr>
          <a:xfrm>
            <a:off x="4486306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77" name="Shape 73">
            <a:extLst>
              <a:ext uri="{FF2B5EF4-FFF2-40B4-BE49-F238E27FC236}">
                <a16:creationId xmlns:a16="http://schemas.microsoft.com/office/drawing/2014/main" id="{BDE5347B-EDFD-4416-8963-DA56EDF3527B}"/>
              </a:ext>
            </a:extLst>
          </p:cNvPr>
          <p:cNvSpPr/>
          <p:nvPr/>
        </p:nvSpPr>
        <p:spPr>
          <a:xfrm>
            <a:off x="4486306" y="2944438"/>
            <a:ext cx="1333195" cy="38405"/>
          </a:xfrm>
          <a:prstGeom prst="rect">
            <a:avLst/>
          </a:prstGeom>
          <a:solidFill>
            <a:srgbClr val="F472B6"/>
          </a:solidFill>
          <a:ln w="12700">
            <a:solidFill>
              <a:srgbClr val="F472B6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78" name="Text 74">
            <a:extLst>
              <a:ext uri="{FF2B5EF4-FFF2-40B4-BE49-F238E27FC236}">
                <a16:creationId xmlns:a16="http://schemas.microsoft.com/office/drawing/2014/main" id="{F0208CEC-AACD-DEAB-5610-8C75141A4903}"/>
              </a:ext>
            </a:extLst>
          </p:cNvPr>
          <p:cNvSpPr txBox="1"/>
          <p:nvPr/>
        </p:nvSpPr>
        <p:spPr>
          <a:xfrm>
            <a:off x="4432357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아이디어 도출</a:t>
            </a:r>
            <a:endParaRPr lang="en-US" sz="1200" dirty="0"/>
          </a:p>
        </p:txBody>
      </p:sp>
      <p:sp>
        <p:nvSpPr>
          <p:cNvPr id="79" name="Text 75">
            <a:extLst>
              <a:ext uri="{FF2B5EF4-FFF2-40B4-BE49-F238E27FC236}">
                <a16:creationId xmlns:a16="http://schemas.microsoft.com/office/drawing/2014/main" id="{E3890EEF-27AB-2500-8060-396717868B1C}"/>
              </a:ext>
            </a:extLst>
          </p:cNvPr>
          <p:cNvSpPr txBox="1"/>
          <p:nvPr/>
        </p:nvSpPr>
        <p:spPr>
          <a:xfrm>
            <a:off x="4447902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Ideate</a:t>
            </a:r>
            <a:endParaRPr lang="en-US" sz="900" dirty="0"/>
          </a:p>
        </p:txBody>
      </p:sp>
      <p:pic>
        <p:nvPicPr>
          <p:cNvPr id="80" name="Image 2" descr="preencoded.png">
            <a:extLst>
              <a:ext uri="{FF2B5EF4-FFF2-40B4-BE49-F238E27FC236}">
                <a16:creationId xmlns:a16="http://schemas.microsoft.com/office/drawing/2014/main" id="{6D7998A4-DC8A-7A53-792D-A077FD6308E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5981350" y="2531129"/>
            <a:ext cx="75895" cy="152705"/>
          </a:xfrm>
          <a:prstGeom prst="rect">
            <a:avLst/>
          </a:prstGeom>
        </p:spPr>
      </p:pic>
      <p:sp>
        <p:nvSpPr>
          <p:cNvPr id="81" name="Shape 76">
            <a:extLst>
              <a:ext uri="{FF2B5EF4-FFF2-40B4-BE49-F238E27FC236}">
                <a16:creationId xmlns:a16="http://schemas.microsoft.com/office/drawing/2014/main" id="{B4B313D0-CFA1-97A4-B3DB-35DCC3CF003A}"/>
              </a:ext>
            </a:extLst>
          </p:cNvPr>
          <p:cNvSpPr/>
          <p:nvPr/>
        </p:nvSpPr>
        <p:spPr>
          <a:xfrm>
            <a:off x="6486099" y="1706340"/>
            <a:ext cx="1143000" cy="1143000"/>
          </a:xfrm>
          <a:prstGeom prst="ellipse">
            <a:avLst/>
          </a:prstGeom>
          <a:solidFill>
            <a:srgbClr val="C084FC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2" name="Text 77">
            <a:extLst>
              <a:ext uri="{FF2B5EF4-FFF2-40B4-BE49-F238E27FC236}">
                <a16:creationId xmlns:a16="http://schemas.microsoft.com/office/drawing/2014/main" id="{791B2BB5-FE78-0871-350D-AF73C26AE04A}"/>
              </a:ext>
            </a:extLst>
          </p:cNvPr>
          <p:cNvSpPr txBox="1"/>
          <p:nvPr/>
        </p:nvSpPr>
        <p:spPr>
          <a:xfrm>
            <a:off x="6918610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</a:t>
            </a:r>
            <a:endParaRPr lang="en-US" sz="3600" dirty="0"/>
          </a:p>
        </p:txBody>
      </p:sp>
      <p:sp>
        <p:nvSpPr>
          <p:cNvPr id="83" name="Shape 78">
            <a:extLst>
              <a:ext uri="{FF2B5EF4-FFF2-40B4-BE49-F238E27FC236}">
                <a16:creationId xmlns:a16="http://schemas.microsoft.com/office/drawing/2014/main" id="{0A8E6099-74A9-A6CF-40FA-7E84E7A060B9}"/>
              </a:ext>
            </a:extLst>
          </p:cNvPr>
          <p:cNvSpPr/>
          <p:nvPr/>
        </p:nvSpPr>
        <p:spPr>
          <a:xfrm>
            <a:off x="6391002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4" name="Shape 79">
            <a:extLst>
              <a:ext uri="{FF2B5EF4-FFF2-40B4-BE49-F238E27FC236}">
                <a16:creationId xmlns:a16="http://schemas.microsoft.com/office/drawing/2014/main" id="{B000201B-8AC9-EC1A-9CA6-E9ED4CA996EB}"/>
              </a:ext>
            </a:extLst>
          </p:cNvPr>
          <p:cNvSpPr/>
          <p:nvPr/>
        </p:nvSpPr>
        <p:spPr>
          <a:xfrm>
            <a:off x="6391002" y="2944438"/>
            <a:ext cx="1333195" cy="38405"/>
          </a:xfrm>
          <a:prstGeom prst="rect">
            <a:avLst/>
          </a:prstGeom>
          <a:solidFill>
            <a:srgbClr val="C084FC"/>
          </a:solidFill>
          <a:ln w="12700">
            <a:solidFill>
              <a:srgbClr val="C084FC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5" name="Text 80">
            <a:extLst>
              <a:ext uri="{FF2B5EF4-FFF2-40B4-BE49-F238E27FC236}">
                <a16:creationId xmlns:a16="http://schemas.microsoft.com/office/drawing/2014/main" id="{8482D63E-C07A-53CA-585F-2E0C7B9FC990}"/>
              </a:ext>
            </a:extLst>
          </p:cNvPr>
          <p:cNvSpPr txBox="1"/>
          <p:nvPr/>
        </p:nvSpPr>
        <p:spPr>
          <a:xfrm>
            <a:off x="6337966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시제품 제작</a:t>
            </a:r>
            <a:endParaRPr lang="en-US" sz="1200" dirty="0"/>
          </a:p>
        </p:txBody>
      </p:sp>
      <p:sp>
        <p:nvSpPr>
          <p:cNvPr id="86" name="Text 81">
            <a:extLst>
              <a:ext uri="{FF2B5EF4-FFF2-40B4-BE49-F238E27FC236}">
                <a16:creationId xmlns:a16="http://schemas.microsoft.com/office/drawing/2014/main" id="{F75105B7-10B6-E08E-A19A-45BEC9B18C17}"/>
              </a:ext>
            </a:extLst>
          </p:cNvPr>
          <p:cNvSpPr txBox="1"/>
          <p:nvPr/>
        </p:nvSpPr>
        <p:spPr>
          <a:xfrm>
            <a:off x="6353511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Prototype</a:t>
            </a:r>
            <a:endParaRPr lang="en-US" sz="900" dirty="0"/>
          </a:p>
        </p:txBody>
      </p:sp>
      <p:pic>
        <p:nvPicPr>
          <p:cNvPr id="87" name="Image 3" descr="preencoded.png">
            <a:extLst>
              <a:ext uri="{FF2B5EF4-FFF2-40B4-BE49-F238E27FC236}">
                <a16:creationId xmlns:a16="http://schemas.microsoft.com/office/drawing/2014/main" id="{1BFF6A8B-902A-5B30-C664-D6DE37DDCFF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7886960" y="2531129"/>
            <a:ext cx="75895" cy="152705"/>
          </a:xfrm>
          <a:prstGeom prst="rect">
            <a:avLst/>
          </a:prstGeom>
        </p:spPr>
      </p:pic>
      <p:sp>
        <p:nvSpPr>
          <p:cNvPr id="88" name="Shape 82">
            <a:extLst>
              <a:ext uri="{FF2B5EF4-FFF2-40B4-BE49-F238E27FC236}">
                <a16:creationId xmlns:a16="http://schemas.microsoft.com/office/drawing/2014/main" id="{0600CEA2-4508-FDB0-4FA3-3B47C12A8202}"/>
              </a:ext>
            </a:extLst>
          </p:cNvPr>
          <p:cNvSpPr/>
          <p:nvPr/>
        </p:nvSpPr>
        <p:spPr>
          <a:xfrm>
            <a:off x="8391709" y="1706340"/>
            <a:ext cx="1143000" cy="1143000"/>
          </a:xfrm>
          <a:prstGeom prst="ellipse">
            <a:avLst/>
          </a:prstGeom>
          <a:solidFill>
            <a:srgbClr val="60A5FA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89" name="Text 83">
            <a:extLst>
              <a:ext uri="{FF2B5EF4-FFF2-40B4-BE49-F238E27FC236}">
                <a16:creationId xmlns:a16="http://schemas.microsoft.com/office/drawing/2014/main" id="{0E4F1F63-F296-6324-CB76-4F8B1BCBD194}"/>
              </a:ext>
            </a:extLst>
          </p:cNvPr>
          <p:cNvSpPr txBox="1"/>
          <p:nvPr/>
        </p:nvSpPr>
        <p:spPr>
          <a:xfrm>
            <a:off x="8823306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5</a:t>
            </a:r>
            <a:endParaRPr lang="en-US" sz="3600" dirty="0"/>
          </a:p>
        </p:txBody>
      </p:sp>
      <p:sp>
        <p:nvSpPr>
          <p:cNvPr id="90" name="Shape 84">
            <a:extLst>
              <a:ext uri="{FF2B5EF4-FFF2-40B4-BE49-F238E27FC236}">
                <a16:creationId xmlns:a16="http://schemas.microsoft.com/office/drawing/2014/main" id="{3DD611B8-5504-602D-166F-A8B4F6DFA587}"/>
              </a:ext>
            </a:extLst>
          </p:cNvPr>
          <p:cNvSpPr/>
          <p:nvPr/>
        </p:nvSpPr>
        <p:spPr>
          <a:xfrm>
            <a:off x="8296611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1" name="Shape 85">
            <a:extLst>
              <a:ext uri="{FF2B5EF4-FFF2-40B4-BE49-F238E27FC236}">
                <a16:creationId xmlns:a16="http://schemas.microsoft.com/office/drawing/2014/main" id="{4D4C25A7-40A1-CCC4-DCB1-CE558225060A}"/>
              </a:ext>
            </a:extLst>
          </p:cNvPr>
          <p:cNvSpPr/>
          <p:nvPr/>
        </p:nvSpPr>
        <p:spPr>
          <a:xfrm>
            <a:off x="8296611" y="2944438"/>
            <a:ext cx="1333195" cy="38405"/>
          </a:xfrm>
          <a:prstGeom prst="rect">
            <a:avLst/>
          </a:prstGeom>
          <a:solidFill>
            <a:srgbClr val="60A5FA"/>
          </a:solidFill>
          <a:ln w="12700">
            <a:solidFill>
              <a:srgbClr val="60A5FA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2" name="Text 86">
            <a:extLst>
              <a:ext uri="{FF2B5EF4-FFF2-40B4-BE49-F238E27FC236}">
                <a16:creationId xmlns:a16="http://schemas.microsoft.com/office/drawing/2014/main" id="{8608C387-7891-9520-2230-B91263AA767A}"/>
              </a:ext>
            </a:extLst>
          </p:cNvPr>
          <p:cNvSpPr txBox="1"/>
          <p:nvPr/>
        </p:nvSpPr>
        <p:spPr>
          <a:xfrm>
            <a:off x="8242662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1200" dirty="0"/>
          </a:p>
        </p:txBody>
      </p:sp>
      <p:sp>
        <p:nvSpPr>
          <p:cNvPr id="93" name="Text 87">
            <a:extLst>
              <a:ext uri="{FF2B5EF4-FFF2-40B4-BE49-F238E27FC236}">
                <a16:creationId xmlns:a16="http://schemas.microsoft.com/office/drawing/2014/main" id="{FCD8CB81-AAD3-94BE-E44F-BC4BF861E5D5}"/>
              </a:ext>
            </a:extLst>
          </p:cNvPr>
          <p:cNvSpPr txBox="1"/>
          <p:nvPr/>
        </p:nvSpPr>
        <p:spPr>
          <a:xfrm>
            <a:off x="8258206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Test</a:t>
            </a:r>
            <a:endParaRPr lang="en-US" sz="900" dirty="0"/>
          </a:p>
        </p:txBody>
      </p:sp>
      <p:pic>
        <p:nvPicPr>
          <p:cNvPr id="94" name="Image 4" descr="preencoded.png">
            <a:extLst>
              <a:ext uri="{FF2B5EF4-FFF2-40B4-BE49-F238E27FC236}">
                <a16:creationId xmlns:a16="http://schemas.microsoft.com/office/drawing/2014/main" id="{339F4AAB-D793-43DA-6FC2-8D8EEF70B61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-301" b="-301"/>
          <a:stretch/>
        </p:blipFill>
        <p:spPr>
          <a:xfrm>
            <a:off x="9791655" y="2531129"/>
            <a:ext cx="75895" cy="152705"/>
          </a:xfrm>
          <a:prstGeom prst="rect">
            <a:avLst/>
          </a:prstGeom>
        </p:spPr>
      </p:pic>
      <p:sp>
        <p:nvSpPr>
          <p:cNvPr id="95" name="Shape 88">
            <a:extLst>
              <a:ext uri="{FF2B5EF4-FFF2-40B4-BE49-F238E27FC236}">
                <a16:creationId xmlns:a16="http://schemas.microsoft.com/office/drawing/2014/main" id="{B252EA81-6549-229F-FD68-F24C94EB88DC}"/>
              </a:ext>
            </a:extLst>
          </p:cNvPr>
          <p:cNvSpPr/>
          <p:nvPr/>
        </p:nvSpPr>
        <p:spPr>
          <a:xfrm>
            <a:off x="10296404" y="1706340"/>
            <a:ext cx="1143000" cy="1143000"/>
          </a:xfrm>
          <a:prstGeom prst="ellipse">
            <a:avLst/>
          </a:prstGeom>
          <a:solidFill>
            <a:srgbClr val="4ADE80"/>
          </a:solidFill>
          <a:ln w="50800">
            <a:solidFill>
              <a:srgbClr val="0F172A"/>
            </a:solidFill>
            <a:prstDash val="solid"/>
          </a:ln>
          <a:effectLst>
            <a:outerShdw blurRad="63500" dist="38100" dir="162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6" name="Text 89">
            <a:extLst>
              <a:ext uri="{FF2B5EF4-FFF2-40B4-BE49-F238E27FC236}">
                <a16:creationId xmlns:a16="http://schemas.microsoft.com/office/drawing/2014/main" id="{CFD9DEEF-E1D3-37C5-18B1-3D78A3B3531D}"/>
              </a:ext>
            </a:extLst>
          </p:cNvPr>
          <p:cNvSpPr txBox="1"/>
          <p:nvPr/>
        </p:nvSpPr>
        <p:spPr>
          <a:xfrm>
            <a:off x="10728915" y="1944084"/>
            <a:ext cx="3621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>
                    <a:alpha val="9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6</a:t>
            </a:r>
            <a:endParaRPr lang="en-US" sz="3600" dirty="0"/>
          </a:p>
        </p:txBody>
      </p:sp>
      <p:sp>
        <p:nvSpPr>
          <p:cNvPr id="97" name="Shape 90">
            <a:extLst>
              <a:ext uri="{FF2B5EF4-FFF2-40B4-BE49-F238E27FC236}">
                <a16:creationId xmlns:a16="http://schemas.microsoft.com/office/drawing/2014/main" id="{1169DA0A-5310-228F-2684-8241BE8DDA61}"/>
              </a:ext>
            </a:extLst>
          </p:cNvPr>
          <p:cNvSpPr/>
          <p:nvPr/>
        </p:nvSpPr>
        <p:spPr>
          <a:xfrm>
            <a:off x="10201306" y="2944438"/>
            <a:ext cx="1333195" cy="571500"/>
          </a:xfrm>
          <a:prstGeom prst="rect">
            <a:avLst/>
          </a:prstGeom>
          <a:solidFill>
            <a:srgbClr val="1E293B"/>
          </a:solidFill>
          <a:ln/>
          <a:effectLst>
            <a:outerShdw blurRad="63500" dist="38100" dir="162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98" name="Shape 91">
            <a:extLst>
              <a:ext uri="{FF2B5EF4-FFF2-40B4-BE49-F238E27FC236}">
                <a16:creationId xmlns:a16="http://schemas.microsoft.com/office/drawing/2014/main" id="{E17C9E78-9893-490B-B7D6-82A19ABDA3A6}"/>
              </a:ext>
            </a:extLst>
          </p:cNvPr>
          <p:cNvSpPr/>
          <p:nvPr/>
        </p:nvSpPr>
        <p:spPr>
          <a:xfrm>
            <a:off x="10201306" y="2944438"/>
            <a:ext cx="1333195" cy="38405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9" name="Text 92">
            <a:extLst>
              <a:ext uri="{FF2B5EF4-FFF2-40B4-BE49-F238E27FC236}">
                <a16:creationId xmlns:a16="http://schemas.microsoft.com/office/drawing/2014/main" id="{F040377F-9EB0-D4D8-1841-4359D9039087}"/>
              </a:ext>
            </a:extLst>
          </p:cNvPr>
          <p:cNvSpPr txBox="1"/>
          <p:nvPr/>
        </p:nvSpPr>
        <p:spPr>
          <a:xfrm>
            <a:off x="10148271" y="3058738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실현</a:t>
            </a:r>
            <a:endParaRPr lang="en-US" sz="1200" dirty="0"/>
          </a:p>
        </p:txBody>
      </p:sp>
      <p:sp>
        <p:nvSpPr>
          <p:cNvPr id="100" name="Text 93">
            <a:extLst>
              <a:ext uri="{FF2B5EF4-FFF2-40B4-BE49-F238E27FC236}">
                <a16:creationId xmlns:a16="http://schemas.microsoft.com/office/drawing/2014/main" id="{908EB2D0-A1DD-28D9-7733-B8E3002ACBCB}"/>
              </a:ext>
            </a:extLst>
          </p:cNvPr>
          <p:cNvSpPr txBox="1"/>
          <p:nvPr/>
        </p:nvSpPr>
        <p:spPr>
          <a:xfrm>
            <a:off x="10162902" y="3260820"/>
            <a:ext cx="1410005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Implement</a:t>
            </a:r>
            <a:endParaRPr lang="en-US" sz="900" dirty="0"/>
          </a:p>
        </p:txBody>
      </p:sp>
      <p:sp>
        <p:nvSpPr>
          <p:cNvPr id="101" name="Stage3 Note"/>
          <p:cNvSpPr txBox="1"/>
          <p:nvPr/>
        </p:nvSpPr>
        <p:spPr>
          <a:xfrm>
            <a:off x="571500" y="650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6단계 구성: Gibbons, S. (2016). Design thinking 101. Nielsen Norman Group. https://www.nngroup.com/articles/design-thinking/</a:t>
            </a:r>
          </a:p>
        </p:txBody>
      </p:sp>
      <p:sp>
        <p:nvSpPr>
          <p:cNvPr id="10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  <p:extLst>
      <p:ext uri="{BB962C8B-B14F-4D97-AF65-F5344CB8AC3E}">
        <p14:creationId xmlns:p14="http://schemas.microsoft.com/office/powerpoint/2010/main" val="754700383"/>
      </p:ext>
    </p:extLst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1758</Words>
  <Application>Microsoft Office PowerPoint</Application>
  <PresentationFormat>와이드스크린</PresentationFormat>
  <Paragraphs>418</Paragraphs>
  <Slides>16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1" baseType="lpstr">
      <vt:lpstr>Noto Sans KR</vt:lpstr>
      <vt:lpstr>Noto Serif KR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4</cp:revision>
  <dcterms:created xsi:type="dcterms:W3CDTF">2026-01-25T19:07:46Z</dcterms:created>
  <dcterms:modified xsi:type="dcterms:W3CDTF">2026-01-25T20:50:28Z</dcterms:modified>
</cp:coreProperties>
</file>