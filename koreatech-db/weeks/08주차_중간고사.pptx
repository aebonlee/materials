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EFF3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8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BF1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CED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DE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8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korea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3409950" cy="4191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8주차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중간고사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웹 중간평가 100점 통과제 · 1~7주차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한국기술교육대학교 경영학부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(CCT770) · 2026학년도 2학기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평가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 시험으로 확인하는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717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717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 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28717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28717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데이터베이스·DBMS의 개념과 정보관리 관점의 역할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66236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66236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 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366236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366236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관계형 데이터 모델의 용어와 키, 관계, ERD 읽기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45293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45293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 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445293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445293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DDL로 테이블·제약조건 지정, DML과 트랜잭션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24351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524351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 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1750" y="524351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0" y="524351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SELECT·WHERE·ORDER BY·LIMIT과 내장 함수로 조회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0340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60340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 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71750" y="60340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7500" y="60340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집계·그룹화와 조인을 정확히 사용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변별이 아니라 학습 확인 — 100점이 될 때까지 반복 응시합니다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8주차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1. 시험 방식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100점 통과제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781300"/>
            <a:ext cx="1248156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81300"/>
            <a:ext cx="124815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내용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34823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32918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출제 범위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3448050"/>
            <a:ext cx="124815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8690" y="3448050"/>
            <a:ext cx="122910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1주차 ~ 7주차 전 범위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044043"/>
            <a:ext cx="34823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044043"/>
            <a:ext cx="32918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문항 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4044043"/>
            <a:ext cx="124815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8690" y="4044043"/>
            <a:ext cx="122910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50문항 (객관식 4지선다 + 단답형) · 문항당 2점 · 100점 만점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640036"/>
            <a:ext cx="34823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640036"/>
            <a:ext cx="32918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통과 기준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4640036"/>
            <a:ext cx="124815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8690" y="4640036"/>
            <a:ext cx="122910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100점 — 재응시 횟수 제한 없음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236029"/>
            <a:ext cx="34823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236029"/>
            <a:ext cx="32918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성적 반영 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5236029"/>
            <a:ext cx="124815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8690" y="5236029"/>
            <a:ext cx="122910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웹 평가 100점 통과(캡처 제출) → 15점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5832021"/>
            <a:ext cx="34823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5832021"/>
            <a:ext cx="32918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성적 반영 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63440" y="5832021"/>
            <a:ext cx="124815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8690" y="5832021"/>
            <a:ext cx="122910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향상 결과·학습 내용을 정량·정성으로 정리해 제출 → 5점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428014"/>
            <a:ext cx="34823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428014"/>
            <a:ext cx="32918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제한 시간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6428014"/>
            <a:ext cx="124815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8690" y="6428014"/>
            <a:ext cx="122910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1회 응시당 60분 (시간 초과 시 자동 제출)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7024007"/>
            <a:ext cx="34823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38250" y="7024007"/>
            <a:ext cx="32918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채점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663440" y="7024007"/>
            <a:ext cx="124815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58690" y="7024007"/>
            <a:ext cx="122910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제출 즉시 자동 채점 · 문항별 해설 제공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시험일 10/26(월) — 10/5(월) 대체휴일 휴강으로 6주차부터 한 주씩 밀렸다(보강 12/7). 범위는 그대로 1~7주차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8주차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1. 시험 방식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성적 반영은 두 갈래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78105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78105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71628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① 100점 캡처 — 15점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학습사이트 중간평가를 100점이 될 때까지 응시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100점 결과 화면을 캡처해 제출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34500" y="3429000"/>
            <a:ext cx="7810500" cy="2476500"/>
          </a:xfrm>
          <a:prstGeom prst="roundRect">
            <a:avLst>
              <a:gd name="adj" fmla="val 1923"/>
            </a:avLst>
          </a:prstGeom>
          <a:solidFill>
            <a:srgbClr val="1A2A5E"/>
          </a:solidFill>
          <a:ln w="9525">
            <a:solidFill>
              <a:srgbClr val="1A2A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34500" y="3429000"/>
            <a:ext cx="78105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8350" y="3752850"/>
            <a:ext cx="71628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 학습 정리 — 5점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향상된 결과와 학습한 내용을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정량·정성으로 정리해 제출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틀린 문항은 해설을 읽고 다시 도전해 주세요 — 재응시는 무제한입니다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8주차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주차별 출제 비중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출제 범위 ① 1~4주차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971800"/>
            <a:ext cx="16002000" cy="3810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381250"/>
            <a:ext cx="380047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1주차</a:t>
            </a:r>
          </a:p>
        </p:txBody>
      </p:sp>
      <p:sp>
        <p:nvSpPr>
          <p:cNvPr id="10" name="Oval 9"/>
          <p:cNvSpPr/>
          <p:nvPr/>
        </p:nvSpPr>
        <p:spPr>
          <a:xfrm>
            <a:off x="2947988" y="2895600"/>
            <a:ext cx="190500" cy="1905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371850"/>
            <a:ext cx="3800475" cy="4495800"/>
          </a:xfrm>
          <a:prstGeom prst="roundRect">
            <a:avLst>
              <a:gd name="adj" fmla="val 150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600450"/>
            <a:ext cx="3343275" cy="281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강의 소개와 데이터베이스 개요 (정보관리와 DBMS)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6648450"/>
            <a:ext cx="3343275" cy="19050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6781800"/>
            <a:ext cx="33432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문항 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7105650"/>
            <a:ext cx="33432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5문항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0175" y="2381250"/>
            <a:ext cx="380047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2주차</a:t>
            </a:r>
          </a:p>
        </p:txBody>
      </p:sp>
      <p:sp>
        <p:nvSpPr>
          <p:cNvPr id="17" name="Oval 16"/>
          <p:cNvSpPr/>
          <p:nvPr/>
        </p:nvSpPr>
        <p:spPr>
          <a:xfrm>
            <a:off x="7015162" y="2895600"/>
            <a:ext cx="190500" cy="1905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10175" y="3371850"/>
            <a:ext cx="3800475" cy="4495800"/>
          </a:xfrm>
          <a:prstGeom prst="roundRect">
            <a:avLst>
              <a:gd name="adj" fmla="val 150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38775" y="3600450"/>
            <a:ext cx="3343275" cy="281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관계형 데이터베이스 기초 — 테이블·키·관계·ERD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38775" y="6648450"/>
            <a:ext cx="3343275" cy="19050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38775" y="6781800"/>
            <a:ext cx="33432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문항 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38775" y="7105650"/>
            <a:ext cx="33432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7문항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77350" y="2381250"/>
            <a:ext cx="380047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3주차</a:t>
            </a:r>
          </a:p>
        </p:txBody>
      </p:sp>
      <p:sp>
        <p:nvSpPr>
          <p:cNvPr id="24" name="Oval 23"/>
          <p:cNvSpPr/>
          <p:nvPr/>
        </p:nvSpPr>
        <p:spPr>
          <a:xfrm>
            <a:off x="11082338" y="2895600"/>
            <a:ext cx="190500" cy="1905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277350" y="3371850"/>
            <a:ext cx="3800475" cy="4495800"/>
          </a:xfrm>
          <a:prstGeom prst="roundRect">
            <a:avLst>
              <a:gd name="adj" fmla="val 150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5950" y="3600450"/>
            <a:ext cx="3343275" cy="281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SQL 개요와 DDL — CREATE / ALTER / DROP, 타입, 제약조건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5950" y="6648450"/>
            <a:ext cx="3343275" cy="19050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5950" y="6781800"/>
            <a:ext cx="33432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문항 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5950" y="7105650"/>
            <a:ext cx="33432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8문항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344525" y="2381250"/>
            <a:ext cx="380047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4주차</a:t>
            </a:r>
          </a:p>
        </p:txBody>
      </p:sp>
      <p:sp>
        <p:nvSpPr>
          <p:cNvPr id="31" name="Oval 30"/>
          <p:cNvSpPr/>
          <p:nvPr/>
        </p:nvSpPr>
        <p:spPr>
          <a:xfrm>
            <a:off x="15149512" y="2895600"/>
            <a:ext cx="190500" cy="1905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3344525" y="3371850"/>
            <a:ext cx="3800475" cy="4495800"/>
          </a:xfrm>
          <a:prstGeom prst="roundRect">
            <a:avLst>
              <a:gd name="adj" fmla="val 150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573125" y="3600450"/>
            <a:ext cx="3343275" cy="281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DML 기초 — INSERT / UPDATE / DELETE, 트랜잭션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573125" y="6648450"/>
            <a:ext cx="3343275" cy="19050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573125" y="6781800"/>
            <a:ext cx="33432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문항 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573125" y="7105650"/>
            <a:ext cx="33432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8문항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8주차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주차별 출제 비중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출제 범위 ② 5~7주차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971800"/>
            <a:ext cx="16002000" cy="3810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381250"/>
            <a:ext cx="51562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5주차</a:t>
            </a:r>
          </a:p>
        </p:txBody>
      </p:sp>
      <p:sp>
        <p:nvSpPr>
          <p:cNvPr id="10" name="Oval 9"/>
          <p:cNvSpPr/>
          <p:nvPr/>
        </p:nvSpPr>
        <p:spPr>
          <a:xfrm>
            <a:off x="3625850" y="2895600"/>
            <a:ext cx="190500" cy="1905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371850"/>
            <a:ext cx="5156200" cy="4057650"/>
          </a:xfrm>
          <a:prstGeom prst="roundRect">
            <a:avLst>
              <a:gd name="adj" fmla="val 14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600450"/>
            <a:ext cx="4699000" cy="2381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SELECT 기본 — WHERE, ORDER BY, LIMIT, 함수, NULL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6210300"/>
            <a:ext cx="4699000" cy="19050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6343650"/>
            <a:ext cx="4699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문항 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6667500"/>
            <a:ext cx="4699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8문항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900" y="2381250"/>
            <a:ext cx="51562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6주차</a:t>
            </a:r>
          </a:p>
        </p:txBody>
      </p:sp>
      <p:sp>
        <p:nvSpPr>
          <p:cNvPr id="17" name="Oval 16"/>
          <p:cNvSpPr/>
          <p:nvPr/>
        </p:nvSpPr>
        <p:spPr>
          <a:xfrm>
            <a:off x="9048750" y="2895600"/>
            <a:ext cx="190500" cy="1905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65900" y="3371850"/>
            <a:ext cx="5156200" cy="4057650"/>
          </a:xfrm>
          <a:prstGeom prst="roundRect">
            <a:avLst>
              <a:gd name="adj" fmla="val 14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94500" y="3600450"/>
            <a:ext cx="4699000" cy="2381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집계와 그룹화 — 집계함수, GROUP BY, HAVING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94500" y="6210300"/>
            <a:ext cx="4699000" cy="19050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94500" y="6343650"/>
            <a:ext cx="4699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문항 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94500" y="6667500"/>
            <a:ext cx="4699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7문항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988800" y="2381250"/>
            <a:ext cx="51562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7주차</a:t>
            </a:r>
          </a:p>
        </p:txBody>
      </p:sp>
      <p:sp>
        <p:nvSpPr>
          <p:cNvPr id="24" name="Oval 23"/>
          <p:cNvSpPr/>
          <p:nvPr/>
        </p:nvSpPr>
        <p:spPr>
          <a:xfrm>
            <a:off x="14471650" y="2895600"/>
            <a:ext cx="190500" cy="1905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988800" y="3371850"/>
            <a:ext cx="5156200" cy="4057650"/>
          </a:xfrm>
          <a:prstGeom prst="roundRect">
            <a:avLst>
              <a:gd name="adj" fmla="val 14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217400" y="3600450"/>
            <a:ext cx="4699000" cy="2381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조인 — INNER/LEFT/RIGHT, 다중 테이블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217400" y="6210300"/>
            <a:ext cx="4699000" cy="19050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217400" y="6343650"/>
            <a:ext cx="4699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문항 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217400" y="6667500"/>
            <a:ext cx="4699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7문항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합계 50문항 · SELECT–집계–조인이 시험의 중심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8주차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응시와 제출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시작부터 제출까지 여섯 단계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71800"/>
            <a:ext cx="2349500" cy="3429000"/>
          </a:xfrm>
          <a:prstGeom prst="roundRect">
            <a:avLst>
              <a:gd name="adj" fmla="val 243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71800"/>
            <a:ext cx="2349500" cy="8763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028950"/>
            <a:ext cx="23495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5" b="1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6350" y="3276600"/>
            <a:ext cx="208280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시험 시작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5400" y="3981450"/>
            <a:ext cx="204470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누르면 60분</a:t>
            </a:r>
          </a:p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타이머 시작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559175" y="3305175"/>
            <a:ext cx="2476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873500" y="2971800"/>
            <a:ext cx="2349500" cy="3429000"/>
          </a:xfrm>
          <a:prstGeom prst="roundRect">
            <a:avLst>
              <a:gd name="adj" fmla="val 243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73500" y="2971800"/>
            <a:ext cx="2349500" cy="8763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73500" y="3028950"/>
            <a:ext cx="23495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06850" y="3276600"/>
            <a:ext cx="208280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답안 작성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5900" y="3981450"/>
            <a:ext cx="204470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좌측 번호판으로</a:t>
            </a:r>
          </a:p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자유롭게 이동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289675" y="3305175"/>
            <a:ext cx="2476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04000" y="2971800"/>
            <a:ext cx="2349500" cy="3429000"/>
          </a:xfrm>
          <a:prstGeom prst="roundRect">
            <a:avLst>
              <a:gd name="adj" fmla="val 243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04000" y="2971800"/>
            <a:ext cx="2349500" cy="8763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4000" y="3028950"/>
            <a:ext cx="23495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5" b="1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37350" y="3276600"/>
            <a:ext cx="208280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단답형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56400" y="3981450"/>
            <a:ext cx="204470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핵심 용어를 정확히</a:t>
            </a:r>
          </a:p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공백·대소문자 무시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020175" y="3305175"/>
            <a:ext cx="2476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334500" y="2971800"/>
            <a:ext cx="2349500" cy="3429000"/>
          </a:xfrm>
          <a:prstGeom prst="roundRect">
            <a:avLst>
              <a:gd name="adj" fmla="val 243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334500" y="2971800"/>
            <a:ext cx="2349500" cy="8763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34500" y="3028950"/>
            <a:ext cx="23495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7850" y="3276600"/>
            <a:ext cx="208280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제출·채점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86900" y="3981450"/>
            <a:ext cx="204470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100점이 아니면</a:t>
            </a:r>
          </a:p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해설 보고 재응시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11750675" y="3305175"/>
            <a:ext cx="2476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2065000" y="2971800"/>
            <a:ext cx="2349500" cy="3429000"/>
          </a:xfrm>
          <a:prstGeom prst="roundRect">
            <a:avLst>
              <a:gd name="adj" fmla="val 243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2065000" y="2971800"/>
            <a:ext cx="2349500" cy="8763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065000" y="3028950"/>
            <a:ext cx="23495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5" b="1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98350" y="3276600"/>
            <a:ext cx="208280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캡처 제출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217400" y="3981450"/>
            <a:ext cx="204470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100점 화면 캡처</a:t>
            </a:r>
          </a:p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제출 15점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14481175" y="3305175"/>
            <a:ext cx="2476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4795500" y="2971800"/>
            <a:ext cx="2349500" cy="3429000"/>
          </a:xfrm>
          <a:prstGeom prst="roundRect">
            <a:avLst>
              <a:gd name="adj" fmla="val 243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4795500" y="2971800"/>
            <a:ext cx="2349500" cy="8763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4795500" y="3028950"/>
            <a:ext cx="23495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928850" y="3276600"/>
            <a:ext cx="208280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학습 정리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947900" y="3981450"/>
            <a:ext cx="204470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정량·정성 정리</a:t>
            </a:r>
          </a:p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제출 5점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43000" y="7143750"/>
            <a:ext cx="16002000" cy="685800"/>
          </a:xfrm>
          <a:prstGeom prst="roundRect">
            <a:avLst>
              <a:gd name="adj" fmla="val 833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428750" y="7143750"/>
            <a:ext cx="154305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캡처는 수업에서 안내한 방법으로 제출합니다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8주차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응시와 제출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응시 전에 알아 둘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60분 제한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시간 초과 시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자동 제출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재응시 무제한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100점이 나올 때까지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반복 응시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즉시 채점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제출하면 바로 채점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문항별 해설 제공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내 학습 현황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100점 도달 여부와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응시 횟수 확인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시험 결과는 브라우저에 저장되어 「내 학습 현황」 페이지에 반영됩니다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8주차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성찰 제출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향상·학습 정리 (5점)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정량 — 향상 결과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 시험을 풀며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향상된 결과를 정리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정성 — 학습 내용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 시험을 풀며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학습한 내용을 정리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근거 자료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「내 학습 현황」의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100점 도달 여부·응시 횟수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100점 캡처(15점)와 별도로 제출합니다 — 두 가지를 합쳐 중간고사 20점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8주차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시험 대비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시험 대비 체크리스트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248025"/>
            <a:ext cx="7810500" cy="1066800"/>
          </a:xfrm>
          <a:prstGeom prst="roundRect">
            <a:avLst>
              <a:gd name="adj" fmla="val 53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466850" y="358140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A2A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3600" y="3343275"/>
            <a:ext cx="6534150" cy="876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기본키·외래키의 역할과 다온유통 5개 테이블의 관계(1:N, M:N 해소)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4467225"/>
            <a:ext cx="7810500" cy="1066800"/>
          </a:xfrm>
          <a:prstGeom prst="roundRect">
            <a:avLst>
              <a:gd name="adj" fmla="val 53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466850" y="480060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A2A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33600" y="4562475"/>
            <a:ext cx="6534150" cy="876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CREATE TABLE의 제약조건 (PK·FK·NOT NULL·UNIQUE·DEFAULT·CHECK)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5686425"/>
            <a:ext cx="7810500" cy="1066800"/>
          </a:xfrm>
          <a:prstGeom prst="roundRect">
            <a:avLst>
              <a:gd name="adj" fmla="val 53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466850" y="601980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A2A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33600" y="5781675"/>
            <a:ext cx="6534150" cy="876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UPDATE·DELETE에 WHERE를 빠뜨리면 무슨 일이 생기는가, COMMIT/ROLLBACK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34500" y="3248025"/>
            <a:ext cx="7810500" cy="1066800"/>
          </a:xfrm>
          <a:prstGeom prst="roundRect">
            <a:avLst>
              <a:gd name="adj" fmla="val 53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58350" y="358140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A2A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25100" y="3343275"/>
            <a:ext cx="6534150" cy="876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SQL 실행 순서와 별칭 사용 가능 위치, = NULL 이 아닌 IS NULL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34500" y="4467225"/>
            <a:ext cx="7810500" cy="1066800"/>
          </a:xfrm>
          <a:prstGeom prst="roundRect">
            <a:avLst>
              <a:gd name="adj" fmla="val 53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58350" y="480060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A2A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25100" y="4562475"/>
            <a:ext cx="6534150" cy="876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COUNT(*)와 COUNT(컬럼)의 차이, WHERE vs HAVING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34500" y="5686425"/>
            <a:ext cx="7810500" cy="1066800"/>
          </a:xfrm>
          <a:prstGeom prst="roundRect">
            <a:avLst>
              <a:gd name="adj" fmla="val 53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658350" y="601980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A2A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25100" y="5781675"/>
            <a:ext cx="6534150" cy="876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INNER vs LEFT JOIN — 주문 없는 고객까지 보려면 무엇을 쓰는가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각 주차의 실습 문제를 다시 풀어 보며 준비해 주세요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8주차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다음 주차 예고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9주차 · 서브쿼리와 집합 연산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서브쿼리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개념과 분류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WHERE 절 서브쿼리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상관 서브쿼리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바깥 행마다 계산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EXISTS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파생 테이블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FROM 절 서브쿼리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중간 결과를 표처럼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집합 연산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UNION / UNION ALL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조인 vs 서브쿼리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8주차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korea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3409950" cy="4191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8주차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중간고사 마무리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100점이 될 때까지 해설을 읽고 다시 도전해 주세요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범위 1~7주차 · 50문항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100점 통과 · 재응시 무제한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100점 화면 캡처 제출 15점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향상·학습 정리 제출 5점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제출할 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100점 캡처 · 향상·학습 정리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