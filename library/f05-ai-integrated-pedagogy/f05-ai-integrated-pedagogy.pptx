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64"/>
  </p:notesMasterIdLst>
  <p:sldIdLst>
    <p:sldId id="380" r:id="rId69"/>
    <p:sldId id="381" r:id="rId70"/>
    <p:sldId id="318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53" r:id="rId37"/>
    <p:sldId id="354" r:id="rId38"/>
    <p:sldId id="355" r:id="rId39"/>
    <p:sldId id="356" r:id="rId40"/>
    <p:sldId id="357" r:id="rId41"/>
    <p:sldId id="358" r:id="rId42"/>
    <p:sldId id="359" r:id="rId43"/>
    <p:sldId id="360" r:id="rId44"/>
    <p:sldId id="361" r:id="rId45"/>
    <p:sldId id="362" r:id="rId46"/>
    <p:sldId id="363" r:id="rId47"/>
    <p:sldId id="364" r:id="rId48"/>
    <p:sldId id="365" r:id="rId49"/>
    <p:sldId id="366" r:id="rId50"/>
    <p:sldId id="367" r:id="rId51"/>
    <p:sldId id="368" r:id="rId52"/>
    <p:sldId id="369" r:id="rId53"/>
    <p:sldId id="370" r:id="rId54"/>
    <p:sldId id="371" r:id="rId55"/>
    <p:sldId id="372" r:id="rId56"/>
    <p:sldId id="373" r:id="rId57"/>
    <p:sldId id="374" r:id="rId58"/>
    <p:sldId id="375" r:id="rId59"/>
    <p:sldId id="376" r:id="rId60"/>
    <p:sldId id="377" r:id="rId61"/>
    <p:sldId id="378" r:id="rId62"/>
    <p:sldId id="379" r:id="rId63"/>
    <p:sldId id="382" r:id="rId7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4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720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5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4.jpg"/><Relationship Id="rId5" Type="http://schemas.openxmlformats.org/officeDocument/2006/relationships/image" Target="../media/image5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Relationship Id="rId4" Type="http://schemas.openxmlformats.org/officeDocument/2006/relationships/image" Target="../media/image5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25.jpg"/><Relationship Id="rId8" Type="http://schemas.openxmlformats.org/officeDocument/2006/relationships/image" Target="../media/image2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Relationship Id="rId4" Type="http://schemas.openxmlformats.org/officeDocument/2006/relationships/image" Target="../media/image5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6.jpg"/><Relationship Id="rId6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jpg"/><Relationship Id="rId4" Type="http://schemas.openxmlformats.org/officeDocument/2006/relationships/image" Target="../media/image5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3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jpg"/><Relationship Id="rId4" Type="http://schemas.openxmlformats.org/officeDocument/2006/relationships/image" Target="../media/image5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jpg"/><Relationship Id="rId4" Type="http://schemas.openxmlformats.org/officeDocument/2006/relationships/image" Target="../media/image5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1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5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5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5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35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5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5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2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5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37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10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40.png"/><Relationship Id="rId4" Type="http://schemas.openxmlformats.org/officeDocument/2006/relationships/image" Target="../media/image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4c1083850d059966003d4485005bfb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" y="75895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c67648dc443221d4d8a642bb7b1504da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410005" y="5219395"/>
            <a:ext cx="1143000" cy="2834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826240" y="332740"/>
            <a:ext cx="6385865" cy="1522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46" dirty="0">
                <a:solidFill>
                  <a:srgbClr val="FFFFFF">
                    <a:alpha val="2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PEDAGOGY × AI</a:t>
            </a:r>
            <a:endParaRPr lang="en-US" sz="1050" b="1" dirty="0"/>
          </a:p>
        </p:txBody>
      </p:sp>
      <p:sp>
        <p:nvSpPr>
          <p:cNvPr id="6" name="Text 1"/>
          <p:cNvSpPr txBox="1"/>
          <p:nvPr/>
        </p:nvSpPr>
        <p:spPr>
          <a:xfrm>
            <a:off x="1410005" y="1410005"/>
            <a:ext cx="8572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6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 AI강사 양성과정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1410005" y="2553005"/>
            <a:ext cx="1428750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-27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통합교수법</a:t>
            </a:r>
            <a:endParaRPr lang="en-US" sz="9000" dirty="0"/>
          </a:p>
        </p:txBody>
      </p:sp>
      <p:sp>
        <p:nvSpPr>
          <p:cNvPr id="8" name="Text 3"/>
          <p:cNvSpPr txBox="1"/>
          <p:nvPr/>
        </p:nvSpPr>
        <p:spPr>
          <a:xfrm>
            <a:off x="1410005" y="3886200"/>
            <a:ext cx="142875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kern="0" spc="-27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설계와 실행</a:t>
            </a:r>
            <a:endParaRPr lang="en-US" sz="9000" dirty="0"/>
          </a:p>
        </p:txBody>
      </p:sp>
      <p:sp>
        <p:nvSpPr>
          <p:cNvPr id="9" name="Text 4"/>
          <p:cNvSpPr txBox="1"/>
          <p:nvPr/>
        </p:nvSpPr>
        <p:spPr>
          <a:xfrm>
            <a:off x="1410005" y="5600700"/>
            <a:ext cx="12382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13개 교수설계 이론 · 생성형 AI 통합 워크플로 · 현장 강사의 노하우</a:t>
            </a:r>
            <a:endParaRPr lang="en-US" sz="2200" dirty="0"/>
          </a:p>
        </p:txBody>
      </p:sp>
      <p:sp>
        <p:nvSpPr>
          <p:cNvPr id="10" name="Text 5"/>
          <p:cNvSpPr txBox="1"/>
          <p:nvPr/>
        </p:nvSpPr>
        <p:spPr>
          <a:xfrm>
            <a:off x="1410005" y="6831981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FORMAT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1410005" y="7137391"/>
            <a:ext cx="2936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강의안 · 62장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505395" y="6831981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AUDIENCE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7505395" y="7137391"/>
            <a:ext cx="263804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 AI강사 · 기초~중급 혼합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62</a:t>
            </a:r>
            <a:endParaRPr lang="en-US" sz="9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6579C154-4788-07A3-D057-68D2728D7BA7}"/>
              </a:ext>
            </a:extLst>
          </p:cNvPr>
          <p:cNvSpPr txBox="1"/>
          <p:nvPr/>
        </p:nvSpPr>
        <p:spPr>
          <a:xfrm>
            <a:off x="7315200" y="8228579"/>
            <a:ext cx="1042416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이애본 · 드림아이티비즈(DreamIT Biz) · aebon@dreamitbiz.com</a:t>
            </a:r>
            <a:r>
              <a:rPr lang="ko-KR" altLang="en-US" sz="2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2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2200" dirty="0" err="1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2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2200" dirty="0" err="1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2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2200" dirty="0"/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2560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pic>
        <p:nvPicPr>
          <p:cNvPr id="5" name="Image 2" descr="gen-dedup-1e2f5cf26e2a8a31a36fa88ed59488d3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1410005" y="6458407"/>
            <a:ext cx="761695" cy="2834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410005" y="112379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· WELCOME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1410005" y="1600200"/>
            <a:ext cx="142875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12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강의안이 다룰 질문 하나</a:t>
            </a:r>
            <a:endParaRPr lang="en-US" sz="6300" dirty="0"/>
          </a:p>
        </p:txBody>
      </p:sp>
      <p:sp>
        <p:nvSpPr>
          <p:cNvPr id="8" name="Text 3"/>
          <p:cNvSpPr txBox="1"/>
          <p:nvPr/>
        </p:nvSpPr>
        <p:spPr>
          <a:xfrm>
            <a:off x="1410005" y="3219602"/>
            <a:ext cx="15621610" cy="266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5100" b="1" kern="0" spc="-5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"ChatGPT가 답을 다 해주는 시대에,</a:t>
            </a:r>
            <a:endParaRPr lang="en-US" sz="5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5100" b="1" kern="0" spc="-5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             </a:t>
            </a:r>
            <a:r>
              <a:rPr lang="en-US" sz="5100" b="1" kern="0" spc="-51" dirty="0" err="1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강의는</a:t>
            </a:r>
            <a:r>
              <a:rPr lang="en-US" sz="5100" b="1" kern="0" spc="-5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무엇을 더 가르쳐야 하는가?" </a:t>
            </a:r>
            <a:endParaRPr lang="en-US" sz="5100" dirty="0"/>
          </a:p>
        </p:txBody>
      </p:sp>
      <p:sp>
        <p:nvSpPr>
          <p:cNvPr id="9" name="Text 4"/>
          <p:cNvSpPr txBox="1"/>
          <p:nvPr/>
        </p:nvSpPr>
        <p:spPr>
          <a:xfrm>
            <a:off x="1410005" y="6838798"/>
            <a:ext cx="15621610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 질문에 답하려면 '</a:t>
            </a:r>
            <a:r>
              <a:rPr lang="en-US" sz="19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가르칠 것인가</a:t>
            </a:r>
            <a:r>
              <a:rPr lang="en-US" sz="1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'만큼 '</a:t>
            </a:r>
            <a:r>
              <a:rPr lang="en-US" sz="19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학습이 일어나는가</a:t>
            </a:r>
            <a:r>
              <a:rPr lang="en-US" sz="1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'를 알아야 합니다.</a:t>
            </a:r>
            <a:endParaRPr lang="en-US" sz="19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 강의안에서는 수십 년간 다듬어진 13개 교수설계 이론을 </a:t>
            </a:r>
            <a:r>
              <a:rPr lang="en-US" sz="19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강의실</a:t>
            </a:r>
            <a:r>
              <a:rPr lang="en-US" sz="1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다시 끼워 맞춰봅니다.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이론 따로, AI 활용 따로가 아니라 — </a:t>
            </a:r>
            <a:r>
              <a:rPr lang="en-US" sz="19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설계 도구</a:t>
            </a:r>
            <a:r>
              <a:rPr lang="en-US" sz="1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로. </a:t>
            </a:r>
            <a:endParaRPr lang="en-US" sz="1900" dirty="0"/>
          </a:p>
        </p:txBody>
      </p:sp>
      <p:sp>
        <p:nvSpPr>
          <p:cNvPr id="10" name="Text 5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통합교수법 설계와 실행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62</a:t>
            </a:r>
            <a:endParaRPr lang="en-US" sz="9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5928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00907"/>
            <a:ext cx="15668244" cy="8577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1410005" y="3600907"/>
            <a:ext cx="47549" cy="857707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410005" y="4600346"/>
            <a:ext cx="15668244" cy="8577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410005" y="4600346"/>
            <a:ext cx="47549" cy="857707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410005" y="5600700"/>
            <a:ext cx="15668244" cy="8577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410005" y="5600700"/>
            <a:ext cx="47549" cy="857707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410005" y="6601054"/>
            <a:ext cx="15668244" cy="8577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1410005" y="6601054"/>
            <a:ext cx="47549" cy="857707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1410005" y="7601407"/>
            <a:ext cx="15668244" cy="8577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1410005" y="7601407"/>
            <a:ext cx="47549" cy="857707"/>
          </a:xfrm>
          <a:prstGeom prst="rect">
            <a:avLst/>
          </a:prstGeom>
          <a:solidFill>
            <a:srgbClr val="D9694C"/>
          </a:solidFill>
          <a:ln w="12700">
            <a:solidFill>
              <a:srgbClr val="D969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1410005" y="8600846"/>
            <a:ext cx="15668244" cy="8577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1410005" y="8600846"/>
            <a:ext cx="47549" cy="857707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1410005" y="112379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410005" y="1600200"/>
            <a:ext cx="13335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흐름, 이렇게 갑니다</a:t>
            </a:r>
            <a:endParaRPr lang="en-US" sz="6000" dirty="0"/>
          </a:p>
        </p:txBody>
      </p:sp>
      <p:sp>
        <p:nvSpPr>
          <p:cNvPr id="19" name="Text 15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 40% · 실습/워크북 30% · 강사 노하우 사례 30%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790395" y="3838651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4172407" y="3838651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오프닝 · 학습목표 공유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9601200" y="3905402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'AI + 교수법'인가 · 이 강의안의 학습목표 (메타 Bloom)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790395" y="4839005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4172407" y="4839005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학습목표 &amp; 평가</a:t>
            </a:r>
            <a:endParaRPr lang="en-US" sz="1900" dirty="0"/>
          </a:p>
        </p:txBody>
      </p:sp>
      <p:sp>
        <p:nvSpPr>
          <p:cNvPr id="25" name="Text 21"/>
          <p:cNvSpPr txBox="1"/>
          <p:nvPr/>
        </p:nvSpPr>
        <p:spPr>
          <a:xfrm>
            <a:off x="9601200" y="4905756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· 구성적 정렬 · 백워드 설계 · 커크패트릭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790395" y="5838444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20분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4172407" y="5838444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교수설계 모델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9601200" y="5905195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ADDIE · Gagné 9단계 · SAM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790395" y="6838798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25분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4172407" y="6838798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3·4 · 교수법 &amp; 학습이론</a:t>
            </a:r>
            <a:endParaRPr lang="en-US" sz="1900" dirty="0"/>
          </a:p>
        </p:txBody>
      </p:sp>
      <p:sp>
        <p:nvSpPr>
          <p:cNvPr id="31" name="Text 27"/>
          <p:cNvSpPr txBox="1"/>
          <p:nvPr/>
        </p:nvSpPr>
        <p:spPr>
          <a:xfrm>
            <a:off x="9601200" y="6905549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액티브러닝 · PBL · 플립러닝 · ZPD · 구성주의 · TPACK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1790395" y="7839151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4172407" y="7839151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5 · 통합 설계 &amp; 노하우</a:t>
            </a:r>
            <a:endParaRPr lang="en-US" sz="1900" dirty="0"/>
          </a:p>
        </p:txBody>
      </p:sp>
      <p:sp>
        <p:nvSpPr>
          <p:cNvPr id="34" name="Text 30"/>
          <p:cNvSpPr txBox="1"/>
          <p:nvPr/>
        </p:nvSpPr>
        <p:spPr>
          <a:xfrm>
            <a:off x="9601200" y="7905902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 매트릭스 · 강사 노하우 5가지 · 워크북 실습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1790395" y="8839505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4172407" y="8839505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클로징 · 정리</a:t>
            </a:r>
            <a:endParaRPr lang="en-US" sz="1900" dirty="0"/>
          </a:p>
        </p:txBody>
      </p:sp>
      <p:sp>
        <p:nvSpPr>
          <p:cNvPr id="37" name="Text 33"/>
          <p:cNvSpPr txBox="1"/>
          <p:nvPr/>
        </p:nvSpPr>
        <p:spPr>
          <a:xfrm>
            <a:off x="9601200" y="8906256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· 참고문헌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통합교수법 설계와 실행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62</a:t>
            </a:r>
            <a:endParaRPr lang="en-US" sz="9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642759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3047695" cy="5524805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4647895" y="3696005"/>
            <a:ext cx="3047695" cy="5524805"/>
          </a:xfrm>
          <a:prstGeom prst="rect">
            <a:avLst/>
          </a:prstGeom>
          <a:solidFill>
            <a:srgbClr val="1425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7886700" y="3696005"/>
            <a:ext cx="3047695" cy="5524805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1125505" y="3696005"/>
            <a:ext cx="3047695" cy="5524805"/>
          </a:xfrm>
          <a:prstGeom prst="rect">
            <a:avLst/>
          </a:prstGeom>
          <a:solidFill>
            <a:srgbClr val="2C42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4363395" y="3696005"/>
            <a:ext cx="2667305" cy="552480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gen-dedup-c98a9f30c2e0097bd1bdd4aaefb50313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1695298" y="6362395"/>
            <a:ext cx="381305" cy="19202"/>
          </a:xfrm>
          <a:prstGeom prst="rect">
            <a:avLst/>
          </a:prstGeom>
        </p:spPr>
      </p:pic>
      <p:pic>
        <p:nvPicPr>
          <p:cNvPr id="11" name="Image 3" descr="gen-dedup-c98a9f30c2e0097bd1bdd4aaefb50313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4934102" y="6362395"/>
            <a:ext cx="381305" cy="19202"/>
          </a:xfrm>
          <a:prstGeom prst="rect">
            <a:avLst/>
          </a:prstGeom>
        </p:spPr>
      </p:pic>
      <p:pic>
        <p:nvPicPr>
          <p:cNvPr id="12" name="Image 4" descr="gen-dedup-c98a9f30c2e0097bd1bdd4aaefb50313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8172907" y="6362395"/>
            <a:ext cx="381305" cy="19202"/>
          </a:xfrm>
          <a:prstGeom prst="rect">
            <a:avLst/>
          </a:prstGeom>
        </p:spPr>
      </p:pic>
      <p:pic>
        <p:nvPicPr>
          <p:cNvPr id="13" name="Image 5" descr="gen-dedup-c98a9f30c2e0097bd1bdd4aaefb50313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11410798" y="6362395"/>
            <a:ext cx="381305" cy="19202"/>
          </a:xfrm>
          <a:prstGeom prst="rect">
            <a:avLst/>
          </a:prstGeom>
        </p:spPr>
      </p:pic>
      <p:pic>
        <p:nvPicPr>
          <p:cNvPr id="14" name="Image 6" descr="gen-dedup-33dbd5222575786f18636c0dcab98378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14649602" y="6362395"/>
            <a:ext cx="381305" cy="19202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INTENDED LEARNING OUTCOMES · 메타 BLOOM 적용</a:t>
            </a:r>
            <a:endParaRPr lang="en-US" sz="1000" dirty="0"/>
          </a:p>
        </p:txBody>
      </p:sp>
      <p:sp>
        <p:nvSpPr>
          <p:cNvPr id="16" name="Text 7"/>
          <p:cNvSpPr txBox="1"/>
          <p:nvPr/>
        </p:nvSpPr>
        <p:spPr>
          <a:xfrm>
            <a:off x="1410462" y="1600200"/>
            <a:ext cx="142875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강의안을 마치면, 여러분은…</a:t>
            </a:r>
            <a:endParaRPr lang="en-US" sz="6000" dirty="0"/>
          </a:p>
        </p:txBody>
      </p:sp>
      <p:sp>
        <p:nvSpPr>
          <p:cNvPr id="17" name="Text 8"/>
          <p:cNvSpPr txBox="1"/>
          <p:nvPr/>
        </p:nvSpPr>
        <p:spPr>
          <a:xfrm>
            <a:off x="1410005" y="2933395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Bloom의 6단계 동사로 학습목표를 작성했습니다. 이 장 자체가 첫 번째 예시입니다.</a:t>
            </a:r>
            <a:endParaRPr lang="en-US" sz="1600" dirty="0"/>
          </a:p>
        </p:txBody>
      </p:sp>
      <p:sp>
        <p:nvSpPr>
          <p:cNvPr id="18" name="Text 9"/>
          <p:cNvSpPr txBox="1"/>
          <p:nvPr/>
        </p:nvSpPr>
        <p:spPr>
          <a:xfrm>
            <a:off x="1695298" y="3981298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L2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1695298" y="4362602"/>
            <a:ext cx="2477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</a:t>
            </a:r>
            <a:endParaRPr lang="en-US" sz="4800" dirty="0"/>
          </a:p>
        </p:txBody>
      </p:sp>
      <p:sp>
        <p:nvSpPr>
          <p:cNvPr id="20" name="Text 11"/>
          <p:cNvSpPr txBox="1"/>
          <p:nvPr/>
        </p:nvSpPr>
        <p:spPr>
          <a:xfrm>
            <a:off x="1695298" y="5519945"/>
            <a:ext cx="2477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13개 이론을</a:t>
            </a:r>
            <a:endParaRPr lang="en-US" sz="18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설명할 수 있다 </a:t>
            </a:r>
            <a:endParaRPr lang="en-US" sz="1800" dirty="0"/>
          </a:p>
        </p:txBody>
      </p:sp>
      <p:sp>
        <p:nvSpPr>
          <p:cNvPr id="21" name="Text 12"/>
          <p:cNvSpPr txBox="1"/>
          <p:nvPr/>
        </p:nvSpPr>
        <p:spPr>
          <a:xfrm>
            <a:off x="1695298" y="6648602"/>
            <a:ext cx="24771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· 구성적 정렬 · 백워드 · 커크패트릭 · ADDIE · Gagné · SAM · 액티브러닝 · PBL · 플립 · ZPD · 구성주의 · TPACK</a:t>
            </a:r>
            <a:endParaRPr lang="en-US" sz="1400" dirty="0"/>
          </a:p>
        </p:txBody>
      </p:sp>
      <p:sp>
        <p:nvSpPr>
          <p:cNvPr id="22" name="Text 13"/>
          <p:cNvSpPr txBox="1"/>
          <p:nvPr/>
        </p:nvSpPr>
        <p:spPr>
          <a:xfrm>
            <a:off x="4934102" y="3981298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L3</a:t>
            </a:r>
            <a:endParaRPr lang="en-US" sz="1000" dirty="0"/>
          </a:p>
        </p:txBody>
      </p:sp>
      <p:sp>
        <p:nvSpPr>
          <p:cNvPr id="23" name="Text 14"/>
          <p:cNvSpPr txBox="1"/>
          <p:nvPr/>
        </p:nvSpPr>
        <p:spPr>
          <a:xfrm>
            <a:off x="4934102" y="4362602"/>
            <a:ext cx="2477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</a:t>
            </a:r>
            <a:endParaRPr lang="en-US" sz="4800" dirty="0"/>
          </a:p>
        </p:txBody>
      </p:sp>
      <p:sp>
        <p:nvSpPr>
          <p:cNvPr id="24" name="Text 15"/>
          <p:cNvSpPr txBox="1"/>
          <p:nvPr/>
        </p:nvSpPr>
        <p:spPr>
          <a:xfrm>
            <a:off x="4934102" y="5519945"/>
            <a:ext cx="2477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이론을 AI 도구와</a:t>
            </a:r>
            <a:endParaRPr lang="en-US" sz="18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연결할 수 있다 </a:t>
            </a:r>
            <a:endParaRPr lang="en-US" sz="1800" dirty="0"/>
          </a:p>
        </p:txBody>
      </p:sp>
      <p:sp>
        <p:nvSpPr>
          <p:cNvPr id="25" name="Text 16"/>
          <p:cNvSpPr txBox="1"/>
          <p:nvPr/>
        </p:nvSpPr>
        <p:spPr>
          <a:xfrm>
            <a:off x="4934102" y="6648602"/>
            <a:ext cx="24771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ChatGPT로 학습목표 초안 만들기, Claude로 PBL 시나리오 짜기, Gemini로 평가 루브릭 생성하기 등 도구별 적용점을 안다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8172907" y="3981298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L4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8172907" y="4362602"/>
            <a:ext cx="2477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endParaRPr lang="en-US" sz="4800" dirty="0"/>
          </a:p>
        </p:txBody>
      </p:sp>
      <p:sp>
        <p:nvSpPr>
          <p:cNvPr id="28" name="Text 19"/>
          <p:cNvSpPr txBox="1"/>
          <p:nvPr/>
        </p:nvSpPr>
        <p:spPr>
          <a:xfrm>
            <a:off x="8172907" y="5519945"/>
            <a:ext cx="2477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상황에 맞는 이론을</a:t>
            </a:r>
            <a:endParaRPr lang="en-US" sz="18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선택할 수 있다 </a:t>
            </a:r>
            <a:endParaRPr lang="en-US" sz="1800" dirty="0"/>
          </a:p>
        </p:txBody>
      </p:sp>
      <p:sp>
        <p:nvSpPr>
          <p:cNvPr id="29" name="Text 20"/>
          <p:cNvSpPr txBox="1"/>
          <p:nvPr/>
        </p:nvSpPr>
        <p:spPr>
          <a:xfrm>
            <a:off x="8172907" y="6648602"/>
            <a:ext cx="24771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1시간짜리 강의는 Gagné, 8주 과정은 ADDIE — 상황별로 어떤 이론이 도구가 되는지 매트릭스로 비교한다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11410798" y="3981298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L5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11410798" y="4362602"/>
            <a:ext cx="2477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</a:t>
            </a:r>
            <a:endParaRPr lang="en-US" sz="4800" dirty="0"/>
          </a:p>
        </p:txBody>
      </p:sp>
      <p:sp>
        <p:nvSpPr>
          <p:cNvPr id="32" name="Text 23"/>
          <p:cNvSpPr txBox="1"/>
          <p:nvPr/>
        </p:nvSpPr>
        <p:spPr>
          <a:xfrm>
            <a:off x="11410798" y="5519945"/>
            <a:ext cx="2477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내 강의안의 정합성을</a:t>
            </a:r>
            <a:endParaRPr lang="en-US" sz="18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점검할 수 있다 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11410798" y="6648602"/>
            <a:ext cx="24771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구성적 정렬 점검표로 ILO ↔ TLA ↔ AT의 일치 여부를 스스로 평가한다. 59장에 17개 점검표 제공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14649602" y="3981298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L6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14649602" y="4362602"/>
            <a:ext cx="2095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창안</a:t>
            </a:r>
            <a:endParaRPr lang="en-US" sz="4800" dirty="0"/>
          </a:p>
        </p:txBody>
      </p:sp>
      <p:sp>
        <p:nvSpPr>
          <p:cNvPr id="36" name="Text 27"/>
          <p:cNvSpPr txBox="1"/>
          <p:nvPr/>
        </p:nvSpPr>
        <p:spPr>
          <a:xfrm>
            <a:off x="14649602" y="5519945"/>
            <a:ext cx="2095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나의 첫 AI 강의를</a:t>
            </a:r>
            <a:endParaRPr lang="en-US" sz="18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설계한다 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14649602" y="6648602"/>
            <a:ext cx="209580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워크북 슬라이드에 직접 빈칸을 채워 60–90분짜리 자기 강의 한 편을 종이 위에 완성한다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통합교수법 설계와 실행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62</a:t>
            </a:r>
            <a:endParaRPr lang="en-US" sz="9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364657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219602"/>
            <a:ext cx="7239305" cy="6001207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9029700" y="5219395"/>
            <a:ext cx="8058607" cy="12380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9029700" y="5219395"/>
            <a:ext cx="57607" cy="123809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029700" y="6648602"/>
            <a:ext cx="8058607" cy="12380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29700" y="6648602"/>
            <a:ext cx="57607" cy="1238098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9029700" y="8076895"/>
            <a:ext cx="8058607" cy="12380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9029700" y="8076895"/>
            <a:ext cx="57607" cy="1238098"/>
          </a:xfrm>
          <a:prstGeom prst="rect">
            <a:avLst/>
          </a:prstGeom>
          <a:solidFill>
            <a:srgbClr val="D9694C"/>
          </a:solidFill>
          <a:ln w="12700">
            <a:solidFill>
              <a:srgbClr val="D969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1e2f5cf26e2a8a31a36fa88ed59488d3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1790395" y="6648602"/>
            <a:ext cx="761695" cy="2834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0005" y="112379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OPENING · WHY NOW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410005" y="1600200"/>
            <a:ext cx="142875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강사가 가장 자주 놓치는 것</a:t>
            </a:r>
            <a:endParaRPr lang="en-US" sz="6000" dirty="0"/>
          </a:p>
        </p:txBody>
      </p:sp>
      <p:sp>
        <p:nvSpPr>
          <p:cNvPr id="15" name="Text 10"/>
          <p:cNvSpPr txBox="1"/>
          <p:nvPr/>
        </p:nvSpPr>
        <p:spPr>
          <a:xfrm>
            <a:off x="1790395" y="3600907"/>
            <a:ext cx="6477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현장에서 자주 보는 모습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790395" y="4076395"/>
            <a:ext cx="64776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66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≠ 학습</a:t>
            </a:r>
            <a:endParaRPr lang="en-US" sz="16500" dirty="0"/>
          </a:p>
        </p:txBody>
      </p:sp>
      <p:sp>
        <p:nvSpPr>
          <p:cNvPr id="17" name="Text 12"/>
          <p:cNvSpPr txBox="1"/>
          <p:nvPr/>
        </p:nvSpPr>
        <p:spPr>
          <a:xfrm>
            <a:off x="1790395" y="6933895"/>
            <a:ext cx="6477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초보 AI강사 강의안은</a:t>
            </a:r>
            <a:endParaRPr lang="en-US" sz="2400" dirty="0"/>
          </a:p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'도구 소개'에서 끝나기 쉽습니다 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1790395" y="8172907"/>
            <a:ext cx="64776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화면 캡처 수십 장, 프롬프트 예시 수십 개. 그런데 수강생이 '내 일에 어떻게 쓸지'는 여전히 모릅니다. 도구는 가르쳤지만, </a:t>
            </a: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학습은 설계되지 않았기 때문</a:t>
            </a: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 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9029700" y="3314700"/>
            <a:ext cx="8001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8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 → DESIGN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9029700" y="3696005"/>
            <a:ext cx="80010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69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"AI를 가르치는 것" 이 아니라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kern="0" spc="-69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"AI로 학습을 설계하는 것" </a:t>
            </a:r>
            <a:endParaRPr lang="en-US" sz="3400" dirty="0"/>
          </a:p>
        </p:txBody>
      </p:sp>
      <p:sp>
        <p:nvSpPr>
          <p:cNvPr id="21" name="Text 16"/>
          <p:cNvSpPr txBox="1"/>
          <p:nvPr/>
        </p:nvSpPr>
        <p:spPr>
          <a:xfrm>
            <a:off x="9411004" y="5458054"/>
            <a:ext cx="82185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800" dirty="0"/>
          </a:p>
        </p:txBody>
      </p:sp>
      <p:sp>
        <p:nvSpPr>
          <p:cNvPr id="22" name="Text 17"/>
          <p:cNvSpPr txBox="1"/>
          <p:nvPr/>
        </p:nvSpPr>
        <p:spPr>
          <a:xfrm>
            <a:off x="10362895" y="5505602"/>
            <a:ext cx="6477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학습목표가 먼저, 도구는 그 다음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0362895" y="5886907"/>
            <a:ext cx="6477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Bloom의 어느 단계를 도달시킬 것인가가 결정되어야 GPT를 쓸지, PBL을 쓸지가 정해집니다.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9411004" y="6886346"/>
            <a:ext cx="82185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800" dirty="0"/>
          </a:p>
        </p:txBody>
      </p:sp>
      <p:sp>
        <p:nvSpPr>
          <p:cNvPr id="25" name="Text 20"/>
          <p:cNvSpPr txBox="1"/>
          <p:nvPr/>
        </p:nvSpPr>
        <p:spPr>
          <a:xfrm>
            <a:off x="10362895" y="6933895"/>
            <a:ext cx="6477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이론은 강사를 게으르게 해준다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0362895" y="7315200"/>
            <a:ext cx="6477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'이거 어떻게 가르치지'를 처음부터 고민할 필요가 없습니다. 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13개의 검증된 설계 패턴이 이미 있습니다.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411004" y="8315554"/>
            <a:ext cx="82185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800" dirty="0"/>
          </a:p>
        </p:txBody>
      </p:sp>
      <p:sp>
        <p:nvSpPr>
          <p:cNvPr id="28" name="Text 23"/>
          <p:cNvSpPr txBox="1"/>
          <p:nvPr/>
        </p:nvSpPr>
        <p:spPr>
          <a:xfrm>
            <a:off x="10362895" y="8363102"/>
            <a:ext cx="6477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도구가 아니라 학습 환경이다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10362895" y="8744407"/>
            <a:ext cx="6477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강의안은 AI를 PPT 같은 매체가 아니라 학습자의 '제3의 동료'로 봅니다.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통합교수법 설계와 실행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62</a:t>
            </a:r>
            <a:endParaRPr lang="en-US" sz="9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3850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18288000" cy="10362895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abfd1ddde323358008a25be1bd9bac4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164113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10005" y="7315200"/>
            <a:ext cx="384779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410005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10505" y="7315200"/>
            <a:ext cx="384779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410505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411005" y="7315200"/>
            <a:ext cx="384779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411005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3411505" y="7315200"/>
            <a:ext cx="384779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3411505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gen-dedup-e4dc0fd02e0035cf785059b7ea33b82c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1410005" y="6743700"/>
            <a:ext cx="952805" cy="2834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18895" y="1410005"/>
            <a:ext cx="10478110" cy="523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0" b="1" kern="0" spc="-1560" dirty="0">
                <a:solidFill>
                  <a:srgbClr val="C9A961">
                    <a:alpha val="1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9000" dirty="0"/>
          </a:p>
        </p:txBody>
      </p:sp>
      <p:sp>
        <p:nvSpPr>
          <p:cNvPr id="14" name="Text 10"/>
          <p:cNvSpPr txBox="1"/>
          <p:nvPr/>
        </p:nvSpPr>
        <p:spPr>
          <a:xfrm>
            <a:off x="1410005" y="3696005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472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· 01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410005" y="4267505"/>
            <a:ext cx="156216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학습목표와 평가</a:t>
            </a:r>
            <a:endParaRPr lang="en-US" sz="7800" dirty="0"/>
          </a:p>
        </p:txBody>
      </p:sp>
      <p:sp>
        <p:nvSpPr>
          <p:cNvPr id="16" name="Text 12"/>
          <p:cNvSpPr txBox="1"/>
          <p:nvPr/>
        </p:nvSpPr>
        <p:spPr>
          <a:xfrm>
            <a:off x="1410005" y="5600700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도달하게 할 것인가, 그리고 그것을 어떻게 확인할 것인가</a:t>
            </a:r>
            <a:endParaRPr lang="en-US" sz="2700" dirty="0"/>
          </a:p>
        </p:txBody>
      </p:sp>
      <p:sp>
        <p:nvSpPr>
          <p:cNvPr id="17" name="Text 13"/>
          <p:cNvSpPr txBox="1"/>
          <p:nvPr/>
        </p:nvSpPr>
        <p:spPr>
          <a:xfrm>
            <a:off x="1695298" y="7552944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01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695298" y="7839151"/>
            <a:ext cx="3238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Bloom's Taxonomy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1695298" y="826800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인지적 복잡성의 6단계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695798" y="7552944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02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695798" y="7839151"/>
            <a:ext cx="3238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구성적 정렬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5695798" y="826800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ILO · TLA · AT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9696298" y="7552944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03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696298" y="7839151"/>
            <a:ext cx="3238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백워드 설계 (UbD)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9696298" y="826800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→ 평가 → 경험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3696798" y="7552944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04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3696798" y="7839151"/>
            <a:ext cx="3238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커크패트릭 4단계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13696798" y="826800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 · 학습 · 행동 · 결과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학습목표와 평가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62</a:t>
            </a:r>
            <a:endParaRPr lang="en-US" sz="9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92551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7477049" cy="552480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1410005" y="3696005"/>
            <a:ext cx="47549" cy="5524805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9219895" y="8363102"/>
            <a:ext cx="7810805" cy="761695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601200" y="7505395"/>
            <a:ext cx="7048195" cy="761695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982505" y="6648602"/>
            <a:ext cx="6286500" cy="761695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0362895" y="5790895"/>
            <a:ext cx="5524805" cy="761695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0744200" y="4934102"/>
            <a:ext cx="4762195" cy="761695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11125505" y="4172407"/>
            <a:ext cx="4000500" cy="76169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gen-dedup-6f7f7cbfa4d19992f807c7b49540dcf7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790395" y="6743700"/>
            <a:ext cx="571500" cy="192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THEORY 01 · BLOOM'S TAXONOMY (1956 · Revised 2001)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410005" y="1600200"/>
            <a:ext cx="142875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Bloom의 교육목표분류학</a:t>
            </a:r>
            <a:endParaRPr lang="en-US" sz="6000" dirty="0"/>
          </a:p>
        </p:txBody>
      </p:sp>
      <p:sp>
        <p:nvSpPr>
          <p:cNvPr id="16" name="Text 11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학습목표를 인지적 복잡성에 따라 6단계로 분류한 가장 널리 쓰이는 체계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90395" y="4076395"/>
            <a:ext cx="6667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790395" y="4457700"/>
            <a:ext cx="6667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정의</a:t>
            </a:r>
            <a:endParaRPr lang="en-US" sz="2700" dirty="0"/>
          </a:p>
        </p:txBody>
      </p:sp>
      <p:sp>
        <p:nvSpPr>
          <p:cNvPr id="19" name="Text 14"/>
          <p:cNvSpPr txBox="1"/>
          <p:nvPr/>
        </p:nvSpPr>
        <p:spPr>
          <a:xfrm>
            <a:off x="1790395" y="5124298"/>
            <a:ext cx="6667805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"안다"를 6단계로 쪼개서, </a:t>
            </a:r>
          </a:p>
          <a:p>
            <a:pPr marL="0" indent="0" algn="ctr">
              <a:buNone/>
            </a:pPr>
            <a:r>
              <a:rPr lang="en-US" sz="2400" b="1" dirty="0" err="1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</a:t>
            </a:r>
            <a:r>
              <a:rPr lang="en-US" sz="2400" b="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400" b="1" dirty="0" err="1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가르치는</a:t>
            </a:r>
            <a:r>
              <a:rPr lang="en-US" sz="2400" b="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게 어느 깊이까지인지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스스로 점검하게 하는 척도. 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1790395" y="7029907"/>
            <a:ext cx="6667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HISTORY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790395" y="7362749"/>
            <a:ext cx="666780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1956 — Benjamin Bloom 등 대학 시험관 위원회가 편찬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2001 — Anderson &amp; Krathwohl이 동사형으로 개정 (현재 표준)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최근 — AI 시대에 '평가·창안'의 위상이 다시 재해석되는 중 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9314992" y="3714750"/>
            <a:ext cx="7810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PYRAMID · 아래에서 위로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9506102" y="8572500"/>
            <a:ext cx="762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0362895" y="8600846"/>
            <a:ext cx="2857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 Remember</a:t>
            </a:r>
            <a:endParaRPr lang="en-US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13411505" y="8648395"/>
            <a:ext cx="3429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정의하다 · 나열하다 · 회상하다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9887407" y="7715707"/>
            <a:ext cx="762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10744200" y="7744054"/>
            <a:ext cx="2667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 Understand</a:t>
            </a:r>
            <a:endParaRPr lang="en-US" sz="1900" dirty="0"/>
          </a:p>
        </p:txBody>
      </p:sp>
      <p:sp>
        <p:nvSpPr>
          <p:cNvPr id="28" name="Text 23"/>
          <p:cNvSpPr txBox="1"/>
          <p:nvPr/>
        </p:nvSpPr>
        <p:spPr>
          <a:xfrm>
            <a:off x="13601700" y="7791602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설명하다 · 요약하다 · 분류하다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10267798" y="6858000"/>
            <a:ext cx="762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11125505" y="6886346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Apply</a:t>
            </a:r>
            <a:endParaRPr lang="en-US" sz="1900" dirty="0"/>
          </a:p>
        </p:txBody>
      </p:sp>
      <p:sp>
        <p:nvSpPr>
          <p:cNvPr id="31" name="Text 26"/>
          <p:cNvSpPr txBox="1"/>
          <p:nvPr/>
        </p:nvSpPr>
        <p:spPr>
          <a:xfrm>
            <a:off x="13506602" y="6933895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실행하다 · 사용하다 · 수행하다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0649102" y="6001207"/>
            <a:ext cx="762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L4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11505895" y="6029554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Analyze</a:t>
            </a:r>
            <a:endParaRPr lang="en-US" sz="1900" dirty="0"/>
          </a:p>
        </p:txBody>
      </p:sp>
      <p:sp>
        <p:nvSpPr>
          <p:cNvPr id="34" name="Text 29"/>
          <p:cNvSpPr txBox="1"/>
          <p:nvPr/>
        </p:nvSpPr>
        <p:spPr>
          <a:xfrm>
            <a:off x="13887907" y="6077102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 · 조직 · 귀속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11030407" y="5143500"/>
            <a:ext cx="762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L5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1887200" y="5171846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Evaluate</a:t>
            </a:r>
            <a:endParaRPr lang="en-US" sz="1900" dirty="0"/>
          </a:p>
        </p:txBody>
      </p:sp>
      <p:sp>
        <p:nvSpPr>
          <p:cNvPr id="37" name="Text 32"/>
          <p:cNvSpPr txBox="1"/>
          <p:nvPr/>
        </p:nvSpPr>
        <p:spPr>
          <a:xfrm>
            <a:off x="13887907" y="5219395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· 비판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11410798" y="4381805"/>
            <a:ext cx="762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L6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12268505" y="4410151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창안 Create</a:t>
            </a:r>
            <a:endParaRPr lang="en-US" sz="1900" dirty="0"/>
          </a:p>
        </p:txBody>
      </p:sp>
      <p:sp>
        <p:nvSpPr>
          <p:cNvPr id="40" name="Text 35"/>
          <p:cNvSpPr txBox="1"/>
          <p:nvPr/>
        </p:nvSpPr>
        <p:spPr>
          <a:xfrm>
            <a:off x="14268297" y="4457700"/>
            <a:ext cx="857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· 산출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학습목표와 평가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62</a:t>
            </a:r>
            <a:endParaRPr lang="en-US" sz="900" dirty="0"/>
          </a:p>
        </p:txBody>
      </p:sp>
      <p:sp>
        <p:nvSpPr>
          <p:cNvPr id="43" name="출처 각주"/>
          <p:cNvSpPr txBox="1"/>
          <p:nvPr/>
        </p:nvSpPr>
        <p:spPr>
          <a:xfrm>
            <a:off x="4663440" y="9772650"/>
            <a:ext cx="11338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Bloom, B. S. (Ed.) (1956). Taxonomy of Educational Objectives, Handbook I. David McKay / Anderson, L. W. &amp; Krathwohl, D. R. (Eds.) (2001). Longman</a:t>
            </a:r>
            <a:endParaRPr lang="en-US" sz="9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0141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542386"/>
            <a:ext cx="2572207" cy="56208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6" name="Shape 2"/>
          <p:cNvSpPr/>
          <p:nvPr/>
        </p:nvSpPr>
        <p:spPr>
          <a:xfrm>
            <a:off x="1410005" y="3542386"/>
            <a:ext cx="2572207" cy="10479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7" name="Shape 3"/>
          <p:cNvSpPr/>
          <p:nvPr/>
        </p:nvSpPr>
        <p:spPr>
          <a:xfrm>
            <a:off x="4076395" y="3542386"/>
            <a:ext cx="2572207" cy="56208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4076395" y="3542386"/>
            <a:ext cx="2572207" cy="1047902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6743700" y="3542386"/>
            <a:ext cx="2572207" cy="56208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10" name="Shape 6"/>
          <p:cNvSpPr/>
          <p:nvPr/>
        </p:nvSpPr>
        <p:spPr>
          <a:xfrm>
            <a:off x="6743700" y="3542386"/>
            <a:ext cx="2572207" cy="1047902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11" name="Shape 7"/>
          <p:cNvSpPr/>
          <p:nvPr/>
        </p:nvSpPr>
        <p:spPr>
          <a:xfrm>
            <a:off x="9506102" y="3542386"/>
            <a:ext cx="2572207" cy="56208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12" name="Shape 8"/>
          <p:cNvSpPr/>
          <p:nvPr/>
        </p:nvSpPr>
        <p:spPr>
          <a:xfrm>
            <a:off x="9411005" y="3542386"/>
            <a:ext cx="2572207" cy="104790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13" name="Shape 9"/>
          <p:cNvSpPr/>
          <p:nvPr/>
        </p:nvSpPr>
        <p:spPr>
          <a:xfrm>
            <a:off x="12172492" y="3542386"/>
            <a:ext cx="2572207" cy="562081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14" name="Shape 10"/>
          <p:cNvSpPr/>
          <p:nvPr/>
        </p:nvSpPr>
        <p:spPr>
          <a:xfrm>
            <a:off x="12077395" y="3542386"/>
            <a:ext cx="2572207" cy="1047902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15" name="Shape 11"/>
          <p:cNvSpPr/>
          <p:nvPr/>
        </p:nvSpPr>
        <p:spPr>
          <a:xfrm>
            <a:off x="14839797" y="3542386"/>
            <a:ext cx="2572207" cy="5620816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16" name="Shape 12"/>
          <p:cNvSpPr/>
          <p:nvPr/>
        </p:nvSpPr>
        <p:spPr>
          <a:xfrm>
            <a:off x="14744700" y="3542386"/>
            <a:ext cx="2572207" cy="1047902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17" name="Text 13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· ACTION VERBS · 강사가 가장 자주 쓰는 표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학습목표를 쓸 때, 이 동사를 쓰세요</a:t>
            </a:r>
            <a:endParaRPr lang="en-US" sz="5400" dirty="0"/>
          </a:p>
        </p:txBody>
      </p:sp>
      <p:sp>
        <p:nvSpPr>
          <p:cNvPr id="19" name="Text 15"/>
          <p:cNvSpPr txBox="1"/>
          <p:nvPr/>
        </p:nvSpPr>
        <p:spPr>
          <a:xfrm>
            <a:off x="1410005" y="2838298"/>
            <a:ext cx="15621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"안다 / 이해한다"는 측정 불가능. → 수강생이 무엇을 '행동'으로 보여줘야 하는지로 바꿉니다.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600200" y="3732581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1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600199" y="3970325"/>
            <a:ext cx="228508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 · Remember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1600200" y="4780483"/>
            <a:ext cx="2190902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정의하다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나열하다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회상하다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식별하다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명명하다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인식하다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진술하다 </a:t>
            </a:r>
            <a:endParaRPr lang="en-US" dirty="0"/>
          </a:p>
        </p:txBody>
      </p:sp>
      <p:sp>
        <p:nvSpPr>
          <p:cNvPr id="23" name="Text 19"/>
          <p:cNvSpPr txBox="1"/>
          <p:nvPr/>
        </p:nvSpPr>
        <p:spPr>
          <a:xfrm>
            <a:off x="4267505" y="3732581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1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267504" y="3970325"/>
            <a:ext cx="228508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 · Understand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4267505" y="4780483"/>
            <a:ext cx="2190902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설명하다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예시를 들다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번역하다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대조하다 </a:t>
            </a:r>
            <a:endParaRPr lang="en-US" dirty="0"/>
          </a:p>
        </p:txBody>
      </p:sp>
      <p:sp>
        <p:nvSpPr>
          <p:cNvPr id="26" name="Text 22"/>
          <p:cNvSpPr txBox="1"/>
          <p:nvPr/>
        </p:nvSpPr>
        <p:spPr>
          <a:xfrm>
            <a:off x="6933895" y="3732581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1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6933895" y="3970325"/>
            <a:ext cx="2190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· Apply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6933895" y="4780483"/>
            <a:ext cx="2190902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실행하다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제작하다 </a:t>
            </a:r>
            <a:endParaRPr lang="en-US" dirty="0"/>
          </a:p>
        </p:txBody>
      </p:sp>
      <p:sp>
        <p:nvSpPr>
          <p:cNvPr id="29" name="Text 25"/>
          <p:cNvSpPr txBox="1"/>
          <p:nvPr/>
        </p:nvSpPr>
        <p:spPr>
          <a:xfrm>
            <a:off x="9601200" y="3732581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1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L4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9601200" y="3970325"/>
            <a:ext cx="2190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· Analyze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9601200" y="4780483"/>
            <a:ext cx="2190902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구분하다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속성을 찾다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대조하다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분해하다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관계를 찾다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도식화하다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실험하다 </a:t>
            </a:r>
            <a:endParaRPr lang="en-US" dirty="0"/>
          </a:p>
        </p:txBody>
      </p:sp>
      <p:sp>
        <p:nvSpPr>
          <p:cNvPr id="32" name="Text 28"/>
          <p:cNvSpPr txBox="1"/>
          <p:nvPr/>
        </p:nvSpPr>
        <p:spPr>
          <a:xfrm>
            <a:off x="12268505" y="3732581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1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L5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2268505" y="3970325"/>
            <a:ext cx="2190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· Evaluate</a:t>
            </a:r>
            <a:endParaRPr lang="en-US" sz="2000" dirty="0"/>
          </a:p>
        </p:txBody>
      </p:sp>
      <p:sp>
        <p:nvSpPr>
          <p:cNvPr id="34" name="Text 30"/>
          <p:cNvSpPr txBox="1"/>
          <p:nvPr/>
        </p:nvSpPr>
        <p:spPr>
          <a:xfrm>
            <a:off x="12268505" y="4780483"/>
            <a:ext cx="2190902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판단하다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비판하다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변호하다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지지하다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정당화하다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등급을 매기다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검증하다 </a:t>
            </a:r>
            <a:endParaRPr lang="en-US" dirty="0"/>
          </a:p>
        </p:txBody>
      </p:sp>
      <p:sp>
        <p:nvSpPr>
          <p:cNvPr id="35" name="Text 31"/>
          <p:cNvSpPr txBox="1"/>
          <p:nvPr/>
        </p:nvSpPr>
        <p:spPr>
          <a:xfrm>
            <a:off x="14934895" y="3732581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1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L6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14934895" y="3970325"/>
            <a:ext cx="2190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창안 · Create</a:t>
            </a:r>
            <a:endParaRPr lang="en-US" sz="2000" dirty="0"/>
          </a:p>
        </p:txBody>
      </p:sp>
      <p:sp>
        <p:nvSpPr>
          <p:cNvPr id="37" name="Text 33"/>
          <p:cNvSpPr txBox="1"/>
          <p:nvPr/>
        </p:nvSpPr>
        <p:spPr>
          <a:xfrm>
            <a:off x="14934895" y="4780483"/>
            <a:ext cx="2190902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설계하다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고안하다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발명하다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제안하다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개발하다 </a:t>
            </a:r>
            <a:endParaRPr lang="en-US" dirty="0"/>
          </a:p>
        </p:txBody>
      </p:sp>
      <p:sp>
        <p:nvSpPr>
          <p:cNvPr id="38" name="Text 34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학습목표와 평가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62</a:t>
            </a:r>
            <a:endParaRPr lang="en-US" sz="9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70305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15620695" cy="571500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2"/>
          <p:cNvSpPr/>
          <p:nvPr/>
        </p:nvSpPr>
        <p:spPr>
          <a:xfrm>
            <a:off x="1410005" y="4410151"/>
            <a:ext cx="15620695" cy="857707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3"/>
          <p:cNvSpPr/>
          <p:nvPr/>
        </p:nvSpPr>
        <p:spPr>
          <a:xfrm>
            <a:off x="1410005" y="5410505"/>
            <a:ext cx="15620695" cy="857707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1410005" y="6409944"/>
            <a:ext cx="15620695" cy="857707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1410005" y="7410298"/>
            <a:ext cx="15620695" cy="857707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6"/>
          <p:cNvSpPr/>
          <p:nvPr/>
        </p:nvSpPr>
        <p:spPr>
          <a:xfrm>
            <a:off x="1410005" y="8410651"/>
            <a:ext cx="15620695" cy="857707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1" name="Image 2" descr="gen-dedup-4f003feef7445cfc14d82be2d2322490.png"/>
          <p:cNvPicPr>
            <a:picLocks noChangeAspect="1"/>
          </p:cNvPicPr>
          <p:nvPr/>
        </p:nvPicPr>
        <p:blipFill>
          <a:blip r:embed="rId5"/>
          <a:srcRect l="-373" r="-373"/>
          <a:stretch/>
        </p:blipFill>
        <p:spPr>
          <a:xfrm>
            <a:off x="1410005" y="4410151"/>
            <a:ext cx="57607" cy="857707"/>
          </a:xfrm>
          <a:prstGeom prst="rect">
            <a:avLst/>
          </a:prstGeom>
        </p:spPr>
      </p:pic>
      <p:pic>
        <p:nvPicPr>
          <p:cNvPr id="12" name="Image 3" descr="gen-dedup-87007961269d98628b8d85325f4c3d97.png"/>
          <p:cNvPicPr>
            <a:picLocks noChangeAspect="1"/>
          </p:cNvPicPr>
          <p:nvPr/>
        </p:nvPicPr>
        <p:blipFill>
          <a:blip r:embed="rId6"/>
          <a:srcRect l="-373" r="-373"/>
          <a:stretch/>
        </p:blipFill>
        <p:spPr>
          <a:xfrm>
            <a:off x="1410005" y="5410505"/>
            <a:ext cx="57607" cy="857707"/>
          </a:xfrm>
          <a:prstGeom prst="rect">
            <a:avLst/>
          </a:prstGeom>
        </p:spPr>
      </p:pic>
      <p:pic>
        <p:nvPicPr>
          <p:cNvPr id="13" name="Image 4" descr="gen-dedup-07158c59e6d08a651d1b1b6dd7e3ab69.png"/>
          <p:cNvPicPr>
            <a:picLocks noChangeAspect="1"/>
          </p:cNvPicPr>
          <p:nvPr/>
        </p:nvPicPr>
        <p:blipFill>
          <a:blip r:embed="rId7"/>
          <a:srcRect l="-373" r="-373"/>
          <a:stretch/>
        </p:blipFill>
        <p:spPr>
          <a:xfrm>
            <a:off x="1410005" y="6409944"/>
            <a:ext cx="57607" cy="857707"/>
          </a:xfrm>
          <a:prstGeom prst="rect">
            <a:avLst/>
          </a:prstGeom>
        </p:spPr>
      </p:pic>
      <p:pic>
        <p:nvPicPr>
          <p:cNvPr id="14" name="Image 5" descr="gen-dedup-07158c59e6d08a651d1b1b6dd7e3ab69.png"/>
          <p:cNvPicPr>
            <a:picLocks noChangeAspect="1"/>
          </p:cNvPicPr>
          <p:nvPr/>
        </p:nvPicPr>
        <p:blipFill>
          <a:blip r:embed="rId7"/>
          <a:srcRect l="-373" r="-373"/>
          <a:stretch/>
        </p:blipFill>
        <p:spPr>
          <a:xfrm>
            <a:off x="1410005" y="7410298"/>
            <a:ext cx="57607" cy="857707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× AI · 어떤 단계에서 어떤 AI 도구를 쓸까</a:t>
            </a:r>
            <a:endParaRPr lang="en-US" sz="1000" dirty="0"/>
          </a:p>
        </p:txBody>
      </p:sp>
      <p:sp>
        <p:nvSpPr>
          <p:cNvPr id="16" name="Text 8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L1·L2를 대체하면, 강의는 어디로?</a:t>
            </a:r>
            <a:endParaRPr lang="en-US" sz="5400" dirty="0"/>
          </a:p>
        </p:txBody>
      </p:sp>
      <p:sp>
        <p:nvSpPr>
          <p:cNvPr id="17" name="Text 9"/>
          <p:cNvSpPr txBox="1"/>
          <p:nvPr/>
        </p:nvSpPr>
        <p:spPr>
          <a:xfrm>
            <a:off x="1410005" y="28382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ChatGPT가 정의·요약을 5초 만에 해주는 시대. 강사의 자리는 자연스럽게 </a:t>
            </a: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 적용</a:t>
            </a: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위로 이동합니다. </a:t>
            </a:r>
            <a:endParaRPr lang="en-US" sz="1600" dirty="0"/>
          </a:p>
        </p:txBody>
      </p:sp>
      <p:sp>
        <p:nvSpPr>
          <p:cNvPr id="18" name="Text 10"/>
          <p:cNvSpPr txBox="1"/>
          <p:nvPr/>
        </p:nvSpPr>
        <p:spPr>
          <a:xfrm>
            <a:off x="1695298" y="3866998"/>
            <a:ext cx="2286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단계</a:t>
            </a:r>
            <a:endParaRPr lang="en-US" sz="1600" b="1" dirty="0"/>
          </a:p>
        </p:txBody>
      </p:sp>
      <p:sp>
        <p:nvSpPr>
          <p:cNvPr id="19" name="Text 11"/>
          <p:cNvSpPr txBox="1"/>
          <p:nvPr/>
        </p:nvSpPr>
        <p:spPr>
          <a:xfrm>
            <a:off x="4934103" y="3866998"/>
            <a:ext cx="428579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잘하는 것 (위임 가능)</a:t>
            </a:r>
            <a:endParaRPr lang="en-US" sz="1600" b="1" dirty="0"/>
          </a:p>
        </p:txBody>
      </p:sp>
      <p:sp>
        <p:nvSpPr>
          <p:cNvPr id="20" name="Text 12"/>
          <p:cNvSpPr txBox="1"/>
          <p:nvPr/>
        </p:nvSpPr>
        <p:spPr>
          <a:xfrm>
            <a:off x="11614149" y="3866998"/>
            <a:ext cx="522635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강사·학습자가 해야 할 것 (못 위임)</a:t>
            </a:r>
            <a:endParaRPr lang="en-US" sz="1600" b="1" dirty="0"/>
          </a:p>
        </p:txBody>
      </p:sp>
      <p:sp>
        <p:nvSpPr>
          <p:cNvPr id="21" name="Text 13"/>
          <p:cNvSpPr txBox="1"/>
          <p:nvPr/>
        </p:nvSpPr>
        <p:spPr>
          <a:xfrm>
            <a:off x="1695298" y="4629607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 기억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4934103" y="4629607"/>
            <a:ext cx="523859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용어 정의, 사실 회상, 목록 </a:t>
            </a:r>
            <a:r>
              <a:rPr lang="en-US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</a:t>
            </a: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대부분 위임 가능</a:t>
            </a:r>
            <a:r>
              <a:rPr lang="en-US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dirty="0"/>
          </a:p>
        </p:txBody>
      </p:sp>
      <p:sp>
        <p:nvSpPr>
          <p:cNvPr id="23" name="Text 15"/>
          <p:cNvSpPr txBox="1"/>
          <p:nvPr/>
        </p:nvSpPr>
        <p:spPr>
          <a:xfrm>
            <a:off x="11614150" y="4629607"/>
            <a:ext cx="52263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답이 맞는지 확인하는 </a:t>
            </a:r>
            <a:r>
              <a:rPr lang="en-US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안목</a:t>
            </a: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기르는 것</a:t>
            </a:r>
            <a:endParaRPr lang="en-US" dirty="0"/>
          </a:p>
        </p:txBody>
      </p:sp>
      <p:sp>
        <p:nvSpPr>
          <p:cNvPr id="24" name="Text 16"/>
          <p:cNvSpPr txBox="1"/>
          <p:nvPr/>
        </p:nvSpPr>
        <p:spPr>
          <a:xfrm>
            <a:off x="1695298" y="5629046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 이해</a:t>
            </a:r>
            <a:endParaRPr lang="en-US" sz="2000" dirty="0"/>
          </a:p>
        </p:txBody>
      </p:sp>
      <p:sp>
        <p:nvSpPr>
          <p:cNvPr id="25" name="Text 17"/>
          <p:cNvSpPr txBox="1"/>
          <p:nvPr/>
        </p:nvSpPr>
        <p:spPr>
          <a:xfrm>
            <a:off x="4934103" y="5629046"/>
            <a:ext cx="523859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 설명, 요약, 비유 — 생성형 AI가 잘하는 영역</a:t>
            </a:r>
            <a:endParaRPr lang="en-US" dirty="0"/>
          </a:p>
        </p:txBody>
      </p:sp>
      <p:sp>
        <p:nvSpPr>
          <p:cNvPr id="26" name="Text 18"/>
          <p:cNvSpPr txBox="1"/>
          <p:nvPr/>
        </p:nvSpPr>
        <p:spPr>
          <a:xfrm>
            <a:off x="11614150" y="5629046"/>
            <a:ext cx="52263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 언어로 다시 말해보기, 학습자 맥락으로 번역하기</a:t>
            </a:r>
            <a:endParaRPr lang="en-US" dirty="0"/>
          </a:p>
        </p:txBody>
      </p:sp>
      <p:sp>
        <p:nvSpPr>
          <p:cNvPr id="27" name="Text 19"/>
          <p:cNvSpPr txBox="1"/>
          <p:nvPr/>
        </p:nvSpPr>
        <p:spPr>
          <a:xfrm>
            <a:off x="1695298" y="6629400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 적용 ← 강의 시작점</a:t>
            </a:r>
            <a:endParaRPr lang="en-US" sz="2000" dirty="0"/>
          </a:p>
        </p:txBody>
      </p:sp>
      <p:sp>
        <p:nvSpPr>
          <p:cNvPr id="28" name="Text 20"/>
          <p:cNvSpPr txBox="1"/>
          <p:nvPr/>
        </p:nvSpPr>
        <p:spPr>
          <a:xfrm>
            <a:off x="4934103" y="6629400"/>
            <a:ext cx="523859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절차 따라하기, 코드 작성 보조, 템플릿 채우기</a:t>
            </a:r>
            <a:endParaRPr lang="en-US" dirty="0"/>
          </a:p>
        </p:txBody>
      </p:sp>
      <p:sp>
        <p:nvSpPr>
          <p:cNvPr id="29" name="Text 21"/>
          <p:cNvSpPr txBox="1"/>
          <p:nvPr/>
        </p:nvSpPr>
        <p:spPr>
          <a:xfrm>
            <a:off x="11614150" y="6629400"/>
            <a:ext cx="52263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맥락에 맞게 변형하기 — AI에게 '맥락'을 주는 능력</a:t>
            </a:r>
            <a:endParaRPr lang="en-US" dirty="0"/>
          </a:p>
        </p:txBody>
      </p:sp>
      <p:sp>
        <p:nvSpPr>
          <p:cNvPr id="30" name="Text 22"/>
          <p:cNvSpPr txBox="1"/>
          <p:nvPr/>
        </p:nvSpPr>
        <p:spPr>
          <a:xfrm>
            <a:off x="1695298" y="7629754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L4 분석</a:t>
            </a:r>
            <a:endParaRPr lang="en-US" sz="2000" dirty="0"/>
          </a:p>
        </p:txBody>
      </p:sp>
      <p:sp>
        <p:nvSpPr>
          <p:cNvPr id="31" name="Text 23"/>
          <p:cNvSpPr txBox="1"/>
          <p:nvPr/>
        </p:nvSpPr>
        <p:spPr>
          <a:xfrm>
            <a:off x="4934103" y="7629754"/>
            <a:ext cx="635619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분해, 상관관계 찾기, 패턴 추출 — AI 데이터 분석 도구</a:t>
            </a:r>
            <a:endParaRPr lang="en-US" dirty="0"/>
          </a:p>
        </p:txBody>
      </p:sp>
      <p:sp>
        <p:nvSpPr>
          <p:cNvPr id="32" name="Text 24"/>
          <p:cNvSpPr txBox="1"/>
          <p:nvPr/>
        </p:nvSpPr>
        <p:spPr>
          <a:xfrm>
            <a:off x="11614150" y="7629754"/>
            <a:ext cx="52263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 해석, "그래서 무엇이 중요한가" 판단</a:t>
            </a:r>
            <a:endParaRPr lang="en-US" dirty="0"/>
          </a:p>
        </p:txBody>
      </p:sp>
      <p:sp>
        <p:nvSpPr>
          <p:cNvPr id="33" name="Text 25"/>
          <p:cNvSpPr txBox="1"/>
          <p:nvPr/>
        </p:nvSpPr>
        <p:spPr>
          <a:xfrm>
            <a:off x="1695298" y="8630107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L5·L6 평가·창안</a:t>
            </a:r>
            <a:endParaRPr lang="en-US" sz="2000" dirty="0"/>
          </a:p>
        </p:txBody>
      </p:sp>
      <p:sp>
        <p:nvSpPr>
          <p:cNvPr id="34" name="Text 26"/>
          <p:cNvSpPr txBox="1"/>
          <p:nvPr/>
        </p:nvSpPr>
        <p:spPr>
          <a:xfrm>
            <a:off x="5219395" y="8630107"/>
            <a:ext cx="4953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초안·대안 생성, 옵션 나열 — AI가 '재료'는 줄 수 있음</a:t>
            </a:r>
            <a:endParaRPr lang="en-US" dirty="0"/>
          </a:p>
        </p:txBody>
      </p:sp>
      <p:sp>
        <p:nvSpPr>
          <p:cNvPr id="35" name="Text 27"/>
          <p:cNvSpPr txBox="1"/>
          <p:nvPr/>
        </p:nvSpPr>
        <p:spPr>
          <a:xfrm>
            <a:off x="10362895" y="8630107"/>
            <a:ext cx="6477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판단 · 책임지는 선택 · 윤리적 결정 — 오직 사람</a:t>
            </a:r>
            <a:endParaRPr lang="en-US" dirty="0"/>
          </a:p>
        </p:txBody>
      </p:sp>
      <p:sp>
        <p:nvSpPr>
          <p:cNvPr id="36" name="Text 28"/>
          <p:cNvSpPr txBox="1"/>
          <p:nvPr/>
        </p:nvSpPr>
        <p:spPr>
          <a:xfrm>
            <a:off x="1410005" y="9696298"/>
            <a:ext cx="15621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강사의 일은 'L1·L2 가르치기'에서 'L3 이상으로 학습자를 끌어올리기'로 이동합니다. 그 사다리가 곧 강의 설계입니다.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62</a:t>
            </a:r>
            <a:endParaRPr lang="en-US" sz="9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77472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01 / 13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Bloom's Taxonomy</a:t>
            </a:r>
            <a:endParaRPr lang="en-US" sz="54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블룸의 교육목표분류학 (1956 / 개정 2001)</a:t>
            </a:r>
            <a:endParaRPr lang="en-US" sz="20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400" b="1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학습목표를 인지적 복잡성에 따라 6단계로 분류한 체계.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L1 기억 → L2 이해 → L3 적용 → L4 분석 → L5 평가 → L6 창안.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각 단계는 위 단계로 가기 위한 토대(scaffold)가 됩니다. </a:t>
            </a:r>
            <a:endParaRPr lang="en-US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400" b="1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"안다"는 측정 불가능.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 동사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써야 평가 가능합니다.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시대에는 L1·L2가 위임 가능 영역이 되었고,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강의는 L3 이상으로 학습자를 끌어올리는 데 집중합니다. </a:t>
            </a:r>
            <a:endParaRPr lang="en-US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강의 적용 예시</a:t>
            </a:r>
            <a:endParaRPr lang="en-US" sz="1400" b="1" dirty="0"/>
          </a:p>
        </p:txBody>
      </p:sp>
      <p:sp>
        <p:nvSpPr>
          <p:cNvPr id="17" name="Text 10"/>
          <p:cNvSpPr txBox="1"/>
          <p:nvPr/>
        </p:nvSpPr>
        <p:spPr>
          <a:xfrm>
            <a:off x="1600200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Before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"ChatGPT를 이해한다"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After (L2)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"ChatGPT의 작동 원리를 3문장으로 설명한다"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After (L3)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"내 업무 문서 1편을 GPT로 요약·교정한다"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After (L5)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"두 AI 도구의 답을 비교해 더 나은 쪽을 근거와 함께 선택한다"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After (L6)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"내 업무를 위한 프롬프트 템플릿 1개를 설계한다" 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400" b="1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내 학습목표 문장에 측정 가능한 </a:t>
            </a: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동사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들어 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목표한 단계와 평가가 같은 단계에 있는가 (L3 목표 → L3 평가)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AI가 L1·L2를 대신하는 시대를 반영해 L3↑로 설계했는가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한 강의 안에 단계 사다리(L1→L3)가 보이는가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학습자에게 동사 그대로 "오늘 ~을 ~합니다"라고 말했는가 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SUMMARY CARD 01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62</a:t>
            </a:r>
            <a:endParaRPr lang="en-US" sz="105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5396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2" descr="gen-dedup-5d4cb9c52a4e986b3b6b75ddd6fb5645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1239012" y="3229203"/>
            <a:ext cx="14477695" cy="5333695"/>
          </a:xfrm>
          <a:prstGeom prst="rect">
            <a:avLst/>
          </a:prstGeom>
        </p:spPr>
      </p:pic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4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838798" y="3886200"/>
            <a:ext cx="3238805" cy="1524305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3314700" y="6933895"/>
            <a:ext cx="3238805" cy="1524305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0362895" y="6933895"/>
            <a:ext cx="3238805" cy="152430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410005" y="3886200"/>
            <a:ext cx="3530600" cy="19046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410005" y="3886200"/>
            <a:ext cx="38405" cy="1904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3887907" y="3886200"/>
            <a:ext cx="3181198" cy="19046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3887907" y="3886200"/>
            <a:ext cx="38405" cy="1904695"/>
          </a:xfrm>
          <a:prstGeom prst="rect">
            <a:avLst/>
          </a:prstGeom>
          <a:solidFill>
            <a:srgbClr val="D9694C"/>
          </a:solidFill>
          <a:ln w="12700">
            <a:solidFill>
              <a:srgbClr val="D969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THEORY 02 · CONSTRUCTIVE ALIGNMENT (BIGGS, 1996)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구성적 정렬 (Constructive Alignment)</a:t>
            </a:r>
            <a:endParaRPr lang="en-US" sz="6000" dirty="0"/>
          </a:p>
        </p:txBody>
      </p:sp>
      <p:sp>
        <p:nvSpPr>
          <p:cNvPr id="15" name="Text 10"/>
          <p:cNvSpPr txBox="1"/>
          <p:nvPr/>
        </p:nvSpPr>
        <p:spPr>
          <a:xfrm>
            <a:off x="1410005" y="28382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"내가 가르친 것 = 학습자가 배운 것 = 시험에 나온 것" — 세 개가 어긋나면 강의는 무너집니다.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125005" y="4123944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ILO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7125005" y="4457700"/>
            <a:ext cx="2667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학습성과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7125005" y="4886554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Intended Learning Outcomes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600907" y="7172554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TLA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3600907" y="7505395"/>
            <a:ext cx="2667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교수-학습활동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3600907" y="7934249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Teaching &amp; Learning Activities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0649102" y="7172554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0649102" y="7505395"/>
            <a:ext cx="2667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평가과제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10649102" y="7934249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Assessment Tasks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7125005" y="5886907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aligned</a:t>
            </a:r>
            <a:endParaRPr lang="en-US" sz="2100" dirty="0"/>
          </a:p>
        </p:txBody>
      </p:sp>
      <p:sp>
        <p:nvSpPr>
          <p:cNvPr id="26" name="Text 21"/>
          <p:cNvSpPr txBox="1"/>
          <p:nvPr/>
        </p:nvSpPr>
        <p:spPr>
          <a:xfrm>
            <a:off x="1600200" y="4123944"/>
            <a:ext cx="1334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1100" b="1" dirty="0"/>
          </a:p>
        </p:txBody>
      </p:sp>
      <p:sp>
        <p:nvSpPr>
          <p:cNvPr id="27" name="Text 22"/>
          <p:cNvSpPr txBox="1"/>
          <p:nvPr/>
        </p:nvSpPr>
        <p:spPr>
          <a:xfrm>
            <a:off x="1600200" y="4457700"/>
            <a:ext cx="35306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</a:t>
            </a:r>
            <a:r>
              <a:rPr lang="en-US" sz="1600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꼭짓점은</a:t>
            </a: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</a:t>
            </a: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Bloom 단계</a:t>
            </a: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가리켜야 합니다.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14078102" y="4123944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ANTI-PATTERN</a:t>
            </a:r>
            <a:endParaRPr lang="en-US" sz="1100" b="1" dirty="0"/>
          </a:p>
        </p:txBody>
      </p:sp>
      <p:sp>
        <p:nvSpPr>
          <p:cNvPr id="29" name="Text 24"/>
          <p:cNvSpPr txBox="1"/>
          <p:nvPr/>
        </p:nvSpPr>
        <p:spPr>
          <a:xfrm>
            <a:off x="14078102" y="4457700"/>
            <a:ext cx="28575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 적용을 </a:t>
            </a:r>
            <a:r>
              <a:rPr lang="en-US" sz="1600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가르치고</a:t>
            </a: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 기억을 </a:t>
            </a:r>
            <a:r>
              <a:rPr lang="en-US" sz="1600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평가하면</a:t>
            </a: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학습자는</a:t>
            </a: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벼락치기</a:t>
            </a: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회귀합니다.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1410005" y="9124798"/>
            <a:ext cx="15621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"Students learn what they think they will be assessed on." — John Biggs (Ramsden, 1992 인용)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학습목표와 평가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62</a:t>
            </a:r>
            <a:endParaRPr lang="en-US" sz="900" dirty="0"/>
          </a:p>
        </p:txBody>
      </p:sp>
      <p:sp>
        <p:nvSpPr>
          <p:cNvPr id="33" name="출처 각주"/>
          <p:cNvSpPr txBox="1"/>
          <p:nvPr/>
        </p:nvSpPr>
        <p:spPr>
          <a:xfrm>
            <a:off x="4663440" y="9772650"/>
            <a:ext cx="11338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Biggs, J. (1996). Enhancing teaching through constructive alignment. Higher Education, 32(3), 347–364 / 인용: Ramsden, P. (1992). Learning to Teach in Higher Education. Routledge</a:t>
            </a:r>
            <a:endParaRPr lang="en-US" sz="9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42592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00907"/>
            <a:ext cx="7543800" cy="5544007"/>
          </a:xfrm>
          <a:prstGeom prst="rect">
            <a:avLst/>
          </a:prstGeom>
          <a:solidFill>
            <a:srgbClr val="FEF7F4"/>
          </a:solidFill>
          <a:ln w="12700">
            <a:solidFill>
              <a:srgbClr val="F2D4C8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" name="Shape 2"/>
          <p:cNvSpPr/>
          <p:nvPr/>
        </p:nvSpPr>
        <p:spPr>
          <a:xfrm>
            <a:off x="9506102" y="3600907"/>
            <a:ext cx="7543800" cy="5544007"/>
          </a:xfrm>
          <a:prstGeom prst="rect">
            <a:avLst/>
          </a:prstGeom>
          <a:solidFill>
            <a:srgbClr val="F0F7F4"/>
          </a:solidFill>
          <a:ln w="12700">
            <a:solidFill>
              <a:srgbClr val="C8E0D0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" name="Shape 3"/>
          <p:cNvSpPr/>
          <p:nvPr/>
        </p:nvSpPr>
        <p:spPr>
          <a:xfrm>
            <a:off x="1410005" y="3600907"/>
            <a:ext cx="7524598" cy="571500"/>
          </a:xfrm>
          <a:prstGeom prst="rect">
            <a:avLst/>
          </a:prstGeom>
          <a:solidFill>
            <a:srgbClr val="D969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pic>
        <p:nvPicPr>
          <p:cNvPr id="8" name="Image 2" descr="gen-dedup-ee998198b3a0d23f1162f4783ddd9377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695298" y="5171846"/>
            <a:ext cx="6953098" cy="9144"/>
          </a:xfrm>
          <a:prstGeom prst="rect">
            <a:avLst/>
          </a:prstGeom>
        </p:spPr>
      </p:pic>
      <p:pic>
        <p:nvPicPr>
          <p:cNvPr id="9" name="Image 3" descr="gen-dedup-ee998198b3a0d23f1162f4783ddd9377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695298" y="6458407"/>
            <a:ext cx="6953098" cy="9144"/>
          </a:xfrm>
          <a:prstGeom prst="rect">
            <a:avLst/>
          </a:prstGeom>
        </p:spPr>
      </p:pic>
      <p:pic>
        <p:nvPicPr>
          <p:cNvPr id="10" name="Image 4" descr="gen-dedup-ee998198b3a0d23f1162f4783ddd9377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695298" y="7791602"/>
            <a:ext cx="6953098" cy="9144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9506102" y="3600907"/>
            <a:ext cx="7524598" cy="571500"/>
          </a:xfrm>
          <a:prstGeom prst="rect">
            <a:avLst/>
          </a:prstGeom>
          <a:solidFill>
            <a:srgbClr val="2C7A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pic>
        <p:nvPicPr>
          <p:cNvPr id="12" name="Image 5" descr="gen-dedup-cdf527acca1f017a51f8ad2dfcebfc58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791395" y="5171846"/>
            <a:ext cx="6953098" cy="9144"/>
          </a:xfrm>
          <a:prstGeom prst="rect">
            <a:avLst/>
          </a:prstGeom>
        </p:spPr>
      </p:pic>
      <p:pic>
        <p:nvPicPr>
          <p:cNvPr id="13" name="Image 6" descr="gen-dedup-cdf527acca1f017a51f8ad2dfcebfc58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791395" y="6458407"/>
            <a:ext cx="6953098" cy="9144"/>
          </a:xfrm>
          <a:prstGeom prst="rect">
            <a:avLst/>
          </a:prstGeom>
        </p:spPr>
      </p:pic>
      <p:pic>
        <p:nvPicPr>
          <p:cNvPr id="14" name="Image 7" descr="gen-dedup-cdf527acca1f017a51f8ad2dfcebfc58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791395" y="7791602"/>
            <a:ext cx="6953098" cy="9144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CONSTRUCTIVE ALIGNMENT · 실전 적용</a:t>
            </a:r>
            <a:endParaRPr lang="en-US" sz="1000" dirty="0"/>
          </a:p>
        </p:txBody>
      </p:sp>
      <p:sp>
        <p:nvSpPr>
          <p:cNvPr id="16" name="Text 6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강의는 정말 '정렬'되어 있을까?</a:t>
            </a:r>
            <a:endParaRPr lang="en-US" sz="5400" dirty="0"/>
          </a:p>
        </p:txBody>
      </p:sp>
      <p:sp>
        <p:nvSpPr>
          <p:cNvPr id="17" name="Text 7"/>
          <p:cNvSpPr txBox="1"/>
          <p:nvPr/>
        </p:nvSpPr>
        <p:spPr>
          <a:xfrm>
            <a:off x="1410005" y="2838298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'ChatGPT 활용 기초'라는 동일한 주제를 두 가지 정렬로 본다 — 어긋난 강의 vs. 정렬된 강의</a:t>
            </a:r>
            <a:endParaRPr lang="en-US" sz="1600" dirty="0"/>
          </a:p>
        </p:txBody>
      </p:sp>
      <p:sp>
        <p:nvSpPr>
          <p:cNvPr id="18" name="Text 8"/>
          <p:cNvSpPr txBox="1"/>
          <p:nvPr/>
        </p:nvSpPr>
        <p:spPr>
          <a:xfrm>
            <a:off x="1695298" y="3771900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6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MISALIGNED · 어긋난 강의</a:t>
            </a:r>
            <a:endParaRPr lang="en-US" sz="1200" dirty="0"/>
          </a:p>
        </p:txBody>
      </p:sp>
      <p:sp>
        <p:nvSpPr>
          <p:cNvPr id="19" name="Text 9"/>
          <p:cNvSpPr txBox="1"/>
          <p:nvPr/>
        </p:nvSpPr>
        <p:spPr>
          <a:xfrm>
            <a:off x="1695298" y="44577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44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ILO · L3</a:t>
            </a:r>
            <a:endParaRPr lang="en-US" sz="1100" dirty="0"/>
          </a:p>
        </p:txBody>
      </p:sp>
      <p:sp>
        <p:nvSpPr>
          <p:cNvPr id="20" name="Text 10"/>
          <p:cNvSpPr txBox="1"/>
          <p:nvPr/>
        </p:nvSpPr>
        <p:spPr>
          <a:xfrm>
            <a:off x="2933395" y="4438498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"ChatGPT로 업무 보고서를 작성한다"</a:t>
            </a:r>
            <a:endParaRPr lang="en-US" sz="2000" dirty="0"/>
          </a:p>
        </p:txBody>
      </p:sp>
      <p:sp>
        <p:nvSpPr>
          <p:cNvPr id="21" name="Text 11"/>
          <p:cNvSpPr txBox="1"/>
          <p:nvPr/>
        </p:nvSpPr>
        <p:spPr>
          <a:xfrm>
            <a:off x="1695298" y="5410505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44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TLA · L2</a:t>
            </a:r>
            <a:endParaRPr lang="en-US" sz="1100" dirty="0"/>
          </a:p>
        </p:txBody>
      </p:sp>
      <p:sp>
        <p:nvSpPr>
          <p:cNvPr id="22" name="Text 12"/>
          <p:cNvSpPr txBox="1"/>
          <p:nvPr/>
        </p:nvSpPr>
        <p:spPr>
          <a:xfrm>
            <a:off x="2933395" y="5391302"/>
            <a:ext cx="5715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강사가 90분간 ChatGPT </a:t>
            </a:r>
            <a:r>
              <a:rPr lang="en-US" sz="2000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</a:t>
            </a:r>
            <a:r>
              <a:rPr lang="en-US" sz="20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000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보여주며</a:t>
            </a:r>
            <a:endParaRPr lang="en-US" sz="2000" dirty="0">
              <a:solidFill>
                <a:srgbClr val="0B173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'이런 기능이 있다'고 설명</a:t>
            </a:r>
            <a:endParaRPr lang="en-US" sz="2000" dirty="0"/>
          </a:p>
        </p:txBody>
      </p:sp>
      <p:sp>
        <p:nvSpPr>
          <p:cNvPr id="23" name="Text 13"/>
          <p:cNvSpPr txBox="1"/>
          <p:nvPr/>
        </p:nvSpPr>
        <p:spPr>
          <a:xfrm>
            <a:off x="1695298" y="6696151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44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 · L1</a:t>
            </a:r>
            <a:endParaRPr lang="en-US" sz="1100" dirty="0"/>
          </a:p>
        </p:txBody>
      </p:sp>
      <p:sp>
        <p:nvSpPr>
          <p:cNvPr id="24" name="Text 14"/>
          <p:cNvSpPr txBox="1"/>
          <p:nvPr/>
        </p:nvSpPr>
        <p:spPr>
          <a:xfrm>
            <a:off x="2933395" y="6676949"/>
            <a:ext cx="5715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"ChatGPT의 주요 기능 5가지를 적으세요" </a:t>
            </a:r>
            <a:r>
              <a:rPr lang="en-US" sz="2000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라는</a:t>
            </a:r>
            <a:r>
              <a:rPr lang="en-US" sz="20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000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객관식</a:t>
            </a:r>
            <a:r>
              <a:rPr lang="en-US" sz="20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시험</a:t>
            </a:r>
            <a:endParaRPr lang="en-US" sz="2000" dirty="0"/>
          </a:p>
        </p:txBody>
      </p:sp>
      <p:sp>
        <p:nvSpPr>
          <p:cNvPr id="25" name="Text 15"/>
          <p:cNvSpPr txBox="1"/>
          <p:nvPr/>
        </p:nvSpPr>
        <p:spPr>
          <a:xfrm>
            <a:off x="1695298" y="8029346"/>
            <a:ext cx="69540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7C2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i="1" dirty="0" err="1">
                <a:solidFill>
                  <a:srgbClr val="7C2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r>
              <a:rPr lang="en-US" i="1" dirty="0">
                <a:solidFill>
                  <a:srgbClr val="7C2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i="1" dirty="0">
                <a:solidFill>
                  <a:srgbClr val="7C2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학습자는 "기능 이름은 외웠는데, 내 일에 어떻게 쓸지는 모르겠다"</a:t>
            </a:r>
            <a:endParaRPr lang="en-US" dirty="0"/>
          </a:p>
        </p:txBody>
      </p:sp>
      <p:sp>
        <p:nvSpPr>
          <p:cNvPr id="26" name="Text 16"/>
          <p:cNvSpPr txBox="1"/>
          <p:nvPr/>
        </p:nvSpPr>
        <p:spPr>
          <a:xfrm>
            <a:off x="9791395" y="3771900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6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ALIGNED · 정렬된 강의</a:t>
            </a:r>
            <a:endParaRPr lang="en-US" sz="1200" dirty="0"/>
          </a:p>
        </p:txBody>
      </p:sp>
      <p:sp>
        <p:nvSpPr>
          <p:cNvPr id="27" name="Text 17"/>
          <p:cNvSpPr txBox="1"/>
          <p:nvPr/>
        </p:nvSpPr>
        <p:spPr>
          <a:xfrm>
            <a:off x="9791395" y="4457700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44" dirty="0">
                <a:solidFill>
                  <a:srgbClr val="2C7A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ILO · L3</a:t>
            </a:r>
            <a:endParaRPr lang="en-US" sz="1100" dirty="0"/>
          </a:p>
        </p:txBody>
      </p:sp>
      <p:sp>
        <p:nvSpPr>
          <p:cNvPr id="28" name="Text 18"/>
          <p:cNvSpPr txBox="1"/>
          <p:nvPr/>
        </p:nvSpPr>
        <p:spPr>
          <a:xfrm>
            <a:off x="11030407" y="4438498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"ChatGPT로 업무 보고서를 작성한다"</a:t>
            </a:r>
            <a:endParaRPr lang="en-US" sz="2000" dirty="0"/>
          </a:p>
        </p:txBody>
      </p:sp>
      <p:sp>
        <p:nvSpPr>
          <p:cNvPr id="29" name="Text 19"/>
          <p:cNvSpPr txBox="1"/>
          <p:nvPr/>
        </p:nvSpPr>
        <p:spPr>
          <a:xfrm>
            <a:off x="9791395" y="5410505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44" dirty="0">
                <a:solidFill>
                  <a:srgbClr val="2C7A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TLA · L3</a:t>
            </a:r>
            <a:endParaRPr lang="en-US" sz="1100" dirty="0"/>
          </a:p>
        </p:txBody>
      </p:sp>
      <p:sp>
        <p:nvSpPr>
          <p:cNvPr id="30" name="Text 20"/>
          <p:cNvSpPr txBox="1"/>
          <p:nvPr/>
        </p:nvSpPr>
        <p:spPr>
          <a:xfrm>
            <a:off x="11030407" y="5391302"/>
            <a:ext cx="5715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실제 업무 데이터를 </a:t>
            </a:r>
            <a:r>
              <a:rPr lang="en-US" sz="2000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가지고</a:t>
            </a:r>
            <a:r>
              <a:rPr lang="en-US" sz="20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30분간 보고서 초안 작성 실습</a:t>
            </a:r>
            <a:endParaRPr lang="en-US" sz="2000" dirty="0"/>
          </a:p>
        </p:txBody>
      </p:sp>
      <p:sp>
        <p:nvSpPr>
          <p:cNvPr id="31" name="Text 21"/>
          <p:cNvSpPr txBox="1"/>
          <p:nvPr/>
        </p:nvSpPr>
        <p:spPr>
          <a:xfrm>
            <a:off x="9791395" y="6696151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44" dirty="0">
                <a:solidFill>
                  <a:srgbClr val="2C7A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 · L3</a:t>
            </a:r>
            <a:endParaRPr lang="en-US" sz="1100" dirty="0"/>
          </a:p>
        </p:txBody>
      </p:sp>
      <p:sp>
        <p:nvSpPr>
          <p:cNvPr id="32" name="Text 22"/>
          <p:cNvSpPr txBox="1"/>
          <p:nvPr/>
        </p:nvSpPr>
        <p:spPr>
          <a:xfrm>
            <a:off x="11030407" y="6676949"/>
            <a:ext cx="5715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산출물: 본인 업무 보고서 1편 + 사용한 프롬프트</a:t>
            </a:r>
            <a:endParaRPr lang="en-US" sz="2000" dirty="0"/>
          </a:p>
        </p:txBody>
      </p:sp>
      <p:sp>
        <p:nvSpPr>
          <p:cNvPr id="33" name="Text 23"/>
          <p:cNvSpPr txBox="1"/>
          <p:nvPr/>
        </p:nvSpPr>
        <p:spPr>
          <a:xfrm>
            <a:off x="9791395" y="8029346"/>
            <a:ext cx="69540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1F4E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— 다음 주 월요일 출근해서 진짜로 그 도구를 씁니다</a:t>
            </a:r>
            <a:endParaRPr lang="en-US" dirty="0"/>
          </a:p>
        </p:txBody>
      </p:sp>
      <p:sp>
        <p:nvSpPr>
          <p:cNvPr id="34" name="Text 24"/>
          <p:cNvSpPr txBox="1"/>
          <p:nvPr/>
        </p:nvSpPr>
        <p:spPr>
          <a:xfrm>
            <a:off x="1410005" y="9411005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 요령: 강의를 설계한 뒤 종이에 ILO · TLA · AT 세 개를 옆에 적고 Bloom 단계가 같은지 동그라미 쳐보세요. 다르면 정렬이 깨진 것.</a:t>
            </a:r>
            <a:endParaRPr lang="en-US" dirty="0"/>
          </a:p>
        </p:txBody>
      </p:sp>
      <p:sp>
        <p:nvSpPr>
          <p:cNvPr id="35" name="Text 25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62</a:t>
            </a:r>
            <a:endParaRPr lang="en-US" sz="9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24868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3" name="Image 0" descr="gen-dedup-0480647b17fba56c2152d7d2f81be3d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" y="75895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4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7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02 / 13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Constructive Alignment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구성적 정렬 · John Biggs (1996, 1999)</a:t>
            </a:r>
            <a:endParaRPr lang="en-US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학습성과(ILO) · 교수-학습활동(TLA) · 평가과제(AT) 세 꼭짓점이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같은 Bloom 단계를 가리키도록 정렬하는 교육과정 설계 원리.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하나라도 어긋나면 학습은 가장 쉬운 쪽(=평가 기준)으로 회귀합니다. </a:t>
            </a:r>
            <a:endParaRPr lang="en-US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학생은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평가받으리라 생각하는 것을 학습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 (Biggs).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"어떻게 가르칠까"보다 "어떻게 평가할까"를 먼저 설계하면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역으로 활동과 목표가 자연스럽게 정렬됩니다 → 백워드 설계로 연결. </a:t>
            </a:r>
            <a:endParaRPr lang="en-US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강의 적용 예시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600200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'프롬프트 엔지니어링 입문' 1시간 강의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ILO (L3):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내 업무 상황에 맞는 프롬프트를 작성한다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TLA (L3):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실제 업무 시나리오 카드를 받아 프롬프트 설계 실습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 (L3):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완성한 프롬프트 + 출력 결과를 짝과 교차 점검 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ILO · TLA · AT를 한 페이지에 나란히 적어봤는가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세 칸 모두 같은 Bloom 동사 단계인가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"수강생에게 평가만 본다면 어떻게 공부할까"를 자문했는가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AI 활용 강의에서 '활동=AI 데모 보기, 평가=객관식'은 아닌가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학습자에게도 정렬 구조를 공개했는가 (수강생도 알아야 함) 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SUMMARY CARD 02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62</a:t>
            </a:r>
            <a:endParaRPr lang="en-US" sz="105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96084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886200"/>
            <a:ext cx="4953305" cy="5143500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6743700" y="3886200"/>
            <a:ext cx="4953305" cy="5143500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2077395" y="3886200"/>
            <a:ext cx="4953305" cy="51435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202c3c3f7ee2f0e484fdb5cd1bbb0fbc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1695298" y="7125005"/>
            <a:ext cx="476402" cy="19202"/>
          </a:xfrm>
          <a:prstGeom prst="rect">
            <a:avLst/>
          </a:prstGeom>
        </p:spPr>
      </p:pic>
      <p:pic>
        <p:nvPicPr>
          <p:cNvPr id="9" name="Image 3" descr="gen-dedup-202c3c3f7ee2f0e484fdb5cd1bbb0fbc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7029907" y="7125005"/>
            <a:ext cx="476402" cy="19202"/>
          </a:xfrm>
          <a:prstGeom prst="rect">
            <a:avLst/>
          </a:prstGeom>
        </p:spPr>
      </p:pic>
      <p:pic>
        <p:nvPicPr>
          <p:cNvPr id="10" name="Image 4" descr="gen-dedup-2fcc955cea620e348623ec4cacfa40bf.png"/>
          <p:cNvPicPr>
            <a:picLocks noChangeAspect="1"/>
          </p:cNvPicPr>
          <p:nvPr/>
        </p:nvPicPr>
        <p:blipFill>
          <a:blip r:embed="rId6"/>
          <a:srcRect t="-384" b="-384"/>
          <a:stretch/>
        </p:blipFill>
        <p:spPr>
          <a:xfrm>
            <a:off x="12363602" y="7125005"/>
            <a:ext cx="476402" cy="19202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THEORY 03 · BACKWARD DESIGN / UbD (Wiggins &amp; McTighe, 1998)</a:t>
            </a:r>
            <a:endParaRPr lang="en-US" sz="1000" dirty="0"/>
          </a:p>
        </p:txBody>
      </p:sp>
      <p:sp>
        <p:nvSpPr>
          <p:cNvPr id="12" name="Text 5"/>
          <p:cNvSpPr txBox="1"/>
          <p:nvPr/>
        </p:nvSpPr>
        <p:spPr>
          <a:xfrm>
            <a:off x="1410005" y="1600200"/>
            <a:ext cx="16254374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백워드 설계 (Understanding by Design)</a:t>
            </a:r>
            <a:endParaRPr lang="en-US" sz="6000" dirty="0"/>
          </a:p>
        </p:txBody>
      </p:sp>
      <p:sp>
        <p:nvSpPr>
          <p:cNvPr id="13" name="Text 6"/>
          <p:cNvSpPr txBox="1"/>
          <p:nvPr/>
        </p:nvSpPr>
        <p:spPr>
          <a:xfrm>
            <a:off x="1410005" y="28382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"다 끝났을 때, 학습자가 무엇을 할 수 있어야 하는가?" — 이 한 질문에서 거꾸로 설계합니다.</a:t>
            </a:r>
            <a:endParaRPr lang="en-US" sz="1800" dirty="0"/>
          </a:p>
        </p:txBody>
      </p:sp>
      <p:sp>
        <p:nvSpPr>
          <p:cNvPr id="14" name="Text 7"/>
          <p:cNvSpPr txBox="1"/>
          <p:nvPr/>
        </p:nvSpPr>
        <p:spPr>
          <a:xfrm>
            <a:off x="1695298" y="4267505"/>
            <a:ext cx="4381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1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1695298" y="4647895"/>
            <a:ext cx="4381805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0" dirty="0"/>
          </a:p>
        </p:txBody>
      </p:sp>
      <p:sp>
        <p:nvSpPr>
          <p:cNvPr id="16" name="Text 9"/>
          <p:cNvSpPr txBox="1"/>
          <p:nvPr/>
        </p:nvSpPr>
        <p:spPr>
          <a:xfrm>
            <a:off x="1695298" y="6077102"/>
            <a:ext cx="4381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기대 결과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Desired Results </a:t>
            </a:r>
            <a:endParaRPr lang="en-US" sz="2800" dirty="0"/>
          </a:p>
        </p:txBody>
      </p:sp>
      <p:sp>
        <p:nvSpPr>
          <p:cNvPr id="17" name="Text 10"/>
          <p:cNvSpPr txBox="1"/>
          <p:nvPr/>
        </p:nvSpPr>
        <p:spPr>
          <a:xfrm>
            <a:off x="1695298" y="7410298"/>
            <a:ext cx="4381805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학습이 끝났을 때 학습자가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'알고 있어야 할 것'과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'할 수 있어야 할 것'을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</a:t>
            </a: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명확히 한다.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(Big Idea · Essential Question) </a:t>
            </a:r>
            <a:endParaRPr lang="en-US" dirty="0"/>
          </a:p>
        </p:txBody>
      </p:sp>
      <p:sp>
        <p:nvSpPr>
          <p:cNvPr id="18" name="Text 11"/>
          <p:cNvSpPr txBox="1"/>
          <p:nvPr/>
        </p:nvSpPr>
        <p:spPr>
          <a:xfrm>
            <a:off x="7029907" y="4267505"/>
            <a:ext cx="4381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2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029907" y="4647895"/>
            <a:ext cx="4381805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0" dirty="0"/>
          </a:p>
        </p:txBody>
      </p:sp>
      <p:sp>
        <p:nvSpPr>
          <p:cNvPr id="20" name="Text 13"/>
          <p:cNvSpPr txBox="1"/>
          <p:nvPr/>
        </p:nvSpPr>
        <p:spPr>
          <a:xfrm>
            <a:off x="7029907" y="6077102"/>
            <a:ext cx="4381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평가 증거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Assessment Evidence </a:t>
            </a:r>
            <a:endParaRPr lang="en-US" sz="2800" dirty="0"/>
          </a:p>
        </p:txBody>
      </p:sp>
      <p:sp>
        <p:nvSpPr>
          <p:cNvPr id="21" name="Text 14"/>
          <p:cNvSpPr txBox="1"/>
          <p:nvPr/>
        </p:nvSpPr>
        <p:spPr>
          <a:xfrm>
            <a:off x="7029907" y="7410298"/>
            <a:ext cx="4381805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그 결과를 어떻게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'증거'로 확인할 것인가.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활동을 짜기 </a:t>
            </a: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이전에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과제부터 만든다.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(Performance Task · 루브릭) </a:t>
            </a:r>
            <a:endParaRPr lang="en-US" dirty="0"/>
          </a:p>
        </p:txBody>
      </p:sp>
      <p:sp>
        <p:nvSpPr>
          <p:cNvPr id="22" name="Text 15"/>
          <p:cNvSpPr txBox="1"/>
          <p:nvPr/>
        </p:nvSpPr>
        <p:spPr>
          <a:xfrm>
            <a:off x="12363602" y="4267505"/>
            <a:ext cx="4381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3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12363602" y="4647895"/>
            <a:ext cx="4381805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0" dirty="0"/>
          </a:p>
        </p:txBody>
      </p:sp>
      <p:sp>
        <p:nvSpPr>
          <p:cNvPr id="24" name="Text 17"/>
          <p:cNvSpPr txBox="1"/>
          <p:nvPr/>
        </p:nvSpPr>
        <p:spPr>
          <a:xfrm>
            <a:off x="12363602" y="6077102"/>
            <a:ext cx="4381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 경험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Plan </a:t>
            </a:r>
            <a:endParaRPr lang="en-US" sz="2800" dirty="0"/>
          </a:p>
        </p:txBody>
      </p:sp>
      <p:sp>
        <p:nvSpPr>
          <p:cNvPr id="25" name="Text 18"/>
          <p:cNvSpPr txBox="1"/>
          <p:nvPr/>
        </p:nvSpPr>
        <p:spPr>
          <a:xfrm>
            <a:off x="12363602" y="7410298"/>
            <a:ext cx="4381805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그 증거를 만들 수 있게 하는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활동·자료·시간을 짠다.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마지막에</a:t>
            </a:r>
            <a:r>
              <a:rPr lang="en-US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결정.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(WHERETO 원칙 적용) </a:t>
            </a:r>
            <a:endParaRPr lang="en-US" dirty="0"/>
          </a:p>
        </p:txBody>
      </p:sp>
      <p:sp>
        <p:nvSpPr>
          <p:cNvPr id="26" name="Text 19"/>
          <p:cNvSpPr txBox="1"/>
          <p:nvPr/>
        </p:nvSpPr>
        <p:spPr>
          <a:xfrm>
            <a:off x="1410005" y="9411005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"Begin with the end in mind." — Stephen Covey (1989), UbD 1장 첫머리 인용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학습목표와 평가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62</a:t>
            </a:r>
            <a:endParaRPr lang="en-US" sz="900" dirty="0"/>
          </a:p>
        </p:txBody>
      </p:sp>
      <p:sp>
        <p:nvSpPr>
          <p:cNvPr id="29" name="출처 각주"/>
          <p:cNvSpPr txBox="1"/>
          <p:nvPr/>
        </p:nvSpPr>
        <p:spPr>
          <a:xfrm>
            <a:off x="4663440" y="9772650"/>
            <a:ext cx="11338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Wiggins, G. &amp; McTighe, J. (1998/2005). Understanding by Design. ASCD / 인용구: Covey, S. R. (1989). The 7 Habits of Highly Effective People</a:t>
            </a:r>
            <a:endParaRPr lang="en-US" sz="9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486644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15678302" cy="1619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2"/>
          <p:cNvSpPr/>
          <p:nvPr/>
        </p:nvSpPr>
        <p:spPr>
          <a:xfrm>
            <a:off x="1410005" y="3696005"/>
            <a:ext cx="57607" cy="161940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3"/>
          <p:cNvSpPr/>
          <p:nvPr/>
        </p:nvSpPr>
        <p:spPr>
          <a:xfrm>
            <a:off x="1410005" y="5600700"/>
            <a:ext cx="15678302" cy="1619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1410005" y="5600700"/>
            <a:ext cx="57607" cy="1619402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1410005" y="7505395"/>
            <a:ext cx="15678302" cy="1619402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6"/>
          <p:cNvSpPr/>
          <p:nvPr/>
        </p:nvSpPr>
        <p:spPr>
          <a:xfrm>
            <a:off x="1410005" y="7505395"/>
            <a:ext cx="57607" cy="161940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7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BACKWARD × AI · GPT를 백워드 설계 파트너로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단계별로 무엇을 시킬까</a:t>
            </a:r>
            <a:endParaRPr lang="en-US" sz="5400" dirty="0"/>
          </a:p>
        </p:txBody>
      </p:sp>
      <p:sp>
        <p:nvSpPr>
          <p:cNvPr id="13" name="Text 9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백워드 3단계를 그대로 프롬프트 3개로 — 순서는 강사가 쥔다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1790395" y="3933749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63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1 — DESIRED RESULTS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790395" y="4267505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AI에게: "강의 목표를 Bloom 동사로 3개 뽑아줘"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1790395" y="4743907"/>
            <a:ext cx="15507310" cy="6675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1016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예) "60분 'AI로 회의록 작성' 강의의 ILO를 Bloom L3 적용 단계 동사로 3개 써줘. 측정할 수 있어야 해."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790395" y="5838444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63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2 — ASSESSMENT EVIDENCE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790395" y="61722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AI에게: "이 목표를 확인할 수행과제 + 루브릭 4단계를 만들어줘"</a:t>
            </a:r>
            <a:endParaRPr lang="en-US" sz="2400" dirty="0"/>
          </a:p>
        </p:txBody>
      </p:sp>
      <p:sp>
        <p:nvSpPr>
          <p:cNvPr id="19" name="Text 15"/>
          <p:cNvSpPr txBox="1"/>
          <p:nvPr/>
        </p:nvSpPr>
        <p:spPr>
          <a:xfrm>
            <a:off x="1790395" y="6648602"/>
            <a:ext cx="15507310" cy="6675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1016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예) "위 ILO를 평가할 수행과제 1개 + 4점 루브릭(우수/양호/보통/미흡), 일반론 말고 구체적인 행동 기준으로 써줘."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790395" y="7744054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63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3 — LEARNING PLAN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790395" y="8076895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AI에게: "그 루브릭 4점에 도달하게 만드는 60분 활동 시퀀스를 짜줘"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1790395" y="8553298"/>
            <a:ext cx="15507310" cy="6675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1016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예) "60분 안에 루브릭 4점에 도달하게 만드는 활동 시퀀스를 짜줘 (각 활동: 시간/형태/AI 도구/체크포인트)."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AI에게 통째로 맡기면 '활동'부터 내놓기 쉽습니다. 단계 순서는 강사가 정해 주세요.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62</a:t>
            </a:r>
            <a:endParaRPr lang="en-US" sz="105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37870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03 / 13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Backward Design (UbD)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백워드 설계 · Wiggins &amp; McTighe (1998 / 개정 2005)</a:t>
            </a:r>
            <a:endParaRPr lang="en-US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기대 결과 → 평가 증거 → 학습 경험 순으로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역방향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설계하는 교육과정 개발 모델. UbD는 'Understanding by Design'의 약자.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활동부터 짜는 'Forward Design'의 반대 접근. </a:t>
            </a:r>
            <a:endParaRPr lang="en-US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"활동이 좋아 보여서 넣었다"가 모든 강의의 함정.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먼저 정하면 활동은 자연스럽게 가지치기됩니다.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Big Idea + Essential Question 두 개로 강의 한 편이 묶입니다. </a:t>
            </a:r>
            <a:endParaRPr lang="en-US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강의 적용 예시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600200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Big Idea: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AI는 일을 대체하는 게 아니라 '초안 동료'다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Essential Q: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내가 AI 초안을 어디서 멈추고 사람의 판단을 끼울 것인가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본인 업무 결과물 + AI 활용 흐름을 그린 워크북 1장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Plan: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시연 10분 → 실습 30분 → 짝 점검 15분 → 회고 5분 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강의 끝에 학습자가 '제출'할 한 가지가 정해졌는가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그 산출물을 채점할 루브릭이 미리 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Big Idea를 한 문장으로 말할 수 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Essential Question을 학습자에게 보여줬는가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활동이 평가 증거에 직접 기여하지 않으면 과감히 잘랐는가 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SUMMARY CARD 03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62</a:t>
            </a:r>
            <a:endParaRPr lang="en-US" sz="105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1704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791102"/>
            <a:ext cx="15620695" cy="123809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1410005" y="5219395"/>
            <a:ext cx="15620695" cy="123809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410005" y="6648602"/>
            <a:ext cx="15620695" cy="1238098"/>
          </a:xfrm>
          <a:prstGeom prst="rect">
            <a:avLst/>
          </a:prstGeom>
          <a:solidFill>
            <a:srgbClr val="EE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410005" y="8076895"/>
            <a:ext cx="15620695" cy="1238098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f45ba63909385b4acb8097b332a5f188.png"/>
          <p:cNvPicPr>
            <a:picLocks noChangeAspect="1"/>
          </p:cNvPicPr>
          <p:nvPr/>
        </p:nvPicPr>
        <p:blipFill>
          <a:blip r:embed="rId5"/>
          <a:srcRect t="-195" b="-195"/>
          <a:stretch/>
        </p:blipFill>
        <p:spPr>
          <a:xfrm>
            <a:off x="1410005" y="3791102"/>
            <a:ext cx="75895" cy="1238098"/>
          </a:xfrm>
          <a:prstGeom prst="rect">
            <a:avLst/>
          </a:prstGeom>
        </p:spPr>
      </p:pic>
      <p:pic>
        <p:nvPicPr>
          <p:cNvPr id="10" name="Image 3" descr="gen-dedup-af0cc66994fa217d0d789e250378c4ce.png"/>
          <p:cNvPicPr>
            <a:picLocks noChangeAspect="1"/>
          </p:cNvPicPr>
          <p:nvPr/>
        </p:nvPicPr>
        <p:blipFill>
          <a:blip r:embed="rId6"/>
          <a:srcRect t="-195" b="-195"/>
          <a:stretch/>
        </p:blipFill>
        <p:spPr>
          <a:xfrm>
            <a:off x="1410005" y="5219395"/>
            <a:ext cx="75895" cy="1238098"/>
          </a:xfrm>
          <a:prstGeom prst="rect">
            <a:avLst/>
          </a:prstGeom>
        </p:spPr>
      </p:pic>
      <p:pic>
        <p:nvPicPr>
          <p:cNvPr id="11" name="Image 4" descr="gen-dedup-c229decdd4b774ba1bc0050a5ffb8918.png"/>
          <p:cNvPicPr>
            <a:picLocks noChangeAspect="1"/>
          </p:cNvPicPr>
          <p:nvPr/>
        </p:nvPicPr>
        <p:blipFill>
          <a:blip r:embed="rId7"/>
          <a:srcRect t="-195" b="-195"/>
          <a:stretch/>
        </p:blipFill>
        <p:spPr>
          <a:xfrm>
            <a:off x="1410005" y="6648602"/>
            <a:ext cx="75895" cy="1238098"/>
          </a:xfrm>
          <a:prstGeom prst="rect">
            <a:avLst/>
          </a:prstGeom>
        </p:spPr>
      </p:pic>
      <p:pic>
        <p:nvPicPr>
          <p:cNvPr id="12" name="Image 5" descr="gen-dedup-9718cc0c9c1b71d43a605e1a08ad4a7d.png"/>
          <p:cNvPicPr>
            <a:picLocks noChangeAspect="1"/>
          </p:cNvPicPr>
          <p:nvPr/>
        </p:nvPicPr>
        <p:blipFill>
          <a:blip r:embed="rId8"/>
          <a:srcRect t="-195" b="-195"/>
          <a:stretch/>
        </p:blipFill>
        <p:spPr>
          <a:xfrm>
            <a:off x="1410005" y="8076895"/>
            <a:ext cx="75895" cy="1238098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THEORY 04 · KIRKPATRICK 4-LEVEL MODEL (1959)</a:t>
            </a:r>
            <a:endParaRPr lang="en-US" sz="1000" dirty="0"/>
          </a:p>
        </p:txBody>
      </p:sp>
      <p:sp>
        <p:nvSpPr>
          <p:cNvPr id="14" name="Text 6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커크패트릭 4단계 평가 모델</a:t>
            </a:r>
            <a:endParaRPr lang="en-US" sz="6000" dirty="0"/>
          </a:p>
        </p:txBody>
      </p:sp>
      <p:sp>
        <p:nvSpPr>
          <p:cNvPr id="15" name="Text 7"/>
          <p:cNvSpPr txBox="1"/>
          <p:nvPr/>
        </p:nvSpPr>
        <p:spPr>
          <a:xfrm>
            <a:off x="1410005" y="28382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"강의 만족도 점수"만으로는 강의가 효과적이었다고 말할 수 없습니다. 4단계로 본다.</a:t>
            </a:r>
            <a:endParaRPr lang="en-US" sz="1800" dirty="0"/>
          </a:p>
        </p:txBody>
      </p:sp>
      <p:sp>
        <p:nvSpPr>
          <p:cNvPr id="16" name="Text 8"/>
          <p:cNvSpPr txBox="1"/>
          <p:nvPr/>
        </p:nvSpPr>
        <p:spPr>
          <a:xfrm>
            <a:off x="1790395" y="4028846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1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1790395" y="4362602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 Reaction</a:t>
            </a:r>
            <a:endParaRPr lang="en-US" sz="2500" dirty="0"/>
          </a:p>
        </p:txBody>
      </p:sp>
      <p:sp>
        <p:nvSpPr>
          <p:cNvPr id="18" name="Text 10"/>
          <p:cNvSpPr txBox="1"/>
          <p:nvPr/>
        </p:nvSpPr>
        <p:spPr>
          <a:xfrm>
            <a:off x="4839005" y="4070807"/>
            <a:ext cx="495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"강의가 마음에 들었는가" — 만족도, 흥미도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도구: 설문 별점, NPS, "다시 듣고 싶은가"</a:t>
            </a:r>
            <a:endParaRPr lang="en-US" sz="1600" dirty="0"/>
          </a:p>
        </p:txBody>
      </p:sp>
      <p:sp>
        <p:nvSpPr>
          <p:cNvPr id="19" name="Text 11"/>
          <p:cNvSpPr txBox="1"/>
          <p:nvPr/>
        </p:nvSpPr>
        <p:spPr>
          <a:xfrm>
            <a:off x="10172700" y="4070807"/>
            <a:ext cx="6667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가장 쉽지만 학습 효과와 </a:t>
            </a: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상관성 약함</a:t>
            </a: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'재미있었다 = 배웠다'가 아님. 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1790395" y="5458054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2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1790395" y="5790895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Learning</a:t>
            </a:r>
            <a:endParaRPr lang="en-US" sz="2500" dirty="0"/>
          </a:p>
        </p:txBody>
      </p:sp>
      <p:sp>
        <p:nvSpPr>
          <p:cNvPr id="22" name="Text 14"/>
          <p:cNvSpPr txBox="1"/>
          <p:nvPr/>
        </p:nvSpPr>
        <p:spPr>
          <a:xfrm>
            <a:off x="4839005" y="5499100"/>
            <a:ext cx="495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"지식·기술·태도가 변했는가" — 사전/사후 비교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도구: 퀴즈, 수행과제, 자가 진단</a:t>
            </a:r>
            <a:endParaRPr lang="en-US" sz="1600" dirty="0"/>
          </a:p>
        </p:txBody>
      </p:sp>
      <p:sp>
        <p:nvSpPr>
          <p:cNvPr id="23" name="Text 15"/>
          <p:cNvSpPr txBox="1"/>
          <p:nvPr/>
        </p:nvSpPr>
        <p:spPr>
          <a:xfrm>
            <a:off x="10172700" y="5499100"/>
            <a:ext cx="6667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Bloom 단계와 연결됨. L3 적용을 목표했으면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 측정도 L3 동사로 해야 함. 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1790395" y="6886346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3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3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1790395" y="7220102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 Behavior</a:t>
            </a:r>
            <a:endParaRPr lang="en-US" sz="2500" dirty="0"/>
          </a:p>
        </p:txBody>
      </p:sp>
      <p:sp>
        <p:nvSpPr>
          <p:cNvPr id="26" name="Text 18"/>
          <p:cNvSpPr txBox="1"/>
          <p:nvPr/>
        </p:nvSpPr>
        <p:spPr>
          <a:xfrm>
            <a:off x="4839005" y="6928307"/>
            <a:ext cx="495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"현업에서 정말로 적용하는가" — 강의 후 4–12주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도구: 현장 관찰, 1:1 인터뷰, 상사 평가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10172700" y="6928307"/>
            <a:ext cx="6667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강사의 진짜 통제력은 여기서 끝. 그래서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'학습 후 행동 트리거'를 강의에 심어야 함. 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1790395" y="8315554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3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4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790395" y="8648395"/>
            <a:ext cx="2667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Results</a:t>
            </a:r>
            <a:endParaRPr lang="en-US" sz="2500" dirty="0"/>
          </a:p>
        </p:txBody>
      </p:sp>
      <p:sp>
        <p:nvSpPr>
          <p:cNvPr id="30" name="Text 22"/>
          <p:cNvSpPr txBox="1"/>
          <p:nvPr/>
        </p:nvSpPr>
        <p:spPr>
          <a:xfrm>
            <a:off x="4839005" y="8356600"/>
            <a:ext cx="495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"조직 성과가 바뀌었는가" — 생산성·매출·KPI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도구: ROI, 업무 시간 절감, 매출 변화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10172700" y="8356600"/>
            <a:ext cx="6667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강의는 업무 시간 절감처럼 L4로 옮기기 쉬운 편.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"주당 X시간 단축"으로 KPI 환산 가능. 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학습목표와 평가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62</a:t>
            </a:r>
            <a:endParaRPr lang="en-US" sz="900" dirty="0"/>
          </a:p>
        </p:txBody>
      </p:sp>
      <p:sp>
        <p:nvSpPr>
          <p:cNvPr id="34" name="출처 각주"/>
          <p:cNvSpPr txBox="1"/>
          <p:nvPr/>
        </p:nvSpPr>
        <p:spPr>
          <a:xfrm>
            <a:off x="4663440" y="9772650"/>
            <a:ext cx="11338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Kirkpatrick, D. L. (1959). Techniques for evaluating training programs. Journal of the ASTD, 13 / Kirkpatrick, J. D. &amp; Kirkpatrick, W. K. (2016). ATD Press</a:t>
            </a:r>
            <a:endParaRPr lang="en-US" sz="9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380256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04 / 13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Kirkpatrick 4-Level Model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커크패트릭 4단계 평가 모델 · D. Kirkpatrick (1959) · 개정 J. &amp; W. Kirkpatrick (2016)</a:t>
            </a:r>
            <a:endParaRPr lang="en-US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교육 프로그램의 효과성을 4단계로 평가: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반응(Reaction)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학습(Learning)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행동(Behavior)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결과(Results)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위로 갈수록 측정 비용↑ 비즈니스 가치↑. </a:t>
            </a:r>
            <a:endParaRPr lang="en-US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"강의 별점 4.8/5.0" 만 자랑하는 강사는 L1에 멈춰 있는 셈.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L3·L4를 보여줄 수 있는 강사가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계약을 따냅니다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개정판 New World Kirkpatrick은 L4부터 거꾸로 설계하라고 말합니다. </a:t>
            </a:r>
            <a:endParaRPr lang="en-US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'AI로 회의록' 강의 평가 4종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600200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"이 강의를 동료에게 추천하시겠습니까" 0–10점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본인 음성 1분 → 회의록 5분 안에 만들기 수행평가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4주 후 "지난 한 달 회의록 몇 건 AI로 만드셨나요"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L4: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"주당 회의록 작성 시간 → 평균 X분 단축" 부서 통계 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내 강의 평가가 L1에만 머물러 있지 않은가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L2 수행평가 도구가 강의 안에 포함되어 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L3 행동 변화를 측정할 4주 후 follow-up 계획이 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발주처 KPI 1개를 L4 지표로 잡았는가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L4부터 거꾸로 설계해봤는가 (New Kirkpatrick) 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SUMMARY CARD 04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62</a:t>
            </a:r>
            <a:endParaRPr lang="en-US" sz="105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97172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5" name="Image 2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410005" y="3029407"/>
            <a:ext cx="15659100" cy="6133795"/>
          </a:xfrm>
          <a:prstGeom prst="rect">
            <a:avLst/>
          </a:prstGeom>
          <a:solidFill>
            <a:srgbClr val="FFFFFF"/>
          </a:solidFill>
          <a:ln w="254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3" descr="gen-dedup-32f231e27aa28f7dac1ca6593886f0f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790395" y="4058107"/>
            <a:ext cx="14859000" cy="9144"/>
          </a:xfrm>
          <a:prstGeom prst="rect">
            <a:avLst/>
          </a:prstGeom>
        </p:spPr>
      </p:pic>
      <p:pic>
        <p:nvPicPr>
          <p:cNvPr id="8" name="Image 4" descr="gen-dedup-32f231e27aa28f7dac1ca6593886f0f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790395" y="5391302"/>
            <a:ext cx="14859000" cy="9144"/>
          </a:xfrm>
          <a:prstGeom prst="rect">
            <a:avLst/>
          </a:prstGeom>
        </p:spPr>
      </p:pic>
      <p:pic>
        <p:nvPicPr>
          <p:cNvPr id="9" name="Image 5" descr="gen-dedup-32f231e27aa28f7dac1ca6593886f0f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790395" y="6705295"/>
            <a:ext cx="14859000" cy="9144"/>
          </a:xfrm>
          <a:prstGeom prst="rect">
            <a:avLst/>
          </a:prstGeom>
        </p:spPr>
      </p:pic>
      <p:pic>
        <p:nvPicPr>
          <p:cNvPr id="10" name="Image 6" descr="gen-dedup-32f231e27aa28f7dac1ca6593886f0f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790395" y="8020202"/>
            <a:ext cx="14859000" cy="9144"/>
          </a:xfrm>
          <a:prstGeom prst="rect">
            <a:avLst/>
          </a:prstGeom>
        </p:spPr>
      </p:pic>
      <p:sp>
        <p:nvSpPr>
          <p:cNvPr id="11" name="Text 2"/>
          <p:cNvSpPr txBox="1"/>
          <p:nvPr/>
        </p:nvSpPr>
        <p:spPr>
          <a:xfrm>
            <a:off x="1410005" y="933602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 · WORKBOOK · 5분 실습</a:t>
            </a:r>
            <a:endParaRPr lang="en-US" sz="1000" dirty="0"/>
          </a:p>
        </p:txBody>
      </p:sp>
      <p:sp>
        <p:nvSpPr>
          <p:cNvPr id="12" name="Text 3"/>
          <p:cNvSpPr txBox="1"/>
          <p:nvPr/>
        </p:nvSpPr>
        <p:spPr>
          <a:xfrm>
            <a:off x="1410005" y="1362456"/>
            <a:ext cx="1734342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102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가르치고 싶은 AI 강의 한 편 — 정렬해보기</a:t>
            </a:r>
            <a:endParaRPr lang="en-US" sz="5100" dirty="0"/>
          </a:p>
        </p:txBody>
      </p:sp>
      <p:sp>
        <p:nvSpPr>
          <p:cNvPr id="13" name="Text 4"/>
          <p:cNvSpPr txBox="1"/>
          <p:nvPr/>
        </p:nvSpPr>
        <p:spPr>
          <a:xfrm>
            <a:off x="1410005" y="2361895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빈칸을 채우면 Part 1 이론 4개가 한 번에 적용됩니다. (실제 종이/노션에 옮겨 적기)</a:t>
            </a:r>
            <a:endParaRPr lang="en-US" sz="1500" dirty="0"/>
          </a:p>
        </p:txBody>
      </p:sp>
      <p:sp>
        <p:nvSpPr>
          <p:cNvPr id="14" name="Text 5"/>
          <p:cNvSpPr txBox="1"/>
          <p:nvPr/>
        </p:nvSpPr>
        <p:spPr>
          <a:xfrm>
            <a:off x="1790395" y="3314700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TOPIC</a:t>
            </a:r>
            <a:endParaRPr lang="en-US" sz="1000" dirty="0"/>
          </a:p>
        </p:txBody>
      </p:sp>
      <p:sp>
        <p:nvSpPr>
          <p:cNvPr id="15" name="Text 6"/>
          <p:cNvSpPr txBox="1"/>
          <p:nvPr/>
        </p:nvSpPr>
        <p:spPr>
          <a:xfrm>
            <a:off x="1790395" y="3600907"/>
            <a:ext cx="14859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주제: </a:t>
            </a: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AI로 마케팅 카피 작성하기</a:t>
            </a:r>
            <a:endParaRPr lang="en-US" sz="1600" dirty="0"/>
          </a:p>
        </p:txBody>
      </p:sp>
      <p:sp>
        <p:nvSpPr>
          <p:cNvPr id="16" name="Text 7"/>
          <p:cNvSpPr txBox="1"/>
          <p:nvPr/>
        </p:nvSpPr>
        <p:spPr>
          <a:xfrm>
            <a:off x="1790395" y="4267505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ILO (Bloom 동사로!)</a:t>
            </a:r>
            <a:endParaRPr lang="en-US" sz="1000" dirty="0"/>
          </a:p>
        </p:txBody>
      </p:sp>
      <p:sp>
        <p:nvSpPr>
          <p:cNvPr id="17" name="Text 8"/>
          <p:cNvSpPr txBox="1"/>
          <p:nvPr/>
        </p:nvSpPr>
        <p:spPr>
          <a:xfrm>
            <a:off x="1790395" y="4572000"/>
            <a:ext cx="14859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학습자는 강의 후 _______________를 ___________________ 할 수 있다 (Bloom L__ 단계)</a:t>
            </a:r>
            <a:endParaRPr lang="en-US" sz="1600" dirty="0"/>
          </a:p>
        </p:txBody>
      </p:sp>
      <p:sp>
        <p:nvSpPr>
          <p:cNvPr id="18" name="Text 9"/>
          <p:cNvSpPr txBox="1"/>
          <p:nvPr/>
        </p:nvSpPr>
        <p:spPr>
          <a:xfrm>
            <a:off x="1790395" y="5581498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3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AT — 평가과제 (UbD대로 먼저!)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1790395" y="5886907"/>
            <a:ext cx="14859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학습자가 강의 끝에 제출할 산출물: __________________________________________________</a:t>
            </a:r>
            <a:endParaRPr lang="en-US" sz="1600" dirty="0"/>
          </a:p>
        </p:txBody>
      </p:sp>
      <p:sp>
        <p:nvSpPr>
          <p:cNvPr id="20" name="Text 11"/>
          <p:cNvSpPr txBox="1"/>
          <p:nvPr/>
        </p:nvSpPr>
        <p:spPr>
          <a:xfrm>
            <a:off x="1790395" y="68964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TLA — 활동</a:t>
            </a:r>
            <a:endParaRPr lang="en-US" sz="1000" dirty="0"/>
          </a:p>
        </p:txBody>
      </p:sp>
      <p:sp>
        <p:nvSpPr>
          <p:cNvPr id="21" name="Text 12"/>
          <p:cNvSpPr txBox="1"/>
          <p:nvPr/>
        </p:nvSpPr>
        <p:spPr>
          <a:xfrm>
            <a:off x="1790395" y="7200900"/>
            <a:ext cx="14859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AT를 만들 수 있게 하는 활동 3가지: ① _______________ ② _______________ ③ _______________</a:t>
            </a:r>
            <a:endParaRPr lang="en-US" sz="1600" dirty="0"/>
          </a:p>
        </p:txBody>
      </p:sp>
      <p:sp>
        <p:nvSpPr>
          <p:cNvPr id="22" name="Text 13"/>
          <p:cNvSpPr txBox="1"/>
          <p:nvPr/>
        </p:nvSpPr>
        <p:spPr>
          <a:xfrm>
            <a:off x="1790395" y="8210398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KIRKPATRICK · 4주 후 측정</a:t>
            </a:r>
            <a:endParaRPr lang="en-US" sz="1000" dirty="0"/>
          </a:p>
        </p:txBody>
      </p:sp>
      <p:sp>
        <p:nvSpPr>
          <p:cNvPr id="23" name="Text 14"/>
          <p:cNvSpPr txBox="1"/>
          <p:nvPr/>
        </p:nvSpPr>
        <p:spPr>
          <a:xfrm>
            <a:off x="1790395" y="8515807"/>
            <a:ext cx="14859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 행동 측정 한 줄: "_____________________________________________________________________"</a:t>
            </a:r>
            <a:endParaRPr lang="en-US" sz="1500" dirty="0"/>
          </a:p>
        </p:txBody>
      </p:sp>
      <p:sp>
        <p:nvSpPr>
          <p:cNvPr id="24" name="Text 15"/>
          <p:cNvSpPr txBox="1"/>
          <p:nvPr/>
        </p:nvSpPr>
        <p:spPr>
          <a:xfrm>
            <a:off x="1410005" y="9411005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안에 종이 한 장을 다 채우는 게 목표. 완벽보다 통과. 다 못 채워도 Part 5에서 다시 돌아옵니다.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62</a:t>
            </a:r>
            <a:endParaRPr lang="en-US" sz="9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73576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abfd1ddde323358008a25be1bd9bac4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" y="75895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10005" y="7315200"/>
            <a:ext cx="518190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410005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743700" y="7315200"/>
            <a:ext cx="518190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743700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2077395" y="7315200"/>
            <a:ext cx="518190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2077395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e4dc0fd02e0035cf785059b7ea33b82c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1410005" y="6743700"/>
            <a:ext cx="952805" cy="2834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18895" y="1410005"/>
            <a:ext cx="10478110" cy="523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0" b="1" kern="0" spc="-1560" dirty="0">
                <a:solidFill>
                  <a:srgbClr val="C9A961">
                    <a:alpha val="1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9000" dirty="0"/>
          </a:p>
        </p:txBody>
      </p:sp>
      <p:sp>
        <p:nvSpPr>
          <p:cNvPr id="12" name="Text 8"/>
          <p:cNvSpPr txBox="1"/>
          <p:nvPr/>
        </p:nvSpPr>
        <p:spPr>
          <a:xfrm>
            <a:off x="1410005" y="3696005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472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· 02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410005" y="4267505"/>
            <a:ext cx="156216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교수설계 모델</a:t>
            </a:r>
            <a:endParaRPr lang="en-US" sz="7800" dirty="0"/>
          </a:p>
        </p:txBody>
      </p:sp>
      <p:sp>
        <p:nvSpPr>
          <p:cNvPr id="14" name="Text 10"/>
          <p:cNvSpPr txBox="1"/>
          <p:nvPr/>
        </p:nvSpPr>
        <p:spPr>
          <a:xfrm>
            <a:off x="1410005" y="5600700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편의 강의를 어떤 순서로 만들 것인가</a:t>
            </a:r>
            <a:endParaRPr lang="en-US" sz="2700" dirty="0"/>
          </a:p>
        </p:txBody>
      </p:sp>
      <p:sp>
        <p:nvSpPr>
          <p:cNvPr id="15" name="Text 11"/>
          <p:cNvSpPr txBox="1"/>
          <p:nvPr/>
        </p:nvSpPr>
        <p:spPr>
          <a:xfrm>
            <a:off x="1695298" y="7552944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05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695298" y="7839151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ADDIE 모델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1695298" y="82680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분석·설계·개발·실행·평가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029907" y="7552944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06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7029907" y="7839151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Gagné 9가지 교수사건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7029907" y="82680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차시 수업의 9단계 흐름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2363602" y="7552944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07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2363602" y="7839151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 모델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12363602" y="82680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반복(Iteration)으로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 · 교수설계 모델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62</a:t>
            </a:r>
            <a:endParaRPr lang="en-US" sz="9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07497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3010205" cy="4953305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4572000" y="3696005"/>
            <a:ext cx="3010205" cy="4953305"/>
          </a:xfrm>
          <a:prstGeom prst="rect">
            <a:avLst/>
          </a:prstGeom>
          <a:solidFill>
            <a:srgbClr val="1425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7733995" y="3696005"/>
            <a:ext cx="3010205" cy="4953305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0896905" y="3696005"/>
            <a:ext cx="3010205" cy="4953305"/>
          </a:xfrm>
          <a:prstGeom prst="rect">
            <a:avLst/>
          </a:prstGeom>
          <a:solidFill>
            <a:srgbClr val="2C42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4058900" y="3696005"/>
            <a:ext cx="3010205" cy="495330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gen-dedup-c98a9f30c2e0097bd1bdd4aaefb50313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1695298" y="6791249"/>
            <a:ext cx="381305" cy="19202"/>
          </a:xfrm>
          <a:prstGeom prst="rect">
            <a:avLst/>
          </a:prstGeom>
        </p:spPr>
      </p:pic>
      <p:pic>
        <p:nvPicPr>
          <p:cNvPr id="11" name="Image 3" descr="gen-dedup-c98a9f30c2e0097bd1bdd4aaefb50313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4858207" y="6791249"/>
            <a:ext cx="381305" cy="19202"/>
          </a:xfrm>
          <a:prstGeom prst="rect">
            <a:avLst/>
          </a:prstGeom>
        </p:spPr>
      </p:pic>
      <p:pic>
        <p:nvPicPr>
          <p:cNvPr id="12" name="Image 4" descr="gen-dedup-c98a9f30c2e0097bd1bdd4aaefb50313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8020202" y="6791249"/>
            <a:ext cx="381305" cy="19202"/>
          </a:xfrm>
          <a:prstGeom prst="rect">
            <a:avLst/>
          </a:prstGeom>
        </p:spPr>
      </p:pic>
      <p:pic>
        <p:nvPicPr>
          <p:cNvPr id="13" name="Image 5" descr="gen-dedup-c98a9f30c2e0097bd1bdd4aaefb50313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11182198" y="6791249"/>
            <a:ext cx="381305" cy="19202"/>
          </a:xfrm>
          <a:prstGeom prst="rect">
            <a:avLst/>
          </a:prstGeom>
        </p:spPr>
      </p:pic>
      <p:pic>
        <p:nvPicPr>
          <p:cNvPr id="14" name="Image 6" descr="gen-dedup-bb30ae14d89a563811972308598b8a3f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14345107" y="6791249"/>
            <a:ext cx="381305" cy="19202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 · THEORY 05 · ADDIE MODEL (BRANSON ET AL., 1975 · FSU)</a:t>
            </a:r>
            <a:endParaRPr lang="en-US" sz="1000" dirty="0"/>
          </a:p>
        </p:txBody>
      </p:sp>
      <p:sp>
        <p:nvSpPr>
          <p:cNvPr id="16" name="Text 7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ADDIE — 교수설계의 기본 5단계</a:t>
            </a:r>
            <a:endParaRPr lang="en-US" sz="6000" dirty="0"/>
          </a:p>
        </p:txBody>
      </p:sp>
      <p:sp>
        <p:nvSpPr>
          <p:cNvPr id="17" name="Text 8"/>
          <p:cNvSpPr txBox="1"/>
          <p:nvPr/>
        </p:nvSpPr>
        <p:spPr>
          <a:xfrm>
            <a:off x="1410005" y="2838298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널리 쓰이는 교수설계 틀. 한 편의 강의·교육과정이 거쳐가는 표준 다섯 단계.</a:t>
            </a:r>
            <a:endParaRPr lang="en-US" sz="1600" dirty="0"/>
          </a:p>
        </p:txBody>
      </p:sp>
      <p:sp>
        <p:nvSpPr>
          <p:cNvPr id="18" name="Text 9"/>
          <p:cNvSpPr txBox="1"/>
          <p:nvPr/>
        </p:nvSpPr>
        <p:spPr>
          <a:xfrm>
            <a:off x="1695298" y="3981298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01</a:t>
            </a:r>
            <a:endParaRPr lang="en-US" sz="900" dirty="0"/>
          </a:p>
        </p:txBody>
      </p:sp>
      <p:sp>
        <p:nvSpPr>
          <p:cNvPr id="19" name="Text 10"/>
          <p:cNvSpPr txBox="1"/>
          <p:nvPr/>
        </p:nvSpPr>
        <p:spPr>
          <a:xfrm>
            <a:off x="1695298" y="4315054"/>
            <a:ext cx="24771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2000" dirty="0"/>
          </a:p>
        </p:txBody>
      </p:sp>
      <p:sp>
        <p:nvSpPr>
          <p:cNvPr id="20" name="Text 11"/>
          <p:cNvSpPr txBox="1"/>
          <p:nvPr/>
        </p:nvSpPr>
        <p:spPr>
          <a:xfrm>
            <a:off x="1695298" y="5934456"/>
            <a:ext cx="2477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</a:t>
            </a:r>
            <a:endParaRPr lang="en-US" sz="2400" dirty="0"/>
          </a:p>
        </p:txBody>
      </p:sp>
      <p:sp>
        <p:nvSpPr>
          <p:cNvPr id="21" name="Text 12"/>
          <p:cNvSpPr txBox="1"/>
          <p:nvPr/>
        </p:nvSpPr>
        <p:spPr>
          <a:xfrm>
            <a:off x="1695298" y="7029907"/>
            <a:ext cx="247711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학습자 진단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요구 분석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직무·환경 분석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목표 우선순위 </a:t>
            </a:r>
            <a:endParaRPr lang="en-US" sz="1600" dirty="0"/>
          </a:p>
        </p:txBody>
      </p:sp>
      <p:sp>
        <p:nvSpPr>
          <p:cNvPr id="22" name="Text 13"/>
          <p:cNvSpPr txBox="1"/>
          <p:nvPr/>
        </p:nvSpPr>
        <p:spPr>
          <a:xfrm>
            <a:off x="4858207" y="3981298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02</a:t>
            </a:r>
            <a:endParaRPr lang="en-US" sz="900" dirty="0"/>
          </a:p>
        </p:txBody>
      </p:sp>
      <p:sp>
        <p:nvSpPr>
          <p:cNvPr id="23" name="Text 14"/>
          <p:cNvSpPr txBox="1"/>
          <p:nvPr/>
        </p:nvSpPr>
        <p:spPr>
          <a:xfrm>
            <a:off x="4858207" y="4315054"/>
            <a:ext cx="24771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12000" dirty="0"/>
          </a:p>
        </p:txBody>
      </p:sp>
      <p:sp>
        <p:nvSpPr>
          <p:cNvPr id="24" name="Text 15"/>
          <p:cNvSpPr txBox="1"/>
          <p:nvPr/>
        </p:nvSpPr>
        <p:spPr>
          <a:xfrm>
            <a:off x="4858207" y="5934456"/>
            <a:ext cx="2477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</a:t>
            </a:r>
            <a:endParaRPr lang="en-US" sz="2400" dirty="0"/>
          </a:p>
        </p:txBody>
      </p:sp>
      <p:sp>
        <p:nvSpPr>
          <p:cNvPr id="25" name="Text 16"/>
          <p:cNvSpPr txBox="1"/>
          <p:nvPr/>
        </p:nvSpPr>
        <p:spPr>
          <a:xfrm>
            <a:off x="4858207" y="7029907"/>
            <a:ext cx="247711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학습목표(ILO) 작성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평가 전략 수립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콘텐츠 구조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교수전략 선택 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8020202" y="3981298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03</a:t>
            </a:r>
            <a:endParaRPr lang="en-US" sz="900" dirty="0"/>
          </a:p>
        </p:txBody>
      </p:sp>
      <p:sp>
        <p:nvSpPr>
          <p:cNvPr id="27" name="Text 18"/>
          <p:cNvSpPr txBox="1"/>
          <p:nvPr/>
        </p:nvSpPr>
        <p:spPr>
          <a:xfrm>
            <a:off x="8020202" y="4315054"/>
            <a:ext cx="24771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12000" dirty="0"/>
          </a:p>
        </p:txBody>
      </p:sp>
      <p:sp>
        <p:nvSpPr>
          <p:cNvPr id="28" name="Text 19"/>
          <p:cNvSpPr txBox="1"/>
          <p:nvPr/>
        </p:nvSpPr>
        <p:spPr>
          <a:xfrm>
            <a:off x="8020202" y="5934456"/>
            <a:ext cx="294711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</a:t>
            </a:r>
            <a:endParaRPr lang="en-US" sz="2400" dirty="0"/>
          </a:p>
        </p:txBody>
      </p:sp>
      <p:sp>
        <p:nvSpPr>
          <p:cNvPr id="29" name="Text 20"/>
          <p:cNvSpPr txBox="1"/>
          <p:nvPr/>
        </p:nvSpPr>
        <p:spPr>
          <a:xfrm>
            <a:off x="8020202" y="7029907"/>
            <a:ext cx="247711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슬라이드·교재 제작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활동·실습 시나리오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평가지·루브릭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시연·예시 자료 </a:t>
            </a:r>
            <a:endParaRPr lang="en-US" sz="1600" dirty="0"/>
          </a:p>
        </p:txBody>
      </p:sp>
      <p:sp>
        <p:nvSpPr>
          <p:cNvPr id="30" name="Text 21"/>
          <p:cNvSpPr txBox="1"/>
          <p:nvPr/>
        </p:nvSpPr>
        <p:spPr>
          <a:xfrm>
            <a:off x="11182198" y="3981298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04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11182198" y="4315054"/>
            <a:ext cx="24771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</a:t>
            </a:r>
            <a:endParaRPr lang="en-US" sz="12000" dirty="0"/>
          </a:p>
        </p:txBody>
      </p:sp>
      <p:sp>
        <p:nvSpPr>
          <p:cNvPr id="32" name="Text 23"/>
          <p:cNvSpPr txBox="1"/>
          <p:nvPr/>
        </p:nvSpPr>
        <p:spPr>
          <a:xfrm>
            <a:off x="11182198" y="5934456"/>
            <a:ext cx="294711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Implementation</a:t>
            </a:r>
            <a:endParaRPr lang="en-US" sz="2400" dirty="0"/>
          </a:p>
        </p:txBody>
      </p:sp>
      <p:sp>
        <p:nvSpPr>
          <p:cNvPr id="33" name="Text 24"/>
          <p:cNvSpPr txBox="1"/>
          <p:nvPr/>
        </p:nvSpPr>
        <p:spPr>
          <a:xfrm>
            <a:off x="11182198" y="7029907"/>
            <a:ext cx="247711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강의 진행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학습환경 운영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즉시 피드백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학습자 지원 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14345107" y="3981298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05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14345107" y="4315054"/>
            <a:ext cx="24771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endParaRPr lang="en-US" sz="12000" dirty="0"/>
          </a:p>
        </p:txBody>
      </p:sp>
      <p:sp>
        <p:nvSpPr>
          <p:cNvPr id="36" name="Text 27"/>
          <p:cNvSpPr txBox="1"/>
          <p:nvPr/>
        </p:nvSpPr>
        <p:spPr>
          <a:xfrm>
            <a:off x="14345107" y="5934456"/>
            <a:ext cx="2782519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Evaluation</a:t>
            </a:r>
            <a:endParaRPr lang="en-US" sz="2400" dirty="0"/>
          </a:p>
        </p:txBody>
      </p:sp>
      <p:sp>
        <p:nvSpPr>
          <p:cNvPr id="37" name="Text 28"/>
          <p:cNvSpPr txBox="1"/>
          <p:nvPr/>
        </p:nvSpPr>
        <p:spPr>
          <a:xfrm>
            <a:off x="14345107" y="7029907"/>
            <a:ext cx="247711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형성평가 (진행 중)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총괄평가 (종료 시)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커크패트릭 1–4단계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다음 사이클 개선 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ADDIE는 직선형으로 그리지만 실제로는 단계 간 피드백 루프가 있는 </a:t>
            </a:r>
            <a:r>
              <a:rPr lang="en-US" sz="1200" b="1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유연한 가이드</a:t>
            </a:r>
            <a:r>
              <a:rPr lang="en-US" sz="12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다음 장에서 AI를 단계별로 어떻게 쓸지 봅니다. 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62</a:t>
            </a:r>
            <a:endParaRPr lang="en-US" sz="900" dirty="0"/>
          </a:p>
        </p:txBody>
      </p:sp>
      <p:sp>
        <p:nvSpPr>
          <p:cNvPr id="40" name="출처 각주"/>
          <p:cNvSpPr txBox="1"/>
          <p:nvPr/>
        </p:nvSpPr>
        <p:spPr>
          <a:xfrm>
            <a:off x="1463040" y="9926955"/>
            <a:ext cx="14447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Branson, R. K. et al. (1975). Interservice Procedures for Instructional Systems Development. Florida State Univ. / 「ADDIE」라는 이름의 기원: Molenda, M. (2003). Performance Improvement, 42(5), 34–37</a:t>
            </a:r>
            <a:endParaRPr lang="en-US" sz="9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40850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15620695" cy="571500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2"/>
          <p:cNvSpPr/>
          <p:nvPr/>
        </p:nvSpPr>
        <p:spPr>
          <a:xfrm>
            <a:off x="1410005" y="4410151"/>
            <a:ext cx="15620695" cy="95280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3"/>
          <p:cNvSpPr/>
          <p:nvPr/>
        </p:nvSpPr>
        <p:spPr>
          <a:xfrm>
            <a:off x="1410005" y="5458054"/>
            <a:ext cx="15620695" cy="95280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1410005" y="6505956"/>
            <a:ext cx="15620695" cy="95280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1410005" y="7552944"/>
            <a:ext cx="15620695" cy="95280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6"/>
          <p:cNvSpPr/>
          <p:nvPr/>
        </p:nvSpPr>
        <p:spPr>
          <a:xfrm>
            <a:off x="1410005" y="8600846"/>
            <a:ext cx="15620695" cy="952805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1" name="Image 2" descr="gen-dedup-8980d0013510267e83d2e8055d9396ef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1410005" y="4410151"/>
            <a:ext cx="57607" cy="952805"/>
          </a:xfrm>
          <a:prstGeom prst="rect">
            <a:avLst/>
          </a:prstGeom>
        </p:spPr>
      </p:pic>
      <p:pic>
        <p:nvPicPr>
          <p:cNvPr id="12" name="Image 3" descr="gen-dedup-cb4e2595348271df60fea06cbf5bea1c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1410005" y="5458054"/>
            <a:ext cx="57607" cy="952805"/>
          </a:xfrm>
          <a:prstGeom prst="rect">
            <a:avLst/>
          </a:prstGeom>
        </p:spPr>
      </p:pic>
      <p:pic>
        <p:nvPicPr>
          <p:cNvPr id="13" name="Image 4" descr="gen-dedup-d2b2cbf82a68d71288d31ba023b68436.png"/>
          <p:cNvPicPr>
            <a:picLocks noChangeAspect="1"/>
          </p:cNvPicPr>
          <p:nvPr/>
        </p:nvPicPr>
        <p:blipFill>
          <a:blip r:embed="rId7"/>
          <a:srcRect l="-384" r="-384"/>
          <a:stretch/>
        </p:blipFill>
        <p:spPr>
          <a:xfrm>
            <a:off x="1410005" y="6505956"/>
            <a:ext cx="57607" cy="952805"/>
          </a:xfrm>
          <a:prstGeom prst="rect">
            <a:avLst/>
          </a:prstGeom>
        </p:spPr>
      </p:pic>
      <p:pic>
        <p:nvPicPr>
          <p:cNvPr id="14" name="Image 5" descr="gen-dedup-6e89c550e68f7ef22e75e35393ec46f9.png"/>
          <p:cNvPicPr>
            <a:picLocks noChangeAspect="1"/>
          </p:cNvPicPr>
          <p:nvPr/>
        </p:nvPicPr>
        <p:blipFill>
          <a:blip r:embed="rId8"/>
          <a:srcRect l="-384" r="-384"/>
          <a:stretch/>
        </p:blipFill>
        <p:spPr>
          <a:xfrm>
            <a:off x="1410005" y="7552944"/>
            <a:ext cx="57607" cy="952805"/>
          </a:xfrm>
          <a:prstGeom prst="rect">
            <a:avLst/>
          </a:prstGeom>
        </p:spPr>
      </p:pic>
      <p:pic>
        <p:nvPicPr>
          <p:cNvPr id="15" name="Image 6" descr="gen-dedup-b5e4f6628e74d82d17378b64fd61bb84.png"/>
          <p:cNvPicPr>
            <a:picLocks noChangeAspect="1"/>
          </p:cNvPicPr>
          <p:nvPr/>
        </p:nvPicPr>
        <p:blipFill>
          <a:blip r:embed="rId9"/>
          <a:srcRect l="-384" r="-384"/>
          <a:stretch/>
        </p:blipFill>
        <p:spPr>
          <a:xfrm>
            <a:off x="1410005" y="8600846"/>
            <a:ext cx="57607" cy="952805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ADDIE × AI · 단계별 도구 매칭</a:t>
            </a:r>
            <a:endParaRPr lang="en-US" sz="1100" dirty="0"/>
          </a:p>
        </p:txBody>
      </p:sp>
      <p:sp>
        <p:nvSpPr>
          <p:cNvPr id="17" name="Text 8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ADDIE 각 단계에서 AI는 무엇을 해줄까</a:t>
            </a:r>
            <a:endParaRPr lang="en-US" sz="5400" dirty="0"/>
          </a:p>
        </p:txBody>
      </p:sp>
      <p:sp>
        <p:nvSpPr>
          <p:cNvPr id="18" name="Text 9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도구를 잘 쓰면 강의 설계 시간을 크게 줄일 수 있습니다.</a:t>
            </a:r>
            <a:endParaRPr lang="en-US" sz="2000" dirty="0"/>
          </a:p>
        </p:txBody>
      </p:sp>
      <p:sp>
        <p:nvSpPr>
          <p:cNvPr id="19" name="Text 10"/>
          <p:cNvSpPr txBox="1"/>
          <p:nvPr/>
        </p:nvSpPr>
        <p:spPr>
          <a:xfrm>
            <a:off x="1695298" y="3866998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</a:t>
            </a:r>
            <a:endParaRPr lang="en-US" sz="1100" dirty="0"/>
          </a:p>
        </p:txBody>
      </p:sp>
      <p:sp>
        <p:nvSpPr>
          <p:cNvPr id="20" name="Text 11"/>
          <p:cNvSpPr txBox="1"/>
          <p:nvPr/>
        </p:nvSpPr>
        <p:spPr>
          <a:xfrm>
            <a:off x="3886200" y="3866998"/>
            <a:ext cx="3620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활용 작업</a:t>
            </a:r>
            <a:endParaRPr lang="en-US" sz="1100" dirty="0"/>
          </a:p>
        </p:txBody>
      </p:sp>
      <p:sp>
        <p:nvSpPr>
          <p:cNvPr id="21" name="Text 12"/>
          <p:cNvSpPr txBox="1"/>
          <p:nvPr/>
        </p:nvSpPr>
        <p:spPr>
          <a:xfrm>
            <a:off x="7981798" y="38669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도구</a:t>
            </a:r>
            <a:endParaRPr lang="en-US" sz="1100" dirty="0"/>
          </a:p>
        </p:txBody>
      </p:sp>
      <p:sp>
        <p:nvSpPr>
          <p:cNvPr id="22" name="Text 13"/>
          <p:cNvSpPr txBox="1"/>
          <p:nvPr/>
        </p:nvSpPr>
        <p:spPr>
          <a:xfrm>
            <a:off x="11697005" y="3866998"/>
            <a:ext cx="5143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강사가 꼭 손볼 곳</a:t>
            </a:r>
            <a:endParaRPr lang="en-US" sz="1100" dirty="0"/>
          </a:p>
        </p:txBody>
      </p:sp>
      <p:sp>
        <p:nvSpPr>
          <p:cNvPr id="23" name="Text 14"/>
          <p:cNvSpPr txBox="1"/>
          <p:nvPr/>
        </p:nvSpPr>
        <p:spPr>
          <a:xfrm>
            <a:off x="1695298" y="4695444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· 분석</a:t>
            </a:r>
            <a:endParaRPr lang="en-US" sz="2000" dirty="0"/>
          </a:p>
        </p:txBody>
      </p:sp>
      <p:sp>
        <p:nvSpPr>
          <p:cNvPr id="24" name="Text 15"/>
          <p:cNvSpPr txBox="1"/>
          <p:nvPr/>
        </p:nvSpPr>
        <p:spPr>
          <a:xfrm>
            <a:off x="3886200" y="4695444"/>
            <a:ext cx="381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 응답 요약, 사전 인터뷰 텍스트 클러스터링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7981798" y="4695444"/>
            <a:ext cx="3620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· NotebookLM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11697005" y="4695444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'욕구'를 보지 못함 — 실제 학습자 1명과 통화</a:t>
            </a:r>
            <a:endParaRPr lang="en-US" sz="1600" dirty="0"/>
          </a:p>
        </p:txBody>
      </p:sp>
      <p:sp>
        <p:nvSpPr>
          <p:cNvPr id="27" name="Text 18"/>
          <p:cNvSpPr txBox="1"/>
          <p:nvPr/>
        </p:nvSpPr>
        <p:spPr>
          <a:xfrm>
            <a:off x="1695298" y="5743346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 · 설계</a:t>
            </a:r>
            <a:endParaRPr lang="en-US" sz="2000" dirty="0"/>
          </a:p>
        </p:txBody>
      </p:sp>
      <p:sp>
        <p:nvSpPr>
          <p:cNvPr id="28" name="Text 19"/>
          <p:cNvSpPr txBox="1"/>
          <p:nvPr/>
        </p:nvSpPr>
        <p:spPr>
          <a:xfrm>
            <a:off x="3886200" y="5743346"/>
            <a:ext cx="381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ILO 초안, 루브릭 4점, Bloom 단계 점검</a:t>
            </a:r>
            <a:endParaRPr lang="en-US" sz="1600" dirty="0"/>
          </a:p>
        </p:txBody>
      </p:sp>
      <p:sp>
        <p:nvSpPr>
          <p:cNvPr id="29" name="Text 20"/>
          <p:cNvSpPr txBox="1"/>
          <p:nvPr/>
        </p:nvSpPr>
        <p:spPr>
          <a:xfrm>
            <a:off x="7981798" y="5743346"/>
            <a:ext cx="3620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 · Claude</a:t>
            </a:r>
            <a:endParaRPr lang="en-US" sz="1600" dirty="0"/>
          </a:p>
        </p:txBody>
      </p:sp>
      <p:sp>
        <p:nvSpPr>
          <p:cNvPr id="30" name="Text 21"/>
          <p:cNvSpPr txBox="1"/>
          <p:nvPr/>
        </p:nvSpPr>
        <p:spPr>
          <a:xfrm>
            <a:off x="11697005" y="5743346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단계 일관성 — 강사가 직접 동그라미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1695298" y="6791249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 · 개발</a:t>
            </a:r>
            <a:endParaRPr lang="en-US" sz="2000" dirty="0"/>
          </a:p>
        </p:txBody>
      </p:sp>
      <p:sp>
        <p:nvSpPr>
          <p:cNvPr id="32" name="Text 23"/>
          <p:cNvSpPr txBox="1"/>
          <p:nvPr/>
        </p:nvSpPr>
        <p:spPr>
          <a:xfrm>
            <a:off x="3886200" y="6791249"/>
            <a:ext cx="381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초안, 시나리오, 이미지, 퀴즈 문항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7981798" y="6791249"/>
            <a:ext cx="3620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Gamma · Genspark · Midjourney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11697005" y="6791249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강사의 톤·사례·실패 경험은 손으로 끼워넣기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1695298" y="7839151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· 실행</a:t>
            </a:r>
            <a:endParaRPr lang="en-US" sz="2000" dirty="0"/>
          </a:p>
        </p:txBody>
      </p:sp>
      <p:sp>
        <p:nvSpPr>
          <p:cNvPr id="36" name="Text 27"/>
          <p:cNvSpPr txBox="1"/>
          <p:nvPr/>
        </p:nvSpPr>
        <p:spPr>
          <a:xfrm>
            <a:off x="3886200" y="7839151"/>
            <a:ext cx="381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Q&amp;A 보조, 영문 응답 번역, 채팅 요약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7981798" y="7839151"/>
            <a:ext cx="3620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 음성 · Gemini Live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11697005" y="7839151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 표정·맥락 읽기 — AI 위임 불가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1695298" y="8887054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 · 평가</a:t>
            </a:r>
            <a:endParaRPr lang="en-US" sz="2000" dirty="0"/>
          </a:p>
        </p:txBody>
      </p:sp>
      <p:sp>
        <p:nvSpPr>
          <p:cNvPr id="40" name="Text 31"/>
          <p:cNvSpPr txBox="1"/>
          <p:nvPr/>
        </p:nvSpPr>
        <p:spPr>
          <a:xfrm>
            <a:off x="3886200" y="8887054"/>
            <a:ext cx="381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 자유응답 분석, 산출물 자동 채점 보조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7981798" y="8887054"/>
            <a:ext cx="3620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· NotebookLM</a:t>
            </a:r>
            <a:endParaRPr lang="en-US" sz="1600" dirty="0"/>
          </a:p>
        </p:txBody>
      </p:sp>
      <p:sp>
        <p:nvSpPr>
          <p:cNvPr id="42" name="Text 33"/>
          <p:cNvSpPr txBox="1"/>
          <p:nvPr/>
        </p:nvSpPr>
        <p:spPr>
          <a:xfrm>
            <a:off x="11697005" y="8887054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루브릭 최종 판정과 피드백 톤은 강사 손</a:t>
            </a:r>
            <a:endParaRPr lang="en-US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62</a:t>
            </a:r>
            <a:endParaRPr lang="en-US" sz="105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232522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05 / 13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ADDIE Model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ADDIE 모델 · Branson 외 (1975), 플로리다주립대</a:t>
            </a:r>
            <a:endParaRPr lang="en-US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교수설계의 가장 보편적인 5단계 프레임: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→ 설계 → 개발 → 실행 → 평가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 강의·과정·교재 모두에 적용 가능. 단계 간 피드백 루프 포함. </a:t>
            </a:r>
            <a:endParaRPr lang="en-US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"분석 없이 만든 강의는 강사의 자기소개일 뿐."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A·E 단계를 건너뛰는 게 가장 흔한 실수.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 도입은 D·D·I 단계 시간을 가장 크게 줄여줍니다. </a:t>
            </a:r>
            <a:endParaRPr lang="en-US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강의 적용 예시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600200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8주짜리 'AI 기획자' 과정 ADDIE: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기획자 30명 사전 설문 + 1:1 인터뷰 5건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주차별 ILO 8개 + 최종 산출물(서비스 기획서) 정의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매주 슬라이드 + 실습 시나리오 + 첨삭 루브릭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8주 진행, 매주 회고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Kirkpatrick 1·2·3 측정 + 12주 후 follow-up 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분석(A) 없이 D로 바로 가지 않았는가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설계(D)에서 ILO·AT·TLA를 한 페이지에 정렬했는가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개발(D)에서 AI가 만든 초안을 무비판 복붙하지 않았는가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실행(I) 중 형성평가 포인트를 3개 이상 심었는가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평가(E)가 L1만이 아니라 L2·L3·L4로 확장됐는가 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 · SUMMARY CARD 05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62</a:t>
            </a:r>
            <a:endParaRPr lang="en-US" sz="105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059225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791102"/>
            <a:ext cx="5143500" cy="53336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6" name="Shape 2"/>
          <p:cNvSpPr/>
          <p:nvPr/>
        </p:nvSpPr>
        <p:spPr>
          <a:xfrm>
            <a:off x="6933895" y="3791102"/>
            <a:ext cx="5143500" cy="53336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7" name="Shape 3"/>
          <p:cNvSpPr/>
          <p:nvPr/>
        </p:nvSpPr>
        <p:spPr>
          <a:xfrm>
            <a:off x="12458700" y="3791102"/>
            <a:ext cx="4572000" cy="5333695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8" name="Shape 4"/>
          <p:cNvSpPr/>
          <p:nvPr/>
        </p:nvSpPr>
        <p:spPr>
          <a:xfrm>
            <a:off x="1410005" y="3791102"/>
            <a:ext cx="5143500" cy="571500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9" name="Shape 5"/>
          <p:cNvSpPr/>
          <p:nvPr/>
        </p:nvSpPr>
        <p:spPr>
          <a:xfrm>
            <a:off x="6933895" y="3791102"/>
            <a:ext cx="5143500" cy="571500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0" name="Shape 6"/>
          <p:cNvSpPr/>
          <p:nvPr/>
        </p:nvSpPr>
        <p:spPr>
          <a:xfrm>
            <a:off x="12458700" y="3791102"/>
            <a:ext cx="4572000" cy="5715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1" name="Text 7"/>
          <p:cNvSpPr txBox="1"/>
          <p:nvPr/>
        </p:nvSpPr>
        <p:spPr>
          <a:xfrm>
            <a:off x="1410005" y="1123798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 · THEORY 06 · GAGNÉ'S NINE EVENTS OF INSTRUCTION (1965 · 4TH ED. 1985)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Gagné의 9가지 교수사건</a:t>
            </a:r>
            <a:endParaRPr lang="en-US" sz="6000" dirty="0"/>
          </a:p>
        </p:txBody>
      </p:sp>
      <p:sp>
        <p:nvSpPr>
          <p:cNvPr id="13" name="Text 9"/>
          <p:cNvSpPr txBox="1"/>
          <p:nvPr/>
        </p:nvSpPr>
        <p:spPr>
          <a:xfrm>
            <a:off x="1410005" y="28382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차시(=1시간 강의)의 흐름을 9개 사건으로 분해. 정보처리 이론에 기반한 강의 시퀀스.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1695298" y="396209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 1 · 준비 PREPARATION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1695298" y="4600346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2266798" y="4600346"/>
            <a:ext cx="4096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 끌기 (Gain Attention)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2266798" y="4914900"/>
            <a:ext cx="40965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놀라운 사실, 충격적 질문, 예상 못한 시연으로 시작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695298" y="5790895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5"/>
          <p:cNvSpPr txBox="1"/>
          <p:nvPr/>
        </p:nvSpPr>
        <p:spPr>
          <a:xfrm>
            <a:off x="2266798" y="5790895"/>
            <a:ext cx="4096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학습목표 알리기</a:t>
            </a:r>
            <a:endParaRPr lang="en-US" dirty="0"/>
          </a:p>
        </p:txBody>
      </p:sp>
      <p:sp>
        <p:nvSpPr>
          <p:cNvPr id="20" name="Text 16"/>
          <p:cNvSpPr txBox="1"/>
          <p:nvPr/>
        </p:nvSpPr>
        <p:spPr>
          <a:xfrm>
            <a:off x="2266798" y="6105449"/>
            <a:ext cx="40965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"오늘 끝나면 ~를 할 수 있다"를 학습자에게 명시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695298" y="6981444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2266798" y="6981444"/>
            <a:ext cx="4096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선수학습 회상 자극</a:t>
            </a:r>
            <a:endParaRPr lang="en-US" dirty="0"/>
          </a:p>
        </p:txBody>
      </p:sp>
      <p:sp>
        <p:nvSpPr>
          <p:cNvPr id="23" name="Text 19"/>
          <p:cNvSpPr txBox="1"/>
          <p:nvPr/>
        </p:nvSpPr>
        <p:spPr>
          <a:xfrm>
            <a:off x="2266798" y="7295998"/>
            <a:ext cx="40965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"지난 시간에 우리는 ~를 다뤘죠" 연결고리 확인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220102" y="396209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 2 · 학습 INSTRUCTION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7220102" y="4600346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7791602" y="4600346"/>
            <a:ext cx="4096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자료 제시</a:t>
            </a:r>
            <a:endParaRPr lang="en-US" dirty="0"/>
          </a:p>
        </p:txBody>
      </p:sp>
      <p:sp>
        <p:nvSpPr>
          <p:cNvPr id="27" name="Text 23"/>
          <p:cNvSpPr txBox="1"/>
          <p:nvPr/>
        </p:nvSpPr>
        <p:spPr>
          <a:xfrm>
            <a:off x="7791602" y="4914900"/>
            <a:ext cx="40965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개념·절차·예시를 다양한 매체로 보여주기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7220102" y="5790895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5"/>
          <p:cNvSpPr txBox="1"/>
          <p:nvPr/>
        </p:nvSpPr>
        <p:spPr>
          <a:xfrm>
            <a:off x="7791602" y="5790895"/>
            <a:ext cx="4096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안내 제공</a:t>
            </a:r>
            <a:endParaRPr lang="en-US" dirty="0"/>
          </a:p>
        </p:txBody>
      </p:sp>
      <p:sp>
        <p:nvSpPr>
          <p:cNvPr id="30" name="Text 26"/>
          <p:cNvSpPr txBox="1"/>
          <p:nvPr/>
        </p:nvSpPr>
        <p:spPr>
          <a:xfrm>
            <a:off x="7791602" y="6105449"/>
            <a:ext cx="40965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힌트·비유·기억술 — 학습자가 길을 잃지 않게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7220102" y="6981444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7791602" y="6981444"/>
            <a:ext cx="4096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유발 (Elicit Performance)</a:t>
            </a:r>
            <a:endParaRPr lang="en-US" dirty="0"/>
          </a:p>
        </p:txBody>
      </p:sp>
      <p:sp>
        <p:nvSpPr>
          <p:cNvPr id="33" name="Text 29"/>
          <p:cNvSpPr txBox="1"/>
          <p:nvPr/>
        </p:nvSpPr>
        <p:spPr>
          <a:xfrm>
            <a:off x="7791602" y="7295998"/>
            <a:ext cx="40965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학습자가 직접 해보게 — 실습·연습 문제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12744907" y="3962095"/>
            <a:ext cx="4096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kern="0" spc="263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 3 · 강화 REINFORCE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12744907" y="4600346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400" dirty="0"/>
          </a:p>
        </p:txBody>
      </p:sp>
      <p:sp>
        <p:nvSpPr>
          <p:cNvPr id="36" name="Text 32"/>
          <p:cNvSpPr txBox="1"/>
          <p:nvPr/>
        </p:nvSpPr>
        <p:spPr>
          <a:xfrm>
            <a:off x="13316407" y="4600346"/>
            <a:ext cx="3525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제공</a:t>
            </a:r>
            <a:endParaRPr lang="en-US" dirty="0"/>
          </a:p>
        </p:txBody>
      </p:sp>
      <p:sp>
        <p:nvSpPr>
          <p:cNvPr id="37" name="Text 33"/>
          <p:cNvSpPr txBox="1"/>
          <p:nvPr/>
        </p:nvSpPr>
        <p:spPr>
          <a:xfrm>
            <a:off x="13316407" y="4914900"/>
            <a:ext cx="3525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구체적·즉시·교정형 피드백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12744907" y="5790895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400" dirty="0"/>
          </a:p>
        </p:txBody>
      </p:sp>
      <p:sp>
        <p:nvSpPr>
          <p:cNvPr id="39" name="Text 35"/>
          <p:cNvSpPr txBox="1"/>
          <p:nvPr/>
        </p:nvSpPr>
        <p:spPr>
          <a:xfrm>
            <a:off x="13316407" y="5790895"/>
            <a:ext cx="3525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평가</a:t>
            </a:r>
            <a:endParaRPr lang="en-US" dirty="0"/>
          </a:p>
        </p:txBody>
      </p:sp>
      <p:sp>
        <p:nvSpPr>
          <p:cNvPr id="40" name="Text 36"/>
          <p:cNvSpPr txBox="1"/>
          <p:nvPr/>
        </p:nvSpPr>
        <p:spPr>
          <a:xfrm>
            <a:off x="13316407" y="6105449"/>
            <a:ext cx="3525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도달 여부 확인 (AT)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12744907" y="6981444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2400" dirty="0"/>
          </a:p>
        </p:txBody>
      </p:sp>
      <p:sp>
        <p:nvSpPr>
          <p:cNvPr id="42" name="Text 38"/>
          <p:cNvSpPr txBox="1"/>
          <p:nvPr/>
        </p:nvSpPr>
        <p:spPr>
          <a:xfrm>
            <a:off x="13316407" y="6981444"/>
            <a:ext cx="3525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파지·전이 향상</a:t>
            </a:r>
            <a:endParaRPr lang="en-US" dirty="0"/>
          </a:p>
        </p:txBody>
      </p:sp>
      <p:sp>
        <p:nvSpPr>
          <p:cNvPr id="43" name="Text 39"/>
          <p:cNvSpPr txBox="1"/>
          <p:nvPr/>
        </p:nvSpPr>
        <p:spPr>
          <a:xfrm>
            <a:off x="13316407" y="7295998"/>
            <a:ext cx="3525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적용 액션·요약·다음 단계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사건은 인지심리학의 정보처리 모델에서 도출 — 한 차시 안에 고루 배치하되, 순서·비중은 상황에 맞게 조절합니다.</a:t>
            </a:r>
            <a:endParaRPr lang="en-US" sz="1400" dirty="0"/>
          </a:p>
        </p:txBody>
      </p:sp>
      <p:sp>
        <p:nvSpPr>
          <p:cNvPr id="45" name="Text 41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62</a:t>
            </a:r>
            <a:endParaRPr lang="en-US" sz="1000" dirty="0"/>
          </a:p>
        </p:txBody>
      </p:sp>
      <p:sp>
        <p:nvSpPr>
          <p:cNvPr id="46" name="출처 각주"/>
          <p:cNvSpPr txBox="1"/>
          <p:nvPr/>
        </p:nvSpPr>
        <p:spPr>
          <a:xfrm>
            <a:off x="1463040" y="9926955"/>
            <a:ext cx="14447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Gagné, R. M. (1965; 4th ed. 1985). The Conditions of Learning. Holt, Rinehart &amp; Winston</a:t>
            </a:r>
            <a:endParaRPr lang="en-US" sz="10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36886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15620695" cy="571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2"/>
          <p:cNvSpPr/>
          <p:nvPr/>
        </p:nvSpPr>
        <p:spPr>
          <a:xfrm>
            <a:off x="1410005" y="4315054"/>
            <a:ext cx="15620695" cy="571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3"/>
          <p:cNvSpPr/>
          <p:nvPr/>
        </p:nvSpPr>
        <p:spPr>
          <a:xfrm>
            <a:off x="1410005" y="4934102"/>
            <a:ext cx="15620695" cy="571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1410005" y="5553151"/>
            <a:ext cx="15620695" cy="571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1410005" y="6172200"/>
            <a:ext cx="15620695" cy="571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6"/>
          <p:cNvSpPr/>
          <p:nvPr/>
        </p:nvSpPr>
        <p:spPr>
          <a:xfrm>
            <a:off x="1410005" y="6791249"/>
            <a:ext cx="15620695" cy="5715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7"/>
          <p:cNvSpPr/>
          <p:nvPr/>
        </p:nvSpPr>
        <p:spPr>
          <a:xfrm>
            <a:off x="1410005" y="7410298"/>
            <a:ext cx="15620695" cy="571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Shape 8"/>
          <p:cNvSpPr/>
          <p:nvPr/>
        </p:nvSpPr>
        <p:spPr>
          <a:xfrm>
            <a:off x="1410005" y="8029346"/>
            <a:ext cx="15620695" cy="571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Shape 9"/>
          <p:cNvSpPr/>
          <p:nvPr/>
        </p:nvSpPr>
        <p:spPr>
          <a:xfrm>
            <a:off x="1410005" y="8648395"/>
            <a:ext cx="15620695" cy="5715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4" name="Image 2" descr="gen-dedup-a6ba291fde763dd1c0af508643f01b5f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410005" y="6791249"/>
            <a:ext cx="57607" cy="571500"/>
          </a:xfrm>
          <a:prstGeom prst="rect">
            <a:avLst/>
          </a:prstGeom>
        </p:spPr>
      </p:pic>
      <p:pic>
        <p:nvPicPr>
          <p:cNvPr id="15" name="Image 3" descr="gen-dedup-a6ba291fde763dd1c0af508643f01b5f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410005" y="8648395"/>
            <a:ext cx="57607" cy="5715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GAGNÉ × AI · 60분 강의를 9단계로 배치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'AI로 회의록 만들기' 60분, 이렇게 흐릅니다</a:t>
            </a:r>
            <a:endParaRPr lang="en-US" sz="5400" dirty="0"/>
          </a:p>
        </p:txBody>
      </p:sp>
      <p:sp>
        <p:nvSpPr>
          <p:cNvPr id="18" name="Text 12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강의 한 편이 Gagné 9단계로 분 단위 배치되는 모습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695298" y="3866998"/>
            <a:ext cx="857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2457907" y="3838651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 → 00:03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4172407" y="3838651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 끌기</a:t>
            </a:r>
            <a:endParaRPr lang="en-US" dirty="0"/>
          </a:p>
        </p:txBody>
      </p:sp>
      <p:sp>
        <p:nvSpPr>
          <p:cNvPr id="22" name="Text 16"/>
          <p:cNvSpPr txBox="1"/>
          <p:nvPr/>
        </p:nvSpPr>
        <p:spPr>
          <a:xfrm>
            <a:off x="7601407" y="3886200"/>
            <a:ext cx="9240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음성 1분, AI가 회의록 만드는 데 얼마 걸릴까요?" 실제 시연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695298" y="4486046"/>
            <a:ext cx="857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2457907" y="4457700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00:03 → 00:05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4172407" y="4457700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학습목표 알리기</a:t>
            </a:r>
            <a:endParaRPr lang="en-US" dirty="0"/>
          </a:p>
        </p:txBody>
      </p:sp>
      <p:sp>
        <p:nvSpPr>
          <p:cNvPr id="26" name="Text 20"/>
          <p:cNvSpPr txBox="1"/>
          <p:nvPr/>
        </p:nvSpPr>
        <p:spPr>
          <a:xfrm>
            <a:off x="7601407" y="4505249"/>
            <a:ext cx="9240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"오늘 끝나면 본인 회의 녹음 1건을 5분 안에 회의록으로 만듭니다"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695298" y="5105095"/>
            <a:ext cx="857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2457907" y="5076749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00:05 → 00:08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4172407" y="5076749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선수학습 회상</a:t>
            </a:r>
            <a:endParaRPr lang="en-US" dirty="0"/>
          </a:p>
        </p:txBody>
      </p:sp>
      <p:sp>
        <p:nvSpPr>
          <p:cNvPr id="30" name="Text 24"/>
          <p:cNvSpPr txBox="1"/>
          <p:nvPr/>
        </p:nvSpPr>
        <p:spPr>
          <a:xfrm>
            <a:off x="7601407" y="5124298"/>
            <a:ext cx="9240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"평소 회의록 작성 시 가장 시간 많이 잡아먹는 부분?" 채팅창 응답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1695298" y="5724144"/>
            <a:ext cx="857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2457907" y="5695798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00:08 → 00:20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4172407" y="56957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자극 자료 제시</a:t>
            </a:r>
            <a:endParaRPr lang="en-US" dirty="0"/>
          </a:p>
        </p:txBody>
      </p:sp>
      <p:sp>
        <p:nvSpPr>
          <p:cNvPr id="34" name="Text 28"/>
          <p:cNvSpPr txBox="1"/>
          <p:nvPr/>
        </p:nvSpPr>
        <p:spPr>
          <a:xfrm>
            <a:off x="7601407" y="5743346"/>
            <a:ext cx="9240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도구 시연: ChatGPT 음성 / Otter / Notion AI — 같은 음성으로 비교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1695298" y="6344107"/>
            <a:ext cx="857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2457907" y="6314846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00:20 → 00:25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4172407" y="6314846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안내</a:t>
            </a:r>
            <a:endParaRPr lang="en-US" dirty="0"/>
          </a:p>
        </p:txBody>
      </p:sp>
      <p:sp>
        <p:nvSpPr>
          <p:cNvPr id="38" name="Text 32"/>
          <p:cNvSpPr txBox="1"/>
          <p:nvPr/>
        </p:nvSpPr>
        <p:spPr>
          <a:xfrm>
            <a:off x="7601407" y="6362395"/>
            <a:ext cx="9240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'역할 → 맥락 → 출력형식' 3단 프롬프트 템플릿 카드 제공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1695298" y="6963156"/>
            <a:ext cx="857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4"/>
          <p:cNvSpPr txBox="1"/>
          <p:nvPr/>
        </p:nvSpPr>
        <p:spPr>
          <a:xfrm>
            <a:off x="2457907" y="6933895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00:25 → 00:45</a:t>
            </a:r>
            <a:endParaRPr lang="en-US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4172407" y="69338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유발 </a:t>
            </a:r>
            <a:endParaRPr lang="en-US" dirty="0"/>
          </a:p>
        </p:txBody>
      </p:sp>
      <p:sp>
        <p:nvSpPr>
          <p:cNvPr id="42" name="Text 36"/>
          <p:cNvSpPr txBox="1"/>
          <p:nvPr/>
        </p:nvSpPr>
        <p:spPr>
          <a:xfrm>
            <a:off x="7601407" y="6981444"/>
            <a:ext cx="9240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 본인 회의 녹음 → 20분간 실습 (강의의 중심)</a:t>
            </a:r>
            <a:endParaRPr lang="en-US" sz="1600" dirty="0"/>
          </a:p>
        </p:txBody>
      </p:sp>
      <p:sp>
        <p:nvSpPr>
          <p:cNvPr id="43" name="Text 37"/>
          <p:cNvSpPr txBox="1"/>
          <p:nvPr/>
        </p:nvSpPr>
        <p:spPr>
          <a:xfrm>
            <a:off x="1695298" y="7582205"/>
            <a:ext cx="857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38"/>
          <p:cNvSpPr txBox="1"/>
          <p:nvPr/>
        </p:nvSpPr>
        <p:spPr>
          <a:xfrm>
            <a:off x="2457907" y="7552944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00:45 → 00:52</a:t>
            </a:r>
            <a:endParaRPr lang="en-US" sz="1600" dirty="0"/>
          </a:p>
        </p:txBody>
      </p:sp>
      <p:sp>
        <p:nvSpPr>
          <p:cNvPr id="45" name="Text 39"/>
          <p:cNvSpPr txBox="1"/>
          <p:nvPr/>
        </p:nvSpPr>
        <p:spPr>
          <a:xfrm>
            <a:off x="4172407" y="7552944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</a:t>
            </a:r>
            <a:endParaRPr lang="en-US" dirty="0"/>
          </a:p>
        </p:txBody>
      </p:sp>
      <p:sp>
        <p:nvSpPr>
          <p:cNvPr id="46" name="Text 40"/>
          <p:cNvSpPr txBox="1"/>
          <p:nvPr/>
        </p:nvSpPr>
        <p:spPr>
          <a:xfrm>
            <a:off x="7601407" y="7601407"/>
            <a:ext cx="9240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짝 점검 + 강사 라운드 — 빈약한 프롬프트 1건 함께 개선</a:t>
            </a:r>
            <a:endParaRPr lang="en-US" sz="1600" dirty="0"/>
          </a:p>
        </p:txBody>
      </p:sp>
      <p:sp>
        <p:nvSpPr>
          <p:cNvPr id="47" name="Text 41"/>
          <p:cNvSpPr txBox="1"/>
          <p:nvPr/>
        </p:nvSpPr>
        <p:spPr>
          <a:xfrm>
            <a:off x="1695298" y="8201254"/>
            <a:ext cx="857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600" dirty="0"/>
          </a:p>
        </p:txBody>
      </p:sp>
      <p:sp>
        <p:nvSpPr>
          <p:cNvPr id="48" name="Text 42"/>
          <p:cNvSpPr txBox="1"/>
          <p:nvPr/>
        </p:nvSpPr>
        <p:spPr>
          <a:xfrm>
            <a:off x="2457907" y="8172907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00:52 → 00:55</a:t>
            </a:r>
            <a:endParaRPr lang="en-US" sz="1600" dirty="0"/>
          </a:p>
        </p:txBody>
      </p:sp>
      <p:sp>
        <p:nvSpPr>
          <p:cNvPr id="49" name="Text 43"/>
          <p:cNvSpPr txBox="1"/>
          <p:nvPr/>
        </p:nvSpPr>
        <p:spPr>
          <a:xfrm>
            <a:off x="4172407" y="8172907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평가</a:t>
            </a:r>
            <a:endParaRPr lang="en-US" dirty="0"/>
          </a:p>
        </p:txBody>
      </p:sp>
      <p:sp>
        <p:nvSpPr>
          <p:cNvPr id="50" name="Text 44"/>
          <p:cNvSpPr txBox="1"/>
          <p:nvPr/>
        </p:nvSpPr>
        <p:spPr>
          <a:xfrm>
            <a:off x="7601407" y="8220456"/>
            <a:ext cx="9240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회의록 1건 제출 — 루브릭 4점 자가 채점</a:t>
            </a:r>
            <a:endParaRPr lang="en-US" sz="1600" dirty="0"/>
          </a:p>
        </p:txBody>
      </p:sp>
      <p:sp>
        <p:nvSpPr>
          <p:cNvPr id="51" name="Text 45"/>
          <p:cNvSpPr txBox="1"/>
          <p:nvPr/>
        </p:nvSpPr>
        <p:spPr>
          <a:xfrm>
            <a:off x="1695298" y="8820302"/>
            <a:ext cx="857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600" dirty="0"/>
          </a:p>
        </p:txBody>
      </p:sp>
      <p:sp>
        <p:nvSpPr>
          <p:cNvPr id="52" name="Text 46"/>
          <p:cNvSpPr txBox="1"/>
          <p:nvPr/>
        </p:nvSpPr>
        <p:spPr>
          <a:xfrm>
            <a:off x="2457907" y="8791956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00:55 → 01:00</a:t>
            </a:r>
            <a:endParaRPr lang="en-US" sz="1600" dirty="0"/>
          </a:p>
        </p:txBody>
      </p:sp>
      <p:sp>
        <p:nvSpPr>
          <p:cNvPr id="53" name="Text 47"/>
          <p:cNvSpPr txBox="1"/>
          <p:nvPr/>
        </p:nvSpPr>
        <p:spPr>
          <a:xfrm>
            <a:off x="4172407" y="8791956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파지·전이</a:t>
            </a:r>
            <a:endParaRPr lang="en-US" dirty="0"/>
          </a:p>
        </p:txBody>
      </p:sp>
      <p:sp>
        <p:nvSpPr>
          <p:cNvPr id="54" name="Text 48"/>
          <p:cNvSpPr txBox="1"/>
          <p:nvPr/>
        </p:nvSpPr>
        <p:spPr>
          <a:xfrm>
            <a:off x="7601407" y="8839505"/>
            <a:ext cx="9240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"내일 첫 회의 끝나면 바로 적용" 다짐 + 카톡방 follow-up 안내</a:t>
            </a:r>
            <a:endParaRPr lang="en-US" sz="1600" dirty="0"/>
          </a:p>
        </p:txBody>
      </p:sp>
      <p:sp>
        <p:nvSpPr>
          <p:cNvPr id="55" name="Text 49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62</a:t>
            </a:r>
            <a:endParaRPr lang="en-US" sz="1050" dirty="0"/>
          </a:p>
        </p:txBody>
      </p:sp>
      <p:sp>
        <p:nvSpPr>
          <p:cNvPr id="5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959812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3200" b="1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06 / 13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Gagné's Nine Events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가네의 9가지 교수사건 · Robert Gagné (1965 / 4판 1985)</a:t>
            </a:r>
            <a:endParaRPr lang="en-US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200" b="1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 차시(보통 60분 수업)의 흐름을 9가지 인지적 사건으로 분해: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준비(주의·목표·회상) → 학습(자극·안내·수행) → 강화(피드백·평가·전이)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각 사건은 학습자 뇌에서 일어나는 내부 과정과 짝지어져 있음. </a:t>
            </a:r>
            <a:endParaRPr lang="en-US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200" b="1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초보 강사가 흔히 빼먹는 단계: </a:t>
            </a:r>
            <a:r>
              <a:rPr lang="en-US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①주의 끌기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⑨파지·전이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"Hello everyone, today we will..." 으로 시작하면 ①이 죽고,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"감사합니다" 로 끝나면 ⑨가 죽습니다. </a:t>
            </a:r>
            <a:endParaRPr lang="en-US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9단계 시작 멘트</a:t>
            </a:r>
            <a:endParaRPr lang="en-US" sz="1200" b="1" dirty="0"/>
          </a:p>
        </p:txBody>
      </p:sp>
      <p:sp>
        <p:nvSpPr>
          <p:cNvPr id="17" name="Text 10"/>
          <p:cNvSpPr txBox="1"/>
          <p:nvPr/>
        </p:nvSpPr>
        <p:spPr>
          <a:xfrm>
            <a:off x="5562600" y="6393992"/>
            <a:ext cx="418465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"직접 해보세요" (실습)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⑦ 즉시 피드백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⑧ 미니 수행 평가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⑨ "내일 회의에서 바로 써보세요" 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200" b="1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강의 첫 3분에 학습자 시선을 빼앗는 장치가 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학습목표를 강의 처음 5분 안에 명시했는가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강의 시간의 40% 이상이 학습자 수행(⑥)인가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피드백(⑦)이 '잘했어요' 수준에 머물지 않는가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마지막 5분에 '내일 무엇을 할까' 행동 계획이 있는가 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 · SUMMARY CARD 06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62</a:t>
            </a:r>
            <a:endParaRPr lang="en-US" sz="105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1997326-C466-9BFE-B6A2-BF96A54188CA}"/>
              </a:ext>
            </a:extLst>
          </p:cNvPr>
          <p:cNvSpPr txBox="1"/>
          <p:nvPr/>
        </p:nvSpPr>
        <p:spPr>
          <a:xfrm>
            <a:off x="1600200" y="6493562"/>
            <a:ext cx="418465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① "이 사진, 1초만 보세요." (충격 시연)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② "끝나면 ~를 할 수 있게 됩니다."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③ "지난 시간 ~ 기억나시죠?"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④ 핵심 개념 시연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⑤ 헷갈리기 쉬운 </a:t>
            </a:r>
            <a:r>
              <a:rPr lang="en-US" sz="1600" dirty="0" err="1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지점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짚기</a:t>
            </a:r>
            <a:endParaRPr lang="en-US" sz="16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13549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9334195" cy="552480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11125505" y="3696005"/>
            <a:ext cx="5905195" cy="5524805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695298" y="4457700"/>
            <a:ext cx="8820302" cy="12380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695298" y="4457700"/>
            <a:ext cx="57607" cy="123809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695298" y="5886907"/>
            <a:ext cx="8820302" cy="1524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695298" y="5886907"/>
            <a:ext cx="57607" cy="1524305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695298" y="7601407"/>
            <a:ext cx="8820302" cy="12380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1695298" y="7601407"/>
            <a:ext cx="57607" cy="123809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2" descr="gen-dedup-30e9450acfab8e20b28044ed3668b219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1505895" y="5600700"/>
            <a:ext cx="571500" cy="2834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0005" y="1123798"/>
            <a:ext cx="10478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 · THEORY 07 · SAM — SUCCESSIVE APPROXIMATION MODEL (ALLEN, 2012)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 — 점진적 근사 모델</a:t>
            </a:r>
            <a:endParaRPr lang="en-US" sz="6000" dirty="0"/>
          </a:p>
        </p:txBody>
      </p:sp>
      <p:sp>
        <p:nvSpPr>
          <p:cNvPr id="16" name="Text 11"/>
          <p:cNvSpPr txBox="1"/>
          <p:nvPr/>
        </p:nvSpPr>
        <p:spPr>
          <a:xfrm>
            <a:off x="1410005" y="28382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ADDIE가 폭포수라면, SAM은 애자일. 작게 만들고, 빨리 보여주고, 빨리 고친다.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95298" y="3933749"/>
            <a:ext cx="8763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THREE PHASES, REPEATED ITERATIONS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2038198" y="4536576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01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2038198" y="4851130"/>
            <a:ext cx="8382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Preparation · 정보 수집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2038198" y="5251637"/>
            <a:ext cx="8382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 인터뷰 · 비즈니스 요구 정리 (짧게, 일주일 이내)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2038198" y="5965783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02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2038198" y="6280337"/>
            <a:ext cx="8382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Iterative Design · 반복 설계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2038198" y="6679930"/>
            <a:ext cx="8382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Savvy Start (Day 1 워크숍) → 스토리보드 → 프로토타입 (각 사이클 1~2주)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각 사이클이 짧고, 학습자 피드백을 즉시 반영. 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2038198" y="7680283"/>
            <a:ext cx="1143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03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2038198" y="7994837"/>
            <a:ext cx="8382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Iterative Development · 반복 개발</a:t>
            </a:r>
            <a:endParaRPr lang="en-US" sz="2100" dirty="0"/>
          </a:p>
        </p:txBody>
      </p:sp>
      <p:sp>
        <p:nvSpPr>
          <p:cNvPr id="26" name="Text 21"/>
          <p:cNvSpPr txBox="1"/>
          <p:nvPr/>
        </p:nvSpPr>
        <p:spPr>
          <a:xfrm>
            <a:off x="2038198" y="8394430"/>
            <a:ext cx="8382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Alpha → Beta → Gold 릴리스 — 매 단계 시범 운영 + 수정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1505895" y="4076395"/>
            <a:ext cx="5239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SAM, NOT ADDIE?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1505895" y="4552798"/>
            <a:ext cx="5239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강의는 ADDIE보다</a:t>
            </a:r>
            <a:endParaRPr lang="en-US" sz="2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SAM이 더 잘 맞습니다. 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11505895" y="5886907"/>
            <a:ext cx="5239512" cy="3143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도구가 빨리 바뀜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분기마다 새 모델·새 UI. ADDIE로 몇 달 걸려 만들면 그사이 새 모델이 나와 있음.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학습자 수준 차이 큼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1회차 운영 후 알게 되는 게 더 많음. 즉시 v2 가능.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강사 본인도 학습 중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매 사이클이 강사의 노하우 업데이트 기회. 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62</a:t>
            </a:r>
            <a:endParaRPr lang="en-US" sz="900" dirty="0"/>
          </a:p>
        </p:txBody>
      </p:sp>
      <p:sp>
        <p:nvSpPr>
          <p:cNvPr id="31" name="출처 각주"/>
          <p:cNvSpPr txBox="1"/>
          <p:nvPr/>
        </p:nvSpPr>
        <p:spPr>
          <a:xfrm>
            <a:off x="1463040" y="9926955"/>
            <a:ext cx="14447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Allen, M. W. &amp; Sites, R. (2012). Leaving ADDIE for SAM: An Agile Model for Developing the Best Learning Experiences. ASTD Press</a:t>
            </a:r>
            <a:endParaRPr lang="en-US" sz="9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089765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219602"/>
            <a:ext cx="15620695" cy="571500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2"/>
          <p:cNvSpPr/>
          <p:nvPr/>
        </p:nvSpPr>
        <p:spPr>
          <a:xfrm>
            <a:off x="1410005" y="3933749"/>
            <a:ext cx="15620695" cy="7616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3"/>
          <p:cNvSpPr/>
          <p:nvPr/>
        </p:nvSpPr>
        <p:spPr>
          <a:xfrm>
            <a:off x="1410005" y="4839005"/>
            <a:ext cx="15620695" cy="761695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1410005" y="5743346"/>
            <a:ext cx="15620695" cy="7616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1410005" y="6648602"/>
            <a:ext cx="15620695" cy="761695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6"/>
          <p:cNvSpPr/>
          <p:nvPr/>
        </p:nvSpPr>
        <p:spPr>
          <a:xfrm>
            <a:off x="1410005" y="7552944"/>
            <a:ext cx="15620695" cy="761695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7"/>
          <p:cNvSpPr/>
          <p:nvPr/>
        </p:nvSpPr>
        <p:spPr>
          <a:xfrm>
            <a:off x="1410005" y="8458200"/>
            <a:ext cx="15620695" cy="7616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2" name="Image 2" descr="gen-dedup-4123276db2bd7a943867b2c4efc95dd9.png"/>
          <p:cNvPicPr>
            <a:picLocks noChangeAspect="1"/>
          </p:cNvPicPr>
          <p:nvPr/>
        </p:nvPicPr>
        <p:blipFill>
          <a:blip r:embed="rId5"/>
          <a:srcRect l="-420" r="-420"/>
          <a:stretch/>
        </p:blipFill>
        <p:spPr>
          <a:xfrm>
            <a:off x="1410005" y="7552944"/>
            <a:ext cx="57607" cy="7616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 vs ADDIE · 언제 어떤 모델을 쓸까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강의는 ADDIE 체질? SAM 체질?</a:t>
            </a:r>
            <a:endParaRPr lang="en-US" sz="5400" dirty="0"/>
          </a:p>
        </p:txBody>
      </p:sp>
      <p:sp>
        <p:nvSpPr>
          <p:cNvPr id="15" name="Text 10"/>
          <p:cNvSpPr txBox="1"/>
          <p:nvPr/>
        </p:nvSpPr>
        <p:spPr>
          <a:xfrm>
            <a:off x="1695298" y="339059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CRITERION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553505" y="3390595"/>
            <a:ext cx="5143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ADDIE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0" y="3390595"/>
            <a:ext cx="5143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1695298" y="4172407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방식</a:t>
            </a:r>
            <a:endParaRPr lang="en-US" dirty="0"/>
          </a:p>
        </p:txBody>
      </p:sp>
      <p:sp>
        <p:nvSpPr>
          <p:cNvPr id="19" name="Text 14"/>
          <p:cNvSpPr txBox="1"/>
          <p:nvPr/>
        </p:nvSpPr>
        <p:spPr>
          <a:xfrm>
            <a:off x="6553505" y="4172407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순차적·폭포수 (Linear)</a:t>
            </a:r>
            <a:endParaRPr lang="en-US" dirty="0"/>
          </a:p>
        </p:txBody>
      </p:sp>
      <p:sp>
        <p:nvSpPr>
          <p:cNvPr id="20" name="Text 15"/>
          <p:cNvSpPr txBox="1"/>
          <p:nvPr/>
        </p:nvSpPr>
        <p:spPr>
          <a:xfrm>
            <a:off x="11887200" y="4172407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반복적·애자일 (Iterative)</a:t>
            </a:r>
            <a:endParaRPr lang="en-US" dirty="0"/>
          </a:p>
        </p:txBody>
      </p:sp>
      <p:sp>
        <p:nvSpPr>
          <p:cNvPr id="21" name="Text 16"/>
          <p:cNvSpPr txBox="1"/>
          <p:nvPr/>
        </p:nvSpPr>
        <p:spPr>
          <a:xfrm>
            <a:off x="1695298" y="5076749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사이클 기간</a:t>
            </a:r>
            <a:endParaRPr lang="en-US" dirty="0"/>
          </a:p>
        </p:txBody>
      </p:sp>
      <p:sp>
        <p:nvSpPr>
          <p:cNvPr id="22" name="Text 17"/>
          <p:cNvSpPr txBox="1"/>
          <p:nvPr/>
        </p:nvSpPr>
        <p:spPr>
          <a:xfrm>
            <a:off x="6553505" y="5076749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3~6개월 (전체)</a:t>
            </a:r>
            <a:endParaRPr lang="en-US" dirty="0"/>
          </a:p>
        </p:txBody>
      </p:sp>
      <p:sp>
        <p:nvSpPr>
          <p:cNvPr id="23" name="Text 18"/>
          <p:cNvSpPr txBox="1"/>
          <p:nvPr/>
        </p:nvSpPr>
        <p:spPr>
          <a:xfrm>
            <a:off x="11887200" y="5076749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1~2주 (각 사이클)</a:t>
            </a:r>
            <a:endParaRPr lang="en-US" dirty="0"/>
          </a:p>
        </p:txBody>
      </p:sp>
      <p:sp>
        <p:nvSpPr>
          <p:cNvPr id="24" name="Text 19"/>
          <p:cNvSpPr txBox="1"/>
          <p:nvPr/>
        </p:nvSpPr>
        <p:spPr>
          <a:xfrm>
            <a:off x="1695298" y="5982005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비용</a:t>
            </a:r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6553505" y="5982005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후반 변경 비쌈</a:t>
            </a:r>
            <a:endParaRPr lang="en-US" dirty="0"/>
          </a:p>
        </p:txBody>
      </p:sp>
      <p:sp>
        <p:nvSpPr>
          <p:cNvPr id="26" name="Text 21"/>
          <p:cNvSpPr txBox="1"/>
          <p:nvPr/>
        </p:nvSpPr>
        <p:spPr>
          <a:xfrm>
            <a:off x="11887200" y="5982005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언제든 저렴 (작은 단위)</a:t>
            </a:r>
            <a:endParaRPr lang="en-US" dirty="0"/>
          </a:p>
        </p:txBody>
      </p:sp>
      <p:sp>
        <p:nvSpPr>
          <p:cNvPr id="27" name="Text 22"/>
          <p:cNvSpPr txBox="1"/>
          <p:nvPr/>
        </p:nvSpPr>
        <p:spPr>
          <a:xfrm>
            <a:off x="1695298" y="6886346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 피드백</a:t>
            </a:r>
            <a:endParaRPr lang="en-US" dirty="0"/>
          </a:p>
        </p:txBody>
      </p:sp>
      <p:sp>
        <p:nvSpPr>
          <p:cNvPr id="28" name="Text 23"/>
          <p:cNvSpPr txBox="1"/>
          <p:nvPr/>
        </p:nvSpPr>
        <p:spPr>
          <a:xfrm>
            <a:off x="6553505" y="6886346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단계에서 처음</a:t>
            </a:r>
            <a:endParaRPr lang="en-US" dirty="0"/>
          </a:p>
        </p:txBody>
      </p:sp>
      <p:sp>
        <p:nvSpPr>
          <p:cNvPr id="29" name="Text 24"/>
          <p:cNvSpPr txBox="1"/>
          <p:nvPr/>
        </p:nvSpPr>
        <p:spPr>
          <a:xfrm>
            <a:off x="11887200" y="6886346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 사이클마다 수집</a:t>
            </a:r>
            <a:endParaRPr lang="en-US" dirty="0"/>
          </a:p>
        </p:txBody>
      </p:sp>
      <p:sp>
        <p:nvSpPr>
          <p:cNvPr id="30" name="Text 25"/>
          <p:cNvSpPr txBox="1"/>
          <p:nvPr/>
        </p:nvSpPr>
        <p:spPr>
          <a:xfrm>
            <a:off x="1695298" y="7791602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어울리는 강의</a:t>
            </a:r>
            <a:endParaRPr lang="en-US" dirty="0"/>
          </a:p>
        </p:txBody>
      </p:sp>
      <p:sp>
        <p:nvSpPr>
          <p:cNvPr id="31" name="Text 26"/>
          <p:cNvSpPr txBox="1"/>
          <p:nvPr/>
        </p:nvSpPr>
        <p:spPr>
          <a:xfrm>
            <a:off x="6553505" y="7791602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학위 과정, 자격증, 컴플라이언스</a:t>
            </a:r>
            <a:endParaRPr lang="en-US" dirty="0"/>
          </a:p>
        </p:txBody>
      </p:sp>
      <p:sp>
        <p:nvSpPr>
          <p:cNvPr id="32" name="Text 27"/>
          <p:cNvSpPr txBox="1"/>
          <p:nvPr/>
        </p:nvSpPr>
        <p:spPr>
          <a:xfrm>
            <a:off x="11887200" y="7791602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강의, 신기술, 기업 사내 교육</a:t>
            </a:r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1695298" y="8695944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강사의 부담</a:t>
            </a:r>
            <a:endParaRPr lang="en-US" dirty="0"/>
          </a:p>
        </p:txBody>
      </p:sp>
      <p:sp>
        <p:nvSpPr>
          <p:cNvPr id="34" name="Text 29"/>
          <p:cNvSpPr txBox="1"/>
          <p:nvPr/>
        </p:nvSpPr>
        <p:spPr>
          <a:xfrm>
            <a:off x="6553505" y="8695944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분석 부담 ↑</a:t>
            </a:r>
            <a:endParaRPr lang="en-US" dirty="0"/>
          </a:p>
        </p:txBody>
      </p:sp>
      <p:sp>
        <p:nvSpPr>
          <p:cNvPr id="35" name="Text 30"/>
          <p:cNvSpPr txBox="1"/>
          <p:nvPr/>
        </p:nvSpPr>
        <p:spPr>
          <a:xfrm>
            <a:off x="11887200" y="8695944"/>
            <a:ext cx="5143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 사이클 운영 부담 ↑</a:t>
            </a:r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실전 절충: </a:t>
            </a:r>
            <a:r>
              <a:rPr lang="en-US" sz="1600" b="1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그림은 ADDIE</a:t>
            </a:r>
            <a:r>
              <a:rPr lang="en-US" sz="16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그리되, </a:t>
            </a:r>
            <a:r>
              <a:rPr lang="en-US" sz="1600" b="1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 차시는 SAM 사이클</a:t>
            </a:r>
            <a:r>
              <a:rPr lang="en-US" sz="16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돌리는 하이브리드도 많이 씁니다. 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62</a:t>
            </a:r>
            <a:endParaRPr lang="en-US" sz="105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36102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07 / 13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 Model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Successive Approximation Model · Michael Allen &amp; Richard Sites (2012)</a:t>
            </a:r>
            <a:endParaRPr lang="en-US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교수설계를 짧은 반복 사이클로 진행하는 애자일 방식.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Preparation → Iterative Design → Iterative Development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 번에 완성 대신, 작은 프로토타입을 빨리 만들고 빨리 고침. </a:t>
            </a:r>
            <a:endParaRPr lang="en-US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"완벽한 강의안" 대신 "1.0 → 1.1 → 1.2 …"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강의처럼 도구·맥락이 빨리 바뀌는 영역에 특히 잘 맞음.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Savvy Start 워크숍이 핵심: 모든 이해관계자 모아 1일 빠른 합의. </a:t>
            </a:r>
            <a:endParaRPr lang="en-US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강의 적용 예시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600200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(예시) 'AI 강사' 양성 8주 과정을 SAM으로 운영: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1기 8명, 슬라이드만으로 진행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v1.1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2기 — 워크북 추가, AI 모델 교체 반영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v1.2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3기 — 짝 점검 추가, Q&amp;A 패턴 정리해 FAQ화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v2.0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4기 — Claude·Gemini 비교 실습 신규 추가 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강의안에 버전 번호가 있는가 (v1.0, v1.1 …)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한 사이클(=1회 운영) 끝나면 회고 30분을 가졌는가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'다음 회차에 고칠 것' 리스트를 문서로 남기는가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AI 도구가 업데이트되면 즉시 슬라이드를 수정하는가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1기 학습자에게 미안할 만큼 빨리 시작하고 빨리 고치는가 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 · SUMMARY CARD 07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62</a:t>
            </a:r>
            <a:endParaRPr lang="en-US" sz="105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971567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abfd1ddde323358008a25be1bd9bac4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" y="75895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10005" y="7315200"/>
            <a:ext cx="518190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410005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743700" y="7315200"/>
            <a:ext cx="518190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743700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2077395" y="7315200"/>
            <a:ext cx="518190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2077395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e4dc0fd02e0035cf785059b7ea33b82c.png"/>
          <p:cNvPicPr>
            <a:picLocks noChangeAspect="1"/>
          </p:cNvPicPr>
          <p:nvPr/>
        </p:nvPicPr>
        <p:blipFill>
          <a:blip r:embed="rId4"/>
          <a:srcRect l="-420" r="-420"/>
          <a:stretch/>
        </p:blipFill>
        <p:spPr>
          <a:xfrm>
            <a:off x="1410005" y="6743700"/>
            <a:ext cx="952805" cy="2834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18895" y="1410005"/>
            <a:ext cx="10478110" cy="523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0" b="1" kern="0" spc="-1560" dirty="0">
                <a:solidFill>
                  <a:srgbClr val="C9A961">
                    <a:alpha val="1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9000" dirty="0"/>
          </a:p>
        </p:txBody>
      </p:sp>
      <p:sp>
        <p:nvSpPr>
          <p:cNvPr id="12" name="Text 8"/>
          <p:cNvSpPr txBox="1"/>
          <p:nvPr/>
        </p:nvSpPr>
        <p:spPr>
          <a:xfrm>
            <a:off x="1410005" y="3696005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472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· 03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410005" y="4267505"/>
            <a:ext cx="156216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교수법</a:t>
            </a:r>
            <a:endParaRPr lang="en-US" sz="7800" dirty="0"/>
          </a:p>
        </p:txBody>
      </p:sp>
      <p:sp>
        <p:nvSpPr>
          <p:cNvPr id="14" name="Text 10"/>
          <p:cNvSpPr txBox="1"/>
          <p:nvPr/>
        </p:nvSpPr>
        <p:spPr>
          <a:xfrm>
            <a:off x="1410005" y="5600700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"강사가 말하는 시간 ≠ 학습자가 배운 시간"</a:t>
            </a:r>
            <a:endParaRPr lang="en-US" sz="2700" dirty="0"/>
          </a:p>
        </p:txBody>
      </p:sp>
      <p:sp>
        <p:nvSpPr>
          <p:cNvPr id="15" name="Text 11"/>
          <p:cNvSpPr txBox="1"/>
          <p:nvPr/>
        </p:nvSpPr>
        <p:spPr>
          <a:xfrm>
            <a:off x="1695298" y="7552944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08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695298" y="7839151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액티브 러닝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1695298" y="82680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수동적 청취를 능동 참여로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029907" y="7552944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09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7029907" y="7839151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문제중심학습 PBL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7029907" y="82680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문제로 학습 시작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2363602" y="7552944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10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2363602" y="7839151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플립러닝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12363602" y="82680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강의는 미리, 수업은 활동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 · 교수법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62</a:t>
            </a:r>
            <a:endParaRPr lang="en-US" sz="9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57193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7477049" cy="552480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6" name="Shape 2"/>
          <p:cNvSpPr/>
          <p:nvPr/>
        </p:nvSpPr>
        <p:spPr>
          <a:xfrm>
            <a:off x="1410005" y="3696005"/>
            <a:ext cx="47549" cy="5524805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7" name="Shape 3"/>
          <p:cNvSpPr/>
          <p:nvPr/>
        </p:nvSpPr>
        <p:spPr>
          <a:xfrm>
            <a:off x="9220810" y="4147718"/>
            <a:ext cx="2476195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9220810" y="5433365"/>
            <a:ext cx="2476195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9220810" y="6719011"/>
            <a:ext cx="2476195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0" name="Shape 6"/>
          <p:cNvSpPr/>
          <p:nvPr/>
        </p:nvSpPr>
        <p:spPr>
          <a:xfrm>
            <a:off x="9220810" y="8005572"/>
            <a:ext cx="2476195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1" name="Shape 7"/>
          <p:cNvSpPr/>
          <p:nvPr/>
        </p:nvSpPr>
        <p:spPr>
          <a:xfrm>
            <a:off x="11888115" y="4147718"/>
            <a:ext cx="2476195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2" name="Shape 8"/>
          <p:cNvSpPr/>
          <p:nvPr/>
        </p:nvSpPr>
        <p:spPr>
          <a:xfrm>
            <a:off x="11888115" y="5433365"/>
            <a:ext cx="2476195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3" name="Shape 9"/>
          <p:cNvSpPr/>
          <p:nvPr/>
        </p:nvSpPr>
        <p:spPr>
          <a:xfrm>
            <a:off x="11888115" y="6719011"/>
            <a:ext cx="2476195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4" name="Shape 10"/>
          <p:cNvSpPr/>
          <p:nvPr/>
        </p:nvSpPr>
        <p:spPr>
          <a:xfrm>
            <a:off x="11888115" y="8005572"/>
            <a:ext cx="2476195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5" name="Shape 11"/>
          <p:cNvSpPr/>
          <p:nvPr/>
        </p:nvSpPr>
        <p:spPr>
          <a:xfrm>
            <a:off x="14555420" y="4147718"/>
            <a:ext cx="2476195" cy="1143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6" name="Shape 12"/>
          <p:cNvSpPr/>
          <p:nvPr/>
        </p:nvSpPr>
        <p:spPr>
          <a:xfrm>
            <a:off x="14555420" y="5433365"/>
            <a:ext cx="2476195" cy="1143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7" name="Shape 13"/>
          <p:cNvSpPr/>
          <p:nvPr/>
        </p:nvSpPr>
        <p:spPr>
          <a:xfrm>
            <a:off x="14555420" y="6719011"/>
            <a:ext cx="2476195" cy="1143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8" name="Shape 14"/>
          <p:cNvSpPr/>
          <p:nvPr/>
        </p:nvSpPr>
        <p:spPr>
          <a:xfrm>
            <a:off x="14555420" y="8005572"/>
            <a:ext cx="2476195" cy="1143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19" name="Image 2" descr="gen-dedup-6f7f7cbfa4d19992f807c7b49540dcf7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790395" y="5982005"/>
            <a:ext cx="571500" cy="192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10005" y="1123798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 · THEORY 08 · ACTIVE LEARNING (BONWELL &amp; EISON, 1991)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액티브 러닝 (Active Learning)</a:t>
            </a:r>
            <a:endParaRPr lang="en-US" sz="6000" dirty="0"/>
          </a:p>
        </p:txBody>
      </p:sp>
      <p:sp>
        <p:nvSpPr>
          <p:cNvPr id="22" name="Text 17"/>
          <p:cNvSpPr txBox="1"/>
          <p:nvPr/>
        </p:nvSpPr>
        <p:spPr>
          <a:xfrm>
            <a:off x="1410005" y="28382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학생이 수동적 청취를 넘어, 말하고·쓰고·움직이고·결정하는 모든 교수전략의 총칭.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1790395" y="4076395"/>
            <a:ext cx="6667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1790395" y="4457700"/>
            <a:ext cx="66678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"수강생이 듣고 있는가 아니라,</a:t>
            </a:r>
            <a:endParaRPr lang="en-US" sz="3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</a:t>
            </a:r>
            <a:r>
              <a:rPr lang="en-US" sz="3200" b="1" dirty="0" err="1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수강생이</a:t>
            </a:r>
            <a:r>
              <a:rPr lang="en-US" sz="3200" b="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무엇을 하고 있는가." </a:t>
            </a:r>
            <a:endParaRPr lang="en-US" sz="3200" dirty="0"/>
          </a:p>
        </p:txBody>
      </p:sp>
      <p:sp>
        <p:nvSpPr>
          <p:cNvPr id="25" name="Text 20"/>
          <p:cNvSpPr txBox="1"/>
          <p:nvPr/>
        </p:nvSpPr>
        <p:spPr>
          <a:xfrm>
            <a:off x="1790395" y="6267298"/>
            <a:ext cx="6667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790395" y="6601054"/>
            <a:ext cx="698784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Freeman et al. (2014), PNAS — 225편 STEM 연구 메타분석: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액티브 러닝 강의 학생들의 시험 점수가 전통 강의보다 평균 약 </a:t>
            </a: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6% 높음</a:t>
            </a: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전통 강의 학생은 낙제 가능성이 1.5배 높</a:t>
            </a: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</a:t>
            </a: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Mayer (2009) — 학습은 정보를 골라 조직하고 기존 지식과 잇는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능동적인 인지 처리입니다. 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9220810" y="3671316"/>
            <a:ext cx="7810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TECHNIQUES · 실전 액티브 러닝 12종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9411920" y="4337914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9411920" y="4604918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Think-Pair-Share</a:t>
            </a:r>
            <a:endParaRPr lang="en-US" dirty="0"/>
          </a:p>
        </p:txBody>
      </p:sp>
      <p:sp>
        <p:nvSpPr>
          <p:cNvPr id="30" name="Text 25"/>
          <p:cNvSpPr txBox="1"/>
          <p:nvPr/>
        </p:nvSpPr>
        <p:spPr>
          <a:xfrm>
            <a:off x="9411920" y="4890211"/>
            <a:ext cx="2095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혼자→짝→전체 단계적 공유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9411920" y="5623560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9411920" y="5890565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Concept Map</a:t>
            </a:r>
            <a:endParaRPr lang="en-US" dirty="0"/>
          </a:p>
        </p:txBody>
      </p:sp>
      <p:sp>
        <p:nvSpPr>
          <p:cNvPr id="33" name="Text 28"/>
          <p:cNvSpPr txBox="1"/>
          <p:nvPr/>
        </p:nvSpPr>
        <p:spPr>
          <a:xfrm>
            <a:off x="9411920" y="6176772"/>
            <a:ext cx="2095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 간 관계 직접 그리기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9411920" y="6910121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9411920" y="7176211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Polling / Quiz</a:t>
            </a:r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9411920" y="7462418"/>
            <a:ext cx="2095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Slido·Mentimeter 실시간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9411920" y="8148218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9411920" y="8415223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 Play</a:t>
            </a:r>
            <a:endParaRPr lang="en-US" dirty="0"/>
          </a:p>
        </p:txBody>
      </p:sp>
      <p:sp>
        <p:nvSpPr>
          <p:cNvPr id="39" name="Text 34"/>
          <p:cNvSpPr txBox="1"/>
          <p:nvPr/>
        </p:nvSpPr>
        <p:spPr>
          <a:xfrm>
            <a:off x="12078310" y="4337914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50" dirty="0"/>
          </a:p>
        </p:txBody>
      </p:sp>
      <p:sp>
        <p:nvSpPr>
          <p:cNvPr id="40" name="Text 35"/>
          <p:cNvSpPr txBox="1"/>
          <p:nvPr/>
        </p:nvSpPr>
        <p:spPr>
          <a:xfrm>
            <a:off x="12078310" y="4604918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1-Minute Paper</a:t>
            </a:r>
            <a:endParaRPr lang="en-US" dirty="0"/>
          </a:p>
        </p:txBody>
      </p:sp>
      <p:sp>
        <p:nvSpPr>
          <p:cNvPr id="41" name="Text 36"/>
          <p:cNvSpPr txBox="1"/>
          <p:nvPr/>
        </p:nvSpPr>
        <p:spPr>
          <a:xfrm>
            <a:off x="12078310" y="4890211"/>
            <a:ext cx="2095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 글쓰기로 정리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12078310" y="5623560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50" dirty="0"/>
          </a:p>
        </p:txBody>
      </p:sp>
      <p:sp>
        <p:nvSpPr>
          <p:cNvPr id="43" name="Text 38"/>
          <p:cNvSpPr txBox="1"/>
          <p:nvPr/>
        </p:nvSpPr>
        <p:spPr>
          <a:xfrm>
            <a:off x="12078310" y="5890565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Study</a:t>
            </a:r>
            <a:endParaRPr lang="en-US" dirty="0"/>
          </a:p>
        </p:txBody>
      </p:sp>
      <p:sp>
        <p:nvSpPr>
          <p:cNvPr id="44" name="Text 39"/>
          <p:cNvSpPr txBox="1"/>
          <p:nvPr/>
        </p:nvSpPr>
        <p:spPr>
          <a:xfrm>
            <a:off x="12078310" y="6176772"/>
            <a:ext cx="2095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사례 분석·토론</a:t>
            </a:r>
            <a:endParaRPr lang="en-US" sz="1100" dirty="0"/>
          </a:p>
        </p:txBody>
      </p:sp>
      <p:sp>
        <p:nvSpPr>
          <p:cNvPr id="45" name="Text 40"/>
          <p:cNvSpPr txBox="1"/>
          <p:nvPr/>
        </p:nvSpPr>
        <p:spPr>
          <a:xfrm>
            <a:off x="12078310" y="6910121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50" dirty="0"/>
          </a:p>
        </p:txBody>
      </p:sp>
      <p:sp>
        <p:nvSpPr>
          <p:cNvPr id="46" name="Text 41"/>
          <p:cNvSpPr txBox="1"/>
          <p:nvPr/>
        </p:nvSpPr>
        <p:spPr>
          <a:xfrm>
            <a:off x="12078310" y="7176211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 Walk</a:t>
            </a:r>
            <a:endParaRPr lang="en-US" dirty="0"/>
          </a:p>
        </p:txBody>
      </p:sp>
      <p:sp>
        <p:nvSpPr>
          <p:cNvPr id="47" name="Text 42"/>
          <p:cNvSpPr txBox="1"/>
          <p:nvPr/>
        </p:nvSpPr>
        <p:spPr>
          <a:xfrm>
            <a:off x="12078310" y="7462418"/>
            <a:ext cx="2095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순회 코멘트</a:t>
            </a:r>
            <a:endParaRPr lang="en-US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12078310" y="8148218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50" dirty="0"/>
          </a:p>
        </p:txBody>
      </p:sp>
      <p:sp>
        <p:nvSpPr>
          <p:cNvPr id="49" name="Text 44"/>
          <p:cNvSpPr txBox="1"/>
          <p:nvPr/>
        </p:nvSpPr>
        <p:spPr>
          <a:xfrm>
            <a:off x="12078310" y="8415223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Debate</a:t>
            </a:r>
            <a:endParaRPr lang="en-US" dirty="0"/>
          </a:p>
        </p:txBody>
      </p:sp>
      <p:sp>
        <p:nvSpPr>
          <p:cNvPr id="50" name="Text 45"/>
          <p:cNvSpPr txBox="1"/>
          <p:nvPr/>
        </p:nvSpPr>
        <p:spPr>
          <a:xfrm>
            <a:off x="14745615" y="4337914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50" dirty="0"/>
          </a:p>
        </p:txBody>
      </p:sp>
      <p:sp>
        <p:nvSpPr>
          <p:cNvPr id="51" name="Text 46"/>
          <p:cNvSpPr txBox="1"/>
          <p:nvPr/>
        </p:nvSpPr>
        <p:spPr>
          <a:xfrm>
            <a:off x="14745615" y="4604918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Peer Teaching</a:t>
            </a:r>
            <a:endParaRPr lang="en-US" dirty="0"/>
          </a:p>
        </p:txBody>
      </p:sp>
      <p:sp>
        <p:nvSpPr>
          <p:cNvPr id="52" name="Text 47"/>
          <p:cNvSpPr txBox="1"/>
          <p:nvPr/>
        </p:nvSpPr>
        <p:spPr>
          <a:xfrm>
            <a:off x="14745615" y="4890211"/>
            <a:ext cx="2095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가르치기 (Jigsaw)</a:t>
            </a:r>
            <a:endParaRPr lang="en-US" sz="1100" dirty="0"/>
          </a:p>
        </p:txBody>
      </p:sp>
      <p:sp>
        <p:nvSpPr>
          <p:cNvPr id="53" name="Text 48"/>
          <p:cNvSpPr txBox="1"/>
          <p:nvPr/>
        </p:nvSpPr>
        <p:spPr>
          <a:xfrm>
            <a:off x="14745615" y="5623560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14745615" y="5890565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Muddiest Point</a:t>
            </a:r>
            <a:endParaRPr lang="en-US" dirty="0"/>
          </a:p>
        </p:txBody>
      </p:sp>
      <p:sp>
        <p:nvSpPr>
          <p:cNvPr id="55" name="Text 50"/>
          <p:cNvSpPr txBox="1"/>
          <p:nvPr/>
        </p:nvSpPr>
        <p:spPr>
          <a:xfrm>
            <a:off x="14745615" y="6176772"/>
            <a:ext cx="2095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헷갈린 점 익명 제출</a:t>
            </a:r>
            <a:endParaRPr lang="en-US" sz="1100" dirty="0"/>
          </a:p>
        </p:txBody>
      </p:sp>
      <p:sp>
        <p:nvSpPr>
          <p:cNvPr id="56" name="Text 51"/>
          <p:cNvSpPr txBox="1"/>
          <p:nvPr/>
        </p:nvSpPr>
        <p:spPr>
          <a:xfrm>
            <a:off x="14745615" y="6910121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050" dirty="0"/>
          </a:p>
        </p:txBody>
      </p:sp>
      <p:sp>
        <p:nvSpPr>
          <p:cNvPr id="57" name="Text 52"/>
          <p:cNvSpPr txBox="1"/>
          <p:nvPr/>
        </p:nvSpPr>
        <p:spPr>
          <a:xfrm>
            <a:off x="14745615" y="7176211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Demo</a:t>
            </a:r>
            <a:endParaRPr lang="en-US" dirty="0"/>
          </a:p>
        </p:txBody>
      </p:sp>
      <p:sp>
        <p:nvSpPr>
          <p:cNvPr id="58" name="Text 53"/>
          <p:cNvSpPr txBox="1"/>
          <p:nvPr/>
        </p:nvSpPr>
        <p:spPr>
          <a:xfrm>
            <a:off x="14745615" y="7462418"/>
            <a:ext cx="2095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학습자가 운전석에</a:t>
            </a:r>
            <a:endParaRPr lang="en-US" sz="1100" dirty="0"/>
          </a:p>
        </p:txBody>
      </p:sp>
      <p:sp>
        <p:nvSpPr>
          <p:cNvPr id="59" name="Text 54"/>
          <p:cNvSpPr txBox="1"/>
          <p:nvPr/>
        </p:nvSpPr>
        <p:spPr>
          <a:xfrm>
            <a:off x="14745615" y="8148218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14745615" y="8415223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Mini-Project</a:t>
            </a:r>
            <a:endParaRPr lang="en-US" dirty="0"/>
          </a:p>
        </p:txBody>
      </p:sp>
      <p:sp>
        <p:nvSpPr>
          <p:cNvPr id="61" name="Text 56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62</a:t>
            </a:r>
            <a:endParaRPr 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8E39EE-C689-476D-8095-E59903F55B97}"/>
              </a:ext>
            </a:extLst>
          </p:cNvPr>
          <p:cNvSpPr txBox="1"/>
          <p:nvPr/>
        </p:nvSpPr>
        <p:spPr>
          <a:xfrm>
            <a:off x="9410700" y="8712200"/>
            <a:ext cx="2095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475569"/>
                </a:solidFill>
                <a:latin typeface="Pretendard"/>
                <a:ea typeface="Pretendard"/>
              </a:rPr>
              <a:t>역할극</a:t>
            </a:r>
            <a:r>
              <a:rPr lang="en-US" altLang="ko-KR" sz="1100">
                <a:solidFill>
                  <a:srgbClr val="475569"/>
                </a:solidFill>
                <a:latin typeface="Pretendard"/>
                <a:ea typeface="Pretendard"/>
              </a:rPr>
              <a:t>·</a:t>
            </a:r>
            <a:r>
              <a:rPr lang="ko-KR" altLang="en-US" sz="1100">
                <a:solidFill>
                  <a:srgbClr val="475569"/>
                </a:solidFill>
                <a:latin typeface="Pretendard"/>
                <a:ea typeface="Pretendard"/>
              </a:rPr>
              <a:t>상황 시뮬레이션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1D6F5F-344C-45D0-9929-2B2C3FD24E13}"/>
              </a:ext>
            </a:extLst>
          </p:cNvPr>
          <p:cNvSpPr txBox="1"/>
          <p:nvPr/>
        </p:nvSpPr>
        <p:spPr>
          <a:xfrm>
            <a:off x="12077700" y="8712200"/>
            <a:ext cx="2095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475569"/>
                </a:solidFill>
                <a:latin typeface="Pretendard"/>
                <a:ea typeface="Pretendard"/>
              </a:rPr>
              <a:t>찬반 토론</a:t>
            </a:r>
            <a:r>
              <a:rPr lang="en-US" altLang="ko-KR" sz="1100">
                <a:solidFill>
                  <a:srgbClr val="475569"/>
                </a:solidFill>
                <a:latin typeface="Pretendard"/>
                <a:ea typeface="Pretendard"/>
              </a:rPr>
              <a:t>·</a:t>
            </a:r>
            <a:r>
              <a:rPr lang="ko-KR" altLang="en-US" sz="1100">
                <a:solidFill>
                  <a:srgbClr val="475569"/>
                </a:solidFill>
                <a:latin typeface="Pretendard"/>
                <a:ea typeface="Pretendard"/>
              </a:rPr>
              <a:t>논리 훈련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6F9671C-B9A7-4ED7-922D-B18B3647D732}"/>
              </a:ext>
            </a:extLst>
          </p:cNvPr>
          <p:cNvSpPr txBox="1"/>
          <p:nvPr/>
        </p:nvSpPr>
        <p:spPr>
          <a:xfrm>
            <a:off x="14744700" y="8712200"/>
            <a:ext cx="2095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475569"/>
                </a:solidFill>
                <a:latin typeface="Pretendard"/>
                <a:ea typeface="Pretendard"/>
              </a:rPr>
              <a:t>미니 프로젝트</a:t>
            </a:r>
            <a:r>
              <a:rPr lang="en-US" altLang="ko-KR" sz="1100">
                <a:solidFill>
                  <a:srgbClr val="475569"/>
                </a:solidFill>
                <a:latin typeface="Pretendard"/>
                <a:ea typeface="Pretendard"/>
              </a:rPr>
              <a:t>·</a:t>
            </a:r>
            <a:r>
              <a:rPr lang="ko-KR" altLang="en-US" sz="1100">
                <a:solidFill>
                  <a:srgbClr val="475569"/>
                </a:solidFill>
                <a:latin typeface="Pretendard"/>
                <a:ea typeface="Pretendard"/>
              </a:rPr>
              <a:t>산출물 제작</a:t>
            </a:r>
          </a:p>
        </p:txBody>
      </p:sp>
      <p:sp>
        <p:nvSpPr>
          <p:cNvPr id="64" name="출처 각주"/>
          <p:cNvSpPr txBox="1"/>
          <p:nvPr/>
        </p:nvSpPr>
        <p:spPr>
          <a:xfrm>
            <a:off x="1463040" y="9926955"/>
            <a:ext cx="14447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Bonwell, C. C. &amp; Eison, J. A. (1991). ASHE-ERIC Report No. 1 / Freeman, S. et al. (2014). PNAS, 111(23), 8410–8415 / Mayer, R. E. (2009). Multimedia Learning (2nd ed.). Cambridge Univ. Press</a:t>
            </a:r>
            <a:endParaRPr lang="en-US" sz="1050" dirty="0"/>
          </a:p>
        </p:txBody>
      </p:sp>
      <p:sp>
        <p:nvSpPr>
          <p:cNvPr id="6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271478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7772400" cy="25722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6" name="Shape 2"/>
          <p:cNvSpPr/>
          <p:nvPr/>
        </p:nvSpPr>
        <p:spPr>
          <a:xfrm>
            <a:off x="1410005" y="3696005"/>
            <a:ext cx="57607" cy="2572207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7" name="Shape 3"/>
          <p:cNvSpPr/>
          <p:nvPr/>
        </p:nvSpPr>
        <p:spPr>
          <a:xfrm>
            <a:off x="9315907" y="3696005"/>
            <a:ext cx="7772400" cy="25722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8" name="Shape 4"/>
          <p:cNvSpPr/>
          <p:nvPr/>
        </p:nvSpPr>
        <p:spPr>
          <a:xfrm>
            <a:off x="9315907" y="3696005"/>
            <a:ext cx="57607" cy="2572207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9" name="Shape 5"/>
          <p:cNvSpPr/>
          <p:nvPr/>
        </p:nvSpPr>
        <p:spPr>
          <a:xfrm>
            <a:off x="1410005" y="6553505"/>
            <a:ext cx="7772400" cy="2572207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0" name="Shape 6"/>
          <p:cNvSpPr/>
          <p:nvPr/>
        </p:nvSpPr>
        <p:spPr>
          <a:xfrm>
            <a:off x="1410005" y="6553505"/>
            <a:ext cx="57607" cy="2572207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1" name="Shape 7"/>
          <p:cNvSpPr/>
          <p:nvPr/>
        </p:nvSpPr>
        <p:spPr>
          <a:xfrm>
            <a:off x="9315907" y="6553505"/>
            <a:ext cx="7772400" cy="2572207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2" name="Shape 8"/>
          <p:cNvSpPr/>
          <p:nvPr/>
        </p:nvSpPr>
        <p:spPr>
          <a:xfrm>
            <a:off x="9315907" y="6553505"/>
            <a:ext cx="57607" cy="2572207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3" name="Text 9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LEARNING × AI · 온라인 강의에서 더 강력해진 기법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만든 새로운 액티브 러닝 4가지</a:t>
            </a:r>
            <a:endParaRPr lang="en-US" sz="5400" dirty="0"/>
          </a:p>
        </p:txBody>
      </p:sp>
      <p:sp>
        <p:nvSpPr>
          <p:cNvPr id="15" name="Text 11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줌 화면에서, 30명이 동시에 능동적으로 학습하게 만드는 새 방식</a:t>
            </a:r>
            <a:endParaRPr lang="en-US" dirty="0"/>
          </a:p>
        </p:txBody>
      </p:sp>
      <p:sp>
        <p:nvSpPr>
          <p:cNvPr id="16" name="Text 12"/>
          <p:cNvSpPr txBox="1"/>
          <p:nvPr/>
        </p:nvSpPr>
        <p:spPr>
          <a:xfrm>
            <a:off x="1790395" y="3981298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TECHNIQUE 01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790395" y="4315054"/>
            <a:ext cx="6954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짝꿍 (AI Partner)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1790395" y="4886554"/>
            <a:ext cx="69540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학습자 1명 + ChatGPT 1개를 한 짝으로 묶기. AI가 첫 응답을 주면,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학습자가 평가하고 반박. "AI가 틀린 이유 3개 찾기" 같은 과제.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수강생 한 명 한 명에게 24시간 토론 파트너가 생기는 효과. 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9696298" y="3981298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TECHNIQUE 02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9696298" y="4315054"/>
            <a:ext cx="6954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답안 비판 (Critique-AI)</a:t>
            </a:r>
            <a:endParaRPr lang="en-US" sz="2800" dirty="0"/>
          </a:p>
        </p:txBody>
      </p:sp>
      <p:sp>
        <p:nvSpPr>
          <p:cNvPr id="21" name="Text 17"/>
          <p:cNvSpPr txBox="1"/>
          <p:nvPr/>
        </p:nvSpPr>
        <p:spPr>
          <a:xfrm>
            <a:off x="9696298" y="4886554"/>
            <a:ext cx="69540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같은 질문을 ChatGPT·Claude·Gemini 3개에 던지고, 답안 3개를 비교.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학습자는 "어떤 답이 가장 좋은가, 왜인가"를 평가 — Bloom L5 직진.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인지 부담은 AI가 떠안고, 학습자는 판단에만 집중. 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1790395" y="6838798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63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TECHNIQUE 03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1790395" y="7172554"/>
            <a:ext cx="6954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릴레이 (Prompt Relay)</a:t>
            </a:r>
            <a:endParaRPr lang="en-US" sz="2800" dirty="0"/>
          </a:p>
        </p:txBody>
      </p:sp>
      <p:sp>
        <p:nvSpPr>
          <p:cNvPr id="24" name="Text 20"/>
          <p:cNvSpPr txBox="1"/>
          <p:nvPr/>
        </p:nvSpPr>
        <p:spPr>
          <a:xfrm>
            <a:off x="1790395" y="7744054"/>
            <a:ext cx="69540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소그룹에서 한 사람씩 돌아가며 프롬프트 한 줄 추가, AI에게 응답 받기.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개선·정교화·반박을 차례로 하며 결과물이 누적. Jigsaw + AI의 결합.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Breakout room 4–5명이 알맞음. 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9696298" y="6838798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63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TECHNIQUE 04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9696298" y="7172554"/>
            <a:ext cx="6954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AI 요약 게시 (Live Recap)</a:t>
            </a:r>
            <a:endParaRPr lang="en-US" sz="2800" dirty="0"/>
          </a:p>
        </p:txBody>
      </p:sp>
      <p:sp>
        <p:nvSpPr>
          <p:cNvPr id="27" name="Text 23"/>
          <p:cNvSpPr txBox="1"/>
          <p:nvPr/>
        </p:nvSpPr>
        <p:spPr>
          <a:xfrm>
            <a:off x="9696298" y="7744054"/>
            <a:ext cx="69540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채팅창 전체를 NotebookLM/Claude에 흘려넣고 매 15분마다 핵심 요약 게시.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학습자는 자기 발언이 어떻게 인용·연결됐는지 보며 다음 발언을 정교화.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"내 말이 들렸다"는 감각 → 능동적 참여 증가. 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모든 기법의 공통: </a:t>
            </a:r>
            <a:r>
              <a:rPr lang="en-US" sz="1400" b="1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강사가 말하는 시간을 줄이고, AI는 학습자 옆에서 일하게 한다.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62</a:t>
            </a:r>
            <a:endParaRPr lang="en-US" sz="10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317741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3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5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08 / 13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Learning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액티브 러닝 · Bonwell &amp; Eison (1991)</a:t>
            </a:r>
            <a:endParaRPr lang="en-US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학생이 수동적 청취를 넘어 능동적으로 학습 과정에 참여하는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교수-학습 전략의 총칭. 듣기·읽기에서 그치지 않고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말하기·쓰기·만들기·결정하기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이동. </a:t>
            </a:r>
            <a:endParaRPr lang="en-US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Freeman et al. (2014, PNAS) — 액티브 러닝 강의는 시험 점수 약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+6%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전통 강의의 낙제 위험 1.5배. AI 시대에는 30명 동시에 능동적이게 만드는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기법(AI 짝꿍·Critique-AI·Prompt Relay)이 등장. </a:t>
            </a:r>
            <a:endParaRPr lang="en-US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강의 적용 예시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600200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60분 강의 안에 액티브 러닝 3회 심기: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15분 차: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1-Minute Paper — "지금까지 가장 헷갈리는 한 줄"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차: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Think-Pair-Share — 짝꿍과 30초 의견 비교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차: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Critique-AI — GPT 답 1개를 함께 평가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강사 발언 시간 예: 60% → 35%</a:t>
            </a: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강의 안에 액티브 러닝 활동이 </a:t>
            </a: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15분에 1개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이상 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강사 발언 시간이 50%를 넘지 않는가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학습자 응답이 강사에게 보이는 도구가 있는가 (Slido 등)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'침묵 5초' 후 응답이 나올 때까지 기다리는가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잘못된 답에도 '왜 그렇게 생각했는지' 묻는가 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 · SUMMARY CARD 08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62</a:t>
            </a:r>
            <a:endParaRPr lang="en-US" sz="105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74170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7429500" cy="5524805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9219895" y="3696005"/>
            <a:ext cx="7810805" cy="552480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7" name="Image 2" descr="gen-dedup-30e9450acfab8e20b28044ed3668b21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790395" y="5219395"/>
            <a:ext cx="571500" cy="2834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10005" y="1123798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 · THEORY 09 · PROBLEM-BASED LEARNING (McMASTER 1969 · BARROWS &amp; TAMBLYN 1980)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PBL — 문제중심학습</a:t>
            </a:r>
            <a:endParaRPr lang="en-US" sz="6000" dirty="0"/>
          </a:p>
        </p:txBody>
      </p:sp>
      <p:sp>
        <p:nvSpPr>
          <p:cNvPr id="10" name="Text 5"/>
          <p:cNvSpPr txBox="1"/>
          <p:nvPr/>
        </p:nvSpPr>
        <p:spPr>
          <a:xfrm>
            <a:off x="1410005" y="28382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"강사가 가르치고 학생이 푼다"가 아니라 "문제가 던져지고 학생이 학습한다". 의대에서 시작, 전 분야로 확산.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1790395" y="4076395"/>
            <a:ext cx="6667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ANATOMY OF A PBL PROBLEM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790395" y="4457700"/>
            <a:ext cx="6667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PBL 문제의 4가지 조건</a:t>
            </a:r>
            <a:endParaRPr lang="en-US" sz="2500" dirty="0"/>
          </a:p>
        </p:txBody>
      </p:sp>
      <p:sp>
        <p:nvSpPr>
          <p:cNvPr id="13" name="Text 8"/>
          <p:cNvSpPr txBox="1"/>
          <p:nvPr/>
        </p:nvSpPr>
        <p:spPr>
          <a:xfrm>
            <a:off x="1790395" y="5458054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2361895" y="5458054"/>
            <a:ext cx="6286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실제적 (Authentic)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2361895" y="5743346"/>
            <a:ext cx="6286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현장에서 진짜로 일어나는 상황. 가짜 문제는 PBL이 아님.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790395" y="6409944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2361895" y="6409944"/>
            <a:ext cx="6286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비구조화 (Ill-structured)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2361895" y="6696151"/>
            <a:ext cx="6286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정답이 하나가 아님. 정보가 불충분, 접근 방법 다양.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790395" y="7362749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2361895" y="7362749"/>
            <a:ext cx="6286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다학제적 (Multidisciplinary)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2361895" y="7648956"/>
            <a:ext cx="6286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영역의 지식·기술이 동시에 필요. 단일 챕터로 안 풀림.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790395" y="8315554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2361895" y="8315554"/>
            <a:ext cx="6286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 주도 (Self-directed)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2361895" y="8600846"/>
            <a:ext cx="6286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학습자가 무엇을 배워야 할지 스스로 정의.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601200" y="4076395"/>
            <a:ext cx="7049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MAASTRICHT 7-STEP PBL CYCLE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9601200" y="4457700"/>
            <a:ext cx="7049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학습자가 따라가는 7단계</a:t>
            </a:r>
            <a:endParaRPr lang="en-US" sz="2400" dirty="0"/>
          </a:p>
        </p:txBody>
      </p:sp>
      <p:sp>
        <p:nvSpPr>
          <p:cNvPr id="27" name="Text 22"/>
          <p:cNvSpPr txBox="1"/>
          <p:nvPr/>
        </p:nvSpPr>
        <p:spPr>
          <a:xfrm>
            <a:off x="9601200" y="5219395"/>
            <a:ext cx="7049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</a:t>
            </a:r>
            <a:r>
              <a:rPr lang="en-US" sz="14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용어·개념 명료화 (모르는 단어부터 정리)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9601200" y="5743346"/>
            <a:ext cx="7049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</a:t>
            </a:r>
            <a:r>
              <a:rPr lang="en-US" sz="14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문제 정의 (해결할 것 1문장으로)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9601200" y="6267298"/>
            <a:ext cx="7049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</a:t>
            </a:r>
            <a:r>
              <a:rPr lang="en-US" sz="14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가설 생성 (브레인스토밍)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9601200" y="6791249"/>
            <a:ext cx="7049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</a:t>
            </a:r>
            <a:r>
              <a:rPr lang="en-US" sz="14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가설 구조화 (그룹·우선순위)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9601200" y="7315200"/>
            <a:ext cx="7049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</a:t>
            </a:r>
            <a:r>
              <a:rPr lang="en-US" sz="14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 과제 설정 (무엇을 배워야 하나)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9601200" y="7839151"/>
            <a:ext cx="7049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</a:t>
            </a:r>
            <a:r>
              <a:rPr lang="en-US" sz="14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자기주도 학습 (자료 조사·연구)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9601200" y="8363102"/>
            <a:ext cx="7049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</a:t>
            </a:r>
            <a:r>
              <a:rPr lang="en-US" sz="14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결과 공유·통합 (그룹 토론으로 결론)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강사의 역할은 </a:t>
            </a:r>
            <a:r>
              <a:rPr lang="en-US" sz="1200" b="1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'가르치는 사람'</a:t>
            </a:r>
            <a:r>
              <a:rPr lang="en-US" sz="12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</a:t>
            </a:r>
            <a:r>
              <a:rPr lang="en-US" sz="1200" b="1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'조력자(facilitator)'</a:t>
            </a:r>
            <a:r>
              <a:rPr lang="en-US" sz="12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— 답을 주지 않고 좋은 질문만 던집니다. 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62</a:t>
            </a:r>
            <a:endParaRPr lang="en-US" sz="900" dirty="0"/>
          </a:p>
        </p:txBody>
      </p:sp>
      <p:sp>
        <p:nvSpPr>
          <p:cNvPr id="36" name="출처 각주"/>
          <p:cNvSpPr txBox="1"/>
          <p:nvPr/>
        </p:nvSpPr>
        <p:spPr>
          <a:xfrm>
            <a:off x="1463040" y="9926955"/>
            <a:ext cx="14447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Barrows, H. S. &amp; Tamblyn, R. M. (1980). Problem-Based Learning: An Approach to Medical Education. Springer / Schmidt, H. G. (1983). Medical Education, 17(1), 11–16</a:t>
            </a:r>
            <a:endParaRPr lang="en-US" sz="9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830445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15659100" cy="4610405"/>
          </a:xfrm>
          <a:prstGeom prst="rect">
            <a:avLst/>
          </a:prstGeom>
          <a:solidFill>
            <a:srgbClr val="FAF7F2"/>
          </a:solidFill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1410005" y="8553298"/>
            <a:ext cx="7763256" cy="857707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410005" y="8553298"/>
            <a:ext cx="47549" cy="857707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315907" y="8553298"/>
            <a:ext cx="7763256" cy="857707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315907" y="8553298"/>
            <a:ext cx="47549" cy="857707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410005" y="3696005"/>
            <a:ext cx="15620695" cy="5715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PBL × AI · 좋은 PBL 문제 1개 함께 만들기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강의용 PBL 문제 한 편 — 예시</a:t>
            </a:r>
            <a:endParaRPr lang="en-US" sz="5400" dirty="0"/>
          </a:p>
        </p:txBody>
      </p:sp>
      <p:sp>
        <p:nvSpPr>
          <p:cNvPr id="13" name="Text 9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페이지짜리 문제 시나리오. 학습자는 90분 동안 이걸 풉니다.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90395" y="3866998"/>
            <a:ext cx="14859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PBL CASE · "내일 임원 보고에서 챗봇 도입 안건을 막을 것"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790395" y="4552798"/>
            <a:ext cx="14859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"당신은 30년 된 출판사 마케팅팀 5년차 사원입니다."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1790395" y="5219395"/>
            <a:ext cx="14859000" cy="266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어제 임원회의에서 사장이 "</a:t>
            </a:r>
            <a:r>
              <a:rPr lang="en-US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주부터 고객 문의를 GPT 챗봇으로 전부 자동화한다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"고 발표했습니다.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당신은 챗봇이 출판사 특유의 작가 문의·저작권 문제·환불 분쟁을 못 다룬다고 직감합니다.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동료들은 "AI인데 다 할 수 있는 거 아니냐"고 합니다.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09:00 임원 보고가 잡혔습니다.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안건을 통과시키지 않거나, 조건을 붙이거나, 단계적 도입안을 제시해야 합니다.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가진 자원: 어제까지 1년간 고객 문의 기록(엑셀 1,200건) · ChatGPT 유료 계정 · 인터넷 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695298" y="8744407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강사의 관찰 포인트</a:t>
            </a:r>
            <a:endParaRPr lang="en-US" sz="1000" b="1" dirty="0"/>
          </a:p>
        </p:txBody>
      </p:sp>
      <p:sp>
        <p:nvSpPr>
          <p:cNvPr id="18" name="Text 14"/>
          <p:cNvSpPr txBox="1"/>
          <p:nvPr/>
        </p:nvSpPr>
        <p:spPr>
          <a:xfrm>
            <a:off x="1695298" y="8948419"/>
            <a:ext cx="7239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학습자가 ChatGPT에게 '1,200건 분석'을 어떻게 요청하는지가 핵심 (프롬프트 설계)</a:t>
            </a:r>
            <a:endParaRPr lang="en-US" sz="1400" b="1" dirty="0"/>
          </a:p>
        </p:txBody>
      </p:sp>
      <p:sp>
        <p:nvSpPr>
          <p:cNvPr id="19" name="Text 15"/>
          <p:cNvSpPr txBox="1"/>
          <p:nvPr/>
        </p:nvSpPr>
        <p:spPr>
          <a:xfrm>
            <a:off x="9601200" y="8744407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학습되는 것</a:t>
            </a:r>
            <a:endParaRPr lang="en-US" sz="1000" b="1" dirty="0"/>
          </a:p>
        </p:txBody>
      </p:sp>
      <p:sp>
        <p:nvSpPr>
          <p:cNvPr id="20" name="Text 16"/>
          <p:cNvSpPr txBox="1"/>
          <p:nvPr/>
        </p:nvSpPr>
        <p:spPr>
          <a:xfrm>
            <a:off x="9601200" y="8948419"/>
            <a:ext cx="7239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 · 프롬프트 엔지니어링 · AI 한계 분석 · 의사결정 설득 — 4가지가 동시에</a:t>
            </a:r>
            <a:endParaRPr lang="en-US" sz="1400" b="1" dirty="0"/>
          </a:p>
        </p:txBody>
      </p:sp>
      <p:sp>
        <p:nvSpPr>
          <p:cNvPr id="21" name="Text 17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62</a:t>
            </a:r>
            <a:endParaRPr lang="en-US" sz="90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69122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3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5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09 / 13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Problem-Based Learning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문제중심학습 (PBL) · Barrows &amp; Tamblyn (1980) · McMaster Univ. (1969~)</a:t>
            </a:r>
            <a:endParaRPr lang="en-US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실제적이고 비구조화된 문제를 중심으로 학습자가 주도적으로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학습하는 교수법.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의과대학에서 시작 — 환자를 만나는 그 순간부터 학습이 시작되도록. </a:t>
            </a:r>
            <a:endParaRPr lang="en-US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"강의 → 문제풀이"가 아니라 "문제 → 필요한 학습 자체발견 → 해결".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강사는 답을 주지 않고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질문만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던지는 조력자 역할.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시대에 특히 강력 — 학습자가 AI에게 묻는 능력 자체가 평가 대상. </a:t>
            </a:r>
            <a:endParaRPr lang="en-US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좋은 vs 나쁜 PBL 문제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600200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나쁨: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"ChatGPT로 회의록을 만들어 보세요"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비구조화 아님, 한 가지 답, 학습자 주도성 없음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좋음: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"사장님이 챗봇 도입을 갑자기 결정했어요.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임원 보고에서 안건을 막거나/조건을 붙여야 합니다."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실제적, 정답 다수, 다학제, 학습자가 무엇을 알아야 할지 결정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문제가 학습자의 실제 일과 닿아 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"이거 어떻게 해요?"에 답하지 않고 "어떻게 시작하실래요?"라고 되묻는가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7단계 사이클이 시간 안에 끝날 만큼 작은가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'학습이 일어났는지'는 결과물이 아니라 과정에서도 보는가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AI를 도구로 쓰되, 'AI에 답을 떠넘기지 않게' 설계됐는가 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 · SUMMARY CARD 09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62</a:t>
            </a:r>
            <a:endParaRPr lang="en-US" sz="105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809776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7715707" cy="552480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2"/>
          <p:cNvSpPr/>
          <p:nvPr/>
        </p:nvSpPr>
        <p:spPr>
          <a:xfrm>
            <a:off x="9315907" y="3696005"/>
            <a:ext cx="7715707" cy="5524805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3"/>
          <p:cNvSpPr/>
          <p:nvPr/>
        </p:nvSpPr>
        <p:spPr>
          <a:xfrm>
            <a:off x="1410005" y="3696005"/>
            <a:ext cx="7715707" cy="57150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1790395" y="5029200"/>
            <a:ext cx="6972300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1790395" y="7315200"/>
            <a:ext cx="6972300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6"/>
          <p:cNvSpPr/>
          <p:nvPr/>
        </p:nvSpPr>
        <p:spPr>
          <a:xfrm>
            <a:off x="9315907" y="3696005"/>
            <a:ext cx="7715707" cy="5715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7"/>
          <p:cNvSpPr/>
          <p:nvPr/>
        </p:nvSpPr>
        <p:spPr>
          <a:xfrm>
            <a:off x="9696298" y="5029200"/>
            <a:ext cx="6972300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C89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Shape 8"/>
          <p:cNvSpPr/>
          <p:nvPr/>
        </p:nvSpPr>
        <p:spPr>
          <a:xfrm>
            <a:off x="9696298" y="7315200"/>
            <a:ext cx="6972300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C89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9"/>
          <p:cNvSpPr txBox="1"/>
          <p:nvPr/>
        </p:nvSpPr>
        <p:spPr>
          <a:xfrm>
            <a:off x="1410005" y="1123798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 · THEORY 10 · FLIPPED LEARNING (BERGMANN &amp; SAMS, 2007 · 2012)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플립러닝 (Flipped Learning)</a:t>
            </a:r>
            <a:endParaRPr lang="en-US" sz="6000" dirty="0"/>
          </a:p>
        </p:txBody>
      </p:sp>
      <p:sp>
        <p:nvSpPr>
          <p:cNvPr id="15" name="Text 11"/>
          <p:cNvSpPr txBox="1"/>
          <p:nvPr/>
        </p:nvSpPr>
        <p:spPr>
          <a:xfrm>
            <a:off x="1410005" y="28382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"강의는 집에서 영상으로, 숙제는 교실에서 함께" — 가르치는 시간과 활용하는 시간을 뒤집기.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1790395" y="3866998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6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TRADITIONAL · 전통 강의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790395" y="4647895"/>
            <a:ext cx="364181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44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집에서 (HIGH COGNITIVE LOAD)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2076602" y="5266944"/>
            <a:ext cx="638251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숙제·문제 풀이</a:t>
            </a: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(어렵고 도와줄 사람 없음)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학습자: "이거 풀다가 막혔는데 누구한테 물어봐…"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좌절, 포기, 답안 베끼기 </a:t>
            </a:r>
            <a:endParaRPr lang="en-US" dirty="0"/>
          </a:p>
        </p:txBody>
      </p:sp>
      <p:sp>
        <p:nvSpPr>
          <p:cNvPr id="19" name="Text 15"/>
          <p:cNvSpPr txBox="1"/>
          <p:nvPr/>
        </p:nvSpPr>
        <p:spPr>
          <a:xfrm>
            <a:off x="1790395" y="6933895"/>
            <a:ext cx="364181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44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교실에서 (LOW COGNITIVE NEED)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2076602" y="7552944"/>
            <a:ext cx="638251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강의·개념 전달</a:t>
            </a: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(혼자서도 영상으로 충분한 내용)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강사: 1시간 내내 강의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졸음, 받아쓰기, 능동 학습 부재 </a:t>
            </a:r>
            <a:endParaRPr lang="en-US" dirty="0"/>
          </a:p>
        </p:txBody>
      </p:sp>
      <p:sp>
        <p:nvSpPr>
          <p:cNvPr id="21" name="Text 17"/>
          <p:cNvSpPr txBox="1"/>
          <p:nvPr/>
        </p:nvSpPr>
        <p:spPr>
          <a:xfrm>
            <a:off x="9696298" y="3866998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63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FLIPPED · 뒤집힌 강의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9696298" y="4647895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집에서 (LOW COGNITIVE LOAD)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9982505" y="5266944"/>
            <a:ext cx="638251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영상·읽기·퀴즈</a:t>
            </a: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(혼자서도 가능)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학습자: 자기 속도로 정지·반복·필기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모르는 부분 표시해서 수업에 가져옴 </a:t>
            </a:r>
            <a:endParaRPr lang="en-US" dirty="0"/>
          </a:p>
        </p:txBody>
      </p:sp>
      <p:sp>
        <p:nvSpPr>
          <p:cNvPr id="24" name="Text 20"/>
          <p:cNvSpPr txBox="1"/>
          <p:nvPr/>
        </p:nvSpPr>
        <p:spPr>
          <a:xfrm>
            <a:off x="9696298" y="6933895"/>
            <a:ext cx="54609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교실에서 (HIGH COGNITIVE WORK)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9982505" y="7552944"/>
            <a:ext cx="638251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실습·토론·심화 문제</a:t>
            </a: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(강사·동료가 옆에)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강사: 1:1 코칭, 헷갈리는 지점만 추가 설명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막힐 때 즉시 도움, 깊은 학습 </a:t>
            </a:r>
            <a:endParaRPr lang="en-US" dirty="0"/>
          </a:p>
        </p:txBody>
      </p:sp>
      <p:sp>
        <p:nvSpPr>
          <p:cNvPr id="26" name="Text 22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핵심은 '영상으로 강의를 대체하는 것'이 아니라, </a:t>
            </a:r>
            <a:r>
              <a:rPr lang="en-US" sz="1600" b="1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강의실 시간을 가장 어려운 작업에 쓰는 것</a:t>
            </a:r>
            <a:r>
              <a:rPr lang="en-US" sz="16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 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62</a:t>
            </a:r>
            <a:endParaRPr lang="en-US" sz="1050" dirty="0"/>
          </a:p>
        </p:txBody>
      </p:sp>
      <p:sp>
        <p:nvSpPr>
          <p:cNvPr id="28" name="출처 각주"/>
          <p:cNvSpPr txBox="1"/>
          <p:nvPr/>
        </p:nvSpPr>
        <p:spPr>
          <a:xfrm>
            <a:off x="1463040" y="9926955"/>
            <a:ext cx="14447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Bergmann, J. &amp; Sams, A. (2012). Flip Your Classroom: Reach Every Student in Every Class Every Day. ISTE·ASCD (2007년 미국 Woodland Park 고교 수업에서 시작)</a:t>
            </a:r>
            <a:endParaRPr lang="en-US" sz="105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6553102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3810305" cy="5524805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5410505" y="3696005"/>
            <a:ext cx="3810305" cy="5524805"/>
          </a:xfrm>
          <a:prstGeom prst="rect">
            <a:avLst/>
          </a:prstGeom>
          <a:solidFill>
            <a:srgbClr val="1425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7" name="Shape 3"/>
          <p:cNvSpPr/>
          <p:nvPr/>
        </p:nvSpPr>
        <p:spPr>
          <a:xfrm>
            <a:off x="9411005" y="3696005"/>
            <a:ext cx="3810305" cy="5524805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8" name="Shape 4"/>
          <p:cNvSpPr/>
          <p:nvPr/>
        </p:nvSpPr>
        <p:spPr>
          <a:xfrm>
            <a:off x="13411505" y="3696005"/>
            <a:ext cx="3810305" cy="552480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pic>
        <p:nvPicPr>
          <p:cNvPr id="9" name="Image 2" descr="gen-dedup-202c3c3f7ee2f0e484fdb5cd1bbb0fbc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1695298" y="5029200"/>
            <a:ext cx="476402" cy="19202"/>
          </a:xfrm>
          <a:prstGeom prst="rect">
            <a:avLst/>
          </a:prstGeom>
        </p:spPr>
      </p:pic>
      <p:pic>
        <p:nvPicPr>
          <p:cNvPr id="10" name="Image 3" descr="gen-dedup-202c3c3f7ee2f0e484fdb5cd1bbb0fbc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95798" y="5029200"/>
            <a:ext cx="476402" cy="19202"/>
          </a:xfrm>
          <a:prstGeom prst="rect">
            <a:avLst/>
          </a:prstGeom>
        </p:spPr>
      </p:pic>
      <p:pic>
        <p:nvPicPr>
          <p:cNvPr id="11" name="Image 4" descr="gen-dedup-202c3c3f7ee2f0e484fdb5cd1bbb0fbc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9696298" y="5029200"/>
            <a:ext cx="476402" cy="19202"/>
          </a:xfrm>
          <a:prstGeom prst="rect">
            <a:avLst/>
          </a:prstGeom>
        </p:spPr>
      </p:pic>
      <p:pic>
        <p:nvPicPr>
          <p:cNvPr id="12" name="Image 5" descr="gen-dedup-2fcc955cea620e348623ec4cacfa40bf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13696798" y="5029200"/>
            <a:ext cx="476402" cy="19202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FLIPPED × AI · 사전학습 자료, AI로 빠르게 만들기</a:t>
            </a:r>
            <a:endParaRPr lang="en-US" sz="1050" dirty="0"/>
          </a:p>
        </p:txBody>
      </p:sp>
      <p:sp>
        <p:nvSpPr>
          <p:cNvPr id="14" name="Text 6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만드는 사전학습 패키지</a:t>
            </a:r>
            <a:endParaRPr lang="en-US" sz="5400" dirty="0"/>
          </a:p>
        </p:txBody>
      </p:sp>
      <p:sp>
        <p:nvSpPr>
          <p:cNvPr id="15" name="Text 7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플립러닝의 약점이었던 '사전학습 자료 만드는 데 너무 오래 걸림'을 AI가 해결합니다.</a:t>
            </a:r>
            <a:endParaRPr lang="en-US" dirty="0"/>
          </a:p>
        </p:txBody>
      </p:sp>
      <p:sp>
        <p:nvSpPr>
          <p:cNvPr id="16" name="Text 8"/>
          <p:cNvSpPr txBox="1"/>
          <p:nvPr/>
        </p:nvSpPr>
        <p:spPr>
          <a:xfrm>
            <a:off x="1695298" y="39812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PRE-LEARNING 01</a:t>
            </a:r>
            <a:endParaRPr lang="en-US" sz="1050" dirty="0"/>
          </a:p>
        </p:txBody>
      </p:sp>
      <p:sp>
        <p:nvSpPr>
          <p:cNvPr id="17" name="Text 9"/>
          <p:cNvSpPr txBox="1"/>
          <p:nvPr/>
        </p:nvSpPr>
        <p:spPr>
          <a:xfrm>
            <a:off x="1695298" y="4315054"/>
            <a:ext cx="3238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15분 강의 영상</a:t>
            </a:r>
            <a:endParaRPr lang="en-US" sz="2700" dirty="0"/>
          </a:p>
        </p:txBody>
      </p:sp>
      <p:sp>
        <p:nvSpPr>
          <p:cNvPr id="18" name="Text 10"/>
          <p:cNvSpPr txBox="1"/>
          <p:nvPr/>
        </p:nvSpPr>
        <p:spPr>
          <a:xfrm>
            <a:off x="1695298" y="5315407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</a:t>
            </a:r>
            <a:endParaRPr lang="en-US" sz="1000" dirty="0"/>
          </a:p>
        </p:txBody>
      </p:sp>
      <p:sp>
        <p:nvSpPr>
          <p:cNvPr id="19" name="Text 11"/>
          <p:cNvSpPr txBox="1"/>
          <p:nvPr/>
        </p:nvSpPr>
        <p:spPr>
          <a:xfrm>
            <a:off x="1695298" y="5648249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HeyGen · Synthesia · NotebookLM Audio Overview</a:t>
            </a:r>
            <a:endParaRPr lang="en-US" sz="1400" dirty="0"/>
          </a:p>
        </p:txBody>
      </p:sp>
      <p:sp>
        <p:nvSpPr>
          <p:cNvPr id="20" name="Text 12"/>
          <p:cNvSpPr txBox="1"/>
          <p:nvPr/>
        </p:nvSpPr>
        <p:spPr>
          <a:xfrm>
            <a:off x="1695298" y="63623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1695298" y="6696151"/>
            <a:ext cx="3238805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① ChatGPT로 스크립트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HeyGen 아바타로 영상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자막 자동 생성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5분 단위로 자르기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시간(예시): 30분 안팎</a:t>
            </a: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5695798" y="39812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PRE-LEARNING 02</a:t>
            </a:r>
            <a:endParaRPr lang="en-US" sz="1050" dirty="0"/>
          </a:p>
        </p:txBody>
      </p:sp>
      <p:sp>
        <p:nvSpPr>
          <p:cNvPr id="23" name="Text 15"/>
          <p:cNvSpPr txBox="1"/>
          <p:nvPr/>
        </p:nvSpPr>
        <p:spPr>
          <a:xfrm>
            <a:off x="5695798" y="4315054"/>
            <a:ext cx="3238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3쪽 요약 자료</a:t>
            </a:r>
            <a:endParaRPr lang="en-US" sz="2700" dirty="0"/>
          </a:p>
        </p:txBody>
      </p:sp>
      <p:sp>
        <p:nvSpPr>
          <p:cNvPr id="24" name="Text 16"/>
          <p:cNvSpPr txBox="1"/>
          <p:nvPr/>
        </p:nvSpPr>
        <p:spPr>
          <a:xfrm>
            <a:off x="5695798" y="5315407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5695798" y="5648249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· NotebookLM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5695798" y="63623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5695798" y="6696151"/>
            <a:ext cx="3238805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① 원문 자료 업로드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"고1 수준으로 3쪽 요약" 요청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강사가 사례 1개 끼워넣기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PDF로 출력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시간(예시): 20분 안팎</a:t>
            </a: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9696298" y="39812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PRE-LEARNING 03</a:t>
            </a:r>
            <a:endParaRPr lang="en-US" sz="1050" dirty="0"/>
          </a:p>
        </p:txBody>
      </p:sp>
      <p:sp>
        <p:nvSpPr>
          <p:cNvPr id="29" name="Text 21"/>
          <p:cNvSpPr txBox="1"/>
          <p:nvPr/>
        </p:nvSpPr>
        <p:spPr>
          <a:xfrm>
            <a:off x="9696298" y="4315054"/>
            <a:ext cx="3238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 진단 퀴즈</a:t>
            </a:r>
            <a:endParaRPr lang="en-US" sz="2700" dirty="0"/>
          </a:p>
        </p:txBody>
      </p:sp>
      <p:sp>
        <p:nvSpPr>
          <p:cNvPr id="30" name="Text 22"/>
          <p:cNvSpPr txBox="1"/>
          <p:nvPr/>
        </p:nvSpPr>
        <p:spPr>
          <a:xfrm>
            <a:off x="9696298" y="5315407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9696298" y="5648249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 · Google Forms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9696298" y="63623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9696298" y="6696151"/>
            <a:ext cx="3238805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① 학습목표 → Bloom L2-L3 문항 5개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객관식 + 단답 1:1 비율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Forms로 자동 채점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강사 대시보드로 미리 확인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시간(예시): 10분 안팎</a:t>
            </a: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13696798" y="39812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63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PRE-LEARNING 04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13696798" y="4315054"/>
            <a:ext cx="3238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'질문 가져오기'</a:t>
            </a:r>
            <a:endParaRPr lang="en-US" sz="2700" dirty="0"/>
          </a:p>
        </p:txBody>
      </p:sp>
      <p:sp>
        <p:nvSpPr>
          <p:cNvPr id="36" name="Text 28"/>
          <p:cNvSpPr txBox="1"/>
          <p:nvPr/>
        </p:nvSpPr>
        <p:spPr>
          <a:xfrm>
            <a:off x="13696798" y="5315407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강사가 직접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13696798" y="5648249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위임하지 말 것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13696798" y="63623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13696798" y="6696151"/>
            <a:ext cx="3238805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학습자가 영상·자료 보고 "</a:t>
            </a:r>
            <a:r>
              <a:rPr lang="en-US" sz="14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강의실에 가져올 질문 1개</a:t>
            </a:r>
            <a:r>
              <a:rPr lang="en-US" sz="14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 적어오기.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이게</a:t>
            </a:r>
            <a:r>
              <a:rPr lang="en-US" sz="14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 err="1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강의실에서</a:t>
            </a:r>
            <a:r>
              <a:rPr lang="en-US" sz="14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</a:t>
            </a:r>
            <a:r>
              <a:rPr lang="en-US" sz="14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어려운 작업의 출발점.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강사의 손길이 가장 필요한 부분. 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62</a:t>
            </a:r>
            <a:endParaRPr lang="en-US" sz="10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112065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3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5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10 / 13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Flipped Learning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플립러닝 · Bergmann &amp; Sams (2007 · 2012)</a:t>
            </a:r>
            <a:endParaRPr lang="en-US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기존 강의는 사전 학습으로, 교실 수업은 활동·토론·심화 문제 중심으로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전환하는 교수 모델. 두 콜로라도 화학교사가 결석생을 위해 영상을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녹화하다 시작 — Khan Academy의 부상과 함께 확산. </a:t>
            </a:r>
            <a:endParaRPr lang="en-US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핵심은 '영상으로 강의를 대체하는 것'이 아니라,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강의실 시간을 가장 어려운 작업에 쓰는 것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AI가 사전학습 자료를 만드는 부담을 크게 낮춰 — 플립러닝의 약점 해소. </a:t>
            </a:r>
            <a:endParaRPr lang="en-US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사전학습 패키지 4종 세트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600200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수업 3일 전 학습자에게 발송: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영상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15분 (HeyGen 아바타) — 개념 전달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자료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3쪽 PDF (Claude 요약) — 깊이 보기용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퀴즈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5문항 (Forms 자동 채점) — 자가 진단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질문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1줄 적어오기 — 수업의 시작점 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사전학습은 '20분 이내'로 짧은가 (안 보고 옴)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자가 진단 퀴즈로 사전학습 완료 여부 확인하는가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수업 첫 5분에 사전학습 결과를 반영하는가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수업 시간 70% 이상이 학습자 활동인가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사전학습 안 한 학습자를 위한 대안이 있는가 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 · SUMMARY CARD 10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62</a:t>
            </a:r>
            <a:endParaRPr lang="en-US" sz="105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842610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abfd1ddde323358008a25be1bd9bac4f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895" y="75895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10005" y="7315200"/>
            <a:ext cx="518190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410005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743700" y="7315200"/>
            <a:ext cx="518190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743700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2077395" y="7315200"/>
            <a:ext cx="5181905" cy="13331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2077395" y="7315200"/>
            <a:ext cx="38405" cy="13331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e4dc0fd02e0035cf785059b7ea33b82c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410005" y="6743700"/>
            <a:ext cx="952805" cy="2834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18895" y="1410005"/>
            <a:ext cx="10478110" cy="523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0" b="1" kern="0" spc="-1560" dirty="0">
                <a:solidFill>
                  <a:srgbClr val="C9A961">
                    <a:alpha val="1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9000" dirty="0"/>
          </a:p>
        </p:txBody>
      </p:sp>
      <p:sp>
        <p:nvSpPr>
          <p:cNvPr id="12" name="Text 8"/>
          <p:cNvSpPr txBox="1"/>
          <p:nvPr/>
        </p:nvSpPr>
        <p:spPr>
          <a:xfrm>
            <a:off x="1410005" y="3696005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472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· 04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410005" y="4267505"/>
            <a:ext cx="156216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학습이론·에듀테크</a:t>
            </a:r>
            <a:endParaRPr lang="en-US" sz="7800" dirty="0"/>
          </a:p>
        </p:txBody>
      </p:sp>
      <p:sp>
        <p:nvSpPr>
          <p:cNvPr id="14" name="Text 10"/>
          <p:cNvSpPr txBox="1"/>
          <p:nvPr/>
        </p:nvSpPr>
        <p:spPr>
          <a:xfrm>
            <a:off x="1410005" y="5600700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학습이 일어나는 메커니즘과, AI라는 환경의 위치</a:t>
            </a:r>
            <a:endParaRPr lang="en-US" sz="2700" dirty="0"/>
          </a:p>
        </p:txBody>
      </p:sp>
      <p:sp>
        <p:nvSpPr>
          <p:cNvPr id="15" name="Text 11"/>
          <p:cNvSpPr txBox="1"/>
          <p:nvPr/>
        </p:nvSpPr>
        <p:spPr>
          <a:xfrm>
            <a:off x="1695298" y="7552944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11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695298" y="7839151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스캐폴딩 &amp; ZPD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1695298" y="82680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Vygotsky · 비계와 근접발달영역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029907" y="7552944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12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7029907" y="7839151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구성주의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7029907" y="82680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Piaget · 능동적 지식 구성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2363602" y="7552944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THEORY · 13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2363602" y="7839151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TPACK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12363602" y="82680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기술·교수법·내용지식의 교차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 · 학습이론·에듀테크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62</a:t>
            </a:r>
            <a:endParaRPr lang="en-US" sz="9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604439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8382305" cy="552480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10172700" y="3696005"/>
            <a:ext cx="6858000" cy="5800208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981505" y="4647895"/>
            <a:ext cx="7295998" cy="4438498"/>
          </a:xfrm>
          <a:prstGeom prst="roundRect">
            <a:avLst>
              <a:gd name="adj" fmla="val 20602"/>
            </a:avLst>
          </a:prstGeom>
          <a:solidFill>
            <a:srgbClr val="FFFFFF"/>
          </a:solidFill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30e9450acfab8e20b28044ed3668b219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0554005" y="5600700"/>
            <a:ext cx="571500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553005" y="5124298"/>
            <a:ext cx="6152998" cy="3486607"/>
          </a:xfrm>
          <a:prstGeom prst="roundRect">
            <a:avLst>
              <a:gd name="adj" fmla="val 26226"/>
            </a:avLst>
          </a:prstGeom>
          <a:solidFill>
            <a:srgbClr val="FAF7F2"/>
          </a:solidFill>
          <a:ln w="381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5"/>
          <p:cNvSpPr/>
          <p:nvPr/>
        </p:nvSpPr>
        <p:spPr>
          <a:xfrm>
            <a:off x="3314700" y="5790895"/>
            <a:ext cx="4572000" cy="2095805"/>
          </a:xfrm>
          <a:prstGeom prst="roundRect">
            <a:avLst>
              <a:gd name="adj" fmla="val 43630"/>
            </a:avLst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 txBox="1"/>
          <p:nvPr/>
        </p:nvSpPr>
        <p:spPr>
          <a:xfrm>
            <a:off x="1410005" y="1123798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 · THEORY 11 · SCAFFOLDING &amp; ZPD (VYGOTSKY 1934/1978 · WOOD ET AL. 1976)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스캐폴딩과 근접발달영역 (ZPD)</a:t>
            </a:r>
            <a:endParaRPr lang="en-US" sz="5400" dirty="0"/>
          </a:p>
        </p:txBody>
      </p:sp>
      <p:sp>
        <p:nvSpPr>
          <p:cNvPr id="13" name="Text 8"/>
          <p:cNvSpPr txBox="1"/>
          <p:nvPr/>
        </p:nvSpPr>
        <p:spPr>
          <a:xfrm>
            <a:off x="1410005" y="28382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혼자서는 못 하지만, 살짝 도와주면 할 수 있는 영역 — 강의가 일어나야 할 정확한 그 자리.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790394" y="4076395"/>
            <a:ext cx="897589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ZONE OF PROXIMAL DEVELOPMENT</a:t>
            </a:r>
            <a:endParaRPr lang="en-US" sz="1100" b="1" dirty="0"/>
          </a:p>
        </p:txBody>
      </p:sp>
      <p:sp>
        <p:nvSpPr>
          <p:cNvPr id="15" name="Text 10"/>
          <p:cNvSpPr txBox="1"/>
          <p:nvPr/>
        </p:nvSpPr>
        <p:spPr>
          <a:xfrm>
            <a:off x="2829205" y="4776639"/>
            <a:ext cx="224451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2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ZONE 03 · CAN'T YET</a:t>
            </a:r>
            <a:endParaRPr lang="en-US" sz="1050" b="1" dirty="0"/>
          </a:p>
        </p:txBody>
      </p:sp>
      <p:sp>
        <p:nvSpPr>
          <p:cNvPr id="16" name="Text 11"/>
          <p:cNvSpPr txBox="1"/>
          <p:nvPr/>
        </p:nvSpPr>
        <p:spPr>
          <a:xfrm>
            <a:off x="5968130" y="4775454"/>
            <a:ext cx="25805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못하는 영역</a:t>
            </a:r>
            <a:endParaRPr lang="en-US" sz="1600" b="1" dirty="0"/>
          </a:p>
        </p:txBody>
      </p:sp>
      <p:sp>
        <p:nvSpPr>
          <p:cNvPr id="17" name="Text 12"/>
          <p:cNvSpPr txBox="1"/>
          <p:nvPr/>
        </p:nvSpPr>
        <p:spPr>
          <a:xfrm>
            <a:off x="3448254" y="5281388"/>
            <a:ext cx="224451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25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ZONE 02 · ZPD</a:t>
            </a:r>
            <a:endParaRPr lang="en-US" sz="1050" b="1" dirty="0"/>
          </a:p>
        </p:txBody>
      </p:sp>
      <p:sp>
        <p:nvSpPr>
          <p:cNvPr id="18" name="Text 13"/>
          <p:cNvSpPr txBox="1"/>
          <p:nvPr/>
        </p:nvSpPr>
        <p:spPr>
          <a:xfrm>
            <a:off x="5681923" y="5280203"/>
            <a:ext cx="224451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근접발달영역</a:t>
            </a:r>
            <a:endParaRPr lang="en-US" sz="1600" b="1" dirty="0"/>
          </a:p>
        </p:txBody>
      </p:sp>
      <p:sp>
        <p:nvSpPr>
          <p:cNvPr id="19" name="Text 14"/>
          <p:cNvSpPr txBox="1"/>
          <p:nvPr/>
        </p:nvSpPr>
        <p:spPr>
          <a:xfrm>
            <a:off x="3534157" y="6220206"/>
            <a:ext cx="4000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ZONE 01 · ALREADY KNOWS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3534157" y="6553048"/>
            <a:ext cx="4000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혼자 할 수 있는 영역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534157" y="7029450"/>
            <a:ext cx="4000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강의에서 다루면 지루함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6269005" y="53154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↘</a:t>
            </a:r>
            <a:endParaRPr lang="en-US" sz="2700" dirty="0"/>
          </a:p>
        </p:txBody>
      </p:sp>
      <p:sp>
        <p:nvSpPr>
          <p:cNvPr id="23" name="Text 18"/>
          <p:cNvSpPr txBox="1"/>
          <p:nvPr/>
        </p:nvSpPr>
        <p:spPr>
          <a:xfrm>
            <a:off x="10554005" y="4076395"/>
            <a:ext cx="6096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SCAFFOLDING · 비계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0554005" y="4457700"/>
            <a:ext cx="6096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"건물 짓는 동안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</a:t>
            </a:r>
            <a:r>
              <a:rPr lang="en-US" sz="28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잠깐</a:t>
            </a: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세우는 비계" </a:t>
            </a:r>
            <a:endParaRPr lang="en-US" sz="2800" dirty="0"/>
          </a:p>
        </p:txBody>
      </p:sp>
      <p:sp>
        <p:nvSpPr>
          <p:cNvPr id="25" name="Text 20"/>
          <p:cNvSpPr txBox="1"/>
          <p:nvPr/>
        </p:nvSpPr>
        <p:spPr>
          <a:xfrm>
            <a:off x="10554005" y="5886907"/>
            <a:ext cx="6096305" cy="3143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1.</a:t>
            </a: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학습자가 ZPD 안에 있을 때만 의미 있음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2.</a:t>
            </a: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처음엔 많이, 점차 줄여나감 (fading)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3.</a:t>
            </a: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결국 비계 없이도 혼자 해야 함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강의에서 비계 형태: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워크북의 빈칸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예제 보여준 뒤 변형 시키기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"여기까지 같이, 다음부터는 혼자"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프롬프트 템플릿 → 자유 프롬프트 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62</a:t>
            </a:r>
            <a:endParaRPr lang="en-US" sz="900" dirty="0"/>
          </a:p>
        </p:txBody>
      </p:sp>
      <p:sp>
        <p:nvSpPr>
          <p:cNvPr id="27" name="출처 각주"/>
          <p:cNvSpPr txBox="1"/>
          <p:nvPr/>
        </p:nvSpPr>
        <p:spPr>
          <a:xfrm>
            <a:off x="1463040" y="9926955"/>
            <a:ext cx="14447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Vygotsky, L. S. (1978). Mind in Society. Harvard Univ. Press (러시아어 원저 1930년대) / 「스캐폴딩」: Wood, D., Bruner, J. S. &amp; Ross, G. (1976). J. Child Psychology and Psychiatry, 17(2), 89–100</a:t>
            </a:r>
            <a:endParaRPr lang="en-US" sz="9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3781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4172407"/>
            <a:ext cx="3810305" cy="4953305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5410505" y="4172407"/>
            <a:ext cx="3810305" cy="4953305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9411005" y="4172407"/>
            <a:ext cx="3810305" cy="4953305"/>
          </a:xfrm>
          <a:prstGeom prst="rect">
            <a:avLst/>
          </a:prstGeom>
          <a:solidFill>
            <a:srgbClr val="2C42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3411505" y="4172407"/>
            <a:ext cx="3619195" cy="495330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202c3c3f7ee2f0e484fdb5cd1bbb0fbc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1695298" y="5790895"/>
            <a:ext cx="476402" cy="19202"/>
          </a:xfrm>
          <a:prstGeom prst="rect">
            <a:avLst/>
          </a:prstGeom>
        </p:spPr>
      </p:pic>
      <p:pic>
        <p:nvPicPr>
          <p:cNvPr id="10" name="Image 3" descr="gen-dedup-202c3c3f7ee2f0e484fdb5cd1bbb0fbc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95798" y="5790895"/>
            <a:ext cx="476402" cy="19202"/>
          </a:xfrm>
          <a:prstGeom prst="rect">
            <a:avLst/>
          </a:prstGeom>
        </p:spPr>
      </p:pic>
      <p:pic>
        <p:nvPicPr>
          <p:cNvPr id="11" name="Image 4" descr="gen-dedup-202c3c3f7ee2f0e484fdb5cd1bbb0fbc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9696298" y="5790895"/>
            <a:ext cx="476402" cy="19202"/>
          </a:xfrm>
          <a:prstGeom prst="rect">
            <a:avLst/>
          </a:prstGeom>
        </p:spPr>
      </p:pic>
      <p:pic>
        <p:nvPicPr>
          <p:cNvPr id="12" name="Image 5" descr="gen-dedup-2fcc955cea620e348623ec4cacfa40bf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13696798" y="5790895"/>
            <a:ext cx="476402" cy="19202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SCAFFOLDING × AI · AI를 학습자 옆자리에 앉히기</a:t>
            </a:r>
            <a:endParaRPr lang="en-US" sz="1000" dirty="0"/>
          </a:p>
        </p:txBody>
      </p:sp>
      <p:sp>
        <p:nvSpPr>
          <p:cNvPr id="14" name="Text 6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가장 인내심 강한 비계입니다</a:t>
            </a:r>
            <a:endParaRPr lang="en-US" sz="5400" dirty="0"/>
          </a:p>
        </p:txBody>
      </p:sp>
      <p:sp>
        <p:nvSpPr>
          <p:cNvPr id="15" name="Text 7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 30명에게 동시에 다른 수준의 비계를 제공할 수 있는 기술 — 단, 제대로 설계할 때만.</a:t>
            </a:r>
            <a:endParaRPr lang="en-US" sz="2400" dirty="0"/>
          </a:p>
        </p:txBody>
      </p:sp>
      <p:sp>
        <p:nvSpPr>
          <p:cNvPr id="16" name="Text 8"/>
          <p:cNvSpPr txBox="1"/>
          <p:nvPr/>
        </p:nvSpPr>
        <p:spPr>
          <a:xfrm>
            <a:off x="1410005" y="3696005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FADING SCAFFOLD · 비계는 점차 줄여나간다</a:t>
            </a:r>
            <a:endParaRPr lang="en-US" sz="1050" dirty="0"/>
          </a:p>
        </p:txBody>
      </p:sp>
      <p:sp>
        <p:nvSpPr>
          <p:cNvPr id="17" name="Text 9"/>
          <p:cNvSpPr txBox="1"/>
          <p:nvPr/>
        </p:nvSpPr>
        <p:spPr>
          <a:xfrm>
            <a:off x="1695298" y="4457700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1 · HEAVY</a:t>
            </a:r>
            <a:endParaRPr lang="en-US" sz="900" dirty="0"/>
          </a:p>
        </p:txBody>
      </p:sp>
      <p:sp>
        <p:nvSpPr>
          <p:cNvPr id="18" name="Text 10"/>
          <p:cNvSpPr txBox="1"/>
          <p:nvPr/>
        </p:nvSpPr>
        <p:spPr>
          <a:xfrm>
            <a:off x="1695298" y="4791456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시범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학습자는 관찰 </a:t>
            </a:r>
            <a:endParaRPr lang="en-US" sz="2200" dirty="0"/>
          </a:p>
        </p:txBody>
      </p:sp>
      <p:sp>
        <p:nvSpPr>
          <p:cNvPr id="19" name="Text 11"/>
          <p:cNvSpPr txBox="1"/>
          <p:nvPr/>
        </p:nvSpPr>
        <p:spPr>
          <a:xfrm>
            <a:off x="1695298" y="6077102"/>
            <a:ext cx="3238805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완성된 프롬프트 + 결과 보여주기.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"이 입력 → 이 출력" 패턴 학습.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비계 최대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학습자: 인지 부담 거의 0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강사 시연 10분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5695798" y="4457700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2 · MEDIUM</a:t>
            </a:r>
            <a:endParaRPr lang="en-US" sz="900" dirty="0"/>
          </a:p>
        </p:txBody>
      </p:sp>
      <p:sp>
        <p:nvSpPr>
          <p:cNvPr id="21" name="Text 13"/>
          <p:cNvSpPr txBox="1"/>
          <p:nvPr/>
        </p:nvSpPr>
        <p:spPr>
          <a:xfrm>
            <a:off x="5695798" y="4791456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채우기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일부만 학습자 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5695798" y="6077102"/>
            <a:ext cx="3238805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"역할: ___, 맥락: ___, 출력: ___"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빈칸 3개만 학습자가 채움.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비계 절반쯤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학습자: 부분적 의사결정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워크북 빈칸 15분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9696298" y="4457700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3 · LIGHT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9696298" y="4791456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힌트만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작업은 학습자 </a:t>
            </a:r>
            <a:endParaRPr lang="en-US" sz="2200" dirty="0"/>
          </a:p>
        </p:txBody>
      </p:sp>
      <p:sp>
        <p:nvSpPr>
          <p:cNvPr id="25" name="Text 17"/>
          <p:cNvSpPr txBox="1"/>
          <p:nvPr/>
        </p:nvSpPr>
        <p:spPr>
          <a:xfrm>
            <a:off x="9696298" y="6077102"/>
            <a:ext cx="3238805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"이번엔 본인 데이터로.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'맥락'을 더 주세요."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비계 조금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학습자: 거의 다 주도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실습 25분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13696798" y="4457700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4 · NONE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13696798" y="4791456"/>
            <a:ext cx="3048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비계 제거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전이 </a:t>
            </a:r>
            <a:endParaRPr lang="en-US" sz="2200" dirty="0"/>
          </a:p>
        </p:txBody>
      </p:sp>
      <p:sp>
        <p:nvSpPr>
          <p:cNvPr id="28" name="Text 20"/>
          <p:cNvSpPr txBox="1"/>
          <p:nvPr/>
        </p:nvSpPr>
        <p:spPr>
          <a:xfrm>
            <a:off x="13696798" y="6077102"/>
            <a:ext cx="304861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템플릿·힌트 없이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일에 적용.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비계 없음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학습자: 완전 자율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다음 주 월요일 진짜 회의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흔한 실수: Stage 1만 가르치고 끝내기. → 학습자가 강의실 밖에서 못 함. Stage 4까지 강의 안에 심어야.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62</a:t>
            </a:r>
            <a:endParaRPr lang="en-US" sz="9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664108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3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5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11 / 13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Scaffolding &amp; ZPD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스캐폴딩과 근접발달영역 · Vygotsky (1934/1978) · Wood 외 (1976)</a:t>
            </a:r>
            <a:endParaRPr lang="en-US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ZPD: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혼자서는 못 하지만, 누군가 도우면 할 수 있는 영역.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Scaffolding: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학습자를 ZPD 안에서 살짝 밀어주는 일시적 지원.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핵심은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'fading'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결국 비계는 사라져야 함. </a:t>
            </a:r>
            <a:endParaRPr lang="en-US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시대 새로운 가능성: 30명 학습자에게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개인화된 비계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동시에.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각자 다른 속도·다른 수준에서 ChatGPT가 옆에서 도움.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단, "AI한테 답 받기"가 되면 비계가 아니라 cheat. fading 설계가 핵심. </a:t>
            </a:r>
            <a:endParaRPr lang="en-US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4단계 비계 줄이기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600200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1 (강사 시연 10분):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완성 프롬프트 그대로 시범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2 (워크북 15분):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"역할/맥락/출력" 빈칸만 채우기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3 (실습 25분):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본인 데이터로, 막히면 힌트 카드만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4 (귀가 후):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템플릿 없이 본인 일에 적용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같은 60분 안에 비계 최대 → 없음까지 fading 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학습 초반에 학습자 ZPD를 진단하는가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비계가 처음엔 강하다가 점차 줄어드는가 (fading)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Stage 4(비계 없는 적용)가 강의 안에 들어가 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AI가 답을 떠먹여주는 게 아니라 '질문을 되묻는' 모드인가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학습자가 막혔을 때 강사가 즉시 답하지 않고 기다리는가 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 · SUMMARY CARD 11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62</a:t>
            </a:r>
            <a:endParaRPr lang="en-US" sz="105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797344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791102"/>
            <a:ext cx="5143500" cy="53336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6838798" y="3791102"/>
            <a:ext cx="10191902" cy="5333695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410005" y="3791102"/>
            <a:ext cx="5143500" cy="57150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838798" y="3791102"/>
            <a:ext cx="10191902" cy="5715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 txBox="1"/>
          <p:nvPr/>
        </p:nvSpPr>
        <p:spPr>
          <a:xfrm>
            <a:off x="1410005" y="1123798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 · THEORY 12 · CONSTRUCTIVISM (PIAGET · VYGOTSKY · BRUNER)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구성주의 (Constructivism)</a:t>
            </a:r>
            <a:endParaRPr lang="en-US" sz="6000" dirty="0"/>
          </a:p>
        </p:txBody>
      </p:sp>
      <p:sp>
        <p:nvSpPr>
          <p:cNvPr id="11" name="Text 7"/>
          <p:cNvSpPr txBox="1"/>
          <p:nvPr/>
        </p:nvSpPr>
        <p:spPr>
          <a:xfrm>
            <a:off x="1410005" y="28382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지식은 강사에게서 학습자로 '전달'되지 않는다. 학습자가 경험과 상호작용을 통해 스스로 </a:t>
            </a:r>
            <a:r>
              <a:rPr lang="en-US" sz="1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'구성'</a:t>
            </a:r>
            <a:r>
              <a:rPr lang="en-US" sz="1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한다. 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695298" y="396209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행동주의 · 전달 모형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695298" y="4695444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"강사 → 학습자"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1695298" y="5505602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METAPHOR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1695298" y="5838444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컵에 물을 따르듯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지식을 부어넣는다</a:t>
            </a:r>
            <a:endParaRPr lang="en-US" dirty="0"/>
          </a:p>
        </p:txBody>
      </p:sp>
      <p:sp>
        <p:nvSpPr>
          <p:cNvPr id="16" name="Text 12"/>
          <p:cNvSpPr txBox="1"/>
          <p:nvPr/>
        </p:nvSpPr>
        <p:spPr>
          <a:xfrm>
            <a:off x="1695298" y="6743700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강의실 풍경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695298" y="7077456"/>
            <a:ext cx="4572000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강사 50분 강의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학습자 받아 적기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시험: 강의 내용 회상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평가 기준: 외운 양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실수는 곧 실패 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125005" y="3962095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3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구성주의 · 구성 모형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125005" y="4695444"/>
            <a:ext cx="9525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"학습자가 자기 안에서 만든다"</a:t>
            </a:r>
            <a:endParaRPr lang="en-US" sz="2700" dirty="0"/>
          </a:p>
        </p:txBody>
      </p:sp>
      <p:sp>
        <p:nvSpPr>
          <p:cNvPr id="20" name="Text 16"/>
          <p:cNvSpPr txBox="1"/>
          <p:nvPr/>
        </p:nvSpPr>
        <p:spPr>
          <a:xfrm>
            <a:off x="7125005" y="5505602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METAPHOR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7125005" y="5838444"/>
            <a:ext cx="9525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레고 블록을 직접 조립하듯, 기존 지식 위에 새 지식이 얹힌다</a:t>
            </a:r>
            <a:endParaRPr lang="en-US" dirty="0"/>
          </a:p>
        </p:txBody>
      </p:sp>
      <p:sp>
        <p:nvSpPr>
          <p:cNvPr id="22" name="Text 18"/>
          <p:cNvSpPr txBox="1"/>
          <p:nvPr/>
        </p:nvSpPr>
        <p:spPr>
          <a:xfrm>
            <a:off x="7125005" y="6743700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강의실 풍경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7125005" y="7077456"/>
            <a:ext cx="4572000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학습자가 직접 만들기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짝꿍·그룹 토론 우선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시험: 산출물·수행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평가 기준: 의미 구성 수준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실수가 곧 학습 재료 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2077395" y="7077456"/>
            <a:ext cx="4572000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구성주의 강의의 4원칙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① 진짜 문제로 시작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② 학습자의 사전 지식 존중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③ 협력적 의미 구성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④ 메타인지 (학습에 대해 사고) 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"학습은 받는 것이 아니라 만드는 것이다." — 구성주의 관점의 요약</a:t>
            </a:r>
            <a:endParaRPr lang="en-US" dirty="0"/>
          </a:p>
        </p:txBody>
      </p:sp>
      <p:sp>
        <p:nvSpPr>
          <p:cNvPr id="26" name="Text 22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62</a:t>
            </a:r>
            <a:endParaRPr lang="en-US" sz="900" dirty="0"/>
          </a:p>
        </p:txBody>
      </p:sp>
      <p:sp>
        <p:nvSpPr>
          <p:cNvPr id="27" name="출처 각주"/>
          <p:cNvSpPr txBox="1"/>
          <p:nvPr/>
        </p:nvSpPr>
        <p:spPr>
          <a:xfrm>
            <a:off x="1463040" y="9926955"/>
            <a:ext cx="14447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Piaget, J. (1970). Genetic Epistemology. Columbia Univ. Press / Jonassen, D. H. (1991). Objectivism versus constructivism. ETR&amp;D, 39(3), 5–14</a:t>
            </a:r>
            <a:endParaRPr lang="en-US" sz="9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29385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314700"/>
            <a:ext cx="7753198" cy="5943600"/>
          </a:xfrm>
          <a:prstGeom prst="rect">
            <a:avLst/>
          </a:prstGeom>
          <a:solidFill>
            <a:srgbClr val="FEF7F4"/>
          </a:solidFill>
          <a:ln w="25400">
            <a:solidFill>
              <a:srgbClr val="F2D4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9315907" y="3314700"/>
            <a:ext cx="7753198" cy="5943600"/>
          </a:xfrm>
          <a:prstGeom prst="rect">
            <a:avLst/>
          </a:prstGeom>
          <a:solidFill>
            <a:srgbClr val="F0F7F4"/>
          </a:solidFill>
          <a:ln w="25400">
            <a:solidFill>
              <a:srgbClr val="C8E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410005" y="3314700"/>
            <a:ext cx="7715707" cy="571500"/>
          </a:xfrm>
          <a:prstGeom prst="rect">
            <a:avLst/>
          </a:prstGeom>
          <a:solidFill>
            <a:srgbClr val="D969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315907" y="3314700"/>
            <a:ext cx="7715707" cy="571500"/>
          </a:xfrm>
          <a:prstGeom prst="rect">
            <a:avLst/>
          </a:prstGeom>
          <a:solidFill>
            <a:srgbClr val="2C7A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CONSTRUCTIVISM × AI · 가장 큰 함정과 가장 큰 기회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학습자를 게으르게 만드는가, 똑똑하게 만드는가</a:t>
            </a:r>
            <a:endParaRPr lang="en-US" sz="4800" dirty="0"/>
          </a:p>
        </p:txBody>
      </p:sp>
      <p:sp>
        <p:nvSpPr>
          <p:cNvPr id="11" name="Text 7"/>
          <p:cNvSpPr txBox="1"/>
          <p:nvPr/>
        </p:nvSpPr>
        <p:spPr>
          <a:xfrm>
            <a:off x="1695298" y="3486607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TRAP · 구성주의 파괴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695298" y="4172407"/>
            <a:ext cx="6954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"AI가 답을 떠먹여주는 강의"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1695298" y="5029200"/>
            <a:ext cx="69540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질문:</a:t>
            </a: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"ChatGPT에게 사업계획서를 만들게 하세요." </a:t>
            </a:r>
            <a:endParaRPr lang="en-US" dirty="0"/>
          </a:p>
        </p:txBody>
      </p:sp>
      <p:sp>
        <p:nvSpPr>
          <p:cNvPr id="14" name="Text 10"/>
          <p:cNvSpPr txBox="1"/>
          <p:nvPr/>
        </p:nvSpPr>
        <p:spPr>
          <a:xfrm>
            <a:off x="1695298" y="5982005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망가지는가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1695298" y="6314846"/>
            <a:ext cx="6954012" cy="266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7C2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학습자는 '구성'하지 않고 '받아쓴다'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7C2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사전 지식이 활용되지 않음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7C2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의미 구성 과정이 사라짐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7C2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실수가 일어나지 않음 → 학습 재료 부재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7C2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산출물은 있는데 머릿속엔 아무것도 안 남음 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0" y="3486607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OPPORTUNITY · 구성주의 강화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0" y="4172407"/>
            <a:ext cx="6954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"AI를 비판하며 자기 답을 만드는 강의"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0" y="5029200"/>
            <a:ext cx="69540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질문:</a:t>
            </a: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"AI가 만든 사업계획서의 빈틈 3개를 찾고 본인 경험으로 메우세요." </a:t>
            </a:r>
            <a:endParaRPr lang="en-US" dirty="0"/>
          </a:p>
        </p:txBody>
      </p:sp>
      <p:sp>
        <p:nvSpPr>
          <p:cNvPr id="19" name="Text 15"/>
          <p:cNvSpPr txBox="1"/>
          <p:nvPr/>
        </p:nvSpPr>
        <p:spPr>
          <a:xfrm>
            <a:off x="9601200" y="5982005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2C7A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작동하는가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9601200" y="6314846"/>
            <a:ext cx="6954012" cy="266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F4E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AI가 만든 산출물이 출발점, 학습자가 종착점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F4E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사전 지식(자기 경험)이 빈틈 채우는 재료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F4E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'비판 → 재구성' 자체가 의미 구성 과정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F4E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실수가 보임 (AI도 학습자도 실수함)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F4E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• 머릿속에 '왜 그렇게 고쳤는지'가 남음 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시대 구성주의의 핵심: </a:t>
            </a:r>
            <a:r>
              <a:rPr lang="en-US" sz="1600" b="1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학습자의 '상대'</a:t>
            </a:r>
            <a:r>
              <a:rPr lang="en-US" sz="16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 — 적도, 도우미도 아니다. 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62</a:t>
            </a:r>
            <a:endParaRPr lang="en-US" sz="105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650303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3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5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12 / 13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Constructivism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구성주의 · Piaget · Vygotsky · Bruner</a:t>
            </a:r>
            <a:endParaRPr lang="en-US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학습자는 경험과 상호작용을 통해 능동적으로 지식을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한다.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지식은 강사에게서 학습자로 '전달'되는 것이 아님.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행동주의(Skinner) vs 인지주의(정보처리 이론) vs 구성주의의 3대 축 중 마지막. </a:t>
            </a:r>
            <a:endParaRPr lang="en-US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시대에는 더 중요해짐: AI가 정답을 만들어주는 시대에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학습자에게 남는 것은 </a:t>
            </a: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'왜 그렇게 고쳤는지'</a:t>
            </a: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의미 구성 과정뿐.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AI는 학습자의 '도우미'가 아니라 '비판할 상대'로 배치. </a:t>
            </a:r>
            <a:endParaRPr lang="en-US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활동 4원칙 적용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600200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① </a:t>
            </a: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 문제로 시작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본인 회사의 실제 사례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② </a:t>
            </a: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지식 활성화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"지금까지 어떻게 하셨어요?"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③ </a:t>
            </a: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협력 구성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짝과 답안 비교, 차이점 토론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④ </a:t>
            </a: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메타인지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"이 답을 만들 때 무엇이 가장 어려웠나요?"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활용: 학습자 답안 → AI 답안 → 차이 분석 → 본인 답안 v2.0 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강의가 학습자의 '현재 알고 있는 것'에서 출발하는가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정답이 한 개뿐인 활동을 피했는가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학습자 발언이 강사 발언의 2배 이상인가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실수·오답에서 '왜 그렇게 생각했는지'를 묻는가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AI를 '답 받는 도구'가 아니라 '비판할 상대'로 배치했는가 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 · SUMMARY CARD 12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 / 62</a:t>
            </a:r>
            <a:endParaRPr lang="en-US" sz="105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11657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10287000" cy="552480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11887200" y="3696005"/>
            <a:ext cx="5143500" cy="5524805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981505" y="4457700"/>
            <a:ext cx="4000500" cy="4000500"/>
          </a:xfrm>
          <a:prstGeom prst="ellipse">
            <a:avLst/>
          </a:prstGeom>
          <a:solidFill>
            <a:srgbClr val="0B1733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7125005" y="4457700"/>
            <a:ext cx="4000500" cy="4000500"/>
          </a:xfrm>
          <a:prstGeom prst="ellipse">
            <a:avLst/>
          </a:prstGeom>
          <a:solidFill>
            <a:srgbClr val="1B2E5B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202c3c3f7ee2f0e484fdb5cd1bbb0fbc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12173407" y="5505602"/>
            <a:ext cx="476402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52798" y="3886200"/>
            <a:ext cx="4000500" cy="4000500"/>
          </a:xfrm>
          <a:prstGeom prst="ellipse">
            <a:avLst/>
          </a:prstGeom>
          <a:solidFill>
            <a:srgbClr val="C9A961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 txBox="1"/>
          <p:nvPr/>
        </p:nvSpPr>
        <p:spPr>
          <a:xfrm>
            <a:off x="1410005" y="1123798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 · THEORY 13 · TPACK (MISHRA &amp; KOEHLER, 2006)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TPACK — 기술교과내용지식</a:t>
            </a:r>
            <a:endParaRPr lang="en-US" sz="6000" dirty="0"/>
          </a:p>
        </p:txBody>
      </p:sp>
      <p:sp>
        <p:nvSpPr>
          <p:cNvPr id="13" name="Text 8"/>
          <p:cNvSpPr txBox="1"/>
          <p:nvPr/>
        </p:nvSpPr>
        <p:spPr>
          <a:xfrm>
            <a:off x="1410005" y="2838298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강사가 갖춰야 할 세 가지 지식의 교차점.   </a:t>
            </a:r>
            <a:r>
              <a:rPr lang="en-US" sz="1800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</a:t>
            </a:r>
            <a:r>
              <a:rPr lang="en-US" sz="1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'잘 가르치는 것'이 아니라 'AI로 잘 가르치는 것'.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028493" y="4934101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TK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3028493" y="5362955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</a:t>
            </a:r>
            <a:endParaRPr lang="en-US" sz="2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Technology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3028493" y="6363309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ChatGPT · Claude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· NotebookLM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HeyGen · Gamma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도구의 작동 원리 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886596" y="4989728"/>
            <a:ext cx="1334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PK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7362292" y="5447893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교수법</a:t>
            </a:r>
            <a:endParaRPr lang="en-US" sz="24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Pedagogy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7362292" y="6448247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Bloom · 액티브러닝</a:t>
            </a:r>
            <a:endParaRPr lang="en-US" sz="14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PBL · 플립러닝</a:t>
            </a:r>
            <a:endParaRPr lang="en-US" sz="14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스캐폴딩 · ZPD</a:t>
            </a:r>
            <a:endParaRPr lang="en-US" sz="14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학습이 일어나는 법 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600700" y="4506163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CK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625160" y="5009794"/>
            <a:ext cx="17615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</a:t>
            </a:r>
            <a:endParaRPr lang="en-US" sz="2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5600700" y="5791809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가르치려는 주제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자체에 대한 깊이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(예: 마케팅, 회계, 개발) 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12173407" y="407639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 진단 3가지 질문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2173407" y="4552798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 강사는 어디서 흔들리나?"</a:t>
            </a:r>
            <a:endParaRPr lang="en-US" sz="2100" dirty="0"/>
          </a:p>
        </p:txBody>
      </p:sp>
      <p:sp>
        <p:nvSpPr>
          <p:cNvPr id="25" name="Text 20"/>
          <p:cNvSpPr txBox="1"/>
          <p:nvPr/>
        </p:nvSpPr>
        <p:spPr>
          <a:xfrm>
            <a:off x="12458700" y="6086752"/>
            <a:ext cx="4572000" cy="2456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Q1. TK만 강한 강사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"이 도구 신기능 보세요!" → 학습 X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Q2. PK만 강한 강사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교수법은 완벽한데 AI 도구를 모름 → 신뢰 X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Q3. CK만 강한 강사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분야 전문가인데 잘 못 가르침 → 전이 X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세 원이 겹치는 곳에 좋은 AI 강사가 있다.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 / 62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219395" y="7220102"/>
            <a:ext cx="2819095" cy="629107"/>
          </a:xfrm>
          <a:prstGeom prst="roundRect">
            <a:avLst>
              <a:gd name="adj" fmla="val 3523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5219395" y="7220102"/>
            <a:ext cx="282001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TPACK</a:t>
            </a:r>
            <a:endParaRPr lang="en-US" sz="2500" dirty="0"/>
          </a:p>
        </p:txBody>
      </p:sp>
      <p:sp>
        <p:nvSpPr>
          <p:cNvPr id="29" name="출처 각주"/>
          <p:cNvSpPr txBox="1"/>
          <p:nvPr/>
        </p:nvSpPr>
        <p:spPr>
          <a:xfrm>
            <a:off x="1463040" y="9926955"/>
            <a:ext cx="14447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Mishra, P. &amp; Koehler, M. J. (2006). Technological pedagogical content knowledge. Teachers College Record, 108(6), 1017–1054</a:t>
            </a:r>
            <a:endParaRPr lang="en-US" sz="9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4766630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029407"/>
            <a:ext cx="5095951" cy="19046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6" name="Shape 2"/>
          <p:cNvSpPr/>
          <p:nvPr/>
        </p:nvSpPr>
        <p:spPr>
          <a:xfrm>
            <a:off x="1410005" y="3029407"/>
            <a:ext cx="47549" cy="190469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7" name="Shape 3"/>
          <p:cNvSpPr/>
          <p:nvPr/>
        </p:nvSpPr>
        <p:spPr>
          <a:xfrm>
            <a:off x="6696151" y="3029407"/>
            <a:ext cx="5095951" cy="19046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8" name="Shape 4"/>
          <p:cNvSpPr/>
          <p:nvPr/>
        </p:nvSpPr>
        <p:spPr>
          <a:xfrm>
            <a:off x="6696151" y="3029407"/>
            <a:ext cx="47549" cy="190469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Shape 5"/>
          <p:cNvSpPr/>
          <p:nvPr/>
        </p:nvSpPr>
        <p:spPr>
          <a:xfrm>
            <a:off x="11982298" y="3029407"/>
            <a:ext cx="5095951" cy="19046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0" name="Shape 6"/>
          <p:cNvSpPr/>
          <p:nvPr/>
        </p:nvSpPr>
        <p:spPr>
          <a:xfrm>
            <a:off x="11982298" y="3029407"/>
            <a:ext cx="47549" cy="190469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1" name="Shape 7"/>
          <p:cNvSpPr/>
          <p:nvPr/>
        </p:nvSpPr>
        <p:spPr>
          <a:xfrm>
            <a:off x="1410005" y="5219395"/>
            <a:ext cx="5095951" cy="1904695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2" name="Shape 8"/>
          <p:cNvSpPr/>
          <p:nvPr/>
        </p:nvSpPr>
        <p:spPr>
          <a:xfrm>
            <a:off x="1410005" y="5219395"/>
            <a:ext cx="47549" cy="1904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3" name="Shape 9"/>
          <p:cNvSpPr/>
          <p:nvPr/>
        </p:nvSpPr>
        <p:spPr>
          <a:xfrm>
            <a:off x="6696151" y="5219395"/>
            <a:ext cx="5095951" cy="1904695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4" name="Shape 10"/>
          <p:cNvSpPr/>
          <p:nvPr/>
        </p:nvSpPr>
        <p:spPr>
          <a:xfrm>
            <a:off x="6696151" y="5219395"/>
            <a:ext cx="47549" cy="1904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5" name="Shape 11"/>
          <p:cNvSpPr/>
          <p:nvPr/>
        </p:nvSpPr>
        <p:spPr>
          <a:xfrm>
            <a:off x="11982298" y="5219395"/>
            <a:ext cx="5095951" cy="1904695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6" name="Shape 12"/>
          <p:cNvSpPr/>
          <p:nvPr/>
        </p:nvSpPr>
        <p:spPr>
          <a:xfrm>
            <a:off x="11982298" y="5219395"/>
            <a:ext cx="47549" cy="1904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7" name="Shape 13"/>
          <p:cNvSpPr/>
          <p:nvPr/>
        </p:nvSpPr>
        <p:spPr>
          <a:xfrm>
            <a:off x="1410005" y="7410297"/>
            <a:ext cx="15620695" cy="1904695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8" name="Text 14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TPACK × AI · AI 강사가 채워야 할 7가지 칸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TPACK 자가 점검 — 어디가 비었나요?</a:t>
            </a:r>
            <a:endParaRPr lang="en-US" sz="5400" dirty="0"/>
          </a:p>
        </p:txBody>
      </p:sp>
      <p:sp>
        <p:nvSpPr>
          <p:cNvPr id="20" name="Text 16"/>
          <p:cNvSpPr txBox="1"/>
          <p:nvPr/>
        </p:nvSpPr>
        <p:spPr>
          <a:xfrm>
            <a:off x="1695298" y="3219602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44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TK · 기술지식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695298" y="3504895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 작동 원리·한계</a:t>
            </a:r>
            <a:endParaRPr lang="en-US" dirty="0"/>
          </a:p>
        </p:txBody>
      </p:sp>
      <p:sp>
        <p:nvSpPr>
          <p:cNvPr id="22" name="Text 18"/>
          <p:cNvSpPr txBox="1"/>
          <p:nvPr/>
        </p:nvSpPr>
        <p:spPr>
          <a:xfrm>
            <a:off x="1695298" y="3933749"/>
            <a:ext cx="4572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어떻게 답을 만드는지, hallucination, context window, RAG, 데이터 보안 등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981444" y="3219602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44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PK · 교수법지식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6981444" y="3504895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설계 원리</a:t>
            </a:r>
            <a:endParaRPr lang="en-US" dirty="0"/>
          </a:p>
        </p:txBody>
      </p:sp>
      <p:sp>
        <p:nvSpPr>
          <p:cNvPr id="25" name="Text 21"/>
          <p:cNvSpPr txBox="1"/>
          <p:nvPr/>
        </p:nvSpPr>
        <p:spPr>
          <a:xfrm>
            <a:off x="6981444" y="3933749"/>
            <a:ext cx="4572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· ADDIE · 액티브러닝 · </a:t>
            </a:r>
            <a:r>
              <a:rPr lang="en-US" sz="1400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스캐폴딩</a:t>
            </a: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 강의안의 13개 이론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12268505" y="3219602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44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CK · 내용지식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2268505" y="3504895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주제 도메인 깊이</a:t>
            </a:r>
            <a:endParaRPr lang="en-US" dirty="0"/>
          </a:p>
        </p:txBody>
      </p:sp>
      <p:sp>
        <p:nvSpPr>
          <p:cNvPr id="28" name="Text 24"/>
          <p:cNvSpPr txBox="1"/>
          <p:nvPr/>
        </p:nvSpPr>
        <p:spPr>
          <a:xfrm>
            <a:off x="12268505" y="3933749"/>
            <a:ext cx="4572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마케팅·회계·법무 등 본인 </a:t>
            </a:r>
            <a:r>
              <a:rPr lang="en-US" sz="1400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분야</a:t>
            </a: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AI는 도구일 뿐 내용 전문성을 못 만들어줌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1695298" y="54105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TPK · 기술×교수법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1695298" y="5695798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교수전략에 통합</a:t>
            </a:r>
            <a:endParaRPr lang="en-US" dirty="0"/>
          </a:p>
        </p:txBody>
      </p:sp>
      <p:sp>
        <p:nvSpPr>
          <p:cNvPr id="31" name="Text 27"/>
          <p:cNvSpPr txBox="1"/>
          <p:nvPr/>
        </p:nvSpPr>
        <p:spPr>
          <a:xfrm>
            <a:off x="1695298" y="6124651"/>
            <a:ext cx="4572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Critique-AI · AI 짝꿍 · Prompt Relay 같은 새 </a:t>
            </a:r>
            <a:r>
              <a:rPr lang="en-US" sz="1400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활동을</a:t>
            </a: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설계할</a:t>
            </a: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 있음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6981444" y="54105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TCK · 기술×내용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6981444" y="5695798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분야에 맞는 AI 활용</a:t>
            </a:r>
            <a:endParaRPr lang="en-US" dirty="0"/>
          </a:p>
        </p:txBody>
      </p:sp>
      <p:sp>
        <p:nvSpPr>
          <p:cNvPr id="34" name="Text 30"/>
          <p:cNvSpPr txBox="1"/>
          <p:nvPr/>
        </p:nvSpPr>
        <p:spPr>
          <a:xfrm>
            <a:off x="6981444" y="6124651"/>
            <a:ext cx="4572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"법률 분야에서 LLM의 </a:t>
            </a:r>
            <a:r>
              <a:rPr lang="en-US" sz="1400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hallucination이</a:t>
            </a: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치명적인가" 같은 도메인 특화 통찰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12268505" y="5410505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PCK · 교수법×내용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2268505" y="5695798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주제는 이렇게 가르친다</a:t>
            </a:r>
            <a:endParaRPr lang="en-US" dirty="0"/>
          </a:p>
        </p:txBody>
      </p:sp>
      <p:sp>
        <p:nvSpPr>
          <p:cNvPr id="37" name="Text 33"/>
          <p:cNvSpPr txBox="1"/>
          <p:nvPr/>
        </p:nvSpPr>
        <p:spPr>
          <a:xfrm>
            <a:off x="12268505" y="6124651"/>
            <a:ext cx="4572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"마케팅 카피는 사례 비교로 가르치는 게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</a:t>
            </a: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효과적" 같은 분야 특화 교수법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1790395" y="7696505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TPACK · 셋의 교차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1790395" y="8029346"/>
            <a:ext cx="1524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분야를, 이 학습자에게, 이 AI 도구로, 이렇게 가르친다"</a:t>
            </a:r>
            <a:endParaRPr lang="en-US" sz="2400" dirty="0"/>
          </a:p>
        </p:txBody>
      </p:sp>
      <p:sp>
        <p:nvSpPr>
          <p:cNvPr id="40" name="Text 36"/>
          <p:cNvSpPr txBox="1"/>
          <p:nvPr/>
        </p:nvSpPr>
        <p:spPr>
          <a:xfrm>
            <a:off x="1790395" y="8600846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가지가 한 강의 설계 안에서 동시에 작동할 때, 비로소 'AI 강의'가 됩니다. 어느 하나가 비면 부족함이 보입니다.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/ 62</a:t>
            </a:r>
            <a:endParaRPr lang="en-US" sz="10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6056751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1218895" y="933602"/>
            <a:ext cx="16021202" cy="8591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660922a2b67af939fde09c72dfc39d26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1218895" y="933602"/>
            <a:ext cx="16002000" cy="75895"/>
          </a:xfrm>
          <a:prstGeom prst="rect">
            <a:avLst/>
          </a:prstGeom>
        </p:spPr>
      </p:pic>
      <p:pic>
        <p:nvPicPr>
          <p:cNvPr id="6" name="Image 2" descr="gen-dedup-1e2f5cf26e2a8a31a36fa88ed59488d3.png"/>
          <p:cNvPicPr>
            <a:picLocks noChangeAspect="1"/>
          </p:cNvPicPr>
          <p:nvPr/>
        </p:nvPicPr>
        <p:blipFill>
          <a:blip r:embed="rId3"/>
          <a:srcRect l="-385" r="-385"/>
          <a:stretch/>
        </p:blipFill>
        <p:spPr>
          <a:xfrm>
            <a:off x="1600200" y="3219602"/>
            <a:ext cx="761695" cy="28346"/>
          </a:xfrm>
          <a:prstGeom prst="rect">
            <a:avLst/>
          </a:prstGeom>
        </p:spPr>
      </p:pic>
      <p:pic>
        <p:nvPicPr>
          <p:cNvPr id="7" name="Image 3" descr="gen-dedup-f106fa32218ea7504ced0db74b10d69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600200" y="6029554"/>
            <a:ext cx="15240305" cy="9144"/>
          </a:xfrm>
          <a:prstGeom prst="rect">
            <a:avLst/>
          </a:prstGeom>
        </p:spPr>
      </p:pic>
      <p:pic>
        <p:nvPicPr>
          <p:cNvPr id="8" name="Image 4" descr="gen-dedup-e1289921482ef4eb770bc811c0baa755.png"/>
          <p:cNvPicPr>
            <a:picLocks noChangeAspect="1"/>
          </p:cNvPicPr>
          <p:nvPr/>
        </p:nvPicPr>
        <p:blipFill>
          <a:blip r:embed="rId5"/>
          <a:srcRect l="-201" r="-201"/>
          <a:stretch/>
        </p:blipFill>
        <p:spPr>
          <a:xfrm>
            <a:off x="1218895" y="9430207"/>
            <a:ext cx="16002000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00200" y="1410005"/>
            <a:ext cx="5715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kern="0" spc="368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1-PAGE SUMMARY CARD · 13 / 13</a:t>
            </a:r>
            <a:endParaRPr lang="en-US" sz="1050" b="1" dirty="0"/>
          </a:p>
        </p:txBody>
      </p:sp>
      <p:sp>
        <p:nvSpPr>
          <p:cNvPr id="10" name="Text 3"/>
          <p:cNvSpPr txBox="1"/>
          <p:nvPr/>
        </p:nvSpPr>
        <p:spPr>
          <a:xfrm>
            <a:off x="1600200" y="1790395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TPACK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628900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Technology·Pedagogy·Content Knowledge · Mishra &amp; Koehler (2006)</a:t>
            </a:r>
            <a:endParaRPr lang="en-US" sz="2000" b="1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CONCEPT 개념</a:t>
            </a:r>
            <a:endParaRPr lang="en-US" sz="1000" b="1" dirty="0"/>
          </a:p>
        </p:txBody>
      </p:sp>
      <p:sp>
        <p:nvSpPr>
          <p:cNvPr id="13" name="Text 6"/>
          <p:cNvSpPr txBox="1"/>
          <p:nvPr/>
        </p:nvSpPr>
        <p:spPr>
          <a:xfrm>
            <a:off x="1600200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효과적인 기술 통합 교육은 세 지식의 교차점에서 일어난다: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기술(TK)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교수법(PK)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내용(CK)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하나만 있어도, 둘만 있어도 부족. 셋의 교차 — TPACK. 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9411005" y="3600907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POINT 핵심</a:t>
            </a:r>
            <a:endParaRPr lang="en-US" sz="1000" b="1" dirty="0"/>
          </a:p>
        </p:txBody>
      </p:sp>
      <p:sp>
        <p:nvSpPr>
          <p:cNvPr id="15" name="Text 8"/>
          <p:cNvSpPr txBox="1"/>
          <p:nvPr/>
        </p:nvSpPr>
        <p:spPr>
          <a:xfrm>
            <a:off x="9411005" y="3933749"/>
            <a:ext cx="742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시대 강사가 놓치기 쉬운 곳: </a:t>
            </a: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TPK</a:t>
            </a: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(기술×교수법).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"Critique-AI 같은 새 교수전략을 AI 도구로 어떻게 짤까?"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 강의안이 가장 많은 장을 들인 영역이기도 합니다. 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EXAMPLE 자가 진단</a:t>
            </a:r>
            <a:endParaRPr lang="en-US" sz="1000" b="1" dirty="0"/>
          </a:p>
        </p:txBody>
      </p:sp>
      <p:sp>
        <p:nvSpPr>
          <p:cNvPr id="17" name="Text 10"/>
          <p:cNvSpPr txBox="1"/>
          <p:nvPr/>
        </p:nvSpPr>
        <p:spPr>
          <a:xfrm>
            <a:off x="1600200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각 영역에 1–5점 부여: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TK:</a:t>
            </a:r>
            <a:r>
              <a:rPr lang="en-US" sz="14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최신 AI 도구 5개를 직접 써봤다 (___ / 5)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PK:</a:t>
            </a:r>
            <a:r>
              <a:rPr lang="en-US" sz="14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 강의안의 이론 13개를 설명할 수 있다 (___ / 5)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CK:</a:t>
            </a:r>
            <a:r>
              <a:rPr lang="en-US" sz="14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내 분야에서 10년 이상 경력 (___ / 5)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낮은 점수 → 다음 3개월 학습 우선순위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9411005" y="6267298"/>
            <a:ext cx="7429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kern="0" spc="29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CHECKLIST 강사 점검표</a:t>
            </a:r>
            <a:endParaRPr lang="en-US" sz="1000" b="1" dirty="0"/>
          </a:p>
        </p:txBody>
      </p:sp>
      <p:sp>
        <p:nvSpPr>
          <p:cNvPr id="19" name="Text 12"/>
          <p:cNvSpPr txBox="1"/>
          <p:nvPr/>
        </p:nvSpPr>
        <p:spPr>
          <a:xfrm>
            <a:off x="9411005" y="6601054"/>
            <a:ext cx="742950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내 강의에 세 영역(T·P·C)이 모두 보이는가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"AI 도구 자랑"으로 끝나지 않는가 (TK만 강함)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"교수법 멋진데 도구 모름" 상태는 아닌가 (PK만)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분야 깊이 없이 AI 자랑만 하지 않는가 (TK + 약한 CK)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세 영역 중 가장 약한 곳을 알고 있는가 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 · SUMMARY CARD 13</a:t>
            </a:r>
            <a:endParaRPr lang="en-US" sz="1000" b="1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00" b="1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 / 62</a:t>
            </a:r>
            <a:endParaRPr lang="en-US" sz="1000" b="1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2212863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abfd1ddde323358008a25be1bd9bac4f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895" y="75895"/>
            <a:ext cx="18288000" cy="10287000"/>
          </a:xfrm>
          <a:prstGeom prst="rect">
            <a:avLst/>
          </a:prstGeom>
        </p:spPr>
      </p:pic>
      <p:pic>
        <p:nvPicPr>
          <p:cNvPr id="4" name="Image 1" descr="gen-dedup-e4dc0fd02e0035cf785059b7ea33b82c.png"/>
          <p:cNvPicPr>
            <a:picLocks noChangeAspect="1"/>
          </p:cNvPicPr>
          <p:nvPr/>
        </p:nvPicPr>
        <p:blipFill>
          <a:blip r:embed="rId3"/>
          <a:srcRect l="-420" r="-420"/>
          <a:stretch/>
        </p:blipFill>
        <p:spPr>
          <a:xfrm>
            <a:off x="1410005" y="6743700"/>
            <a:ext cx="952805" cy="2834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218895" y="1410005"/>
            <a:ext cx="10478110" cy="523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0" b="1" kern="0" spc="-1560" dirty="0">
                <a:solidFill>
                  <a:srgbClr val="C9A961">
                    <a:alpha val="1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39000" dirty="0"/>
          </a:p>
        </p:txBody>
      </p:sp>
      <p:sp>
        <p:nvSpPr>
          <p:cNvPr id="6" name="Text 2"/>
          <p:cNvSpPr txBox="1"/>
          <p:nvPr/>
        </p:nvSpPr>
        <p:spPr>
          <a:xfrm>
            <a:off x="1410005" y="3696005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472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· 05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1410005" y="4267505"/>
            <a:ext cx="156216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설계 &amp; 강사 노하우</a:t>
            </a:r>
            <a:endParaRPr lang="en-US" sz="7800" dirty="0"/>
          </a:p>
        </p:txBody>
      </p:sp>
      <p:sp>
        <p:nvSpPr>
          <p:cNvPr id="8" name="Text 4"/>
          <p:cNvSpPr txBox="1"/>
          <p:nvPr/>
        </p:nvSpPr>
        <p:spPr>
          <a:xfrm>
            <a:off x="1410005" y="5600700"/>
            <a:ext cx="1562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13개 이론을 종합한 워크플로 + 현장에서만 배우는 5가지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1410005" y="7315200"/>
            <a:ext cx="15621610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 파트의 슬라이드: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이론 매트릭스 — 언제 어떤 이론을 쓸까 · </a:t>
            </a:r>
            <a:r>
              <a:rPr lang="en-US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</a:t>
            </a: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강의 1회차 설계 워크플로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</a:t>
            </a: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첫 강의 5분 노하우 · </a:t>
            </a:r>
            <a:r>
              <a:rPr lang="en-US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</a:t>
            </a: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청중 장악 노하우 · </a:t>
            </a:r>
            <a:r>
              <a:rPr lang="en-US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</a:t>
            </a: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Q&amp;A 대응 노하우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</a:t>
            </a: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실패한 강의에서 배운 것 · </a:t>
            </a:r>
            <a:r>
              <a:rPr lang="en-US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</a:t>
            </a: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프롬프트 템플릿 모음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</a:t>
            </a: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워크북: 나의 AI 강의 설계하기 · </a:t>
            </a:r>
            <a:r>
              <a:rPr lang="en-US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59</a:t>
            </a:r>
            <a:r>
              <a:rPr lang="en-US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17가지 체크리스트 </a:t>
            </a:r>
            <a:endParaRPr lang="en-US" dirty="0"/>
          </a:p>
        </p:txBody>
      </p:sp>
      <p:sp>
        <p:nvSpPr>
          <p:cNvPr id="10" name="Text 6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05 · 통합 &amp; 노하우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/ 62</a:t>
            </a:r>
            <a:endParaRPr lang="en-US" sz="9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6137847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457346"/>
            <a:ext cx="15620695" cy="523951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 b="1"/>
          </a:p>
        </p:txBody>
      </p:sp>
      <p:sp>
        <p:nvSpPr>
          <p:cNvPr id="6" name="Shape 2"/>
          <p:cNvSpPr/>
          <p:nvPr/>
        </p:nvSpPr>
        <p:spPr>
          <a:xfrm>
            <a:off x="1410005" y="4028846"/>
            <a:ext cx="15620695" cy="619049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 b="1"/>
          </a:p>
        </p:txBody>
      </p:sp>
      <p:sp>
        <p:nvSpPr>
          <p:cNvPr id="7" name="Shape 3"/>
          <p:cNvSpPr/>
          <p:nvPr/>
        </p:nvSpPr>
        <p:spPr>
          <a:xfrm>
            <a:off x="1410005" y="4695444"/>
            <a:ext cx="15620695" cy="619049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 b="1"/>
          </a:p>
        </p:txBody>
      </p:sp>
      <p:sp>
        <p:nvSpPr>
          <p:cNvPr id="8" name="Shape 4"/>
          <p:cNvSpPr/>
          <p:nvPr/>
        </p:nvSpPr>
        <p:spPr>
          <a:xfrm>
            <a:off x="1410005" y="5362956"/>
            <a:ext cx="15620695" cy="619049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 b="1"/>
          </a:p>
        </p:txBody>
      </p:sp>
      <p:sp>
        <p:nvSpPr>
          <p:cNvPr id="9" name="Shape 5"/>
          <p:cNvSpPr/>
          <p:nvPr/>
        </p:nvSpPr>
        <p:spPr>
          <a:xfrm>
            <a:off x="1410005" y="6029554"/>
            <a:ext cx="15620695" cy="619049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 b="1"/>
          </a:p>
        </p:txBody>
      </p:sp>
      <p:sp>
        <p:nvSpPr>
          <p:cNvPr id="10" name="Shape 6"/>
          <p:cNvSpPr/>
          <p:nvPr/>
        </p:nvSpPr>
        <p:spPr>
          <a:xfrm>
            <a:off x="1410005" y="6696151"/>
            <a:ext cx="15620695" cy="619049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 b="1"/>
          </a:p>
        </p:txBody>
      </p:sp>
      <p:sp>
        <p:nvSpPr>
          <p:cNvPr id="11" name="Shape 7"/>
          <p:cNvSpPr/>
          <p:nvPr/>
        </p:nvSpPr>
        <p:spPr>
          <a:xfrm>
            <a:off x="1410005" y="7362749"/>
            <a:ext cx="15620695" cy="619049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 b="1"/>
          </a:p>
        </p:txBody>
      </p:sp>
      <p:sp>
        <p:nvSpPr>
          <p:cNvPr id="12" name="Shape 8"/>
          <p:cNvSpPr/>
          <p:nvPr/>
        </p:nvSpPr>
        <p:spPr>
          <a:xfrm>
            <a:off x="1410005" y="8029346"/>
            <a:ext cx="15620695" cy="619049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 b="1"/>
          </a:p>
        </p:txBody>
      </p:sp>
      <p:sp>
        <p:nvSpPr>
          <p:cNvPr id="13" name="Shape 9"/>
          <p:cNvSpPr/>
          <p:nvPr/>
        </p:nvSpPr>
        <p:spPr>
          <a:xfrm>
            <a:off x="1410005" y="8695944"/>
            <a:ext cx="15620695" cy="619049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 b="1"/>
          </a:p>
        </p:txBody>
      </p:sp>
      <p:pic>
        <p:nvPicPr>
          <p:cNvPr id="14" name="Image 2" descr="gen-dedup-b2812ddd098d043e9d349fead76f9eca.png"/>
          <p:cNvPicPr>
            <a:picLocks noChangeAspect="1"/>
          </p:cNvPicPr>
          <p:nvPr/>
        </p:nvPicPr>
        <p:blipFill>
          <a:blip r:embed="rId4"/>
          <a:srcRect l="-406" r="-406"/>
          <a:stretch/>
        </p:blipFill>
        <p:spPr>
          <a:xfrm>
            <a:off x="1410005" y="8695944"/>
            <a:ext cx="57607" cy="61904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INTEGRATION · 13개 이론, 언제 어떤 걸 꺼낼까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상황별 이론 매칭 매트릭스</a:t>
            </a:r>
            <a:endParaRPr lang="en-US" sz="5400" dirty="0"/>
          </a:p>
        </p:txBody>
      </p:sp>
      <p:sp>
        <p:nvSpPr>
          <p:cNvPr id="17" name="Text 12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13개 이론을 한 페이지에. 강의 설계 시작할 때 옆에 두세요.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95298" y="3629254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 / 질문</a:t>
            </a:r>
            <a:endParaRPr lang="en-US" sz="1100" b="1" dirty="0"/>
          </a:p>
        </p:txBody>
      </p:sp>
      <p:sp>
        <p:nvSpPr>
          <p:cNvPr id="19" name="Text 14"/>
          <p:cNvSpPr txBox="1"/>
          <p:nvPr/>
        </p:nvSpPr>
        <p:spPr>
          <a:xfrm>
            <a:off x="5790895" y="3629254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이론</a:t>
            </a:r>
            <a:endParaRPr lang="en-US" sz="1100" b="1" dirty="0"/>
          </a:p>
        </p:txBody>
      </p:sp>
      <p:sp>
        <p:nvSpPr>
          <p:cNvPr id="20" name="Text 15"/>
          <p:cNvSpPr txBox="1"/>
          <p:nvPr/>
        </p:nvSpPr>
        <p:spPr>
          <a:xfrm>
            <a:off x="9791395" y="3629254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적용</a:t>
            </a:r>
            <a:endParaRPr lang="en-US" sz="1100" b="1" dirty="0"/>
          </a:p>
        </p:txBody>
      </p:sp>
      <p:sp>
        <p:nvSpPr>
          <p:cNvPr id="21" name="Text 16"/>
          <p:cNvSpPr txBox="1"/>
          <p:nvPr/>
        </p:nvSpPr>
        <p:spPr>
          <a:xfrm>
            <a:off x="1695298" y="4219956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"학습목표가 모호하다"</a:t>
            </a:r>
            <a:endParaRPr lang="en-US" sz="1600" b="1" dirty="0"/>
          </a:p>
        </p:txBody>
      </p:sp>
      <p:sp>
        <p:nvSpPr>
          <p:cNvPr id="22" name="Text 17"/>
          <p:cNvSpPr txBox="1"/>
          <p:nvPr/>
        </p:nvSpPr>
        <p:spPr>
          <a:xfrm>
            <a:off x="5790895" y="4219956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+ 백워드 설계</a:t>
            </a:r>
            <a:endParaRPr lang="en-US" sz="1600" b="1" dirty="0"/>
          </a:p>
        </p:txBody>
      </p:sp>
      <p:sp>
        <p:nvSpPr>
          <p:cNvPr id="23" name="Text 18"/>
          <p:cNvSpPr txBox="1"/>
          <p:nvPr/>
        </p:nvSpPr>
        <p:spPr>
          <a:xfrm>
            <a:off x="9791395" y="4219956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가능한 동사로 다시 쓰기, 평가 산출물부터 정하기</a:t>
            </a:r>
            <a:endParaRPr lang="en-US" sz="1600" b="1" dirty="0"/>
          </a:p>
        </p:txBody>
      </p:sp>
      <p:sp>
        <p:nvSpPr>
          <p:cNvPr id="24" name="Text 19"/>
          <p:cNvSpPr txBox="1"/>
          <p:nvPr/>
        </p:nvSpPr>
        <p:spPr>
          <a:xfrm>
            <a:off x="1695298" y="4886554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"수강생이 끝나면 결국 안 쓴다"</a:t>
            </a:r>
            <a:endParaRPr lang="en-US" sz="1600" b="1" dirty="0"/>
          </a:p>
        </p:txBody>
      </p:sp>
      <p:sp>
        <p:nvSpPr>
          <p:cNvPr id="25" name="Text 20"/>
          <p:cNvSpPr txBox="1"/>
          <p:nvPr/>
        </p:nvSpPr>
        <p:spPr>
          <a:xfrm>
            <a:off x="5790895" y="4886554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커크패트릭 L3·L4</a:t>
            </a:r>
            <a:endParaRPr lang="en-US" sz="1600" b="1" dirty="0"/>
          </a:p>
        </p:txBody>
      </p:sp>
      <p:sp>
        <p:nvSpPr>
          <p:cNvPr id="26" name="Text 21"/>
          <p:cNvSpPr txBox="1"/>
          <p:nvPr/>
        </p:nvSpPr>
        <p:spPr>
          <a:xfrm>
            <a:off x="9791395" y="4886554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후 follow-up 설계, '내일 회의' 트리거 심기</a:t>
            </a:r>
            <a:endParaRPr lang="en-US" sz="1600" b="1" dirty="0"/>
          </a:p>
        </p:txBody>
      </p:sp>
      <p:sp>
        <p:nvSpPr>
          <p:cNvPr id="27" name="Text 22"/>
          <p:cNvSpPr txBox="1"/>
          <p:nvPr/>
        </p:nvSpPr>
        <p:spPr>
          <a:xfrm>
            <a:off x="1695298" y="5553151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"한 차시 흐름이 들쭉날쭉"</a:t>
            </a:r>
            <a:endParaRPr lang="en-US" sz="1600" b="1" dirty="0"/>
          </a:p>
        </p:txBody>
      </p:sp>
      <p:sp>
        <p:nvSpPr>
          <p:cNvPr id="28" name="Text 23"/>
          <p:cNvSpPr txBox="1"/>
          <p:nvPr/>
        </p:nvSpPr>
        <p:spPr>
          <a:xfrm>
            <a:off x="5790895" y="5553151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Gagné 9단계</a:t>
            </a:r>
            <a:endParaRPr lang="en-US" sz="1600" b="1" dirty="0"/>
          </a:p>
        </p:txBody>
      </p:sp>
      <p:sp>
        <p:nvSpPr>
          <p:cNvPr id="29" name="Text 24"/>
          <p:cNvSpPr txBox="1"/>
          <p:nvPr/>
        </p:nvSpPr>
        <p:spPr>
          <a:xfrm>
            <a:off x="9791395" y="5553151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9단계 체크리스트에 분 단위로 배치 (특히 ①·⑨)</a:t>
            </a:r>
            <a:endParaRPr lang="en-US" sz="1600" b="1" dirty="0"/>
          </a:p>
        </p:txBody>
      </p:sp>
      <p:sp>
        <p:nvSpPr>
          <p:cNvPr id="30" name="Text 25"/>
          <p:cNvSpPr txBox="1"/>
          <p:nvPr/>
        </p:nvSpPr>
        <p:spPr>
          <a:xfrm>
            <a:off x="1695298" y="6219749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"학습자가 듣기만 한다"</a:t>
            </a:r>
            <a:endParaRPr lang="en-US" sz="1600" b="1" dirty="0"/>
          </a:p>
        </p:txBody>
      </p:sp>
      <p:sp>
        <p:nvSpPr>
          <p:cNvPr id="31" name="Text 26"/>
          <p:cNvSpPr txBox="1"/>
          <p:nvPr/>
        </p:nvSpPr>
        <p:spPr>
          <a:xfrm>
            <a:off x="5790895" y="6219749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액티브 러닝 + 플립</a:t>
            </a:r>
            <a:endParaRPr lang="en-US" sz="1600" b="1" dirty="0"/>
          </a:p>
        </p:txBody>
      </p:sp>
      <p:sp>
        <p:nvSpPr>
          <p:cNvPr id="32" name="Text 27"/>
          <p:cNvSpPr txBox="1"/>
          <p:nvPr/>
        </p:nvSpPr>
        <p:spPr>
          <a:xfrm>
            <a:off x="9791395" y="6219749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발언 50% 이하로, 15분에 1번 액티브 활동 심기</a:t>
            </a:r>
            <a:endParaRPr lang="en-US" sz="1600" b="1" dirty="0"/>
          </a:p>
        </p:txBody>
      </p:sp>
      <p:sp>
        <p:nvSpPr>
          <p:cNvPr id="33" name="Text 28"/>
          <p:cNvSpPr txBox="1"/>
          <p:nvPr/>
        </p:nvSpPr>
        <p:spPr>
          <a:xfrm>
            <a:off x="1695298" y="6886346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"수준 격차가 너무 크다"</a:t>
            </a:r>
            <a:endParaRPr lang="en-US" sz="1600" b="1" dirty="0"/>
          </a:p>
        </p:txBody>
      </p:sp>
      <p:sp>
        <p:nvSpPr>
          <p:cNvPr id="34" name="Text 29"/>
          <p:cNvSpPr txBox="1"/>
          <p:nvPr/>
        </p:nvSpPr>
        <p:spPr>
          <a:xfrm>
            <a:off x="5790895" y="6886346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스캐폴딩 + ZPD</a:t>
            </a:r>
            <a:endParaRPr lang="en-US" sz="1600" b="1" dirty="0"/>
          </a:p>
        </p:txBody>
      </p:sp>
      <p:sp>
        <p:nvSpPr>
          <p:cNvPr id="35" name="Text 30"/>
          <p:cNvSpPr txBox="1"/>
          <p:nvPr/>
        </p:nvSpPr>
        <p:spPr>
          <a:xfrm>
            <a:off x="9791395" y="6886346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 fading 비계, AI를 개인 튜터로 배치 (각자 다른 도움 수준)</a:t>
            </a:r>
            <a:endParaRPr lang="en-US" sz="1600" b="1" dirty="0"/>
          </a:p>
        </p:txBody>
      </p:sp>
      <p:sp>
        <p:nvSpPr>
          <p:cNvPr id="36" name="Text 31"/>
          <p:cNvSpPr txBox="1"/>
          <p:nvPr/>
        </p:nvSpPr>
        <p:spPr>
          <a:xfrm>
            <a:off x="1695298" y="7552944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"실무에 못 옮긴다"</a:t>
            </a:r>
            <a:endParaRPr lang="en-US" sz="1600" b="1" dirty="0"/>
          </a:p>
        </p:txBody>
      </p:sp>
      <p:sp>
        <p:nvSpPr>
          <p:cNvPr id="37" name="Text 32"/>
          <p:cNvSpPr txBox="1"/>
          <p:nvPr/>
        </p:nvSpPr>
        <p:spPr>
          <a:xfrm>
            <a:off x="5790895" y="7552944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PBL + 구성주의</a:t>
            </a:r>
            <a:endParaRPr lang="en-US" sz="1600" b="1" dirty="0"/>
          </a:p>
        </p:txBody>
      </p:sp>
      <p:sp>
        <p:nvSpPr>
          <p:cNvPr id="38" name="Text 33"/>
          <p:cNvSpPr txBox="1"/>
          <p:nvPr/>
        </p:nvSpPr>
        <p:spPr>
          <a:xfrm>
            <a:off x="9791395" y="7552944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업무 시나리오로 시작, 학습자 사전 지식을 출발점으로</a:t>
            </a:r>
            <a:endParaRPr lang="en-US" sz="1600" b="1" dirty="0"/>
          </a:p>
        </p:txBody>
      </p:sp>
      <p:sp>
        <p:nvSpPr>
          <p:cNvPr id="39" name="Text 34"/>
          <p:cNvSpPr txBox="1"/>
          <p:nvPr/>
        </p:nvSpPr>
        <p:spPr>
          <a:xfrm>
            <a:off x="1695298" y="8220456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 도구 자랑이 되어버린다"</a:t>
            </a:r>
            <a:endParaRPr lang="en-US" sz="1600" b="1" dirty="0"/>
          </a:p>
        </p:txBody>
      </p:sp>
      <p:sp>
        <p:nvSpPr>
          <p:cNvPr id="40" name="Text 35"/>
          <p:cNvSpPr txBox="1"/>
          <p:nvPr/>
        </p:nvSpPr>
        <p:spPr>
          <a:xfrm>
            <a:off x="5790895" y="8220456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TPACK</a:t>
            </a:r>
            <a:endParaRPr lang="en-US" sz="1600" b="1" dirty="0"/>
          </a:p>
        </p:txBody>
      </p:sp>
      <p:sp>
        <p:nvSpPr>
          <p:cNvPr id="41" name="Text 36"/>
          <p:cNvSpPr txBox="1"/>
          <p:nvPr/>
        </p:nvSpPr>
        <p:spPr>
          <a:xfrm>
            <a:off x="9791395" y="8220456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P·C 균형 점검, 학습목표가 도구가 아니라 행동 변화여야</a:t>
            </a:r>
            <a:endParaRPr lang="en-US" sz="1600" b="1" dirty="0"/>
          </a:p>
        </p:txBody>
      </p:sp>
      <p:sp>
        <p:nvSpPr>
          <p:cNvPr id="42" name="Text 37"/>
          <p:cNvSpPr txBox="1"/>
          <p:nvPr/>
        </p:nvSpPr>
        <p:spPr>
          <a:xfrm>
            <a:off x="1695298" y="8887054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"매번 새 강의 만들기 힘들다"</a:t>
            </a:r>
            <a:endParaRPr lang="en-US" sz="1600" b="1" dirty="0"/>
          </a:p>
        </p:txBody>
      </p:sp>
      <p:sp>
        <p:nvSpPr>
          <p:cNvPr id="43" name="Text 38"/>
          <p:cNvSpPr txBox="1"/>
          <p:nvPr/>
        </p:nvSpPr>
        <p:spPr>
          <a:xfrm>
            <a:off x="5790895" y="8887054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ADDIE / SAM 하이브리드</a:t>
            </a:r>
            <a:endParaRPr lang="en-US" sz="1600" b="1" dirty="0"/>
          </a:p>
        </p:txBody>
      </p:sp>
      <p:sp>
        <p:nvSpPr>
          <p:cNvPr id="44" name="Text 39"/>
          <p:cNvSpPr txBox="1"/>
          <p:nvPr/>
        </p:nvSpPr>
        <p:spPr>
          <a:xfrm>
            <a:off x="9791395" y="8887054"/>
            <a:ext cx="7239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그림은 ADDIE, 차시별 빠른 개선은 SAM 사이클</a:t>
            </a:r>
            <a:endParaRPr lang="en-US" sz="1600" b="1" dirty="0"/>
          </a:p>
        </p:txBody>
      </p:sp>
      <p:sp>
        <p:nvSpPr>
          <p:cNvPr id="45" name="Text 40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 / 62</a:t>
            </a:r>
            <a:endParaRPr lang="en-US" sz="9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632246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353313" y="3328874"/>
            <a:ext cx="15678302" cy="8092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1353313" y="3328874"/>
            <a:ext cx="57607" cy="809244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353313" y="4233215"/>
            <a:ext cx="15678302" cy="8092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353313" y="4233215"/>
            <a:ext cx="57607" cy="809244"/>
          </a:xfrm>
          <a:prstGeom prst="rect">
            <a:avLst/>
          </a:prstGeom>
          <a:solidFill>
            <a:srgbClr val="14254D"/>
          </a:solidFill>
          <a:ln w="12700">
            <a:solidFill>
              <a:srgbClr val="1425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353313" y="5138471"/>
            <a:ext cx="15678302" cy="8092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353313" y="5138471"/>
            <a:ext cx="57607" cy="809244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353313" y="6042813"/>
            <a:ext cx="15678302" cy="8092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1353313" y="6042813"/>
            <a:ext cx="57607" cy="809244"/>
          </a:xfrm>
          <a:prstGeom prst="rect">
            <a:avLst/>
          </a:prstGeom>
          <a:solidFill>
            <a:srgbClr val="2C4275"/>
          </a:solidFill>
          <a:ln w="12700">
            <a:solidFill>
              <a:srgbClr val="2C42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1353313" y="6948069"/>
            <a:ext cx="15678302" cy="8092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1353313" y="6948069"/>
            <a:ext cx="57607" cy="809244"/>
          </a:xfrm>
          <a:prstGeom prst="rect">
            <a:avLst/>
          </a:prstGeom>
          <a:solidFill>
            <a:srgbClr val="3C5793"/>
          </a:solidFill>
          <a:ln w="12700">
            <a:solidFill>
              <a:srgbClr val="3C57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1353313" y="7853325"/>
            <a:ext cx="15678302" cy="8092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1353313" y="7853325"/>
            <a:ext cx="57607" cy="80924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353313" y="8757667"/>
            <a:ext cx="15620695" cy="734262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 · 13개 이론을 강의 1편으로 묶기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강의 한 편을 만드는 7단계</a:t>
            </a:r>
            <a:endParaRPr lang="en-US" sz="5400" dirty="0"/>
          </a:p>
        </p:txBody>
      </p:sp>
      <p:sp>
        <p:nvSpPr>
          <p:cNvPr id="20" name="Text 16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강사가 새 강의 의뢰를 받았을 때 따라가는 실전 순서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686154" y="3538271"/>
            <a:ext cx="8577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000" dirty="0"/>
          </a:p>
        </p:txBody>
      </p:sp>
      <p:sp>
        <p:nvSpPr>
          <p:cNvPr id="22" name="Text 18"/>
          <p:cNvSpPr txBox="1"/>
          <p:nvPr/>
        </p:nvSpPr>
        <p:spPr>
          <a:xfrm>
            <a:off x="2686508" y="3538271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· ADDIE의 A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2686508" y="3823564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"누가 듣는지" 5명만 인터뷰 · 30분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068313" y="3633369"/>
            <a:ext cx="9715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학습자의 현재 ZPD를 파악. 사전 지식 0인지 5인지 안다.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1686154" y="4442613"/>
            <a:ext cx="8577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000" dirty="0"/>
          </a:p>
        </p:txBody>
      </p:sp>
      <p:sp>
        <p:nvSpPr>
          <p:cNvPr id="26" name="Text 22"/>
          <p:cNvSpPr txBox="1"/>
          <p:nvPr/>
        </p:nvSpPr>
        <p:spPr>
          <a:xfrm>
            <a:off x="2686508" y="4442613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 · 백워드 1단계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2686508" y="4728820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Big Idea + ILO 3개 · Bloom L3 이상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7068313" y="4538625"/>
            <a:ext cx="9715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"끝나면 무엇을 할 수 있게 됩니다"가 명확히 측정 가능한 동사로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686154" y="5347869"/>
            <a:ext cx="8577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000" dirty="0"/>
          </a:p>
        </p:txBody>
      </p:sp>
      <p:sp>
        <p:nvSpPr>
          <p:cNvPr id="30" name="Text 26"/>
          <p:cNvSpPr txBox="1"/>
          <p:nvPr/>
        </p:nvSpPr>
        <p:spPr>
          <a:xfrm>
            <a:off x="2686508" y="5347869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증거 · 백워드 2단계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2686508" y="5634076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과제 + 루브릭 + 커크패트릭 L3 측정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7068313" y="5442967"/>
            <a:ext cx="9715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산출물 + 4주 후 행동 측정 1줄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1686154" y="6253125"/>
            <a:ext cx="8577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C42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4000" dirty="0"/>
          </a:p>
        </p:txBody>
      </p:sp>
      <p:sp>
        <p:nvSpPr>
          <p:cNvPr id="34" name="Text 30"/>
          <p:cNvSpPr txBox="1"/>
          <p:nvPr/>
        </p:nvSpPr>
        <p:spPr>
          <a:xfrm>
            <a:off x="2686508" y="6253125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시퀀스 · Gagné 9단계 배치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2686508" y="6538418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 단위로 9개 사건 + 액티브 러닝 3회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7068313" y="6348223"/>
            <a:ext cx="9715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강사 발언 50% 이하, 실습 비중 40% 이상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686154" y="7157467"/>
            <a:ext cx="8577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C57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4000" dirty="0"/>
          </a:p>
        </p:txBody>
      </p:sp>
      <p:sp>
        <p:nvSpPr>
          <p:cNvPr id="38" name="Text 34"/>
          <p:cNvSpPr txBox="1"/>
          <p:nvPr/>
        </p:nvSpPr>
        <p:spPr>
          <a:xfrm>
            <a:off x="2686508" y="7157467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비계 설계 · 스캐폴딩 fading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2686508" y="7443674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시연→템플릿→힌트→자율 4단계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7068313" y="7252564"/>
            <a:ext cx="9715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AI 도구를 각 비계 단계에 맞게 배치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1686154" y="8062723"/>
            <a:ext cx="8577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4000" dirty="0"/>
          </a:p>
        </p:txBody>
      </p:sp>
      <p:sp>
        <p:nvSpPr>
          <p:cNvPr id="42" name="Text 38"/>
          <p:cNvSpPr txBox="1"/>
          <p:nvPr/>
        </p:nvSpPr>
        <p:spPr>
          <a:xfrm>
            <a:off x="2686508" y="8062723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· AI로 자료 생산</a:t>
            </a:r>
            <a:endParaRPr lang="en-US" sz="1600" dirty="0"/>
          </a:p>
        </p:txBody>
      </p:sp>
      <p:sp>
        <p:nvSpPr>
          <p:cNvPr id="43" name="Text 39"/>
          <p:cNvSpPr txBox="1"/>
          <p:nvPr/>
        </p:nvSpPr>
        <p:spPr>
          <a:xfrm>
            <a:off x="2686508" y="8348015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슬라이드·워크북·퀴즈·영상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7068313" y="8157820"/>
            <a:ext cx="9715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초안은 AI, 사례·실패담은 사람 손으로</a:t>
            </a:r>
            <a:endParaRPr lang="en-US" sz="1600" dirty="0"/>
          </a:p>
        </p:txBody>
      </p:sp>
      <p:sp>
        <p:nvSpPr>
          <p:cNvPr id="45" name="Text 41"/>
          <p:cNvSpPr txBox="1"/>
          <p:nvPr/>
        </p:nvSpPr>
        <p:spPr>
          <a:xfrm>
            <a:off x="1686154" y="8871967"/>
            <a:ext cx="8577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4000" dirty="0"/>
          </a:p>
        </p:txBody>
      </p:sp>
      <p:sp>
        <p:nvSpPr>
          <p:cNvPr id="46" name="Text 42"/>
          <p:cNvSpPr txBox="1"/>
          <p:nvPr/>
        </p:nvSpPr>
        <p:spPr>
          <a:xfrm>
            <a:off x="2686508" y="8919515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→ 회고 → v2.0 · SAM 사이클</a:t>
            </a:r>
            <a:endParaRPr lang="en-US" sz="1600" dirty="0"/>
          </a:p>
        </p:txBody>
      </p:sp>
      <p:sp>
        <p:nvSpPr>
          <p:cNvPr id="47" name="Text 43"/>
          <p:cNvSpPr txBox="1"/>
          <p:nvPr/>
        </p:nvSpPr>
        <p:spPr>
          <a:xfrm>
            <a:off x="7068313" y="9014613"/>
            <a:ext cx="9715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매 운영 후 30분 회고. 다음 회차 v1.1, v1.2…</a:t>
            </a:r>
            <a:endParaRPr lang="en-US" sz="1600" dirty="0"/>
          </a:p>
        </p:txBody>
      </p:sp>
      <p:sp>
        <p:nvSpPr>
          <p:cNvPr id="48" name="Text 44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 / 62</a:t>
            </a:r>
            <a:endParaRPr lang="en-US" sz="9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7054798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314700"/>
            <a:ext cx="7524598" cy="5905195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9315907" y="3696005"/>
            <a:ext cx="7772400" cy="18095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9315907" y="3696005"/>
            <a:ext cx="57607" cy="180959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9315907" y="5600700"/>
            <a:ext cx="7772400" cy="18095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315907" y="5600700"/>
            <a:ext cx="57607" cy="1809598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9315907" y="7505395"/>
            <a:ext cx="7772400" cy="1809598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9315907" y="7505395"/>
            <a:ext cx="57607" cy="180959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6f7f7cbfa4d19992f807c7b49540dcf7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790395" y="8172907"/>
            <a:ext cx="571500" cy="192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KNOW-HOW 01 · 첫 강의 5분 (GAGNÉ ① 응용)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강의의 운명은 첫 5분에 결정됩니다</a:t>
            </a:r>
            <a:endParaRPr lang="en-US" sz="5400" dirty="0"/>
          </a:p>
        </p:txBody>
      </p:sp>
      <p:sp>
        <p:nvSpPr>
          <p:cNvPr id="15" name="Text 10"/>
          <p:cNvSpPr txBox="1"/>
          <p:nvPr/>
        </p:nvSpPr>
        <p:spPr>
          <a:xfrm>
            <a:off x="1790395" y="3696005"/>
            <a:ext cx="6762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노하우 · 익혀 둘 것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790395" y="4172407"/>
            <a:ext cx="1143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10500" dirty="0"/>
          </a:p>
        </p:txBody>
      </p:sp>
      <p:sp>
        <p:nvSpPr>
          <p:cNvPr id="17" name="Text 12"/>
          <p:cNvSpPr txBox="1"/>
          <p:nvPr/>
        </p:nvSpPr>
        <p:spPr>
          <a:xfrm>
            <a:off x="1898345" y="4933644"/>
            <a:ext cx="6762902" cy="266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2500" b="1" dirty="0">
                <a:solidFill>
                  <a:schemeClr val="bg1"/>
                </a:solidFill>
              </a:rPr>
              <a:t>식상한 인사</a:t>
            </a:r>
            <a:r>
              <a:rPr lang="en-US" altLang="ko-KR" sz="2500" b="1" dirty="0">
                <a:solidFill>
                  <a:schemeClr val="bg1"/>
                </a:solidFill>
              </a:rPr>
              <a:t>, </a:t>
            </a:r>
            <a:r>
              <a:rPr lang="ko-KR" altLang="en-US" sz="2500" b="1" dirty="0">
                <a:solidFill>
                  <a:schemeClr val="bg1"/>
                </a:solidFill>
              </a:rPr>
              <a:t>소개</a:t>
            </a:r>
            <a:r>
              <a:rPr lang="en-US" altLang="ko-KR" sz="2500" b="1" dirty="0">
                <a:solidFill>
                  <a:schemeClr val="bg1"/>
                </a:solidFill>
              </a:rPr>
              <a:t>, </a:t>
            </a:r>
            <a:r>
              <a:rPr lang="ko-KR" altLang="en-US" sz="2500" b="1" dirty="0">
                <a:solidFill>
                  <a:schemeClr val="bg1"/>
                </a:solidFill>
              </a:rPr>
              <a:t>자랑보다</a:t>
            </a:r>
            <a:endParaRPr lang="en-US" altLang="ko-KR" sz="25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2500" b="1" dirty="0">
                <a:solidFill>
                  <a:schemeClr val="bg1"/>
                </a:solidFill>
              </a:rPr>
              <a:t>바로 주제</a:t>
            </a:r>
            <a:r>
              <a:rPr lang="en-US" altLang="ko-KR" sz="2500" b="1" dirty="0">
                <a:solidFill>
                  <a:schemeClr val="bg1"/>
                </a:solidFill>
              </a:rPr>
              <a:t>, </a:t>
            </a:r>
            <a:r>
              <a:rPr lang="ko-KR" altLang="en-US" sz="2500" b="1" dirty="0">
                <a:solidFill>
                  <a:schemeClr val="bg1"/>
                </a:solidFill>
              </a:rPr>
              <a:t>학습내용을 언급하세요</a:t>
            </a:r>
            <a:r>
              <a:rPr lang="en-US" altLang="ko-KR" sz="2500" b="1" dirty="0">
                <a:solidFill>
                  <a:schemeClr val="bg1"/>
                </a:solidFill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5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2500" b="1" dirty="0">
                <a:solidFill>
                  <a:schemeClr val="bg1"/>
                </a:solidFill>
              </a:rPr>
              <a:t>인사부터 밝은 표정과 목소리로 집중시켜야</a:t>
            </a:r>
            <a:endParaRPr lang="en-US" altLang="ko-KR" sz="25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2500" b="1" dirty="0">
                <a:solidFill>
                  <a:schemeClr val="bg1"/>
                </a:solidFill>
              </a:rPr>
              <a:t>강의에 호기심</a:t>
            </a:r>
            <a:r>
              <a:rPr lang="en-US" altLang="ko-KR" sz="2500" b="1" dirty="0">
                <a:solidFill>
                  <a:schemeClr val="bg1"/>
                </a:solidFill>
              </a:rPr>
              <a:t>, </a:t>
            </a:r>
            <a:r>
              <a:rPr lang="ko-KR" altLang="en-US" sz="2500" b="1" dirty="0">
                <a:solidFill>
                  <a:schemeClr val="bg1"/>
                </a:solidFill>
              </a:rPr>
              <a:t>관심을 가지게 됩니다</a:t>
            </a:r>
            <a:r>
              <a:rPr lang="en-US" altLang="ko-KR" sz="2500" b="1" dirty="0">
                <a:solidFill>
                  <a:schemeClr val="bg1"/>
                </a:solidFill>
              </a:rPr>
              <a:t>. </a:t>
            </a:r>
            <a:endParaRPr lang="en-US" sz="2500" b="1" dirty="0">
              <a:solidFill>
                <a:schemeClr val="bg1"/>
              </a:solidFill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1790395" y="8458200"/>
            <a:ext cx="6762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현장 강사의 메모에서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9315907" y="3314700"/>
            <a:ext cx="7715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쓰는 첫 5분 오프닝 3가지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601200" y="3933749"/>
            <a:ext cx="7040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000" dirty="0"/>
          </a:p>
        </p:txBody>
      </p:sp>
      <p:sp>
        <p:nvSpPr>
          <p:cNvPr id="21" name="Text 16"/>
          <p:cNvSpPr txBox="1"/>
          <p:nvPr/>
        </p:nvSpPr>
        <p:spPr>
          <a:xfrm>
            <a:off x="10362895" y="3981298"/>
            <a:ext cx="6477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충격 시연 (Demo Bomb)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62895" y="4315054"/>
            <a:ext cx="6477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"이 5장짜리 PPT, AI로 47초 만에 만든 겁니다."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자랑하지</a:t>
            </a: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않고 결과만 보여줌. 학습자의 "어떻게?!"를 끌어냄.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Gagné 1번 주의 끌기. 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9601200" y="5838444"/>
            <a:ext cx="7040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000" dirty="0"/>
          </a:p>
        </p:txBody>
      </p:sp>
      <p:sp>
        <p:nvSpPr>
          <p:cNvPr id="24" name="Text 19"/>
          <p:cNvSpPr txBox="1"/>
          <p:nvPr/>
        </p:nvSpPr>
        <p:spPr>
          <a:xfrm>
            <a:off x="10362895" y="5886907"/>
            <a:ext cx="6477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불편한 진실 (Hard Truth)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0362895" y="6219749"/>
            <a:ext cx="6477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"초보 AI 강의는 도구 소개로 끝나기 쉽습니다."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가벼운</a:t>
            </a: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자기 디스로 시작하면 학습자가 방어 풀고 듣기 시작.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사전 지식 회상 동시에 자극. 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9601200" y="7744054"/>
            <a:ext cx="7040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000" dirty="0"/>
          </a:p>
        </p:txBody>
      </p:sp>
      <p:sp>
        <p:nvSpPr>
          <p:cNvPr id="27" name="Text 22"/>
          <p:cNvSpPr txBox="1"/>
          <p:nvPr/>
        </p:nvSpPr>
        <p:spPr>
          <a:xfrm>
            <a:off x="10362895" y="7791602"/>
            <a:ext cx="6477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질문 (Quick Poll)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0362895" y="8124444"/>
            <a:ext cx="6477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"ChatGPT 유료 쓰시는 분 채팅에 1, 무료 2." 30초 안에 대부분이 답하고, 강사는 ZPD 진단까지 끝낸 상태로 본 강의 시작.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 / 62</a:t>
            </a:r>
            <a:endParaRPr lang="en-US" sz="9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1938600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4172407"/>
            <a:ext cx="15620695" cy="571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endParaRPr lang="ko-KR" altLang="en-US" sz="3200"/>
          </a:p>
        </p:txBody>
      </p:sp>
      <p:sp>
        <p:nvSpPr>
          <p:cNvPr id="6" name="Shape 2"/>
          <p:cNvSpPr/>
          <p:nvPr/>
        </p:nvSpPr>
        <p:spPr>
          <a:xfrm>
            <a:off x="1410005" y="5600700"/>
            <a:ext cx="4990795" cy="1619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7" name="Shape 3"/>
          <p:cNvSpPr/>
          <p:nvPr/>
        </p:nvSpPr>
        <p:spPr>
          <a:xfrm>
            <a:off x="1410005" y="5600700"/>
            <a:ext cx="38405" cy="1619402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6743700" y="5600700"/>
            <a:ext cx="4990795" cy="1619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6743700" y="5600700"/>
            <a:ext cx="38405" cy="1619402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0" name="Shape 6"/>
          <p:cNvSpPr/>
          <p:nvPr/>
        </p:nvSpPr>
        <p:spPr>
          <a:xfrm>
            <a:off x="12077395" y="5600700"/>
            <a:ext cx="4990795" cy="1619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1" name="Shape 7"/>
          <p:cNvSpPr/>
          <p:nvPr/>
        </p:nvSpPr>
        <p:spPr>
          <a:xfrm>
            <a:off x="12077395" y="5600700"/>
            <a:ext cx="38405" cy="1619402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2" name="Shape 8"/>
          <p:cNvSpPr/>
          <p:nvPr/>
        </p:nvSpPr>
        <p:spPr>
          <a:xfrm>
            <a:off x="1410005" y="7410298"/>
            <a:ext cx="4990795" cy="1619402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3" name="Shape 9"/>
          <p:cNvSpPr/>
          <p:nvPr/>
        </p:nvSpPr>
        <p:spPr>
          <a:xfrm>
            <a:off x="1410005" y="7410298"/>
            <a:ext cx="38405" cy="161940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4" name="Shape 10"/>
          <p:cNvSpPr/>
          <p:nvPr/>
        </p:nvSpPr>
        <p:spPr>
          <a:xfrm>
            <a:off x="6743700" y="7410298"/>
            <a:ext cx="4990795" cy="1619402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5" name="Shape 11"/>
          <p:cNvSpPr/>
          <p:nvPr/>
        </p:nvSpPr>
        <p:spPr>
          <a:xfrm>
            <a:off x="6743700" y="7410298"/>
            <a:ext cx="38405" cy="161940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6" name="Shape 12"/>
          <p:cNvSpPr/>
          <p:nvPr/>
        </p:nvSpPr>
        <p:spPr>
          <a:xfrm>
            <a:off x="12077395" y="7410298"/>
            <a:ext cx="4990795" cy="1619402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7" name="Shape 13"/>
          <p:cNvSpPr/>
          <p:nvPr/>
        </p:nvSpPr>
        <p:spPr>
          <a:xfrm>
            <a:off x="12077395" y="7410298"/>
            <a:ext cx="38405" cy="161940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8" name="Shape 14"/>
          <p:cNvSpPr/>
          <p:nvPr/>
        </p:nvSpPr>
        <p:spPr>
          <a:xfrm>
            <a:off x="1410005" y="4172407"/>
            <a:ext cx="2076602" cy="571500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endParaRPr lang="ko-KR" altLang="en-US" sz="3200"/>
          </a:p>
        </p:txBody>
      </p:sp>
      <p:sp>
        <p:nvSpPr>
          <p:cNvPr id="19" name="Shape 15"/>
          <p:cNvSpPr/>
          <p:nvPr/>
        </p:nvSpPr>
        <p:spPr>
          <a:xfrm>
            <a:off x="3486607" y="4172407"/>
            <a:ext cx="476402" cy="5715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endParaRPr lang="ko-KR" altLang="en-US" sz="3200"/>
          </a:p>
        </p:txBody>
      </p:sp>
      <p:sp>
        <p:nvSpPr>
          <p:cNvPr id="20" name="Shape 16"/>
          <p:cNvSpPr/>
          <p:nvPr/>
        </p:nvSpPr>
        <p:spPr>
          <a:xfrm>
            <a:off x="3962095" y="4172407"/>
            <a:ext cx="2076602" cy="571500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endParaRPr lang="ko-KR" altLang="en-US" sz="3200"/>
          </a:p>
        </p:txBody>
      </p:sp>
      <p:sp>
        <p:nvSpPr>
          <p:cNvPr id="21" name="Shape 17"/>
          <p:cNvSpPr/>
          <p:nvPr/>
        </p:nvSpPr>
        <p:spPr>
          <a:xfrm>
            <a:off x="6038698" y="4172407"/>
            <a:ext cx="476402" cy="5715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endParaRPr lang="ko-KR" altLang="en-US" sz="3200"/>
          </a:p>
        </p:txBody>
      </p:sp>
      <p:sp>
        <p:nvSpPr>
          <p:cNvPr id="22" name="Shape 18"/>
          <p:cNvSpPr/>
          <p:nvPr/>
        </p:nvSpPr>
        <p:spPr>
          <a:xfrm>
            <a:off x="6515100" y="4172407"/>
            <a:ext cx="2076602" cy="571500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endParaRPr lang="ko-KR" altLang="en-US" sz="3200"/>
          </a:p>
        </p:txBody>
      </p:sp>
      <p:sp>
        <p:nvSpPr>
          <p:cNvPr id="23" name="Shape 19"/>
          <p:cNvSpPr/>
          <p:nvPr/>
        </p:nvSpPr>
        <p:spPr>
          <a:xfrm>
            <a:off x="8591702" y="4172407"/>
            <a:ext cx="476402" cy="5715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endParaRPr lang="ko-KR" altLang="en-US" sz="3200"/>
          </a:p>
        </p:txBody>
      </p:sp>
      <p:sp>
        <p:nvSpPr>
          <p:cNvPr id="24" name="Shape 20"/>
          <p:cNvSpPr/>
          <p:nvPr/>
        </p:nvSpPr>
        <p:spPr>
          <a:xfrm>
            <a:off x="9068105" y="4172407"/>
            <a:ext cx="2076602" cy="571500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endParaRPr lang="ko-KR" altLang="en-US" sz="3200"/>
          </a:p>
        </p:txBody>
      </p:sp>
      <p:sp>
        <p:nvSpPr>
          <p:cNvPr id="25" name="Shape 21"/>
          <p:cNvSpPr/>
          <p:nvPr/>
        </p:nvSpPr>
        <p:spPr>
          <a:xfrm>
            <a:off x="11144707" y="4172407"/>
            <a:ext cx="476402" cy="5715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endParaRPr lang="ko-KR" altLang="en-US" sz="3200"/>
          </a:p>
        </p:txBody>
      </p:sp>
      <p:sp>
        <p:nvSpPr>
          <p:cNvPr id="26" name="Shape 22"/>
          <p:cNvSpPr/>
          <p:nvPr/>
        </p:nvSpPr>
        <p:spPr>
          <a:xfrm>
            <a:off x="11620195" y="4172407"/>
            <a:ext cx="2076602" cy="571500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endParaRPr lang="ko-KR" altLang="en-US" sz="3200"/>
          </a:p>
        </p:txBody>
      </p:sp>
      <p:sp>
        <p:nvSpPr>
          <p:cNvPr id="27" name="Shape 23"/>
          <p:cNvSpPr/>
          <p:nvPr/>
        </p:nvSpPr>
        <p:spPr>
          <a:xfrm>
            <a:off x="13696798" y="4172407"/>
            <a:ext cx="476402" cy="5715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endParaRPr lang="ko-KR" altLang="en-US" sz="3200"/>
          </a:p>
        </p:txBody>
      </p:sp>
      <p:sp>
        <p:nvSpPr>
          <p:cNvPr id="28" name="Shape 24"/>
          <p:cNvSpPr/>
          <p:nvPr/>
        </p:nvSpPr>
        <p:spPr>
          <a:xfrm>
            <a:off x="14173200" y="4172407"/>
            <a:ext cx="2857500" cy="571500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</a:pPr>
            <a:endParaRPr lang="ko-KR" altLang="en-US" sz="3200"/>
          </a:p>
        </p:txBody>
      </p:sp>
      <p:sp>
        <p:nvSpPr>
          <p:cNvPr id="29" name="Text 25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KNOW-HOW 02 · 청중 장악 (액티브러닝 응용)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강의실은 금세 흐트러집니다</a:t>
            </a:r>
            <a:endParaRPr lang="en-US" sz="5400" dirty="0"/>
          </a:p>
        </p:txBody>
      </p:sp>
      <p:sp>
        <p:nvSpPr>
          <p:cNvPr id="31" name="Text 27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 한계를 몇 분으로 못박는 근거는 약합니다. 그래도 8분 안팎마다 '리부트'를 넣어 둡니다.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1410005" y="3696005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8-MIN REBOOT TECHNIQUE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1600200" y="4362602"/>
            <a:ext cx="171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0–8분 · 강의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3524098" y="4362602"/>
            <a:ext cx="4005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↻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4153205" y="4362602"/>
            <a:ext cx="171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8–16분 · 강의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6077102" y="4362602"/>
            <a:ext cx="4005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↻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6705295" y="4362602"/>
            <a:ext cx="171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16–24분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8630107" y="4362602"/>
            <a:ext cx="4005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↻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9258300" y="4362602"/>
            <a:ext cx="171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24–32분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11182198" y="4362602"/>
            <a:ext cx="4005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↻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11811305" y="4362602"/>
            <a:ext cx="171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32–40분</a:t>
            </a:r>
            <a:endParaRPr lang="en-US" sz="1400" dirty="0"/>
          </a:p>
        </p:txBody>
      </p:sp>
      <p:sp>
        <p:nvSpPr>
          <p:cNvPr id="42" name="Text 38"/>
          <p:cNvSpPr txBox="1"/>
          <p:nvPr/>
        </p:nvSpPr>
        <p:spPr>
          <a:xfrm>
            <a:off x="13735202" y="4362602"/>
            <a:ext cx="4005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↻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14363395" y="4362602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40–60분 · 마무리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1410005" y="4934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↻ = 8분마다 '리부트 활동' 한 번. 60분 강의에 5~7번.</a:t>
            </a:r>
            <a:endParaRPr lang="en-US" sz="1600" dirty="0"/>
          </a:p>
        </p:txBody>
      </p:sp>
      <p:sp>
        <p:nvSpPr>
          <p:cNvPr id="45" name="Text 41"/>
          <p:cNvSpPr txBox="1"/>
          <p:nvPr/>
        </p:nvSpPr>
        <p:spPr>
          <a:xfrm>
            <a:off x="1695298" y="5790895"/>
            <a:ext cx="4381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REBOOT 01 · 30초</a:t>
            </a:r>
            <a:endParaRPr lang="en-US" sz="1050" dirty="0"/>
          </a:p>
        </p:txBody>
      </p:sp>
      <p:sp>
        <p:nvSpPr>
          <p:cNvPr id="46" name="Text 42"/>
          <p:cNvSpPr txBox="1"/>
          <p:nvPr/>
        </p:nvSpPr>
        <p:spPr>
          <a:xfrm>
            <a:off x="1695298" y="6077102"/>
            <a:ext cx="4381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채팅 한 줄</a:t>
            </a:r>
            <a:endParaRPr lang="en-US" sz="2000" dirty="0"/>
          </a:p>
        </p:txBody>
      </p:sp>
      <p:sp>
        <p:nvSpPr>
          <p:cNvPr id="47" name="Text 43"/>
          <p:cNvSpPr txBox="1"/>
          <p:nvPr/>
        </p:nvSpPr>
        <p:spPr>
          <a:xfrm>
            <a:off x="1695298" y="6458407"/>
            <a:ext cx="4381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"여기까지 헷갈리는 분 1, 다 따라온 분 2 채팅"</a:t>
            </a:r>
            <a:endParaRPr lang="en-US" sz="1600" dirty="0"/>
          </a:p>
        </p:txBody>
      </p:sp>
      <p:sp>
        <p:nvSpPr>
          <p:cNvPr id="48" name="Text 44"/>
          <p:cNvSpPr txBox="1"/>
          <p:nvPr/>
        </p:nvSpPr>
        <p:spPr>
          <a:xfrm>
            <a:off x="7029907" y="5790895"/>
            <a:ext cx="4381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REBOOT 02 · 1분</a:t>
            </a:r>
            <a:endParaRPr lang="en-US" sz="1050" dirty="0"/>
          </a:p>
        </p:txBody>
      </p:sp>
      <p:sp>
        <p:nvSpPr>
          <p:cNvPr id="49" name="Text 45"/>
          <p:cNvSpPr txBox="1"/>
          <p:nvPr/>
        </p:nvSpPr>
        <p:spPr>
          <a:xfrm>
            <a:off x="7029907" y="6077102"/>
            <a:ext cx="4381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Slido 라이브 폴</a:t>
            </a:r>
            <a:endParaRPr lang="en-US" sz="2000" dirty="0"/>
          </a:p>
        </p:txBody>
      </p:sp>
      <p:sp>
        <p:nvSpPr>
          <p:cNvPr id="50" name="Text 46"/>
          <p:cNvSpPr txBox="1"/>
          <p:nvPr/>
        </p:nvSpPr>
        <p:spPr>
          <a:xfrm>
            <a:off x="7029907" y="6458407"/>
            <a:ext cx="4381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 객관식 1문항. 정답 공개 전 토론 30초.</a:t>
            </a:r>
            <a:endParaRPr lang="en-US" sz="1600" dirty="0"/>
          </a:p>
        </p:txBody>
      </p:sp>
      <p:sp>
        <p:nvSpPr>
          <p:cNvPr id="51" name="Text 47"/>
          <p:cNvSpPr txBox="1"/>
          <p:nvPr/>
        </p:nvSpPr>
        <p:spPr>
          <a:xfrm>
            <a:off x="12363602" y="5790895"/>
            <a:ext cx="4381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REBOOT 03 · 2분</a:t>
            </a:r>
            <a:endParaRPr lang="en-US" sz="1050" dirty="0"/>
          </a:p>
        </p:txBody>
      </p:sp>
      <p:sp>
        <p:nvSpPr>
          <p:cNvPr id="52" name="Text 48"/>
          <p:cNvSpPr txBox="1"/>
          <p:nvPr/>
        </p:nvSpPr>
        <p:spPr>
          <a:xfrm>
            <a:off x="12363602" y="6077102"/>
            <a:ext cx="4381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Think-Pair-Share</a:t>
            </a:r>
            <a:endParaRPr lang="en-US" sz="2000" dirty="0"/>
          </a:p>
        </p:txBody>
      </p:sp>
      <p:sp>
        <p:nvSpPr>
          <p:cNvPr id="53" name="Text 49"/>
          <p:cNvSpPr txBox="1"/>
          <p:nvPr/>
        </p:nvSpPr>
        <p:spPr>
          <a:xfrm>
            <a:off x="12363602" y="6458407"/>
            <a:ext cx="4381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Breakout 2명 90초. 한 줄 답 화면으로</a:t>
            </a:r>
            <a:endParaRPr lang="en-US" sz="1600" dirty="0"/>
          </a:p>
        </p:txBody>
      </p:sp>
      <p:sp>
        <p:nvSpPr>
          <p:cNvPr id="54" name="Text 50"/>
          <p:cNvSpPr txBox="1"/>
          <p:nvPr/>
        </p:nvSpPr>
        <p:spPr>
          <a:xfrm>
            <a:off x="1695298" y="7601407"/>
            <a:ext cx="4381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REBOOT 04 · 30초</a:t>
            </a:r>
            <a:endParaRPr lang="en-US" sz="1050" dirty="0"/>
          </a:p>
        </p:txBody>
      </p:sp>
      <p:sp>
        <p:nvSpPr>
          <p:cNvPr id="55" name="Text 51"/>
          <p:cNvSpPr txBox="1"/>
          <p:nvPr/>
        </p:nvSpPr>
        <p:spPr>
          <a:xfrm>
            <a:off x="1695298" y="7886700"/>
            <a:ext cx="4381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호명</a:t>
            </a:r>
            <a:endParaRPr lang="en-US" sz="2000" dirty="0"/>
          </a:p>
        </p:txBody>
      </p:sp>
      <p:sp>
        <p:nvSpPr>
          <p:cNvPr id="56" name="Text 52"/>
          <p:cNvSpPr txBox="1"/>
          <p:nvPr/>
        </p:nvSpPr>
        <p:spPr>
          <a:xfrm>
            <a:off x="1695298" y="8268005"/>
            <a:ext cx="46039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"OO님, 방금 거 어떻게 보세요?" - 주의가 돌아옴</a:t>
            </a:r>
            <a:endParaRPr lang="en-US" sz="1600" dirty="0"/>
          </a:p>
        </p:txBody>
      </p:sp>
      <p:sp>
        <p:nvSpPr>
          <p:cNvPr id="57" name="Text 53"/>
          <p:cNvSpPr txBox="1"/>
          <p:nvPr/>
        </p:nvSpPr>
        <p:spPr>
          <a:xfrm>
            <a:off x="7029907" y="7601407"/>
            <a:ext cx="4381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REBOOT 05 · 1분</a:t>
            </a:r>
            <a:endParaRPr lang="en-US" sz="1050" dirty="0"/>
          </a:p>
        </p:txBody>
      </p:sp>
      <p:sp>
        <p:nvSpPr>
          <p:cNvPr id="58" name="Text 54"/>
          <p:cNvSpPr txBox="1"/>
          <p:nvPr/>
        </p:nvSpPr>
        <p:spPr>
          <a:xfrm>
            <a:off x="7029907" y="7886700"/>
            <a:ext cx="4381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코딩/시연</a:t>
            </a:r>
            <a:endParaRPr lang="en-US" sz="2000" dirty="0"/>
          </a:p>
        </p:txBody>
      </p:sp>
      <p:sp>
        <p:nvSpPr>
          <p:cNvPr id="59" name="Text 55"/>
          <p:cNvSpPr txBox="1"/>
          <p:nvPr/>
        </p:nvSpPr>
        <p:spPr>
          <a:xfrm>
            <a:off x="7029907" y="8268005"/>
            <a:ext cx="4381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학습자가 입력값 정하고 강사가 즉시 시연</a:t>
            </a:r>
            <a:endParaRPr lang="en-US" sz="1600" dirty="0"/>
          </a:p>
        </p:txBody>
      </p:sp>
      <p:sp>
        <p:nvSpPr>
          <p:cNvPr id="60" name="Text 56"/>
          <p:cNvSpPr txBox="1"/>
          <p:nvPr/>
        </p:nvSpPr>
        <p:spPr>
          <a:xfrm>
            <a:off x="12363602" y="7601407"/>
            <a:ext cx="4381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REBOOT 06 · 30초</a:t>
            </a:r>
            <a:endParaRPr lang="en-US" sz="1050" dirty="0"/>
          </a:p>
        </p:txBody>
      </p:sp>
      <p:sp>
        <p:nvSpPr>
          <p:cNvPr id="61" name="Text 57"/>
          <p:cNvSpPr txBox="1"/>
          <p:nvPr/>
        </p:nvSpPr>
        <p:spPr>
          <a:xfrm>
            <a:off x="12363602" y="7886700"/>
            <a:ext cx="4381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이모지 한 줄</a:t>
            </a:r>
            <a:endParaRPr lang="en-US" sz="2000" dirty="0"/>
          </a:p>
        </p:txBody>
      </p:sp>
      <p:sp>
        <p:nvSpPr>
          <p:cNvPr id="62" name="Text 58"/>
          <p:cNvSpPr txBox="1"/>
          <p:nvPr/>
        </p:nvSpPr>
        <p:spPr>
          <a:xfrm>
            <a:off x="12363602" y="8268005"/>
            <a:ext cx="4381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"지금 기분 이모지 1개로." 가볍지만 효과 있음</a:t>
            </a:r>
            <a:endParaRPr lang="en-US" sz="1600" dirty="0"/>
          </a:p>
        </p:txBody>
      </p:sp>
      <p:sp>
        <p:nvSpPr>
          <p:cNvPr id="63" name="Text 59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8분마다 학습자에게 '주도권을 1초만 넘기는' 행위. 짧을수록 좋습니다.</a:t>
            </a:r>
            <a:endParaRPr lang="en-US" sz="1400" dirty="0"/>
          </a:p>
        </p:txBody>
      </p:sp>
      <p:sp>
        <p:nvSpPr>
          <p:cNvPr id="64" name="Text 60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 / 62</a:t>
            </a:r>
            <a:endParaRPr lang="en-US" sz="1050" dirty="0"/>
          </a:p>
        </p:txBody>
      </p:sp>
      <p:sp>
        <p:nvSpPr>
          <p:cNvPr id="65" name="출처 각주"/>
          <p:cNvSpPr txBox="1"/>
          <p:nvPr/>
        </p:nvSpPr>
        <p:spPr>
          <a:xfrm>
            <a:off x="1463040" y="9926955"/>
            <a:ext cx="14447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· Bradbury, N. A. (2016). Attention span during lectures: 8 seconds, 10 minutes, or more? Advances in Physiology Education, 40(4), 509–513</a:t>
            </a:r>
            <a:endParaRPr lang="en-US" sz="1050" dirty="0"/>
          </a:p>
        </p:txBody>
      </p:sp>
      <p:sp>
        <p:nvSpPr>
          <p:cNvPr id="6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65935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3810305" cy="5333695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5410505" y="3696005"/>
            <a:ext cx="3810305" cy="5333695"/>
          </a:xfrm>
          <a:prstGeom prst="rect">
            <a:avLst/>
          </a:prstGeom>
          <a:solidFill>
            <a:srgbClr val="1425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9411005" y="3696005"/>
            <a:ext cx="3810305" cy="5333695"/>
          </a:xfrm>
          <a:prstGeom prst="rect">
            <a:avLst/>
          </a:prstGeom>
          <a:solidFill>
            <a:srgbClr val="1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3411505" y="3696005"/>
            <a:ext cx="3619195" cy="533369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202c3c3f7ee2f0e484fdb5cd1bbb0fbc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1695298" y="5219395"/>
            <a:ext cx="476402" cy="19202"/>
          </a:xfrm>
          <a:prstGeom prst="rect">
            <a:avLst/>
          </a:prstGeom>
        </p:spPr>
      </p:pic>
      <p:pic>
        <p:nvPicPr>
          <p:cNvPr id="10" name="Image 3" descr="gen-dedup-202c3c3f7ee2f0e484fdb5cd1bbb0fbc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95798" y="5219395"/>
            <a:ext cx="476402" cy="19202"/>
          </a:xfrm>
          <a:prstGeom prst="rect">
            <a:avLst/>
          </a:prstGeom>
        </p:spPr>
      </p:pic>
      <p:pic>
        <p:nvPicPr>
          <p:cNvPr id="11" name="Image 4" descr="gen-dedup-202c3c3f7ee2f0e484fdb5cd1bbb0fbc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9696298" y="5219395"/>
            <a:ext cx="476402" cy="19202"/>
          </a:xfrm>
          <a:prstGeom prst="rect">
            <a:avLst/>
          </a:prstGeom>
        </p:spPr>
      </p:pic>
      <p:pic>
        <p:nvPicPr>
          <p:cNvPr id="12" name="Image 5" descr="gen-dedup-2fcc955cea620e348623ec4cacfa40bf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13696798" y="5219395"/>
            <a:ext cx="476402" cy="19202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KNOW-HOW 03 · Q&amp;A 대응 (스캐폴딩 응용)</a:t>
            </a:r>
            <a:endParaRPr lang="en-US" sz="1000" dirty="0"/>
          </a:p>
        </p:txBody>
      </p:sp>
      <p:sp>
        <p:nvSpPr>
          <p:cNvPr id="14" name="Text 6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못한 질문이 가장 무서운 순간</a:t>
            </a:r>
            <a:endParaRPr lang="en-US" sz="5400" dirty="0"/>
          </a:p>
        </p:txBody>
      </p:sp>
      <p:sp>
        <p:nvSpPr>
          <p:cNvPr id="15" name="Text 7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답하지 마세요. 답을 모를 때 강사를 살리는 4단계 대응 패턴.</a:t>
            </a:r>
            <a:endParaRPr lang="en-US" sz="1600" dirty="0"/>
          </a:p>
        </p:txBody>
      </p:sp>
      <p:sp>
        <p:nvSpPr>
          <p:cNvPr id="16" name="Text 8"/>
          <p:cNvSpPr txBox="1"/>
          <p:nvPr/>
        </p:nvSpPr>
        <p:spPr>
          <a:xfrm>
            <a:off x="1695298" y="39812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01 · 3초</a:t>
            </a:r>
            <a:endParaRPr lang="en-US" sz="900" dirty="0"/>
          </a:p>
        </p:txBody>
      </p:sp>
      <p:sp>
        <p:nvSpPr>
          <p:cNvPr id="17" name="Text 9"/>
          <p:cNvSpPr txBox="1"/>
          <p:nvPr/>
        </p:nvSpPr>
        <p:spPr>
          <a:xfrm>
            <a:off x="1695298" y="4315054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멈추기</a:t>
            </a:r>
            <a:endParaRPr lang="en-US" sz="6000" dirty="0"/>
          </a:p>
        </p:txBody>
      </p:sp>
      <p:sp>
        <p:nvSpPr>
          <p:cNvPr id="18" name="Text 10"/>
          <p:cNvSpPr txBox="1"/>
          <p:nvPr/>
        </p:nvSpPr>
        <p:spPr>
          <a:xfrm>
            <a:off x="1695298" y="5505602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SAY</a:t>
            </a:r>
            <a:endParaRPr lang="en-US" sz="900" dirty="0"/>
          </a:p>
        </p:txBody>
      </p:sp>
      <p:sp>
        <p:nvSpPr>
          <p:cNvPr id="19" name="Text 11"/>
          <p:cNvSpPr txBox="1"/>
          <p:nvPr/>
        </p:nvSpPr>
        <p:spPr>
          <a:xfrm>
            <a:off x="1695298" y="5838444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"좋은 질문이네요.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잠깐 생각해볼게요."</a:t>
            </a:r>
            <a:endParaRPr lang="en-US" dirty="0"/>
          </a:p>
        </p:txBody>
      </p:sp>
      <p:sp>
        <p:nvSpPr>
          <p:cNvPr id="20" name="Text 12"/>
          <p:cNvSpPr txBox="1"/>
          <p:nvPr/>
        </p:nvSpPr>
        <p:spPr>
          <a:xfrm>
            <a:off x="1695298" y="69338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900" dirty="0"/>
          </a:p>
        </p:txBody>
      </p:sp>
      <p:sp>
        <p:nvSpPr>
          <p:cNvPr id="21" name="Text 13"/>
          <p:cNvSpPr txBox="1"/>
          <p:nvPr/>
        </p:nvSpPr>
        <p:spPr>
          <a:xfrm>
            <a:off x="1695298" y="7267651"/>
            <a:ext cx="3238805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즉답이 강사 권위를 만든다는 건 미신.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잠시 멈추면 학습자도 같이 생각합니다.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5695798" y="39812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02 · 10초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5695798" y="4315054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되묻기</a:t>
            </a:r>
            <a:endParaRPr lang="en-US" sz="6000" dirty="0"/>
          </a:p>
        </p:txBody>
      </p:sp>
      <p:sp>
        <p:nvSpPr>
          <p:cNvPr id="24" name="Text 16"/>
          <p:cNvSpPr txBox="1"/>
          <p:nvPr/>
        </p:nvSpPr>
        <p:spPr>
          <a:xfrm>
            <a:off x="5695798" y="5505602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SAY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5695798" y="5838444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"어떤 상황에서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그게 궁금하셨어요?"</a:t>
            </a:r>
            <a:endParaRPr lang="en-US" dirty="0"/>
          </a:p>
        </p:txBody>
      </p:sp>
      <p:sp>
        <p:nvSpPr>
          <p:cNvPr id="26" name="Text 18"/>
          <p:cNvSpPr txBox="1"/>
          <p:nvPr/>
        </p:nvSpPr>
        <p:spPr>
          <a:xfrm>
            <a:off x="5695798" y="69338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5695798" y="7267651"/>
            <a:ext cx="3238805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맥락이 더해지면 많은 질문이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'사실 다른 질문'으로 바뀝니다.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답하기 쉬워짐.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9696298" y="39812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03 · 30초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9696298" y="4315054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넘기기</a:t>
            </a:r>
            <a:endParaRPr lang="en-US" sz="6000" dirty="0"/>
          </a:p>
        </p:txBody>
      </p:sp>
      <p:sp>
        <p:nvSpPr>
          <p:cNvPr id="30" name="Text 22"/>
          <p:cNvSpPr txBox="1"/>
          <p:nvPr/>
        </p:nvSpPr>
        <p:spPr>
          <a:xfrm>
            <a:off x="9696298" y="5505602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SAY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9696298" y="5838444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"비슷한 </a:t>
            </a:r>
            <a:r>
              <a:rPr lang="en-US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</a:t>
            </a: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있으신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채팅으로요</a:t>
            </a:r>
            <a:r>
              <a:rPr 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."</a:t>
            </a:r>
            <a:endParaRPr lang="en-US" dirty="0"/>
          </a:p>
        </p:txBody>
      </p:sp>
      <p:sp>
        <p:nvSpPr>
          <p:cNvPr id="32" name="Text 24"/>
          <p:cNvSpPr txBox="1"/>
          <p:nvPr/>
        </p:nvSpPr>
        <p:spPr>
          <a:xfrm>
            <a:off x="9696298" y="693389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9696298" y="7267651"/>
            <a:ext cx="3238805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강사가 다 알 필요 없음.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 안의 답을 모으면 종종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답보다 풍부합니다.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13696798" y="3981298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04 · 1분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3696798" y="4315054"/>
            <a:ext cx="401147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약속하기</a:t>
            </a:r>
            <a:endParaRPr lang="en-US" sz="6000" dirty="0"/>
          </a:p>
        </p:txBody>
      </p:sp>
      <p:sp>
        <p:nvSpPr>
          <p:cNvPr id="36" name="Text 28"/>
          <p:cNvSpPr txBox="1"/>
          <p:nvPr/>
        </p:nvSpPr>
        <p:spPr>
          <a:xfrm>
            <a:off x="13696798" y="5505602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SAY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13696798" y="5838444"/>
            <a:ext cx="3048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"제가 더 알아보고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금요일까지 답글 드릴게요"</a:t>
            </a:r>
            <a:endParaRPr lang="en-US" dirty="0"/>
          </a:p>
        </p:txBody>
      </p:sp>
      <p:sp>
        <p:nvSpPr>
          <p:cNvPr id="38" name="Text 30"/>
          <p:cNvSpPr txBox="1"/>
          <p:nvPr/>
        </p:nvSpPr>
        <p:spPr>
          <a:xfrm>
            <a:off x="13696798" y="6933895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3696798" y="7267651"/>
            <a:ext cx="3048610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"몰라요"는 신뢰를 부숩니다.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425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"알아보고 답드림"은 신뢰를 쌓아요. 단, 진짜 보내야 합니다.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'모른다'를 인정하는 강사가 오히려 신뢰를 얻습니다. AI 시대에는 강사도 학습자도 매주 새로 배웁니다 — 강사는 먼저 더 많이 써 본 경험으로 길을 안내하는 가이드이자 멘토입니다.</a:t>
            </a:r>
            <a:r>
              <a:rPr lang="en-US" sz="1100" i="1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1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1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1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1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1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1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1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1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1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 / 62</a:t>
            </a:r>
            <a:endParaRPr lang="en-US" sz="9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228520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96005"/>
            <a:ext cx="15668244" cy="1047902"/>
          </a:xfrm>
          <a:prstGeom prst="rect">
            <a:avLst/>
          </a:prstGeom>
          <a:solidFill>
            <a:srgbClr val="FEF7F4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6" name="Shape 2"/>
          <p:cNvSpPr/>
          <p:nvPr/>
        </p:nvSpPr>
        <p:spPr>
          <a:xfrm>
            <a:off x="1410005" y="3696005"/>
            <a:ext cx="47549" cy="1047902"/>
          </a:xfrm>
          <a:prstGeom prst="rect">
            <a:avLst/>
          </a:prstGeom>
          <a:solidFill>
            <a:srgbClr val="D9694C"/>
          </a:solidFill>
          <a:ln w="12700">
            <a:solidFill>
              <a:srgbClr val="D969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7" name="Shape 3"/>
          <p:cNvSpPr/>
          <p:nvPr/>
        </p:nvSpPr>
        <p:spPr>
          <a:xfrm>
            <a:off x="1410005" y="4839005"/>
            <a:ext cx="15668244" cy="1047902"/>
          </a:xfrm>
          <a:prstGeom prst="rect">
            <a:avLst/>
          </a:prstGeom>
          <a:solidFill>
            <a:srgbClr val="FEF7F4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8" name="Shape 4"/>
          <p:cNvSpPr/>
          <p:nvPr/>
        </p:nvSpPr>
        <p:spPr>
          <a:xfrm>
            <a:off x="1410005" y="4839005"/>
            <a:ext cx="47549" cy="1047902"/>
          </a:xfrm>
          <a:prstGeom prst="rect">
            <a:avLst/>
          </a:prstGeom>
          <a:solidFill>
            <a:srgbClr val="D9694C"/>
          </a:solidFill>
          <a:ln w="12700">
            <a:solidFill>
              <a:srgbClr val="D969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Shape 5"/>
          <p:cNvSpPr/>
          <p:nvPr/>
        </p:nvSpPr>
        <p:spPr>
          <a:xfrm>
            <a:off x="1410005" y="5982005"/>
            <a:ext cx="15668244" cy="1047902"/>
          </a:xfrm>
          <a:prstGeom prst="rect">
            <a:avLst/>
          </a:prstGeom>
          <a:solidFill>
            <a:srgbClr val="FEF7F4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0" name="Shape 6"/>
          <p:cNvSpPr/>
          <p:nvPr/>
        </p:nvSpPr>
        <p:spPr>
          <a:xfrm>
            <a:off x="1410005" y="5982005"/>
            <a:ext cx="47549" cy="1047902"/>
          </a:xfrm>
          <a:prstGeom prst="rect">
            <a:avLst/>
          </a:prstGeom>
          <a:solidFill>
            <a:srgbClr val="D9694C"/>
          </a:solidFill>
          <a:ln w="12700">
            <a:solidFill>
              <a:srgbClr val="D969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1" name="Shape 7"/>
          <p:cNvSpPr/>
          <p:nvPr/>
        </p:nvSpPr>
        <p:spPr>
          <a:xfrm>
            <a:off x="1410005" y="7125005"/>
            <a:ext cx="15668244" cy="1047902"/>
          </a:xfrm>
          <a:prstGeom prst="rect">
            <a:avLst/>
          </a:prstGeom>
          <a:solidFill>
            <a:srgbClr val="FEF7F4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2" name="Shape 8"/>
          <p:cNvSpPr/>
          <p:nvPr/>
        </p:nvSpPr>
        <p:spPr>
          <a:xfrm>
            <a:off x="1410005" y="7125005"/>
            <a:ext cx="47549" cy="1047902"/>
          </a:xfrm>
          <a:prstGeom prst="rect">
            <a:avLst/>
          </a:prstGeom>
          <a:solidFill>
            <a:srgbClr val="D9694C"/>
          </a:solidFill>
          <a:ln w="12700">
            <a:solidFill>
              <a:srgbClr val="D969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3" name="Shape 9"/>
          <p:cNvSpPr/>
          <p:nvPr/>
        </p:nvSpPr>
        <p:spPr>
          <a:xfrm>
            <a:off x="1410005" y="8268005"/>
            <a:ext cx="15668244" cy="1047902"/>
          </a:xfrm>
          <a:prstGeom prst="rect">
            <a:avLst/>
          </a:prstGeom>
          <a:solidFill>
            <a:srgbClr val="FEF7F4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4" name="Shape 10"/>
          <p:cNvSpPr/>
          <p:nvPr/>
        </p:nvSpPr>
        <p:spPr>
          <a:xfrm>
            <a:off x="1410005" y="8268005"/>
            <a:ext cx="47549" cy="1047902"/>
          </a:xfrm>
          <a:prstGeom prst="rect">
            <a:avLst/>
          </a:prstGeom>
          <a:solidFill>
            <a:srgbClr val="D9694C"/>
          </a:solidFill>
          <a:ln w="12700">
            <a:solidFill>
              <a:srgbClr val="D969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5" name="Text 11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KNOW-HOW 04 · 실패한 강의에서 배운 것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강의에서 흔히 겪는 실패 5가지</a:t>
            </a:r>
            <a:r>
              <a:rPr lang="en-US" sz="5400" b="1" kern="0" spc="-108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5400" b="1" kern="0" spc="-108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5400" b="1" kern="0" spc="-108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5400" dirty="0"/>
          </a:p>
        </p:txBody>
      </p:sp>
      <p:sp>
        <p:nvSpPr>
          <p:cNvPr id="17" name="Text 13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이론책은 안 가르쳐주는 것 — 강사가 강의실에서 실제로 무너지는 순간들.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742846" y="3905402"/>
            <a:ext cx="8577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2648102" y="3905402"/>
            <a:ext cx="1428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 도구 12개 한 번에 다 보여주려고 했다"</a:t>
            </a:r>
            <a:endParaRPr lang="en-US" dirty="0"/>
          </a:p>
        </p:txBody>
      </p:sp>
      <p:sp>
        <p:nvSpPr>
          <p:cNvPr id="20" name="Text 16"/>
          <p:cNvSpPr txBox="1"/>
          <p:nvPr/>
        </p:nvSpPr>
        <p:spPr>
          <a:xfrm>
            <a:off x="2648102" y="4219956"/>
            <a:ext cx="14287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수강생 의견: "이름만 들어봤지 내일 뭘 써야 할지 모르겠어요." → 그 후 한 강의에 도구 </a:t>
            </a:r>
            <a:r>
              <a:rPr lang="en-US" sz="1400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3개</a:t>
            </a: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제한 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742846" y="5048402"/>
            <a:ext cx="8577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F2</a:t>
            </a:r>
            <a:endParaRPr lang="en-US" sz="4000" dirty="0"/>
          </a:p>
        </p:txBody>
      </p:sp>
      <p:sp>
        <p:nvSpPr>
          <p:cNvPr id="22" name="Text 18"/>
          <p:cNvSpPr txBox="1"/>
          <p:nvPr/>
        </p:nvSpPr>
        <p:spPr>
          <a:xfrm>
            <a:off x="2648102" y="5048402"/>
            <a:ext cx="1428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"학습자의 회사 데이터로 실습하라고 했다 — 보안팀 신고당함"</a:t>
            </a:r>
            <a:endParaRPr lang="en-US" dirty="0"/>
          </a:p>
        </p:txBody>
      </p:sp>
      <p:sp>
        <p:nvSpPr>
          <p:cNvPr id="23" name="Text 19"/>
          <p:cNvSpPr txBox="1"/>
          <p:nvPr/>
        </p:nvSpPr>
        <p:spPr>
          <a:xfrm>
            <a:off x="2648102" y="5362956"/>
            <a:ext cx="14287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그 다음부턴: 강사가 만든 </a:t>
            </a:r>
            <a:r>
              <a:rPr lang="en-US" sz="1400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가짜이지만 닮은 데이터셋</a:t>
            </a: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미리 준비. 보안 안내 5분을 첫 슬라이드에 박아둠. 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1742846" y="6191402"/>
            <a:ext cx="8577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F3</a:t>
            </a:r>
            <a:endParaRPr lang="en-US" sz="4000" dirty="0"/>
          </a:p>
        </p:txBody>
      </p:sp>
      <p:sp>
        <p:nvSpPr>
          <p:cNvPr id="25" name="Text 21"/>
          <p:cNvSpPr txBox="1"/>
          <p:nvPr/>
        </p:nvSpPr>
        <p:spPr>
          <a:xfrm>
            <a:off x="2648102" y="6191402"/>
            <a:ext cx="1428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"실습 시간을 너무 길게 줬다 — 30명 중 5명만 끝냈다"</a:t>
            </a:r>
            <a:endParaRPr lang="en-US" dirty="0"/>
          </a:p>
        </p:txBody>
      </p:sp>
      <p:sp>
        <p:nvSpPr>
          <p:cNvPr id="26" name="Text 22"/>
          <p:cNvSpPr txBox="1"/>
          <p:nvPr/>
        </p:nvSpPr>
        <p:spPr>
          <a:xfrm>
            <a:off x="2648102" y="6505956"/>
            <a:ext cx="14287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그 다음부턴: 실습을 </a:t>
            </a:r>
            <a:r>
              <a:rPr lang="en-US" sz="1400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3단계로 쪼개고</a:t>
            </a: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각 단계마다 '대부분 끝나면 1, 막혔으면 2' 폴. 자동 페이싱. 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742846" y="7334402"/>
            <a:ext cx="8577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F4</a:t>
            </a:r>
            <a:endParaRPr lang="en-US" sz="4000" dirty="0"/>
          </a:p>
        </p:txBody>
      </p:sp>
      <p:sp>
        <p:nvSpPr>
          <p:cNvPr id="28" name="Text 24"/>
          <p:cNvSpPr txBox="1"/>
          <p:nvPr/>
        </p:nvSpPr>
        <p:spPr>
          <a:xfrm>
            <a:off x="2648102" y="7334402"/>
            <a:ext cx="1428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"라이브 시연 중 GPT가 멈췄다 — 5분간 멘붕"</a:t>
            </a:r>
            <a:endParaRPr lang="en-US" dirty="0"/>
          </a:p>
        </p:txBody>
      </p:sp>
      <p:sp>
        <p:nvSpPr>
          <p:cNvPr id="29" name="Text 25"/>
          <p:cNvSpPr txBox="1"/>
          <p:nvPr/>
        </p:nvSpPr>
        <p:spPr>
          <a:xfrm>
            <a:off x="2648102" y="7648956"/>
            <a:ext cx="14287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그 다음부턴: 모든 라이브 시연마다 </a:t>
            </a:r>
            <a:r>
              <a:rPr lang="en-US" sz="1400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녹화된 백업 영상</a:t>
            </a: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준비. "AI도 가끔 쉽니다" 농담으로 분위기 전환. 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1742846" y="8477402"/>
            <a:ext cx="8577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F5</a:t>
            </a:r>
            <a:endParaRPr lang="en-US" sz="4000" dirty="0"/>
          </a:p>
        </p:txBody>
      </p:sp>
      <p:sp>
        <p:nvSpPr>
          <p:cNvPr id="31" name="Text 27"/>
          <p:cNvSpPr txBox="1"/>
          <p:nvPr/>
        </p:nvSpPr>
        <p:spPr>
          <a:xfrm>
            <a:off x="2648102" y="8477402"/>
            <a:ext cx="1428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"강의 끝나고 follow-up을 안 했다 — 한 달 뒤 아무도 안 씀"</a:t>
            </a:r>
            <a:endParaRPr lang="en-US" dirty="0"/>
          </a:p>
        </p:txBody>
      </p:sp>
      <p:sp>
        <p:nvSpPr>
          <p:cNvPr id="32" name="Text 28"/>
          <p:cNvSpPr txBox="1"/>
          <p:nvPr/>
        </p:nvSpPr>
        <p:spPr>
          <a:xfrm>
            <a:off x="2648102" y="8791956"/>
            <a:ext cx="14287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그 다음부턴: 강의 끝 직후 단톡방 개설 + </a:t>
            </a:r>
            <a:r>
              <a:rPr lang="en-US" sz="1400" b="1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4주간 매주 한 줄 미션</a:t>
            </a: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커크패트릭 L3가 살아남. 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실패는 강사에게는 상처, 학습자에게는 시간 낭비입니다. 첫 강의 전에 이 다섯 가지를 미리 막아 두고 리허설로 연습해 두세요</a:t>
            </a:r>
            <a:r>
              <a:rPr lang="ko-KR" altLang="en-US" sz="12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2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2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200" i="1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2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200" i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 / 62</a:t>
            </a:r>
            <a:endParaRPr lang="en-US" sz="10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214657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600907"/>
            <a:ext cx="7667244" cy="266730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6" name="Shape 2"/>
          <p:cNvSpPr/>
          <p:nvPr/>
        </p:nvSpPr>
        <p:spPr>
          <a:xfrm>
            <a:off x="1410005" y="3600907"/>
            <a:ext cx="47549" cy="2667305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7" name="Shape 3"/>
          <p:cNvSpPr/>
          <p:nvPr/>
        </p:nvSpPr>
        <p:spPr>
          <a:xfrm>
            <a:off x="9411005" y="3600907"/>
            <a:ext cx="7667244" cy="266730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9411005" y="3600907"/>
            <a:ext cx="47549" cy="2667305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1410005" y="6553505"/>
            <a:ext cx="7667244" cy="266730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0" name="Shape 6"/>
          <p:cNvSpPr/>
          <p:nvPr/>
        </p:nvSpPr>
        <p:spPr>
          <a:xfrm>
            <a:off x="1410005" y="6553505"/>
            <a:ext cx="47549" cy="2667305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1" name="Shape 7"/>
          <p:cNvSpPr/>
          <p:nvPr/>
        </p:nvSpPr>
        <p:spPr>
          <a:xfrm>
            <a:off x="9411005" y="6553505"/>
            <a:ext cx="7667244" cy="2667305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2" name="Shape 8"/>
          <p:cNvSpPr/>
          <p:nvPr/>
        </p:nvSpPr>
        <p:spPr>
          <a:xfrm>
            <a:off x="9411005" y="6553505"/>
            <a:ext cx="47549" cy="266730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3" name="Shape 9"/>
          <p:cNvSpPr/>
          <p:nvPr/>
        </p:nvSpPr>
        <p:spPr>
          <a:xfrm>
            <a:off x="1695298" y="4695444"/>
            <a:ext cx="7048195" cy="1476756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4" name="Shape 10"/>
          <p:cNvSpPr/>
          <p:nvPr/>
        </p:nvSpPr>
        <p:spPr>
          <a:xfrm>
            <a:off x="9696298" y="4695444"/>
            <a:ext cx="7048195" cy="1476756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5" name="Shape 11"/>
          <p:cNvSpPr/>
          <p:nvPr/>
        </p:nvSpPr>
        <p:spPr>
          <a:xfrm>
            <a:off x="1695298" y="7648956"/>
            <a:ext cx="7048195" cy="1476756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6" name="Shape 12"/>
          <p:cNvSpPr/>
          <p:nvPr/>
        </p:nvSpPr>
        <p:spPr>
          <a:xfrm>
            <a:off x="9696298" y="7648956"/>
            <a:ext cx="7048195" cy="1476756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7" name="Text 13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KNOW-HOW 05 · 강사가 자주 쓰는 프롬프트 4개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가져가 쓰는 강사용 프롬프트 4개</a:t>
            </a:r>
            <a:endParaRPr lang="en-US" sz="5400" dirty="0"/>
          </a:p>
        </p:txBody>
      </p:sp>
      <p:sp>
        <p:nvSpPr>
          <p:cNvPr id="19" name="Text 15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Bloom·백워드·Gagné 이론을 프롬프트에 박아두면, AI가 강사 대신 1차 설계를 해줍니다.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1695298" y="3838651"/>
            <a:ext cx="7049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01 · 학습목표 작성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1695298" y="4172407"/>
            <a:ext cx="7049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ILO 초안 만들기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1886407" y="4839005"/>
            <a:ext cx="676290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역할: 너는 교육공학 전문가야.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과제: '{주제}' {시간}분 강의의 ILO를 3개 작성해줘.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조건: ① Bloom L3 이상 ② 측정 가능한 동사 ③ "학습자는 ~를 ~할 수 있다" 형식 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9696298" y="3838651"/>
            <a:ext cx="7049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02 · 루브릭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9696298" y="4172407"/>
            <a:ext cx="7049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루브릭 4점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9887407" y="4839005"/>
            <a:ext cx="676290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위 ILO를 평가할 수행과제 1개 + 루브릭(4점=우수, 3점=양호,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2점=보통, 1점=미흡)을 작성해줘.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조건: 일반론은 빼 줘. 각 점수에 구체 행동 기준 1줄. 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1695298" y="6791249"/>
            <a:ext cx="7049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03 · 시퀀스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1695298" y="7125005"/>
            <a:ext cx="7049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Gagné 9단계 활동 시퀀스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1886407" y="7791602"/>
            <a:ext cx="676290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{시간}분 강의를 Gagné 9단계로 배치해줘.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형식: 단계명 | 시작-끝 | 활동 내용 | 학습자 행동.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조건: ⑥ '수행 유발' 단계가 전체의 40% 이상. 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696298" y="6791249"/>
            <a:ext cx="7049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04 · 질문 카드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9696298" y="7125005"/>
            <a:ext cx="7049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액티브 러닝용 질문 5개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9887407" y="7791602"/>
            <a:ext cx="676290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'{개념}' 강의 중간에 던질 30초 질문 5개를 만들어줘.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조건: ① 정답 1개 아닌 토론용 ② '내 일에 어떻게' </a:t>
            </a:r>
            <a:r>
              <a:rPr lang="en-US" sz="1400" dirty="0" err="1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</a:t>
            </a: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채팅창에 한 줄로 답할 수 있는 길이. 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모든 프롬프트의 공통 패턴: </a:t>
            </a:r>
            <a:r>
              <a:rPr lang="en-US" sz="1400" b="1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→ 과제 → 조건</a:t>
            </a:r>
            <a:r>
              <a:rPr lang="en-US" sz="14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이 3단 구조면 AI가 설계 초안을 짜임새 있게 냅니다. 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 / 62</a:t>
            </a:r>
            <a:endParaRPr lang="en-US" sz="105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418086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FA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4" name="Image 1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5" name="Image 2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410005" y="2933395"/>
            <a:ext cx="15659100" cy="6229807"/>
          </a:xfrm>
          <a:prstGeom prst="rect">
            <a:avLst/>
          </a:prstGeom>
          <a:solidFill>
            <a:srgbClr val="FFFFFF"/>
          </a:solidFill>
          <a:ln w="25400">
            <a:solidFill>
              <a:srgbClr val="0B1733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7" name="Image 3" descr="gen-dedup-ad2971ffd37b6aaf861496aac4e7a0a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790395" y="4028846"/>
            <a:ext cx="7048195" cy="9144"/>
          </a:xfrm>
          <a:prstGeom prst="rect">
            <a:avLst/>
          </a:prstGeom>
        </p:spPr>
      </p:pic>
      <p:pic>
        <p:nvPicPr>
          <p:cNvPr id="8" name="Image 4" descr="gen-dedup-ad2971ffd37b6aaf861496aac4e7a0a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790395" y="5029200"/>
            <a:ext cx="7048195" cy="9144"/>
          </a:xfrm>
          <a:prstGeom prst="rect">
            <a:avLst/>
          </a:prstGeom>
        </p:spPr>
      </p:pic>
      <p:pic>
        <p:nvPicPr>
          <p:cNvPr id="9" name="Image 5" descr="gen-dedup-ad2971ffd37b6aaf861496aac4e7a0a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790395" y="6362395"/>
            <a:ext cx="7048195" cy="9144"/>
          </a:xfrm>
          <a:prstGeom prst="rect">
            <a:avLst/>
          </a:prstGeom>
        </p:spPr>
      </p:pic>
      <p:pic>
        <p:nvPicPr>
          <p:cNvPr id="10" name="Image 6" descr="gen-dedup-ad2971ffd37b6aaf861496aac4e7a0a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790395" y="7362749"/>
            <a:ext cx="7048195" cy="9144"/>
          </a:xfrm>
          <a:prstGeom prst="rect">
            <a:avLst/>
          </a:prstGeom>
        </p:spPr>
      </p:pic>
      <p:pic>
        <p:nvPicPr>
          <p:cNvPr id="11" name="Image 7" descr="gen-dedup-a10b409f124a7035ec9cebf48e7bcb5c.png"/>
          <p:cNvPicPr>
            <a:picLocks noChangeAspect="1"/>
          </p:cNvPicPr>
          <p:nvPr/>
        </p:nvPicPr>
        <p:blipFill>
          <a:blip r:embed="rId5"/>
          <a:srcRect t="-2083" b="-2083"/>
          <a:stretch/>
        </p:blipFill>
        <p:spPr>
          <a:xfrm>
            <a:off x="9219895" y="3219602"/>
            <a:ext cx="9144" cy="5715000"/>
          </a:xfrm>
          <a:prstGeom prst="rect">
            <a:avLst/>
          </a:prstGeom>
        </p:spPr>
      </p:pic>
      <p:pic>
        <p:nvPicPr>
          <p:cNvPr id="12" name="Image 8" descr="gen-dedup-ad2971ffd37b6aaf861496aac4e7a0a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601200" y="4934102"/>
            <a:ext cx="7048195" cy="9144"/>
          </a:xfrm>
          <a:prstGeom prst="rect">
            <a:avLst/>
          </a:prstGeom>
        </p:spPr>
      </p:pic>
      <p:pic>
        <p:nvPicPr>
          <p:cNvPr id="13" name="Image 9" descr="gen-dedup-ad2971ffd37b6aaf861496aac4e7a0a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601200" y="6933895"/>
            <a:ext cx="7048195" cy="9144"/>
          </a:xfrm>
          <a:prstGeom prst="rect">
            <a:avLst/>
          </a:prstGeom>
        </p:spPr>
      </p:pic>
      <p:sp>
        <p:nvSpPr>
          <p:cNvPr id="14" name="Text 2"/>
          <p:cNvSpPr txBox="1"/>
          <p:nvPr/>
        </p:nvSpPr>
        <p:spPr>
          <a:xfrm>
            <a:off x="1410005" y="933602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WORKBOOK · 15분 실습 · 13개 이론 종합</a:t>
            </a:r>
            <a:endParaRPr lang="en-US" sz="1100" dirty="0"/>
          </a:p>
        </p:txBody>
      </p:sp>
      <p:sp>
        <p:nvSpPr>
          <p:cNvPr id="15" name="Text 3"/>
          <p:cNvSpPr txBox="1"/>
          <p:nvPr/>
        </p:nvSpPr>
        <p:spPr>
          <a:xfrm>
            <a:off x="1410005" y="1362456"/>
            <a:ext cx="156216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102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첫 AI 강의 한 편, 종이에 완성하기</a:t>
            </a:r>
            <a:endParaRPr lang="en-US" sz="5100" dirty="0"/>
          </a:p>
        </p:txBody>
      </p:sp>
      <p:sp>
        <p:nvSpPr>
          <p:cNvPr id="16" name="Text 4"/>
          <p:cNvSpPr txBox="1"/>
          <p:nvPr/>
        </p:nvSpPr>
        <p:spPr>
          <a:xfrm>
            <a:off x="1410005" y="2361895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8칸을 채우면 60–90분짜리 강의 한 편의 골격이 완성됩니다.</a:t>
            </a:r>
            <a:endParaRPr lang="en-US" dirty="0"/>
          </a:p>
        </p:txBody>
      </p:sp>
      <p:sp>
        <p:nvSpPr>
          <p:cNvPr id="17" name="Text 5"/>
          <p:cNvSpPr txBox="1"/>
          <p:nvPr/>
        </p:nvSpPr>
        <p:spPr>
          <a:xfrm>
            <a:off x="1790395" y="3219602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학습자 ZPD</a:t>
            </a:r>
            <a:endParaRPr lang="en-US" sz="1050" dirty="0"/>
          </a:p>
        </p:txBody>
      </p:sp>
      <p:sp>
        <p:nvSpPr>
          <p:cNvPr id="18" name="Text 6"/>
          <p:cNvSpPr txBox="1"/>
          <p:nvPr/>
        </p:nvSpPr>
        <p:spPr>
          <a:xfrm>
            <a:off x="1790395" y="3552444"/>
            <a:ext cx="7049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직무: _________ 현재 수준 (1~5): __ 도착 수준: __</a:t>
            </a:r>
            <a:endParaRPr lang="en-US" sz="1600" dirty="0"/>
          </a:p>
        </p:txBody>
      </p:sp>
      <p:sp>
        <p:nvSpPr>
          <p:cNvPr id="19" name="Text 7"/>
          <p:cNvSpPr txBox="1"/>
          <p:nvPr/>
        </p:nvSpPr>
        <p:spPr>
          <a:xfrm>
            <a:off x="1790395" y="4219956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Big Idea (백워드)</a:t>
            </a:r>
            <a:endParaRPr lang="en-US" sz="1050" dirty="0"/>
          </a:p>
        </p:txBody>
      </p:sp>
      <p:sp>
        <p:nvSpPr>
          <p:cNvPr id="20" name="Text 8"/>
          <p:cNvSpPr txBox="1"/>
          <p:nvPr/>
        </p:nvSpPr>
        <p:spPr>
          <a:xfrm>
            <a:off x="1790395" y="4552798"/>
            <a:ext cx="7049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문장으로: _______________________________________</a:t>
            </a:r>
            <a:endParaRPr lang="en-US" sz="1600" dirty="0"/>
          </a:p>
        </p:txBody>
      </p:sp>
      <p:sp>
        <p:nvSpPr>
          <p:cNvPr id="21" name="Text 9"/>
          <p:cNvSpPr txBox="1"/>
          <p:nvPr/>
        </p:nvSpPr>
        <p:spPr>
          <a:xfrm>
            <a:off x="1790395" y="5219395"/>
            <a:ext cx="2095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ILO (Bloom 동사)</a:t>
            </a:r>
            <a:endParaRPr lang="en-US" sz="1050" dirty="0"/>
          </a:p>
        </p:txBody>
      </p:sp>
      <p:sp>
        <p:nvSpPr>
          <p:cNvPr id="22" name="Text 10"/>
          <p:cNvSpPr txBox="1"/>
          <p:nvPr/>
        </p:nvSpPr>
        <p:spPr>
          <a:xfrm>
            <a:off x="1790395" y="5553151"/>
            <a:ext cx="7049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① ____________________________________ (L_)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② ____________________________________ (L_) </a:t>
            </a:r>
            <a:endParaRPr lang="en-US" sz="1600" dirty="0"/>
          </a:p>
        </p:txBody>
      </p:sp>
      <p:sp>
        <p:nvSpPr>
          <p:cNvPr id="23" name="Text 11"/>
          <p:cNvSpPr txBox="1"/>
          <p:nvPr/>
        </p:nvSpPr>
        <p:spPr>
          <a:xfrm>
            <a:off x="1790395" y="6553505"/>
            <a:ext cx="231805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D969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평가 산출물 (먼저!)</a:t>
            </a:r>
            <a:endParaRPr lang="en-US" sz="1050" dirty="0"/>
          </a:p>
        </p:txBody>
      </p:sp>
      <p:sp>
        <p:nvSpPr>
          <p:cNvPr id="24" name="Text 12"/>
          <p:cNvSpPr txBox="1"/>
          <p:nvPr/>
        </p:nvSpPr>
        <p:spPr>
          <a:xfrm>
            <a:off x="1790395" y="6886346"/>
            <a:ext cx="7049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학습자가 제출할 것: __________________________________</a:t>
            </a:r>
            <a:endParaRPr lang="en-US" sz="1600" dirty="0"/>
          </a:p>
        </p:txBody>
      </p:sp>
      <p:sp>
        <p:nvSpPr>
          <p:cNvPr id="25" name="Text 13"/>
          <p:cNvSpPr txBox="1"/>
          <p:nvPr/>
        </p:nvSpPr>
        <p:spPr>
          <a:xfrm>
            <a:off x="1790395" y="7552944"/>
            <a:ext cx="25022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L3 행동 측정 (커크패트릭)</a:t>
            </a:r>
            <a:endParaRPr lang="en-US" sz="1050" dirty="0"/>
          </a:p>
        </p:txBody>
      </p:sp>
      <p:sp>
        <p:nvSpPr>
          <p:cNvPr id="26" name="Text 14"/>
          <p:cNvSpPr txBox="1"/>
          <p:nvPr/>
        </p:nvSpPr>
        <p:spPr>
          <a:xfrm>
            <a:off x="1790395" y="7886700"/>
            <a:ext cx="7049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4주 후 측정 문장: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"____________________________________________" </a:t>
            </a:r>
            <a:endParaRPr lang="en-US" sz="1600" dirty="0"/>
          </a:p>
        </p:txBody>
      </p:sp>
      <p:sp>
        <p:nvSpPr>
          <p:cNvPr id="27" name="Text 15"/>
          <p:cNvSpPr txBox="1"/>
          <p:nvPr/>
        </p:nvSpPr>
        <p:spPr>
          <a:xfrm>
            <a:off x="9601200" y="3219602"/>
            <a:ext cx="25435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Gagné 9단계 분배 (60분)</a:t>
            </a:r>
            <a:endParaRPr lang="en-US" sz="1050" dirty="0"/>
          </a:p>
        </p:txBody>
      </p:sp>
      <p:sp>
        <p:nvSpPr>
          <p:cNvPr id="28" name="Text 16"/>
          <p:cNvSpPr txBox="1"/>
          <p:nvPr/>
        </p:nvSpPr>
        <p:spPr>
          <a:xfrm>
            <a:off x="9601200" y="3552444"/>
            <a:ext cx="70491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① 주의 _____분 ② 목표 _____분 ③ 회상 _____분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④ 자료 _____분 ⑤ 안내 _____분 ⑥ </a:t>
            </a:r>
            <a:r>
              <a:rPr lang="en-US" sz="16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</a:t>
            </a: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_____분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⑦ 피드백 _____분 ⑧ 평가 _____분 ⑨ 전이 _____분 </a:t>
            </a:r>
            <a:endParaRPr lang="en-US" sz="1600" dirty="0"/>
          </a:p>
        </p:txBody>
      </p:sp>
      <p:sp>
        <p:nvSpPr>
          <p:cNvPr id="29" name="Text 17"/>
          <p:cNvSpPr txBox="1"/>
          <p:nvPr/>
        </p:nvSpPr>
        <p:spPr>
          <a:xfrm>
            <a:off x="9601200" y="5124298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비계 4단계 활동</a:t>
            </a:r>
            <a:endParaRPr lang="en-US" sz="1050" dirty="0"/>
          </a:p>
        </p:txBody>
      </p:sp>
      <p:sp>
        <p:nvSpPr>
          <p:cNvPr id="30" name="Text 18"/>
          <p:cNvSpPr txBox="1"/>
          <p:nvPr/>
        </p:nvSpPr>
        <p:spPr>
          <a:xfrm>
            <a:off x="9601200" y="5458054"/>
            <a:ext cx="70491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S1 (시연): _________________________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S2 (템플릿): _______________________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S3 (힌트): _________________________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S4 (자율): _________________________ </a:t>
            </a:r>
            <a:endParaRPr lang="en-US" sz="1600" dirty="0"/>
          </a:p>
        </p:txBody>
      </p:sp>
      <p:sp>
        <p:nvSpPr>
          <p:cNvPr id="31" name="Text 19"/>
          <p:cNvSpPr txBox="1"/>
          <p:nvPr/>
        </p:nvSpPr>
        <p:spPr>
          <a:xfrm>
            <a:off x="9601200" y="712500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· 사용할 AI 도구 (최대 3개)</a:t>
            </a:r>
            <a:endParaRPr lang="en-US" sz="1050" dirty="0"/>
          </a:p>
        </p:txBody>
      </p:sp>
      <p:sp>
        <p:nvSpPr>
          <p:cNvPr id="32" name="Text 20"/>
          <p:cNvSpPr txBox="1"/>
          <p:nvPr/>
        </p:nvSpPr>
        <p:spPr>
          <a:xfrm>
            <a:off x="9601200" y="7457846"/>
            <a:ext cx="70491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① 도구: ___________ 용도: _________________________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② 도구: ___________ 용도: _________________________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③ 도구: ___________ 용도: _________________________ </a:t>
            </a:r>
            <a:endParaRPr lang="en-US" sz="1600" dirty="0"/>
          </a:p>
        </p:txBody>
      </p:sp>
      <p:sp>
        <p:nvSpPr>
          <p:cNvPr id="33" name="Text 21"/>
          <p:cNvSpPr txBox="1"/>
          <p:nvPr/>
        </p:nvSpPr>
        <p:spPr>
          <a:xfrm>
            <a:off x="1410005" y="9411005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 못 채워도 괜찮습니다. 빈 칸 = 다음 일주일의 숙제. 강의 운영 후 SAM 사이클로 채워나가세요.</a:t>
            </a:r>
            <a:endParaRPr lang="en-US" sz="1600" dirty="0"/>
          </a:p>
        </p:txBody>
      </p:sp>
      <p:sp>
        <p:nvSpPr>
          <p:cNvPr id="34" name="Text 22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5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 / 62</a:t>
            </a:r>
            <a:endParaRPr lang="en-US" sz="105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202359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2933395"/>
            <a:ext cx="5048402" cy="633404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800"/>
          </a:p>
        </p:txBody>
      </p:sp>
      <p:sp>
        <p:nvSpPr>
          <p:cNvPr id="6" name="Shape 2"/>
          <p:cNvSpPr/>
          <p:nvPr/>
        </p:nvSpPr>
        <p:spPr>
          <a:xfrm>
            <a:off x="1410005" y="2933395"/>
            <a:ext cx="5048402" cy="47549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800"/>
          </a:p>
        </p:txBody>
      </p:sp>
      <p:sp>
        <p:nvSpPr>
          <p:cNvPr id="7" name="Shape 3"/>
          <p:cNvSpPr/>
          <p:nvPr/>
        </p:nvSpPr>
        <p:spPr>
          <a:xfrm>
            <a:off x="6696151" y="2933395"/>
            <a:ext cx="5048402" cy="633404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800"/>
          </a:p>
        </p:txBody>
      </p:sp>
      <p:sp>
        <p:nvSpPr>
          <p:cNvPr id="8" name="Shape 4"/>
          <p:cNvSpPr/>
          <p:nvPr/>
        </p:nvSpPr>
        <p:spPr>
          <a:xfrm>
            <a:off x="6696151" y="2933395"/>
            <a:ext cx="5048402" cy="47549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800"/>
          </a:p>
        </p:txBody>
      </p:sp>
      <p:sp>
        <p:nvSpPr>
          <p:cNvPr id="9" name="Shape 5"/>
          <p:cNvSpPr/>
          <p:nvPr/>
        </p:nvSpPr>
        <p:spPr>
          <a:xfrm>
            <a:off x="11982298" y="2933395"/>
            <a:ext cx="5048402" cy="6334049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800"/>
          </a:p>
        </p:txBody>
      </p:sp>
      <p:sp>
        <p:nvSpPr>
          <p:cNvPr id="10" name="Shape 6"/>
          <p:cNvSpPr/>
          <p:nvPr/>
        </p:nvSpPr>
        <p:spPr>
          <a:xfrm>
            <a:off x="11982298" y="2933395"/>
            <a:ext cx="5048402" cy="47549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800"/>
          </a:p>
        </p:txBody>
      </p:sp>
      <p:sp>
        <p:nvSpPr>
          <p:cNvPr id="11" name="Text 7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CHECKLIST · 강의 직전 한 번 더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AI 강의의 조건 17가지</a:t>
            </a:r>
            <a:endParaRPr lang="en-US" sz="5400" dirty="0"/>
          </a:p>
        </p:txBody>
      </p:sp>
      <p:sp>
        <p:nvSpPr>
          <p:cNvPr id="13" name="Text 9"/>
          <p:cNvSpPr txBox="1"/>
          <p:nvPr/>
        </p:nvSpPr>
        <p:spPr>
          <a:xfrm>
            <a:off x="1695298" y="3172054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(DESIGN) 1-6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695298" y="3600907"/>
            <a:ext cx="4572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01 · ILO 3개 모두 Bloom L3↑ 동사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02 · ILO·TLA·AT가 같은 단계로 정렬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03 · Big Idea가 한 문장으로 보임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04 · 평가 산출물이 활동보다 먼저 정해짐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05 · L3 행동 측정 1줄이 있음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06 · Gagné ① 주의 끌기 3분 안에 일어남 </a:t>
            </a:r>
            <a:endParaRPr lang="en-US" dirty="0"/>
          </a:p>
        </p:txBody>
      </p:sp>
      <p:sp>
        <p:nvSpPr>
          <p:cNvPr id="15" name="Text 11"/>
          <p:cNvSpPr txBox="1"/>
          <p:nvPr/>
        </p:nvSpPr>
        <p:spPr>
          <a:xfrm>
            <a:off x="6981444" y="3172054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(DELIVERY) 7-12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981444" y="3600907"/>
            <a:ext cx="4572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07 · 강사 발언 시간 50% 이하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08 · 액티브 활동이 15분에 1개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09 · 비계 fading 4단계가 보임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10 · 8분마다 리부트 활동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11 · 사용 AI 도구 3개 이하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12 · 라이브 시연 백업 영상 준비 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2268505" y="3172054"/>
            <a:ext cx="457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전이·운영 13-17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2268505" y="3600907"/>
            <a:ext cx="4572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13 · 마지막 5분에 '내일 무엇을' 약속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14 · 4주간 단톡방·follow-up 설계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15 · 설문에 L1만이 아니라 L2 문항 포함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16 · 강의안 버전 번호 있음 (SAM)</a:t>
            </a:r>
            <a:endParaRPr lang="en-US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☐ 17 · 1기 학습자에게 미안할 만큼 v1.0 단순함 </a:t>
            </a:r>
            <a:endParaRPr lang="en-US" dirty="0"/>
          </a:p>
        </p:txBody>
      </p:sp>
      <p:sp>
        <p:nvSpPr>
          <p:cNvPr id="19" name="Text 15"/>
          <p:cNvSpPr txBox="1"/>
          <p:nvPr/>
        </p:nvSpPr>
        <p:spPr>
          <a:xfrm>
            <a:off x="1410005" y="9506102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직전 이 17개를 한 번씩 체크. 어림 기준으로 12개 이상이면 운영, 8개 미만이면 다시 설계.</a:t>
            </a:r>
            <a:endParaRPr lang="en-US" dirty="0"/>
          </a:p>
        </p:txBody>
      </p:sp>
      <p:sp>
        <p:nvSpPr>
          <p:cNvPr id="20" name="Text 16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1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59 / 62</a:t>
            </a:r>
            <a:endParaRPr lang="en-US" sz="11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4642981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10005" y="3314700"/>
            <a:ext cx="15620695" cy="2857500"/>
          </a:xfrm>
          <a:prstGeom prst="rect">
            <a:avLst/>
          </a:prstGeom>
          <a:solidFill>
            <a:srgbClr val="0B1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1410005" y="7125005"/>
            <a:ext cx="5000854" cy="209580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7" name="Shape 3"/>
          <p:cNvSpPr/>
          <p:nvPr/>
        </p:nvSpPr>
        <p:spPr>
          <a:xfrm>
            <a:off x="1410005" y="7125005"/>
            <a:ext cx="47549" cy="2095805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6743700" y="7125005"/>
            <a:ext cx="5000854" cy="209580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6743700" y="7125005"/>
            <a:ext cx="47549" cy="2095805"/>
          </a:xfrm>
          <a:prstGeom prst="rect">
            <a:avLst/>
          </a:prstGeom>
          <a:solidFill>
            <a:srgbClr val="1B2E5B"/>
          </a:solidFill>
          <a:ln w="12700">
            <a:solidFill>
              <a:srgbClr val="1B2E5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0" name="Shape 6"/>
          <p:cNvSpPr/>
          <p:nvPr/>
        </p:nvSpPr>
        <p:spPr>
          <a:xfrm>
            <a:off x="12077395" y="7125005"/>
            <a:ext cx="5000854" cy="2095805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1" name="Shape 7"/>
          <p:cNvSpPr/>
          <p:nvPr/>
        </p:nvSpPr>
        <p:spPr>
          <a:xfrm>
            <a:off x="12077395" y="7125005"/>
            <a:ext cx="47549" cy="209580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2" name="Text 8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WRAP-UP · 한 장 요약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줄로 정리하면</a:t>
            </a:r>
            <a:endParaRPr lang="en-US" sz="6000" dirty="0"/>
          </a:p>
        </p:txBody>
      </p:sp>
      <p:sp>
        <p:nvSpPr>
          <p:cNvPr id="14" name="Text 10"/>
          <p:cNvSpPr txBox="1"/>
          <p:nvPr/>
        </p:nvSpPr>
        <p:spPr>
          <a:xfrm>
            <a:off x="1790395" y="3696005"/>
            <a:ext cx="89977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10500" dirty="0"/>
          </a:p>
        </p:txBody>
      </p:sp>
      <p:sp>
        <p:nvSpPr>
          <p:cNvPr id="15" name="Text 11"/>
          <p:cNvSpPr txBox="1"/>
          <p:nvPr/>
        </p:nvSpPr>
        <p:spPr>
          <a:xfrm>
            <a:off x="2553005" y="4076395"/>
            <a:ext cx="14097305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AI를 가르치는 강의가 아니라,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학습을 설계하는 강의를 합시다.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1410005" y="6553505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kern="0" spc="263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PILLARS · 13개 이론을 떠받치는 3가지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695298" y="7362749"/>
            <a:ext cx="4381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PILLAR 01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695298" y="7696505"/>
            <a:ext cx="4381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학습목표가 먼저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1695298" y="8220456"/>
            <a:ext cx="4381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Bloom · 백워드 · 구성적 정렬 · 커크패트릭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도구가 아니라 행동 변화부터 정의합니다.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029907" y="7362749"/>
            <a:ext cx="4381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PILLAR 02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7029907" y="7696505"/>
            <a:ext cx="4381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학습자가 일하게</a:t>
            </a:r>
            <a:endParaRPr lang="en-US" sz="2800" dirty="0"/>
          </a:p>
        </p:txBody>
      </p:sp>
      <p:sp>
        <p:nvSpPr>
          <p:cNvPr id="22" name="Text 18"/>
          <p:cNvSpPr txBox="1"/>
          <p:nvPr/>
        </p:nvSpPr>
        <p:spPr>
          <a:xfrm>
            <a:off x="7029907" y="8220456"/>
            <a:ext cx="4381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ADDIE · Gagné · SAM · 액티브러닝 · PBL · 플립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발언 50% 이하. AI는 학습자 옆자리에.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2363602" y="7362749"/>
            <a:ext cx="4381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244" dirty="0">
                <a:solidFill>
                  <a:srgbClr val="A48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PILLAR 03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12363602" y="7696505"/>
            <a:ext cx="4381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의미가 남게</a:t>
            </a:r>
            <a:endParaRPr lang="en-US" sz="2800" dirty="0"/>
          </a:p>
        </p:txBody>
      </p:sp>
      <p:sp>
        <p:nvSpPr>
          <p:cNvPr id="25" name="Text 21"/>
          <p:cNvSpPr txBox="1"/>
          <p:nvPr/>
        </p:nvSpPr>
        <p:spPr>
          <a:xfrm>
            <a:off x="12363602" y="8220456"/>
            <a:ext cx="4381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ZPD · 구성주의 · TPACK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답 도우미가 아니라 비판할 상대로.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410005" y="9696298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 · 정리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6269005" y="998250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 / 62</a:t>
            </a:r>
            <a:endParaRPr lang="en-US" sz="9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512975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2b74d66ca8649b5762828a25c13c981.png"/>
          <p:cNvPicPr>
            <a:picLocks noChangeAspect="1"/>
          </p:cNvPicPr>
          <p:nvPr/>
        </p:nvPicPr>
        <p:blipFill>
          <a:blip r:embed="rId2"/>
          <a:srcRect l="-201" r="-201"/>
          <a:stretch/>
        </p:blipFill>
        <p:spPr>
          <a:xfrm>
            <a:off x="75895" y="75895"/>
            <a:ext cx="18288000" cy="75895"/>
          </a:xfrm>
          <a:prstGeom prst="rect">
            <a:avLst/>
          </a:prstGeom>
        </p:spPr>
      </p:pic>
      <p:pic>
        <p:nvPicPr>
          <p:cNvPr id="4" name="Image 1" descr="gen-dedup-0566c591cc2016b4b890031655d4d299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5895" y="152705"/>
            <a:ext cx="18288000" cy="2834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410005" y="1123798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315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REFERENCES · 더 깊이 읽고 싶다면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1410005" y="1600200"/>
            <a:ext cx="15621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참고문헌 — 13개 </a:t>
            </a:r>
            <a:r>
              <a:rPr lang="en-US" sz="5400" b="1" kern="0" spc="-108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</a:t>
            </a:r>
            <a:r>
              <a:rPr lang="en-US" sz="5400" b="1" kern="0" spc="-108" dirty="0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5400" b="1" kern="0" spc="-108" dirty="0" err="1">
                <a:solidFill>
                  <a:srgbClr val="0B17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1410005" y="2885846"/>
            <a:ext cx="1562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강의안의 참고문헌입니다. 이론 장마다 아래쪽에 출처 각주를 달았습니다.</a:t>
            </a:r>
            <a:r>
              <a:rPr lang="en-US" sz="1600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410005" y="3600907"/>
            <a:ext cx="7620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학습목표 · 평가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410005" y="3933749"/>
            <a:ext cx="762061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Bloom, B. S. (Ed.) (1956). Taxonomy of Educational Objectives: Handbook I. David McKay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Anderson, L. W. &amp; Krathwohl, D. R. (Eds.) (2001). 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Taxonomy for Learning, Teaching, and Assessing.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Biggs, J. (1996). Enhancing teaching through constructive alignment. 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Higher Education, 32(3), 347–364.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Wiggins, G. &amp; McTighe, J. (1998/2005). 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Understanding by Design.</a:t>
            </a: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ASCD.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Kirkpatrick, J. D. &amp; Kirkpatrick, W. K. (2016). 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Kirkpatrick's Four Levels of Training Evaluation. ATD Press.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410005" y="6017895"/>
            <a:ext cx="7620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교수설계 모델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410005" y="6326505"/>
            <a:ext cx="7620610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Branson, R. K. et al. (1975). 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Interservice Procedures for Instructional Systems Development (ADDIE).</a:t>
            </a: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Florida State Univ.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Gagné, R. M. (1965; 4th ed. 1985). 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Conditions of Learning.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Allen, M. &amp; Sites, R. (2012). 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Leaving ADDIE for SAM.</a:t>
            </a: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ASTD Press. 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410005" y="7715250"/>
            <a:ext cx="7620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교수법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410005" y="8023860"/>
            <a:ext cx="762061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Bonwell, C. C. &amp; Eison, J. A. (1991). 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Learning: Creating Excitement in the Classroom. ASHE-ERIC Report No. 1.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Freeman, S. et al. (2014). Active learning increases student performance in science, engineering, and mathematics. PNAS 111(23), 8410–8415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9411005" y="3600907"/>
            <a:ext cx="7620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교수법 (계속)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9411005" y="3933749"/>
            <a:ext cx="7620610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Barrows, H. S. &amp; Tamblyn, R. M. (1980). Problem-Based Learning: An Approach to Medical Education. Springer.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Schmidt, H. G. (1983). Problem-based learning: rationale and description. Medical Education, 17(1), 11–16.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Bergmann, J. &amp; Sams, A. (2012). 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Flip Your Classroom. ISTE·ASCD.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9411005" y="5600700"/>
            <a:ext cx="7620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학습이론 · 에듀테크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9411005" y="5934456"/>
            <a:ext cx="7620610" cy="219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Vygotsky, L. S. (1978). Mind in Society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Harvard Univ. Press.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Wood, D., Bruner, J. S. &amp; Ross, G. (1976). The role of tutoring in problem solving. J. Child Psychology and Psychiatry, 17(2), 89–100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Piaget, J. (1970). 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Genetic Epistemology. Columbia Univ. Press.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Jonassen, D. H. (1991). Objectivism versus constructivism. ETR&amp;D, 39(3), 5–14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Mishra, P. &amp; Koehler, M. J. (2006). Technological pedagogical content knowledge. Teachers College Record, 108(6), 1017–1054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9411005" y="8363102"/>
            <a:ext cx="7620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· 교육 동향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9411005" y="8695944"/>
            <a:ext cx="76206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UNESCO (2023). 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Guidance for Generative AI in Education and Research.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OECD (2023). </a:t>
            </a: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OECD Digital Education Outlook.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410005" y="97913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0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 / 62</a:t>
            </a:r>
            <a:endParaRPr lang="en-US" sz="100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743065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4c1083850d059966003d4485005bfb9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895" y="75895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5795515eb70ee1c1d75343a36d25dd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" y="75895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410005" y="5982005"/>
            <a:ext cx="4990795" cy="2286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1"/>
          <p:cNvSpPr/>
          <p:nvPr/>
        </p:nvSpPr>
        <p:spPr>
          <a:xfrm>
            <a:off x="1410005" y="5982005"/>
            <a:ext cx="38405" cy="2286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2"/>
          <p:cNvSpPr/>
          <p:nvPr/>
        </p:nvSpPr>
        <p:spPr>
          <a:xfrm>
            <a:off x="6743700" y="5982005"/>
            <a:ext cx="4990795" cy="2286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3"/>
          <p:cNvSpPr/>
          <p:nvPr/>
        </p:nvSpPr>
        <p:spPr>
          <a:xfrm>
            <a:off x="6743700" y="5982005"/>
            <a:ext cx="38405" cy="2286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12077395" y="5982005"/>
            <a:ext cx="4990795" cy="2286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12077395" y="5982005"/>
            <a:ext cx="38405" cy="2286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0" name="Image 2" descr="gen-dedup-c67648dc443221d4d8a642bb7b1504da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410005" y="5219395"/>
            <a:ext cx="1143000" cy="2834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0005" y="1410005"/>
            <a:ext cx="8572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6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통합교수법 설계와 실행 · END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1410005" y="2361895"/>
            <a:ext cx="156216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700" b="1" kern="0" spc="-29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이제 내 강의를 설계할 차례</a:t>
            </a:r>
            <a:r>
              <a:rPr lang="en-US" altLang="ko-KR" sz="9700" b="1" kern="0" spc="-29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/>
            </a:r>
            <a:endParaRPr lang="en-US" sz="9700" dirty="0"/>
          </a:p>
        </p:txBody>
      </p:sp>
      <p:sp>
        <p:nvSpPr>
          <p:cNvPr id="13" name="Text 8"/>
          <p:cNvSpPr txBox="1"/>
          <p:nvPr/>
        </p:nvSpPr>
        <p:spPr>
          <a:xfrm>
            <a:off x="1422704" y="4361688"/>
            <a:ext cx="1560891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6000" kern="0" spc="-29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오래 기억되고 추천하는 강의를 위해 준비해보세요</a:t>
            </a:r>
            <a:r>
              <a:rPr lang="en-US" altLang="ko-KR" sz="6000" kern="0" spc="-29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6000" dirty="0"/>
          </a:p>
        </p:txBody>
      </p:sp>
      <p:sp>
        <p:nvSpPr>
          <p:cNvPr id="14" name="Text 9"/>
          <p:cNvSpPr txBox="1"/>
          <p:nvPr/>
        </p:nvSpPr>
        <p:spPr>
          <a:xfrm>
            <a:off x="1695298" y="6219749"/>
            <a:ext cx="4381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r>
              <a:rPr lang="ko-KR" alt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준비하기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1695297" y="6763818"/>
            <a:ext cx="4381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강의안 1편 골라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워크북 58 채우기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1695298" y="7410298"/>
            <a:ext cx="4381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8칸 중 5칸만 채워도 충분합니다.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029907" y="6219749"/>
            <a:ext cx="4381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ko-KR" alt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실천하기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028992" y="6886347"/>
            <a:ext cx="4381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4개로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초안 받기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7029907" y="7410298"/>
            <a:ext cx="4381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57장의 프롬프트 4개를 AI에 한 번씩.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2363602" y="6219749"/>
            <a:ext cx="4381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r>
              <a:rPr lang="ko-KR" altLang="en-US" sz="1050" kern="0" spc="244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평가해보기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12363602" y="6791706"/>
            <a:ext cx="4381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 운영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회고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12363602" y="7410298"/>
            <a:ext cx="4381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친구·동료 1명에게라도 한 번 운영해보세요.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 사이클 시작.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410005" y="8839505"/>
            <a:ext cx="15621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i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질문·의견 · aebon@dreamitbiz.com</a:t>
            </a:r>
            <a:endParaRPr lang="en-US" sz="2700" dirty="0"/>
          </a:p>
        </p:txBody>
      </p:sp>
      <p:sp>
        <p:nvSpPr>
          <p:cNvPr id="24" name="Text 19"/>
          <p:cNvSpPr txBox="1"/>
          <p:nvPr/>
        </p:nvSpPr>
        <p:spPr>
          <a:xfrm>
            <a:off x="1410005" y="97913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 AI강사 양성과정 · AI 통합교수법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6269005" y="9791395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 / 62</a:t>
            </a:r>
            <a:endParaRPr lang="en-US" sz="9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158695211"/>
      </p:ext>
    </p:extLst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9143416080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맑은 고딕"/>
        <a:cs typeface="맑은 고딕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맑은 고딕"/>
        <a:cs typeface="맑은 고딕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BF9F7B8-EEE0-42B7-A140-B91B33DBA5D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94b2aeb-db0d-4461-a753-56572146750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11657</Words>
  <Application>Microsoft Office PowerPoint</Application>
  <PresentationFormat>사용자 지정</PresentationFormat>
  <Paragraphs>1721</Paragraphs>
  <Slides>62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65" baseType="lpstr">
      <vt:lpstr>맑은 고딕</vt:lpstr>
      <vt:lpstr>Arial</vt:lpstr>
      <vt:lpstr>Office Theme [1779143416080]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8</cp:revision>
  <dcterms:created xsi:type="dcterms:W3CDTF">2026-05-18T09:44:47Z</dcterms:created>
  <dcterms:modified xsi:type="dcterms:W3CDTF">2026-05-18T22:57:12Z</dcterms:modified>
</cp:coreProperties>
</file>