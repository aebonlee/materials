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589520" y="-914400"/>
            <a:ext cx="5486400" cy="3657600"/>
          </a:xfrm>
          <a:prstGeom prst="rect">
            <a:avLst/>
          </a:prstGeom>
          <a:solidFill>
            <a:srgbClr val="243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28016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 b="1" i="0">
                <a:solidFill>
                  <a:srgbClr val="6FA0FF"/>
                </a:solidFill>
                <a:latin typeface="맑은 고딕"/>
                <a:ea typeface="맑은 고딕"/>
              </a:rPr>
              <a:t>2026 KERIS 교육과정(안) · 공통직무 · 중급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828800"/>
            <a:ext cx="1051560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5600" b="1" i="0">
                <a:solidFill>
                  <a:srgbClr val="FFFFFF"/>
                </a:solidFill>
                <a:latin typeface="맑은 고딕"/>
                <a:ea typeface="맑은 고딕"/>
              </a:rPr>
              <a:t>데이터 분석 실습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5600" b="1" i="0">
                <a:solidFill>
                  <a:srgbClr val="FFFFFF"/>
                </a:solidFill>
                <a:latin typeface="맑은 고딕"/>
                <a:ea typeface="맑은 고딕"/>
              </a:rPr>
              <a:t>&amp; 시각화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0392" y="4114800"/>
            <a:ext cx="91440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700" b="0" i="0">
                <a:solidFill>
                  <a:srgbClr val="9FB0CF"/>
                </a:solidFill>
                <a:latin typeface="맑은 고딕"/>
                <a:ea typeface="맑은 고딕"/>
              </a:rPr>
              <a:t>엑셀 기반 EDA · 시각화 · 대시보드 구축 실습으로</a:t>
            </a:r>
          </a:p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700" b="0" i="0">
                <a:solidFill>
                  <a:srgbClr val="9FB0CF"/>
                </a:solidFill>
                <a:latin typeface="맑은 고딕"/>
                <a:ea typeface="맑은 고딕"/>
              </a:rPr>
              <a:t>데이터 기반 의사결정 역량을 키우는 1일 6시간 과정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" y="603504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0" i="0">
                <a:solidFill>
                  <a:srgbClr val="9FB0CF"/>
                </a:solidFill>
                <a:latin typeface="맑은 고딕"/>
                <a:ea typeface="맑은 고딕"/>
              </a:rPr>
              <a:t>강의안 · 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  <a:latin typeface="맑은 고딕"/>
                <a:ea typeface="맑은 고딕"/>
              </a:rPr>
              <a:t>Data Lab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0" i="0">
                <a:solidFill>
                  <a:srgbClr val="9FB0CF"/>
                </a:solidFill>
                <a:latin typeface="맑은 고딕"/>
                <a:ea typeface="맑은 고딕"/>
              </a:rPr>
              <a:t> · 드림아이티비즈(DreamIT Biz)  |  data.dreamitbiz.com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589520" y="-914400"/>
            <a:ext cx="5486400" cy="3657600"/>
          </a:xfrm>
          <a:prstGeom prst="rect">
            <a:avLst/>
          </a:prstGeom>
          <a:solidFill>
            <a:srgbClr val="243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50392" y="566928"/>
            <a:ext cx="2034540" cy="384048"/>
          </a:xfrm>
          <a:prstGeom prst="roundRect">
            <a:avLst/>
          </a:prstGeom>
          <a:solidFill>
            <a:srgbClr val="22304E"/>
          </a:solidFill>
          <a:ln w="9525">
            <a:solidFill>
              <a:srgbClr val="3A4A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 rIns="109728" tIns="18288" bIns="18288"/>
          <a:lstStyle/>
          <a:p>
            <a:pPr algn="ctr"/>
            <a:r>
              <a:rPr sz="1100" b="1" i="0">
                <a:solidFill>
                  <a:srgbClr val="6FA0FF"/>
                </a:solidFill>
                <a:latin typeface="맑은 고딕"/>
                <a:ea typeface="맑은 고딕"/>
              </a:rPr>
              <a:t>COURSE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078992"/>
            <a:ext cx="105156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3300" b="1" i="0">
                <a:solidFill>
                  <a:srgbClr val="FFFFFF"/>
                </a:solidFill>
                <a:latin typeface="맑은 고딕"/>
                <a:ea typeface="맑은 고딕"/>
              </a:rPr>
              <a:t>과정 개요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0392" y="1938528"/>
            <a:ext cx="106070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500" b="0" i="0">
                <a:solidFill>
                  <a:srgbClr val="9FB0CF"/>
                </a:solidFill>
                <a:latin typeface="맑은 고딕"/>
                <a:ea typeface="맑은 고딕"/>
              </a:rPr>
              <a:t>데이터를 정제하고 → 보여주고 → 결정으로 잇는 3단계 흐름을 하루에 익힙니다.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2606040"/>
            <a:ext cx="3429000" cy="1600200"/>
          </a:xfrm>
          <a:prstGeom prst="roundRect">
            <a:avLst/>
          </a:prstGeom>
          <a:solidFill>
            <a:srgbClr val="22304E"/>
          </a:solidFill>
          <a:ln w="9525">
            <a:solidFill>
              <a:srgbClr val="3A4A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164592" tIns="164592" bIns="128016"/>
          <a:lstStyle/>
          <a:p>
            <a:pPr algn="ctr">
              <a:lnSpc>
                <a:spcPct val="110000"/>
              </a:lnSpc>
            </a:pPr>
            <a:r>
              <a:rPr sz="1400" b="1" i="0">
                <a:solidFill>
                  <a:srgbClr val="FFFFFF"/>
                </a:solidFill>
                <a:latin typeface="맑은 고딕"/>
                <a:ea typeface="맑은 고딕"/>
              </a:rPr>
              <a:t>🎯 교육 목표</a:t>
            </a:r>
          </a:p>
          <a:p>
            <a:pPr>
              <a:lnSpc>
                <a:spcPct val="125000"/>
              </a:lnSpc>
              <a:spcBef>
                <a:spcPts val="600"/>
              </a:spcBef>
            </a:pPr>
            <a:r>
              <a:rPr sz="1150" b="0" i="0">
                <a:solidFill>
                  <a:srgbClr val="9FB0CF"/>
                </a:solidFill>
                <a:latin typeface="맑은 고딕"/>
                <a:ea typeface="맑은 고딕"/>
              </a:rPr>
              <a:t>데이터 분석·시각화 핵심 원리를 이해하고, 엑셀 실습으로 데이터 기반 의사결정 역량을 내재화합니다.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34840" y="2606040"/>
            <a:ext cx="3429000" cy="1600200"/>
          </a:xfrm>
          <a:prstGeom prst="roundRect">
            <a:avLst/>
          </a:prstGeom>
          <a:solidFill>
            <a:srgbClr val="22304E"/>
          </a:solidFill>
          <a:ln w="9525">
            <a:solidFill>
              <a:srgbClr val="3A4A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164592" tIns="164592" bIns="128016"/>
          <a:lstStyle/>
          <a:p>
            <a:pPr algn="ctr">
              <a:lnSpc>
                <a:spcPct val="110000"/>
              </a:lnSpc>
            </a:pPr>
            <a:r>
              <a:rPr sz="1400" b="1" i="0">
                <a:solidFill>
                  <a:srgbClr val="FFFFFF"/>
                </a:solidFill>
                <a:latin typeface="맑은 고딕"/>
                <a:ea typeface="맑은 고딕"/>
              </a:rPr>
              <a:t>⏱ 시간 / 레벨</a:t>
            </a:r>
          </a:p>
          <a:p>
            <a:pPr>
              <a:lnSpc>
                <a:spcPct val="125000"/>
              </a:lnSpc>
              <a:spcBef>
                <a:spcPts val="600"/>
              </a:spcBef>
            </a:pPr>
            <a:r>
              <a:rPr sz="1150" b="0" i="0">
                <a:solidFill>
                  <a:srgbClr val="9FB0CF"/>
                </a:solidFill>
                <a:latin typeface="맑은 고딕"/>
                <a:ea typeface="맑은 고딕"/>
              </a:rPr>
              <a:t>1일 6시간 · 중급
모듈 3개 × 각 2.0H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2606040"/>
            <a:ext cx="3429000" cy="1600200"/>
          </a:xfrm>
          <a:prstGeom prst="roundRect">
            <a:avLst/>
          </a:prstGeom>
          <a:solidFill>
            <a:srgbClr val="22304E"/>
          </a:solidFill>
          <a:ln w="9525">
            <a:solidFill>
              <a:srgbClr val="3A4A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164592" tIns="164592" bIns="128016"/>
          <a:lstStyle/>
          <a:p>
            <a:pPr algn="ctr">
              <a:lnSpc>
                <a:spcPct val="110000"/>
              </a:lnSpc>
            </a:pPr>
            <a:r>
              <a:rPr sz="1400" b="1" i="0">
                <a:solidFill>
                  <a:srgbClr val="FFFFFF"/>
                </a:solidFill>
                <a:latin typeface="맑은 고딕"/>
                <a:ea typeface="맑은 고딕"/>
              </a:rPr>
              <a:t>🧰 사용 도구</a:t>
            </a:r>
          </a:p>
          <a:p>
            <a:pPr>
              <a:lnSpc>
                <a:spcPct val="125000"/>
              </a:lnSpc>
              <a:spcBef>
                <a:spcPts val="600"/>
              </a:spcBef>
            </a:pPr>
            <a:r>
              <a:rPr sz="1150" b="0" i="0">
                <a:solidFill>
                  <a:srgbClr val="9FB0CF"/>
                </a:solidFill>
                <a:latin typeface="맑은 고딕"/>
                <a:ea typeface="맑은 고딕"/>
              </a:rPr>
              <a:t>Microsoft Excel
피벗테이블 · 조건부 서식 · 슬라이서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4526280"/>
            <a:ext cx="54864" cy="868680"/>
          </a:xfrm>
          <a:prstGeom prst="rect">
            <a:avLst/>
          </a:prstGeom>
          <a:solidFill>
            <a:srgbClr val="3D7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77824" y="4526280"/>
            <a:ext cx="10506456" cy="868680"/>
          </a:xfrm>
          <a:prstGeom prst="roundRect">
            <a:avLst/>
          </a:prstGeom>
          <a:solidFill>
            <a:srgbClr val="2230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/>
          <a:lstStyle/>
          <a:p>
            <a:pPr algn="ctr">
              <a:lnSpc>
                <a:spcPct val="130000"/>
              </a:lnSpc>
            </a:pPr>
            <a:r>
              <a:rPr sz="1300" b="0" i="0">
                <a:solidFill>
                  <a:srgbClr val="EEF2FB"/>
                </a:solidFill>
                <a:latin typeface="맑은 고딕"/>
                <a:ea typeface="맑은 고딕"/>
              </a:rPr>
              <a:t>핵심 키워드 — </a:t>
            </a:r>
            <a:r>
              <a:rPr sz="1300" b="1" i="0">
                <a:solidFill>
                  <a:srgbClr val="FFFFFF"/>
                </a:solidFill>
                <a:latin typeface="맑은 고딕"/>
                <a:ea typeface="맑은 고딕"/>
              </a:rPr>
              <a:t>데이터 분석 · 엑셀 전처리 · EDA · 시각화 · 대시보드. </a:t>
            </a:r>
            <a:r>
              <a:rPr sz="1300" b="0" i="0">
                <a:solidFill>
                  <a:srgbClr val="EEF2FB"/>
                </a:solidFill>
                <a:latin typeface="맑은 고딕"/>
                <a:ea typeface="맑은 고딕"/>
              </a:rPr>
              <a:t>코딩 없이 엑셀만으로 분석 전 과정을 경험합니다.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6419088"/>
            <a:ext cx="2743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1" i="0">
                <a:solidFill>
                  <a:srgbClr val="EEF2FB"/>
                </a:solidFill>
                <a:latin typeface="맑은 고딕"/>
                <a:ea typeface="맑은 고딕"/>
              </a:rPr>
              <a:t>Data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1" i="0">
                <a:solidFill>
                  <a:srgbClr val="6FA0FF"/>
                </a:solidFill>
                <a:latin typeface="맑은 고딕"/>
                <a:ea typeface="맑은 고딕"/>
              </a:rPr>
              <a:t> Lab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0" y="6419088"/>
            <a:ext cx="1828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1200" b="0" i="0">
                <a:solidFill>
                  <a:srgbClr val="9FB0CF"/>
                </a:solidFill>
                <a:latin typeface="맑은 고딕"/>
                <a:ea typeface="맑은 고딕"/>
              </a:rPr>
              <a:t>2 / 28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0"/>
            <a:ext cx="12191695" cy="38100"/>
          </a:xfrm>
          <a:prstGeom prst="rect">
            <a:avLst/>
          </a:prstGeom>
          <a:solidFill>
            <a:srgbClr val="1420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0" y="0"/>
            <a:ext cx="870835" cy="38100"/>
          </a:xfrm>
          <a:prstGeom prst="rect">
            <a:avLst/>
          </a:prstGeom>
          <a:solidFill>
            <a:srgbClr val="3D7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589520" y="-914400"/>
            <a:ext cx="5486400" cy="3657600"/>
          </a:xfrm>
          <a:prstGeom prst="rect">
            <a:avLst/>
          </a:prstGeom>
          <a:solidFill>
            <a:srgbClr val="243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50392" y="566928"/>
            <a:ext cx="1170432" cy="384048"/>
          </a:xfrm>
          <a:prstGeom prst="roundRect">
            <a:avLst/>
          </a:prstGeom>
          <a:solidFill>
            <a:srgbClr val="22304E"/>
          </a:solidFill>
          <a:ln w="9525">
            <a:solidFill>
              <a:srgbClr val="3A4A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 rIns="109728" tIns="18288" bIns="18288"/>
          <a:lstStyle/>
          <a:p>
            <a:pPr algn="ctr"/>
            <a:r>
              <a:rPr sz="1100" b="1" i="0">
                <a:solidFill>
                  <a:srgbClr val="6FA0FF"/>
                </a:solidFill>
                <a:latin typeface="맑은 고딕"/>
                <a:ea typeface="맑은 고딕"/>
              </a:rPr>
              <a:t>AGENDA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078992"/>
            <a:ext cx="105156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3300" b="1" i="0">
                <a:solidFill>
                  <a:srgbClr val="FFFFFF"/>
                </a:solidFill>
                <a:latin typeface="맑은 고딕"/>
                <a:ea typeface="맑은 고딕"/>
              </a:rPr>
              <a:t>오늘의 흐름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0392" y="1938528"/>
            <a:ext cx="106070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500" b="0" i="0">
                <a:solidFill>
                  <a:srgbClr val="9FB0CF"/>
                </a:solidFill>
                <a:latin typeface="맑은 고딕"/>
                <a:ea typeface="맑은 고딕"/>
              </a:rPr>
              <a:t>탐색(EDA) → 표현(시각화) → 종합(대시보드)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822960" y="2468880"/>
          <a:ext cx="10515598" cy="22677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01931"/>
                <a:gridCol w="3204754"/>
                <a:gridCol w="5007428"/>
                <a:gridCol w="1001485"/>
              </a:tblGrid>
              <a:tr h="566928"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6FA0FF"/>
                          </a:solidFill>
                          <a:latin typeface="맑은 고딕"/>
                          <a:ea typeface="맑은 고딕"/>
                        </a:rPr>
                        <a:t>모듈</a:t>
                      </a:r>
                    </a:p>
                  </a:txBody>
                  <a:tcPr marL="91440" marT="36576" marB="36576" anchor="ctr">
                    <a:solidFill>
                      <a:srgbClr val="14203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6FA0FF"/>
                          </a:solidFill>
                          <a:latin typeface="맑은 고딕"/>
                          <a:ea typeface="맑은 고딕"/>
                        </a:rPr>
                        <a:t>주제</a:t>
                      </a:r>
                    </a:p>
                  </a:txBody>
                  <a:tcPr marL="91440" marT="36576" marB="36576" anchor="ctr">
                    <a:solidFill>
                      <a:srgbClr val="14203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6FA0FF"/>
                          </a:solidFill>
                          <a:latin typeface="맑은 고딕"/>
                          <a:ea typeface="맑은 고딕"/>
                        </a:rPr>
                        <a:t>핵심 역량</a:t>
                      </a:r>
                    </a:p>
                  </a:txBody>
                  <a:tcPr marL="91440" marT="36576" marB="36576" anchor="ctr">
                    <a:solidFill>
                      <a:srgbClr val="14203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6FA0FF"/>
                          </a:solidFill>
                          <a:latin typeface="맑은 고딕"/>
                          <a:ea typeface="맑은 고딕"/>
                        </a:rPr>
                        <a:t>시간</a:t>
                      </a:r>
                    </a:p>
                  </a:txBody>
                  <a:tcPr marL="91440" marT="36576" marB="36576" anchor="ctr">
                    <a:solidFill>
                      <a:srgbClr val="142036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30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모듈 1</a:t>
                      </a:r>
                    </a:p>
                  </a:txBody>
                  <a:tcPr marL="91440" marT="27432" marB="27432"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300" b="0" i="0">
                          <a:solidFill>
                            <a:srgbClr val="9FB0CF"/>
                          </a:solidFill>
                          <a:latin typeface="맑은 고딕"/>
                          <a:ea typeface="맑은 고딕"/>
                        </a:rPr>
                        <a:t>탐색적 데이터분석 (EDA)</a:t>
                      </a:r>
                    </a:p>
                  </a:txBody>
                  <a:tcPr marL="91440" marT="27432" marB="27432"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300" b="0" i="0">
                          <a:solidFill>
                            <a:srgbClr val="9FB0CF"/>
                          </a:solidFill>
                          <a:latin typeface="맑은 고딕"/>
                          <a:ea typeface="맑은 고딕"/>
                        </a:rPr>
                        <a:t>데이터 정제·구조 파악·요약통계·패턴 발굴</a:t>
                      </a:r>
                    </a:p>
                  </a:txBody>
                  <a:tcPr marL="91440" marT="27432" marB="27432"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300" b="0" i="0">
                          <a:solidFill>
                            <a:srgbClr val="9FB0CF"/>
                          </a:solidFill>
                          <a:latin typeface="맑은 고딕"/>
                          <a:ea typeface="맑은 고딕"/>
                        </a:rPr>
                        <a:t>2.0H</a:t>
                      </a:r>
                    </a:p>
                  </a:txBody>
                  <a:tcPr marL="91440" marT="27432" marB="27432" anchor="ctr">
                    <a:solidFill>
                      <a:srgbClr val="1B2A4A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30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모듈 2</a:t>
                      </a:r>
                    </a:p>
                  </a:txBody>
                  <a:tcPr marL="91440" marT="27432" marB="27432" anchor="ctr">
                    <a:solidFill>
                      <a:srgbClr val="14203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300" b="0" i="0">
                          <a:solidFill>
                            <a:srgbClr val="9FB0CF"/>
                          </a:solidFill>
                          <a:latin typeface="맑은 고딕"/>
                          <a:ea typeface="맑은 고딕"/>
                        </a:rPr>
                        <a:t>시각화의 원리 및 기획</a:t>
                      </a:r>
                    </a:p>
                  </a:txBody>
                  <a:tcPr marL="91440" marT="27432" marB="27432" anchor="ctr">
                    <a:solidFill>
                      <a:srgbClr val="14203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300" b="0" i="0">
                          <a:solidFill>
                            <a:srgbClr val="9FB0CF"/>
                          </a:solidFill>
                          <a:latin typeface="맑은 고딕"/>
                          <a:ea typeface="맑은 고딕"/>
                        </a:rPr>
                        <a:t>목적에 맞는 차트 선택과 정직한 표현</a:t>
                      </a:r>
                    </a:p>
                  </a:txBody>
                  <a:tcPr marL="91440" marT="27432" marB="27432" anchor="ctr">
                    <a:solidFill>
                      <a:srgbClr val="14203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300" b="0" i="0">
                          <a:solidFill>
                            <a:srgbClr val="9FB0CF"/>
                          </a:solidFill>
                          <a:latin typeface="맑은 고딕"/>
                          <a:ea typeface="맑은 고딕"/>
                        </a:rPr>
                        <a:t>2.0H</a:t>
                      </a:r>
                    </a:p>
                  </a:txBody>
                  <a:tcPr marL="91440" marT="27432" marB="27432" anchor="ctr">
                    <a:solidFill>
                      <a:srgbClr val="142036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30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모듈 3</a:t>
                      </a:r>
                    </a:p>
                  </a:txBody>
                  <a:tcPr marL="91440" marT="27432" marB="27432"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300" b="0" i="0">
                          <a:solidFill>
                            <a:srgbClr val="9FB0CF"/>
                          </a:solidFill>
                          <a:latin typeface="맑은 고딕"/>
                          <a:ea typeface="맑은 고딕"/>
                        </a:rPr>
                        <a:t>실무형 대시보드 구축</a:t>
                      </a:r>
                    </a:p>
                  </a:txBody>
                  <a:tcPr marL="91440" marT="27432" marB="27432"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300" b="0" i="0">
                          <a:solidFill>
                            <a:srgbClr val="9FB0CF"/>
                          </a:solidFill>
                          <a:latin typeface="맑은 고딕"/>
                          <a:ea typeface="맑은 고딕"/>
                        </a:rPr>
                        <a:t>KPI 종합 · 인터랙션 · 자동화</a:t>
                      </a:r>
                    </a:p>
                  </a:txBody>
                  <a:tcPr marL="91440" marT="27432" marB="27432"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300" b="0" i="0">
                          <a:solidFill>
                            <a:srgbClr val="9FB0CF"/>
                          </a:solidFill>
                          <a:latin typeface="맑은 고딕"/>
                          <a:ea typeface="맑은 고딕"/>
                        </a:rPr>
                        <a:t>2.0H</a:t>
                      </a:r>
                    </a:p>
                  </a:txBody>
                  <a:tcPr marL="91440" marT="27432" marB="27432" anchor="ctr">
                    <a:solidFill>
                      <a:srgbClr val="1B2A4A"/>
                    </a:solidFill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822960" y="4846320"/>
            <a:ext cx="54864" cy="868680"/>
          </a:xfrm>
          <a:prstGeom prst="rect">
            <a:avLst/>
          </a:prstGeom>
          <a:solidFill>
            <a:srgbClr val="3D7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77824" y="4846320"/>
            <a:ext cx="10506456" cy="868680"/>
          </a:xfrm>
          <a:prstGeom prst="roundRect">
            <a:avLst/>
          </a:prstGeom>
          <a:solidFill>
            <a:srgbClr val="2230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/>
          <a:lstStyle/>
          <a:p>
            <a:pPr algn="ctr">
              <a:lnSpc>
                <a:spcPct val="130000"/>
              </a:lnSpc>
            </a:pPr>
            <a:r>
              <a:rPr sz="1300" b="0" i="0">
                <a:solidFill>
                  <a:srgbClr val="EEF2FB"/>
                </a:solidFill>
                <a:latin typeface="맑은 고딕"/>
                <a:ea typeface="맑은 고딕"/>
              </a:rPr>
              <a:t>분석의 끝은 </a:t>
            </a:r>
            <a:r>
              <a:rPr sz="1300" b="1" i="0">
                <a:solidFill>
                  <a:srgbClr val="FFFFFF"/>
                </a:solidFill>
                <a:latin typeface="맑은 고딕"/>
                <a:ea typeface="맑은 고딕"/>
              </a:rPr>
              <a:t>"예쁜 차트"가 아니라 "더 나은 결정"</a:t>
            </a:r>
            <a:r>
              <a:rPr sz="1300" b="0" i="0">
                <a:solidFill>
                  <a:srgbClr val="EEF2FB"/>
                </a:solidFill>
                <a:latin typeface="맑은 고딕"/>
                <a:ea typeface="맑은 고딕"/>
              </a:rPr>
              <a:t>입니다. 세 모듈은 그 결정에 이르는 한 줄기 흐름입니다.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6419088"/>
            <a:ext cx="2743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1" i="0">
                <a:solidFill>
                  <a:srgbClr val="EEF2FB"/>
                </a:solidFill>
                <a:latin typeface="맑은 고딕"/>
                <a:ea typeface="맑은 고딕"/>
              </a:rPr>
              <a:t>Data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1" i="0">
                <a:solidFill>
                  <a:srgbClr val="6FA0FF"/>
                </a:solidFill>
                <a:latin typeface="맑은 고딕"/>
                <a:ea typeface="맑은 고딕"/>
              </a:rPr>
              <a:t> Lab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0" y="6419088"/>
            <a:ext cx="1828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1200" b="0" i="0">
                <a:solidFill>
                  <a:srgbClr val="9FB0CF"/>
                </a:solidFill>
                <a:latin typeface="맑은 고딕"/>
                <a:ea typeface="맑은 고딕"/>
              </a:rPr>
              <a:t>3 / 28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0"/>
            <a:ext cx="12191695" cy="38100"/>
          </a:xfrm>
          <a:prstGeom prst="rect">
            <a:avLst/>
          </a:prstGeom>
          <a:solidFill>
            <a:srgbClr val="1420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0" y="0"/>
            <a:ext cx="1306253" cy="38100"/>
          </a:xfrm>
          <a:prstGeom prst="rect">
            <a:avLst/>
          </a:prstGeom>
          <a:solidFill>
            <a:srgbClr val="3D7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589520" y="-914400"/>
            <a:ext cx="5486400" cy="3657600"/>
          </a:xfrm>
          <a:prstGeom prst="rect">
            <a:avLst/>
          </a:prstGeom>
          <a:solidFill>
            <a:srgbClr val="243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0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548640"/>
            <a:ext cx="7315200" cy="2743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0000" b="1" i="0">
                <a:solidFill>
                  <a:srgbClr val="2A3C63"/>
                </a:solidFill>
                <a:latin typeface="맑은 고딕"/>
                <a:ea typeface="맑은 고딕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291840"/>
            <a:ext cx="109728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4400" b="1" i="0">
                <a:solidFill>
                  <a:srgbClr val="FFFFFF"/>
                </a:solidFill>
                <a:latin typeface="맑은 고딕"/>
                <a:ea typeface="맑은 고딕"/>
              </a:rPr>
              <a:t>탐색적 데이터분석 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4400" b="1" i="0">
                <a:solidFill>
                  <a:srgbClr val="6FA0FF"/>
                </a:solidFill>
                <a:latin typeface="맑은 고딕"/>
                <a:ea typeface="맑은 고딕"/>
              </a:rPr>
              <a:t>(EDA)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" y="4434840"/>
            <a:ext cx="105156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700" b="0" i="0">
                <a:solidFill>
                  <a:srgbClr val="9FB0CF"/>
                </a:solidFill>
                <a:latin typeface="맑은 고딕"/>
                <a:ea typeface="맑은 고딕"/>
              </a:rPr>
              <a:t>데이터를 쪼개고 그려보며 패턴·이상치·가설을 발굴한다 · 2.0H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5212080"/>
            <a:ext cx="1344168" cy="420624"/>
          </a:xfrm>
          <a:prstGeom prst="roundRect">
            <a:avLst/>
          </a:prstGeom>
          <a:solidFill>
            <a:srgbClr val="22304E"/>
          </a:solidFill>
          <a:ln w="9525">
            <a:solidFill>
              <a:srgbClr val="3A4A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0" i="0">
                <a:solidFill>
                  <a:srgbClr val="9FB0CF"/>
                </a:solidFill>
                <a:latin typeface="맑은 고딕"/>
                <a:ea typeface="맑은 고딕"/>
              </a:rPr>
              <a:t>EDA의 본질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331720" y="5212080"/>
            <a:ext cx="1490472" cy="420624"/>
          </a:xfrm>
          <a:prstGeom prst="roundRect">
            <a:avLst/>
          </a:prstGeom>
          <a:solidFill>
            <a:srgbClr val="22304E"/>
          </a:solidFill>
          <a:ln w="9525">
            <a:solidFill>
              <a:srgbClr val="3A4A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0" i="0">
                <a:solidFill>
                  <a:srgbClr val="9FB0CF"/>
                </a:solidFill>
                <a:latin typeface="맑은 고딕"/>
                <a:ea typeface="맑은 고딕"/>
              </a:rPr>
              <a:t>문제·가설 수립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986784" y="5212080"/>
            <a:ext cx="1197864" cy="420624"/>
          </a:xfrm>
          <a:prstGeom prst="roundRect">
            <a:avLst/>
          </a:prstGeom>
          <a:solidFill>
            <a:srgbClr val="22304E"/>
          </a:solidFill>
          <a:ln w="9525">
            <a:solidFill>
              <a:srgbClr val="3A4A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0" i="0">
                <a:solidFill>
                  <a:srgbClr val="9FB0CF"/>
                </a:solidFill>
                <a:latin typeface="맑은 고딕"/>
                <a:ea typeface="맑은 고딕"/>
              </a:rPr>
              <a:t>지표 쪼개기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349240" y="5212080"/>
            <a:ext cx="1636776" cy="420624"/>
          </a:xfrm>
          <a:prstGeom prst="roundRect">
            <a:avLst/>
          </a:prstGeom>
          <a:solidFill>
            <a:srgbClr val="22304E"/>
          </a:solidFill>
          <a:ln w="9525">
            <a:solidFill>
              <a:srgbClr val="3A4A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0" i="0">
                <a:solidFill>
                  <a:srgbClr val="9FB0CF"/>
                </a:solidFill>
                <a:latin typeface="맑은 고딕"/>
                <a:ea typeface="맑은 고딕"/>
              </a:rPr>
              <a:t>시계열·상관·교차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150608" y="5212080"/>
            <a:ext cx="1051560" cy="420624"/>
          </a:xfrm>
          <a:prstGeom prst="roundRect">
            <a:avLst/>
          </a:prstGeom>
          <a:solidFill>
            <a:srgbClr val="22304E"/>
          </a:solidFill>
          <a:ln w="9525">
            <a:solidFill>
              <a:srgbClr val="3A4A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0" i="0">
                <a:solidFill>
                  <a:srgbClr val="9FB0CF"/>
                </a:solidFill>
                <a:latin typeface="맑은 고딕"/>
                <a:ea typeface="맑은 고딕"/>
              </a:rPr>
              <a:t>분포 확인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6419088"/>
            <a:ext cx="2743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1" i="0">
                <a:solidFill>
                  <a:srgbClr val="EEF2FB"/>
                </a:solidFill>
                <a:latin typeface="맑은 고딕"/>
                <a:ea typeface="맑은 고딕"/>
              </a:rPr>
              <a:t>Data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1" i="0">
                <a:solidFill>
                  <a:srgbClr val="6FA0FF"/>
                </a:solidFill>
                <a:latin typeface="맑은 고딕"/>
                <a:ea typeface="맑은 고딕"/>
              </a:rPr>
              <a:t> Lab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0" y="6419088"/>
            <a:ext cx="1828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1200" b="0" i="0">
                <a:solidFill>
                  <a:srgbClr val="9FB0CF"/>
                </a:solidFill>
                <a:latin typeface="맑은 고딕"/>
                <a:ea typeface="맑은 고딕"/>
              </a:rPr>
              <a:t>4 / 28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0"/>
            <a:ext cx="12191695" cy="38100"/>
          </a:xfrm>
          <a:prstGeom prst="rect">
            <a:avLst/>
          </a:prstGeom>
          <a:solidFill>
            <a:srgbClr val="1420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0" y="0"/>
            <a:ext cx="1741670" cy="38100"/>
          </a:xfrm>
          <a:prstGeom prst="rect">
            <a:avLst/>
          </a:prstGeom>
          <a:solidFill>
            <a:srgbClr val="3D7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589520" y="-914400"/>
            <a:ext cx="5486400" cy="3657600"/>
          </a:xfrm>
          <a:prstGeom prst="rect">
            <a:avLst/>
          </a:prstGeom>
          <a:solidFill>
            <a:srgbClr val="243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50392" y="566928"/>
            <a:ext cx="1362456" cy="384048"/>
          </a:xfrm>
          <a:prstGeom prst="roundRect">
            <a:avLst/>
          </a:prstGeom>
          <a:solidFill>
            <a:srgbClr val="22304E"/>
          </a:solidFill>
          <a:ln w="9525">
            <a:solidFill>
              <a:srgbClr val="3A4A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 rIns="109728" tIns="18288" bIns="18288"/>
          <a:lstStyle/>
          <a:p>
            <a:pPr algn="ctr"/>
            <a:r>
              <a:rPr sz="1100" b="1" i="0">
                <a:solidFill>
                  <a:srgbClr val="6FA0FF"/>
                </a:solidFill>
                <a:latin typeface="맑은 고딕"/>
                <a:ea typeface="맑은 고딕"/>
              </a:rPr>
              <a:t>MODULE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078992"/>
            <a:ext cx="105156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3300" b="1" i="0">
                <a:solidFill>
                  <a:srgbClr val="FFFFFF"/>
                </a:solidFill>
                <a:latin typeface="맑은 고딕"/>
                <a:ea typeface="맑은 고딕"/>
              </a:rPr>
              <a:t>EDA란 무엇인가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0392" y="1938528"/>
            <a:ext cx="106070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500" b="0" i="0">
                <a:solidFill>
                  <a:srgbClr val="9FB0CF"/>
                </a:solidFill>
                <a:latin typeface="맑은 고딕"/>
                <a:ea typeface="맑은 고딕"/>
              </a:rPr>
              <a:t>통계학자 존 튜키 — 모델링 전에 데이터의 구조·패턴·이상치·관계를 탐색하는 과정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468880"/>
            <a:ext cx="512064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200" b="1" i="0">
                <a:solidFill>
                  <a:srgbClr val="3D7DFF"/>
                </a:solidFill>
                <a:latin typeface="맑은 고딕"/>
                <a:ea typeface="맑은 고딕"/>
              </a:rPr>
              <a:t>◆ </a:t>
            </a:r>
            <a:r>
              <a:rPr sz="1400" b="1" i="0">
                <a:solidFill>
                  <a:srgbClr val="EEF2FB"/>
                </a:solidFill>
                <a:latin typeface="맑은 고딕"/>
                <a:ea typeface="맑은 고딕"/>
              </a:rPr>
              <a:t>데이터 품질 점검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100" b="0" i="0">
                <a:solidFill>
                  <a:srgbClr val="9FB0CF"/>
                </a:solidFill>
                <a:latin typeface="맑은 고딕"/>
                <a:ea typeface="맑은 고딕"/>
              </a:rPr>
              <a:t>    결측치·중복·잘못된 단위·비정상 값 발견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200" b="1" i="0">
                <a:solidFill>
                  <a:srgbClr val="3D7DFF"/>
                </a:solidFill>
                <a:latin typeface="맑은 고딕"/>
                <a:ea typeface="맑은 고딕"/>
              </a:rPr>
              <a:t>◆ </a:t>
            </a:r>
            <a:r>
              <a:rPr sz="1400" b="1" i="0">
                <a:solidFill>
                  <a:srgbClr val="EEF2FB"/>
                </a:solidFill>
                <a:latin typeface="맑은 고딕"/>
                <a:ea typeface="맑은 고딕"/>
              </a:rPr>
              <a:t>가설 발굴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100" b="0" i="0">
                <a:solidFill>
                  <a:srgbClr val="9FB0CF"/>
                </a:solidFill>
                <a:latin typeface="맑은 고딕"/>
                <a:ea typeface="맑은 고딕"/>
              </a:rPr>
              <a:t>    ‘이 두 변수는 관련 있을까?’ 새 질문 생성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200" b="1" i="0">
                <a:solidFill>
                  <a:srgbClr val="3D7DFF"/>
                </a:solidFill>
                <a:latin typeface="맑은 고딕"/>
                <a:ea typeface="맑은 고딕"/>
              </a:rPr>
              <a:t>◆ </a:t>
            </a:r>
            <a:r>
              <a:rPr sz="1400" b="1" i="0">
                <a:solidFill>
                  <a:srgbClr val="EEF2FB"/>
                </a:solidFill>
                <a:latin typeface="맑은 고딕"/>
                <a:ea typeface="맑은 고딕"/>
              </a:rPr>
              <a:t>이상치 탐지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100" b="0" i="0">
                <a:solidFill>
                  <a:srgbClr val="9FB0CF"/>
                </a:solidFill>
                <a:latin typeface="맑은 고딕"/>
                <a:ea typeface="맑은 고딕"/>
              </a:rPr>
              <a:t>    평균을 왜곡하는 극단값·입력 오류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200" b="1" i="0">
                <a:solidFill>
                  <a:srgbClr val="3D7DFF"/>
                </a:solidFill>
                <a:latin typeface="맑은 고딕"/>
                <a:ea typeface="맑은 고딕"/>
              </a:rPr>
              <a:t>◆ </a:t>
            </a:r>
            <a:r>
              <a:rPr sz="1400" b="1" i="0">
                <a:solidFill>
                  <a:srgbClr val="EEF2FB"/>
                </a:solidFill>
                <a:latin typeface="맑은 고딕"/>
                <a:ea typeface="맑은 고딕"/>
              </a:rPr>
              <a:t>분석 방향 설정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100" b="0" i="0">
                <a:solidFill>
                  <a:srgbClr val="9FB0CF"/>
                </a:solidFill>
                <a:latin typeface="맑은 고딕"/>
                <a:ea typeface="맑은 고딕"/>
              </a:rPr>
              <a:t>    어떤 변수를 깊게, 어떤 모델이 적합할지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217920" y="2468880"/>
          <a:ext cx="512064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840"/>
                <a:gridCol w="2011680"/>
                <a:gridCol w="2103120"/>
              </a:tblGrid>
              <a:tr h="457200">
                <a:tc>
                  <a:txBody>
                    <a:bodyPr/>
                    <a:lstStyle/>
                    <a:p>
                      <a:r>
                        <a:rPr sz="1150" b="1" i="0">
                          <a:solidFill>
                            <a:srgbClr val="6FA0FF"/>
                          </a:solidFill>
                          <a:latin typeface="맑은 고딕"/>
                          <a:ea typeface="맑은 고딕"/>
                        </a:rPr>
                        <a:t>구분</a:t>
                      </a:r>
                    </a:p>
                  </a:txBody>
                  <a:tcPr marL="91440" marT="36576" marB="36576" anchor="ctr">
                    <a:solidFill>
                      <a:srgbClr val="14203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 i="0">
                          <a:solidFill>
                            <a:srgbClr val="6FA0FF"/>
                          </a:solidFill>
                          <a:latin typeface="맑은 고딕"/>
                          <a:ea typeface="맑은 고딕"/>
                        </a:rPr>
                        <a:t>EDA (탐색)</a:t>
                      </a:r>
                    </a:p>
                  </a:txBody>
                  <a:tcPr marL="91440" marT="36576" marB="36576" anchor="ctr">
                    <a:solidFill>
                      <a:srgbClr val="14203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 i="0">
                          <a:solidFill>
                            <a:srgbClr val="6FA0FF"/>
                          </a:solidFill>
                          <a:latin typeface="맑은 고딕"/>
                          <a:ea typeface="맑은 고딕"/>
                        </a:rPr>
                        <a:t>CDA (확증)</a:t>
                      </a:r>
                    </a:p>
                  </a:txBody>
                  <a:tcPr marL="91440" marT="36576" marB="36576" anchor="ctr">
                    <a:solidFill>
                      <a:srgbClr val="14203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5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목적</a:t>
                      </a:r>
                    </a:p>
                  </a:txBody>
                  <a:tcPr marL="91440" marT="27432" marB="27432"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50" b="0" i="0">
                          <a:solidFill>
                            <a:srgbClr val="9FB0CF"/>
                          </a:solidFill>
                          <a:latin typeface="맑은 고딕"/>
                          <a:ea typeface="맑은 고딕"/>
                        </a:rPr>
                        <a:t>패턴·가설 발굴</a:t>
                      </a:r>
                    </a:p>
                  </a:txBody>
                  <a:tcPr marL="91440" marT="27432" marB="27432"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50" b="0" i="0">
                          <a:solidFill>
                            <a:srgbClr val="9FB0CF"/>
                          </a:solidFill>
                          <a:latin typeface="맑은 고딕"/>
                          <a:ea typeface="맑은 고딕"/>
                        </a:rPr>
                        <a:t>가설 검증</a:t>
                      </a:r>
                    </a:p>
                  </a:txBody>
                  <a:tcPr marL="91440" marT="27432" marB="27432" anchor="ctr">
                    <a:solidFill>
                      <a:srgbClr val="1B2A4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5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가설</a:t>
                      </a:r>
                    </a:p>
                  </a:txBody>
                  <a:tcPr marL="91440" marT="27432" marB="27432" anchor="ctr">
                    <a:solidFill>
                      <a:srgbClr val="14203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50" b="0" i="0">
                          <a:solidFill>
                            <a:srgbClr val="9FB0CF"/>
                          </a:solidFill>
                          <a:latin typeface="맑은 고딕"/>
                          <a:ea typeface="맑은 고딕"/>
                        </a:rPr>
                        <a:t>분석 중 생성</a:t>
                      </a:r>
                    </a:p>
                  </a:txBody>
                  <a:tcPr marL="91440" marT="27432" marB="27432" anchor="ctr">
                    <a:solidFill>
                      <a:srgbClr val="14203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50" b="0" i="0">
                          <a:solidFill>
                            <a:srgbClr val="9FB0CF"/>
                          </a:solidFill>
                          <a:latin typeface="맑은 고딕"/>
                          <a:ea typeface="맑은 고딕"/>
                        </a:rPr>
                        <a:t>분석 전 수립</a:t>
                      </a:r>
                    </a:p>
                  </a:txBody>
                  <a:tcPr marL="91440" marT="27432" marB="27432" anchor="ctr">
                    <a:solidFill>
                      <a:srgbClr val="14203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5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도구</a:t>
                      </a:r>
                    </a:p>
                  </a:txBody>
                  <a:tcPr marL="91440" marT="27432" marB="27432"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50" b="0" i="0">
                          <a:solidFill>
                            <a:srgbClr val="9FB0CF"/>
                          </a:solidFill>
                          <a:latin typeface="맑은 고딕"/>
                          <a:ea typeface="맑은 고딕"/>
                        </a:rPr>
                        <a:t>시각화·요약통계</a:t>
                      </a:r>
                    </a:p>
                  </a:txBody>
                  <a:tcPr marL="91440" marT="27432" marB="27432"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50" b="0" i="0">
                          <a:solidFill>
                            <a:srgbClr val="9FB0CF"/>
                          </a:solidFill>
                          <a:latin typeface="맑은 고딕"/>
                          <a:ea typeface="맑은 고딕"/>
                        </a:rPr>
                        <a:t>가설검정·p-value</a:t>
                      </a:r>
                    </a:p>
                  </a:txBody>
                  <a:tcPr marL="91440" marT="27432" marB="27432" anchor="ctr">
                    <a:solidFill>
                      <a:srgbClr val="1B2A4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5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비유</a:t>
                      </a:r>
                    </a:p>
                  </a:txBody>
                  <a:tcPr marL="91440" marT="27432" marB="27432" anchor="ctr">
                    <a:solidFill>
                      <a:srgbClr val="14203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50" b="0" i="0">
                          <a:solidFill>
                            <a:srgbClr val="9FB0CF"/>
                          </a:solidFill>
                          <a:latin typeface="맑은 고딕"/>
                          <a:ea typeface="맑은 고딕"/>
                        </a:rPr>
                        <a:t>탐정 현장조사</a:t>
                      </a:r>
                    </a:p>
                  </a:txBody>
                  <a:tcPr marL="91440" marT="27432" marB="27432" anchor="ctr">
                    <a:solidFill>
                      <a:srgbClr val="14203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50" b="0" i="0">
                          <a:solidFill>
                            <a:srgbClr val="9FB0CF"/>
                          </a:solidFill>
                          <a:latin typeface="맑은 고딕"/>
                          <a:ea typeface="맑은 고딕"/>
                        </a:rPr>
                        <a:t>법정 증거검증</a:t>
                      </a:r>
                    </a:p>
                  </a:txBody>
                  <a:tcPr marL="91440" marT="27432" marB="27432" anchor="ctr">
                    <a:solidFill>
                      <a:srgbClr val="142036"/>
                    </a:solidFill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822960" y="5577840"/>
            <a:ext cx="54864" cy="868680"/>
          </a:xfrm>
          <a:prstGeom prst="rect">
            <a:avLst/>
          </a:prstGeom>
          <a:solidFill>
            <a:srgbClr val="3D7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77824" y="5577840"/>
            <a:ext cx="10506456" cy="868680"/>
          </a:xfrm>
          <a:prstGeom prst="roundRect">
            <a:avLst/>
          </a:prstGeom>
          <a:solidFill>
            <a:srgbClr val="2230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/>
          <a:lstStyle/>
          <a:p>
            <a:pPr algn="ctr">
              <a:lnSpc>
                <a:spcPct val="130000"/>
              </a:lnSpc>
            </a:pPr>
            <a:r>
              <a:rPr sz="1300" b="0" i="0">
                <a:solidFill>
                  <a:srgbClr val="EEF2FB"/>
                </a:solidFill>
                <a:latin typeface="맑은 고딕"/>
                <a:ea typeface="맑은 고딕"/>
              </a:rPr>
              <a:t>실무에서 EDA는 분석 시간의 </a:t>
            </a:r>
            <a:r>
              <a:rPr sz="1300" b="1" i="0">
                <a:solidFill>
                  <a:srgbClr val="FFFFFF"/>
                </a:solidFill>
                <a:latin typeface="맑은 고딕"/>
                <a:ea typeface="맑은 고딕"/>
              </a:rPr>
              <a:t>60~80%</a:t>
            </a:r>
            <a:r>
              <a:rPr sz="1300" b="0" i="0">
                <a:solidFill>
                  <a:srgbClr val="EEF2FB"/>
                </a:solidFill>
                <a:latin typeface="맑은 고딕"/>
                <a:ea typeface="맑은 고딕"/>
              </a:rPr>
              <a:t>를 차지합니다. ‘Garbage In, Garbage Out’을 막는 </a:t>
            </a:r>
            <a:r>
              <a:rPr sz="1300" b="1" i="0">
                <a:solidFill>
                  <a:srgbClr val="FFFFFF"/>
                </a:solidFill>
                <a:latin typeface="맑은 고딕"/>
                <a:ea typeface="맑은 고딕"/>
              </a:rPr>
              <a:t>첫 방어선</a:t>
            </a:r>
            <a:r>
              <a:rPr sz="1300" b="0" i="0">
                <a:solidFill>
                  <a:srgbClr val="EEF2FB"/>
                </a:solidFill>
                <a:latin typeface="맑은 고딕"/>
                <a:ea typeface="맑은 고딕"/>
              </a:rPr>
              <a:t>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6419088"/>
            <a:ext cx="2743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1" i="0">
                <a:solidFill>
                  <a:srgbClr val="EEF2FB"/>
                </a:solidFill>
                <a:latin typeface="맑은 고딕"/>
                <a:ea typeface="맑은 고딕"/>
              </a:rPr>
              <a:t>Data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1" i="0">
                <a:solidFill>
                  <a:srgbClr val="6FA0FF"/>
                </a:solidFill>
                <a:latin typeface="맑은 고딕"/>
                <a:ea typeface="맑은 고딕"/>
              </a:rPr>
              <a:t> Lab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0" y="6419088"/>
            <a:ext cx="1828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1200" b="0" i="0">
                <a:solidFill>
                  <a:srgbClr val="9FB0CF"/>
                </a:solidFill>
                <a:latin typeface="맑은 고딕"/>
                <a:ea typeface="맑은 고딕"/>
              </a:rPr>
              <a:t>5 / 28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0"/>
            <a:ext cx="12191695" cy="38100"/>
          </a:xfrm>
          <a:prstGeom prst="rect">
            <a:avLst/>
          </a:prstGeom>
          <a:solidFill>
            <a:srgbClr val="1420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0" y="0"/>
            <a:ext cx="2177088" cy="38100"/>
          </a:xfrm>
          <a:prstGeom prst="rect">
            <a:avLst/>
          </a:prstGeom>
          <a:solidFill>
            <a:srgbClr val="3D7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589520" y="-914400"/>
            <a:ext cx="5486400" cy="3657600"/>
          </a:xfrm>
          <a:prstGeom prst="rect">
            <a:avLst/>
          </a:prstGeom>
          <a:solidFill>
            <a:srgbClr val="243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50392" y="566928"/>
            <a:ext cx="1362456" cy="384048"/>
          </a:xfrm>
          <a:prstGeom prst="roundRect">
            <a:avLst/>
          </a:prstGeom>
          <a:solidFill>
            <a:srgbClr val="22304E"/>
          </a:solidFill>
          <a:ln w="9525">
            <a:solidFill>
              <a:srgbClr val="3A4A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 rIns="109728" tIns="18288" bIns="18288"/>
          <a:lstStyle/>
          <a:p>
            <a:pPr algn="ctr"/>
            <a:r>
              <a:rPr sz="1100" b="1" i="0">
                <a:solidFill>
                  <a:srgbClr val="6FA0FF"/>
                </a:solidFill>
                <a:latin typeface="맑은 고딕"/>
                <a:ea typeface="맑은 고딕"/>
              </a:rPr>
              <a:t>MODULE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078992"/>
            <a:ext cx="105156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3300" b="1" i="0">
                <a:solidFill>
                  <a:srgbClr val="FFFFFF"/>
                </a:solidFill>
                <a:latin typeface="맑은 고딕"/>
                <a:ea typeface="맑은 고딕"/>
              </a:rPr>
              <a:t>문제 정의와 가설 수립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0392" y="1938528"/>
            <a:ext cx="106070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500" b="0" i="0">
                <a:solidFill>
                  <a:srgbClr val="9FB0CF"/>
                </a:solidFill>
                <a:latin typeface="맑은 고딕"/>
                <a:ea typeface="맑은 고딕"/>
              </a:rPr>
              <a:t>분석은 ‘데이터’가 아니라 ‘문제’에서 출발한다 — 막연한 고민을 답할 수 있는 질문으로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822960" y="2468880"/>
          <a:ext cx="1051560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/>
                <a:gridCol w="7315200"/>
              </a:tblGrid>
              <a:tr h="548640"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6FA0FF"/>
                          </a:solidFill>
                          <a:latin typeface="맑은 고딕"/>
                          <a:ea typeface="맑은 고딕"/>
                        </a:rPr>
                        <a:t>막연한 고민</a:t>
                      </a:r>
                    </a:p>
                  </a:txBody>
                  <a:tcPr marL="91440" marT="36576" marB="36576" anchor="ctr">
                    <a:solidFill>
                      <a:srgbClr val="14203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6FA0FF"/>
                          </a:solidFill>
                          <a:latin typeface="맑은 고딕"/>
                          <a:ea typeface="맑은 고딕"/>
                        </a:rPr>
                        <a:t>분석 가능한 질문</a:t>
                      </a:r>
                    </a:p>
                  </a:txBody>
                  <a:tcPr marL="91440" marT="36576" marB="36576" anchor="ctr">
                    <a:solidFill>
                      <a:srgbClr val="142036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30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"매출이 왜 줄었지?"</a:t>
                      </a:r>
                    </a:p>
                  </a:txBody>
                  <a:tcPr marL="91440" marT="27432" marB="27432"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300" b="0" i="0">
                          <a:solidFill>
                            <a:srgbClr val="9FB0CF"/>
                          </a:solidFill>
                          <a:latin typeface="맑은 고딕"/>
                          <a:ea typeface="맑은 고딕"/>
                        </a:rPr>
                        <a:t>최근 3개월간 어느 제품군·지역·채널에서 매출이 가장 감소했는가?</a:t>
                      </a:r>
                    </a:p>
                  </a:txBody>
                  <a:tcPr marL="91440" marT="27432" marB="27432" anchor="ctr">
                    <a:solidFill>
                      <a:srgbClr val="1B2A4A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30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"고객이 이탈하는 것 같아"</a:t>
                      </a:r>
                    </a:p>
                  </a:txBody>
                  <a:tcPr marL="91440" marT="27432" marB="27432" anchor="ctr">
                    <a:solidFill>
                      <a:srgbClr val="14203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300" b="0" i="0">
                          <a:solidFill>
                            <a:srgbClr val="9FB0CF"/>
                          </a:solidFill>
                          <a:latin typeface="맑은 고딕"/>
                          <a:ea typeface="맑은 고딕"/>
                        </a:rPr>
                        <a:t>가입 후 30일 내 재방문 안 한 고객의 비율과 특성은?</a:t>
                      </a:r>
                    </a:p>
                  </a:txBody>
                  <a:tcPr marL="91440" marT="27432" marB="27432" anchor="ctr">
                    <a:solidFill>
                      <a:srgbClr val="142036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30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"마케팅이 효과가 있나?"</a:t>
                      </a:r>
                    </a:p>
                  </a:txBody>
                  <a:tcPr marL="91440" marT="27432" marB="27432"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300" b="0" i="0">
                          <a:solidFill>
                            <a:srgbClr val="9FB0CF"/>
                          </a:solidFill>
                          <a:latin typeface="맑은 고딕"/>
                          <a:ea typeface="맑은 고딕"/>
                        </a:rPr>
                        <a:t>캠페인 전후 2주간 신규 전환율이 유의하게 달라졌는가?</a:t>
                      </a:r>
                    </a:p>
                  </a:txBody>
                  <a:tcPr marL="91440" marT="27432" marB="27432" anchor="ctr">
                    <a:solidFill>
                      <a:srgbClr val="1B2A4A"/>
                    </a:solidFill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822960" y="4754880"/>
            <a:ext cx="54864" cy="868680"/>
          </a:xfrm>
          <a:prstGeom prst="rect">
            <a:avLst/>
          </a:prstGeom>
          <a:solidFill>
            <a:srgbClr val="3D7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77824" y="4754880"/>
            <a:ext cx="10506456" cy="868680"/>
          </a:xfrm>
          <a:prstGeom prst="roundRect">
            <a:avLst/>
          </a:prstGeom>
          <a:solidFill>
            <a:srgbClr val="2230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/>
          <a:lstStyle/>
          <a:p>
            <a:pPr algn="ctr">
              <a:lnSpc>
                <a:spcPct val="130000"/>
              </a:lnSpc>
            </a:pPr>
            <a:r>
              <a:rPr sz="1300" b="0" i="0">
                <a:solidFill>
                  <a:srgbClr val="EEF2FB"/>
                </a:solidFill>
                <a:latin typeface="맑은 고딕"/>
                <a:ea typeface="맑은 고딕"/>
              </a:rPr>
              <a:t>핵심은 </a:t>
            </a:r>
            <a:r>
              <a:rPr sz="1300" b="1" i="0">
                <a:solidFill>
                  <a:srgbClr val="FFFFFF"/>
                </a:solidFill>
                <a:latin typeface="맑은 고딕"/>
                <a:ea typeface="맑은 고딕"/>
              </a:rPr>
              <a:t>측정 가능한 지표 · 명확한 기간 · 비교 대상</a:t>
            </a:r>
            <a:r>
              <a:rPr sz="1300" b="0" i="0">
                <a:solidFill>
                  <a:srgbClr val="EEF2FB"/>
                </a:solidFill>
                <a:latin typeface="맑은 고딕"/>
                <a:ea typeface="맑은 고딕"/>
              </a:rPr>
              <a:t>. 좋은 가설 = 검증 가능 · 구체적 · 반증 가능 · 실행 연결.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6419088"/>
            <a:ext cx="2743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1" i="0">
                <a:solidFill>
                  <a:srgbClr val="EEF2FB"/>
                </a:solidFill>
                <a:latin typeface="맑은 고딕"/>
                <a:ea typeface="맑은 고딕"/>
              </a:rPr>
              <a:t>Data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1" i="0">
                <a:solidFill>
                  <a:srgbClr val="6FA0FF"/>
                </a:solidFill>
                <a:latin typeface="맑은 고딕"/>
                <a:ea typeface="맑은 고딕"/>
              </a:rPr>
              <a:t> Lab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0" y="6419088"/>
            <a:ext cx="1828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1200" b="0" i="0">
                <a:solidFill>
                  <a:srgbClr val="9FB0CF"/>
                </a:solidFill>
                <a:latin typeface="맑은 고딕"/>
                <a:ea typeface="맑은 고딕"/>
              </a:rPr>
              <a:t>6 / 28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0"/>
            <a:ext cx="12191695" cy="38100"/>
          </a:xfrm>
          <a:prstGeom prst="rect">
            <a:avLst/>
          </a:prstGeom>
          <a:solidFill>
            <a:srgbClr val="1420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0" y="0"/>
            <a:ext cx="2612506" cy="38100"/>
          </a:xfrm>
          <a:prstGeom prst="rect">
            <a:avLst/>
          </a:prstGeom>
          <a:solidFill>
            <a:srgbClr val="3D7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589520" y="-914400"/>
            <a:ext cx="5486400" cy="3657600"/>
          </a:xfrm>
          <a:prstGeom prst="rect">
            <a:avLst/>
          </a:prstGeom>
          <a:solidFill>
            <a:srgbClr val="243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50392" y="566928"/>
            <a:ext cx="1362456" cy="384048"/>
          </a:xfrm>
          <a:prstGeom prst="roundRect">
            <a:avLst/>
          </a:prstGeom>
          <a:solidFill>
            <a:srgbClr val="22304E"/>
          </a:solidFill>
          <a:ln w="9525">
            <a:solidFill>
              <a:srgbClr val="3A4A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 rIns="109728" tIns="18288" bIns="18288"/>
          <a:lstStyle/>
          <a:p>
            <a:pPr algn="ctr"/>
            <a:r>
              <a:rPr sz="1100" b="1" i="0">
                <a:solidFill>
                  <a:srgbClr val="6FA0FF"/>
                </a:solidFill>
                <a:latin typeface="맑은 고딕"/>
                <a:ea typeface="맑은 고딕"/>
              </a:rPr>
              <a:t>MODULE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078992"/>
            <a:ext cx="105156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3300" b="1" i="0">
                <a:solidFill>
                  <a:srgbClr val="FFFFFF"/>
                </a:solidFill>
                <a:latin typeface="맑은 고딕"/>
                <a:ea typeface="맑은 고딕"/>
              </a:rPr>
              <a:t>논리적 검증 프로세스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0392" y="1938528"/>
            <a:ext cx="106070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500" b="0" i="0">
                <a:solidFill>
                  <a:srgbClr val="9FB0CF"/>
                </a:solidFill>
                <a:latin typeface="맑은 고딕"/>
                <a:ea typeface="맑은 고딕"/>
              </a:rPr>
              <a:t>문제 정의에서 결론까지 5단계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2377440"/>
            <a:ext cx="10515600" cy="566928"/>
          </a:xfrm>
          <a:prstGeom prst="roundRect">
            <a:avLst/>
          </a:prstGeom>
          <a:solidFill>
            <a:srgbClr val="0D1626"/>
          </a:solidFill>
          <a:ln w="9525">
            <a:solidFill>
              <a:srgbClr val="3A4A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 i="0">
                <a:solidFill>
                  <a:srgbClr val="6FA0FF"/>
                </a:solidFill>
                <a:latin typeface="Consolas"/>
                <a:ea typeface="Consolas"/>
              </a:rPr>
              <a:t>문제 정의 → 가설 수립 → 지표 정의 → 데이터 검증 → 결론·액션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822960" y="3291840"/>
          <a:ext cx="10515600" cy="28529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4572000"/>
                <a:gridCol w="3657600"/>
              </a:tblGrid>
              <a:tr h="475488">
                <a:tc>
                  <a:txBody>
                    <a:bodyPr/>
                    <a:lstStyle/>
                    <a:p>
                      <a:r>
                        <a:rPr sz="1250" b="1" i="0">
                          <a:solidFill>
                            <a:srgbClr val="6FA0FF"/>
                          </a:solidFill>
                          <a:latin typeface="맑은 고딕"/>
                          <a:ea typeface="맑은 고딕"/>
                        </a:rPr>
                        <a:t>단계</a:t>
                      </a:r>
                    </a:p>
                  </a:txBody>
                  <a:tcPr marL="91440" marT="36576" marB="36576" anchor="ctr">
                    <a:solidFill>
                      <a:srgbClr val="14203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 i="0">
                          <a:solidFill>
                            <a:srgbClr val="6FA0FF"/>
                          </a:solidFill>
                          <a:latin typeface="맑은 고딕"/>
                          <a:ea typeface="맑은 고딕"/>
                        </a:rPr>
                        <a:t>핵심 질문</a:t>
                      </a:r>
                    </a:p>
                  </a:txBody>
                  <a:tcPr marL="91440" marT="36576" marB="36576" anchor="ctr">
                    <a:solidFill>
                      <a:srgbClr val="14203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 i="0">
                          <a:solidFill>
                            <a:srgbClr val="6FA0FF"/>
                          </a:solidFill>
                          <a:latin typeface="맑은 고딕"/>
                          <a:ea typeface="맑은 고딕"/>
                        </a:rPr>
                        <a:t>산출물</a:t>
                      </a:r>
                    </a:p>
                  </a:txBody>
                  <a:tcPr marL="91440" marT="36576" marB="36576" anchor="ctr">
                    <a:solidFill>
                      <a:srgbClr val="142036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25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1 · 문제 정의</a:t>
                      </a:r>
                    </a:p>
                  </a:txBody>
                  <a:tcPr marL="91440" marT="27432" marB="27432"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250" b="0" i="0">
                          <a:solidFill>
                            <a:srgbClr val="9FB0CF"/>
                          </a:solidFill>
                          <a:latin typeface="맑은 고딕"/>
                          <a:ea typeface="맑은 고딕"/>
                        </a:rPr>
                        <a:t>무엇이 문제인가?</a:t>
                      </a:r>
                    </a:p>
                  </a:txBody>
                  <a:tcPr marL="91440" marT="27432" marB="27432"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250" b="0" i="0">
                          <a:solidFill>
                            <a:srgbClr val="9FB0CF"/>
                          </a:solidFill>
                          <a:latin typeface="맑은 고딕"/>
                          <a:ea typeface="맑은 고딕"/>
                        </a:rPr>
                        <a:t>분석 가능한 질문</a:t>
                      </a:r>
                    </a:p>
                  </a:txBody>
                  <a:tcPr marL="91440" marT="27432" marB="27432" anchor="ctr">
                    <a:solidFill>
                      <a:srgbClr val="1B2A4A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25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2 · 가설 수립</a:t>
                      </a:r>
                    </a:p>
                  </a:txBody>
                  <a:tcPr marL="91440" marT="27432" marB="27432" anchor="ctr">
                    <a:solidFill>
                      <a:srgbClr val="14203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250" b="0" i="0">
                          <a:solidFill>
                            <a:srgbClr val="9FB0CF"/>
                          </a:solidFill>
                          <a:latin typeface="맑은 고딕"/>
                          <a:ea typeface="맑은 고딕"/>
                        </a:rPr>
                        <a:t>왜 그럴 것 같은가?</a:t>
                      </a:r>
                    </a:p>
                  </a:txBody>
                  <a:tcPr marL="91440" marT="27432" marB="27432" anchor="ctr">
                    <a:solidFill>
                      <a:srgbClr val="14203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250" b="0" i="0">
                          <a:solidFill>
                            <a:srgbClr val="9FB0CF"/>
                          </a:solidFill>
                          <a:latin typeface="맑은 고딕"/>
                          <a:ea typeface="맑은 고딕"/>
                        </a:rPr>
                        <a:t>검증 가능한 가설 목록</a:t>
                      </a:r>
                    </a:p>
                  </a:txBody>
                  <a:tcPr marL="91440" marT="27432" marB="27432" anchor="ctr">
                    <a:solidFill>
                      <a:srgbClr val="142036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25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3 · 지표 정의</a:t>
                      </a:r>
                    </a:p>
                  </a:txBody>
                  <a:tcPr marL="91440" marT="27432" marB="27432"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250" b="0" i="0">
                          <a:solidFill>
                            <a:srgbClr val="9FB0CF"/>
                          </a:solidFill>
                          <a:latin typeface="맑은 고딕"/>
                          <a:ea typeface="맑은 고딕"/>
                        </a:rPr>
                        <a:t>무엇을 측정할 것인가?</a:t>
                      </a:r>
                    </a:p>
                  </a:txBody>
                  <a:tcPr marL="91440" marT="27432" marB="27432"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250" b="0" i="0">
                          <a:solidFill>
                            <a:srgbClr val="9FB0CF"/>
                          </a:solidFill>
                          <a:latin typeface="맑은 고딕"/>
                          <a:ea typeface="맑은 고딕"/>
                        </a:rPr>
                        <a:t>KPI · 측정 기준</a:t>
                      </a:r>
                    </a:p>
                  </a:txBody>
                  <a:tcPr marL="91440" marT="27432" marB="27432" anchor="ctr">
                    <a:solidFill>
                      <a:srgbClr val="1B2A4A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25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4 · 데이터 검증</a:t>
                      </a:r>
                    </a:p>
                  </a:txBody>
                  <a:tcPr marL="91440" marT="27432" marB="27432" anchor="ctr">
                    <a:solidFill>
                      <a:srgbClr val="14203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250" b="0" i="0">
                          <a:solidFill>
                            <a:srgbClr val="9FB0CF"/>
                          </a:solidFill>
                          <a:latin typeface="맑은 고딕"/>
                          <a:ea typeface="맑은 고딕"/>
                        </a:rPr>
                        <a:t>데이터가 가설을 지지하는가?</a:t>
                      </a:r>
                    </a:p>
                  </a:txBody>
                  <a:tcPr marL="91440" marT="27432" marB="27432" anchor="ctr">
                    <a:solidFill>
                      <a:srgbClr val="14203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250" b="0" i="0">
                          <a:solidFill>
                            <a:srgbClr val="9FB0CF"/>
                          </a:solidFill>
                          <a:latin typeface="맑은 고딕"/>
                          <a:ea typeface="맑은 고딕"/>
                        </a:rPr>
                        <a:t>EDA 결과 · 차트</a:t>
                      </a:r>
                    </a:p>
                  </a:txBody>
                  <a:tcPr marL="91440" marT="27432" marB="27432" anchor="ctr">
                    <a:solidFill>
                      <a:srgbClr val="142036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25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5 · 결론·액션</a:t>
                      </a:r>
                    </a:p>
                  </a:txBody>
                  <a:tcPr marL="91440" marT="27432" marB="27432"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250" b="0" i="0">
                          <a:solidFill>
                            <a:srgbClr val="9FB0CF"/>
                          </a:solidFill>
                          <a:latin typeface="맑은 고딕"/>
                          <a:ea typeface="맑은 고딕"/>
                        </a:rPr>
                        <a:t>그래서 무엇을 할 것인가?</a:t>
                      </a:r>
                    </a:p>
                  </a:txBody>
                  <a:tcPr marL="91440" marT="27432" marB="27432"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250" b="0" i="0">
                          <a:solidFill>
                            <a:srgbClr val="9FB0CF"/>
                          </a:solidFill>
                          <a:latin typeface="맑은 고딕"/>
                          <a:ea typeface="맑은 고딕"/>
                        </a:rPr>
                        <a:t>의사결정 · 권고안</a:t>
                      </a:r>
                    </a:p>
                  </a:txBody>
                  <a:tcPr marL="91440" marT="27432" marB="27432" anchor="ctr">
                    <a:solidFill>
                      <a:srgbClr val="1B2A4A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822960" y="6419088"/>
            <a:ext cx="2743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1" i="0">
                <a:solidFill>
                  <a:srgbClr val="EEF2FB"/>
                </a:solidFill>
                <a:latin typeface="맑은 고딕"/>
                <a:ea typeface="맑은 고딕"/>
              </a:rPr>
              <a:t>Data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1" i="0">
                <a:solidFill>
                  <a:srgbClr val="6FA0FF"/>
                </a:solidFill>
                <a:latin typeface="맑은 고딕"/>
                <a:ea typeface="맑은 고딕"/>
              </a:rPr>
              <a:t> Lab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0" y="6419088"/>
            <a:ext cx="1828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1200" b="0" i="0">
                <a:solidFill>
                  <a:srgbClr val="9FB0CF"/>
                </a:solidFill>
                <a:latin typeface="맑은 고딕"/>
                <a:ea typeface="맑은 고딕"/>
              </a:rPr>
              <a:t>7 / 28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0"/>
            <a:ext cx="12191695" cy="38100"/>
          </a:xfrm>
          <a:prstGeom prst="rect">
            <a:avLst/>
          </a:prstGeom>
          <a:solidFill>
            <a:srgbClr val="1420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0" y="0"/>
            <a:ext cx="3047923" cy="38100"/>
          </a:xfrm>
          <a:prstGeom prst="rect">
            <a:avLst/>
          </a:prstGeom>
          <a:solidFill>
            <a:srgbClr val="3D7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589520" y="-914400"/>
            <a:ext cx="5486400" cy="3657600"/>
          </a:xfrm>
          <a:prstGeom prst="rect">
            <a:avLst/>
          </a:prstGeom>
          <a:solidFill>
            <a:srgbClr val="243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50392" y="566928"/>
            <a:ext cx="1362456" cy="384048"/>
          </a:xfrm>
          <a:prstGeom prst="roundRect">
            <a:avLst/>
          </a:prstGeom>
          <a:solidFill>
            <a:srgbClr val="22304E"/>
          </a:solidFill>
          <a:ln w="9525">
            <a:solidFill>
              <a:srgbClr val="3A4A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 rIns="109728" tIns="18288" bIns="18288"/>
          <a:lstStyle/>
          <a:p>
            <a:pPr algn="ctr"/>
            <a:r>
              <a:rPr sz="1100" b="1" i="0">
                <a:solidFill>
                  <a:srgbClr val="6FA0FF"/>
                </a:solidFill>
                <a:latin typeface="맑은 고딕"/>
                <a:ea typeface="맑은 고딕"/>
              </a:rPr>
              <a:t>MODULE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078992"/>
            <a:ext cx="105156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3300" b="1" i="0">
                <a:solidFill>
                  <a:srgbClr val="FFFFFF"/>
                </a:solidFill>
                <a:latin typeface="맑은 고딕"/>
                <a:ea typeface="맑은 고딕"/>
              </a:rPr>
              <a:t>지표 쪼개기 (Drill-down)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0392" y="1938528"/>
            <a:ext cx="106070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500" b="0" i="0">
                <a:solidFill>
                  <a:srgbClr val="9FB0CF"/>
                </a:solidFill>
                <a:latin typeface="맑은 고딕"/>
                <a:ea typeface="맑은 고딕"/>
              </a:rPr>
              <a:t>‘무슨 일이 일어났는가’를 넘어 ‘왜 그랬는가’로 — 큰 숫자를 구성 요소로 분해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2331720"/>
            <a:ext cx="5486400" cy="566928"/>
          </a:xfrm>
          <a:prstGeom prst="roundRect">
            <a:avLst/>
          </a:prstGeom>
          <a:solidFill>
            <a:srgbClr val="0D1626"/>
          </a:solidFill>
          <a:ln w="9525">
            <a:solidFill>
              <a:srgbClr val="3A4A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 i="0">
                <a:solidFill>
                  <a:srgbClr val="6FA0FF"/>
                </a:solidFill>
                <a:latin typeface="Consolas"/>
                <a:ea typeface="Consolas"/>
              </a:rPr>
              <a:t>매출 = 방문수 × 전환율 × 객단가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822960" y="3154680"/>
          <a:ext cx="54864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3657600"/>
              </a:tblGrid>
              <a:tr h="457200">
                <a:tc>
                  <a:txBody>
                    <a:bodyPr/>
                    <a:lstStyle/>
                    <a:p>
                      <a:r>
                        <a:rPr sz="1200" b="1" i="0">
                          <a:solidFill>
                            <a:srgbClr val="6FA0FF"/>
                          </a:solidFill>
                          <a:latin typeface="맑은 고딕"/>
                          <a:ea typeface="맑은 고딕"/>
                        </a:rPr>
                        <a:t>분해 대상</a:t>
                      </a:r>
                    </a:p>
                  </a:txBody>
                  <a:tcPr marL="91440" marT="36576" marB="36576" anchor="ctr">
                    <a:solidFill>
                      <a:srgbClr val="14203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 i="0">
                          <a:solidFill>
                            <a:srgbClr val="6FA0FF"/>
                          </a:solidFill>
                          <a:latin typeface="맑은 고딕"/>
                          <a:ea typeface="맑은 고딕"/>
                        </a:rPr>
                        <a:t>공식</a:t>
                      </a:r>
                    </a:p>
                  </a:txBody>
                  <a:tcPr marL="91440" marT="36576" marB="36576" anchor="ctr">
                    <a:solidFill>
                      <a:srgbClr val="14203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매출</a:t>
                      </a:r>
                    </a:p>
                  </a:txBody>
                  <a:tcPr marL="91440" marT="27432" marB="27432"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200" b="0" i="0">
                          <a:solidFill>
                            <a:srgbClr val="9FB0CF"/>
                          </a:solidFill>
                          <a:latin typeface="맑은 고딕"/>
                          <a:ea typeface="맑은 고딕"/>
                        </a:rPr>
                        <a:t>방문수 × 전환율 × 객단가</a:t>
                      </a:r>
                    </a:p>
                  </a:txBody>
                  <a:tcPr marL="91440" marT="27432" marB="27432" anchor="ctr">
                    <a:solidFill>
                      <a:srgbClr val="1B2A4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활성 사용자</a:t>
                      </a:r>
                    </a:p>
                  </a:txBody>
                  <a:tcPr marL="91440" marT="27432" marB="27432" anchor="ctr">
                    <a:solidFill>
                      <a:srgbClr val="14203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200" b="0" i="0">
                          <a:solidFill>
                            <a:srgbClr val="9FB0CF"/>
                          </a:solidFill>
                          <a:latin typeface="맑은 고딕"/>
                          <a:ea typeface="맑은 고딕"/>
                        </a:rPr>
                        <a:t>신규 + 유지 + 복귀</a:t>
                      </a:r>
                    </a:p>
                  </a:txBody>
                  <a:tcPr marL="91440" marT="27432" marB="27432" anchor="ctr">
                    <a:solidFill>
                      <a:srgbClr val="14203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이익</a:t>
                      </a:r>
                    </a:p>
                  </a:txBody>
                  <a:tcPr marL="91440" marT="27432" marB="27432"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200" b="0" i="0">
                          <a:solidFill>
                            <a:srgbClr val="9FB0CF"/>
                          </a:solidFill>
                          <a:latin typeface="맑은 고딕"/>
                          <a:ea typeface="맑은 고딕"/>
                        </a:rPr>
                        <a:t>매출 − (고정비 + 변동비)</a:t>
                      </a:r>
                    </a:p>
                  </a:txBody>
                  <a:tcPr marL="91440" marT="27432" marB="27432" anchor="ctr">
                    <a:solidFill>
                      <a:srgbClr val="1B2A4A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583680" y="2377440"/>
            <a:ext cx="47548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200" b="1" i="0">
                <a:solidFill>
                  <a:srgbClr val="3D7DFF"/>
                </a:solidFill>
                <a:latin typeface="맑은 고딕"/>
                <a:ea typeface="맑은 고딕"/>
              </a:rPr>
              <a:t>◆ </a:t>
            </a:r>
            <a:r>
              <a:rPr sz="1400" b="1" i="0">
                <a:solidFill>
                  <a:srgbClr val="EEF2FB"/>
                </a:solidFill>
                <a:latin typeface="맑은 고딕"/>
                <a:ea typeface="맑은 고딕"/>
              </a:rPr>
              <a:t>차원으로 쪼개기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100" b="0" i="0">
                <a:solidFill>
                  <a:srgbClr val="9FB0CF"/>
                </a:solidFill>
                <a:latin typeface="맑은 고딕"/>
                <a:ea typeface="맑은 고딕"/>
              </a:rPr>
              <a:t>    시간·고객·상품·채널/지역 관점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200" b="1" i="0">
                <a:solidFill>
                  <a:srgbClr val="3D7DFF"/>
                </a:solidFill>
                <a:latin typeface="맑은 고딕"/>
                <a:ea typeface="맑은 고딕"/>
              </a:rPr>
              <a:t>◆ </a:t>
            </a:r>
            <a:r>
              <a:rPr sz="1400" b="1" i="0">
                <a:solidFill>
                  <a:srgbClr val="EEF2FB"/>
                </a:solidFill>
                <a:latin typeface="맑은 고딕"/>
                <a:ea typeface="맑은 고딕"/>
              </a:rPr>
              <a:t>다차원 교차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100" b="0" i="0">
                <a:solidFill>
                  <a:srgbClr val="9FB0CF"/>
                </a:solidFill>
                <a:latin typeface="맑은 고딕"/>
                <a:ea typeface="맑은 고딕"/>
              </a:rPr>
              <a:t>    ‘지역 × 연령대’로 숨은 신호 포착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200" b="1" i="0">
                <a:solidFill>
                  <a:srgbClr val="3D7DFF"/>
                </a:solidFill>
                <a:latin typeface="맑은 고딕"/>
                <a:ea typeface="맑은 고딕"/>
              </a:rPr>
              <a:t>◆ </a:t>
            </a:r>
            <a:r>
              <a:rPr sz="1400" b="1" i="0">
                <a:solidFill>
                  <a:srgbClr val="EEF2FB"/>
                </a:solidFill>
                <a:latin typeface="맑은 고딕"/>
                <a:ea typeface="맑은 고딕"/>
              </a:rPr>
              <a:t>심슨의 역설 주의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100" b="0" i="0">
                <a:solidFill>
                  <a:srgbClr val="9FB0CF"/>
                </a:solidFill>
                <a:latin typeface="맑은 고딕"/>
                <a:ea typeface="맑은 고딕"/>
              </a:rPr>
              <a:t>    전체는 평탄해도 부분이 상쇄될 수 있음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5486400"/>
            <a:ext cx="54864" cy="868680"/>
          </a:xfrm>
          <a:prstGeom prst="rect">
            <a:avLst/>
          </a:prstGeom>
          <a:solidFill>
            <a:srgbClr val="3D7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77824" y="5486400"/>
            <a:ext cx="10506456" cy="868680"/>
          </a:xfrm>
          <a:prstGeom prst="roundRect">
            <a:avLst/>
          </a:prstGeom>
          <a:solidFill>
            <a:srgbClr val="2230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/>
          <a:lstStyle/>
          <a:p>
            <a:pPr algn="ctr">
              <a:lnSpc>
                <a:spcPct val="130000"/>
              </a:lnSpc>
            </a:pPr>
            <a:r>
              <a:rPr sz="1300" b="0" i="0">
                <a:solidFill>
                  <a:srgbClr val="EEF2FB"/>
                </a:solidFill>
                <a:latin typeface="맑은 고딕"/>
                <a:ea typeface="맑은 고딕"/>
              </a:rPr>
              <a:t>엑셀 </a:t>
            </a:r>
            <a:r>
              <a:rPr sz="1300" b="1" i="0">
                <a:solidFill>
                  <a:srgbClr val="FFFFFF"/>
                </a:solidFill>
                <a:latin typeface="맑은 고딕"/>
                <a:ea typeface="맑은 고딕"/>
              </a:rPr>
              <a:t>피벗테이블</a:t>
            </a:r>
            <a:r>
              <a:rPr sz="1300" b="0" i="0">
                <a:solidFill>
                  <a:srgbClr val="EEF2FB"/>
                </a:solidFill>
                <a:latin typeface="맑은 고딕"/>
                <a:ea typeface="맑은 고딕"/>
              </a:rPr>
              <a:t> — 지표를 값, 1차 차원을 행, 2차 차원을 열에 두면 교차표 완성. 슬라이서로 필터링.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6419088"/>
            <a:ext cx="2743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1" i="0">
                <a:solidFill>
                  <a:srgbClr val="EEF2FB"/>
                </a:solidFill>
                <a:latin typeface="맑은 고딕"/>
                <a:ea typeface="맑은 고딕"/>
              </a:rPr>
              <a:t>Data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1" i="0">
                <a:solidFill>
                  <a:srgbClr val="6FA0FF"/>
                </a:solidFill>
                <a:latin typeface="맑은 고딕"/>
                <a:ea typeface="맑은 고딕"/>
              </a:rPr>
              <a:t> Lab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0" y="6419088"/>
            <a:ext cx="1828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1200" b="0" i="0">
                <a:solidFill>
                  <a:srgbClr val="9FB0CF"/>
                </a:solidFill>
                <a:latin typeface="맑은 고딕"/>
                <a:ea typeface="맑은 고딕"/>
              </a:rPr>
              <a:t>8 / 28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0"/>
            <a:ext cx="12191695" cy="38100"/>
          </a:xfrm>
          <a:prstGeom prst="rect">
            <a:avLst/>
          </a:prstGeom>
          <a:solidFill>
            <a:srgbClr val="1420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0" y="0"/>
            <a:ext cx="3483341" cy="38100"/>
          </a:xfrm>
          <a:prstGeom prst="rect">
            <a:avLst/>
          </a:prstGeom>
          <a:solidFill>
            <a:srgbClr val="3D7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589520" y="-914400"/>
            <a:ext cx="5486400" cy="3657600"/>
          </a:xfrm>
          <a:prstGeom prst="rect">
            <a:avLst/>
          </a:prstGeom>
          <a:solidFill>
            <a:srgbClr val="243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50392" y="566928"/>
            <a:ext cx="1842516" cy="384048"/>
          </a:xfrm>
          <a:prstGeom prst="roundRect">
            <a:avLst/>
          </a:prstGeom>
          <a:solidFill>
            <a:srgbClr val="22304E"/>
          </a:solidFill>
          <a:ln w="9525">
            <a:solidFill>
              <a:srgbClr val="3A4A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 rIns="109728" tIns="18288" bIns="18288"/>
          <a:lstStyle/>
          <a:p>
            <a:pPr algn="ctr"/>
            <a:r>
              <a:rPr sz="1100" b="1" i="0">
                <a:solidFill>
                  <a:srgbClr val="6FA0FF"/>
                </a:solidFill>
                <a:latin typeface="맑은 고딕"/>
                <a:ea typeface="맑은 고딕"/>
              </a:rPr>
              <a:t>MODULE 1 · 실습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097280"/>
            <a:ext cx="658368" cy="365760"/>
          </a:xfrm>
          <a:prstGeom prst="roundRect">
            <a:avLst/>
          </a:prstGeom>
          <a:solidFill>
            <a:srgbClr val="3D7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맑은 고딕"/>
                <a:ea typeface="맑은 고딕"/>
              </a:rPr>
              <a:t>LAB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00200" y="1078992"/>
            <a:ext cx="100584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3100" b="1" i="0">
                <a:solidFill>
                  <a:srgbClr val="FFFFFF"/>
                </a:solidFill>
                <a:latin typeface="맑은 고딕"/>
                <a:ea typeface="맑은 고딕"/>
              </a:rPr>
              <a:t>시계열 추세 · 집단별 비교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" y="1965960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500" b="0" i="0">
                <a:solidFill>
                  <a:srgbClr val="9FB0CF"/>
                </a:solidFill>
                <a:latin typeface="맑은 고딕"/>
                <a:ea typeface="맑은 고딕"/>
              </a:rPr>
              <a:t>시간에 따른 추세와 집단 간 차이를 엑셀로 직접 분석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2697480"/>
            <a:ext cx="3429000" cy="1874519"/>
          </a:xfrm>
          <a:prstGeom prst="roundRect">
            <a:avLst/>
          </a:prstGeom>
          <a:solidFill>
            <a:srgbClr val="22304E"/>
          </a:solidFill>
          <a:ln w="9525">
            <a:solidFill>
              <a:srgbClr val="3A4A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164592" tIns="164592" bIns="128016"/>
          <a:lstStyle/>
          <a:p>
            <a:pPr algn="ctr">
              <a:lnSpc>
                <a:spcPct val="110000"/>
              </a:lnSpc>
            </a:pPr>
            <a:r>
              <a:rPr sz="1500" b="1" i="0">
                <a:solidFill>
                  <a:srgbClr val="6FA0FF"/>
                </a:solidFill>
                <a:latin typeface="맑은 고딕"/>
                <a:ea typeface="맑은 고딕"/>
              </a:rPr>
              <a:t>1  </a:t>
            </a:r>
            <a:r>
              <a:rPr sz="1400" b="1" i="0">
                <a:solidFill>
                  <a:srgbClr val="FFFFFF"/>
                </a:solidFill>
                <a:latin typeface="맑은 고딕"/>
                <a:ea typeface="맑은 고딕"/>
              </a:rPr>
              <a:t>시계열 추세</a:t>
            </a:r>
          </a:p>
          <a:p>
            <a:pPr>
              <a:lnSpc>
                <a:spcPct val="125000"/>
              </a:lnSpc>
              <a:spcBef>
                <a:spcPts val="600"/>
              </a:spcBef>
            </a:pPr>
            <a:r>
              <a:rPr sz="1150" b="0" i="0">
                <a:solidFill>
                  <a:srgbClr val="9FB0CF"/>
                </a:solidFill>
                <a:latin typeface="맑은 고딕"/>
                <a:ea typeface="맑은 고딕"/>
              </a:rPr>
              <a:t>꺾은선 차트 + 7일 이동평균(=AVERAGE)으로 단기 변동 속 장기 추세·계절성 파악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34840" y="2697480"/>
            <a:ext cx="3429000" cy="1874519"/>
          </a:xfrm>
          <a:prstGeom prst="roundRect">
            <a:avLst/>
          </a:prstGeom>
          <a:solidFill>
            <a:srgbClr val="22304E"/>
          </a:solidFill>
          <a:ln w="9525">
            <a:solidFill>
              <a:srgbClr val="3A4A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164592" tIns="164592" bIns="128016"/>
          <a:lstStyle/>
          <a:p>
            <a:pPr algn="ctr">
              <a:lnSpc>
                <a:spcPct val="110000"/>
              </a:lnSpc>
            </a:pPr>
            <a:r>
              <a:rPr sz="1500" b="1" i="0">
                <a:solidFill>
                  <a:srgbClr val="6FA0FF"/>
                </a:solidFill>
                <a:latin typeface="맑은 고딕"/>
                <a:ea typeface="맑은 고딕"/>
              </a:rPr>
              <a:t>2  </a:t>
            </a:r>
            <a:r>
              <a:rPr sz="1400" b="1" i="0">
                <a:solidFill>
                  <a:srgbClr val="FFFFFF"/>
                </a:solidFill>
                <a:latin typeface="맑은 고딕"/>
                <a:ea typeface="맑은 고딕"/>
              </a:rPr>
              <a:t>요일별 특성</a:t>
            </a:r>
          </a:p>
          <a:p>
            <a:pPr>
              <a:lnSpc>
                <a:spcPct val="125000"/>
              </a:lnSpc>
              <a:spcBef>
                <a:spcPts val="600"/>
              </a:spcBef>
            </a:pPr>
            <a:r>
              <a:rPr sz="1150" b="0" i="0">
                <a:solidFill>
                  <a:srgbClr val="9FB0CF"/>
                </a:solidFill>
                <a:latin typeface="맑은 고딕"/>
                <a:ea typeface="맑은 고딕"/>
              </a:rPr>
              <a:t>피벗(행=요일, 값=매출 평균) → 막대그래프로 주말 vs 평일 비교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2697480"/>
            <a:ext cx="3429000" cy="1874519"/>
          </a:xfrm>
          <a:prstGeom prst="roundRect">
            <a:avLst/>
          </a:prstGeom>
          <a:solidFill>
            <a:srgbClr val="22304E"/>
          </a:solidFill>
          <a:ln w="9525">
            <a:solidFill>
              <a:srgbClr val="3A4A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164592" tIns="164592" bIns="128016"/>
          <a:lstStyle/>
          <a:p>
            <a:pPr algn="ctr">
              <a:lnSpc>
                <a:spcPct val="110000"/>
              </a:lnSpc>
            </a:pPr>
            <a:r>
              <a:rPr sz="1500" b="1" i="0">
                <a:solidFill>
                  <a:srgbClr val="6FA0FF"/>
                </a:solidFill>
                <a:latin typeface="맑은 고딕"/>
                <a:ea typeface="맑은 고딕"/>
              </a:rPr>
              <a:t>3  </a:t>
            </a:r>
            <a:r>
              <a:rPr sz="1400" b="1" i="0">
                <a:solidFill>
                  <a:srgbClr val="FFFFFF"/>
                </a:solidFill>
                <a:latin typeface="맑은 고딕"/>
                <a:ea typeface="맑은 고딕"/>
              </a:rPr>
              <a:t>집단별 비교</a:t>
            </a:r>
          </a:p>
          <a:p>
            <a:pPr>
              <a:lnSpc>
                <a:spcPct val="125000"/>
              </a:lnSpc>
              <a:spcBef>
                <a:spcPts val="600"/>
              </a:spcBef>
            </a:pPr>
            <a:r>
              <a:rPr sz="1150" b="0" i="0">
                <a:solidFill>
                  <a:srgbClr val="9FB0CF"/>
                </a:solidFill>
                <a:latin typeface="맑은 고딕"/>
                <a:ea typeface="맑은 고딕"/>
              </a:rPr>
              <a:t>행=고객유형/지점, 합계와 평균을 함께 → 규모와 효율 동시에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2960" y="4846320"/>
            <a:ext cx="54864" cy="868680"/>
          </a:xfrm>
          <a:prstGeom prst="rect">
            <a:avLst/>
          </a:prstGeom>
          <a:solidFill>
            <a:srgbClr val="3D7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77824" y="4846320"/>
            <a:ext cx="10506456" cy="868680"/>
          </a:xfrm>
          <a:prstGeom prst="roundRect">
            <a:avLst/>
          </a:prstGeom>
          <a:solidFill>
            <a:srgbClr val="2230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/>
          <a:lstStyle/>
          <a:p>
            <a:pPr algn="ctr">
              <a:lnSpc>
                <a:spcPct val="130000"/>
              </a:lnSpc>
            </a:pPr>
            <a:r>
              <a:rPr sz="1300" b="0" i="0">
                <a:solidFill>
                  <a:srgbClr val="EEF2FB"/>
                </a:solidFill>
                <a:latin typeface="맑은 고딕"/>
                <a:ea typeface="맑은 고딕"/>
              </a:rPr>
              <a:t>그룹 비교 시 </a:t>
            </a:r>
            <a:r>
              <a:rPr sz="1300" b="1" i="0">
                <a:solidFill>
                  <a:srgbClr val="FFFFFF"/>
                </a:solidFill>
                <a:latin typeface="맑은 고딕"/>
                <a:ea typeface="맑은 고딕"/>
              </a:rPr>
              <a:t>합계만 보지 말고 평균·비율도 함께</a:t>
            </a:r>
            <a:r>
              <a:rPr sz="1300" b="0" i="0">
                <a:solidFill>
                  <a:srgbClr val="EEF2FB"/>
                </a:solidFill>
                <a:latin typeface="맑은 고딕"/>
                <a:ea typeface="맑은 고딕"/>
              </a:rPr>
              <a:t>. 규모가 커서 합계만 높고 효율(1인당)은 낮을 수 있습니다.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6419088"/>
            <a:ext cx="2743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1" i="0">
                <a:solidFill>
                  <a:srgbClr val="EEF2FB"/>
                </a:solidFill>
                <a:latin typeface="맑은 고딕"/>
                <a:ea typeface="맑은 고딕"/>
              </a:rPr>
              <a:t>Data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1" i="0">
                <a:solidFill>
                  <a:srgbClr val="6FA0FF"/>
                </a:solidFill>
                <a:latin typeface="맑은 고딕"/>
                <a:ea typeface="맑은 고딕"/>
              </a:rPr>
              <a:t> Lab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0" y="6419088"/>
            <a:ext cx="1828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1200" b="0" i="0">
                <a:solidFill>
                  <a:srgbClr val="9FB0CF"/>
                </a:solidFill>
                <a:latin typeface="맑은 고딕"/>
                <a:ea typeface="맑은 고딕"/>
              </a:rPr>
              <a:t>9 / 28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0"/>
            <a:ext cx="12191695" cy="38100"/>
          </a:xfrm>
          <a:prstGeom prst="rect">
            <a:avLst/>
          </a:prstGeom>
          <a:solidFill>
            <a:srgbClr val="1420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0" y="0"/>
            <a:ext cx="3918759" cy="38100"/>
          </a:xfrm>
          <a:prstGeom prst="rect">
            <a:avLst/>
          </a:prstGeom>
          <a:solidFill>
            <a:srgbClr val="3D7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589520" y="-914400"/>
            <a:ext cx="5486400" cy="3657600"/>
          </a:xfrm>
          <a:prstGeom prst="rect">
            <a:avLst/>
          </a:prstGeom>
          <a:solidFill>
            <a:srgbClr val="243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50392" y="566928"/>
            <a:ext cx="1842516" cy="384048"/>
          </a:xfrm>
          <a:prstGeom prst="roundRect">
            <a:avLst/>
          </a:prstGeom>
          <a:solidFill>
            <a:srgbClr val="22304E"/>
          </a:solidFill>
          <a:ln w="9525">
            <a:solidFill>
              <a:srgbClr val="3A4A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 rIns="109728" tIns="18288" bIns="18288"/>
          <a:lstStyle/>
          <a:p>
            <a:pPr algn="ctr"/>
            <a:r>
              <a:rPr sz="1100" b="1" i="0">
                <a:solidFill>
                  <a:srgbClr val="6FA0FF"/>
                </a:solidFill>
                <a:latin typeface="맑은 고딕"/>
                <a:ea typeface="맑은 고딕"/>
              </a:rPr>
              <a:t>MODULE 1 · 실습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097280"/>
            <a:ext cx="658368" cy="365760"/>
          </a:xfrm>
          <a:prstGeom prst="roundRect">
            <a:avLst/>
          </a:prstGeom>
          <a:solidFill>
            <a:srgbClr val="3D7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맑은 고딕"/>
                <a:ea typeface="맑은 고딕"/>
              </a:rPr>
              <a:t>LAB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00200" y="1078992"/>
            <a:ext cx="100584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3100" b="1" i="0">
                <a:solidFill>
                  <a:srgbClr val="FFFFFF"/>
                </a:solidFill>
                <a:latin typeface="맑은 고딕"/>
                <a:ea typeface="맑은 고딕"/>
              </a:rPr>
              <a:t>상관분석 · 교차분석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" y="1965960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500" b="0" i="0">
                <a:solidFill>
                  <a:srgbClr val="9FB0CF"/>
                </a:solidFill>
                <a:latin typeface="맑은 고딕"/>
                <a:ea typeface="맑은 고딕"/>
              </a:rPr>
              <a:t>두 변수가 함께 움직이는가(상관) · 범주 간 관계가 있는가(교차)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822960" y="2697480"/>
          <a:ext cx="512064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/>
                <a:gridCol w="3017520"/>
              </a:tblGrid>
              <a:tr h="457200">
                <a:tc>
                  <a:txBody>
                    <a:bodyPr/>
                    <a:lstStyle/>
                    <a:p>
                      <a:r>
                        <a:rPr sz="1200" b="1" i="0">
                          <a:solidFill>
                            <a:srgbClr val="6FA0FF"/>
                          </a:solidFill>
                          <a:latin typeface="맑은 고딕"/>
                          <a:ea typeface="맑은 고딕"/>
                        </a:rPr>
                        <a:t>상관계수 r</a:t>
                      </a:r>
                    </a:p>
                  </a:txBody>
                  <a:tcPr marL="91440" marT="36576" marB="36576" anchor="ctr">
                    <a:solidFill>
                      <a:srgbClr val="14203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 i="0">
                          <a:solidFill>
                            <a:srgbClr val="6FA0FF"/>
                          </a:solidFill>
                          <a:latin typeface="맑은 고딕"/>
                          <a:ea typeface="맑은 고딕"/>
                        </a:rPr>
                        <a:t>해석</a:t>
                      </a:r>
                    </a:p>
                  </a:txBody>
                  <a:tcPr marL="91440" marT="36576" marB="36576" anchor="ctr">
                    <a:solidFill>
                      <a:srgbClr val="14203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0.7 ~ 1.0</a:t>
                      </a:r>
                    </a:p>
                  </a:txBody>
                  <a:tcPr marL="91440" marT="27432" marB="27432"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200" b="0" i="0">
                          <a:solidFill>
                            <a:srgbClr val="9FB0CF"/>
                          </a:solidFill>
                          <a:latin typeface="맑은 고딕"/>
                          <a:ea typeface="맑은 고딕"/>
                        </a:rPr>
                        <a:t>강한 양의 상관</a:t>
                      </a:r>
                    </a:p>
                  </a:txBody>
                  <a:tcPr marL="91440" marT="27432" marB="27432" anchor="ctr">
                    <a:solidFill>
                      <a:srgbClr val="1B2A4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0.4 ~ 0.7</a:t>
                      </a:r>
                    </a:p>
                  </a:txBody>
                  <a:tcPr marL="91440" marT="27432" marB="27432" anchor="ctr">
                    <a:solidFill>
                      <a:srgbClr val="14203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200" b="0" i="0">
                          <a:solidFill>
                            <a:srgbClr val="9FB0CF"/>
                          </a:solidFill>
                          <a:latin typeface="맑은 고딕"/>
                          <a:ea typeface="맑은 고딕"/>
                        </a:rPr>
                        <a:t>뚜렷한 양의 상관</a:t>
                      </a:r>
                    </a:p>
                  </a:txBody>
                  <a:tcPr marL="91440" marT="27432" marB="27432" anchor="ctr">
                    <a:solidFill>
                      <a:srgbClr val="14203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−0.2 ~ 0.2</a:t>
                      </a:r>
                    </a:p>
                  </a:txBody>
                  <a:tcPr marL="91440" marT="27432" marB="27432"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200" b="0" i="0">
                          <a:solidFill>
                            <a:srgbClr val="9FB0CF"/>
                          </a:solidFill>
                          <a:latin typeface="맑은 고딕"/>
                          <a:ea typeface="맑은 고딕"/>
                        </a:rPr>
                        <a:t>거의 상관 없음</a:t>
                      </a:r>
                    </a:p>
                  </a:txBody>
                  <a:tcPr marL="91440" marT="27432" marB="27432" anchor="ctr">
                    <a:solidFill>
                      <a:srgbClr val="1B2A4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−1.0 ~ −0.7</a:t>
                      </a:r>
                    </a:p>
                  </a:txBody>
                  <a:tcPr marL="91440" marT="27432" marB="27432" anchor="ctr">
                    <a:solidFill>
                      <a:srgbClr val="14203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200" b="0" i="0">
                          <a:solidFill>
                            <a:srgbClr val="9FB0CF"/>
                          </a:solidFill>
                          <a:latin typeface="맑은 고딕"/>
                          <a:ea typeface="맑은 고딕"/>
                        </a:rPr>
                        <a:t>강한 음의 상관</a:t>
                      </a:r>
                    </a:p>
                  </a:txBody>
                  <a:tcPr marL="91440" marT="27432" marB="27432" anchor="ctr">
                    <a:solidFill>
                      <a:srgbClr val="142036"/>
                    </a:solidFill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822960" y="4754880"/>
            <a:ext cx="5120640" cy="566928"/>
          </a:xfrm>
          <a:prstGeom prst="roundRect">
            <a:avLst/>
          </a:prstGeom>
          <a:solidFill>
            <a:srgbClr val="0D1626"/>
          </a:solidFill>
          <a:ln w="9525">
            <a:solidFill>
              <a:srgbClr val="3A4A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 i="0">
                <a:solidFill>
                  <a:srgbClr val="6FA0FF"/>
                </a:solidFill>
                <a:latin typeface="Consolas"/>
                <a:ea typeface="Consolas"/>
              </a:rPr>
              <a:t>=CORREL(B2:B100, C2:C100)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09360" y="2697480"/>
            <a:ext cx="54864" cy="2468880"/>
          </a:xfrm>
          <a:prstGeom prst="rect">
            <a:avLst/>
          </a:prstGeom>
          <a:solidFill>
            <a:srgbClr val="3D7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364224" y="2697480"/>
            <a:ext cx="4974336" cy="2468880"/>
          </a:xfrm>
          <a:prstGeom prst="roundRect">
            <a:avLst/>
          </a:prstGeom>
          <a:solidFill>
            <a:srgbClr val="2230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/>
          <a:lstStyle/>
          <a:p>
            <a:pPr algn="ctr">
              <a:lnSpc>
                <a:spcPct val="130000"/>
              </a:lnSpc>
            </a:pPr>
            <a:r>
              <a:rPr sz="1300" b="1" i="0">
                <a:solidFill>
                  <a:srgbClr val="FFFFFF"/>
                </a:solidFill>
                <a:latin typeface="맑은 고딕"/>
                <a:ea typeface="맑은 고딕"/>
              </a:rPr>
              <a:t>⚠ 상관 ≠ 인과. </a:t>
            </a:r>
            <a:r>
              <a:rPr sz="1300" b="0" i="0">
                <a:solidFill>
                  <a:srgbClr val="EEF2FB"/>
                </a:solidFill>
                <a:latin typeface="맑은 고딕"/>
                <a:ea typeface="맑은 고딕"/>
              </a:rPr>
              <a:t>‘아이스크림 판매 ↔ 익사’는 강한 상관이지만 숨은 변수 ‘여름철 더위’가 둘을 끌어올린 것. r은 직선 관계만 측정하므로 반드시 산점도를 함께 그리세요.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6419088"/>
            <a:ext cx="2743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1" i="0">
                <a:solidFill>
                  <a:srgbClr val="EEF2FB"/>
                </a:solidFill>
                <a:latin typeface="맑은 고딕"/>
                <a:ea typeface="맑은 고딕"/>
              </a:rPr>
              <a:t>Data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1" i="0">
                <a:solidFill>
                  <a:srgbClr val="6FA0FF"/>
                </a:solidFill>
                <a:latin typeface="맑은 고딕"/>
                <a:ea typeface="맑은 고딕"/>
              </a:rPr>
              <a:t> Lab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0" y="6419088"/>
            <a:ext cx="1828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1200" b="0" i="0">
                <a:solidFill>
                  <a:srgbClr val="9FB0CF"/>
                </a:solidFill>
                <a:latin typeface="맑은 고딕"/>
                <a:ea typeface="맑은 고딕"/>
              </a:rPr>
              <a:t>10 / 28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0"/>
            <a:ext cx="12191695" cy="38100"/>
          </a:xfrm>
          <a:prstGeom prst="rect">
            <a:avLst/>
          </a:prstGeom>
          <a:solidFill>
            <a:srgbClr val="1420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0" y="0"/>
            <a:ext cx="4354176" cy="38100"/>
          </a:xfrm>
          <a:prstGeom prst="rect">
            <a:avLst/>
          </a:prstGeom>
          <a:solidFill>
            <a:srgbClr val="3D7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589520" y="-914400"/>
            <a:ext cx="5486400" cy="3657600"/>
          </a:xfrm>
          <a:prstGeom prst="rect">
            <a:avLst/>
          </a:prstGeom>
          <a:solidFill>
            <a:srgbClr val="243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50392" y="566928"/>
            <a:ext cx="1842516" cy="384048"/>
          </a:xfrm>
          <a:prstGeom prst="roundRect">
            <a:avLst/>
          </a:prstGeom>
          <a:solidFill>
            <a:srgbClr val="22304E"/>
          </a:solidFill>
          <a:ln w="9525">
            <a:solidFill>
              <a:srgbClr val="3A4A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 rIns="109728" tIns="18288" bIns="18288"/>
          <a:lstStyle/>
          <a:p>
            <a:pPr algn="ctr"/>
            <a:r>
              <a:rPr sz="1100" b="1" i="0">
                <a:solidFill>
                  <a:srgbClr val="6FA0FF"/>
                </a:solidFill>
                <a:latin typeface="맑은 고딕"/>
                <a:ea typeface="맑은 고딕"/>
              </a:rPr>
              <a:t>MODULE 1 · 실습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097280"/>
            <a:ext cx="658368" cy="365760"/>
          </a:xfrm>
          <a:prstGeom prst="roundRect">
            <a:avLst/>
          </a:prstGeom>
          <a:solidFill>
            <a:srgbClr val="3D7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맑은 고딕"/>
                <a:ea typeface="맑은 고딕"/>
              </a:rPr>
              <a:t>LAB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00200" y="1078992"/>
            <a:ext cx="102412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900" b="1" i="0">
                <a:solidFill>
                  <a:srgbClr val="FFFFFF"/>
                </a:solidFill>
                <a:latin typeface="맑은 고딕"/>
                <a:ea typeface="맑은 고딕"/>
              </a:rPr>
              <a:t>분포 확인 — 히스토그램 · 박스플롯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" y="1965960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500" b="0" i="0">
                <a:solidFill>
                  <a:srgbClr val="9FB0CF"/>
                </a:solidFill>
                <a:latin typeface="맑은 고딕"/>
                <a:ea typeface="맑은 고딕"/>
              </a:rPr>
              <a:t>평균만 보면 데이터의 진짜 모습을 놓친다 — 분포의 형태를 직접 본다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697480"/>
            <a:ext cx="52120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200" b="1" i="0">
                <a:solidFill>
                  <a:srgbClr val="3D7DFF"/>
                </a:solidFill>
                <a:latin typeface="맑은 고딕"/>
                <a:ea typeface="맑은 고딕"/>
              </a:rPr>
              <a:t>◆ </a:t>
            </a:r>
            <a:r>
              <a:rPr sz="1400" b="1" i="0">
                <a:solidFill>
                  <a:srgbClr val="EEF2FB"/>
                </a:solidFill>
                <a:latin typeface="맑은 고딕"/>
                <a:ea typeface="맑은 고딕"/>
              </a:rPr>
              <a:t>평균의 함정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100" b="0" i="0">
                <a:solidFill>
                  <a:srgbClr val="9FB0CF"/>
                </a:solidFill>
                <a:latin typeface="맑은 고딕"/>
                <a:ea typeface="맑은 고딕"/>
              </a:rPr>
              <a:t>    9명 3천만+1명 30억 → 평균 3억, 누구도 안 받음. 중앙값을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200" b="1" i="0">
                <a:solidFill>
                  <a:srgbClr val="3D7DFF"/>
                </a:solidFill>
                <a:latin typeface="맑은 고딕"/>
                <a:ea typeface="맑은 고딕"/>
              </a:rPr>
              <a:t>◆ </a:t>
            </a:r>
            <a:r>
              <a:rPr sz="1400" b="1" i="0">
                <a:solidFill>
                  <a:srgbClr val="EEF2FB"/>
                </a:solidFill>
                <a:latin typeface="맑은 고딕"/>
                <a:ea typeface="맑은 고딕"/>
              </a:rPr>
              <a:t>히스토그램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100" b="0" i="0">
                <a:solidFill>
                  <a:srgbClr val="9FB0CF"/>
                </a:solidFill>
                <a:latin typeface="맑은 고딕"/>
                <a:ea typeface="맑은 고딕"/>
              </a:rPr>
              <a:t>    대칭/치우침(왜도)/봉우리 수 → 분포 형태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200" b="1" i="0">
                <a:solidFill>
                  <a:srgbClr val="3D7DFF"/>
                </a:solidFill>
                <a:latin typeface="맑은 고딕"/>
                <a:ea typeface="맑은 고딕"/>
              </a:rPr>
              <a:t>◆ </a:t>
            </a:r>
            <a:r>
              <a:rPr sz="1400" b="1" i="0">
                <a:solidFill>
                  <a:srgbClr val="EEF2FB"/>
                </a:solidFill>
                <a:latin typeface="맑은 고딕"/>
                <a:ea typeface="맑은 고딕"/>
              </a:rPr>
              <a:t>박스플롯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100" b="0" i="0">
                <a:solidFill>
                  <a:srgbClr val="9FB0CF"/>
                </a:solidFill>
                <a:latin typeface="맑은 고딕"/>
                <a:ea typeface="맑은 고딕"/>
              </a:rPr>
              <a:t>    사분위수·IQR·수염 밖의 점=이상치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309360" y="2697480"/>
          <a:ext cx="50292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286000"/>
              </a:tblGrid>
              <a:tr h="457200">
                <a:tc>
                  <a:txBody>
                    <a:bodyPr/>
                    <a:lstStyle/>
                    <a:p>
                      <a:r>
                        <a:rPr sz="1200" b="1" i="0">
                          <a:solidFill>
                            <a:srgbClr val="6FA0FF"/>
                          </a:solidFill>
                          <a:latin typeface="맑은 고딕"/>
                          <a:ea typeface="맑은 고딕"/>
                        </a:rPr>
                        <a:t>분포 형태</a:t>
                      </a:r>
                    </a:p>
                  </a:txBody>
                  <a:tcPr marL="91440" marT="36576" marB="36576" anchor="ctr">
                    <a:solidFill>
                      <a:srgbClr val="14203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 i="0">
                          <a:solidFill>
                            <a:srgbClr val="6FA0FF"/>
                          </a:solidFill>
                          <a:latin typeface="맑은 고딕"/>
                          <a:ea typeface="맑은 고딕"/>
                        </a:rPr>
                        <a:t>대표값</a:t>
                      </a:r>
                    </a:p>
                  </a:txBody>
                  <a:tcPr marL="91440" marT="36576" marB="36576" anchor="ctr">
                    <a:solidFill>
                      <a:srgbClr val="14203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종 모양(정규)</a:t>
                      </a:r>
                    </a:p>
                  </a:txBody>
                  <a:tcPr marL="91440" marT="27432" marB="27432"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200" b="0" i="0">
                          <a:solidFill>
                            <a:srgbClr val="9FB0CF"/>
                          </a:solidFill>
                          <a:latin typeface="맑은 고딕"/>
                          <a:ea typeface="맑은 고딕"/>
                        </a:rPr>
                        <a:t>평균</a:t>
                      </a:r>
                    </a:p>
                  </a:txBody>
                  <a:tcPr marL="91440" marT="27432" marB="27432" anchor="ctr">
                    <a:solidFill>
                      <a:srgbClr val="1B2A4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오른쪽 꼬리(소득)</a:t>
                      </a:r>
                    </a:p>
                  </a:txBody>
                  <a:tcPr marL="91440" marT="27432" marB="27432" anchor="ctr">
                    <a:solidFill>
                      <a:srgbClr val="14203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200" b="0" i="0">
                          <a:solidFill>
                            <a:srgbClr val="9FB0CF"/>
                          </a:solidFill>
                          <a:latin typeface="맑은 고딕"/>
                          <a:ea typeface="맑은 고딕"/>
                        </a:rPr>
                        <a:t>중앙값</a:t>
                      </a:r>
                    </a:p>
                  </a:txBody>
                  <a:tcPr marL="91440" marT="27432" marB="27432" anchor="ctr">
                    <a:solidFill>
                      <a:srgbClr val="14203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이봉(두 집단)</a:t>
                      </a:r>
                    </a:p>
                  </a:txBody>
                  <a:tcPr marL="91440" marT="27432" marB="27432"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200" b="0" i="0">
                          <a:solidFill>
                            <a:srgbClr val="9FB0CF"/>
                          </a:solidFill>
                          <a:latin typeface="맑은 고딕"/>
                          <a:ea typeface="맑은 고딕"/>
                        </a:rPr>
                        <a:t>집단 분리 후</a:t>
                      </a:r>
                    </a:p>
                  </a:txBody>
                  <a:tcPr marL="91440" marT="27432" marB="27432" anchor="ctr">
                    <a:solidFill>
                      <a:srgbClr val="1B2A4A"/>
                    </a:solidFill>
                  </a:tcPr>
                </a:tc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6309360" y="4572000"/>
            <a:ext cx="54864" cy="1188720"/>
          </a:xfrm>
          <a:prstGeom prst="rect">
            <a:avLst/>
          </a:prstGeom>
          <a:solidFill>
            <a:srgbClr val="3D7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364224" y="4572000"/>
            <a:ext cx="4974336" cy="1188720"/>
          </a:xfrm>
          <a:prstGeom prst="roundRect">
            <a:avLst/>
          </a:prstGeom>
          <a:solidFill>
            <a:srgbClr val="2230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/>
          <a:lstStyle/>
          <a:p>
            <a:pPr algn="ctr">
              <a:lnSpc>
                <a:spcPct val="130000"/>
              </a:lnSpc>
            </a:pPr>
            <a:r>
              <a:rPr sz="1300" b="1" i="0">
                <a:solidFill>
                  <a:srgbClr val="FFFFFF"/>
                </a:solidFill>
                <a:latin typeface="맑은 고딕"/>
                <a:ea typeface="맑은 고딕"/>
              </a:rPr>
              <a:t>앤스컴 콰르텟</a:t>
            </a:r>
            <a:r>
              <a:rPr sz="1300" b="0" i="0">
                <a:solidFill>
                  <a:srgbClr val="EEF2FB"/>
                </a:solidFill>
                <a:latin typeface="맑은 고딕"/>
                <a:ea typeface="맑은 고딕"/>
              </a:rPr>
              <a:t> — 평균·분산·상관이 같아도 모양은 전혀 다름. 요약 전에 반드시 그려보라.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6419088"/>
            <a:ext cx="2743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1" i="0">
                <a:solidFill>
                  <a:srgbClr val="EEF2FB"/>
                </a:solidFill>
                <a:latin typeface="맑은 고딕"/>
                <a:ea typeface="맑은 고딕"/>
              </a:rPr>
              <a:t>Data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1" i="0">
                <a:solidFill>
                  <a:srgbClr val="6FA0FF"/>
                </a:solidFill>
                <a:latin typeface="맑은 고딕"/>
                <a:ea typeface="맑은 고딕"/>
              </a:rPr>
              <a:t> Lab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0" y="6419088"/>
            <a:ext cx="1828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1200" b="0" i="0">
                <a:solidFill>
                  <a:srgbClr val="9FB0CF"/>
                </a:solidFill>
                <a:latin typeface="맑은 고딕"/>
                <a:ea typeface="맑은 고딕"/>
              </a:rPr>
              <a:t>11 / 28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0"/>
            <a:ext cx="12191695" cy="38100"/>
          </a:xfrm>
          <a:prstGeom prst="rect">
            <a:avLst/>
          </a:prstGeom>
          <a:solidFill>
            <a:srgbClr val="1420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0" y="0"/>
            <a:ext cx="4789594" cy="38100"/>
          </a:xfrm>
          <a:prstGeom prst="rect">
            <a:avLst/>
          </a:prstGeom>
          <a:solidFill>
            <a:srgbClr val="3D7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589520" y="-914400"/>
            <a:ext cx="5486400" cy="3657600"/>
          </a:xfrm>
          <a:prstGeom prst="rect">
            <a:avLst/>
          </a:prstGeom>
          <a:solidFill>
            <a:srgbClr val="243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50392" y="566928"/>
            <a:ext cx="1842516" cy="384048"/>
          </a:xfrm>
          <a:prstGeom prst="roundRect">
            <a:avLst/>
          </a:prstGeom>
          <a:solidFill>
            <a:srgbClr val="22304E"/>
          </a:solidFill>
          <a:ln w="9525">
            <a:solidFill>
              <a:srgbClr val="3A4A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 rIns="109728" tIns="18288" bIns="18288"/>
          <a:lstStyle/>
          <a:p>
            <a:pPr algn="ctr"/>
            <a:r>
              <a:rPr sz="1100" b="1" i="0">
                <a:solidFill>
                  <a:srgbClr val="6FA0FF"/>
                </a:solidFill>
                <a:latin typeface="맑은 고딕"/>
                <a:ea typeface="맑은 고딕"/>
              </a:rPr>
              <a:t>MODULE 1 · 정리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078992"/>
            <a:ext cx="105156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3300" b="1" i="0">
                <a:solidFill>
                  <a:srgbClr val="FFFFFF"/>
                </a:solidFill>
                <a:latin typeface="맑은 고딕"/>
                <a:ea typeface="맑은 고딕"/>
              </a:rPr>
              <a:t>EDA 실무 체크리스트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0392" y="1938528"/>
            <a:ext cx="106070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500" b="0" i="0">
                <a:solidFill>
                  <a:srgbClr val="9FB0CF"/>
                </a:solidFill>
                <a:latin typeface="맑은 고딕"/>
                <a:ea typeface="맑은 고딕"/>
              </a:rPr>
              <a:t>좋은 EDA는 차트를 많이 그린 것이 아니라, 올바른 질문을 던진 것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514600"/>
            <a:ext cx="52120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200" b="1" i="0">
                <a:solidFill>
                  <a:srgbClr val="3D7DFF"/>
                </a:solidFill>
                <a:latin typeface="맑은 고딕"/>
                <a:ea typeface="맑은 고딕"/>
              </a:rPr>
              <a:t>◆ </a:t>
            </a:r>
            <a:r>
              <a:rPr sz="1400" b="1" i="0">
                <a:solidFill>
                  <a:srgbClr val="EEF2FB"/>
                </a:solidFill>
                <a:latin typeface="맑은 고딕"/>
                <a:ea typeface="맑은 고딕"/>
              </a:rPr>
              <a:t>분석 목적과 가설을 한 문장으로 적었는가?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200" b="1" i="0">
                <a:solidFill>
                  <a:srgbClr val="3D7DFF"/>
                </a:solidFill>
                <a:latin typeface="맑은 고딕"/>
                <a:ea typeface="맑은 고딕"/>
              </a:rPr>
              <a:t>◆ </a:t>
            </a:r>
            <a:r>
              <a:rPr sz="1400" b="1" i="0">
                <a:solidFill>
                  <a:srgbClr val="EEF2FB"/>
                </a:solidFill>
                <a:latin typeface="맑은 고딕"/>
                <a:ea typeface="맑은 고딕"/>
              </a:rPr>
              <a:t>행/열 수·결측치·중복·단위를 점검했는가?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200" b="1" i="0">
                <a:solidFill>
                  <a:srgbClr val="3D7DFF"/>
                </a:solidFill>
                <a:latin typeface="맑은 고딕"/>
                <a:ea typeface="맑은 고딕"/>
              </a:rPr>
              <a:t>◆ </a:t>
            </a:r>
            <a:r>
              <a:rPr sz="1400" b="1" i="0">
                <a:solidFill>
                  <a:srgbClr val="EEF2FB"/>
                </a:solidFill>
                <a:latin typeface="맑은 고딕"/>
                <a:ea typeface="맑은 고딕"/>
              </a:rPr>
              <a:t>핵심 지표를 구성 요소·차원으로 쪼갰는가?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200" b="1" i="0">
                <a:solidFill>
                  <a:srgbClr val="3D7DFF"/>
                </a:solidFill>
                <a:latin typeface="맑은 고딕"/>
                <a:ea typeface="맑은 고딕"/>
              </a:rPr>
              <a:t>◆ </a:t>
            </a:r>
            <a:r>
              <a:rPr sz="1400" b="1" i="0">
                <a:solidFill>
                  <a:srgbClr val="EEF2FB"/>
                </a:solidFill>
                <a:latin typeface="맑은 고딕"/>
                <a:ea typeface="맑은 고딕"/>
              </a:rPr>
              <a:t>시간에 따른 추세·계절성을 확인했는가?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2514600"/>
            <a:ext cx="52120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200" b="1" i="0">
                <a:solidFill>
                  <a:srgbClr val="3D7DFF"/>
                </a:solidFill>
                <a:latin typeface="맑은 고딕"/>
                <a:ea typeface="맑은 고딕"/>
              </a:rPr>
              <a:t>◆ </a:t>
            </a:r>
            <a:r>
              <a:rPr sz="1400" b="1" i="0">
                <a:solidFill>
                  <a:srgbClr val="EEF2FB"/>
                </a:solidFill>
                <a:latin typeface="맑은 고딕"/>
                <a:ea typeface="맑은 고딕"/>
              </a:rPr>
              <a:t>분포(히스토그램·박스플롯)를 그렸는가?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200" b="1" i="0">
                <a:solidFill>
                  <a:srgbClr val="3D7DFF"/>
                </a:solidFill>
                <a:latin typeface="맑은 고딕"/>
                <a:ea typeface="맑은 고딕"/>
              </a:rPr>
              <a:t>◆ </a:t>
            </a:r>
            <a:r>
              <a:rPr sz="1400" b="1" i="0">
                <a:solidFill>
                  <a:srgbClr val="EEF2FB"/>
                </a:solidFill>
                <a:latin typeface="맑은 고딕"/>
                <a:ea typeface="맑은 고딕"/>
              </a:rPr>
              <a:t>이상치가 오류인지 진짜 특이값인지 판단했는가?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200" b="1" i="0">
                <a:solidFill>
                  <a:srgbClr val="3D7DFF"/>
                </a:solidFill>
                <a:latin typeface="맑은 고딕"/>
                <a:ea typeface="맑은 고딕"/>
              </a:rPr>
              <a:t>◆ </a:t>
            </a:r>
            <a:r>
              <a:rPr sz="1400" b="1" i="0">
                <a:solidFill>
                  <a:srgbClr val="EEF2FB"/>
                </a:solidFill>
                <a:latin typeface="맑은 고딕"/>
                <a:ea typeface="맑은 고딕"/>
              </a:rPr>
              <a:t>상관을 인과로 단정하지 않았는가?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200" b="1" i="0">
                <a:solidFill>
                  <a:srgbClr val="3D7DFF"/>
                </a:solidFill>
                <a:latin typeface="맑은 고딕"/>
                <a:ea typeface="맑은 고딕"/>
              </a:rPr>
              <a:t>◆ </a:t>
            </a:r>
            <a:r>
              <a:rPr sz="1400" b="1" i="0">
                <a:solidFill>
                  <a:srgbClr val="EEF2FB"/>
                </a:solidFill>
                <a:latin typeface="맑은 고딕"/>
                <a:ea typeface="맑은 고딕"/>
              </a:rPr>
              <a:t>발견한 패턴을 새 질문으로 정리했는가?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6419088"/>
            <a:ext cx="2743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1" i="0">
                <a:solidFill>
                  <a:srgbClr val="EEF2FB"/>
                </a:solidFill>
                <a:latin typeface="맑은 고딕"/>
                <a:ea typeface="맑은 고딕"/>
              </a:rPr>
              <a:t>Data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1" i="0">
                <a:solidFill>
                  <a:srgbClr val="6FA0FF"/>
                </a:solidFill>
                <a:latin typeface="맑은 고딕"/>
                <a:ea typeface="맑은 고딕"/>
              </a:rPr>
              <a:t> Lab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0" y="6419088"/>
            <a:ext cx="1828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1200" b="0" i="0">
                <a:solidFill>
                  <a:srgbClr val="9FB0CF"/>
                </a:solidFill>
                <a:latin typeface="맑은 고딕"/>
                <a:ea typeface="맑은 고딕"/>
              </a:rPr>
              <a:t>12 / 28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0"/>
            <a:ext cx="12191695" cy="38100"/>
          </a:xfrm>
          <a:prstGeom prst="rect">
            <a:avLst/>
          </a:prstGeom>
          <a:solidFill>
            <a:srgbClr val="1420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0" y="0"/>
            <a:ext cx="5225012" cy="38100"/>
          </a:xfrm>
          <a:prstGeom prst="rect">
            <a:avLst/>
          </a:prstGeom>
          <a:solidFill>
            <a:srgbClr val="3D7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589520" y="-914400"/>
            <a:ext cx="5486400" cy="3657600"/>
          </a:xfrm>
          <a:prstGeom prst="rect">
            <a:avLst/>
          </a:prstGeom>
          <a:solidFill>
            <a:srgbClr val="243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0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548640"/>
            <a:ext cx="7315200" cy="2743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0000" b="1" i="0">
                <a:solidFill>
                  <a:srgbClr val="2A3C63"/>
                </a:solidFill>
                <a:latin typeface="맑은 고딕"/>
                <a:ea typeface="맑은 고딕"/>
              </a:rPr>
              <a:t>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291840"/>
            <a:ext cx="109728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4400" b="1" i="0">
                <a:solidFill>
                  <a:srgbClr val="FFFFFF"/>
                </a:solidFill>
                <a:latin typeface="맑은 고딕"/>
                <a:ea typeface="맑은 고딕"/>
              </a:rPr>
              <a:t>시각화의 원리 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4400" b="1" i="0">
                <a:solidFill>
                  <a:srgbClr val="6FA0FF"/>
                </a:solidFill>
                <a:latin typeface="맑은 고딕"/>
                <a:ea typeface="맑은 고딕"/>
              </a:rPr>
              <a:t>및 기획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" y="4434840"/>
            <a:ext cx="105156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700" b="0" i="0">
                <a:solidFill>
                  <a:srgbClr val="9FB0CF"/>
                </a:solidFill>
                <a:latin typeface="맑은 고딕"/>
                <a:ea typeface="맑은 고딕"/>
              </a:rPr>
              <a:t>데이터가 담은 메시지를 가장 빠르고 정확하게 전달한다 · 2.0H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5212080"/>
            <a:ext cx="1197864" cy="420624"/>
          </a:xfrm>
          <a:prstGeom prst="roundRect">
            <a:avLst/>
          </a:prstGeom>
          <a:solidFill>
            <a:srgbClr val="22304E"/>
          </a:solidFill>
          <a:ln w="9525">
            <a:solidFill>
              <a:srgbClr val="3A4A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0" i="0">
                <a:solidFill>
                  <a:srgbClr val="9FB0CF"/>
                </a:solidFill>
                <a:latin typeface="맑은 고딕"/>
                <a:ea typeface="맑은 고딕"/>
              </a:rPr>
              <a:t>메시지·타겟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185416" y="5212080"/>
            <a:ext cx="1051560" cy="420624"/>
          </a:xfrm>
          <a:prstGeom prst="roundRect">
            <a:avLst/>
          </a:prstGeom>
          <a:solidFill>
            <a:srgbClr val="22304E"/>
          </a:solidFill>
          <a:ln w="9525">
            <a:solidFill>
              <a:srgbClr val="3A4A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0" i="0">
                <a:solidFill>
                  <a:srgbClr val="9FB0CF"/>
                </a:solidFill>
                <a:latin typeface="맑은 고딕"/>
                <a:ea typeface="맑은 고딕"/>
              </a:rPr>
              <a:t>차트 선택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01568" y="5212080"/>
            <a:ext cx="2368296" cy="420624"/>
          </a:xfrm>
          <a:prstGeom prst="roundRect">
            <a:avLst/>
          </a:prstGeom>
          <a:solidFill>
            <a:srgbClr val="22304E"/>
          </a:solidFill>
          <a:ln w="9525">
            <a:solidFill>
              <a:srgbClr val="3A4A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0" i="0">
                <a:solidFill>
                  <a:srgbClr val="9FB0CF"/>
                </a:solidFill>
                <a:latin typeface="맑은 고딕"/>
                <a:ea typeface="맑은 고딕"/>
              </a:rPr>
              <a:t>Data-Ink Ratio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34456" y="5212080"/>
            <a:ext cx="1051560" cy="420624"/>
          </a:xfrm>
          <a:prstGeom prst="roundRect">
            <a:avLst/>
          </a:prstGeom>
          <a:solidFill>
            <a:srgbClr val="22304E"/>
          </a:solidFill>
          <a:ln w="9525">
            <a:solidFill>
              <a:srgbClr val="3A4A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0" i="0">
                <a:solidFill>
                  <a:srgbClr val="9FB0CF"/>
                </a:solidFill>
                <a:latin typeface="맑은 고딕"/>
                <a:ea typeface="맑은 고딕"/>
              </a:rPr>
              <a:t>왜곡 회피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150608" y="5212080"/>
            <a:ext cx="1197864" cy="420624"/>
          </a:xfrm>
          <a:prstGeom prst="roundRect">
            <a:avLst/>
          </a:prstGeom>
          <a:solidFill>
            <a:srgbClr val="22304E"/>
          </a:solidFill>
          <a:ln w="9525">
            <a:solidFill>
              <a:srgbClr val="3A4A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0" i="0">
                <a:solidFill>
                  <a:srgbClr val="9FB0CF"/>
                </a:solidFill>
                <a:latin typeface="맑은 고딕"/>
                <a:ea typeface="맑은 고딕"/>
              </a:rPr>
              <a:t>윤리적 표현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6419088"/>
            <a:ext cx="2743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1" i="0">
                <a:solidFill>
                  <a:srgbClr val="EEF2FB"/>
                </a:solidFill>
                <a:latin typeface="맑은 고딕"/>
                <a:ea typeface="맑은 고딕"/>
              </a:rPr>
              <a:t>Data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1" i="0">
                <a:solidFill>
                  <a:srgbClr val="6FA0FF"/>
                </a:solidFill>
                <a:latin typeface="맑은 고딕"/>
                <a:ea typeface="맑은 고딕"/>
              </a:rPr>
              <a:t> Lab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0" y="6419088"/>
            <a:ext cx="1828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1200" b="0" i="0">
                <a:solidFill>
                  <a:srgbClr val="9FB0CF"/>
                </a:solidFill>
                <a:latin typeface="맑은 고딕"/>
                <a:ea typeface="맑은 고딕"/>
              </a:rPr>
              <a:t>13 / 28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0"/>
            <a:ext cx="12191695" cy="38100"/>
          </a:xfrm>
          <a:prstGeom prst="rect">
            <a:avLst/>
          </a:prstGeom>
          <a:solidFill>
            <a:srgbClr val="1420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0" y="0"/>
            <a:ext cx="5660429" cy="38100"/>
          </a:xfrm>
          <a:prstGeom prst="rect">
            <a:avLst/>
          </a:prstGeom>
          <a:solidFill>
            <a:srgbClr val="3D7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589520" y="-914400"/>
            <a:ext cx="5486400" cy="3657600"/>
          </a:xfrm>
          <a:prstGeom prst="rect">
            <a:avLst/>
          </a:prstGeom>
          <a:solidFill>
            <a:srgbClr val="243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50392" y="566928"/>
            <a:ext cx="1362456" cy="384048"/>
          </a:xfrm>
          <a:prstGeom prst="roundRect">
            <a:avLst/>
          </a:prstGeom>
          <a:solidFill>
            <a:srgbClr val="22304E"/>
          </a:solidFill>
          <a:ln w="9525">
            <a:solidFill>
              <a:srgbClr val="3A4A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 rIns="109728" tIns="18288" bIns="18288"/>
          <a:lstStyle/>
          <a:p>
            <a:pPr algn="ctr"/>
            <a:r>
              <a:rPr sz="1100" b="1" i="0">
                <a:solidFill>
                  <a:srgbClr val="6FA0FF"/>
                </a:solidFill>
                <a:latin typeface="맑은 고딕"/>
                <a:ea typeface="맑은 고딕"/>
              </a:rPr>
              <a:t>MODULE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078992"/>
            <a:ext cx="105156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3300" b="1" i="0">
                <a:solidFill>
                  <a:srgbClr val="FFFFFF"/>
                </a:solidFill>
                <a:latin typeface="맑은 고딕"/>
                <a:ea typeface="맑은 고딕"/>
              </a:rPr>
              <a:t>시각화의 목적 — 메시지와 타겟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0392" y="1938528"/>
            <a:ext cx="106070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500" b="0" i="0">
                <a:solidFill>
                  <a:srgbClr val="9FB0CF"/>
                </a:solidFill>
                <a:latin typeface="맑은 고딕"/>
                <a:ea typeface="맑은 고딕"/>
              </a:rPr>
              <a:t>예쁜 그림이 아니라 결론을 보여주는 차트. 그리기 전에 ‘무엇을 / 누구에게’부터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2377440"/>
            <a:ext cx="54864" cy="822960"/>
          </a:xfrm>
          <a:prstGeom prst="rect">
            <a:avLst/>
          </a:prstGeom>
          <a:solidFill>
            <a:srgbClr val="3D7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77824" y="2377440"/>
            <a:ext cx="10506456" cy="822960"/>
          </a:xfrm>
          <a:prstGeom prst="roundRect">
            <a:avLst/>
          </a:prstGeom>
          <a:solidFill>
            <a:srgbClr val="2230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/>
          <a:lstStyle/>
          <a:p>
            <a:pPr algn="ctr">
              <a:lnSpc>
                <a:spcPct val="130000"/>
              </a:lnSpc>
            </a:pPr>
            <a:r>
              <a:rPr sz="1300" b="0" i="0">
                <a:solidFill>
                  <a:srgbClr val="EEF2FB"/>
                </a:solidFill>
                <a:latin typeface="맑은 고딕"/>
                <a:ea typeface="맑은 고딕"/>
              </a:rPr>
              <a:t>차트 제목에 ‘월별 매출’이 아니라 </a:t>
            </a:r>
            <a:r>
              <a:rPr sz="1300" b="1" i="0">
                <a:solidFill>
                  <a:srgbClr val="FFFFFF"/>
                </a:solidFill>
                <a:latin typeface="맑은 고딕"/>
                <a:ea typeface="맑은 고딕"/>
              </a:rPr>
              <a:t>‘3분기 매출이 전년 대비 18% 감소했다’</a:t>
            </a:r>
            <a:r>
              <a:rPr sz="1300" b="0" i="0">
                <a:solidFill>
                  <a:srgbClr val="EEF2FB"/>
                </a:solidFill>
                <a:latin typeface="맑은 고딕"/>
                <a:ea typeface="맑은 고딕"/>
              </a:rPr>
              <a:t>처럼 결론(So-What)을 쓰는 순간 불필요한 요소가 정리됩니다.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822960" y="3520440"/>
          <a:ext cx="10515600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2286000"/>
                <a:gridCol w="6583680"/>
              </a:tblGrid>
              <a:tr h="502920">
                <a:tc>
                  <a:txBody>
                    <a:bodyPr/>
                    <a:lstStyle/>
                    <a:p>
                      <a:r>
                        <a:rPr sz="1250" b="1" i="0">
                          <a:solidFill>
                            <a:srgbClr val="6FA0FF"/>
                          </a:solidFill>
                          <a:latin typeface="맑은 고딕"/>
                          <a:ea typeface="맑은 고딕"/>
                        </a:rPr>
                        <a:t>타겟</a:t>
                      </a:r>
                    </a:p>
                  </a:txBody>
                  <a:tcPr marL="91440" marT="36576" marB="36576" anchor="ctr">
                    <a:solidFill>
                      <a:srgbClr val="14203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 i="0">
                          <a:solidFill>
                            <a:srgbClr val="6FA0FF"/>
                          </a:solidFill>
                          <a:latin typeface="맑은 고딕"/>
                          <a:ea typeface="맑은 고딕"/>
                        </a:rPr>
                        <a:t>관심사</a:t>
                      </a:r>
                    </a:p>
                  </a:txBody>
                  <a:tcPr marL="91440" marT="36576" marB="36576" anchor="ctr">
                    <a:solidFill>
                      <a:srgbClr val="14203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 i="0">
                          <a:solidFill>
                            <a:srgbClr val="6FA0FF"/>
                          </a:solidFill>
                          <a:latin typeface="맑은 고딕"/>
                          <a:ea typeface="맑은 고딕"/>
                        </a:rPr>
                        <a:t>시각화 전략</a:t>
                      </a:r>
                    </a:p>
                  </a:txBody>
                  <a:tcPr marL="91440" marT="36576" marB="36576" anchor="ctr">
                    <a:solidFill>
                      <a:srgbClr val="142036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25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경영진</a:t>
                      </a:r>
                    </a:p>
                  </a:txBody>
                  <a:tcPr marL="91440" marT="27432" marB="27432"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250" b="0" i="0">
                          <a:solidFill>
                            <a:srgbClr val="9FB0CF"/>
                          </a:solidFill>
                          <a:latin typeface="맑은 고딕"/>
                          <a:ea typeface="맑은 고딕"/>
                        </a:rPr>
                        <a:t>결론·의사결정</a:t>
                      </a:r>
                    </a:p>
                  </a:txBody>
                  <a:tcPr marL="91440" marT="27432" marB="27432"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250" b="0" i="0">
                          <a:solidFill>
                            <a:srgbClr val="9FB0CF"/>
                          </a:solidFill>
                          <a:latin typeface="맑은 고딕"/>
                          <a:ea typeface="맑은 고딕"/>
                        </a:rPr>
                        <a:t>KPI 1~2개, 큰 숫자, 추세 한눈에. 디테일 제거</a:t>
                      </a:r>
                    </a:p>
                  </a:txBody>
                  <a:tcPr marL="91440" marT="27432" marB="27432" anchor="ctr">
                    <a:solidFill>
                      <a:srgbClr val="1B2A4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25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실무자</a:t>
                      </a:r>
                    </a:p>
                  </a:txBody>
                  <a:tcPr marL="91440" marT="27432" marB="27432" anchor="ctr">
                    <a:solidFill>
                      <a:srgbClr val="14203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250" b="0" i="0">
                          <a:solidFill>
                            <a:srgbClr val="9FB0CF"/>
                          </a:solidFill>
                          <a:latin typeface="맑은 고딕"/>
                          <a:ea typeface="맑은 고딕"/>
                        </a:rPr>
                        <a:t>원인·세부</a:t>
                      </a:r>
                    </a:p>
                  </a:txBody>
                  <a:tcPr marL="91440" marT="27432" marB="27432" anchor="ctr">
                    <a:solidFill>
                      <a:srgbClr val="14203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250" b="0" i="0">
                          <a:solidFill>
                            <a:srgbClr val="9FB0CF"/>
                          </a:solidFill>
                          <a:latin typeface="맑은 고딕"/>
                          <a:ea typeface="맑은 고딕"/>
                        </a:rPr>
                        <a:t>차원별 분해, 비교 가능한 표·차트, 필터 제공</a:t>
                      </a:r>
                    </a:p>
                  </a:txBody>
                  <a:tcPr marL="91440" marT="27432" marB="27432" anchor="ctr">
                    <a:solidFill>
                      <a:srgbClr val="142036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25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외부/고객</a:t>
                      </a:r>
                    </a:p>
                  </a:txBody>
                  <a:tcPr marL="91440" marT="27432" marB="27432"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250" b="0" i="0">
                          <a:solidFill>
                            <a:srgbClr val="9FB0CF"/>
                          </a:solidFill>
                          <a:latin typeface="맑은 고딕"/>
                          <a:ea typeface="맑은 고딕"/>
                        </a:rPr>
                        <a:t>신뢰·맥락</a:t>
                      </a:r>
                    </a:p>
                  </a:txBody>
                  <a:tcPr marL="91440" marT="27432" marB="27432"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250" b="0" i="0">
                          <a:solidFill>
                            <a:srgbClr val="9FB0CF"/>
                          </a:solidFill>
                          <a:latin typeface="맑은 고딕"/>
                          <a:ea typeface="맑은 고딕"/>
                        </a:rPr>
                        <a:t>출처 명시, 단순·오해 없는 표현, 스토리 흐름</a:t>
                      </a:r>
                    </a:p>
                  </a:txBody>
                  <a:tcPr marL="91440" marT="27432" marB="27432" anchor="ctr">
                    <a:solidFill>
                      <a:srgbClr val="1B2A4A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822960" y="6419088"/>
            <a:ext cx="2743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1" i="0">
                <a:solidFill>
                  <a:srgbClr val="EEF2FB"/>
                </a:solidFill>
                <a:latin typeface="맑은 고딕"/>
                <a:ea typeface="맑은 고딕"/>
              </a:rPr>
              <a:t>Data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1" i="0">
                <a:solidFill>
                  <a:srgbClr val="6FA0FF"/>
                </a:solidFill>
                <a:latin typeface="맑은 고딕"/>
                <a:ea typeface="맑은 고딕"/>
              </a:rPr>
              <a:t> Lab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0" y="6419088"/>
            <a:ext cx="1828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1200" b="0" i="0">
                <a:solidFill>
                  <a:srgbClr val="9FB0CF"/>
                </a:solidFill>
                <a:latin typeface="맑은 고딕"/>
                <a:ea typeface="맑은 고딕"/>
              </a:rPr>
              <a:t>14 / 28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0"/>
            <a:ext cx="12191695" cy="38100"/>
          </a:xfrm>
          <a:prstGeom prst="rect">
            <a:avLst/>
          </a:prstGeom>
          <a:solidFill>
            <a:srgbClr val="1420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0" y="0"/>
            <a:ext cx="6095847" cy="38100"/>
          </a:xfrm>
          <a:prstGeom prst="rect">
            <a:avLst/>
          </a:prstGeom>
          <a:solidFill>
            <a:srgbClr val="3D7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589520" y="-914400"/>
            <a:ext cx="5486400" cy="3657600"/>
          </a:xfrm>
          <a:prstGeom prst="rect">
            <a:avLst/>
          </a:prstGeom>
          <a:solidFill>
            <a:srgbClr val="243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50392" y="566928"/>
            <a:ext cx="1362456" cy="384048"/>
          </a:xfrm>
          <a:prstGeom prst="roundRect">
            <a:avLst/>
          </a:prstGeom>
          <a:solidFill>
            <a:srgbClr val="22304E"/>
          </a:solidFill>
          <a:ln w="9525">
            <a:solidFill>
              <a:srgbClr val="3A4A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 rIns="109728" tIns="18288" bIns="18288"/>
          <a:lstStyle/>
          <a:p>
            <a:pPr algn="ctr"/>
            <a:r>
              <a:rPr sz="1100" b="1" i="0">
                <a:solidFill>
                  <a:srgbClr val="6FA0FF"/>
                </a:solidFill>
                <a:latin typeface="맑은 고딕"/>
                <a:ea typeface="맑은 고딕"/>
              </a:rPr>
              <a:t>MODULE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078992"/>
            <a:ext cx="105156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3300" b="1" i="0">
                <a:solidFill>
                  <a:srgbClr val="FFFFFF"/>
                </a:solidFill>
                <a:latin typeface="맑은 고딕"/>
                <a:ea typeface="맑은 고딕"/>
              </a:rPr>
              <a:t>차트 선택 가이드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0392" y="1938528"/>
            <a:ext cx="106070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500" b="0" i="0">
                <a:solidFill>
                  <a:srgbClr val="9FB0CF"/>
                </a:solidFill>
                <a:latin typeface="맑은 고딕"/>
                <a:ea typeface="맑은 고딕"/>
              </a:rPr>
              <a:t>‘내가 보여주려는 관계가 무엇인가’를 정하면 차트는 거의 자동으로 결정된다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822960" y="2468880"/>
          <a:ext cx="1051560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4114800"/>
                <a:gridCol w="3657600"/>
              </a:tblGrid>
              <a:tr h="457200">
                <a:tc>
                  <a:txBody>
                    <a:bodyPr/>
                    <a:lstStyle/>
                    <a:p>
                      <a:r>
                        <a:rPr sz="1250" b="1" i="0">
                          <a:solidFill>
                            <a:srgbClr val="6FA0FF"/>
                          </a:solidFill>
                          <a:latin typeface="맑은 고딕"/>
                          <a:ea typeface="맑은 고딕"/>
                        </a:rPr>
                        <a:t>분석 목적</a:t>
                      </a:r>
                    </a:p>
                  </a:txBody>
                  <a:tcPr marL="91440" marT="36576" marB="36576" anchor="ctr">
                    <a:solidFill>
                      <a:srgbClr val="14203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 i="0">
                          <a:solidFill>
                            <a:srgbClr val="6FA0FF"/>
                          </a:solidFill>
                          <a:latin typeface="맑은 고딕"/>
                          <a:ea typeface="맑은 고딕"/>
                        </a:rPr>
                        <a:t>권장 차트</a:t>
                      </a:r>
                    </a:p>
                  </a:txBody>
                  <a:tcPr marL="91440" marT="36576" marB="36576" anchor="ctr">
                    <a:solidFill>
                      <a:srgbClr val="14203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 i="0">
                          <a:solidFill>
                            <a:srgbClr val="6FA0FF"/>
                          </a:solidFill>
                          <a:latin typeface="맑은 고딕"/>
                          <a:ea typeface="맑은 고딕"/>
                        </a:rPr>
                        <a:t>예시</a:t>
                      </a:r>
                    </a:p>
                  </a:txBody>
                  <a:tcPr marL="91440" marT="36576" marB="36576" anchor="ctr">
                    <a:solidFill>
                      <a:srgbClr val="14203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25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비교 (크기)</a:t>
                      </a:r>
                    </a:p>
                  </a:txBody>
                  <a:tcPr marL="91440" marT="27432" marB="27432"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250" b="0" i="0">
                          <a:solidFill>
                            <a:srgbClr val="9FB0CF"/>
                          </a:solidFill>
                          <a:latin typeface="맑은 고딕"/>
                          <a:ea typeface="맑은 고딕"/>
                        </a:rPr>
                        <a:t>막대그래프</a:t>
                      </a:r>
                    </a:p>
                  </a:txBody>
                  <a:tcPr marL="91440" marT="27432" marB="27432"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250" b="0" i="0">
                          <a:solidFill>
                            <a:srgbClr val="9FB0CF"/>
                          </a:solidFill>
                          <a:latin typeface="맑은 고딕"/>
                          <a:ea typeface="맑은 고딕"/>
                        </a:rPr>
                        <a:t>지점별 매출 비교</a:t>
                      </a:r>
                    </a:p>
                  </a:txBody>
                  <a:tcPr marL="91440" marT="27432" marB="27432" anchor="ctr">
                    <a:solidFill>
                      <a:srgbClr val="1B2A4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25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추이 (시간)</a:t>
                      </a:r>
                    </a:p>
                  </a:txBody>
                  <a:tcPr marL="91440" marT="27432" marB="27432" anchor="ctr">
                    <a:solidFill>
                      <a:srgbClr val="14203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250" b="0" i="0">
                          <a:solidFill>
                            <a:srgbClr val="9FB0CF"/>
                          </a:solidFill>
                          <a:latin typeface="맑은 고딕"/>
                          <a:ea typeface="맑은 고딕"/>
                        </a:rPr>
                        <a:t>꺾은선그래프</a:t>
                      </a:r>
                    </a:p>
                  </a:txBody>
                  <a:tcPr marL="91440" marT="27432" marB="27432" anchor="ctr">
                    <a:solidFill>
                      <a:srgbClr val="14203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250" b="0" i="0">
                          <a:solidFill>
                            <a:srgbClr val="9FB0CF"/>
                          </a:solidFill>
                          <a:latin typeface="맑은 고딕"/>
                          <a:ea typeface="맑은 고딕"/>
                        </a:rPr>
                        <a:t>월별 방문자 추세</a:t>
                      </a:r>
                    </a:p>
                  </a:txBody>
                  <a:tcPr marL="91440" marT="27432" marB="27432" anchor="ctr">
                    <a:solidFill>
                      <a:srgbClr val="14203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25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구성 (비율)</a:t>
                      </a:r>
                    </a:p>
                  </a:txBody>
                  <a:tcPr marL="91440" marT="27432" marB="27432"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250" b="0" i="0">
                          <a:solidFill>
                            <a:srgbClr val="9FB0CF"/>
                          </a:solidFill>
                          <a:latin typeface="맑은 고딕"/>
                          <a:ea typeface="맑은 고딕"/>
                        </a:rPr>
                        <a:t>누적막대 · (제한적)파이</a:t>
                      </a:r>
                    </a:p>
                  </a:txBody>
                  <a:tcPr marL="91440" marT="27432" marB="27432"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250" b="0" i="0">
                          <a:solidFill>
                            <a:srgbClr val="9FB0CF"/>
                          </a:solidFill>
                          <a:latin typeface="맑은 고딕"/>
                          <a:ea typeface="맑은 고딕"/>
                        </a:rPr>
                        <a:t>채널별 매출 비중</a:t>
                      </a:r>
                    </a:p>
                  </a:txBody>
                  <a:tcPr marL="91440" marT="27432" marB="27432" anchor="ctr">
                    <a:solidFill>
                      <a:srgbClr val="1B2A4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25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관계 (상관)</a:t>
                      </a:r>
                    </a:p>
                  </a:txBody>
                  <a:tcPr marL="91440" marT="27432" marB="27432" anchor="ctr">
                    <a:solidFill>
                      <a:srgbClr val="14203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250" b="0" i="0">
                          <a:solidFill>
                            <a:srgbClr val="9FB0CF"/>
                          </a:solidFill>
                          <a:latin typeface="맑은 고딕"/>
                          <a:ea typeface="맑은 고딕"/>
                        </a:rPr>
                        <a:t>산점도</a:t>
                      </a:r>
                    </a:p>
                  </a:txBody>
                  <a:tcPr marL="91440" marT="27432" marB="27432" anchor="ctr">
                    <a:solidFill>
                      <a:srgbClr val="14203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250" b="0" i="0">
                          <a:solidFill>
                            <a:srgbClr val="9FB0CF"/>
                          </a:solidFill>
                          <a:latin typeface="맑은 고딕"/>
                          <a:ea typeface="맑은 고딕"/>
                        </a:rPr>
                        <a:t>광고비 vs 매출</a:t>
                      </a:r>
                    </a:p>
                  </a:txBody>
                  <a:tcPr marL="91440" marT="27432" marB="27432" anchor="ctr">
                    <a:solidFill>
                      <a:srgbClr val="14203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25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분포 (퍼짐)</a:t>
                      </a:r>
                    </a:p>
                  </a:txBody>
                  <a:tcPr marL="91440" marT="27432" marB="27432"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250" b="0" i="0">
                          <a:solidFill>
                            <a:srgbClr val="9FB0CF"/>
                          </a:solidFill>
                          <a:latin typeface="맑은 고딕"/>
                          <a:ea typeface="맑은 고딕"/>
                        </a:rPr>
                        <a:t>히스토그램 · 박스플롯</a:t>
                      </a:r>
                    </a:p>
                  </a:txBody>
                  <a:tcPr marL="91440" marT="27432" marB="27432"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250" b="0" i="0">
                          <a:solidFill>
                            <a:srgbClr val="9FB0CF"/>
                          </a:solidFill>
                          <a:latin typeface="맑은 고딕"/>
                          <a:ea typeface="맑은 고딕"/>
                        </a:rPr>
                        <a:t>고객 연령 분포</a:t>
                      </a:r>
                    </a:p>
                  </a:txBody>
                  <a:tcPr marL="91440" marT="27432" marB="27432" anchor="ctr">
                    <a:solidFill>
                      <a:srgbClr val="1B2A4A"/>
                    </a:solidFill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822960" y="5212080"/>
            <a:ext cx="54864" cy="868680"/>
          </a:xfrm>
          <a:prstGeom prst="rect">
            <a:avLst/>
          </a:prstGeom>
          <a:solidFill>
            <a:srgbClr val="3D7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77824" y="5212080"/>
            <a:ext cx="10506456" cy="868680"/>
          </a:xfrm>
          <a:prstGeom prst="roundRect">
            <a:avLst/>
          </a:prstGeom>
          <a:solidFill>
            <a:srgbClr val="2230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/>
          <a:lstStyle/>
          <a:p>
            <a:pPr algn="ctr">
              <a:lnSpc>
                <a:spcPct val="130000"/>
              </a:lnSpc>
            </a:pPr>
            <a:r>
              <a:rPr sz="1300" b="1" i="0">
                <a:solidFill>
                  <a:srgbClr val="FFFFFF"/>
                </a:solidFill>
                <a:latin typeface="맑은 고딕"/>
                <a:ea typeface="맑은 고딕"/>
              </a:rPr>
              <a:t>규칙 — </a:t>
            </a:r>
            <a:r>
              <a:rPr sz="1300" b="0" i="0">
                <a:solidFill>
                  <a:srgbClr val="EEF2FB"/>
                </a:solidFill>
                <a:latin typeface="맑은 고딕"/>
                <a:ea typeface="맑은 고딕"/>
              </a:rPr>
              <a:t>비교는 막대, 추이는 선, 관계는 산점도, 분포는 히스토그램/박스플롯. 파이 남용·스파게티 차트를 피하세요.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6419088"/>
            <a:ext cx="2743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1" i="0">
                <a:solidFill>
                  <a:srgbClr val="EEF2FB"/>
                </a:solidFill>
                <a:latin typeface="맑은 고딕"/>
                <a:ea typeface="맑은 고딕"/>
              </a:rPr>
              <a:t>Data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1" i="0">
                <a:solidFill>
                  <a:srgbClr val="6FA0FF"/>
                </a:solidFill>
                <a:latin typeface="맑은 고딕"/>
                <a:ea typeface="맑은 고딕"/>
              </a:rPr>
              <a:t> Lab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0" y="6419088"/>
            <a:ext cx="1828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1200" b="0" i="0">
                <a:solidFill>
                  <a:srgbClr val="9FB0CF"/>
                </a:solidFill>
                <a:latin typeface="맑은 고딕"/>
                <a:ea typeface="맑은 고딕"/>
              </a:rPr>
              <a:t>15 / 28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0"/>
            <a:ext cx="12191695" cy="38100"/>
          </a:xfrm>
          <a:prstGeom prst="rect">
            <a:avLst/>
          </a:prstGeom>
          <a:solidFill>
            <a:srgbClr val="1420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0" y="0"/>
            <a:ext cx="6531265" cy="38100"/>
          </a:xfrm>
          <a:prstGeom prst="rect">
            <a:avLst/>
          </a:prstGeom>
          <a:solidFill>
            <a:srgbClr val="3D7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589520" y="-914400"/>
            <a:ext cx="5486400" cy="3657600"/>
          </a:xfrm>
          <a:prstGeom prst="rect">
            <a:avLst/>
          </a:prstGeom>
          <a:solidFill>
            <a:srgbClr val="243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50392" y="566928"/>
            <a:ext cx="1842516" cy="384048"/>
          </a:xfrm>
          <a:prstGeom prst="roundRect">
            <a:avLst/>
          </a:prstGeom>
          <a:solidFill>
            <a:srgbClr val="22304E"/>
          </a:solidFill>
          <a:ln w="9525">
            <a:solidFill>
              <a:srgbClr val="3A4A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 rIns="109728" tIns="18288" bIns="18288"/>
          <a:lstStyle/>
          <a:p>
            <a:pPr algn="ctr"/>
            <a:r>
              <a:rPr sz="1100" b="1" i="0">
                <a:solidFill>
                  <a:srgbClr val="6FA0FF"/>
                </a:solidFill>
                <a:latin typeface="맑은 고딕"/>
                <a:ea typeface="맑은 고딕"/>
              </a:rPr>
              <a:t>MODULE 2 · 실습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097280"/>
            <a:ext cx="658368" cy="365760"/>
          </a:xfrm>
          <a:prstGeom prst="roundRect">
            <a:avLst/>
          </a:prstGeom>
          <a:solidFill>
            <a:srgbClr val="3D7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맑은 고딕"/>
                <a:ea typeface="맑은 고딕"/>
              </a:rPr>
              <a:t>LAB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00200" y="1078992"/>
            <a:ext cx="102412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3000" b="1" i="0">
                <a:solidFill>
                  <a:srgbClr val="FFFFFF"/>
                </a:solidFill>
                <a:latin typeface="맑은 고딕"/>
                <a:ea typeface="맑은 고딕"/>
              </a:rPr>
              <a:t>가독성 — Data-Ink Ratio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" y="1965960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500" b="0" i="0">
                <a:solidFill>
                  <a:srgbClr val="9FB0CF"/>
                </a:solidFill>
                <a:latin typeface="맑은 고딕"/>
                <a:ea typeface="맑은 고딕"/>
              </a:rPr>
              <a:t>좋은 차트는 더하는 게 아니라 덜어낸 결과. 잉크의 대부분을 데이터에만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697480"/>
            <a:ext cx="52120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200" b="1" i="0">
                <a:solidFill>
                  <a:srgbClr val="3D7DFF"/>
                </a:solidFill>
                <a:latin typeface="맑은 고딕"/>
                <a:ea typeface="맑은 고딕"/>
              </a:rPr>
              <a:t>◆ </a:t>
            </a:r>
            <a:r>
              <a:rPr sz="1400" b="1" i="0">
                <a:solidFill>
                  <a:srgbClr val="EEF2FB"/>
                </a:solidFill>
                <a:latin typeface="맑은 고딕"/>
                <a:ea typeface="맑은 고딕"/>
              </a:rPr>
              <a:t>불필요한 요소 제거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100" b="0" i="0">
                <a:solidFill>
                  <a:srgbClr val="9FB0CF"/>
                </a:solidFill>
                <a:latin typeface="맑은 고딕"/>
                <a:ea typeface="맑은 고딕"/>
              </a:rPr>
              <a:t>    격자선·테두리·배경·3D·범례·과도한 소수점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200" b="1" i="0">
                <a:solidFill>
                  <a:srgbClr val="3D7DFF"/>
                </a:solidFill>
                <a:latin typeface="맑은 고딕"/>
                <a:ea typeface="맑은 고딕"/>
              </a:rPr>
              <a:t>◆ </a:t>
            </a:r>
            <a:r>
              <a:rPr sz="1400" b="1" i="0">
                <a:solidFill>
                  <a:srgbClr val="EEF2FB"/>
                </a:solidFill>
                <a:latin typeface="맑은 고딕"/>
                <a:ea typeface="맑은 고딕"/>
              </a:rPr>
              <a:t>강조색은 1개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100" b="0" i="0">
                <a:solidFill>
                  <a:srgbClr val="9FB0CF"/>
                </a:solidFill>
                <a:latin typeface="맑은 고딕"/>
                <a:ea typeface="맑은 고딕"/>
              </a:rPr>
              <a:t>    나머지 회색. 빨강-초록 조합 회피(색맹)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200" b="1" i="0">
                <a:solidFill>
                  <a:srgbClr val="3D7DFF"/>
                </a:solidFill>
                <a:latin typeface="맑은 고딕"/>
                <a:ea typeface="맑은 고딕"/>
              </a:rPr>
              <a:t>◆ </a:t>
            </a:r>
            <a:r>
              <a:rPr sz="1400" b="1" i="0">
                <a:solidFill>
                  <a:srgbClr val="EEF2FB"/>
                </a:solidFill>
                <a:latin typeface="맑은 고딕"/>
                <a:ea typeface="맑은 고딕"/>
              </a:rPr>
              <a:t>시선 유도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100" b="0" i="0">
                <a:solidFill>
                  <a:srgbClr val="9FB0CF"/>
                </a:solidFill>
                <a:latin typeface="맑은 고딕"/>
                <a:ea typeface="맑은 고딕"/>
              </a:rPr>
              <a:t>    값 순 정렬·직접 라벨·제목에 결론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309360" y="2697480"/>
          <a:ext cx="502920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0160"/>
                <a:gridCol w="1920240"/>
                <a:gridCol w="1828800"/>
              </a:tblGrid>
              <a:tr h="438912">
                <a:tc>
                  <a:txBody>
                    <a:bodyPr/>
                    <a:lstStyle/>
                    <a:p>
                      <a:r>
                        <a:rPr sz="1100" b="1" i="0">
                          <a:solidFill>
                            <a:srgbClr val="6FA0FF"/>
                          </a:solidFill>
                          <a:latin typeface="맑은 고딕"/>
                          <a:ea typeface="맑은 고딕"/>
                        </a:rPr>
                        <a:t>항목</a:t>
                      </a:r>
                    </a:p>
                  </a:txBody>
                  <a:tcPr marL="91440" marT="36576" marB="36576" anchor="ctr">
                    <a:solidFill>
                      <a:srgbClr val="14203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 i="0">
                          <a:solidFill>
                            <a:srgbClr val="6FA0FF"/>
                          </a:solidFill>
                          <a:latin typeface="맑은 고딕"/>
                          <a:ea typeface="맑은 고딕"/>
                        </a:rPr>
                        <a:t>Before</a:t>
                      </a:r>
                    </a:p>
                  </a:txBody>
                  <a:tcPr marL="91440" marT="36576" marB="36576" anchor="ctr">
                    <a:solidFill>
                      <a:srgbClr val="14203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 i="0">
                          <a:solidFill>
                            <a:srgbClr val="6FA0FF"/>
                          </a:solidFill>
                          <a:latin typeface="맑은 고딕"/>
                          <a:ea typeface="맑은 고딕"/>
                        </a:rPr>
                        <a:t>After</a:t>
                      </a:r>
                    </a:p>
                  </a:txBody>
                  <a:tcPr marL="91440" marT="36576" marB="36576" anchor="ctr">
                    <a:solidFill>
                      <a:srgbClr val="142036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0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격자선</a:t>
                      </a:r>
                    </a:p>
                  </a:txBody>
                  <a:tcPr marL="91440" marT="27432" marB="27432"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00" b="0" i="0">
                          <a:solidFill>
                            <a:srgbClr val="9FB0CF"/>
                          </a:solidFill>
                          <a:latin typeface="맑은 고딕"/>
                          <a:ea typeface="맑은 고딕"/>
                        </a:rPr>
                        <a:t>진한 검정</a:t>
                      </a:r>
                    </a:p>
                  </a:txBody>
                  <a:tcPr marL="91440" marT="27432" marB="27432"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00" b="0" i="0">
                          <a:solidFill>
                            <a:srgbClr val="9FB0CF"/>
                          </a:solidFill>
                          <a:latin typeface="맑은 고딕"/>
                          <a:ea typeface="맑은 고딕"/>
                        </a:rPr>
                        <a:t>옅은 회색</a:t>
                      </a:r>
                    </a:p>
                  </a:txBody>
                  <a:tcPr marL="91440" marT="27432" marB="27432" anchor="ctr">
                    <a:solidFill>
                      <a:srgbClr val="1B2A4A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0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색상</a:t>
                      </a:r>
                    </a:p>
                  </a:txBody>
                  <a:tcPr marL="91440" marT="27432" marB="27432" anchor="ctr">
                    <a:solidFill>
                      <a:srgbClr val="14203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00" b="0" i="0">
                          <a:solidFill>
                            <a:srgbClr val="9FB0CF"/>
                          </a:solidFill>
                          <a:latin typeface="맑은 고딕"/>
                          <a:ea typeface="맑은 고딕"/>
                        </a:rPr>
                        <a:t>무지개 7색</a:t>
                      </a:r>
                    </a:p>
                  </a:txBody>
                  <a:tcPr marL="91440" marT="27432" marB="27432" anchor="ctr">
                    <a:solidFill>
                      <a:srgbClr val="14203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00" b="0" i="0">
                          <a:solidFill>
                            <a:srgbClr val="9FB0CF"/>
                          </a:solidFill>
                          <a:latin typeface="맑은 고딕"/>
                          <a:ea typeface="맑은 고딕"/>
                        </a:rPr>
                        <a:t>강조 1색+회색</a:t>
                      </a:r>
                    </a:p>
                  </a:txBody>
                  <a:tcPr marL="91440" marT="27432" marB="27432" anchor="ctr">
                    <a:solidFill>
                      <a:srgbClr val="142036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0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범례</a:t>
                      </a:r>
                    </a:p>
                  </a:txBody>
                  <a:tcPr marL="91440" marT="27432" marB="27432"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00" b="0" i="0">
                          <a:solidFill>
                            <a:srgbClr val="9FB0CF"/>
                          </a:solidFill>
                          <a:latin typeface="맑은 고딕"/>
                          <a:ea typeface="맑은 고딕"/>
                        </a:rPr>
                        <a:t>별도 박스</a:t>
                      </a:r>
                    </a:p>
                  </a:txBody>
                  <a:tcPr marL="91440" marT="27432" marB="27432"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00" b="0" i="0">
                          <a:solidFill>
                            <a:srgbClr val="9FB0CF"/>
                          </a:solidFill>
                          <a:latin typeface="맑은 고딕"/>
                          <a:ea typeface="맑은 고딕"/>
                        </a:rPr>
                        <a:t>직접 라벨</a:t>
                      </a:r>
                    </a:p>
                  </a:txBody>
                  <a:tcPr marL="91440" marT="27432" marB="27432" anchor="ctr">
                    <a:solidFill>
                      <a:srgbClr val="1B2A4A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0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제목</a:t>
                      </a:r>
                    </a:p>
                  </a:txBody>
                  <a:tcPr marL="91440" marT="27432" marB="27432" anchor="ctr">
                    <a:solidFill>
                      <a:srgbClr val="14203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00" b="0" i="0">
                          <a:solidFill>
                            <a:srgbClr val="9FB0CF"/>
                          </a:solidFill>
                          <a:latin typeface="맑은 고딕"/>
                          <a:ea typeface="맑은 고딕"/>
                        </a:rPr>
                        <a:t>‘월별 매출’</a:t>
                      </a:r>
                    </a:p>
                  </a:txBody>
                  <a:tcPr marL="91440" marT="27432" marB="27432" anchor="ctr">
                    <a:solidFill>
                      <a:srgbClr val="14203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00" b="0" i="0">
                          <a:solidFill>
                            <a:srgbClr val="9FB0CF"/>
                          </a:solidFill>
                          <a:latin typeface="맑은 고딕"/>
                          <a:ea typeface="맑은 고딕"/>
                        </a:rPr>
                        <a:t>‘18% 감소’</a:t>
                      </a:r>
                    </a:p>
                  </a:txBody>
                  <a:tcPr marL="91440" marT="27432" marB="27432" anchor="ctr">
                    <a:solidFill>
                      <a:srgbClr val="142036"/>
                    </a:solidFill>
                  </a:tcPr>
                </a:tc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822960" y="5440680"/>
            <a:ext cx="54864" cy="868680"/>
          </a:xfrm>
          <a:prstGeom prst="rect">
            <a:avLst/>
          </a:prstGeom>
          <a:solidFill>
            <a:srgbClr val="3D7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77824" y="5440680"/>
            <a:ext cx="10506456" cy="868680"/>
          </a:xfrm>
          <a:prstGeom prst="roundRect">
            <a:avLst/>
          </a:prstGeom>
          <a:solidFill>
            <a:srgbClr val="2230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/>
          <a:lstStyle/>
          <a:p>
            <a:pPr algn="ctr">
              <a:lnSpc>
                <a:spcPct val="130000"/>
              </a:lnSpc>
            </a:pPr>
            <a:r>
              <a:rPr sz="1300" b="0" i="0">
                <a:solidFill>
                  <a:srgbClr val="EEF2FB"/>
                </a:solidFill>
                <a:latin typeface="맑은 고딕"/>
                <a:ea typeface="맑은 고딕"/>
              </a:rPr>
              <a:t>‘더 이상 뺄 것이 없을 때 완성된다.’ 차트도 디자인도 마찬가지입니다.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6419088"/>
            <a:ext cx="2743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1" i="0">
                <a:solidFill>
                  <a:srgbClr val="EEF2FB"/>
                </a:solidFill>
                <a:latin typeface="맑은 고딕"/>
                <a:ea typeface="맑은 고딕"/>
              </a:rPr>
              <a:t>Data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1" i="0">
                <a:solidFill>
                  <a:srgbClr val="6FA0FF"/>
                </a:solidFill>
                <a:latin typeface="맑은 고딕"/>
                <a:ea typeface="맑은 고딕"/>
              </a:rPr>
              <a:t> Lab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0" y="6419088"/>
            <a:ext cx="1828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1200" b="0" i="0">
                <a:solidFill>
                  <a:srgbClr val="9FB0CF"/>
                </a:solidFill>
                <a:latin typeface="맑은 고딕"/>
                <a:ea typeface="맑은 고딕"/>
              </a:rPr>
              <a:t>16 / 28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0"/>
            <a:ext cx="12191695" cy="38100"/>
          </a:xfrm>
          <a:prstGeom prst="rect">
            <a:avLst/>
          </a:prstGeom>
          <a:solidFill>
            <a:srgbClr val="1420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0" y="0"/>
            <a:ext cx="6966682" cy="38100"/>
          </a:xfrm>
          <a:prstGeom prst="rect">
            <a:avLst/>
          </a:prstGeom>
          <a:solidFill>
            <a:srgbClr val="3D7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589520" y="-914400"/>
            <a:ext cx="5486400" cy="3657600"/>
          </a:xfrm>
          <a:prstGeom prst="rect">
            <a:avLst/>
          </a:prstGeom>
          <a:solidFill>
            <a:srgbClr val="243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50392" y="566928"/>
            <a:ext cx="1842516" cy="384048"/>
          </a:xfrm>
          <a:prstGeom prst="roundRect">
            <a:avLst/>
          </a:prstGeom>
          <a:solidFill>
            <a:srgbClr val="22304E"/>
          </a:solidFill>
          <a:ln w="9525">
            <a:solidFill>
              <a:srgbClr val="3A4A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 rIns="109728" tIns="18288" bIns="18288"/>
          <a:lstStyle/>
          <a:p>
            <a:pPr algn="ctr"/>
            <a:r>
              <a:rPr sz="1100" b="1" i="0">
                <a:solidFill>
                  <a:srgbClr val="6FA0FF"/>
                </a:solidFill>
                <a:latin typeface="맑은 고딕"/>
                <a:ea typeface="맑은 고딕"/>
              </a:rPr>
              <a:t>MODULE 2 · 실습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097280"/>
            <a:ext cx="658368" cy="365760"/>
          </a:xfrm>
          <a:prstGeom prst="roundRect">
            <a:avLst/>
          </a:prstGeom>
          <a:solidFill>
            <a:srgbClr val="3D7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맑은 고딕"/>
                <a:ea typeface="맑은 고딕"/>
              </a:rPr>
              <a:t>LAB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00200" y="1078992"/>
            <a:ext cx="102412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3000" b="1" i="0">
                <a:solidFill>
                  <a:srgbClr val="FFFFFF"/>
                </a:solidFill>
                <a:latin typeface="맑은 고딕"/>
                <a:ea typeface="맑은 고딕"/>
              </a:rPr>
              <a:t>정보 왜곡 오류 피하기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" y="1965960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500" b="0" i="0">
                <a:solidFill>
                  <a:srgbClr val="9FB0CF"/>
                </a:solidFill>
                <a:latin typeface="맑은 고딕"/>
                <a:ea typeface="맑은 고딕"/>
              </a:rPr>
              <a:t>가장 위험한 건 못생긴 차트가 아니라 사실을 왜곡하는 차트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822960" y="2697480"/>
          <a:ext cx="1051560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4572000"/>
                <a:gridCol w="3657600"/>
              </a:tblGrid>
              <a:tr h="457200">
                <a:tc>
                  <a:txBody>
                    <a:bodyPr/>
                    <a:lstStyle/>
                    <a:p>
                      <a:r>
                        <a:rPr sz="1200" b="1" i="0">
                          <a:solidFill>
                            <a:srgbClr val="6FA0FF"/>
                          </a:solidFill>
                          <a:latin typeface="맑은 고딕"/>
                          <a:ea typeface="맑은 고딕"/>
                        </a:rPr>
                        <a:t>왜곡 유형</a:t>
                      </a:r>
                    </a:p>
                  </a:txBody>
                  <a:tcPr marL="91440" marT="36576" marB="36576" anchor="ctr">
                    <a:solidFill>
                      <a:srgbClr val="14203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 i="0">
                          <a:solidFill>
                            <a:srgbClr val="6FA0FF"/>
                          </a:solidFill>
                          <a:latin typeface="맑은 고딕"/>
                          <a:ea typeface="맑은 고딕"/>
                        </a:rPr>
                        <a:t>무엇이 문제인가</a:t>
                      </a:r>
                    </a:p>
                  </a:txBody>
                  <a:tcPr marL="91440" marT="36576" marB="36576" anchor="ctr">
                    <a:solidFill>
                      <a:srgbClr val="14203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 i="0">
                          <a:solidFill>
                            <a:srgbClr val="6FA0FF"/>
                          </a:solidFill>
                          <a:latin typeface="맑은 고딕"/>
                          <a:ea typeface="맑은 고딕"/>
                        </a:rPr>
                        <a:t>올바른 대안</a:t>
                      </a:r>
                    </a:p>
                  </a:txBody>
                  <a:tcPr marL="91440" marT="36576" marB="36576" anchor="ctr">
                    <a:solidFill>
                      <a:srgbClr val="14203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y축 0 미시작</a:t>
                      </a:r>
                    </a:p>
                  </a:txBody>
                  <a:tcPr marL="91440" marT="27432" marB="27432"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200" b="0" i="0">
                          <a:solidFill>
                            <a:srgbClr val="9FB0CF"/>
                          </a:solidFill>
                          <a:latin typeface="맑은 고딕"/>
                          <a:ea typeface="맑은 고딕"/>
                        </a:rPr>
                        <a:t>작은 차이를 거대하게 과장</a:t>
                      </a:r>
                    </a:p>
                  </a:txBody>
                  <a:tcPr marL="91440" marT="27432" marB="27432"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200" b="0" i="0">
                          <a:solidFill>
                            <a:srgbClr val="9FB0CF"/>
                          </a:solidFill>
                          <a:latin typeface="맑은 고딕"/>
                          <a:ea typeface="맑은 고딕"/>
                        </a:rPr>
                        <a:t>막대는 반드시 0부터</a:t>
                      </a:r>
                    </a:p>
                  </a:txBody>
                  <a:tcPr marL="91440" marT="27432" marB="27432" anchor="ctr">
                    <a:solidFill>
                      <a:srgbClr val="1B2A4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이중 축 오용</a:t>
                      </a:r>
                    </a:p>
                  </a:txBody>
                  <a:tcPr marL="91440" marT="27432" marB="27432" anchor="ctr">
                    <a:solidFill>
                      <a:srgbClr val="14203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200" b="0" i="0">
                          <a:solidFill>
                            <a:srgbClr val="9FB0CF"/>
                          </a:solidFill>
                          <a:latin typeface="맑은 고딕"/>
                          <a:ea typeface="맑은 고딕"/>
                        </a:rPr>
                        <a:t>스케일 조정해 가짜 상관 연출</a:t>
                      </a:r>
                    </a:p>
                  </a:txBody>
                  <a:tcPr marL="91440" marT="27432" marB="27432" anchor="ctr">
                    <a:solidFill>
                      <a:srgbClr val="14203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200" b="0" i="0">
                          <a:solidFill>
                            <a:srgbClr val="9FB0CF"/>
                          </a:solidFill>
                          <a:latin typeface="맑은 고딕"/>
                          <a:ea typeface="맑은 고딕"/>
                        </a:rPr>
                        <a:t>차트 분리 / 지수화</a:t>
                      </a:r>
                    </a:p>
                  </a:txBody>
                  <a:tcPr marL="91440" marT="27432" marB="27432" anchor="ctr">
                    <a:solidFill>
                      <a:srgbClr val="14203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3D 차트</a:t>
                      </a:r>
                    </a:p>
                  </a:txBody>
                  <a:tcPr marL="91440" marT="27432" marB="27432"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200" b="0" i="0">
                          <a:solidFill>
                            <a:srgbClr val="9FB0CF"/>
                          </a:solidFill>
                          <a:latin typeface="맑은 고딕"/>
                          <a:ea typeface="맑은 고딕"/>
                        </a:rPr>
                        <a:t>원근·기울기로 크기 왜곡</a:t>
                      </a:r>
                    </a:p>
                  </a:txBody>
                  <a:tcPr marL="91440" marT="27432" marB="27432"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200" b="0" i="0">
                          <a:solidFill>
                            <a:srgbClr val="9FB0CF"/>
                          </a:solidFill>
                          <a:latin typeface="맑은 고딕"/>
                          <a:ea typeface="맑은 고딕"/>
                        </a:rPr>
                        <a:t>평면 2D 사용</a:t>
                      </a:r>
                    </a:p>
                  </a:txBody>
                  <a:tcPr marL="91440" marT="27432" marB="27432" anchor="ctr">
                    <a:solidFill>
                      <a:srgbClr val="1B2A4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면적/버블 과장</a:t>
                      </a:r>
                    </a:p>
                  </a:txBody>
                  <a:tcPr marL="91440" marT="27432" marB="27432" anchor="ctr">
                    <a:solidFill>
                      <a:srgbClr val="14203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200" b="0" i="0">
                          <a:solidFill>
                            <a:srgbClr val="9FB0CF"/>
                          </a:solidFill>
                          <a:latin typeface="맑은 고딕"/>
                          <a:ea typeface="맑은 고딕"/>
                        </a:rPr>
                        <a:t>지름→면적이 제곱으로 과장</a:t>
                      </a:r>
                    </a:p>
                  </a:txBody>
                  <a:tcPr marL="91440" marT="27432" marB="27432" anchor="ctr">
                    <a:solidFill>
                      <a:srgbClr val="14203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200" b="0" i="0">
                          <a:solidFill>
                            <a:srgbClr val="9FB0CF"/>
                          </a:solidFill>
                          <a:latin typeface="맑은 고딕"/>
                          <a:ea typeface="맑은 고딕"/>
                        </a:rPr>
                        <a:t>면적을 값에 비례</a:t>
                      </a:r>
                    </a:p>
                  </a:txBody>
                  <a:tcPr marL="91440" marT="27432" marB="27432" anchor="ctr">
                    <a:solidFill>
                      <a:srgbClr val="142036"/>
                    </a:solidFill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822960" y="5029200"/>
            <a:ext cx="54864" cy="868680"/>
          </a:xfrm>
          <a:prstGeom prst="rect">
            <a:avLst/>
          </a:prstGeom>
          <a:solidFill>
            <a:srgbClr val="3D7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77824" y="5029200"/>
            <a:ext cx="10506456" cy="868680"/>
          </a:xfrm>
          <a:prstGeom prst="roundRect">
            <a:avLst/>
          </a:prstGeom>
          <a:solidFill>
            <a:srgbClr val="2230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/>
          <a:lstStyle/>
          <a:p>
            <a:pPr algn="ctr">
              <a:lnSpc>
                <a:spcPct val="130000"/>
              </a:lnSpc>
            </a:pPr>
            <a:r>
              <a:rPr sz="1300" b="1" i="0">
                <a:solidFill>
                  <a:srgbClr val="FFFFFF"/>
                </a:solidFill>
                <a:latin typeface="맑은 고딕"/>
                <a:ea typeface="맑은 고딕"/>
              </a:rPr>
              <a:t>황금률 — </a:t>
            </a:r>
            <a:r>
              <a:rPr sz="1300" b="0" i="0">
                <a:solidFill>
                  <a:srgbClr val="EEF2FB"/>
                </a:solidFill>
                <a:latin typeface="맑은 고딕"/>
                <a:ea typeface="맑은 고딕"/>
              </a:rPr>
              <a:t>막대그래프 y축은 반드시 0에서 시작. 꺾은선은 아니어도 되지만 축 범위를 반드시 명시.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6419088"/>
            <a:ext cx="2743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1" i="0">
                <a:solidFill>
                  <a:srgbClr val="EEF2FB"/>
                </a:solidFill>
                <a:latin typeface="맑은 고딕"/>
                <a:ea typeface="맑은 고딕"/>
              </a:rPr>
              <a:t>Data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1" i="0">
                <a:solidFill>
                  <a:srgbClr val="6FA0FF"/>
                </a:solidFill>
                <a:latin typeface="맑은 고딕"/>
                <a:ea typeface="맑은 고딕"/>
              </a:rPr>
              <a:t> Lab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0" y="6419088"/>
            <a:ext cx="1828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1200" b="0" i="0">
                <a:solidFill>
                  <a:srgbClr val="9FB0CF"/>
                </a:solidFill>
                <a:latin typeface="맑은 고딕"/>
                <a:ea typeface="맑은 고딕"/>
              </a:rPr>
              <a:t>17 / 28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0"/>
            <a:ext cx="12191695" cy="38100"/>
          </a:xfrm>
          <a:prstGeom prst="rect">
            <a:avLst/>
          </a:prstGeom>
          <a:solidFill>
            <a:srgbClr val="1420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0" y="0"/>
            <a:ext cx="7402100" cy="38100"/>
          </a:xfrm>
          <a:prstGeom prst="rect">
            <a:avLst/>
          </a:prstGeom>
          <a:solidFill>
            <a:srgbClr val="3D7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589520" y="-914400"/>
            <a:ext cx="5486400" cy="3657600"/>
          </a:xfrm>
          <a:prstGeom prst="rect">
            <a:avLst/>
          </a:prstGeom>
          <a:solidFill>
            <a:srgbClr val="243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50392" y="566928"/>
            <a:ext cx="1842516" cy="384048"/>
          </a:xfrm>
          <a:prstGeom prst="roundRect">
            <a:avLst/>
          </a:prstGeom>
          <a:solidFill>
            <a:srgbClr val="22304E"/>
          </a:solidFill>
          <a:ln w="9525">
            <a:solidFill>
              <a:srgbClr val="3A4A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 rIns="109728" tIns="18288" bIns="18288"/>
          <a:lstStyle/>
          <a:p>
            <a:pPr algn="ctr"/>
            <a:r>
              <a:rPr sz="1100" b="1" i="0">
                <a:solidFill>
                  <a:srgbClr val="6FA0FF"/>
                </a:solidFill>
                <a:latin typeface="맑은 고딕"/>
                <a:ea typeface="맑은 고딕"/>
              </a:rPr>
              <a:t>MODULE 2 · 실습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097280"/>
            <a:ext cx="658368" cy="365760"/>
          </a:xfrm>
          <a:prstGeom prst="roundRect">
            <a:avLst/>
          </a:prstGeom>
          <a:solidFill>
            <a:srgbClr val="3D7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맑은 고딕"/>
                <a:ea typeface="맑은 고딕"/>
              </a:rPr>
              <a:t>LAB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00200" y="1078992"/>
            <a:ext cx="102412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3000" b="1" i="0">
                <a:solidFill>
                  <a:srgbClr val="FFFFFF"/>
                </a:solidFill>
                <a:latin typeface="맑은 고딕"/>
                <a:ea typeface="맑은 고딕"/>
              </a:rPr>
              <a:t>윤리적이고 정확한 표현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" y="1965960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500" b="0" i="0">
                <a:solidFill>
                  <a:srgbClr val="9FB0CF"/>
                </a:solidFill>
                <a:latin typeface="맑은 고딕"/>
                <a:ea typeface="맑은 고딕"/>
              </a:rPr>
              <a:t>시각화의 마지막 책임은 정직함 — 맥락을 숨기면 거짓말과 같다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697480"/>
            <a:ext cx="52120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200" b="1" i="0">
                <a:solidFill>
                  <a:srgbClr val="3D7DFF"/>
                </a:solidFill>
                <a:latin typeface="맑은 고딕"/>
                <a:ea typeface="맑은 고딕"/>
              </a:rPr>
              <a:t>◆ </a:t>
            </a:r>
            <a:r>
              <a:rPr sz="1400" b="1" i="0">
                <a:solidFill>
                  <a:srgbClr val="EEF2FB"/>
                </a:solidFill>
                <a:latin typeface="맑은 고딕"/>
                <a:ea typeface="맑은 고딕"/>
              </a:rPr>
              <a:t>체리피킹 회피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100" b="0" i="0">
                <a:solidFill>
                  <a:srgbClr val="9FB0CF"/>
                </a:solidFill>
                <a:latin typeface="맑은 고딕"/>
                <a:ea typeface="맑은 고딕"/>
              </a:rPr>
              <a:t>    유리한 기간·집단만 고르지 않기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200" b="1" i="0">
                <a:solidFill>
                  <a:srgbClr val="3D7DFF"/>
                </a:solidFill>
                <a:latin typeface="맑은 고딕"/>
                <a:ea typeface="맑은 고딕"/>
              </a:rPr>
              <a:t>◆ </a:t>
            </a:r>
            <a:r>
              <a:rPr sz="1400" b="1" i="0">
                <a:solidFill>
                  <a:srgbClr val="EEF2FB"/>
                </a:solidFill>
                <a:latin typeface="맑은 고딕"/>
                <a:ea typeface="맑은 고딕"/>
              </a:rPr>
              <a:t>기준선 조작 회피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100" b="0" i="0">
                <a:solidFill>
                  <a:srgbClr val="9FB0CF"/>
                </a:solidFill>
                <a:latin typeface="맑은 고딕"/>
                <a:ea typeface="맑은 고딕"/>
              </a:rPr>
              <a:t>    전년? 목표? 경쟁사? 기준 명시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200" b="1" i="0">
                <a:solidFill>
                  <a:srgbClr val="3D7DFF"/>
                </a:solidFill>
                <a:latin typeface="맑은 고딕"/>
                <a:ea typeface="맑은 고딕"/>
              </a:rPr>
              <a:t>◆ </a:t>
            </a:r>
            <a:r>
              <a:rPr sz="1400" b="1" i="0">
                <a:solidFill>
                  <a:srgbClr val="EEF2FB"/>
                </a:solidFill>
                <a:latin typeface="맑은 고딕"/>
                <a:ea typeface="맑은 고딕"/>
              </a:rPr>
              <a:t>표본 왜곡 회피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100" b="0" i="0">
                <a:solidFill>
                  <a:srgbClr val="9FB0CF"/>
                </a:solidFill>
                <a:latin typeface="맑은 고딕"/>
                <a:ea typeface="맑은 고딕"/>
              </a:rPr>
              <a:t>    ‘90% 만족’(n=10) → 표본 n 표기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2697480"/>
            <a:ext cx="5029200" cy="2103120"/>
          </a:xfrm>
          <a:prstGeom prst="roundRect">
            <a:avLst/>
          </a:prstGeom>
          <a:solidFill>
            <a:srgbClr val="22304E"/>
          </a:solidFill>
          <a:ln w="9525">
            <a:solidFill>
              <a:srgbClr val="3A4A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164592" tIns="164592" bIns="128016"/>
          <a:lstStyle/>
          <a:p>
            <a:pPr algn="ctr">
              <a:lnSpc>
                <a:spcPct val="110000"/>
              </a:lnSpc>
            </a:pPr>
            <a:r>
              <a:rPr sz="1400" b="1" i="0">
                <a:solidFill>
                  <a:srgbClr val="FFFFFF"/>
                </a:solidFill>
                <a:latin typeface="맑은 고딕"/>
                <a:ea typeface="맑은 고딕"/>
              </a:rPr>
              <a:t>객관적 팩트 전달 3원칙</a:t>
            </a:r>
          </a:p>
          <a:p>
            <a:pPr>
              <a:lnSpc>
                <a:spcPct val="125000"/>
              </a:lnSpc>
              <a:spcBef>
                <a:spcPts val="600"/>
              </a:spcBef>
            </a:pPr>
            <a:r>
              <a:rPr sz="1150" b="0" i="0">
                <a:solidFill>
                  <a:srgbClr val="9FB0CF"/>
                </a:solidFill>
                <a:latin typeface="맑은 고딕"/>
                <a:ea typeface="맑은 고딕"/>
              </a:rPr>
              <a:t>1. 출처 명시 — 데이터 출처·수집 방법
2. 기간·표본 명시 — 언제, 몇 건
3. 단위·정의 명시 — 매출은 부가세 포함?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5486400"/>
            <a:ext cx="54864" cy="868680"/>
          </a:xfrm>
          <a:prstGeom prst="rect">
            <a:avLst/>
          </a:prstGeom>
          <a:solidFill>
            <a:srgbClr val="3D7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77824" y="5486400"/>
            <a:ext cx="10506456" cy="868680"/>
          </a:xfrm>
          <a:prstGeom prst="roundRect">
            <a:avLst/>
          </a:prstGeom>
          <a:solidFill>
            <a:srgbClr val="2230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/>
          <a:lstStyle/>
          <a:p>
            <a:pPr algn="ctr">
              <a:lnSpc>
                <a:spcPct val="130000"/>
              </a:lnSpc>
            </a:pPr>
            <a:r>
              <a:rPr sz="1300" b="0" i="0">
                <a:solidFill>
                  <a:srgbClr val="EEF2FB"/>
                </a:solidFill>
                <a:latin typeface="맑은 고딕"/>
                <a:ea typeface="맑은 고딕"/>
              </a:rPr>
              <a:t>좋은 분석가는 ‘내 주장을 돕는 차트’가 아니라 </a:t>
            </a:r>
            <a:r>
              <a:rPr sz="1300" b="1" i="0">
                <a:solidFill>
                  <a:srgbClr val="FFFFFF"/>
                </a:solidFill>
                <a:latin typeface="맑은 고딕"/>
                <a:ea typeface="맑은 고딕"/>
              </a:rPr>
              <a:t>‘사실을 가장 정확히 보여주는 차트’</a:t>
            </a:r>
            <a:r>
              <a:rPr sz="1300" b="0" i="0">
                <a:solidFill>
                  <a:srgbClr val="EEF2FB"/>
                </a:solidFill>
                <a:latin typeface="맑은 고딕"/>
                <a:ea typeface="맑은 고딕"/>
              </a:rPr>
              <a:t>를 만듭니다.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6419088"/>
            <a:ext cx="2743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1" i="0">
                <a:solidFill>
                  <a:srgbClr val="EEF2FB"/>
                </a:solidFill>
                <a:latin typeface="맑은 고딕"/>
                <a:ea typeface="맑은 고딕"/>
              </a:rPr>
              <a:t>Data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1" i="0">
                <a:solidFill>
                  <a:srgbClr val="6FA0FF"/>
                </a:solidFill>
                <a:latin typeface="맑은 고딕"/>
                <a:ea typeface="맑은 고딕"/>
              </a:rPr>
              <a:t> Lab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0" y="6419088"/>
            <a:ext cx="1828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1200" b="0" i="0">
                <a:solidFill>
                  <a:srgbClr val="9FB0CF"/>
                </a:solidFill>
                <a:latin typeface="맑은 고딕"/>
                <a:ea typeface="맑은 고딕"/>
              </a:rPr>
              <a:t>18 / 28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0"/>
            <a:ext cx="12191695" cy="38100"/>
          </a:xfrm>
          <a:prstGeom prst="rect">
            <a:avLst/>
          </a:prstGeom>
          <a:solidFill>
            <a:srgbClr val="1420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0" y="0"/>
            <a:ext cx="7837518" cy="38100"/>
          </a:xfrm>
          <a:prstGeom prst="rect">
            <a:avLst/>
          </a:prstGeom>
          <a:solidFill>
            <a:srgbClr val="3D7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589520" y="-914400"/>
            <a:ext cx="5486400" cy="3657600"/>
          </a:xfrm>
          <a:prstGeom prst="rect">
            <a:avLst/>
          </a:prstGeom>
          <a:solidFill>
            <a:srgbClr val="243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50392" y="566928"/>
            <a:ext cx="1842516" cy="384048"/>
          </a:xfrm>
          <a:prstGeom prst="roundRect">
            <a:avLst/>
          </a:prstGeom>
          <a:solidFill>
            <a:srgbClr val="22304E"/>
          </a:solidFill>
          <a:ln w="9525">
            <a:solidFill>
              <a:srgbClr val="3A4A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 rIns="109728" tIns="18288" bIns="18288"/>
          <a:lstStyle/>
          <a:p>
            <a:pPr algn="ctr"/>
            <a:r>
              <a:rPr sz="1100" b="1" i="0">
                <a:solidFill>
                  <a:srgbClr val="6FA0FF"/>
                </a:solidFill>
                <a:latin typeface="맑은 고딕"/>
                <a:ea typeface="맑은 고딕"/>
              </a:rPr>
              <a:t>MODULE 2 · 정리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078992"/>
            <a:ext cx="105156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3300" b="1" i="0">
                <a:solidFill>
                  <a:srgbClr val="FFFFFF"/>
                </a:solidFill>
                <a:latin typeface="맑은 고딕"/>
                <a:ea typeface="맑은 고딕"/>
              </a:rPr>
              <a:t>‘이 데이터엔 이 차트’ 치트시트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0392" y="1938528"/>
            <a:ext cx="106070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500" b="0" i="0">
                <a:solidFill>
                  <a:srgbClr val="9FB0CF"/>
                </a:solidFill>
                <a:latin typeface="맑은 고딕"/>
                <a:ea typeface="맑은 고딕"/>
              </a:rPr>
              <a:t>시각화는 메시지 전달 수단 — 목적이 차트를 결정한다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822960" y="2468880"/>
          <a:ext cx="1051560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3657600"/>
                <a:gridCol w="3200400"/>
              </a:tblGrid>
              <a:tr h="457200">
                <a:tc>
                  <a:txBody>
                    <a:bodyPr/>
                    <a:lstStyle/>
                    <a:p>
                      <a:r>
                        <a:rPr sz="1250" b="1" i="0">
                          <a:solidFill>
                            <a:srgbClr val="6FA0FF"/>
                          </a:solidFill>
                          <a:latin typeface="맑은 고딕"/>
                          <a:ea typeface="맑은 고딕"/>
                        </a:rPr>
                        <a:t>보여주려는 것</a:t>
                      </a:r>
                    </a:p>
                  </a:txBody>
                  <a:tcPr marL="91440" marT="36576" marB="36576" anchor="ctr">
                    <a:solidFill>
                      <a:srgbClr val="14203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 i="0">
                          <a:solidFill>
                            <a:srgbClr val="6FA0FF"/>
                          </a:solidFill>
                          <a:latin typeface="맑은 고딕"/>
                          <a:ea typeface="맑은 고딕"/>
                        </a:rPr>
                        <a:t>첫 번째 선택</a:t>
                      </a:r>
                    </a:p>
                  </a:txBody>
                  <a:tcPr marL="91440" marT="36576" marB="36576" anchor="ctr">
                    <a:solidFill>
                      <a:srgbClr val="14203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 i="0">
                          <a:solidFill>
                            <a:srgbClr val="6FA0FF"/>
                          </a:solidFill>
                          <a:latin typeface="맑은 고딕"/>
                          <a:ea typeface="맑은 고딕"/>
                        </a:rPr>
                        <a:t>피할 것</a:t>
                      </a:r>
                    </a:p>
                  </a:txBody>
                  <a:tcPr marL="91440" marT="36576" marB="36576" anchor="ctr">
                    <a:solidFill>
                      <a:srgbClr val="14203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25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항목 간 크기 비교</a:t>
                      </a:r>
                    </a:p>
                  </a:txBody>
                  <a:tcPr marL="91440" marT="27432" marB="27432"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250" b="0" i="0">
                          <a:solidFill>
                            <a:srgbClr val="9FB0CF"/>
                          </a:solidFill>
                          <a:latin typeface="맑은 고딕"/>
                          <a:ea typeface="맑은 고딕"/>
                        </a:rPr>
                        <a:t>가로 막대(정렬)</a:t>
                      </a:r>
                    </a:p>
                  </a:txBody>
                  <a:tcPr marL="91440" marT="27432" marB="27432"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250" b="0" i="0">
                          <a:solidFill>
                            <a:srgbClr val="9FB0CF"/>
                          </a:solidFill>
                          <a:latin typeface="맑은 고딕"/>
                          <a:ea typeface="맑은 고딕"/>
                        </a:rPr>
                        <a:t>파이(5개 이상)</a:t>
                      </a:r>
                    </a:p>
                  </a:txBody>
                  <a:tcPr marL="91440" marT="27432" marB="27432" anchor="ctr">
                    <a:solidFill>
                      <a:srgbClr val="1B2A4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25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시간에 따른 변화</a:t>
                      </a:r>
                    </a:p>
                  </a:txBody>
                  <a:tcPr marL="91440" marT="27432" marB="27432" anchor="ctr">
                    <a:solidFill>
                      <a:srgbClr val="14203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250" b="0" i="0">
                          <a:solidFill>
                            <a:srgbClr val="9FB0CF"/>
                          </a:solidFill>
                          <a:latin typeface="맑은 고딕"/>
                          <a:ea typeface="맑은 고딕"/>
                        </a:rPr>
                        <a:t>꺾은선</a:t>
                      </a:r>
                    </a:p>
                  </a:txBody>
                  <a:tcPr marL="91440" marT="27432" marB="27432" anchor="ctr">
                    <a:solidFill>
                      <a:srgbClr val="14203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250" b="0" i="0">
                          <a:solidFill>
                            <a:srgbClr val="9FB0CF"/>
                          </a:solidFill>
                          <a:latin typeface="맑은 고딕"/>
                          <a:ea typeface="맑은 고딕"/>
                        </a:rPr>
                        <a:t>막대(너무 많을 때)</a:t>
                      </a:r>
                    </a:p>
                  </a:txBody>
                  <a:tcPr marL="91440" marT="27432" marB="27432" anchor="ctr">
                    <a:solidFill>
                      <a:srgbClr val="14203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25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부분과 전체 비율</a:t>
                      </a:r>
                    </a:p>
                  </a:txBody>
                  <a:tcPr marL="91440" marT="27432" marB="27432"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250" b="0" i="0">
                          <a:solidFill>
                            <a:srgbClr val="9FB0CF"/>
                          </a:solidFill>
                          <a:latin typeface="맑은 고딕"/>
                          <a:ea typeface="맑은 고딕"/>
                        </a:rPr>
                        <a:t>누적막대 100%</a:t>
                      </a:r>
                    </a:p>
                  </a:txBody>
                  <a:tcPr marL="91440" marT="27432" marB="27432"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250" b="0" i="0">
                          <a:solidFill>
                            <a:srgbClr val="9FB0CF"/>
                          </a:solidFill>
                          <a:latin typeface="맑은 고딕"/>
                          <a:ea typeface="맑은 고딕"/>
                        </a:rPr>
                        <a:t>3D 파이</a:t>
                      </a:r>
                    </a:p>
                  </a:txBody>
                  <a:tcPr marL="91440" marT="27432" marB="27432" anchor="ctr">
                    <a:solidFill>
                      <a:srgbClr val="1B2A4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25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두 변수 관계</a:t>
                      </a:r>
                    </a:p>
                  </a:txBody>
                  <a:tcPr marL="91440" marT="27432" marB="27432" anchor="ctr">
                    <a:solidFill>
                      <a:srgbClr val="14203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250" b="0" i="0">
                          <a:solidFill>
                            <a:srgbClr val="9FB0CF"/>
                          </a:solidFill>
                          <a:latin typeface="맑은 고딕"/>
                          <a:ea typeface="맑은 고딕"/>
                        </a:rPr>
                        <a:t>산점도</a:t>
                      </a:r>
                    </a:p>
                  </a:txBody>
                  <a:tcPr marL="91440" marT="27432" marB="27432" anchor="ctr">
                    <a:solidFill>
                      <a:srgbClr val="14203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250" b="0" i="0">
                          <a:solidFill>
                            <a:srgbClr val="9FB0CF"/>
                          </a:solidFill>
                          <a:latin typeface="맑은 고딕"/>
                          <a:ea typeface="맑은 고딕"/>
                        </a:rPr>
                        <a:t>이중 축</a:t>
                      </a:r>
                    </a:p>
                  </a:txBody>
                  <a:tcPr marL="91440" marT="27432" marB="27432" anchor="ctr">
                    <a:solidFill>
                      <a:srgbClr val="14203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25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값의 분포</a:t>
                      </a:r>
                    </a:p>
                  </a:txBody>
                  <a:tcPr marL="91440" marT="27432" marB="27432"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250" b="0" i="0">
                          <a:solidFill>
                            <a:srgbClr val="9FB0CF"/>
                          </a:solidFill>
                          <a:latin typeface="맑은 고딕"/>
                          <a:ea typeface="맑은 고딕"/>
                        </a:rPr>
                        <a:t>히스토그램/박스플롯</a:t>
                      </a:r>
                    </a:p>
                  </a:txBody>
                  <a:tcPr marL="91440" marT="27432" marB="27432"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250" b="0" i="0">
                          <a:solidFill>
                            <a:srgbClr val="9FB0CF"/>
                          </a:solidFill>
                          <a:latin typeface="맑은 고딕"/>
                          <a:ea typeface="맑은 고딕"/>
                        </a:rPr>
                        <a:t>평균만 표기</a:t>
                      </a:r>
                    </a:p>
                  </a:txBody>
                  <a:tcPr marL="91440" marT="27432" marB="27432" anchor="ctr">
                    <a:solidFill>
                      <a:srgbClr val="1B2A4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25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단일 핵심 지표</a:t>
                      </a:r>
                    </a:p>
                  </a:txBody>
                  <a:tcPr marL="91440" marT="27432" marB="27432" anchor="ctr">
                    <a:solidFill>
                      <a:srgbClr val="14203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250" b="0" i="0">
                          <a:solidFill>
                            <a:srgbClr val="9FB0CF"/>
                          </a:solidFill>
                          <a:latin typeface="맑은 고딕"/>
                          <a:ea typeface="맑은 고딕"/>
                        </a:rPr>
                        <a:t>큰 숫자 + 스파크라인</a:t>
                      </a:r>
                    </a:p>
                  </a:txBody>
                  <a:tcPr marL="91440" marT="27432" marB="27432" anchor="ctr">
                    <a:solidFill>
                      <a:srgbClr val="14203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250" b="0" i="0">
                          <a:solidFill>
                            <a:srgbClr val="9FB0CF"/>
                          </a:solidFill>
                          <a:latin typeface="맑은 고딕"/>
                          <a:ea typeface="맑은 고딕"/>
                        </a:rPr>
                        <a:t>게이지/도넛 남용</a:t>
                      </a:r>
                    </a:p>
                  </a:txBody>
                  <a:tcPr marL="91440" marT="27432" marB="27432" anchor="ctr">
                    <a:solidFill>
                      <a:srgbClr val="142036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822960" y="6419088"/>
            <a:ext cx="2743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1" i="0">
                <a:solidFill>
                  <a:srgbClr val="EEF2FB"/>
                </a:solidFill>
                <a:latin typeface="맑은 고딕"/>
                <a:ea typeface="맑은 고딕"/>
              </a:rPr>
              <a:t>Data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1" i="0">
                <a:solidFill>
                  <a:srgbClr val="6FA0FF"/>
                </a:solidFill>
                <a:latin typeface="맑은 고딕"/>
                <a:ea typeface="맑은 고딕"/>
              </a:rPr>
              <a:t> Lab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0" y="6419088"/>
            <a:ext cx="1828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1200" b="0" i="0">
                <a:solidFill>
                  <a:srgbClr val="9FB0CF"/>
                </a:solidFill>
                <a:latin typeface="맑은 고딕"/>
                <a:ea typeface="맑은 고딕"/>
              </a:rPr>
              <a:t>19 / 28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0"/>
            <a:ext cx="12191695" cy="38100"/>
          </a:xfrm>
          <a:prstGeom prst="rect">
            <a:avLst/>
          </a:prstGeom>
          <a:solidFill>
            <a:srgbClr val="1420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0"/>
            <a:ext cx="8272935" cy="38100"/>
          </a:xfrm>
          <a:prstGeom prst="rect">
            <a:avLst/>
          </a:prstGeom>
          <a:solidFill>
            <a:srgbClr val="3D7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589520" y="-914400"/>
            <a:ext cx="5486400" cy="3657600"/>
          </a:xfrm>
          <a:prstGeom prst="rect">
            <a:avLst/>
          </a:prstGeom>
          <a:solidFill>
            <a:srgbClr val="243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0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548640"/>
            <a:ext cx="7315200" cy="2743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0000" b="1" i="0">
                <a:solidFill>
                  <a:srgbClr val="2A3C63"/>
                </a:solidFill>
                <a:latin typeface="맑은 고딕"/>
                <a:ea typeface="맑은 고딕"/>
              </a:rPr>
              <a:t>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291840"/>
            <a:ext cx="109728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4400" b="1" i="0">
                <a:solidFill>
                  <a:srgbClr val="FFFFFF"/>
                </a:solidFill>
                <a:latin typeface="맑은 고딕"/>
                <a:ea typeface="맑은 고딕"/>
              </a:rPr>
              <a:t>실무형 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4400" b="1" i="0">
                <a:solidFill>
                  <a:srgbClr val="6FA0FF"/>
                </a:solidFill>
                <a:latin typeface="맑은 고딕"/>
                <a:ea typeface="맑은 고딕"/>
              </a:rPr>
              <a:t>대시보드 구축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" y="4434840"/>
            <a:ext cx="105156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700" b="0" i="0">
                <a:solidFill>
                  <a:srgbClr val="9FB0CF"/>
                </a:solidFill>
                <a:latin typeface="맑은 고딕"/>
                <a:ea typeface="맑은 고딕"/>
              </a:rPr>
              <a:t>한 화면에서 KPI를 모니터링하는 인터랙티브 대시보드 · 2.0H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5212080"/>
            <a:ext cx="1344168" cy="420624"/>
          </a:xfrm>
          <a:prstGeom prst="roundRect">
            <a:avLst/>
          </a:prstGeom>
          <a:solidFill>
            <a:srgbClr val="22304E"/>
          </a:solidFill>
          <a:ln w="9525">
            <a:solidFill>
              <a:srgbClr val="3A4A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0" i="0">
                <a:solidFill>
                  <a:srgbClr val="9FB0CF"/>
                </a:solidFill>
                <a:latin typeface="맑은 고딕"/>
                <a:ea typeface="맑은 고딕"/>
              </a:rPr>
              <a:t>인-셀 시각화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331720" y="5212080"/>
            <a:ext cx="1490472" cy="420624"/>
          </a:xfrm>
          <a:prstGeom prst="roundRect">
            <a:avLst/>
          </a:prstGeom>
          <a:solidFill>
            <a:srgbClr val="22304E"/>
          </a:solidFill>
          <a:ln w="9525">
            <a:solidFill>
              <a:srgbClr val="3A4A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0" i="0">
                <a:solidFill>
                  <a:srgbClr val="9FB0CF"/>
                </a:solidFill>
                <a:latin typeface="맑은 고딕"/>
                <a:ea typeface="맑은 고딕"/>
              </a:rPr>
              <a:t>KPI·레이아웃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986784" y="5212080"/>
            <a:ext cx="1344168" cy="420624"/>
          </a:xfrm>
          <a:prstGeom prst="roundRect">
            <a:avLst/>
          </a:prstGeom>
          <a:solidFill>
            <a:srgbClr val="22304E"/>
          </a:solidFill>
          <a:ln w="9525">
            <a:solidFill>
              <a:srgbClr val="3A4A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0" i="0">
                <a:solidFill>
                  <a:srgbClr val="9FB0CF"/>
                </a:solidFill>
                <a:latin typeface="맑은 고딕"/>
                <a:ea typeface="맑은 고딕"/>
              </a:rPr>
              <a:t>피벗·슬라이서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95544" y="5212080"/>
            <a:ext cx="1051560" cy="420624"/>
          </a:xfrm>
          <a:prstGeom prst="roundRect">
            <a:avLst/>
          </a:prstGeom>
          <a:solidFill>
            <a:srgbClr val="22304E"/>
          </a:solidFill>
          <a:ln w="9525">
            <a:solidFill>
              <a:srgbClr val="3A4A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0" i="0">
                <a:solidFill>
                  <a:srgbClr val="9FB0CF"/>
                </a:solidFill>
                <a:latin typeface="맑은 고딕"/>
                <a:ea typeface="맑은 고딕"/>
              </a:rPr>
              <a:t>자동 갱신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711696" y="5212080"/>
            <a:ext cx="612647" cy="420624"/>
          </a:xfrm>
          <a:prstGeom prst="roundRect">
            <a:avLst/>
          </a:prstGeom>
          <a:solidFill>
            <a:srgbClr val="22304E"/>
          </a:solidFill>
          <a:ln w="9525">
            <a:solidFill>
              <a:srgbClr val="3A4A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0" i="0">
                <a:solidFill>
                  <a:srgbClr val="9FB0CF"/>
                </a:solidFill>
                <a:latin typeface="맑은 고딕"/>
                <a:ea typeface="맑은 고딕"/>
              </a:rPr>
              <a:t>종합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6419088"/>
            <a:ext cx="2743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1" i="0">
                <a:solidFill>
                  <a:srgbClr val="EEF2FB"/>
                </a:solidFill>
                <a:latin typeface="맑은 고딕"/>
                <a:ea typeface="맑은 고딕"/>
              </a:rPr>
              <a:t>Data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1" i="0">
                <a:solidFill>
                  <a:srgbClr val="6FA0FF"/>
                </a:solidFill>
                <a:latin typeface="맑은 고딕"/>
                <a:ea typeface="맑은 고딕"/>
              </a:rPr>
              <a:t> Lab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0" y="6419088"/>
            <a:ext cx="1828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1200" b="0" i="0">
                <a:solidFill>
                  <a:srgbClr val="9FB0CF"/>
                </a:solidFill>
                <a:latin typeface="맑은 고딕"/>
                <a:ea typeface="맑은 고딕"/>
              </a:rPr>
              <a:t>20 / 28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0"/>
            <a:ext cx="12191695" cy="38100"/>
          </a:xfrm>
          <a:prstGeom prst="rect">
            <a:avLst/>
          </a:prstGeom>
          <a:solidFill>
            <a:srgbClr val="1420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0" y="0"/>
            <a:ext cx="8708353" cy="38100"/>
          </a:xfrm>
          <a:prstGeom prst="rect">
            <a:avLst/>
          </a:prstGeom>
          <a:solidFill>
            <a:srgbClr val="3D7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589520" y="-914400"/>
            <a:ext cx="5486400" cy="3657600"/>
          </a:xfrm>
          <a:prstGeom prst="rect">
            <a:avLst/>
          </a:prstGeom>
          <a:solidFill>
            <a:srgbClr val="243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50392" y="566928"/>
            <a:ext cx="1362456" cy="384048"/>
          </a:xfrm>
          <a:prstGeom prst="roundRect">
            <a:avLst/>
          </a:prstGeom>
          <a:solidFill>
            <a:srgbClr val="22304E"/>
          </a:solidFill>
          <a:ln w="9525">
            <a:solidFill>
              <a:srgbClr val="3A4A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 rIns="109728" tIns="18288" bIns="18288"/>
          <a:lstStyle/>
          <a:p>
            <a:pPr algn="ctr"/>
            <a:r>
              <a:rPr sz="1100" b="1" i="0">
                <a:solidFill>
                  <a:srgbClr val="6FA0FF"/>
                </a:solidFill>
                <a:latin typeface="맑은 고딕"/>
                <a:ea typeface="맑은 고딕"/>
              </a:rPr>
              <a:t>MODULE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078992"/>
            <a:ext cx="105156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3300" b="1" i="0">
                <a:solidFill>
                  <a:srgbClr val="FFFFFF"/>
                </a:solidFill>
                <a:latin typeface="맑은 고딕"/>
                <a:ea typeface="맑은 고딕"/>
              </a:rPr>
              <a:t>표를 직관적으로 — 인-셀 시각화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0392" y="1938528"/>
            <a:ext cx="106070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500" b="0" i="0">
                <a:solidFill>
                  <a:srgbClr val="9FB0CF"/>
                </a:solidFill>
                <a:latin typeface="맑은 고딕"/>
                <a:ea typeface="맑은 고딕"/>
              </a:rPr>
              <a:t>차트 없이 셀 안에서 값의 크기·추세·상태를 표현한다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2606040"/>
            <a:ext cx="3429000" cy="1920240"/>
          </a:xfrm>
          <a:prstGeom prst="roundRect">
            <a:avLst/>
          </a:prstGeom>
          <a:solidFill>
            <a:srgbClr val="22304E"/>
          </a:solidFill>
          <a:ln w="9525">
            <a:solidFill>
              <a:srgbClr val="3A4A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164592" tIns="164592" bIns="128016"/>
          <a:lstStyle/>
          <a:p>
            <a:pPr algn="ctr">
              <a:lnSpc>
                <a:spcPct val="110000"/>
              </a:lnSpc>
            </a:pPr>
            <a:r>
              <a:rPr sz="1400" b="1" i="0">
                <a:solidFill>
                  <a:srgbClr val="FFFFFF"/>
                </a:solidFill>
                <a:latin typeface="맑은 고딕"/>
                <a:ea typeface="맑은 고딕"/>
              </a:rPr>
              <a:t>🎨 조건부 서식</a:t>
            </a:r>
          </a:p>
          <a:p>
            <a:pPr>
              <a:lnSpc>
                <a:spcPct val="125000"/>
              </a:lnSpc>
              <a:spcBef>
                <a:spcPts val="600"/>
              </a:spcBef>
            </a:pPr>
            <a:r>
              <a:rPr sz="1150" b="0" i="0">
                <a:solidFill>
                  <a:srgbClr val="9FB0CF"/>
                </a:solidFill>
                <a:latin typeface="맑은 고딕"/>
                <a:ea typeface="맑은 고딕"/>
              </a:rPr>
              <a:t>색조(값 높낮이) · 아이콘 집합(신호등·화살표) · 규칙(상위 10%·중복 강조)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34840" y="2606040"/>
            <a:ext cx="3429000" cy="1920240"/>
          </a:xfrm>
          <a:prstGeom prst="roundRect">
            <a:avLst/>
          </a:prstGeom>
          <a:solidFill>
            <a:srgbClr val="22304E"/>
          </a:solidFill>
          <a:ln w="9525">
            <a:solidFill>
              <a:srgbClr val="3A4A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164592" tIns="164592" bIns="128016"/>
          <a:lstStyle/>
          <a:p>
            <a:pPr algn="ctr">
              <a:lnSpc>
                <a:spcPct val="110000"/>
              </a:lnSpc>
            </a:pPr>
            <a:r>
              <a:rPr sz="1400" b="1" i="0">
                <a:solidFill>
                  <a:srgbClr val="FFFFFF"/>
                </a:solidFill>
                <a:latin typeface="맑은 고딕"/>
                <a:ea typeface="맑은 고딕"/>
              </a:rPr>
              <a:t>📊 데이터 막대</a:t>
            </a:r>
          </a:p>
          <a:p>
            <a:pPr>
              <a:lnSpc>
                <a:spcPct val="125000"/>
              </a:lnSpc>
              <a:spcBef>
                <a:spcPts val="600"/>
              </a:spcBef>
            </a:pPr>
            <a:r>
              <a:rPr sz="1150" b="0" i="0">
                <a:solidFill>
                  <a:srgbClr val="9FB0CF"/>
                </a:solidFill>
                <a:latin typeface="맑은 고딕"/>
                <a:ea typeface="맑은 고딕"/>
              </a:rPr>
              <a:t>셀 안에 막대를 그려 상대 크기 표시. ‘막대만 표시’로 숫자를 숨기면 깔끔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2606040"/>
            <a:ext cx="3429000" cy="1920240"/>
          </a:xfrm>
          <a:prstGeom prst="roundRect">
            <a:avLst/>
          </a:prstGeom>
          <a:solidFill>
            <a:srgbClr val="22304E"/>
          </a:solidFill>
          <a:ln w="9525">
            <a:solidFill>
              <a:srgbClr val="3A4A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164592" tIns="164592" bIns="128016"/>
          <a:lstStyle/>
          <a:p>
            <a:pPr algn="ctr">
              <a:lnSpc>
                <a:spcPct val="110000"/>
              </a:lnSpc>
            </a:pPr>
            <a:r>
              <a:rPr sz="1400" b="1" i="0">
                <a:solidFill>
                  <a:srgbClr val="FFFFFF"/>
                </a:solidFill>
                <a:latin typeface="맑은 고딕"/>
                <a:ea typeface="맑은 고딕"/>
              </a:rPr>
              <a:t>📈 스파크라인</a:t>
            </a:r>
          </a:p>
          <a:p>
            <a:pPr>
              <a:lnSpc>
                <a:spcPct val="125000"/>
              </a:lnSpc>
              <a:spcBef>
                <a:spcPts val="600"/>
              </a:spcBef>
            </a:pPr>
            <a:r>
              <a:rPr sz="1150" b="0" i="0">
                <a:solidFill>
                  <a:srgbClr val="9FB0CF"/>
                </a:solidFill>
                <a:latin typeface="맑은 고딕"/>
                <a:ea typeface="맑은 고딕"/>
              </a:rPr>
              <a:t>한 셀 미니 차트 — 꺾은선(추세)·열(크기)·승패(달성/미달)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4800600"/>
            <a:ext cx="54864" cy="868680"/>
          </a:xfrm>
          <a:prstGeom prst="rect">
            <a:avLst/>
          </a:prstGeom>
          <a:solidFill>
            <a:srgbClr val="3D7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77824" y="4800600"/>
            <a:ext cx="10506456" cy="868680"/>
          </a:xfrm>
          <a:prstGeom prst="roundRect">
            <a:avLst/>
          </a:prstGeom>
          <a:solidFill>
            <a:srgbClr val="2230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/>
          <a:lstStyle/>
          <a:p>
            <a:pPr algn="ctr">
              <a:lnSpc>
                <a:spcPct val="130000"/>
              </a:lnSpc>
            </a:pPr>
            <a:r>
              <a:rPr sz="1300" b="0" i="0">
                <a:solidFill>
                  <a:srgbClr val="EEF2FB"/>
                </a:solidFill>
                <a:latin typeface="맑은 고딕"/>
                <a:ea typeface="맑은 고딕"/>
              </a:rPr>
              <a:t>목적은 </a:t>
            </a:r>
            <a:r>
              <a:rPr sz="1300" b="1" i="0">
                <a:solidFill>
                  <a:srgbClr val="FFFFFF"/>
                </a:solidFill>
                <a:latin typeface="맑은 고딕"/>
                <a:ea typeface="맑은 고딕"/>
              </a:rPr>
              <a:t>‘값을 읽지 않고도 패턴이 보이게’</a:t>
            </a:r>
            <a:r>
              <a:rPr sz="1300" b="0" i="0">
                <a:solidFill>
                  <a:srgbClr val="EEF2FB"/>
                </a:solidFill>
                <a:latin typeface="맑은 고딕"/>
                <a:ea typeface="맑은 고딕"/>
              </a:rPr>
              <a:t> 하는 것. 색·아이콘은 2~3종 이내로 절제하세요.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6419088"/>
            <a:ext cx="2743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1" i="0">
                <a:solidFill>
                  <a:srgbClr val="EEF2FB"/>
                </a:solidFill>
                <a:latin typeface="맑은 고딕"/>
                <a:ea typeface="맑은 고딕"/>
              </a:rPr>
              <a:t>Data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1" i="0">
                <a:solidFill>
                  <a:srgbClr val="6FA0FF"/>
                </a:solidFill>
                <a:latin typeface="맑은 고딕"/>
                <a:ea typeface="맑은 고딕"/>
              </a:rPr>
              <a:t> Lab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0" y="6419088"/>
            <a:ext cx="1828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1200" b="0" i="0">
                <a:solidFill>
                  <a:srgbClr val="9FB0CF"/>
                </a:solidFill>
                <a:latin typeface="맑은 고딕"/>
                <a:ea typeface="맑은 고딕"/>
              </a:rPr>
              <a:t>21 / 28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0"/>
            <a:ext cx="12191695" cy="38100"/>
          </a:xfrm>
          <a:prstGeom prst="rect">
            <a:avLst/>
          </a:prstGeom>
          <a:solidFill>
            <a:srgbClr val="1420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0" y="0"/>
            <a:ext cx="9143771" cy="38100"/>
          </a:xfrm>
          <a:prstGeom prst="rect">
            <a:avLst/>
          </a:prstGeom>
          <a:solidFill>
            <a:srgbClr val="3D7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589520" y="-914400"/>
            <a:ext cx="5486400" cy="3657600"/>
          </a:xfrm>
          <a:prstGeom prst="rect">
            <a:avLst/>
          </a:prstGeom>
          <a:solidFill>
            <a:srgbClr val="243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50392" y="566928"/>
            <a:ext cx="1362456" cy="384048"/>
          </a:xfrm>
          <a:prstGeom prst="roundRect">
            <a:avLst/>
          </a:prstGeom>
          <a:solidFill>
            <a:srgbClr val="22304E"/>
          </a:solidFill>
          <a:ln w="9525">
            <a:solidFill>
              <a:srgbClr val="3A4A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 rIns="109728" tIns="18288" bIns="18288"/>
          <a:lstStyle/>
          <a:p>
            <a:pPr algn="ctr"/>
            <a:r>
              <a:rPr sz="1100" b="1" i="0">
                <a:solidFill>
                  <a:srgbClr val="6FA0FF"/>
                </a:solidFill>
                <a:latin typeface="맑은 고딕"/>
                <a:ea typeface="맑은 고딕"/>
              </a:rPr>
              <a:t>MODULE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078992"/>
            <a:ext cx="105156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3300" b="1" i="0">
                <a:solidFill>
                  <a:srgbClr val="FFFFFF"/>
                </a:solidFill>
                <a:latin typeface="맑은 고딕"/>
                <a:ea typeface="맑은 고딕"/>
              </a:rPr>
              <a:t>대시보드 기획 — KPI와 레이아웃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0392" y="1938528"/>
            <a:ext cx="106070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500" b="0" i="0">
                <a:solidFill>
                  <a:srgbClr val="9FB0CF"/>
                </a:solidFill>
                <a:latin typeface="맑은 고딕"/>
                <a:ea typeface="맑은 고딕"/>
              </a:rPr>
              <a:t>잘 그린 차트의 모음이 아니라, 의사결정을 돕는 한 장의 화면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2560320"/>
            <a:ext cx="3383280" cy="1371600"/>
          </a:xfrm>
          <a:prstGeom prst="roundRect">
            <a:avLst/>
          </a:prstGeom>
          <a:solidFill>
            <a:srgbClr val="22304E"/>
          </a:solidFill>
          <a:ln w="9525">
            <a:solidFill>
              <a:srgbClr val="3A4A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164592" tIns="164592" bIns="128016"/>
          <a:lstStyle/>
          <a:p>
            <a:pPr algn="ctr">
              <a:lnSpc>
                <a:spcPct val="110000"/>
              </a:lnSpc>
            </a:pPr>
            <a:r>
              <a:rPr sz="1500" b="1" i="0">
                <a:solidFill>
                  <a:srgbClr val="6FA0FF"/>
                </a:solidFill>
                <a:latin typeface="맑은 고딕"/>
                <a:ea typeface="맑은 고딕"/>
              </a:rPr>
              <a:t>1  </a:t>
            </a:r>
            <a:r>
              <a:rPr sz="1400" b="1" i="0">
                <a:solidFill>
                  <a:srgbClr val="FFFFFF"/>
                </a:solidFill>
                <a:latin typeface="맑은 고딕"/>
                <a:ea typeface="맑은 고딕"/>
              </a:rPr>
              <a:t>한 화면 원칙</a:t>
            </a:r>
          </a:p>
          <a:p>
            <a:pPr>
              <a:lnSpc>
                <a:spcPct val="125000"/>
              </a:lnSpc>
              <a:spcBef>
                <a:spcPts val="600"/>
              </a:spcBef>
            </a:pPr>
            <a:r>
              <a:rPr sz="1150" b="0" i="0">
                <a:solidFill>
                  <a:srgbClr val="9FB0CF"/>
                </a:solidFill>
                <a:latin typeface="맑은 고딕"/>
                <a:ea typeface="맑은 고딕"/>
              </a:rPr>
              <a:t>스크롤 없이 핵심을 한 화면에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4069080"/>
            <a:ext cx="3383280" cy="1371600"/>
          </a:xfrm>
          <a:prstGeom prst="roundRect">
            <a:avLst/>
          </a:prstGeom>
          <a:solidFill>
            <a:srgbClr val="22304E"/>
          </a:solidFill>
          <a:ln w="9525">
            <a:solidFill>
              <a:srgbClr val="3A4A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164592" tIns="164592" bIns="128016"/>
          <a:lstStyle/>
          <a:p>
            <a:pPr algn="ctr">
              <a:lnSpc>
                <a:spcPct val="110000"/>
              </a:lnSpc>
            </a:pPr>
            <a:r>
              <a:rPr sz="1500" b="1" i="0">
                <a:solidFill>
                  <a:srgbClr val="6FA0FF"/>
                </a:solidFill>
                <a:latin typeface="맑은 고딕"/>
                <a:ea typeface="맑은 고딕"/>
              </a:rPr>
              <a:t>2  </a:t>
            </a:r>
            <a:r>
              <a:rPr sz="1400" b="1" i="0">
                <a:solidFill>
                  <a:srgbClr val="FFFFFF"/>
                </a:solidFill>
                <a:latin typeface="맑은 고딕"/>
                <a:ea typeface="맑은 고딕"/>
              </a:rPr>
              <a:t>핵심 KPI 우선</a:t>
            </a:r>
          </a:p>
          <a:p>
            <a:pPr>
              <a:lnSpc>
                <a:spcPct val="125000"/>
              </a:lnSpc>
              <a:spcBef>
                <a:spcPts val="600"/>
              </a:spcBef>
            </a:pPr>
            <a:r>
              <a:rPr sz="1150" b="0" i="0">
                <a:solidFill>
                  <a:srgbClr val="9FB0CF"/>
                </a:solidFill>
                <a:latin typeface="맑은 고딕"/>
                <a:ea typeface="맑은 고딕"/>
              </a:rPr>
              <a:t>중요 지표를 상단·좌측에 크게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5577840"/>
            <a:ext cx="3383280" cy="1371600"/>
          </a:xfrm>
          <a:prstGeom prst="roundRect">
            <a:avLst/>
          </a:prstGeom>
          <a:solidFill>
            <a:srgbClr val="22304E"/>
          </a:solidFill>
          <a:ln w="9525">
            <a:solidFill>
              <a:srgbClr val="3A4A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164592" tIns="164592" bIns="128016"/>
          <a:lstStyle/>
          <a:p>
            <a:pPr algn="ctr">
              <a:lnSpc>
                <a:spcPct val="110000"/>
              </a:lnSpc>
            </a:pPr>
            <a:r>
              <a:rPr sz="1500" b="1" i="0">
                <a:solidFill>
                  <a:srgbClr val="6FA0FF"/>
                </a:solidFill>
                <a:latin typeface="맑은 고딕"/>
                <a:ea typeface="맑은 고딕"/>
              </a:rPr>
              <a:t>3  </a:t>
            </a:r>
            <a:r>
              <a:rPr sz="1400" b="1" i="0">
                <a:solidFill>
                  <a:srgbClr val="FFFFFF"/>
                </a:solidFill>
                <a:latin typeface="맑은 고딕"/>
                <a:ea typeface="맑은 고딕"/>
              </a:rPr>
              <a:t>시선 흐름</a:t>
            </a:r>
          </a:p>
          <a:p>
            <a:pPr>
              <a:lnSpc>
                <a:spcPct val="125000"/>
              </a:lnSpc>
              <a:spcBef>
                <a:spcPts val="600"/>
              </a:spcBef>
            </a:pPr>
            <a:r>
              <a:rPr sz="1150" b="0" i="0">
                <a:solidFill>
                  <a:srgbClr val="9FB0CF"/>
                </a:solidFill>
                <a:latin typeface="맑은 고딕"/>
                <a:ea typeface="맑은 고딕"/>
              </a:rPr>
              <a:t>눈은 F자/Z자 — 좌상→우상→하단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4572000" y="2560320"/>
          <a:ext cx="6766560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4937760"/>
              </a:tblGrid>
              <a:tr h="502920"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6FA0FF"/>
                          </a:solidFill>
                          <a:latin typeface="맑은 고딕"/>
                          <a:ea typeface="맑은 고딕"/>
                        </a:rPr>
                        <a:t>부서</a:t>
                      </a:r>
                    </a:p>
                  </a:txBody>
                  <a:tcPr marL="91440" marT="36576" marB="36576" anchor="ctr">
                    <a:solidFill>
                      <a:srgbClr val="14203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6FA0FF"/>
                          </a:solidFill>
                          <a:latin typeface="맑은 고딕"/>
                          <a:ea typeface="맑은 고딕"/>
                        </a:rPr>
                        <a:t>핵심 KPI</a:t>
                      </a:r>
                    </a:p>
                  </a:txBody>
                  <a:tcPr marL="91440" marT="36576" marB="36576" anchor="ctr">
                    <a:solidFill>
                      <a:srgbClr val="142036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30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영업</a:t>
                      </a:r>
                    </a:p>
                  </a:txBody>
                  <a:tcPr marL="91440" marT="27432" marB="27432"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300" b="0" i="0">
                          <a:solidFill>
                            <a:srgbClr val="9FB0CF"/>
                          </a:solidFill>
                          <a:latin typeface="맑은 고딕"/>
                          <a:ea typeface="맑은 고딕"/>
                        </a:rPr>
                        <a:t>월 매출액, 목표 달성률</a:t>
                      </a:r>
                    </a:p>
                  </a:txBody>
                  <a:tcPr marL="91440" marT="27432" marB="27432" anchor="ctr">
                    <a:solidFill>
                      <a:srgbClr val="1B2A4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30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R&amp;D</a:t>
                      </a:r>
                    </a:p>
                  </a:txBody>
                  <a:tcPr marL="91440" marT="27432" marB="27432" anchor="ctr">
                    <a:solidFill>
                      <a:srgbClr val="14203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300" b="0" i="0">
                          <a:solidFill>
                            <a:srgbClr val="9FB0CF"/>
                          </a:solidFill>
                          <a:latin typeface="맑은 고딕"/>
                          <a:ea typeface="맑은 고딕"/>
                        </a:rPr>
                        <a:t>프로젝트 진척률, 일정 준수율</a:t>
                      </a:r>
                    </a:p>
                  </a:txBody>
                  <a:tcPr marL="91440" marT="27432" marB="27432" anchor="ctr">
                    <a:solidFill>
                      <a:srgbClr val="142036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30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인사</a:t>
                      </a:r>
                    </a:p>
                  </a:txBody>
                  <a:tcPr marL="91440" marT="27432" marB="27432"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300" b="0" i="0">
                          <a:solidFill>
                            <a:srgbClr val="9FB0CF"/>
                          </a:solidFill>
                          <a:latin typeface="맑은 고딕"/>
                          <a:ea typeface="맑은 고딕"/>
                        </a:rPr>
                        <a:t>채용 충원율, 이직률</a:t>
                      </a:r>
                    </a:p>
                  </a:txBody>
                  <a:tcPr marL="91440" marT="27432" marB="27432" anchor="ctr">
                    <a:solidFill>
                      <a:srgbClr val="1B2A4A"/>
                    </a:solidFill>
                  </a:tcPr>
                </a:tc>
              </a:tr>
            </a:tbl>
          </a:graphicData>
        </a:graphic>
      </p:graphicFrame>
      <p:sp>
        <p:nvSpPr>
          <p:cNvPr id="11" name="Rectangle 10"/>
          <p:cNvSpPr/>
          <p:nvPr/>
        </p:nvSpPr>
        <p:spPr>
          <a:xfrm>
            <a:off x="4572000" y="4480560"/>
            <a:ext cx="54864" cy="1005840"/>
          </a:xfrm>
          <a:prstGeom prst="rect">
            <a:avLst/>
          </a:prstGeom>
          <a:solidFill>
            <a:srgbClr val="3D7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626864" y="4480560"/>
            <a:ext cx="6711696" cy="1005840"/>
          </a:xfrm>
          <a:prstGeom prst="roundRect">
            <a:avLst/>
          </a:prstGeom>
          <a:solidFill>
            <a:srgbClr val="2230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/>
          <a:lstStyle/>
          <a:p>
            <a:pPr algn="ctr">
              <a:lnSpc>
                <a:spcPct val="130000"/>
              </a:lnSpc>
            </a:pPr>
            <a:r>
              <a:rPr sz="1300" b="0" i="0">
                <a:solidFill>
                  <a:srgbClr val="EEF2FB"/>
                </a:solidFill>
                <a:latin typeface="맑은 고딕"/>
                <a:ea typeface="맑은 고딕"/>
              </a:rPr>
              <a:t>KPI는 ‘많이 보여주기’가 아니라 </a:t>
            </a:r>
            <a:r>
              <a:rPr sz="1300" b="1" i="0">
                <a:solidFill>
                  <a:srgbClr val="FFFFFF"/>
                </a:solidFill>
                <a:latin typeface="맑은 고딕"/>
                <a:ea typeface="맑은 고딕"/>
              </a:rPr>
              <a:t>‘골라 보여주기’</a:t>
            </a:r>
            <a:r>
              <a:rPr sz="1300" b="0" i="0">
                <a:solidFill>
                  <a:srgbClr val="EEF2FB"/>
                </a:solidFill>
                <a:latin typeface="맑은 고딕"/>
                <a:ea typeface="맑은 고딕"/>
              </a:rPr>
              <a:t>. 10개 넘으면 아무것도 강조 안 된 것.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6419088"/>
            <a:ext cx="2743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1" i="0">
                <a:solidFill>
                  <a:srgbClr val="EEF2FB"/>
                </a:solidFill>
                <a:latin typeface="맑은 고딕"/>
                <a:ea typeface="맑은 고딕"/>
              </a:rPr>
              <a:t>Data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1" i="0">
                <a:solidFill>
                  <a:srgbClr val="6FA0FF"/>
                </a:solidFill>
                <a:latin typeface="맑은 고딕"/>
                <a:ea typeface="맑은 고딕"/>
              </a:rPr>
              <a:t> Lab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0" y="6419088"/>
            <a:ext cx="1828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1200" b="0" i="0">
                <a:solidFill>
                  <a:srgbClr val="9FB0CF"/>
                </a:solidFill>
                <a:latin typeface="맑은 고딕"/>
                <a:ea typeface="맑은 고딕"/>
              </a:rPr>
              <a:t>22 / 28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0"/>
            <a:ext cx="12191695" cy="38100"/>
          </a:xfrm>
          <a:prstGeom prst="rect">
            <a:avLst/>
          </a:prstGeom>
          <a:solidFill>
            <a:srgbClr val="1420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0" y="0"/>
            <a:ext cx="9579188" cy="38100"/>
          </a:xfrm>
          <a:prstGeom prst="rect">
            <a:avLst/>
          </a:prstGeom>
          <a:solidFill>
            <a:srgbClr val="3D7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589520" y="-914400"/>
            <a:ext cx="5486400" cy="3657600"/>
          </a:xfrm>
          <a:prstGeom prst="rect">
            <a:avLst/>
          </a:prstGeom>
          <a:solidFill>
            <a:srgbClr val="243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50392" y="566928"/>
            <a:ext cx="1362456" cy="384048"/>
          </a:xfrm>
          <a:prstGeom prst="roundRect">
            <a:avLst/>
          </a:prstGeom>
          <a:solidFill>
            <a:srgbClr val="22304E"/>
          </a:solidFill>
          <a:ln w="9525">
            <a:solidFill>
              <a:srgbClr val="3A4A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 rIns="109728" tIns="18288" bIns="18288"/>
          <a:lstStyle/>
          <a:p>
            <a:pPr algn="ctr"/>
            <a:r>
              <a:rPr sz="1100" b="1" i="0">
                <a:solidFill>
                  <a:srgbClr val="6FA0FF"/>
                </a:solidFill>
                <a:latin typeface="맑은 고딕"/>
                <a:ea typeface="맑은 고딕"/>
              </a:rPr>
              <a:t>MODULE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078992"/>
            <a:ext cx="105156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3300" b="1" i="0">
                <a:solidFill>
                  <a:srgbClr val="FFFFFF"/>
                </a:solidFill>
                <a:latin typeface="맑은 고딕"/>
                <a:ea typeface="맑은 고딕"/>
              </a:rPr>
              <a:t>와이어프레임 설계 단계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0392" y="1938528"/>
            <a:ext cx="106070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500" b="0" i="0">
                <a:solidFill>
                  <a:srgbClr val="9FB0CF"/>
                </a:solidFill>
                <a:latin typeface="맑은 고딕"/>
                <a:ea typeface="맑은 고딕"/>
              </a:rPr>
              <a:t>셀에 그리기 전에 종이/슬라이드에 박스로 먼저</a:t>
            </a:r>
          </a:p>
        </p:txBody>
      </p:sp>
      <p:sp>
        <p:nvSpPr>
          <p:cNvPr id="7" name="Oval 6"/>
          <p:cNvSpPr/>
          <p:nvPr/>
        </p:nvSpPr>
        <p:spPr>
          <a:xfrm>
            <a:off x="868680" y="2514600"/>
            <a:ext cx="457200" cy="457200"/>
          </a:xfrm>
          <a:prstGeom prst="ellipse">
            <a:avLst/>
          </a:prstGeom>
          <a:solidFill>
            <a:srgbClr val="3D7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 i="0">
                <a:solidFill>
                  <a:srgbClr val="FFFFFF"/>
                </a:solidFill>
                <a:latin typeface="맑은 고딕"/>
                <a:ea typeface="맑은 고딕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08760" y="2496312"/>
            <a:ext cx="96012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600" b="1" i="0">
                <a:solidFill>
                  <a:srgbClr val="FFFFFF"/>
                </a:solidFill>
                <a:latin typeface="맑은 고딕"/>
                <a:ea typeface="맑은 고딕"/>
              </a:rPr>
              <a:t>목적 정의  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 b="0" i="0">
                <a:solidFill>
                  <a:srgbClr val="9FB0CF"/>
                </a:solidFill>
                <a:latin typeface="맑은 고딕"/>
                <a:ea typeface="맑은 고딕"/>
              </a:rPr>
              <a:t>— ‘누가, 무엇을, 왜 보는가’를 한 문장으로</a:t>
            </a:r>
          </a:p>
        </p:txBody>
      </p:sp>
      <p:sp>
        <p:nvSpPr>
          <p:cNvPr id="9" name="Oval 8"/>
          <p:cNvSpPr/>
          <p:nvPr/>
        </p:nvSpPr>
        <p:spPr>
          <a:xfrm>
            <a:off x="868680" y="3264408"/>
            <a:ext cx="457200" cy="457200"/>
          </a:xfrm>
          <a:prstGeom prst="ellipse">
            <a:avLst/>
          </a:prstGeom>
          <a:solidFill>
            <a:srgbClr val="3D7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 i="0">
                <a:solidFill>
                  <a:srgbClr val="FFFFFF"/>
                </a:solidFill>
                <a:latin typeface="맑은 고딕"/>
                <a:ea typeface="맑은 고딕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08760" y="3246120"/>
            <a:ext cx="96012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600" b="1" i="0">
                <a:solidFill>
                  <a:srgbClr val="FFFFFF"/>
                </a:solidFill>
                <a:latin typeface="맑은 고딕"/>
                <a:ea typeface="맑은 고딕"/>
              </a:rPr>
              <a:t>KPI 선정  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 b="0" i="0">
                <a:solidFill>
                  <a:srgbClr val="9FB0CF"/>
                </a:solidFill>
                <a:latin typeface="맑은 고딕"/>
                <a:ea typeface="맑은 고딕"/>
              </a:rPr>
              <a:t>— 핵심 3~5개로 압축 (많을수록 나쁨)</a:t>
            </a:r>
          </a:p>
        </p:txBody>
      </p:sp>
      <p:sp>
        <p:nvSpPr>
          <p:cNvPr id="11" name="Oval 10"/>
          <p:cNvSpPr/>
          <p:nvPr/>
        </p:nvSpPr>
        <p:spPr>
          <a:xfrm>
            <a:off x="868680" y="4014216"/>
            <a:ext cx="457200" cy="457200"/>
          </a:xfrm>
          <a:prstGeom prst="ellipse">
            <a:avLst/>
          </a:prstGeom>
          <a:solidFill>
            <a:srgbClr val="3D7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 i="0">
                <a:solidFill>
                  <a:srgbClr val="FFFFFF"/>
                </a:solidFill>
                <a:latin typeface="맑은 고딕"/>
                <a:ea typeface="맑은 고딕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08760" y="3995928"/>
            <a:ext cx="96012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600" b="1" i="0">
                <a:solidFill>
                  <a:srgbClr val="FFFFFF"/>
                </a:solidFill>
                <a:latin typeface="맑은 고딕"/>
                <a:ea typeface="맑은 고딕"/>
              </a:rPr>
              <a:t>영역 분할  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 b="0" i="0">
                <a:solidFill>
                  <a:srgbClr val="9FB0CF"/>
                </a:solidFill>
                <a:latin typeface="맑은 고딕"/>
                <a:ea typeface="맑은 고딕"/>
              </a:rPr>
              <a:t>— 상단 KPI 카드 / 중앙 추세 차트 / 하단 상세 표</a:t>
            </a:r>
          </a:p>
        </p:txBody>
      </p:sp>
      <p:sp>
        <p:nvSpPr>
          <p:cNvPr id="13" name="Oval 12"/>
          <p:cNvSpPr/>
          <p:nvPr/>
        </p:nvSpPr>
        <p:spPr>
          <a:xfrm>
            <a:off x="868680" y="4764024"/>
            <a:ext cx="457200" cy="457200"/>
          </a:xfrm>
          <a:prstGeom prst="ellipse">
            <a:avLst/>
          </a:prstGeom>
          <a:solidFill>
            <a:srgbClr val="3D7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 i="0">
                <a:solidFill>
                  <a:srgbClr val="FFFFFF"/>
                </a:solidFill>
                <a:latin typeface="맑은 고딕"/>
                <a:ea typeface="맑은 고딕"/>
              </a:rP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08760" y="4745736"/>
            <a:ext cx="96012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600" b="1" i="0">
                <a:solidFill>
                  <a:srgbClr val="FFFFFF"/>
                </a:solidFill>
                <a:latin typeface="맑은 고딕"/>
                <a:ea typeface="맑은 고딕"/>
              </a:rPr>
              <a:t>종이 스케치  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 b="0" i="0">
                <a:solidFill>
                  <a:srgbClr val="9FB0CF"/>
                </a:solidFill>
                <a:latin typeface="맑은 고딕"/>
                <a:ea typeface="맑은 고딕"/>
              </a:rPr>
              <a:t>— 박스 배치를 먼저 그려본다</a:t>
            </a:r>
          </a:p>
        </p:txBody>
      </p:sp>
      <p:sp>
        <p:nvSpPr>
          <p:cNvPr id="15" name="Oval 14"/>
          <p:cNvSpPr/>
          <p:nvPr/>
        </p:nvSpPr>
        <p:spPr>
          <a:xfrm>
            <a:off x="868680" y="5513832"/>
            <a:ext cx="457200" cy="457200"/>
          </a:xfrm>
          <a:prstGeom prst="ellipse">
            <a:avLst/>
          </a:prstGeom>
          <a:solidFill>
            <a:srgbClr val="3D7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 i="0">
                <a:solidFill>
                  <a:srgbClr val="FFFFFF"/>
                </a:solidFill>
                <a:latin typeface="맑은 고딕"/>
                <a:ea typeface="맑은 고딕"/>
              </a:rPr>
              <a:t>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08760" y="5495544"/>
            <a:ext cx="96012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600" b="1" i="0">
                <a:solidFill>
                  <a:srgbClr val="FFFFFF"/>
                </a:solidFill>
                <a:latin typeface="맑은 고딕"/>
                <a:ea typeface="맑은 고딕"/>
              </a:rPr>
              <a:t>그리드 설정  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 b="0" i="0">
                <a:solidFill>
                  <a:srgbClr val="9FB0CF"/>
                </a:solidFill>
                <a:latin typeface="맑은 고딕"/>
                <a:ea typeface="맑은 고딕"/>
              </a:rPr>
              <a:t>— 눈금선 끄고 셀 너비 정렬해 격자 레이아웃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6419088"/>
            <a:ext cx="2743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1" i="0">
                <a:solidFill>
                  <a:srgbClr val="EEF2FB"/>
                </a:solidFill>
                <a:latin typeface="맑은 고딕"/>
                <a:ea typeface="맑은 고딕"/>
              </a:rPr>
              <a:t>Data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1" i="0">
                <a:solidFill>
                  <a:srgbClr val="6FA0FF"/>
                </a:solidFill>
                <a:latin typeface="맑은 고딕"/>
                <a:ea typeface="맑은 고딕"/>
              </a:rPr>
              <a:t> Lab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0" y="6419088"/>
            <a:ext cx="1828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1200" b="0" i="0">
                <a:solidFill>
                  <a:srgbClr val="9FB0CF"/>
                </a:solidFill>
                <a:latin typeface="맑은 고딕"/>
                <a:ea typeface="맑은 고딕"/>
              </a:rPr>
              <a:t>23 / 28</a:t>
            </a:r>
          </a:p>
        </p:txBody>
      </p:sp>
      <p:sp>
        <p:nvSpPr>
          <p:cNvPr id="19" name="Rectangle 18"/>
          <p:cNvSpPr/>
          <p:nvPr/>
        </p:nvSpPr>
        <p:spPr>
          <a:xfrm>
            <a:off x="0" y="0"/>
            <a:ext cx="12191695" cy="38100"/>
          </a:xfrm>
          <a:prstGeom prst="rect">
            <a:avLst/>
          </a:prstGeom>
          <a:solidFill>
            <a:srgbClr val="1420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0" y="0"/>
            <a:ext cx="10014606" cy="38100"/>
          </a:xfrm>
          <a:prstGeom prst="rect">
            <a:avLst/>
          </a:prstGeom>
          <a:solidFill>
            <a:srgbClr val="3D7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589520" y="-914400"/>
            <a:ext cx="5486400" cy="3657600"/>
          </a:xfrm>
          <a:prstGeom prst="rect">
            <a:avLst/>
          </a:prstGeom>
          <a:solidFill>
            <a:srgbClr val="243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50392" y="566928"/>
            <a:ext cx="1842516" cy="384048"/>
          </a:xfrm>
          <a:prstGeom prst="roundRect">
            <a:avLst/>
          </a:prstGeom>
          <a:solidFill>
            <a:srgbClr val="22304E"/>
          </a:solidFill>
          <a:ln w="9525">
            <a:solidFill>
              <a:srgbClr val="3A4A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 rIns="109728" tIns="18288" bIns="18288"/>
          <a:lstStyle/>
          <a:p>
            <a:pPr algn="ctr"/>
            <a:r>
              <a:rPr sz="1100" b="1" i="0">
                <a:solidFill>
                  <a:srgbClr val="6FA0FF"/>
                </a:solidFill>
                <a:latin typeface="맑은 고딕"/>
                <a:ea typeface="맑은 고딕"/>
              </a:rPr>
              <a:t>MODULE 3 · 실습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097280"/>
            <a:ext cx="658368" cy="365760"/>
          </a:xfrm>
          <a:prstGeom prst="roundRect">
            <a:avLst/>
          </a:prstGeom>
          <a:solidFill>
            <a:srgbClr val="3D7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맑은 고딕"/>
                <a:ea typeface="맑은 고딕"/>
              </a:rPr>
              <a:t>LAB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00200" y="1078992"/>
            <a:ext cx="10424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800" b="1" i="0">
                <a:solidFill>
                  <a:srgbClr val="FFFFFF"/>
                </a:solidFill>
                <a:latin typeface="맑은 고딕"/>
                <a:ea typeface="맑은 고딕"/>
              </a:rPr>
              <a:t>피벗차트 · 슬라이서 · 타임라인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" y="1965960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500" b="0" i="0">
                <a:solidFill>
                  <a:srgbClr val="9FB0CF"/>
                </a:solidFill>
                <a:latin typeface="맑은 고딕"/>
                <a:ea typeface="맑은 고딕"/>
              </a:rPr>
              <a:t>피벗테이블 + 슬라이서를 연결하면 클릭만으로 여러 차트가 동시에 바뀐다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2697480"/>
            <a:ext cx="5212080" cy="1737360"/>
          </a:xfrm>
          <a:prstGeom prst="roundRect">
            <a:avLst/>
          </a:prstGeom>
          <a:solidFill>
            <a:srgbClr val="22304E"/>
          </a:solidFill>
          <a:ln w="9525">
            <a:solidFill>
              <a:srgbClr val="3A4A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164592" tIns="164592" bIns="128016"/>
          <a:lstStyle/>
          <a:p>
            <a:pPr algn="ctr">
              <a:lnSpc>
                <a:spcPct val="110000"/>
              </a:lnSpc>
            </a:pPr>
            <a:r>
              <a:rPr sz="1400" b="1" i="0">
                <a:solidFill>
                  <a:srgbClr val="FFFFFF"/>
                </a:solidFill>
                <a:latin typeface="맑은 고딕"/>
                <a:ea typeface="맑은 고딕"/>
              </a:rPr>
              <a:t>🔗 슬라이서 (Slicer)</a:t>
            </a:r>
          </a:p>
          <a:p>
            <a:pPr>
              <a:lnSpc>
                <a:spcPct val="125000"/>
              </a:lnSpc>
              <a:spcBef>
                <a:spcPts val="600"/>
              </a:spcBef>
            </a:pPr>
            <a:r>
              <a:rPr sz="1150" b="0" i="0">
                <a:solidFill>
                  <a:srgbClr val="9FB0CF"/>
                </a:solidFill>
                <a:latin typeface="맑은 고딕"/>
                <a:ea typeface="맑은 고딕"/>
              </a:rPr>
              <a:t>범주(지역·채널·부서) 버튼 필터. 여러 피벗에 ‘보고서 연결’하면 한 클릭으로 전체 갱신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2697480"/>
            <a:ext cx="5166360" cy="1737360"/>
          </a:xfrm>
          <a:prstGeom prst="roundRect">
            <a:avLst/>
          </a:prstGeom>
          <a:solidFill>
            <a:srgbClr val="22304E"/>
          </a:solidFill>
          <a:ln w="9525">
            <a:solidFill>
              <a:srgbClr val="3A4A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164592" tIns="164592" bIns="128016"/>
          <a:lstStyle/>
          <a:p>
            <a:pPr algn="ctr">
              <a:lnSpc>
                <a:spcPct val="110000"/>
              </a:lnSpc>
            </a:pPr>
            <a:r>
              <a:rPr sz="1400" b="1" i="0">
                <a:solidFill>
                  <a:srgbClr val="FFFFFF"/>
                </a:solidFill>
                <a:latin typeface="맑은 고딕"/>
                <a:ea typeface="맑은 고딕"/>
              </a:rPr>
              <a:t>📅 시간 표시 막대 (Timeline)</a:t>
            </a:r>
          </a:p>
          <a:p>
            <a:pPr>
              <a:lnSpc>
                <a:spcPct val="125000"/>
              </a:lnSpc>
              <a:spcBef>
                <a:spcPts val="600"/>
              </a:spcBef>
            </a:pPr>
            <a:r>
              <a:rPr sz="1150" b="0" i="0">
                <a:solidFill>
                  <a:srgbClr val="9FB0CF"/>
                </a:solidFill>
                <a:latin typeface="맑은 고딕"/>
                <a:ea typeface="맑은 고딕"/>
              </a:rPr>
              <a:t>날짜 전용 필터 — 연/분기/월/일 단위로 기간을 슬라이드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4754880"/>
            <a:ext cx="54864" cy="868680"/>
          </a:xfrm>
          <a:prstGeom prst="rect">
            <a:avLst/>
          </a:prstGeom>
          <a:solidFill>
            <a:srgbClr val="3D7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77824" y="4754880"/>
            <a:ext cx="10506456" cy="868680"/>
          </a:xfrm>
          <a:prstGeom prst="roundRect">
            <a:avLst/>
          </a:prstGeom>
          <a:solidFill>
            <a:srgbClr val="2230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/>
          <a:lstStyle/>
          <a:p>
            <a:pPr algn="ctr">
              <a:lnSpc>
                <a:spcPct val="130000"/>
              </a:lnSpc>
            </a:pPr>
            <a:r>
              <a:rPr sz="1300" b="1" i="0">
                <a:solidFill>
                  <a:srgbClr val="FFFFFF"/>
                </a:solidFill>
                <a:latin typeface="맑은 고딕"/>
                <a:ea typeface="맑은 고딕"/>
              </a:rPr>
              <a:t>핵심 — </a:t>
            </a:r>
            <a:r>
              <a:rPr sz="1300" b="0" i="0">
                <a:solidFill>
                  <a:srgbClr val="EEF2FB"/>
                </a:solidFill>
                <a:latin typeface="맑은 고딕"/>
                <a:ea typeface="맑은 고딕"/>
              </a:rPr>
              <a:t>슬라이서/타임라인을 모든 피벗 요소에 연결하면 클릭 한 번으로 대시보드 전체를 탐색하는 인터랙티브 화면이 됩니다.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6419088"/>
            <a:ext cx="2743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1" i="0">
                <a:solidFill>
                  <a:srgbClr val="EEF2FB"/>
                </a:solidFill>
                <a:latin typeface="맑은 고딕"/>
                <a:ea typeface="맑은 고딕"/>
              </a:rPr>
              <a:t>Data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1" i="0">
                <a:solidFill>
                  <a:srgbClr val="6FA0FF"/>
                </a:solidFill>
                <a:latin typeface="맑은 고딕"/>
                <a:ea typeface="맑은 고딕"/>
              </a:rPr>
              <a:t> Lab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0" y="6419088"/>
            <a:ext cx="1828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1200" b="0" i="0">
                <a:solidFill>
                  <a:srgbClr val="9FB0CF"/>
                </a:solidFill>
                <a:latin typeface="맑은 고딕"/>
                <a:ea typeface="맑은 고딕"/>
              </a:rPr>
              <a:t>24 / 28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0"/>
            <a:ext cx="12191695" cy="38100"/>
          </a:xfrm>
          <a:prstGeom prst="rect">
            <a:avLst/>
          </a:prstGeom>
          <a:solidFill>
            <a:srgbClr val="1420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0" y="0"/>
            <a:ext cx="10450024" cy="38100"/>
          </a:xfrm>
          <a:prstGeom prst="rect">
            <a:avLst/>
          </a:prstGeom>
          <a:solidFill>
            <a:srgbClr val="3D7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589520" y="-914400"/>
            <a:ext cx="5486400" cy="3657600"/>
          </a:xfrm>
          <a:prstGeom prst="rect">
            <a:avLst/>
          </a:prstGeom>
          <a:solidFill>
            <a:srgbClr val="243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50392" y="566928"/>
            <a:ext cx="1842516" cy="384048"/>
          </a:xfrm>
          <a:prstGeom prst="roundRect">
            <a:avLst/>
          </a:prstGeom>
          <a:solidFill>
            <a:srgbClr val="22304E"/>
          </a:solidFill>
          <a:ln w="9525">
            <a:solidFill>
              <a:srgbClr val="3A4A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 rIns="109728" tIns="18288" bIns="18288"/>
          <a:lstStyle/>
          <a:p>
            <a:pPr algn="ctr"/>
            <a:r>
              <a:rPr sz="1100" b="1" i="0">
                <a:solidFill>
                  <a:srgbClr val="6FA0FF"/>
                </a:solidFill>
                <a:latin typeface="맑은 고딕"/>
                <a:ea typeface="맑은 고딕"/>
              </a:rPr>
              <a:t>MODULE 3 · 실습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097280"/>
            <a:ext cx="658368" cy="365760"/>
          </a:xfrm>
          <a:prstGeom prst="roundRect">
            <a:avLst/>
          </a:prstGeom>
          <a:solidFill>
            <a:srgbClr val="3D7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맑은 고딕"/>
                <a:ea typeface="맑은 고딕"/>
              </a:rPr>
              <a:t>LAB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00200" y="1078992"/>
            <a:ext cx="102412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3000" b="1" i="0">
                <a:solidFill>
                  <a:srgbClr val="FFFFFF"/>
                </a:solidFill>
                <a:latin typeface="맑은 고딕"/>
                <a:ea typeface="맑은 고딕"/>
              </a:rPr>
              <a:t>자동 갱신 리포트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" y="1965960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500" b="0" i="0">
                <a:solidFill>
                  <a:srgbClr val="9FB0CF"/>
                </a:solidFill>
                <a:latin typeface="맑은 고딕"/>
                <a:ea typeface="맑은 고딕"/>
              </a:rPr>
              <a:t>만들고 계속 쓰는 템플릿 — 수작업 업데이트는 곧 방치로 이어진다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697480"/>
            <a:ext cx="54864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200" b="1" i="0">
                <a:solidFill>
                  <a:srgbClr val="3D7DFF"/>
                </a:solidFill>
                <a:latin typeface="맑은 고딕"/>
                <a:ea typeface="맑은 고딕"/>
              </a:rPr>
              <a:t>◆ </a:t>
            </a:r>
            <a:r>
              <a:rPr sz="1400" b="1" i="0">
                <a:solidFill>
                  <a:srgbClr val="EEF2FB"/>
                </a:solidFill>
                <a:latin typeface="맑은 고딕"/>
                <a:ea typeface="맑은 고딕"/>
              </a:rPr>
              <a:t>표(Table)로 변환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100" b="0" i="0">
                <a:solidFill>
                  <a:srgbClr val="9FB0CF"/>
                </a:solidFill>
                <a:latin typeface="맑은 고딕"/>
                <a:ea typeface="맑은 고딕"/>
              </a:rPr>
              <a:t>    Ctrl+T — 데이터가 늘어도 범위 자동 확장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200" b="1" i="0">
                <a:solidFill>
                  <a:srgbClr val="3D7DFF"/>
                </a:solidFill>
                <a:latin typeface="맑은 고딕"/>
                <a:ea typeface="맑은 고딕"/>
              </a:rPr>
              <a:t>◆ </a:t>
            </a:r>
            <a:r>
              <a:rPr sz="1400" b="1" i="0">
                <a:solidFill>
                  <a:srgbClr val="EEF2FB"/>
                </a:solidFill>
                <a:latin typeface="맑은 고딕"/>
                <a:ea typeface="맑은 고딕"/>
              </a:rPr>
              <a:t>모두 새로 고침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100" b="0" i="0">
                <a:solidFill>
                  <a:srgbClr val="9FB0CF"/>
                </a:solidFill>
                <a:latin typeface="맑은 고딕"/>
                <a:ea typeface="맑은 고딕"/>
              </a:rPr>
              <a:t>    원본만 갱신하면 피벗·차트 한 번에 업데이트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200" b="1" i="0">
                <a:solidFill>
                  <a:srgbClr val="3D7DFF"/>
                </a:solidFill>
                <a:latin typeface="맑은 고딕"/>
                <a:ea typeface="맑은 고딕"/>
              </a:rPr>
              <a:t>◆ </a:t>
            </a:r>
            <a:r>
              <a:rPr sz="1400" b="1" i="0">
                <a:solidFill>
                  <a:srgbClr val="EEF2FB"/>
                </a:solidFill>
                <a:latin typeface="맑은 고딕"/>
                <a:ea typeface="맑은 고딕"/>
              </a:rPr>
              <a:t>GETPIVOTDATA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100" b="0" i="0">
                <a:solidFill>
                  <a:srgbClr val="9FB0CF"/>
                </a:solidFill>
                <a:latin typeface="맑은 고딕"/>
                <a:ea typeface="맑은 고딕"/>
              </a:rPr>
              <a:t>    피벗 값을 KPI 카드로 안전하게 끌어오기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0" y="2697480"/>
            <a:ext cx="54864" cy="2011680"/>
          </a:xfrm>
          <a:prstGeom prst="rect">
            <a:avLst/>
          </a:prstGeom>
          <a:solidFill>
            <a:srgbClr val="3D7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455664" y="2697480"/>
            <a:ext cx="4882896" cy="2011680"/>
          </a:xfrm>
          <a:prstGeom prst="roundRect">
            <a:avLst/>
          </a:prstGeom>
          <a:solidFill>
            <a:srgbClr val="2230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/>
          <a:lstStyle/>
          <a:p>
            <a:pPr algn="ctr">
              <a:lnSpc>
                <a:spcPct val="130000"/>
              </a:lnSpc>
            </a:pPr>
            <a:r>
              <a:rPr sz="1300" b="0" i="0">
                <a:solidFill>
                  <a:srgbClr val="EEF2FB"/>
                </a:solidFill>
                <a:latin typeface="맑은 고딕"/>
                <a:ea typeface="맑은 고딕"/>
              </a:rPr>
              <a:t>원본 갱신이 </a:t>
            </a:r>
            <a:r>
              <a:rPr sz="1300" b="1" i="0">
                <a:solidFill>
                  <a:srgbClr val="FFFFFF"/>
                </a:solidFill>
                <a:latin typeface="맑은 고딕"/>
                <a:ea typeface="맑은 고딕"/>
              </a:rPr>
              <a:t>‘모두 새로 고침’ 한 번</a:t>
            </a:r>
            <a:r>
              <a:rPr sz="1300" b="0" i="0">
                <a:solidFill>
                  <a:srgbClr val="EEF2FB"/>
                </a:solidFill>
                <a:latin typeface="맑은 고딕"/>
                <a:ea typeface="맑은 고딕"/>
              </a:rPr>
              <a:t>으로 반영되도록 처음부터 설계하면, 매달 손대지 않아도 살아있는 리포트가 됩니다.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6419088"/>
            <a:ext cx="2743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1" i="0">
                <a:solidFill>
                  <a:srgbClr val="EEF2FB"/>
                </a:solidFill>
                <a:latin typeface="맑은 고딕"/>
                <a:ea typeface="맑은 고딕"/>
              </a:rPr>
              <a:t>Data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1" i="0">
                <a:solidFill>
                  <a:srgbClr val="6FA0FF"/>
                </a:solidFill>
                <a:latin typeface="맑은 고딕"/>
                <a:ea typeface="맑은 고딕"/>
              </a:rPr>
              <a:t> Lab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0" y="6419088"/>
            <a:ext cx="1828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1200" b="0" i="0">
                <a:solidFill>
                  <a:srgbClr val="9FB0CF"/>
                </a:solidFill>
                <a:latin typeface="맑은 고딕"/>
                <a:ea typeface="맑은 고딕"/>
              </a:rPr>
              <a:t>25 / 28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0"/>
            <a:ext cx="12191695" cy="38100"/>
          </a:xfrm>
          <a:prstGeom prst="rect">
            <a:avLst/>
          </a:prstGeom>
          <a:solidFill>
            <a:srgbClr val="1420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0" y="0"/>
            <a:ext cx="10885441" cy="38100"/>
          </a:xfrm>
          <a:prstGeom prst="rect">
            <a:avLst/>
          </a:prstGeom>
          <a:solidFill>
            <a:srgbClr val="3D7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589520" y="-914400"/>
            <a:ext cx="5486400" cy="3657600"/>
          </a:xfrm>
          <a:prstGeom prst="rect">
            <a:avLst/>
          </a:prstGeom>
          <a:solidFill>
            <a:srgbClr val="243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50392" y="566928"/>
            <a:ext cx="1842516" cy="384048"/>
          </a:xfrm>
          <a:prstGeom prst="roundRect">
            <a:avLst/>
          </a:prstGeom>
          <a:solidFill>
            <a:srgbClr val="22304E"/>
          </a:solidFill>
          <a:ln w="9525">
            <a:solidFill>
              <a:srgbClr val="3A4A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 rIns="109728" tIns="18288" bIns="18288"/>
          <a:lstStyle/>
          <a:p>
            <a:pPr algn="ctr"/>
            <a:r>
              <a:rPr sz="1100" b="1" i="0">
                <a:solidFill>
                  <a:srgbClr val="6FA0FF"/>
                </a:solidFill>
                <a:latin typeface="맑은 고딕"/>
                <a:ea typeface="맑은 고딕"/>
              </a:rPr>
              <a:t>MODULE 3 · 종합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097280"/>
            <a:ext cx="658368" cy="365760"/>
          </a:xfrm>
          <a:prstGeom prst="roundRect">
            <a:avLst/>
          </a:prstGeom>
          <a:solidFill>
            <a:srgbClr val="3D7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맑은 고딕"/>
                <a:ea typeface="맑은 고딕"/>
              </a:rPr>
              <a:t>LAB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00200" y="1078992"/>
            <a:ext cx="10424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900" b="1" i="0">
                <a:solidFill>
                  <a:srgbClr val="FFFFFF"/>
                </a:solidFill>
                <a:latin typeface="맑은 고딕"/>
                <a:ea typeface="맑은 고딕"/>
              </a:rPr>
              <a:t>부서 KPI 대시보드 점검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" y="1965960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500" b="0" i="0">
                <a:solidFill>
                  <a:srgbClr val="9FB0CF"/>
                </a:solidFill>
                <a:latin typeface="맑은 고딕"/>
                <a:ea typeface="맑은 고딕"/>
              </a:rPr>
              <a:t>인-셀 시각화 · 기획 · 인터랙션 · 자동화를 한 화면에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697480"/>
            <a:ext cx="521208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200" b="1" i="0">
                <a:solidFill>
                  <a:srgbClr val="3D7DFF"/>
                </a:solidFill>
                <a:latin typeface="맑은 고딕"/>
                <a:ea typeface="맑은 고딕"/>
              </a:rPr>
              <a:t>◆ </a:t>
            </a:r>
            <a:r>
              <a:rPr sz="1400" b="1" i="0">
                <a:solidFill>
                  <a:srgbClr val="EEF2FB"/>
                </a:solidFill>
                <a:latin typeface="맑은 고딕"/>
                <a:ea typeface="맑은 고딕"/>
              </a:rPr>
              <a:t>핵심 KPI가 상단·좌측에 우선 배치?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200" b="1" i="0">
                <a:solidFill>
                  <a:srgbClr val="3D7DFF"/>
                </a:solidFill>
                <a:latin typeface="맑은 고딕"/>
                <a:ea typeface="맑은 고딕"/>
              </a:rPr>
              <a:t>◆ </a:t>
            </a:r>
            <a:r>
              <a:rPr sz="1400" b="1" i="0">
                <a:solidFill>
                  <a:srgbClr val="EEF2FB"/>
                </a:solidFill>
                <a:latin typeface="맑은 고딕"/>
                <a:ea typeface="맑은 고딕"/>
              </a:rPr>
              <a:t>스크롤 없이 한 화면에 들어오는가?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200" b="1" i="0">
                <a:solidFill>
                  <a:srgbClr val="3D7DFF"/>
                </a:solidFill>
                <a:latin typeface="맑은 고딕"/>
                <a:ea typeface="맑은 고딕"/>
              </a:rPr>
              <a:t>◆ </a:t>
            </a:r>
            <a:r>
              <a:rPr sz="1400" b="1" i="0">
                <a:solidFill>
                  <a:srgbClr val="EEF2FB"/>
                </a:solidFill>
                <a:latin typeface="맑은 고딕"/>
                <a:ea typeface="맑은 고딕"/>
              </a:rPr>
              <a:t>슬라이서/타임라인이 모든 요소에 연결?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0" y="2697480"/>
            <a:ext cx="521208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200" b="1" i="0">
                <a:solidFill>
                  <a:srgbClr val="3D7DFF"/>
                </a:solidFill>
                <a:latin typeface="맑은 고딕"/>
                <a:ea typeface="맑은 고딕"/>
              </a:rPr>
              <a:t>◆ </a:t>
            </a:r>
            <a:r>
              <a:rPr sz="1400" b="1" i="0">
                <a:solidFill>
                  <a:srgbClr val="EEF2FB"/>
                </a:solidFill>
                <a:latin typeface="맑은 고딕"/>
                <a:ea typeface="맑은 고딕"/>
              </a:rPr>
              <a:t>원본 갱신이 ‘모두 새로 고침’만으로 반영?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200" b="1" i="0">
                <a:solidFill>
                  <a:srgbClr val="3D7DFF"/>
                </a:solidFill>
                <a:latin typeface="맑은 고딕"/>
                <a:ea typeface="맑은 고딕"/>
              </a:rPr>
              <a:t>◆ </a:t>
            </a:r>
            <a:r>
              <a:rPr sz="1400" b="1" i="0">
                <a:solidFill>
                  <a:srgbClr val="EEF2FB"/>
                </a:solidFill>
                <a:latin typeface="맑은 고딕"/>
                <a:ea typeface="맑은 고딕"/>
              </a:rPr>
              <a:t>색·아이콘이 절제되어 강조가 분명?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200" b="1" i="0">
                <a:solidFill>
                  <a:srgbClr val="3D7DFF"/>
                </a:solidFill>
                <a:latin typeface="맑은 고딕"/>
                <a:ea typeface="맑은 고딕"/>
              </a:rPr>
              <a:t>◆ </a:t>
            </a:r>
            <a:r>
              <a:rPr sz="1400" b="1" i="0">
                <a:solidFill>
                  <a:srgbClr val="EEF2FB"/>
                </a:solidFill>
                <a:latin typeface="맑은 고딕"/>
                <a:ea typeface="맑은 고딕"/>
              </a:rPr>
              <a:t>제목·기준 기간·갱신일자가 표시?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6419088"/>
            <a:ext cx="2743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1" i="0">
                <a:solidFill>
                  <a:srgbClr val="EEF2FB"/>
                </a:solidFill>
                <a:latin typeface="맑은 고딕"/>
                <a:ea typeface="맑은 고딕"/>
              </a:rPr>
              <a:t>Data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1" i="0">
                <a:solidFill>
                  <a:srgbClr val="6FA0FF"/>
                </a:solidFill>
                <a:latin typeface="맑은 고딕"/>
                <a:ea typeface="맑은 고딕"/>
              </a:rPr>
              <a:t> Lab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0" y="6419088"/>
            <a:ext cx="1828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1200" b="0" i="0">
                <a:solidFill>
                  <a:srgbClr val="9FB0CF"/>
                </a:solidFill>
                <a:latin typeface="맑은 고딕"/>
                <a:ea typeface="맑은 고딕"/>
              </a:rPr>
              <a:t>26 / 28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0"/>
            <a:ext cx="12191695" cy="38100"/>
          </a:xfrm>
          <a:prstGeom prst="rect">
            <a:avLst/>
          </a:prstGeom>
          <a:solidFill>
            <a:srgbClr val="1420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0" y="0"/>
            <a:ext cx="11320859" cy="38100"/>
          </a:xfrm>
          <a:prstGeom prst="rect">
            <a:avLst/>
          </a:prstGeom>
          <a:solidFill>
            <a:srgbClr val="3D7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589520" y="-914400"/>
            <a:ext cx="5486400" cy="3657600"/>
          </a:xfrm>
          <a:prstGeom prst="rect">
            <a:avLst/>
          </a:prstGeom>
          <a:solidFill>
            <a:srgbClr val="243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50392" y="566928"/>
            <a:ext cx="1746504" cy="384048"/>
          </a:xfrm>
          <a:prstGeom prst="roundRect">
            <a:avLst/>
          </a:prstGeom>
          <a:solidFill>
            <a:srgbClr val="22304E"/>
          </a:solidFill>
          <a:ln w="9525">
            <a:solidFill>
              <a:srgbClr val="3A4A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 rIns="109728" tIns="18288" bIns="18288"/>
          <a:lstStyle/>
          <a:p>
            <a:pPr algn="ctr"/>
            <a:r>
              <a:rPr sz="1100" b="1" i="0">
                <a:solidFill>
                  <a:srgbClr val="6FA0FF"/>
                </a:solidFill>
                <a:latin typeface="맑은 고딕"/>
                <a:ea typeface="맑은 고딕"/>
              </a:rPr>
              <a:t>COURSE RECAP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078992"/>
            <a:ext cx="105156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3300" b="1" i="0">
                <a:solidFill>
                  <a:srgbClr val="FFFFFF"/>
                </a:solidFill>
                <a:latin typeface="맑은 고딕"/>
                <a:ea typeface="맑은 고딕"/>
              </a:rPr>
              <a:t>전체 과정 회고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0392" y="1938528"/>
            <a:ext cx="106070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500" b="0" i="0">
                <a:solidFill>
                  <a:srgbClr val="9FB0CF"/>
                </a:solidFill>
                <a:latin typeface="맑은 고딕"/>
                <a:ea typeface="맑은 고딕"/>
              </a:rPr>
              <a:t>데이터를 다루는 세 단계를 차례로 익혔습니다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822960" y="2468880"/>
          <a:ext cx="1051560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400"/>
                <a:gridCol w="3657600"/>
                <a:gridCol w="5943600"/>
              </a:tblGrid>
              <a:tr h="548640"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6FA0FF"/>
                          </a:solidFill>
                          <a:latin typeface="맑은 고딕"/>
                          <a:ea typeface="맑은 고딕"/>
                        </a:rPr>
                        <a:t>모듈</a:t>
                      </a:r>
                    </a:p>
                  </a:txBody>
                  <a:tcPr marL="91440" marT="36576" marB="36576" anchor="ctr">
                    <a:solidFill>
                      <a:srgbClr val="14203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6FA0FF"/>
                          </a:solidFill>
                          <a:latin typeface="맑은 고딕"/>
                          <a:ea typeface="맑은 고딕"/>
                        </a:rPr>
                        <a:t>주제</a:t>
                      </a:r>
                    </a:p>
                  </a:txBody>
                  <a:tcPr marL="91440" marT="36576" marB="36576" anchor="ctr">
                    <a:solidFill>
                      <a:srgbClr val="14203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6FA0FF"/>
                          </a:solidFill>
                          <a:latin typeface="맑은 고딕"/>
                          <a:ea typeface="맑은 고딕"/>
                        </a:rPr>
                        <a:t>핵심 역량</a:t>
                      </a:r>
                    </a:p>
                  </a:txBody>
                  <a:tcPr marL="91440" marT="36576" marB="36576" anchor="ctr">
                    <a:solidFill>
                      <a:srgbClr val="142036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30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1</a:t>
                      </a:r>
                    </a:p>
                  </a:txBody>
                  <a:tcPr marL="91440" marT="27432" marB="27432"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300" b="0" i="0">
                          <a:solidFill>
                            <a:srgbClr val="9FB0CF"/>
                          </a:solidFill>
                          <a:latin typeface="맑은 고딕"/>
                          <a:ea typeface="맑은 고딕"/>
                        </a:rPr>
                        <a:t>탐색적 데이터분석 (EDA)</a:t>
                      </a:r>
                    </a:p>
                  </a:txBody>
                  <a:tcPr marL="91440" marT="27432" marB="27432"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300" b="0" i="0">
                          <a:solidFill>
                            <a:srgbClr val="9FB0CF"/>
                          </a:solidFill>
                          <a:latin typeface="맑은 고딕"/>
                          <a:ea typeface="맑은 고딕"/>
                        </a:rPr>
                        <a:t>데이터 정제 · 구조 파악 · 요약통계</a:t>
                      </a:r>
                    </a:p>
                  </a:txBody>
                  <a:tcPr marL="91440" marT="27432" marB="27432" anchor="ctr">
                    <a:solidFill>
                      <a:srgbClr val="1B2A4A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30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2</a:t>
                      </a:r>
                    </a:p>
                  </a:txBody>
                  <a:tcPr marL="91440" marT="27432" marB="27432" anchor="ctr">
                    <a:solidFill>
                      <a:srgbClr val="14203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300" b="0" i="0">
                          <a:solidFill>
                            <a:srgbClr val="9FB0CF"/>
                          </a:solidFill>
                          <a:latin typeface="맑은 고딕"/>
                          <a:ea typeface="맑은 고딕"/>
                        </a:rPr>
                        <a:t>시각화</a:t>
                      </a:r>
                    </a:p>
                  </a:txBody>
                  <a:tcPr marL="91440" marT="27432" marB="27432" anchor="ctr">
                    <a:solidFill>
                      <a:srgbClr val="14203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300" b="0" i="0">
                          <a:solidFill>
                            <a:srgbClr val="9FB0CF"/>
                          </a:solidFill>
                          <a:latin typeface="맑은 고딕"/>
                          <a:ea typeface="맑은 고딕"/>
                        </a:rPr>
                        <a:t>목적에 맞는 차트 선택과 정직한 표현</a:t>
                      </a:r>
                    </a:p>
                  </a:txBody>
                  <a:tcPr marL="91440" marT="27432" marB="27432" anchor="ctr">
                    <a:solidFill>
                      <a:srgbClr val="142036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30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3</a:t>
                      </a:r>
                    </a:p>
                  </a:txBody>
                  <a:tcPr marL="91440" marT="27432" marB="27432"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300" b="0" i="0">
                          <a:solidFill>
                            <a:srgbClr val="9FB0CF"/>
                          </a:solidFill>
                          <a:latin typeface="맑은 고딕"/>
                          <a:ea typeface="맑은 고딕"/>
                        </a:rPr>
                        <a:t>대시보드</a:t>
                      </a:r>
                    </a:p>
                  </a:txBody>
                  <a:tcPr marL="91440" marT="27432" marB="27432"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300" b="0" i="0">
                          <a:solidFill>
                            <a:srgbClr val="9FB0CF"/>
                          </a:solidFill>
                          <a:latin typeface="맑은 고딕"/>
                          <a:ea typeface="맑은 고딕"/>
                        </a:rPr>
                        <a:t>KPI 종합 · 인터랙션 · 자동화</a:t>
                      </a:r>
                    </a:p>
                  </a:txBody>
                  <a:tcPr marL="91440" marT="27432" marB="27432" anchor="ctr">
                    <a:solidFill>
                      <a:srgbClr val="1B2A4A"/>
                    </a:solidFill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822960" y="4754880"/>
            <a:ext cx="54864" cy="868680"/>
          </a:xfrm>
          <a:prstGeom prst="rect">
            <a:avLst/>
          </a:prstGeom>
          <a:solidFill>
            <a:srgbClr val="3D7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77824" y="4754880"/>
            <a:ext cx="10506456" cy="868680"/>
          </a:xfrm>
          <a:prstGeom prst="roundRect">
            <a:avLst/>
          </a:prstGeom>
          <a:solidFill>
            <a:srgbClr val="2230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/>
          <a:lstStyle/>
          <a:p>
            <a:pPr algn="ctr">
              <a:lnSpc>
                <a:spcPct val="130000"/>
              </a:lnSpc>
            </a:pPr>
            <a:r>
              <a:rPr sz="1300" b="1" i="0">
                <a:solidFill>
                  <a:srgbClr val="FFFFFF"/>
                </a:solidFill>
                <a:latin typeface="맑은 고딕"/>
                <a:ea typeface="맑은 고딕"/>
              </a:rPr>
              <a:t>현업 적용 — </a:t>
            </a:r>
            <a:r>
              <a:rPr sz="1300" b="0" i="0">
                <a:solidFill>
                  <a:srgbClr val="EEF2FB"/>
                </a:solidFill>
                <a:latin typeface="맑은 고딕"/>
                <a:ea typeface="맑은 고딕"/>
              </a:rPr>
              <a:t>① 작게 시작(KPI 3개) ② 자동 갱신을 기본으로 ③ 보는 사람 기준(1분 안에) ④ 분기마다 KPI 점검.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6419088"/>
            <a:ext cx="2743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1" i="0">
                <a:solidFill>
                  <a:srgbClr val="EEF2FB"/>
                </a:solidFill>
                <a:latin typeface="맑은 고딕"/>
                <a:ea typeface="맑은 고딕"/>
              </a:rPr>
              <a:t>Data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1" i="0">
                <a:solidFill>
                  <a:srgbClr val="6FA0FF"/>
                </a:solidFill>
                <a:latin typeface="맑은 고딕"/>
                <a:ea typeface="맑은 고딕"/>
              </a:rPr>
              <a:t> Lab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0" y="6419088"/>
            <a:ext cx="1828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1200" b="0" i="0">
                <a:solidFill>
                  <a:srgbClr val="9FB0CF"/>
                </a:solidFill>
                <a:latin typeface="맑은 고딕"/>
                <a:ea typeface="맑은 고딕"/>
              </a:rPr>
              <a:t>27 / 28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0"/>
            <a:ext cx="12191695" cy="38100"/>
          </a:xfrm>
          <a:prstGeom prst="rect">
            <a:avLst/>
          </a:prstGeom>
          <a:solidFill>
            <a:srgbClr val="1420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0" y="0"/>
            <a:ext cx="11756277" cy="38100"/>
          </a:xfrm>
          <a:prstGeom prst="rect">
            <a:avLst/>
          </a:prstGeom>
          <a:solidFill>
            <a:srgbClr val="3D7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589520" y="-914400"/>
            <a:ext cx="5486400" cy="3657600"/>
          </a:xfrm>
          <a:prstGeom prst="rect">
            <a:avLst/>
          </a:prstGeom>
          <a:solidFill>
            <a:srgbClr val="243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28016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 b="1" i="0">
                <a:solidFill>
                  <a:srgbClr val="6FA0FF"/>
                </a:solidFill>
                <a:latin typeface="맑은 고딕"/>
                <a:ea typeface="맑은 고딕"/>
              </a:rPr>
              <a:t>THANK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920240"/>
            <a:ext cx="1051560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4600" b="1" i="0">
                <a:solidFill>
                  <a:srgbClr val="FFFFFF"/>
                </a:solidFill>
                <a:latin typeface="맑은 고딕"/>
                <a:ea typeface="맑은 고딕"/>
              </a:rPr>
              <a:t>데이터 분석의 끝은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4600" b="1" i="0">
                <a:solidFill>
                  <a:srgbClr val="FFFFFF"/>
                </a:solidFill>
                <a:latin typeface="맑은 고딕"/>
                <a:ea typeface="맑은 고딕"/>
              </a:rPr>
              <a:t>더 나은 결정입니다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0392" y="4114800"/>
            <a:ext cx="100584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600" b="0" i="0">
                <a:solidFill>
                  <a:srgbClr val="9FB0CF"/>
                </a:solidFill>
                <a:latin typeface="맑은 고딕"/>
                <a:ea typeface="맑은 고딕"/>
              </a:rPr>
              <a:t>대시보드는 그 결정을 빠르게 돕는 도구일 뿐.</a:t>
            </a:r>
          </a:p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600" b="0" i="0">
                <a:solidFill>
                  <a:srgbClr val="9FB0CF"/>
                </a:solidFill>
                <a:latin typeface="맑은 고딕"/>
                <a:ea typeface="맑은 고딕"/>
              </a:rPr>
              <a:t>오늘 익힌 EDA → 시각화 → 대시보드를 현업의 한 장으로 옮겨보세요. 수고하셨습니다.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" y="594360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b="1" i="0">
                <a:solidFill>
                  <a:srgbClr val="6FA0FF"/>
                </a:solidFill>
                <a:latin typeface="맑은 고딕"/>
                <a:ea typeface="맑은 고딕"/>
              </a:rPr>
              <a:t>data.dreamitbiz.com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b="0" i="0">
                <a:solidFill>
                  <a:srgbClr val="9FB0CF"/>
                </a:solidFill>
                <a:latin typeface="맑은 고딕"/>
                <a:ea typeface="맑은 고딕"/>
              </a:rPr>
              <a:t>   ·   드림아이티비즈(DreamIT Biz)   ·   aebon@dreamitbiz.com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