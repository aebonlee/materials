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3일차 · 2026. 10. 14. (수) · 09:00~18:00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2120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600" b="1" spc="-34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3일차 교시별 강의 슬라이드</a:t>
            </a:r>
          </a:p>
          <a:p>
            <a:pPr algn="l">
              <a:lnSpc>
                <a:spcPct val="110000"/>
              </a:lnSpc>
            </a:pPr>
            <a:r>
              <a:rPr sz="6600" b="1" spc="-34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원인 분석과 가설 검증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20589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과목 개요 · 1~8교시 차시 슬라이드 · 50분 수업 + 10분 휴식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과정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교육 목적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2780000"/>
            <a:ext cx="16002000" cy="100000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3000" y="3010000"/>
            <a:ext cx="540000" cy="5400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3000" y="3010000"/>
            <a:ext cx="540000" cy="5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93000" y="2780000"/>
            <a:ext cx="14602000" cy="10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생성형 AI 를 활용한 데이터 분석 및 문제 해결 방법론을 이해합니다.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3960000"/>
            <a:ext cx="16002000" cy="100000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43000" y="4190000"/>
            <a:ext cx="540000" cy="5400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43000" y="4190000"/>
            <a:ext cx="540000" cy="5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93000" y="3960000"/>
            <a:ext cx="14602000" cy="10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데이터·AI 기반 분석 실무를 이해하고 현업 적용 역량을 강화합니다.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3000" y="5140000"/>
            <a:ext cx="16002000" cy="100000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43000" y="5370000"/>
            <a:ext cx="540000" cy="5400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43000" y="5370000"/>
            <a:ext cx="540000" cy="5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93000" y="5140000"/>
            <a:ext cx="14602000" cy="10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제조 업무 전반에서 데이터 기반 의사결정 및 문제 해결 능력을 확보합니다.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500000"/>
            <a:ext cx="16002000" cy="900000"/>
          </a:xfrm>
          <a:prstGeom prst="roundRect">
            <a:avLst>
              <a:gd name="adj" fmla="val 666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43000" y="6500000"/>
            <a:ext cx="15402000" cy="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대상 · 생산·품질 기술직 재직자 9명 · 2026. 10. 12.(월)~15.(목) · 4일 32시간 · 하루 8교시(50분 수업 + 10분 휴식)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과정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과정의 특장점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2420000"/>
            <a:ext cx="16002000" cy="660000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420000"/>
            <a:ext cx="47625" cy="66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3000" y="2420000"/>
            <a:ext cx="5300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01  하나의 문제를 4일 동안 끝까지 (PBL)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3000" y="2420000"/>
            <a:ext cx="9952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가상 기업 「새벽정밀」의 문제 하나를 문제 정의부터 보고까지 4일 동안 이어서 풉니다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3155000"/>
            <a:ext cx="16002000" cy="660000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43000" y="3155000"/>
            <a:ext cx="47625" cy="66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43000" y="3155000"/>
            <a:ext cx="5300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02  제조 현장 지표 중심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3000" y="3155000"/>
            <a:ext cx="9952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6공정 12설비 62일 데이터로 OEE · Cpk · 불량률 · 상관 · 파레토를 다룹니다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3000" y="3890000"/>
            <a:ext cx="16002000" cy="660000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43000" y="3890000"/>
            <a:ext cx="47625" cy="66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43000" y="3890000"/>
            <a:ext cx="5300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03  실습 중심 32시간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3000" y="3890000"/>
            <a:ext cx="9952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32차시 가운데 24차시가 실습 — 차시마다 단계별 실습과 결과물이 있습니다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4625000"/>
            <a:ext cx="16002000" cy="660000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4625000"/>
            <a:ext cx="47625" cy="66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3000" y="4625000"/>
            <a:ext cx="5300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04  AI 는 초안, 검증은 사람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3000" y="4625000"/>
            <a:ext cx="9952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가 낸 숫자는 Excel 로 다시 계산하고, 결론은 사실과 추정으로 나눕니다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" y="5360000"/>
            <a:ext cx="16002000" cy="660000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43000" y="5360000"/>
            <a:ext cx="47625" cy="66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43000" y="5360000"/>
            <a:ext cx="5300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05  무료 계정·보안 전제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3000" y="5360000"/>
            <a:ext cx="9952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유료 계정 없이도 진행 · 실습은 가상 데이터 · 회사 실제 데이터는 올리지 않습니다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43000" y="6095000"/>
            <a:ext cx="16002000" cy="660000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3000" y="6095000"/>
            <a:ext cx="47625" cy="66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43000" y="6095000"/>
            <a:ext cx="5300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06  성과를 숫자로 확인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3000" y="6095000"/>
            <a:ext cx="9952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문항의 사전 · 사후 평가와 팀 개선 보고서 · 발표로 성과를 확인합니다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43000" y="6830000"/>
            <a:ext cx="16002000" cy="660000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43000" y="6830000"/>
            <a:ext cx="47625" cy="66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43000" y="6830000"/>
            <a:ext cx="5300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07  교육 뒤에도 쓰는 자료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3000" y="6830000"/>
            <a:ext cx="9952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학습 사이트 · 슬라이드 · 실습 파일 8종을 교육 뒤에도 복습에 씁니다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과정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1일차 ~ 4일차 과목 구성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2550000"/>
            <a:ext cx="2650000" cy="5900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550000"/>
            <a:ext cx="2650000" cy="5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3000" y="2550000"/>
            <a:ext cx="4300000" cy="59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3000" y="2550000"/>
            <a:ext cx="4300000" cy="5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93000" y="2550000"/>
            <a:ext cx="4450000" cy="59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3000" y="2550000"/>
            <a:ext cx="4450000" cy="5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오전 과목 (1~4교시)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693000" y="2550000"/>
            <a:ext cx="4452000" cy="59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93000" y="2550000"/>
            <a:ext cx="4452000" cy="5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오후 과목 (5~8교시)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3000" y="3230000"/>
            <a:ext cx="2650000" cy="950000"/>
          </a:xfrm>
          <a:prstGeom prst="roundRect">
            <a:avLst>
              <a:gd name="adj" fmla="val 63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3000" y="3230000"/>
            <a:ext cx="2370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1일차  10. 12. (월)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3000" y="3230000"/>
            <a:ext cx="4300000" cy="950000"/>
          </a:xfrm>
          <a:prstGeom prst="roundRect">
            <a:avLst>
              <a:gd name="adj" fmla="val 63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83000" y="3230000"/>
            <a:ext cx="4020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문제 이해 · AI 와 데이터 준비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93000" y="3230000"/>
            <a:ext cx="4450000" cy="950000"/>
          </a:xfrm>
          <a:prstGeom prst="roundRect">
            <a:avLst>
              <a:gd name="adj" fmla="val 63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3000" y="3230000"/>
            <a:ext cx="4170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학습개요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693000" y="3230000"/>
            <a:ext cx="4452000" cy="950000"/>
          </a:xfrm>
          <a:prstGeom prst="roundRect">
            <a:avLst>
              <a:gd name="adj" fmla="val 63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833000" y="3230000"/>
            <a:ext cx="4172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프롬프트 엔지니어링 및 제조 데이터 이해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" y="4260000"/>
            <a:ext cx="2650000" cy="950000"/>
          </a:xfrm>
          <a:prstGeom prst="roundRect">
            <a:avLst>
              <a:gd name="adj" fmla="val 63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83000" y="4260000"/>
            <a:ext cx="2370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2일차  10. 13. (화)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3000" y="4260000"/>
            <a:ext cx="4300000" cy="950000"/>
          </a:xfrm>
          <a:prstGeom prst="roundRect">
            <a:avLst>
              <a:gd name="adj" fmla="val 63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83000" y="4260000"/>
            <a:ext cx="4020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KPI 로 문제 공정 찾기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93000" y="4260000"/>
            <a:ext cx="4450000" cy="950000"/>
          </a:xfrm>
          <a:prstGeom prst="roundRect">
            <a:avLst>
              <a:gd name="adj" fmla="val 63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33000" y="4260000"/>
            <a:ext cx="4170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KPI 분석 기초와 공정별 분석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693000" y="4260000"/>
            <a:ext cx="4452000" cy="950000"/>
          </a:xfrm>
          <a:prstGeom prst="roundRect">
            <a:avLst>
              <a:gd name="adj" fmla="val 63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833000" y="4260000"/>
            <a:ext cx="4172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통합 KPI 분석과 문제 공정 선정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43000" y="5290000"/>
            <a:ext cx="2650000" cy="950000"/>
          </a:xfrm>
          <a:prstGeom prst="roundRect">
            <a:avLst>
              <a:gd name="adj" fmla="val 6315"/>
            </a:avLst>
          </a:prstGeom>
          <a:solidFill>
            <a:srgbClr val="E7F4F4"/>
          </a:solidFill>
          <a:ln w="9525">
            <a:solidFill>
              <a:srgbClr val="0E7C8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83000" y="5290000"/>
            <a:ext cx="2370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3일차  10. 14. (수)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843000" y="5290000"/>
            <a:ext cx="4300000" cy="950000"/>
          </a:xfrm>
          <a:prstGeom prst="roundRect">
            <a:avLst>
              <a:gd name="adj" fmla="val 6315"/>
            </a:avLst>
          </a:prstGeom>
          <a:solidFill>
            <a:srgbClr val="E7F4F4"/>
          </a:solidFill>
          <a:ln w="9525">
            <a:solidFill>
              <a:srgbClr val="0E7C8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83000" y="5290000"/>
            <a:ext cx="4020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원인 분석과 가설 검증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93000" y="5290000"/>
            <a:ext cx="4450000" cy="950000"/>
          </a:xfrm>
          <a:prstGeom prst="roundRect">
            <a:avLst>
              <a:gd name="adj" fmla="val 6315"/>
            </a:avLst>
          </a:prstGeom>
          <a:solidFill>
            <a:srgbClr val="E7F4F4"/>
          </a:solidFill>
          <a:ln w="9525">
            <a:solidFill>
              <a:srgbClr val="0E7C8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33000" y="5290000"/>
            <a:ext cx="4170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기반 원인분석 프레임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693000" y="5290000"/>
            <a:ext cx="4452000" cy="950000"/>
          </a:xfrm>
          <a:prstGeom prst="roundRect">
            <a:avLst>
              <a:gd name="adj" fmla="val 6315"/>
            </a:avLst>
          </a:prstGeom>
          <a:solidFill>
            <a:srgbClr val="E7F4F4"/>
          </a:solidFill>
          <a:ln w="9525">
            <a:solidFill>
              <a:srgbClr val="0E7C8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833000" y="5290000"/>
            <a:ext cx="4172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원인 후보 분류와 검증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43000" y="6320000"/>
            <a:ext cx="2650000" cy="950000"/>
          </a:xfrm>
          <a:prstGeom prst="roundRect">
            <a:avLst>
              <a:gd name="adj" fmla="val 63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83000" y="6320000"/>
            <a:ext cx="2370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4일차  10. 15. (목)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843000" y="6320000"/>
            <a:ext cx="4300000" cy="950000"/>
          </a:xfrm>
          <a:prstGeom prst="roundRect">
            <a:avLst>
              <a:gd name="adj" fmla="val 63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83000" y="6320000"/>
            <a:ext cx="4020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개선안 · 실행계획 · 보고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193000" y="6320000"/>
            <a:ext cx="4450000" cy="950000"/>
          </a:xfrm>
          <a:prstGeom prst="roundRect">
            <a:avLst>
              <a:gd name="adj" fmla="val 63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33000" y="6320000"/>
            <a:ext cx="4170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개선안 도출과 우선순위 평가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2693000" y="6320000"/>
            <a:ext cx="4452000" cy="950000"/>
          </a:xfrm>
          <a:prstGeom prst="roundRect">
            <a:avLst>
              <a:gd name="adj" fmla="val 63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2833000" y="6320000"/>
            <a:ext cx="4172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실행계획과 최종 보고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3000" y="748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▶ 이 묶음 = 3일차 · 과목명과 세부내용은 위탁기관 커리큘럼 그대로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3일차 개요 · 2026. 10. 14. (수)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원인 분석과 가설 검증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250000"/>
            <a:ext cx="16002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선정한 공정에서 「왜」를 찾습니다. 오전에는 전통 품질 기법과 생성형 AI 를 엮어 불량 기록·설비 로그·공정 조건을 분석하고, 오후에는 원인 후보를 MECE 로 정리해 사실과 추정을 나누고 검증 계획을 세웁니다.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100000"/>
            <a:ext cx="1500000" cy="4550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100000"/>
            <a:ext cx="1500000" cy="45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교시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3000" y="3100000"/>
            <a:ext cx="2000000" cy="455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3000" y="3100000"/>
            <a:ext cx="2000000" cy="45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43000" y="3100000"/>
            <a:ext cx="4200000" cy="455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43000" y="3100000"/>
            <a:ext cx="4200000" cy="45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과목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3000" y="3100000"/>
            <a:ext cx="6600000" cy="455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93000" y="3100000"/>
            <a:ext cx="6600000" cy="45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차시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643000" y="3100000"/>
            <a:ext cx="1502000" cy="455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643000" y="3100000"/>
            <a:ext cx="1502000" cy="45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유형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3000" y="3600000"/>
            <a:ext cx="1500000" cy="425000"/>
          </a:xfrm>
          <a:prstGeom prst="roundRect">
            <a:avLst>
              <a:gd name="adj" fmla="val 12000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3000" y="3600000"/>
            <a:ext cx="13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1교시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93000" y="3600000"/>
            <a:ext cx="20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83000" y="3600000"/>
            <a:ext cx="18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09:00~09:50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43000" y="3600000"/>
            <a:ext cx="42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33000" y="3600000"/>
            <a:ext cx="40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기반 원인분석 프레임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93000" y="3600000"/>
            <a:ext cx="66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83000" y="3600000"/>
            <a:ext cx="64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전통 품질 기법과 생성형 AI — 5Why·특성요인도·4M1E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5643000" y="3600000"/>
            <a:ext cx="1502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733000" y="3600000"/>
            <a:ext cx="1322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이론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070000"/>
            <a:ext cx="1500000" cy="425000"/>
          </a:xfrm>
          <a:prstGeom prst="roundRect">
            <a:avLst>
              <a:gd name="adj" fmla="val 12000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3000" y="4070000"/>
            <a:ext cx="13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2교시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3000" y="4070000"/>
            <a:ext cx="20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83000" y="4070000"/>
            <a:ext cx="18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10:00~10:50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43000" y="4070000"/>
            <a:ext cx="42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33000" y="4070000"/>
            <a:ext cx="40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기반 원인분석 프레임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93000" y="4070000"/>
            <a:ext cx="66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83000" y="4070000"/>
            <a:ext cx="64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불량 유형 분석 — 불량 기록을 층별로 쪼개 보기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5643000" y="4070000"/>
            <a:ext cx="1502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733000" y="4070000"/>
            <a:ext cx="1322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43000" y="4540000"/>
            <a:ext cx="1500000" cy="425000"/>
          </a:xfrm>
          <a:prstGeom prst="roundRect">
            <a:avLst>
              <a:gd name="adj" fmla="val 12000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33000" y="4540000"/>
            <a:ext cx="13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3교시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693000" y="4540000"/>
            <a:ext cx="20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83000" y="4540000"/>
            <a:ext cx="18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11:00~11:50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743000" y="4540000"/>
            <a:ext cx="42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33000" y="4540000"/>
            <a:ext cx="40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기반 원인분석 프레임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93000" y="4540000"/>
            <a:ext cx="66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83000" y="4540000"/>
            <a:ext cx="64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설비 로그 분석 — 알람 기록에서 사건 타임라인 만들기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5643000" y="4540000"/>
            <a:ext cx="1502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5733000" y="4540000"/>
            <a:ext cx="1322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143000" y="5010000"/>
            <a:ext cx="16002000" cy="30000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 w="9525">
            <a:solidFill>
              <a:srgbClr val="F2D3A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43000" y="5010000"/>
            <a:ext cx="16002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>
                <a:solidFill>
                  <a:srgbClr val="D9822B"/>
                </a:solidFill>
                <a:latin typeface="Pretendard"/>
                <a:ea typeface="Pretendard"/>
                <a:cs typeface="Pretendard"/>
              </a:rPr>
              <a:t>12:00~13:00  점심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43000" y="5325000"/>
            <a:ext cx="1500000" cy="425000"/>
          </a:xfrm>
          <a:prstGeom prst="roundRect">
            <a:avLst>
              <a:gd name="adj" fmla="val 12000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33000" y="5325000"/>
            <a:ext cx="13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4교시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693000" y="5325000"/>
            <a:ext cx="20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83000" y="5325000"/>
            <a:ext cx="18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13:00~13:50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743000" y="5325000"/>
            <a:ext cx="42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833000" y="5325000"/>
            <a:ext cx="40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기반 원인분석 프레임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993000" y="5325000"/>
            <a:ext cx="66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83000" y="5325000"/>
            <a:ext cx="64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작업·공정 조건별 영향도 추론 — 온도·로트·교대·습도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5643000" y="5325000"/>
            <a:ext cx="1502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5733000" y="5325000"/>
            <a:ext cx="1322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143000" y="5795000"/>
            <a:ext cx="1500000" cy="425000"/>
          </a:xfrm>
          <a:prstGeom prst="roundRect">
            <a:avLst>
              <a:gd name="adj" fmla="val 12000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233000" y="5795000"/>
            <a:ext cx="13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5교시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693000" y="5795000"/>
            <a:ext cx="20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783000" y="5795000"/>
            <a:ext cx="18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14:00~14:50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743000" y="5795000"/>
            <a:ext cx="42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833000" y="5795000"/>
            <a:ext cx="40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원인 후보 분류와 검증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993000" y="5795000"/>
            <a:ext cx="66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083000" y="5795000"/>
            <a:ext cx="64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잠재 원인 후보군 도출 — AI 와 함께 넓게 펼치기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5643000" y="5795000"/>
            <a:ext cx="1502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5733000" y="5795000"/>
            <a:ext cx="1322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143000" y="6265000"/>
            <a:ext cx="1500000" cy="425000"/>
          </a:xfrm>
          <a:prstGeom prst="roundRect">
            <a:avLst>
              <a:gd name="adj" fmla="val 12000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233000" y="6265000"/>
            <a:ext cx="13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6교시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693000" y="6265000"/>
            <a:ext cx="20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783000" y="6265000"/>
            <a:ext cx="18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15:00~15:50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743000" y="6265000"/>
            <a:ext cx="42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833000" y="6265000"/>
            <a:ext cx="40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원인 후보 분류와 검증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993000" y="6265000"/>
            <a:ext cx="66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083000" y="6265000"/>
            <a:ext cx="64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MECE 분류 — 4M1E 로직 트리로 정리하기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5643000" y="6265000"/>
            <a:ext cx="1502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5733000" y="6265000"/>
            <a:ext cx="1322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143000" y="6735000"/>
            <a:ext cx="1500000" cy="425000"/>
          </a:xfrm>
          <a:prstGeom prst="roundRect">
            <a:avLst>
              <a:gd name="adj" fmla="val 12000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233000" y="6735000"/>
            <a:ext cx="13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7교시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2693000" y="6735000"/>
            <a:ext cx="20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783000" y="6735000"/>
            <a:ext cx="18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16:00~16:50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743000" y="6735000"/>
            <a:ext cx="42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833000" y="6735000"/>
            <a:ext cx="40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원인 후보 분류와 검증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993000" y="6735000"/>
            <a:ext cx="66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083000" y="6735000"/>
            <a:ext cx="64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사실과 추정 구분 — 근거 데이터 연결하기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5643000" y="6735000"/>
            <a:ext cx="1502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5733000" y="6735000"/>
            <a:ext cx="1322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143000" y="7205000"/>
            <a:ext cx="1500000" cy="425000"/>
          </a:xfrm>
          <a:prstGeom prst="roundRect">
            <a:avLst>
              <a:gd name="adj" fmla="val 12000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233000" y="7205000"/>
            <a:ext cx="13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8교시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2693000" y="7205000"/>
            <a:ext cx="20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783000" y="7205000"/>
            <a:ext cx="18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17:00~17:50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743000" y="7205000"/>
            <a:ext cx="42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833000" y="7205000"/>
            <a:ext cx="40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원인 후보 분류와 검증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993000" y="7205000"/>
            <a:ext cx="66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083000" y="7205000"/>
            <a:ext cx="64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원인 가설 검증 계획과 시나리오 수립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15643000" y="7205000"/>
            <a:ext cx="1502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5733000" y="7205000"/>
            <a:ext cx="1322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3일차 개요 · 2026. 10. 14. (수)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3일차 학습목표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450000"/>
            <a:ext cx="16002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오전 · 1~4교시  </a:t>
            </a:r>
            <a:r>
              <a:rPr sz="2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기반 원인분석 프레임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970000"/>
            <a:ext cx="16002000" cy="560000"/>
          </a:xfrm>
          <a:prstGeom prst="roundRect">
            <a:avLst>
              <a:gd name="adj" fmla="val 1071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63000" y="3080000"/>
            <a:ext cx="340000" cy="3400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63000" y="3080000"/>
            <a:ext cx="34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3000" y="2970000"/>
            <a:ext cx="15002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5Why·특성요인도·4M1E·QC 7도구·FMEA 의 쓰임을 구별하고 AI 와 현장의 역할을 나눈다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580000"/>
            <a:ext cx="16002000" cy="560000"/>
          </a:xfrm>
          <a:prstGeom prst="roundRect">
            <a:avLst>
              <a:gd name="adj" fmla="val 1071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63000" y="3690000"/>
            <a:ext cx="340000" cy="3400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63000" y="3690000"/>
            <a:ext cx="34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3000" y="3580000"/>
            <a:ext cx="15002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불량 기록을 설비·기간·유형으로 층별 분석하고 설비 로그로 사건 타임라인을 만든다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90000"/>
            <a:ext cx="16002000" cy="560000"/>
          </a:xfrm>
          <a:prstGeom prst="roundRect">
            <a:avLst>
              <a:gd name="adj" fmla="val 1071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63000" y="4300000"/>
            <a:ext cx="340000" cy="3400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63000" y="4300000"/>
            <a:ext cx="34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03000" y="4190000"/>
            <a:ext cx="15002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온도·원료 로트·교대·습도 등 조건별 영향 크기를 비교해 근거 있는 가설 문장으로 정리한다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950000"/>
            <a:ext cx="16002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오후 · 5~8교시  </a:t>
            </a:r>
            <a:r>
              <a:rPr sz="2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원인 후보 분류와 검증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3000" y="5470000"/>
            <a:ext cx="16002000" cy="560000"/>
          </a:xfrm>
          <a:prstGeom prst="roundRect">
            <a:avLst>
              <a:gd name="adj" fmla="val 1071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63000" y="5580000"/>
            <a:ext cx="340000" cy="3400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63000" y="5580000"/>
            <a:ext cx="34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03000" y="5470000"/>
            <a:ext cx="15002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와 함께 4M1E 갈래별 원인 후보를 넓게 펼치고 MECE 로직 트리로 정리한다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43000" y="6080000"/>
            <a:ext cx="16002000" cy="560000"/>
          </a:xfrm>
          <a:prstGeom prst="roundRect">
            <a:avLst>
              <a:gd name="adj" fmla="val 1071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63000" y="6190000"/>
            <a:ext cx="340000" cy="3400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63000" y="6190000"/>
            <a:ext cx="34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03000" y="6080000"/>
            <a:ext cx="15002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후보마다 파일·열·숫자 근거를 연결해 사실·추정·반증을 판정한다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43000" y="6690000"/>
            <a:ext cx="16002000" cy="560000"/>
          </a:xfrm>
          <a:prstGeom prst="roundRect">
            <a:avLst>
              <a:gd name="adj" fmla="val 1071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363000" y="6800000"/>
            <a:ext cx="340000" cy="3400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63000" y="6800000"/>
            <a:ext cx="34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03000" y="6690000"/>
            <a:ext cx="15002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「만약 ~라면」 가설과 판정 기준·시나리오를 담은 가설 검증 계획을 세운다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3일차 오전 과목 · 1~4교시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기반 원인분석 프레임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300000"/>
            <a:ext cx="1600200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5Why·특성요인도·4M1E·FMEA 등 현장에서 써 온 원인 분석 틀에 생성형 AI 를 결합합니다. 불량 유형, 설비 알람 로그, 작업·공정 조건 데이터를 층별로 쪼개 영향도를 추론합니다.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500000"/>
            <a:ext cx="16002000" cy="1700000"/>
          </a:xfrm>
          <a:prstGeom prst="roundRect">
            <a:avLst>
              <a:gd name="adj" fmla="val 35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500000"/>
            <a:ext cx="16002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43000" y="3680000"/>
            <a:ext cx="15402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세부내용 1  ·  전통 제조 기법과 생성형 AI의 연계 분석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3000" y="4220000"/>
            <a:ext cx="15402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전통 품질 기법이 각각 어떤 질문에 답하는지 정리하고, AI 를 「빠뜨린 원인을 넓히는 동료」로 써서 기법의 빈칸을 채우는 방법을 익힙니다.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50000"/>
            <a:ext cx="16002000" cy="1700000"/>
          </a:xfrm>
          <a:prstGeom prst="roundRect">
            <a:avLst>
              <a:gd name="adj" fmla="val 35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5350000"/>
            <a:ext cx="16002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3000" y="5530000"/>
            <a:ext cx="15402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세부내용 2  ·  불량 유형, 로그 분석 등을 통한 작업·공정 조건별 영향도 추론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3000" y="6070000"/>
            <a:ext cx="15402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불량 기록을 유형·설비·기간으로 층별 분석하고, 알람 로그에서 사건 타임라인을 만들고, 온도·원료 로트·교대·습도 등 조건별로 불량에 미친 영향의 크기를 비교·추론합니다.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7330000"/>
            <a:ext cx="16002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차시  </a:t>
            </a:r>
            <a:r>
              <a:rPr sz="135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1교시 전통 품질 기법과 생성형 AI  ·  2교시 불량 유형 분석  ·  3교시 설비 로그 분석  ·  4교시 작업·공정 조건별 영향도 추론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3일차 오후 과목 · 5~8교시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원인 후보 분류와 검증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300000"/>
            <a:ext cx="1600200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와 함께 원인 후보를 넓게 펼친 뒤 중복·누락 없이(MECE) 분류합니다. 후보마다 근거 데이터를 연결해 사실과 추정을 나누고, 무엇을 어떻게 확인할지 검증 계획과 시나리오를 세웁니다.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500000"/>
            <a:ext cx="16002000" cy="1700000"/>
          </a:xfrm>
          <a:prstGeom prst="roundRect">
            <a:avLst>
              <a:gd name="adj" fmla="val 35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500000"/>
            <a:ext cx="16002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43000" y="3680000"/>
            <a:ext cx="15402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세부내용 1  ·  잠재적 원인 후보군 도출 및 MECE 기준 분류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3000" y="4220000"/>
            <a:ext cx="15402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사람·설비·자재·방법·측정·환경(4M1E) 관점으로 원인 후보를 펼치고, 로직 트리로 중복·누락 없이 묶어 팀의 원인 후보 MECE 표를 만듭니다.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50000"/>
            <a:ext cx="16002000" cy="1700000"/>
          </a:xfrm>
          <a:prstGeom prst="roundRect">
            <a:avLst>
              <a:gd name="adj" fmla="val 35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5350000"/>
            <a:ext cx="16002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3000" y="5530000"/>
            <a:ext cx="15402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세부내용 2  ·  데이터 기반의 사실·추정 구분을 통한 원인 가설 검증 계획 및 시나리오 수립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3000" y="6070000"/>
            <a:ext cx="15402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각 후보에 「데이터로 확인됨 / 정황 있음 / 근거 없음」을 붙여 사실과 추정을 구분하고, 추가 데이터·현장 확인·비교 실험으로 가설을 검증하는 계획과 결과별 시나리오를 수립합니다.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7330000"/>
            <a:ext cx="16002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차시  </a:t>
            </a:r>
            <a:r>
              <a:rPr sz="135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5교시 잠재 원인 후보군 도출  ·  6교시 MECE 분류  ·  7교시 사실과 추정 구분  ·  8교시 원인 가설 검증 계획과 시나리오 수립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3일차 1교시 · AI 기반 원인분석 프레임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전통 품질 기법과 생성형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펼치기는 AI, 판정은 데이터와 현장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5Why·특성요인도·4M1E·QC 7도구·FMEA 의 쓰임을 구별한다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는 가설을 펼치고, 판정은 데이터와 현장이 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 균열 특성요인도 초안을 AI 로 받아 현장 지식으로 고친다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어제 찾은 「SF-02 가 8/10 무렵부터 나빠졌다」에서 「왜」로 들어갑니다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1교시 · 이론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1. 도구마다 맡은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원인분석 기법 다섯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기법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76428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76428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답하는 질문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결과물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5Why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448050"/>
            <a:ext cx="76428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8690" y="3448050"/>
            <a:ext cx="74523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왜 일어났나 — 한 줄기를 끝까지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0" y="34480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39650" y="34480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원인 사슬 한 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특성요인도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4171950"/>
            <a:ext cx="76428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8690" y="4171950"/>
            <a:ext cx="74523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후보가 어디어디 있을 수 있나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0" y="41719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39650" y="41719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원인 후보 지도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4M1E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4895850"/>
            <a:ext cx="76428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8690" y="4895850"/>
            <a:ext cx="74523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후보를 나눌 칸은 무엇인가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48958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48958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범주별 후보 목록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QC 7도구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5619750"/>
            <a:ext cx="76428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8690" y="5619750"/>
            <a:ext cx="74523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데이터로 무엇을 볼 것인가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344400" y="56197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439650" y="56197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표·그래프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FMEA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63440" y="6343650"/>
            <a:ext cx="76428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8690" y="6343650"/>
            <a:ext cx="74523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 일어난 고장을 미리 막으려면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344400" y="63436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439650" y="63436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위험 우선순위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하나로 다 하려 하지 말고, 질문에 맞는 도구를 고른다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1교시 · 이론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2. 5Why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「왜?」를 거듭 물어 대책이 나오는 깊이까지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기계 정지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과부하로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퓨즈 끊어짐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윤활 부족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베어링에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기름이 모자람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펌프 불량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윤활 펌프가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제대로 안 돎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축 마모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펌프 축이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닳았다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거름망 없음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쇳가루가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들어갔다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약점: 첫 대답이 틀리면 아래가 다 틀린다 — 대답마다 [사실]/[추정] 표시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널리 알려진 예 — 퓨즈를 가는 대신 거름망을 다는 대책이 나온다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1교시 · 이론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3. 특성요인도 · 4M1E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생선 뼈의 큰 뼈 = 서랍 다섯 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60426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6042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소결에서 떠올릴 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Man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4480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8690" y="34480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작업자·교대·작업 준수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34480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34480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장입 방법, 교대 습관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Machine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41719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8690" y="41719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설비·계측기·보전 상태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41719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41719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히터, 열전대, 보전 이력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Material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48958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8690" y="48958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원료·로트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48958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9450" y="48958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원료 로트, 분말 특성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Method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56197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8690" y="56197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작업표준·공정 조건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44200" y="56197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9450" y="56197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온도 프로파일, 유지 시간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Environment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63440" y="63436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8690" y="63436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온도·습도 등 주변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744200" y="63436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839450" y="63436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계절, 성형실 습도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측정(Measurement)을 한 칸 더 두는 5M1E·6M 도 있다 — 오늘은 측정 칸을 따로 둔다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1교시 · 이론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4. QC 7도구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데이터를 보는 기본 공구 일곱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1788"/>
            <a:ext cx="2857500" cy="61912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1788"/>
            <a:ext cx="2324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체크시트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500" y="2871788"/>
            <a:ext cx="13144500" cy="6191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86250" y="2871788"/>
            <a:ext cx="12573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현장에서 빠르게 세어 기록 — 불량 기록이 그 결과물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605212"/>
            <a:ext cx="2857500" cy="61912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605212"/>
            <a:ext cx="2324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파레토도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00500" y="3605212"/>
            <a:ext cx="13144500" cy="6191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6250" y="3605212"/>
            <a:ext cx="12573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많은 것부터 차례로 늘어놓아 중요한 소수 찾기 — 2일차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338638"/>
            <a:ext cx="2857500" cy="61912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338638"/>
            <a:ext cx="2324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특성요인도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00500" y="4338638"/>
            <a:ext cx="13144500" cy="6191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86250" y="4338638"/>
            <a:ext cx="12573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원인 후보를 범주별로 펼치기 — 오늘 1교시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072062"/>
            <a:ext cx="2857500" cy="61912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072062"/>
            <a:ext cx="2324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히스토그램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00500" y="5072062"/>
            <a:ext cx="13144500" cy="6191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86250" y="5072062"/>
            <a:ext cx="12573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값이 퍼진 모양 보기 — 2일차 Cpk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805488"/>
            <a:ext cx="2857500" cy="61912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5805488"/>
            <a:ext cx="2324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산점도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00500" y="5805488"/>
            <a:ext cx="13144500" cy="6191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86250" y="5805488"/>
            <a:ext cx="12573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값이 함께 움직이는지 — 2일차 상관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6538912"/>
            <a:ext cx="2857500" cy="61912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09700" y="6538912"/>
            <a:ext cx="2324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층별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00500" y="6538912"/>
            <a:ext cx="13144500" cy="6191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86250" y="6538912"/>
            <a:ext cx="12573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설비·교대·로트로 나눠 비교 — 오늘 2·4교시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7272338"/>
            <a:ext cx="2857500" cy="61912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09700" y="7272338"/>
            <a:ext cx="2324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그래프·관리도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00500" y="7272338"/>
            <a:ext cx="13144500" cy="6191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86250" y="7272338"/>
            <a:ext cx="12573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시간에 따른 변화와 이상 신호 — 2일차 추세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1교시 · 이론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5. FMEA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아직 안 일어난 고장을 미리 막는 예방 도구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심각도 S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고장이 나면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얼마나 큰 피해인가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발생도 O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얼마나 자주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일어날 수 있나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검출도 D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나가기 전에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잡아낼 수 있나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RPN(S×O×D) → AP 조치 우선순위(AIAG·VDA, 2019) — 오늘 찾은 원인은 재발 방지 때 한 줄로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1교시 · 이론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6. 생성형 AI 와 연계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펼치기는 AI, 판정은 데이터와 현장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— 발산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후보를 빠르고 넓게 펼치는 브레인스토밍 파트너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1분 만에 여섯 칸 초안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사람이 놓친 칸을 채운다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우리 공장 사정은 모른다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데이터·현장 — 수렴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그럴듯한 후보 중 실제 원인을 가려낸다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숫자로 확인 안 되면 가설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최근 변경점은 현장만 안다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목록은 정답이 아닌 후보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1교시 · 이론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직접 해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 균열로 세 단계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 파일은 올리지 않습니다 — 공정 설명만으로 후보를 펼칩니다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508000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50800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5080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AI 초안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46609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6칸 특성요인도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+ 확인 방법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04000" y="3924300"/>
            <a:ext cx="508000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04000" y="3924300"/>
            <a:ext cx="50800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0" y="4171950"/>
            <a:ext cx="5080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현장 수정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3550" y="5143500"/>
            <a:ext cx="46609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○ 확인 가능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△ 현장 · × 해당 없음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065000" y="3924300"/>
            <a:ext cx="508000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65000" y="3924300"/>
            <a:ext cx="50800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65000" y="4171950"/>
            <a:ext cx="5080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5Why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74550" y="5143500"/>
            <a:ext cx="46609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가 묻고 팀이 답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[추정]에서 멈춤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1교시 · 이론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 시간에서 꼭 가져갈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넓게 펼치는 특성요인도, 깊게 파는 5Why — 펼친 뒤 판다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목록은 후보 목록 — 원인은 데이터로 확인한 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「최근에 바뀐 것」을 따로 적는다 — 시작 날짜와 겹치는 변경점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측정 칸을 따로 두어야 계측기·센서 문제가 떠오른다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회사 실제 공정 조건·설비 사양은 AI 대화창에 적지 않는다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1교시 · 이론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3일차 1교시 · 이론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다음은 불량 유형 분석 (2교시)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불량 기록을 설비 × 8/10 전/후 × 불량유형으로 쪼개, 무엇이 가장 늘었는지 찾습니다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기간구분 열 만들기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 불량 유형 피벗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일평균으로 바꿔 비교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비고 메모를 AI 로 분류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특성요인도와 5Why [추정] 확인 목록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3일차 2교시 · AI 기반 원인분석 프레임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불량 유형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불량 기록을 층별로 쪼개 보기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설비 × 8/10 전/후 × 불량유형으로 쪼개고 일평균으로 비교한다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8/10 뒤 가장 많이 늘어난 불량 유형을 숫자로 말한다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비고 메모를 AI 로 분류하고 건수를 Excel 로 다시 센다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불량 유형은 원인으로 가는 첫 번째 단서입니다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2교시 · 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다섯 단계 — 04 불량 기록 + 02 생산일지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04_defect_log.xlsx 의 DEFECT 시트 3,224행에서 시작합니다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기간구분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K열 수식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8/10 기준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유형 피벗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설비 × 8/10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× 불량유형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일평균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÷40일 · ÷22일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증가 배수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교대·로트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02 생산일지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계산 필드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비고 분류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분류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COUNTIFS 검증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2교시 · 실습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1·2단계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기간구분 수식과 피벗 배치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081814" cy="5715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08181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K2 수식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24814" y="2781300"/>
            <a:ext cx="14920186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214" y="2781300"/>
            <a:ext cx="1461538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=IF(--A2&gt;=DATE(2026,8,10),"8/10후","8/10전")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1081814" cy="5715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108181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필터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24814" y="3429000"/>
            <a:ext cx="14920186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7214" y="3429000"/>
            <a:ext cx="1461538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공정 = 소결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1081814" cy="5715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108181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24814" y="4076700"/>
            <a:ext cx="14920186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7214" y="4076700"/>
            <a:ext cx="1461538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불량유형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1081814" cy="5715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108181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24814" y="4724400"/>
            <a:ext cx="14920186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77214" y="4724400"/>
            <a:ext cx="1461538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설비 → 기간구분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1081814" cy="5715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108181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24814" y="5372100"/>
            <a:ext cx="14920186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77214" y="5372100"/>
            <a:ext cx="1461538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수량 합계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-- 는 글자로 저장된 날짜(2026-07-01)를 날짜 숫자로 바꿔 준다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2교시 · 실습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2단계 — 피벗 합계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 불량 유형별 수량 합계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96215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96215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유형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43250" y="2781300"/>
            <a:ext cx="3462338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43250" y="2781300"/>
            <a:ext cx="3462338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SF-01 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43688" y="2781300"/>
            <a:ext cx="3462338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3688" y="2781300"/>
            <a:ext cx="3462338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SF-01 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44125" y="2781300"/>
            <a:ext cx="3462338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4125" y="2781300"/>
            <a:ext cx="3462338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SF-02 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644562" y="2781300"/>
            <a:ext cx="3500438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644562" y="2781300"/>
            <a:ext cx="3500438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SF-02 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3448050"/>
            <a:ext cx="196215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8250" y="3448050"/>
            <a:ext cx="17716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균열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43250" y="3448050"/>
            <a:ext cx="346233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8500" y="3448050"/>
            <a:ext cx="327183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2,099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3688" y="3448050"/>
            <a:ext cx="346233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38938" y="3448050"/>
            <a:ext cx="327183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1,093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44125" y="3448050"/>
            <a:ext cx="346233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39375" y="3448050"/>
            <a:ext cx="327183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1,827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644562" y="3448050"/>
            <a:ext cx="350043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39812" y="3448050"/>
            <a:ext cx="330993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3,535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4171950"/>
            <a:ext cx="196215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4171950"/>
            <a:ext cx="17716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밀도미달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43250" y="4171950"/>
            <a:ext cx="346233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38500" y="4171950"/>
            <a:ext cx="327183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2,187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43688" y="4171950"/>
            <a:ext cx="346233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38938" y="4171950"/>
            <a:ext cx="327183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1,587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144125" y="4171950"/>
            <a:ext cx="346233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39375" y="4171950"/>
            <a:ext cx="327183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2,043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644562" y="4171950"/>
            <a:ext cx="350043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39812" y="4171950"/>
            <a:ext cx="330993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2,917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4895850"/>
            <a:ext cx="196215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4895850"/>
            <a:ext cx="17716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치수불량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143250" y="4895850"/>
            <a:ext cx="346233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38500" y="4895850"/>
            <a:ext cx="327183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1,661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43688" y="4895850"/>
            <a:ext cx="346233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38938" y="4895850"/>
            <a:ext cx="327183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883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44125" y="4895850"/>
            <a:ext cx="346233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239375" y="4895850"/>
            <a:ext cx="327183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1,505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3644562" y="4895850"/>
            <a:ext cx="350043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739812" y="4895850"/>
            <a:ext cx="330993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1,769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5619750"/>
            <a:ext cx="196215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5619750"/>
            <a:ext cx="17716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변형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143250" y="5619750"/>
            <a:ext cx="346233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38500" y="5619750"/>
            <a:ext cx="327183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1,034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643688" y="5619750"/>
            <a:ext cx="346233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38938" y="5619750"/>
            <a:ext cx="327183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534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144125" y="5619750"/>
            <a:ext cx="346233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239375" y="5619750"/>
            <a:ext cx="327183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938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3644562" y="5619750"/>
            <a:ext cx="350043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3739812" y="5619750"/>
            <a:ext cx="330993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570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143000" y="6343650"/>
            <a:ext cx="196215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238250" y="6343650"/>
            <a:ext cx="17716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합계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143250" y="6343650"/>
            <a:ext cx="346233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38500" y="6343650"/>
            <a:ext cx="327183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6,981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643688" y="6343650"/>
            <a:ext cx="346233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738938" y="6343650"/>
            <a:ext cx="327183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4,097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144125" y="6343650"/>
            <a:ext cx="346233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239375" y="6343650"/>
            <a:ext cx="327183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6,313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3644562" y="6343650"/>
            <a:ext cx="350043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3739812" y="6343650"/>
            <a:ext cx="330993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8,791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합계 확인용 — SF-02 8/10후 8,791 · 8/10전 6,313 이 나와야 한다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2교시 · 실습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자주 틀리는 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합계로 비교하면 SF-01 이 좋아진 것처럼 보인다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합계 그대로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8/10 후 22일은 8/10 전 40일의 절반 남짓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90650" y="4838700"/>
            <a:ext cx="1243846" cy="4857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0650" y="4838700"/>
            <a:ext cx="1243846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SF-01 균열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34496" y="4838700"/>
            <a:ext cx="5633204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6896" y="4838700"/>
            <a:ext cx="5328404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2,099 → 1,093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90650" y="5400675"/>
            <a:ext cx="1243846" cy="4857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90650" y="5400675"/>
            <a:ext cx="1243846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착각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34496" y="5400675"/>
            <a:ext cx="5633204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86896" y="5400675"/>
            <a:ext cx="5328404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절반으로 줄었다?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일평균으로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÷40일 · ÷22일 해야 비교가 된다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020300" y="4838700"/>
            <a:ext cx="1243846" cy="4857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20300" y="4838700"/>
            <a:ext cx="1243846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SF-01 균열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264146" y="4838700"/>
            <a:ext cx="5633204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16546" y="4838700"/>
            <a:ext cx="5328404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52.5 → 49.7개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20300" y="5400675"/>
            <a:ext cx="1243846" cy="4857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20300" y="5400675"/>
            <a:ext cx="1243846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264146" y="5400675"/>
            <a:ext cx="5633204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16546" y="5400675"/>
            <a:ext cx="5328404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거의 그대로 0.95배</a:t>
            </a:r>
          </a:p>
        </p:txBody>
      </p:sp>
      <p:sp>
        <p:nvSpPr>
          <p:cNvPr id="30" name="Oval 29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2교시 · 실습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3단계 — 일평균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8/10 뒤 가장 많이 늘어난 유형은 균열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844488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844488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유형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25588" y="2781300"/>
            <a:ext cx="3256429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25588" y="2781300"/>
            <a:ext cx="3256429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SF-02 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0118" y="2781300"/>
            <a:ext cx="3256429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0118" y="2781300"/>
            <a:ext cx="3256429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SF-02 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14647" y="2781300"/>
            <a:ext cx="3727076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14647" y="2781300"/>
            <a:ext cx="3727076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SF-02 배수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379824" y="2781300"/>
            <a:ext cx="3765176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379824" y="2781300"/>
            <a:ext cx="3765176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SF-01 배수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3448050"/>
            <a:ext cx="1844488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8250" y="3448050"/>
            <a:ext cx="165398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균열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25588" y="3448050"/>
            <a:ext cx="325642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20838" y="3448050"/>
            <a:ext cx="306592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45.7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20118" y="3448050"/>
            <a:ext cx="325642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5368" y="3448050"/>
            <a:ext cx="306592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160.7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14647" y="3448050"/>
            <a:ext cx="3727076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09897" y="3448050"/>
            <a:ext cx="3536576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3.5배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379824" y="3448050"/>
            <a:ext cx="3765176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75074" y="3448050"/>
            <a:ext cx="3574676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0.95배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4171950"/>
            <a:ext cx="1844488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4171950"/>
            <a:ext cx="165398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밀도미달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025588" y="4171950"/>
            <a:ext cx="325642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20838" y="4171950"/>
            <a:ext cx="306592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51.1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20118" y="4171950"/>
            <a:ext cx="325642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5368" y="4171950"/>
            <a:ext cx="306592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132.6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14647" y="4171950"/>
            <a:ext cx="3727076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09897" y="4171950"/>
            <a:ext cx="3536576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2.6배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379824" y="4171950"/>
            <a:ext cx="3765176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475074" y="4171950"/>
            <a:ext cx="3574676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1.3배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4895850"/>
            <a:ext cx="1844488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4895850"/>
            <a:ext cx="165398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치수불량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25588" y="4895850"/>
            <a:ext cx="325642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20838" y="4895850"/>
            <a:ext cx="306592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37.6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20118" y="4895850"/>
            <a:ext cx="325642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15368" y="4895850"/>
            <a:ext cx="306592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80.4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614647" y="4895850"/>
            <a:ext cx="3727076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09897" y="4895850"/>
            <a:ext cx="3536576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2.1배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3379824" y="4895850"/>
            <a:ext cx="3765176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475074" y="4895850"/>
            <a:ext cx="3574676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0.97배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5619750"/>
            <a:ext cx="1844488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5619750"/>
            <a:ext cx="165398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변형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025588" y="5619750"/>
            <a:ext cx="325642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20838" y="5619750"/>
            <a:ext cx="306592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23.5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20118" y="5619750"/>
            <a:ext cx="325642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15368" y="5619750"/>
            <a:ext cx="306592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25.9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614647" y="5619750"/>
            <a:ext cx="3727076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09897" y="5619750"/>
            <a:ext cx="3536576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1.1배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3379824" y="5619750"/>
            <a:ext cx="3765176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3475074" y="5619750"/>
            <a:ext cx="3574676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0.94배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SF-02 8/10후 불량 8,791개 중 균열 3,535개(40.2%) — 8/10 전 비중 28.9%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2교시 · 실습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4단계 — 교대·로트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불량률은 생산일지(02)에서 계산 필드로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층별 기준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3800" y="2781300"/>
            <a:ext cx="47625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SF-01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SF-02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주간 / 야간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90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2.25 / 2.50%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0" y="34480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39650" y="34480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3.32 / 3.62%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L-0701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90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2.35%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0" y="41719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39650" y="41719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2.11%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L-0720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390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2.26%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48958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48958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2.03%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L-0809 (8/9~8/20)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438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390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2.72%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344400" y="56197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439650" y="56197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6.12%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L-0821 (8/21~)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43800" y="63436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39050" y="63436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2.24%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344400" y="63436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439650" y="63436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6.61%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계산 필드 불량률 = (생산수량-양품수량)/생산수량 — 결론은 4교시에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2교시 · 실습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5단계 — 비고 분류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현장 메모 140행을 주제로 묶기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주제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781300"/>
            <a:ext cx="28422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781300"/>
            <a:ext cx="28422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행 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설비·유형·기간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열·온도 관련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480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8890" y="34480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34480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9250" y="34480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SF-02 균열 · 8/10~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원료 로트 관련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1719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8890" y="41719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41719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9250" y="41719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소결로 밀도미달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성형 습도 관련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8958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8890" y="48958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0" y="48958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9250" y="48958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 밀도불균일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합계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56197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8890" y="56197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140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56197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9250" y="56197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「느낌」「의심」「작업자 의견」은 추정 — 사실과 나눠 표시한다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2교시 · 실습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 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 피벗 합계 SF-02 8/10후 8,791 · 8/10전 6,313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일평균으로 비교 — SF-02 균열 45.7 → 160.7개(3.5배)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SF-01 대조 — 균열 0.95배 · 밀도미달 1.3배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로트별 불량률 SF-01 L-0809 2.72% · SF-02 L-0821 6.61%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비고 분류 건수를 COUNTIFS 로 다시 세어 합계 140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2교시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3일차 2교시 · 실습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다음은 설비 로그 분석 (3교시)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「TC-3 지시값 확인 필요」는 무엇을 뜻할까요 — 알람 로그에서 사건 타임라인을 만듭니다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알람 로그 597행 구조 보기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로 로그 요약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피벗으로 건수 검증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 사건 타임라인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유형 층별표 · 교대·로트표 · 비고 분류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3일차 3교시 · AI 기반 원인분석 프레임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설비 로그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알람 기록에서 사건 타임라인 만들기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알람 로그를 AI 로 요약하고 건수를 Excel 피벗으로 검증한다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 알람을 시간순으로 늘어놓아 사건 타임라인을 만든다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타임라인의 단서를 사실과 가설로 나눠 가설 문장으로 적는다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원칙 — AI 가 요약하고, Excel 이 센다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3교시 · 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로그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05_equipment_alarm_log.csv — 597행 × 5열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열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68427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68427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544300" y="2781300"/>
            <a:ext cx="56007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44300" y="2781300"/>
            <a:ext cx="5600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값의 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timestamp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448050"/>
            <a:ext cx="6842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8690" y="3448050"/>
            <a:ext cx="6652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날짜와 시각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544300" y="34480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39550" y="34480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2026-08-10 09:12:05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equipment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4171950"/>
            <a:ext cx="6842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8690" y="4171950"/>
            <a:ext cx="6652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544300" y="41719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39550" y="41719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SF-02, GR-01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level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4895850"/>
            <a:ext cx="6842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8690" y="4895850"/>
            <a:ext cx="6652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INFO 160 · WARN 420 · ALARM 17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544300" y="48958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639550" y="48958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등급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code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5619750"/>
            <a:ext cx="6842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8690" y="5619750"/>
            <a:ext cx="6652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알람 종류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544300" y="56197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639550" y="56197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S-301, G-310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message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63440" y="6343650"/>
            <a:ext cx="6842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8690" y="6343650"/>
            <a:ext cx="6652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사람이 읽는 설명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544300" y="63436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639550" y="63436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TC-3 온도 편차 경고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이벤트 로그는 일이 많을수록 줄이 많아진다 — 건수 자체가 신호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3교시 · 실습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다섯 단계 — 요약, 검증, 타임라인, 가설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한글이 깨지면 데이터 → 텍스트/CSV에서 → 65001: 유니코드(UTF-8)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구조 보기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필터로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level·code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AI 요약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 첨부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기준일 8/10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피벗 검증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설비 × 코드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× PM구분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타임라인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SF-02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S-3xx · S-9xx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가설 문장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사실 · 추정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· 확인할 기록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3교시 · 실습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3단계 — 피벗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 온도 알람이 PM 뒤에 몰렸다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79629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7962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설비 · 코드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2781300"/>
            <a:ext cx="39624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2781300"/>
            <a:ext cx="3962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PM전 40일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144500" y="2781300"/>
            <a:ext cx="40005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0" y="2781300"/>
            <a:ext cx="4000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PM후 22일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 S-301 TC-3 편차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34480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9250" y="34480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144500" y="3448050"/>
            <a:ext cx="4000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39750" y="3448050"/>
            <a:ext cx="3810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 S-302 히터 보정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41719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9250" y="41719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144500" y="4171950"/>
            <a:ext cx="4000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39750" y="4171950"/>
            <a:ext cx="3810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 S-305 프로파일 이탈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0" y="48958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9250" y="48958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144500" y="4895850"/>
            <a:ext cx="4000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239750" y="4895850"/>
            <a:ext cx="3810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 S-120 대차 위치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56197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9250" y="56197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144500" y="5619750"/>
            <a:ext cx="4000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239750" y="5619750"/>
            <a:ext cx="3810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SF-01 S-301 TC-3 편차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63436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39250" y="63436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3144500" y="6343650"/>
            <a:ext cx="4000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239750" y="6343650"/>
            <a:ext cx="3810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F2: =IF(INT(--A2)&gt;=DATE(2026,8,10),"PM후","PM전") — 일자 단위로 나눈다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3교시 · 실습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3단계 — 읽는 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기간을 맞추면 차이가 선명하다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PM 전 SF-02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온도 알람 6건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하루 0.15건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0E2F4F"/>
          </a:solidFill>
          <a:ln w="9525">
            <a:solidFill>
              <a:srgbClr val="0E2F4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PM 후 SF-02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온도 알람 61건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하루 약 2.8건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같은 기간 SF-01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S-301 3건 → 4건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거의 그대로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로그 전체 ALARM 등급 17건 = 전부 SF-02 S-305, 8/10 이후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3교시 · 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4단계 — 타임라인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 사건 타임라인 핵심 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252222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25222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코드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2781300"/>
            <a:ext cx="99212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2781300"/>
            <a:ext cx="99212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메시지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7/13 ~ 7/28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448050"/>
            <a:ext cx="25222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8690" y="3448050"/>
            <a:ext cx="23317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S-301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3448050"/>
            <a:ext cx="99212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9010" y="3448050"/>
            <a:ext cx="97307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온도 편차 경고 6건 ±9~10°C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8/10 09:12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4143375"/>
            <a:ext cx="25222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8690" y="4143375"/>
            <a:ext cx="23317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S-900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60" y="4143375"/>
            <a:ext cx="99212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9010" y="4143375"/>
            <a:ext cx="97307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PM 시작 — 열전대 TC-3 교체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8/10 15:40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4838700"/>
            <a:ext cx="25222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8690" y="4838700"/>
            <a:ext cx="23317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S-901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23760" y="4838700"/>
            <a:ext cx="99212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9010" y="4838700"/>
            <a:ext cx="97307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PM 완료 (교정 기록 미입력)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8/10 16:10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5534025"/>
            <a:ext cx="25222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8690" y="5534025"/>
            <a:ext cx="23317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S-301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23760" y="5534025"/>
            <a:ext cx="99212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9010" y="5534025"/>
            <a:ext cx="97307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재가동 30분 뒤 ±10°C 경고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8/10 20:34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63440" y="6229350"/>
            <a:ext cx="25222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8690" y="6229350"/>
            <a:ext cx="23317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S-305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23760" y="6229350"/>
            <a:ext cx="99212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9010" y="6229350"/>
            <a:ext cx="97307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프로파일 이탈 편차 15°C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8/10 ~ 8/31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663440" y="6924675"/>
            <a:ext cx="25222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58690" y="6924675"/>
            <a:ext cx="23317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S-3xx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223760" y="6924675"/>
            <a:ext cx="99212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9010" y="6924675"/>
            <a:ext cx="97307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22일 중 21일 · 10~19°C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8/10 SF-02 온도 알람은 모두 재가동(15:40) 뒤 — 일자 피벗과 시각 타임라인이 같은 이야기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3교시 · 실습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자주 틀리는 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조건을 빼고 물으면 다른 숫자가 나온다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「S-301 몇 건?」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로그 전체를 세어 SF-01 까지 섞인다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90650" y="4838700"/>
            <a:ext cx="880705" cy="4857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0650" y="4838700"/>
            <a:ext cx="88070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 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71355" y="4838700"/>
            <a:ext cx="5996345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23755" y="4838700"/>
            <a:ext cx="569154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41건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90650" y="5400675"/>
            <a:ext cx="880705" cy="4857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90650" y="5400675"/>
            <a:ext cx="88070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섞인 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71355" y="5400675"/>
            <a:ext cx="5996345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23755" y="5400675"/>
            <a:ext cx="569154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SF-01 7건 · PM 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설비·기간까지 지정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「SF-02, 8/10 이후 S-301 몇 건?」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020300" y="4838700"/>
            <a:ext cx="880705" cy="4857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20300" y="4838700"/>
            <a:ext cx="88070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피벗 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01005" y="4838700"/>
            <a:ext cx="5996345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53405" y="4838700"/>
            <a:ext cx="569154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28건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20300" y="5400675"/>
            <a:ext cx="880705" cy="4857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20300" y="5400675"/>
            <a:ext cx="88070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01005" y="5400675"/>
            <a:ext cx="5996345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53405" y="5400675"/>
            <a:ext cx="569154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조건을 빠짐없이</a:t>
            </a:r>
          </a:p>
        </p:txBody>
      </p:sp>
      <p:sp>
        <p:nvSpPr>
          <p:cNvPr id="30" name="Oval 29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3교시 · 실습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5단계 — 가설 문장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「교정 누락 의심」은 아직 가설이다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로그로 확인된 사실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TC-3 교체 · 「교정 기록 미입력」 · 이후 온도 알람 61건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아직 추정인 부분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교정을 실제로 안 했는지(기록만 빠졌을 수도) · 균열로 이어졌는지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확인할 기록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보전 작업 지시서 · 교정 성적서 · 열전대 사양 · 담당자 확인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검증은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오후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3일차 7·8교시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3교시 · 실습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 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597행 · INFO 160 · WARN 420 · ALARM 17 을 Excel 로 확인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 PM후 S-301 28 · S-302 16 · S-305 17 — AI 와 대조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타임라인에 8/10 09:12 · 15:40 · 16:10 세 줄이 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교정 누락을 사실이 아닌 가설로 적었다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설명 안 되는 행은 지우지 않고 확인 질문으로 남겼다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3교시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무료 계정이면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CSV 업로드 대신 SF_ALARM 151행 붙여넣기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파일 분석 가능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CSV 597행을 올려 요약 요청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가 코드별 건수 집계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피벗으로 건수 재확인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무료 계정 · 한도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08_paste_pack 의 SF_ALARM 복사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소결로 두 대만 151행</a:t>
            </a:r>
          </a:p>
        </p:txBody>
      </p:sp>
      <p:sp>
        <p:nvSpPr>
          <p:cNvPr id="20" name="Oval 19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「첨부한 CSV」→「붙여 넣은 표」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건수는 피벗으로 확인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3교시 · 실습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3일차 3교시 · 실습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다음은 조건별 영향도 추론 (4교시)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온도·로트·교대·습도 — 같은 조건끼리 비교해 영향 크기 순으로 늘어놓습니다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온도편차와 PM — 대조군 SF-01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원료 로트 — 부원인인가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교대·습도 — 작거나 가짜인 영향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영향도 표를 AI 로 정리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알람 피벗 · 타임라인 · 가설 문장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3일차 4교시 · AI 기반 원인분석 프레임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작업·공정 조건별 영향도 추론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온도·로트·교대·습도를 같은 조건끼리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보고 싶은 조건 하나만 다른 짝을 찾아 비교한다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네 조건의 영향 크기를 %p 와 상관계수로 표에 담는다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에게 크기 순 정리와 반론 점검을 맡기고 숫자를 대조한다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여러 일이 8월에 함께 일어났습니다 — 무엇이 얼마나인지 가립니다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4교시 · 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같은 조건끼리 비교 — 짝 찾기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보고 싶은 조건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781300"/>
            <a:ext cx="700278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781300"/>
            <a:ext cx="70027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짝 지을 두 무리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같게 맞춘 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12242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931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PM(온도편차)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3448050"/>
            <a:ext cx="70027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8770" y="3448050"/>
            <a:ext cx="68122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SF-02 PM 전 vs 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0" y="3448050"/>
            <a:ext cx="48006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39650" y="3448050"/>
            <a:ext cx="4610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412242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3931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시기(8월)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143375"/>
            <a:ext cx="70027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8770" y="4143375"/>
            <a:ext cx="68122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SF-01 PM 전 vs 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0" y="4143375"/>
            <a:ext cx="48006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39650" y="4143375"/>
            <a:ext cx="4610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설비 · 대조군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412242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3931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원료 로트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0" y="4838700"/>
            <a:ext cx="70027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8770" y="4838700"/>
            <a:ext cx="68122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SF-01 L-0809 vs 다른 로트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4838700"/>
            <a:ext cx="48006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4838700"/>
            <a:ext cx="4610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설비 · 대조군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412242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3931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로트가 주원인?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0" y="5534025"/>
            <a:ext cx="70027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8770" y="5534025"/>
            <a:ext cx="68122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SF-02 L-0809 vs L-0821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344400" y="5534025"/>
            <a:ext cx="48006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439650" y="5534025"/>
            <a:ext cx="4610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설비 · PM 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412242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3931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교대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03520" y="6229350"/>
            <a:ext cx="70027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98770" y="6229350"/>
            <a:ext cx="68122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설비 주간 vs 야간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344400" y="6229350"/>
            <a:ext cx="48006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439650" y="6229350"/>
            <a:ext cx="4610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설비 · 기간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412242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3931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습도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03520" y="6924675"/>
            <a:ext cx="70027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98770" y="6924675"/>
            <a:ext cx="68122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SF-01 만의 상관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2344400" y="6924675"/>
            <a:ext cx="48006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439650" y="6924675"/>
            <a:ext cx="4610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PM 문제 없는 설비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실험실처럼 조건을 바꿀 수 없으니, 쌓인 데이터 안에서 짝을 찾는다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4교시 · 실습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1단계 — 온도편차와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 만 온도편차가 커지고 불량률이 뛰었다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44424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44424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온도편차 전→후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2781300"/>
            <a:ext cx="44424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2781300"/>
            <a:ext cx="44424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불량률 전→후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624560" y="2781300"/>
            <a:ext cx="35204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624560" y="2781300"/>
            <a:ext cx="35204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차이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SF-01 (대조)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34480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8690" y="34480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6.7 → 6.5°C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34480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9250" y="34480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2.31 → 2.49%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624560" y="3448050"/>
            <a:ext cx="3520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9810" y="3448050"/>
            <a:ext cx="3329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+0.18%p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41719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8690" y="41719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6.0 → 16.6°C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0" y="41719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9250" y="41719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2.11 → 6.5%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624560" y="4171950"/>
            <a:ext cx="3520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9810" y="4171950"/>
            <a:ext cx="3329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+4.39%p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8월이라는 시기 영향은 약 0.18%p · 나머지 약 4.2%p 는 SF-02 변화와 함께 · r 0.95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4교시 · 실습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2단계 — 원료 로트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L-0809 는 부원인 후보 — 작지만 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SF-01 에서 비교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PM 문제가 없는 설비에서 로트끼리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90650" y="4838700"/>
            <a:ext cx="1045339" cy="4857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0650" y="4838700"/>
            <a:ext cx="1045339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L-0809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35989" y="4838700"/>
            <a:ext cx="5831711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88389" y="4838700"/>
            <a:ext cx="5526911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2.72%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90650" y="5400675"/>
            <a:ext cx="1045339" cy="4857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90650" y="5400675"/>
            <a:ext cx="1045339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다른 로트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35989" y="5400675"/>
            <a:ext cx="5831711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88389" y="5400675"/>
            <a:ext cx="5526911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2.24~2.35%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90650" y="5962650"/>
            <a:ext cx="1045339" cy="4857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90650" y="5962650"/>
            <a:ext cx="1045339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차이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35989" y="5962650"/>
            <a:ext cx="5831711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88389" y="5962650"/>
            <a:ext cx="5526911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+0.4~0.5%p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 로트 교체 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로트를 바꿔도 내려가지 않았다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20300" y="4838700"/>
            <a:ext cx="1022330" cy="4857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20300" y="4838700"/>
            <a:ext cx="1022330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L-0809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042630" y="4838700"/>
            <a:ext cx="5854720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95030" y="4838700"/>
            <a:ext cx="5549920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6.12%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20300" y="5400675"/>
            <a:ext cx="1022330" cy="4857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20300" y="5400675"/>
            <a:ext cx="1022330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L-0821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042630" y="5400675"/>
            <a:ext cx="5854720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95030" y="5400675"/>
            <a:ext cx="5549920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6.61%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20300" y="5962650"/>
            <a:ext cx="1022330" cy="4857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20300" y="5962650"/>
            <a:ext cx="1022330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판정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042630" y="5962650"/>
            <a:ext cx="5854720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95030" y="5962650"/>
            <a:ext cx="5549920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주원인 아님</a:t>
            </a:r>
          </a:p>
        </p:txBody>
      </p:sp>
      <p:sp>
        <p:nvSpPr>
          <p:cNvPr id="38" name="Oval 37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4교시 · 실습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3단계 — 교대와 습도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작은 영향과 가짜 상관 걸러내기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교대(야간)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SF-01 +0.25%p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SF-02 +0.30%p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습도 → 소결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합치면 r 0.21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SF-01 만 r 0.11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습도 → 성형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 0.80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1.06 → 1.31%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숙련도는 추정 — 냉간 재시작(온도편차)도 후보 · 습도는 성형의 별개 과제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4교시 · 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4단계 — 결과물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조건별 영향도 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조건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3800" y="2781300"/>
            <a:ext cx="52425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2781300"/>
            <a:ext cx="52425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영향 크기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24460" y="2781300"/>
            <a:ext cx="43205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24460" y="2781300"/>
            <a:ext cx="4320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판정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온도편차(SF-02 PM 후)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34480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9050" y="34480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+4.39%p · r 0.95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24460" y="3448050"/>
            <a:ext cx="4320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919710" y="3448050"/>
            <a:ext cx="4130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주원인 후보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원료 로트 L-0809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41719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9050" y="41719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+0.4~0.5%p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824460" y="4171950"/>
            <a:ext cx="4320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919710" y="4171950"/>
            <a:ext cx="4130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부원인 후보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교대(야간)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48958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39050" y="48958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+0.25~0.30%p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824460" y="4895850"/>
            <a:ext cx="4320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919710" y="4895850"/>
            <a:ext cx="4130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작은 상시 영향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습도 → 소결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43800" y="56197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39050" y="56197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SF-01 r 0.11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824460" y="5619750"/>
            <a:ext cx="4320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919710" y="5619750"/>
            <a:ext cx="4130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가짜 상관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습도 → 성형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43800" y="63436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39050" y="63436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 0.80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824460" y="6343650"/>
            <a:ext cx="4320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919710" y="6343650"/>
            <a:ext cx="4130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별개 과제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오후 5교시 잠재 원인 후보군 도출의 입력이 된다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4교시 · 실습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4단계 — AI 로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에게 맡길 때 함께 요청할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크기 순 표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순위 · 조건 · 근거 숫자 · 비교 방법 · 판정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표의 숫자만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새로 계산한 값은 계산식을 함께 — 한 글자씩 대조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교란 짚기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L-0809 기간과 PM 시점처럼 시기가 겹친 조합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반론 점검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판정이 틀렸다면 어떤 데이터가 나와야 하나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4교시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자주 틀리는 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로트 영향을 SF-02 에서 재면 속는다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 에서 비교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L-0809 기간이 PM 시점과 겹쳐 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90650" y="4838700"/>
            <a:ext cx="1045339" cy="4857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0650" y="4838700"/>
            <a:ext cx="1045339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L-0809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35989" y="4838700"/>
            <a:ext cx="5831711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88389" y="4838700"/>
            <a:ext cx="5526911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6.12%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90650" y="5400675"/>
            <a:ext cx="1045339" cy="4857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90650" y="5400675"/>
            <a:ext cx="1045339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이전 로트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35989" y="5400675"/>
            <a:ext cx="5831711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88389" y="5400675"/>
            <a:ext cx="5526911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2.03~2.11%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90650" y="5962650"/>
            <a:ext cx="1045339" cy="4857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90650" y="5962650"/>
            <a:ext cx="1045339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착각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35989" y="5962650"/>
            <a:ext cx="5831711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88389" y="5962650"/>
            <a:ext cx="5526911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로트가 주원인?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SF-01 에서 비교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시기가 정해진 조건은 대조군에서 잰다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20300" y="4838700"/>
            <a:ext cx="1045339" cy="4857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20300" y="4838700"/>
            <a:ext cx="1045339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L-0809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065639" y="4838700"/>
            <a:ext cx="5831711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218039" y="4838700"/>
            <a:ext cx="5526911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2.72%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20300" y="5400675"/>
            <a:ext cx="1045339" cy="4857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20300" y="5400675"/>
            <a:ext cx="1045339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다른 로트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065639" y="5400675"/>
            <a:ext cx="5831711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218039" y="5400675"/>
            <a:ext cx="5526911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2.24~2.35%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20300" y="5962650"/>
            <a:ext cx="1045339" cy="4857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20300" y="5962650"/>
            <a:ext cx="1045339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065639" y="5962650"/>
            <a:ext cx="5831711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218039" y="5962650"/>
            <a:ext cx="5526911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+0.4~0.5%p</a:t>
            </a:r>
          </a:p>
        </p:txBody>
      </p:sp>
      <p:sp>
        <p:nvSpPr>
          <p:cNvPr id="38" name="Oval 37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4교시 · 실습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 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조건마다 무엇을 같게 맞췄는지 비교 방법을 적었다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 6.0 → 16.6°C · +4.39%p, 대조 SF-01 +0.18%p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로트는 SF-01 에서 재고, SF-02 L-0821 6.61% 반증을 적었다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교대 차이를 숙련도 탓으로 단정하지 않았다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습도는 소결엔 가짜 상관, 성형엔 별개 과제로 나눴다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4교시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3일차 4교시 · 실습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다음은 잠재 원인 후보군 도출 (5교시)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오전의 단서를 모아 AI 와 함께 원인 후보를 넓게 펼치고, 오후 내내 분류·검증합니다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1교시 특성요인도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2교시 불량 유형 층별표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3교시 타임라인과 가설 문장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4교시 조건별 영향도 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조건별 영향도 표와 반론 점검 메모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3일차 5교시 · 원인 후보 분류와 검증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잠재 원인 후보군 도출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와 함께 넓게 펼치기 — 아직 지우지 않는다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오전 분석을 현상 문장 한 줄로 고정한다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페르소나 프롬프트로 4M1E 후보와 확인할 데이터를 받는다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현장 지식을 보태고 중복을 합쳐 후보 15~20개를 만든다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진짜 원인이 목록에 없으면 검증으로도 못 찾는다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5교시 · 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발산과 수렴 — 두 박자를 섞지 않는다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구분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63627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발산 (이번 시간)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수렴 (6~8교시)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하는 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가능한 원인을 빠짐없이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34480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34480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겹침 정리 · 데이터로 거름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태도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1719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41719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판단 보류 — 엉뚱해도 적기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41719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41719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근거 숫자가 있는가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의 쓰임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8958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8650" y="48958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놓친 갈래를 보태는 동료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48958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9450" y="48958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[추정]을 표시하는 점검자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결과물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56197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56197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원인 후보 15~20개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44200" y="56197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9450" y="56197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판정표 · 검증 계획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5교시 · 실습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4M1E — 서랍 다섯 개, 서랍마다 두 개 이상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갈래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66827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6682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스스로 던질 질문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 라인의 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Man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누가 하느냐에 따라 다른가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64240" y="34480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9490" y="34480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교대 · 보전 작업자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Machine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1719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41719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설비 상태가 바뀌었는가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64240" y="41719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9490" y="41719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히터 · 열전대 · 단열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Material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8958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8650" y="48958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재료가 달라졌는가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064240" y="48958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59490" y="48958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원료 로트 · 성형체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Method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56197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56197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방식 · 절차가 바뀌었는가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064240" y="56197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59490" y="56197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PM 뒤 재가동 · 승온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Environment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43400" y="63436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38650" y="63436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주변 조건이 바뀌었는가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064240" y="63436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159490" y="63436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장마철 습도 · 외기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5교시 · 실습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다섯 단계 — 사람 먼저, AI 다음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후보는 07_improvement_workbook 의 1_원인후보_4M1E 시트에 모읍니다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현상 문장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언제·어디서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무엇이·얼마나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사람 먼저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혼자 5분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메모 한 장 한 후보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AI 펼치기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페르소나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4M1E 각 3개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보태기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현장 지식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빈 갈래 다시 묻기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정리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중복 합치기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15~20개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5교시 · 실습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현상 문장 — 비교 대상까지 한 줄에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나쁜 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언제 · 어디서 · 얼마나가 없다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소결 불량이 많다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8월에 품질이 나빠졌다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좋은 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SF-01 과 비교가 문장 안에 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8/10 PM 뒤 SF-02 불량률</a:t>
            </a:r>
          </a:p>
        </p:txBody>
      </p:sp>
      <p:sp>
        <p:nvSpPr>
          <p:cNvPr id="20" name="Oval 19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2.11% → 6.5%, 균열·밀도미달 증가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기간 SF-01 2.31% → 2.49%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5교시 · 실습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4M1E 후보 펼치기 프롬프트의 뼈대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페르소나 2인 → 상황 → 현상 → 오전 사실 → 4M1E 각 3개 → 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 공정 기술자 + 품질 엔지니어의 관점으로,</a:t>
            </a:r>
          </a:p>
          <a:p>
            <a:pPr algn="l">
              <a:lnSpc>
                <a:spcPct val="150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 균열·밀도미달 증가의 잠재 원인 후보를 4M1E 로 각 3개 펼쳐 주세요.</a:t>
            </a:r>
          </a:p>
          <a:p>
            <a:pPr algn="l">
              <a:lnSpc>
                <a:spcPct val="150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열: 갈래 | 원인 → 결과 | 데이터에서 보일 흔적 | 확인할 데이터. 단정 대신 「~일 수 있다」.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보안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가상 데이터 요약만 — 현업은 설비번호·설정값 비식별화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5교시 · 실습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현장 지식으로 보태고 빈 곳을 다시 묻는다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표와 메모를 나란히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사람만 · AI 만 · 둘 다 낸 후보를 표시한다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비고 열에서 실마리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「상단 트레이 균열 집중」 「TC-3 지시값 확인 필요」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빈 갈래 · 반대 관점 다시 묻기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SF-02 설비가 아닌 곳에 원인이 있다면?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후보마다 묻기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SF-01 에서도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보여야 하나?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5교시 · 실습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자주 틀리는 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후보 목록이 좁아지는 네 가지 습관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답부터 본다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의 답이 기준점이 되어 내 생각이 그 안에 갇힌다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「그건 아닐 거야」로 지운다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판정은 7교시에 데이터로 — 지금은 판단 보류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「야간 문제」로 뭉친다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숙련도와 승온 방식은 원리가 다르다 — 둘로 둔다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확인할 데이터를 비운다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없으면 「없음」이라고 적는다 — 그것도 근거다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5교시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 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현상 문장에 SF-01 비교가 들어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4M1E 다섯 갈래마다 후보가 2개 이상이다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후보마다 확인할 데이터가 적혀 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사람이 먼저 적은 후보가 목록에 남아 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데이터 판정을 이유로 지운 후보가 없다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5교시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3일차 5교시 · 실습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다음은 MECE 분류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펼친 후보를 겹치지 않고 빠짐없이 나누고, 빠진 갈래를 찾습니다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MECE — 겹치지 않고 빠짐없이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같은 「야간」, 다른 갈래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빠진 갈래: 측정(Measurement)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에게 MECE 점검 받기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원인 후보 15~20개 목록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3일차 6교시 · 원인 후보 분류와 검증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MECE 분류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4M1E 로직 트리로 정리하기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MECE 의 뜻을 알고 목록의 겹침과 누락을 찾는다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현상 → 갈래 → 원인 후보 로직 트리로 정리한다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에게 MECE 점검을 받고 원인후보 시트에 반영한다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겹치면 두 번 검증하고, 빠지면 끝까지 못 찾는다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6교시 · 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MECE — 겹치지 않고, 빠짐없이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ME — 겹치지 않게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후보는 한 갈래에만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서랍마다 한 종류만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어기면: 같은 원인을 두 번 검증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점검: 두 서랍에 동시에 넣을 수 있나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CE — 빠짐없이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갈래를 합치면 가능한 원인 전체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바닥에 굴러다니는 옷이 없게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어기면: 진짜 원인이 목록 밖에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점검: 어느 서랍에도 안 들어가는 것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6교시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갈래 기준은 하나 — 무엇을 바꾸면 사라지나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95631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95631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원인을 없애는 조치가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갈래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95631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93726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사람 교육 · 배치 변경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744200" y="3448050"/>
            <a:ext cx="64008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39450" y="3448050"/>
            <a:ext cx="62103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43375"/>
            <a:ext cx="95631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43375"/>
            <a:ext cx="93726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설비 수리 · 교체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4143375"/>
            <a:ext cx="64008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4143375"/>
            <a:ext cx="62103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Machine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38700"/>
            <a:ext cx="95631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38700"/>
            <a:ext cx="93726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재료 · 공급처 변경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44200" y="4838700"/>
            <a:ext cx="64008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39450" y="4838700"/>
            <a:ext cx="62103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Material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534025"/>
            <a:ext cx="95631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534025"/>
            <a:ext cx="93726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절차 · 기준 · 순서 변경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744200" y="5534025"/>
            <a:ext cx="64008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39450" y="5534025"/>
            <a:ext cx="62103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Method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229350"/>
            <a:ext cx="95631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229350"/>
            <a:ext cx="93726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측정기 교정 · 측정 방법 변경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6229350"/>
            <a:ext cx="64008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9450" y="6229350"/>
            <a:ext cx="62103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Measurement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924675"/>
            <a:ext cx="95631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924675"/>
            <a:ext cx="93726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온습도 · 환경 관리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744200" y="6924675"/>
            <a:ext cx="64008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839450" y="6924675"/>
            <a:ext cx="62103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Environment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6교시 · 실습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겹침 찾기 — 같은 낱말, 다른 원리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낱말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781300"/>
            <a:ext cx="92430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781300"/>
            <a:ext cx="92430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후보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664440" y="2781300"/>
            <a:ext cx="44805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64440" y="2781300"/>
            <a:ext cx="44805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갈래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야간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3448050"/>
            <a:ext cx="92430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8530" y="3448050"/>
            <a:ext cx="90525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작업자 숙련도가 낮다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664440" y="34480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759690" y="34480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야간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4171950"/>
            <a:ext cx="92430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8530" y="4171950"/>
            <a:ext cx="90525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냉간 재시작 승온이 급하다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664440" y="41719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759690" y="41719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Method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PM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3280" y="4895850"/>
            <a:ext cx="92430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8530" y="4895850"/>
            <a:ext cx="90525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작업자가 교정 절차를 몰랐다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664440" y="48958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759690" y="48958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Man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PM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83280" y="5619750"/>
            <a:ext cx="92430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8530" y="5619750"/>
            <a:ext cx="90525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재가동 절차에 교정 확인 없음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664440" y="56197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759690" y="56197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Method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PM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83280" y="6343650"/>
            <a:ext cx="92430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8530" y="6343650"/>
            <a:ext cx="90525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TC-3 교정 누락 → 지시값 오차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664440" y="63436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759690" y="63436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Measurement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0866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원리가 다르면 나누고, 말만 다르면 합친다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6교시 · 실습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3단계 — 빠진 갈래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열전대도 측정기다 — Measurement 를 넣는다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TC-3 지시값 오차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없애는 조치가 수리가 아니라 교정 → Measurement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검사실 밀도 측정기 오차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재는 쪽이 틀어지면 불량이 과다 판정된다 — I-402 알람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시트에 행 추가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Environment 위에 Measurement(측정) 행을 삽입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4M1E + 측정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5M1E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6교시 · 실습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MECE 점검 프롬프트의 뼈대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품질 엔지니어 → 현상 → 우리 목록 → 4가지 점검 → 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우리 팀의 원인 후보 목록을 MECE 관점에서 점검해 주세요.</a:t>
            </a:r>
          </a:p>
          <a:p>
            <a:pPr algn="l">
              <a:lnSpc>
                <a:spcPct val="150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1 겹침 2 잘못 들어간 갈래 3 비어 있는 갈래 4 수준 섞임.</a:t>
            </a:r>
          </a:p>
          <a:p>
            <a:pPr algn="l">
              <a:lnSpc>
                <a:spcPct val="150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열: 대상 후보 | 문제 | 제안. 새 후보에는 「확인 가능 / 현장 확인 필요」.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판단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지적마다 팀이 수용 · 보류 · 거절을 정한다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6교시 · 실습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로직 트리 — 현상에서 원인 후보까지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갈래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781300"/>
            <a:ext cx="1184148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781300"/>
            <a:ext cx="118414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 후보 (예)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122420" cy="546100"/>
          </a:xfrm>
          <a:prstGeom prst="roundRect">
            <a:avLst>
              <a:gd name="adj" fmla="val 697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393192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Man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3448050"/>
            <a:ext cx="1184148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8770" y="3448050"/>
            <a:ext cx="1165098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야간 숙련도 · PM 작업자 절차 숙지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070350"/>
            <a:ext cx="4122420" cy="546100"/>
          </a:xfrm>
          <a:prstGeom prst="roundRect">
            <a:avLst>
              <a:gd name="adj" fmla="val 697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070350"/>
            <a:ext cx="393192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Machine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4070350"/>
            <a:ext cx="1184148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8770" y="4070350"/>
            <a:ext cx="1165098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히터 Zone2 출력 · 단열 열화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692650"/>
            <a:ext cx="4122420" cy="546100"/>
          </a:xfrm>
          <a:prstGeom prst="roundRect">
            <a:avLst>
              <a:gd name="adj" fmla="val 697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692650"/>
            <a:ext cx="393192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Material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692650"/>
            <a:ext cx="1184148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8770" y="4692650"/>
            <a:ext cx="1165098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로트 L-0809 · 성형체 밀도 편차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314950"/>
            <a:ext cx="4122420" cy="546100"/>
          </a:xfrm>
          <a:prstGeom prst="roundRect">
            <a:avLst>
              <a:gd name="adj" fmla="val 697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314950"/>
            <a:ext cx="393192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Method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0" y="5314950"/>
            <a:ext cx="1184148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8770" y="5314950"/>
            <a:ext cx="1165098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재가동 교정 확인 · 냉간 재시작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5937250"/>
            <a:ext cx="4122420" cy="546100"/>
          </a:xfrm>
          <a:prstGeom prst="roundRect">
            <a:avLst>
              <a:gd name="adj" fmla="val 697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5937250"/>
            <a:ext cx="393192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Measurement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0" y="5937250"/>
            <a:ext cx="1184148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8770" y="5937250"/>
            <a:ext cx="1165098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TC-3 교정 누락 · 밀도 측정기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559550"/>
            <a:ext cx="4122420" cy="546100"/>
          </a:xfrm>
          <a:prstGeom prst="roundRect">
            <a:avLst>
              <a:gd name="adj" fmla="val 697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559550"/>
            <a:ext cx="393192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Environment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0" y="6559550"/>
            <a:ext cx="1184148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8770" y="6559550"/>
            <a:ext cx="1165098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장마철 습도 · 외기 온도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맨 위: SF-02 균열·밀도미달 증가 (8/10 PM 이후)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6교시 · 실습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자주 틀리는 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MECE 정리에서 자주 걸리는 곳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의 「야간끼리 합치자」를 받는다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원리와 대책이 다르면 거절한다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TC-3 를 Machine 에 둔 채 끝낸다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열전대는 측정기 — 조치가 교정이면 Measurement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「설비 문제」 같은 큰 후보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다른 후보와 수준이 맞지 않는다 — 한 층 더 내려간다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D열 선택 목록을 빠뜨린다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 유효성 검사 → 목록: 사실,추정,반증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6교시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 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한 후보가 두 갈래에 동시에 있지 않다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야간 숙련도(Man) · 냉간 재시작(Method)이 나뉘어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Measurement 행에 TC-3 교정 누락이 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지적마다 수용 · 보류 · 거절을 정했다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D열에 사실 · 추정 · 반증 선택 목록이 있다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6교시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3일차 6교시 · 실습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다음은 사실과 추정 구분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후보마다 근거 데이터를 붙이고 사실 · 추정 · 반증으로 판정합니다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숫자 · 출처 · 비교 대상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피벗으로 로트 · 교대 다시 세기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SF-01 에서 따로 보기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답에 [추정] 표시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로직 트리 · 정리된 원인후보 시트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3일차 7교시 · 원인 후보 분류와 검증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사실과 추정 구분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후보마다 근거 데이터를 연결한다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사실 · 추정 · 반증의 기준을 후보에 적용한다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후보마다 파일 · 열 · 숫자를 잇고 Excel 로 다시 센다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답에서 근거 없는 문장에 [추정]을 붙이게 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숫자 · 출처 · 비교 대상 — 셋이 다 있어야 사실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7교시 · 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판정은 세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0E2F4F"/>
          </a:solidFill>
          <a:ln w="9525">
            <a:solidFill>
              <a:srgbClr val="0E2F4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24175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65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데이터로 확인된다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숫자 · 출처 · 비교 대상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2924175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6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추정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데이터가 없거나 약하다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그럴듯해도 근거 없음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2924175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87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반증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데이터가 부정한다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보여야 할 흔적이 없다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800725"/>
            <a:ext cx="47625" cy="7239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5857875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기록이 없다(사실) ≠ 그 일을 안 했다(현장 확인 필요)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7교시 · 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근거 데이터 지도 — 어느 파일이 답하나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71628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7162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후보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43900" y="2781300"/>
            <a:ext cx="88011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3900" y="2781300"/>
            <a:ext cx="88011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근거 파일 · 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716280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6972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TC-3 → 온도편차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43900" y="3448050"/>
            <a:ext cx="88011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9150" y="3448050"/>
            <a:ext cx="86106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04 불량기록 · 소결온도편차_C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044043"/>
            <a:ext cx="716280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044043"/>
            <a:ext cx="6972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PM 뒤 교정 기록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43900" y="4044043"/>
            <a:ext cx="88011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9150" y="4044043"/>
            <a:ext cx="86106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05 알람 · S-900 · S-901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640036"/>
            <a:ext cx="716280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640036"/>
            <a:ext cx="6972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온도 알람 증가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43900" y="4640036"/>
            <a:ext cx="88011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9150" y="4640036"/>
            <a:ext cx="86106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05 알람 · S-301 · S-302 · S-305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236029"/>
            <a:ext cx="716280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236029"/>
            <a:ext cx="6972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원료 로트 L-0809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43900" y="5236029"/>
            <a:ext cx="88011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9150" y="5236029"/>
            <a:ext cx="86106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02 생산일지 · 원료로트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5832021"/>
            <a:ext cx="716280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5832021"/>
            <a:ext cx="6972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야간 숙련도 · 냉간 재시작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43900" y="5832021"/>
            <a:ext cx="88011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39150" y="5832021"/>
            <a:ext cx="86106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02 · 04 · 교대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428014"/>
            <a:ext cx="716280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428014"/>
            <a:ext cx="6972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습도 → 소결 불량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43900" y="6428014"/>
            <a:ext cx="88011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39150" y="6428014"/>
            <a:ext cx="86106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04 불량기록 · 성형실습도_pct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7024007"/>
            <a:ext cx="716280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8250" y="7024007"/>
            <a:ext cx="6972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작업자 경력 · 교육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43900" y="7024007"/>
            <a:ext cx="88011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39150" y="7024007"/>
            <a:ext cx="86106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없음 → 현장 자료 필요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7교시 · 실습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피벗으로 다시 센다 — 불량률은 합계끼리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38488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290888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024188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M열 PM구분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481388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=IF(A2&lt;"2026-08-10","PM전","PM후")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105275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310062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462462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195762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삽입 → 피벗 테이블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652962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필터 공정=소결 · 행 설비·원료로트 · 열 PM구분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276850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481638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634038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367338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계산 필드 「불량률」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5824538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=(생산수량-양품수량)/생산수량 → 백분율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48425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653212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6805612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538912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원료로트 대신 교대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6996112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피벗에서 교대별 불량률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6DDD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행별 불량률의 평균은 생산량이 다른 행을 똑같이 취급해 틀어진다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7교시 · 실습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2단계 — 나와야 하는 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로트 · 교대별 불량률 — SF-01 에서 따로 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700278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70027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구분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83880" y="2781300"/>
            <a:ext cx="44424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2781300"/>
            <a:ext cx="44424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SF-01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664440" y="2781300"/>
            <a:ext cx="44805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64440" y="2781300"/>
            <a:ext cx="44805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SF-02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7002780" cy="546100"/>
          </a:xfrm>
          <a:prstGeom prst="roundRect">
            <a:avLst>
              <a:gd name="adj" fmla="val 697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681228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L-0701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3448050"/>
            <a:ext cx="444246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9130" y="3448050"/>
            <a:ext cx="425196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2.35%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664440" y="3448050"/>
            <a:ext cx="448056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759690" y="3448050"/>
            <a:ext cx="429006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2.11%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070350"/>
            <a:ext cx="7002780" cy="546100"/>
          </a:xfrm>
          <a:prstGeom prst="roundRect">
            <a:avLst>
              <a:gd name="adj" fmla="val 697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070350"/>
            <a:ext cx="681228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L-0720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80" y="4070350"/>
            <a:ext cx="444246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9130" y="4070350"/>
            <a:ext cx="425196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2.26%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664440" y="4070350"/>
            <a:ext cx="448056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759690" y="4070350"/>
            <a:ext cx="429006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2.03%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692650"/>
            <a:ext cx="7002780" cy="546100"/>
          </a:xfrm>
          <a:prstGeom prst="roundRect">
            <a:avLst>
              <a:gd name="adj" fmla="val 697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692650"/>
            <a:ext cx="681228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L-0809 (PM 과 겹침)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80" y="4692650"/>
            <a:ext cx="444246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9130" y="4692650"/>
            <a:ext cx="425196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2.72%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664440" y="4692650"/>
            <a:ext cx="448056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759690" y="4692650"/>
            <a:ext cx="429006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6.12%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314950"/>
            <a:ext cx="7002780" cy="546100"/>
          </a:xfrm>
          <a:prstGeom prst="roundRect">
            <a:avLst>
              <a:gd name="adj" fmla="val 697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314950"/>
            <a:ext cx="681228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L-0821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83880" y="5314950"/>
            <a:ext cx="444246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9130" y="5314950"/>
            <a:ext cx="425196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2.24%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664440" y="5314950"/>
            <a:ext cx="448056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759690" y="5314950"/>
            <a:ext cx="429006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6.61%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937250"/>
            <a:ext cx="7002780" cy="546100"/>
          </a:xfrm>
          <a:prstGeom prst="roundRect">
            <a:avLst>
              <a:gd name="adj" fmla="val 697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937250"/>
            <a:ext cx="681228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주간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83880" y="5937250"/>
            <a:ext cx="444246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79130" y="5937250"/>
            <a:ext cx="425196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2.25%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664440" y="5937250"/>
            <a:ext cx="448056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759690" y="5937250"/>
            <a:ext cx="429006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3.32%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559550"/>
            <a:ext cx="7002780" cy="546100"/>
          </a:xfrm>
          <a:prstGeom prst="roundRect">
            <a:avLst>
              <a:gd name="adj" fmla="val 697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559550"/>
            <a:ext cx="681228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야간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83880" y="6559550"/>
            <a:ext cx="444246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79130" y="6559550"/>
            <a:ext cx="425196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2.50%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2664440" y="6559550"/>
            <a:ext cx="448056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759690" y="6559550"/>
            <a:ext cx="429006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3.62%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SF-02 는 로트가 바뀐 뒤에도 높다 — 로트는 주원인이 아니다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7교시 · 실습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후보마다 판정 — 이 데이터의 결론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후보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781300"/>
            <a:ext cx="68427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781300"/>
            <a:ext cx="68427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근거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144500" y="2781300"/>
            <a:ext cx="40005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0" y="2781300"/>
            <a:ext cx="4000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판정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TC-3 → 온도편차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48050"/>
            <a:ext cx="68427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8890" y="3448050"/>
            <a:ext cx="66522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6.0 → 16.6°C · r=0.95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144500" y="3448050"/>
            <a:ext cx="40005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39750" y="3448050"/>
            <a:ext cx="3810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온도 알람 증가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143375"/>
            <a:ext cx="68427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8890" y="4143375"/>
            <a:ext cx="66522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S-301 6 → 28건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144500" y="4143375"/>
            <a:ext cx="40005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39750" y="4143375"/>
            <a:ext cx="3810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PM 뒤 교정 기록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838700"/>
            <a:ext cx="68427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8890" y="4838700"/>
            <a:ext cx="66522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S-901 교정 기록 미입력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144500" y="4838700"/>
            <a:ext cx="40005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239750" y="4838700"/>
            <a:ext cx="3810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사실(기록)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원료 로트 L-0809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5534025"/>
            <a:ext cx="68427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8890" y="5534025"/>
            <a:ext cx="66522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SF-01 2.72 vs 2.24~2.35%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144500" y="5534025"/>
            <a:ext cx="40005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239750" y="5534025"/>
            <a:ext cx="3810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사실(부분)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야간 숙련도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6229350"/>
            <a:ext cx="68427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8890" y="6229350"/>
            <a:ext cx="66522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작업자 데이터 없음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3144500" y="6229350"/>
            <a:ext cx="40005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239750" y="6229350"/>
            <a:ext cx="3810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추정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습도 → 소결 불량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63640" y="6924675"/>
            <a:ext cx="68427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8890" y="6924675"/>
            <a:ext cx="66522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SF-01 만 r=0.11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3144500" y="6924675"/>
            <a:ext cx="40005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239750" y="6924675"/>
            <a:ext cx="3810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반증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7교시 · 실습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[추정] 표시 원인 요약 프롬프트의 뼈대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품질 엔지니어 → 현상 → 근거 표 → 작성 규칙 5 → 형식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아래 근거 표만 사용해 SF-02 불량 증가의 원인을 요약해 주세요.</a:t>
            </a:r>
          </a:p>
          <a:p>
            <a:pPr algn="l">
              <a:lnSpc>
                <a:spcPct val="150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문장마다 (근거: 숫자)를 달고, 근거 숫자가 없는 문장에는 [추정] 표시를 해 주세요.</a:t>
            </a:r>
          </a:p>
          <a:p>
            <a:pPr algn="l">
              <a:lnSpc>
                <a:spcPct val="150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표에 없는 숫자는 만들지 말고, 「기록 없음」을 「안 했다」로 바꾸지 말아 주세요.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검증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답의 숫자를 근거 표와 하나씩 맞춰 본다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7교시 · 실습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자주 틀리는 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사실과 추정이 섞이는 네 곳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 의 L-0809 6.12% 만 본다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PM 과 겹친 기간 — SF-01 에서 따로 봐야 로트 크기가 보인다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야간이 높다 = 숙련도 탓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높은 것은 사실, 이유가 숙련도라는 데이터는 없다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습도와 소결이 같이 올랐다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둘 다 8월 — SF-01 만 보면 r=0.11 로 사라진다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「교정을 안 했다」로 쓴다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로그가 말하는 것은 「교정 기록 미입력」까지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7교시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 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피벗 결과 SF-01 L-0809 2.72%, SF-02 L-0821 6.61%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모든 후보의 C열에 파일 · 열 · 숫자 근거가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야간 숙련도는 추정, 습도 → 소결은 반증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요약의 숫자가 모두 근거 표에 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기록 누락을 행위로 바꿔 쓴 문장이 없다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7교시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3일차 7교시 · 실습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다음은 가설 검증 계획과 시나리오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판정표의 후보를 가설 문장으로 바꾸고, 판정 기준과 다음 행동을 정합니다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만약 ~라면 ~일 것이다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비교 그룹과 판정 기준 먼저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데이터 판정 vs 현장 확인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채택 · 기각 시나리오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근거 · 판정이 채워진 원인후보 시트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3일차 8교시 · 원인 후보 분류와 검증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가설 검증 계획과 시나리오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기준은 결과보다 먼저 정한다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원인 후보를 「만약 ~라면 ~일 것이다」 가설로 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비교 그룹과 판정 기준을 결과를 보기 전에 정한다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채택 · 기각 시나리오로 2_가설검증계획 시트를 완성한다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 시트가 4일차 개선안의 입력이다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8교시 · 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가설검증계획 시트의 여섯 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적는 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448050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8850" y="3448050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만약 [원인]이라면 [흔적]일 것이다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43375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43375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검증 질문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4143375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8850" y="4143375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흔적이 있는가 — 예/아니오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38700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38700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비교할 데이터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838700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838700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조건 하나만 다른 A vs 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534025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534025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판정 기준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5534025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8850" y="5534025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 전에 정한 숫자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229350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229350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결과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6229350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8850" y="6229350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실제로 잰 숫자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924675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924675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결론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6924675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6924675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채택 · 기각 · 보류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8교시 · 실습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검증할 수 있는 문장으로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가설이 아니다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어떤 결과가 나와도 반박할 수 없다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온도가 문제일 수 있다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야간이 좀 불안하다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가설이다 (H1)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흔적이 안 보이면 기각할 수 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만약 TC-3 교정 누락이 주원인이라면</a:t>
            </a:r>
          </a:p>
        </p:txBody>
      </p:sp>
      <p:sp>
        <p:nvSpPr>
          <p:cNvPr id="20" name="Oval 19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PM 뒤 SF-02 만 온도편차·불량률이 오르고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SF-01 은 거의 그대로일 것이다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8교시 · 실습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판정 기준은 결과를 보기 전에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가설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2781300"/>
            <a:ext cx="60426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2781300"/>
            <a:ext cx="6042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비교 (A vs B)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판정 기준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H1 TC-3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34480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8730" y="34480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SF-02 · SF-01 PM 전 vs 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64240" y="34480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9490" y="34480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SF-02 2배↑ · SF-01 0.5%p 이내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H2 로트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3480" y="41719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8730" y="41719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SF-01 L-0809 vs 다른 로트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64240" y="41719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9490" y="41719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0.3%p 이상 높으면 부원인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H3 야간 숙련도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48958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8730" y="48958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주간 vs 야간 · 경력별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064240" y="48958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59490" y="48958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경력 자료 필요 — 판정 불가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56388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기준 숫자는 과정 예시 — 현업은 평소 변동 폭을 보고 팀이 정한다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8교시 · 실습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지금 데이터로 판정하면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가설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781300"/>
            <a:ext cx="79629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781300"/>
            <a:ext cx="7962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H1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34480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8530" y="34480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SF-02 2.11 → 6.5% · SF-01 +0.18%p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384280" y="34480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79530" y="34480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채택 가능성 높음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H1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41719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8530" y="41719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r=0.95 · Cpk 1.54 → 0.4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84280" y="41719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79530" y="41719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현장 확인 대기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H2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3280" y="48958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8530" y="48958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SF-01 2.72 vs 2.24~2.35%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384280" y="48958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79530" y="48958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부원인 채택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H2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83280" y="56197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8530" y="56197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SF-02 L-0821 6.61%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384280" y="56197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79530" y="56197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주원인은 기각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H3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83280" y="63436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8530" y="63436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야간 조금 높음 · 자료 없음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384280" y="63436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479530" y="63436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8교시 · 실습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현장 확인 계획 — 데이터로 못 가른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79629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7962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이렇게 나오면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TC-3 교정 성적서 · PM 기록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34480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9250" y="34480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성적서 없음 → H1 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기준 열전대와 이중 측정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41719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9250" y="41719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차이 큼 → H1 채택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로트 L-0809 수입검사 성적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48958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9250" y="48958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특성 차이 → H2 확정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익명 경력 · 교육 자료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56197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9250" y="56197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확보 뒤 H3 재판정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교대별 승온 기록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0" y="63436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9250" y="63436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야간 급승온 → 냉간 재시작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0866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경력 자료는 개인정보 — 익명화, 외부 AI 에 올리지 않는다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8교시 · 실습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채택 · 기각 시나리오 — 다음 행동을 미리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가설 · 결과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다음 행동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H1 채택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4480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8850" y="34480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TC-3 재교정 · 체크리스트에 교정 확인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H1 기각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41719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8850" y="41719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히터 Zone2 · 단열 점검으로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H2 채택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8958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8958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수입검사 항목 · 로트 전환 모니터링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H2 기각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56197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8850" y="56197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목록에서 제외, 근거만 기록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H3 보류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63436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8850" y="63436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자료 확보 뒤 재판정 · 교육 대책 보류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8교시 · 실습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자주 틀리는 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검증 계획에서 자주 걸리는 곳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결과를 보고 기준을 정한다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믿는 답이 통과하도록 기준이 맞춰진다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비교 대상이 없는 가설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「8월 전체가 나빠졌다」와 구별할 수 없다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H1 을 「채택」으로 끝낸다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TC-3 가 출발점인지는 이중 측정으로 확인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보류 가설에 대책을 세운다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추정에 쓴 시간 · 사람은 문제를 남긴다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8교시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 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가설 3개 모두 비교 대상이 들어간 「만약 ~라면」 문장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판정 기준이 숫자이고 결과보다 먼저 채웠다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H1 채택 가능성 높음 · H2 부원인 · H3 보류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데이터 판정과 현장 확인이 표에서 구분된다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가설마다 채택 · 기각 때 다음 행동이 있다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8교시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3일차 8교시 · 실습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내일 4일차 1교시 — 우수 사례 벤치마킹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SPC · 예지보전 · 표준화 사례를 보고 원인별 개선 대안으로 넘어갑니다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공정 최적화 우수 사례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SPC · 예지보전 · 표준화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원인별 개선 대안 펼치기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평가 기준과 우선순위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가설검증계획 · 시나리오 시트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