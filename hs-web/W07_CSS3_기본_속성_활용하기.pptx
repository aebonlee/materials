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4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7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1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DF1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7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7주차 · 10/15(목)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CSS3 기본 속성 활용하기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레이아웃 구성, 박스모델, 마진·패딩 조정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AI·SW계열 · 웹프로그래밍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학습사이트 hs-web.dreamitbiz.com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7주차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학습 목표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박스 모델 네 겹을 설명하고 실제 폭을 계산할 수 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box-sizing이 왜 필요한지 설명하고 적용할 수 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블록 요소와 인라인 요소의 차이를 설명하고 display로 바꿀 수 있다.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position 다섯 가지 값의 기준점 차이를 설명할 수 있다.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마진 상쇄와 z-index가 안 먹는 경우를 진단할 수 있다.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7주차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7주차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핵심 키워드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781300"/>
            <a:ext cx="1039383" cy="400050"/>
          </a:xfrm>
          <a:prstGeom prst="roundRect">
            <a:avLst>
              <a:gd name="adj" fmla="val 50000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039383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박스 모델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77633" y="2781300"/>
            <a:ext cx="2575188" cy="400050"/>
          </a:xfrm>
          <a:prstGeom prst="roundRect">
            <a:avLst>
              <a:gd name="adj" fmla="val 50000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77633" y="2781300"/>
            <a:ext cx="2575188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margin/padding/border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48071" y="2781300"/>
            <a:ext cx="1307640" cy="400050"/>
          </a:xfrm>
          <a:prstGeom prst="roundRect">
            <a:avLst>
              <a:gd name="adj" fmla="val 50000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48071" y="2781300"/>
            <a:ext cx="130764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box-sizing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0960" y="2781300"/>
            <a:ext cx="1039383" cy="400050"/>
          </a:xfrm>
          <a:prstGeom prst="roundRect">
            <a:avLst>
              <a:gd name="adj" fmla="val 50000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0960" y="2781300"/>
            <a:ext cx="1039383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마진 상쇄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85593" y="2781300"/>
            <a:ext cx="973571" cy="400050"/>
          </a:xfrm>
          <a:prstGeom prst="roundRect">
            <a:avLst>
              <a:gd name="adj" fmla="val 50000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85593" y="2781300"/>
            <a:ext cx="973571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display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54414" y="2781300"/>
            <a:ext cx="1417228" cy="400050"/>
          </a:xfrm>
          <a:prstGeom prst="roundRect">
            <a:avLst>
              <a:gd name="adj" fmla="val 50000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54414" y="2781300"/>
            <a:ext cx="1417228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block/inline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066892" y="2781300"/>
            <a:ext cx="1064824" cy="400050"/>
          </a:xfrm>
          <a:prstGeom prst="roundRect">
            <a:avLst>
              <a:gd name="adj" fmla="val 50000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66892" y="2781300"/>
            <a:ext cx="1064824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position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226966" y="2781300"/>
            <a:ext cx="1016954" cy="400050"/>
          </a:xfrm>
          <a:prstGeom prst="roundRect">
            <a:avLst>
              <a:gd name="adj" fmla="val 50000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226966" y="2781300"/>
            <a:ext cx="1016954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z-index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학습사이트의 본문에서 이 낱말들을 찾아 읽으면 이 시간의 뼈대가 잡힙니다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7주차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7주차 ·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박스 모델 — 모든 요소는 상자입니다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웹 페이지의 모든 요소는 네모난 상자입니다.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7주차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7주차 ·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박스 모델 네 겹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143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12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┌─────────────────────────────────────┐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│           </a:t>
            </a: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margin</a:t>
            </a: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(바깥 여백)          │  ← 다른 요소와의 거리. 투명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│  ┌───────────────────────────────┐  │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│  │        </a:t>
            </a: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border</a:t>
            </a: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(테두리)          │  │  ← 선. 두께·모양·색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│  │  ┌─────────────────────────┐  │  │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│  │  │    </a:t>
            </a: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padding</a:t>
            </a: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(안쪽 여백)    │  │  │  ← 내용과 테두리 사이. 배경색이 칠해짐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│  │  │  ┌───────────────────┐  │  │  │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│  │  │  │   </a:t>
            </a: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content</a:t>
            </a: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(내용)   │  │  │  │  ← </a:t>
            </a: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width</a:t>
            </a: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× </a:t>
            </a: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height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│  │  │  └───────────────────┘  │  │  │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│  │  └─────────────────────────┘  │  │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│  └───────────────────────────────┘  │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└─────────────────────────────────────┘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BD0F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그 상자는 안에서 밖으로 네 겹으로 되어 있습니다.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7주차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7주차 ·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값 쓰는 법 — 1·2·4개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524500"/>
          </a:xfrm>
          <a:prstGeom prst="roundRect">
            <a:avLst>
              <a:gd name="adj" fmla="val 1724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524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padding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: </a:t>
            </a:r>
            <a:r>
              <a:rPr sz="2250" b="0">
                <a:solidFill>
                  <a:srgbClr val="FFB08A"/>
                </a:solidFill>
                <a:latin typeface="나눔고딕코딩"/>
                <a:ea typeface="나눔고딕코딩"/>
                <a:cs typeface="나눔고딕코딩"/>
              </a:rPr>
              <a:t>20px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;              </a:t>
            </a:r>
            <a:r>
              <a:rPr sz="22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/* 네 방향 모두 20px */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padding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: </a:t>
            </a:r>
            <a:r>
              <a:rPr sz="2250" b="0">
                <a:solidFill>
                  <a:srgbClr val="FFB08A"/>
                </a:solidFill>
                <a:latin typeface="나눔고딕코딩"/>
                <a:ea typeface="나눔고딕코딩"/>
                <a:cs typeface="나눔고딕코딩"/>
              </a:rPr>
              <a:t>10px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250" b="0">
                <a:solidFill>
                  <a:srgbClr val="FFB08A"/>
                </a:solidFill>
                <a:latin typeface="나눔고딕코딩"/>
                <a:ea typeface="나눔고딕코딩"/>
                <a:cs typeface="나눔고딕코딩"/>
              </a:rPr>
              <a:t>20px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;         </a:t>
            </a:r>
            <a:r>
              <a:rPr sz="22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/* 위아래 10, 좌우 20 */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padding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: </a:t>
            </a:r>
            <a:r>
              <a:rPr sz="2250" b="0">
                <a:solidFill>
                  <a:srgbClr val="FFB08A"/>
                </a:solidFill>
                <a:latin typeface="나눔고딕코딩"/>
                <a:ea typeface="나눔고딕코딩"/>
                <a:cs typeface="나눔고딕코딩"/>
              </a:rPr>
              <a:t>10px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250" b="0">
                <a:solidFill>
                  <a:srgbClr val="FFB08A"/>
                </a:solidFill>
                <a:latin typeface="나눔고딕코딩"/>
                <a:ea typeface="나눔고딕코딩"/>
                <a:cs typeface="나눔고딕코딩"/>
              </a:rPr>
              <a:t>20px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250" b="0">
                <a:solidFill>
                  <a:srgbClr val="FFB08A"/>
                </a:solidFill>
                <a:latin typeface="나눔고딕코딩"/>
                <a:ea typeface="나눔고딕코딩"/>
                <a:cs typeface="나눔고딕코딩"/>
              </a:rPr>
              <a:t>30px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250" b="0">
                <a:solidFill>
                  <a:srgbClr val="FFB08A"/>
                </a:solidFill>
                <a:latin typeface="나눔고딕코딩"/>
                <a:ea typeface="나눔고딕코딩"/>
                <a:cs typeface="나눔고딕코딩"/>
              </a:rPr>
              <a:t>40px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;  </a:t>
            </a:r>
            <a:r>
              <a:rPr sz="22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/* 위 → 오른쪽 → 아래 → 왼쪽 (시계 방향) */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padding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top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: </a:t>
            </a:r>
            <a:r>
              <a:rPr sz="2250" b="0">
                <a:solidFill>
                  <a:srgbClr val="FFB08A"/>
                </a:solidFill>
                <a:latin typeface="나눔고딕코딩"/>
                <a:ea typeface="나눔고딕코딩"/>
                <a:cs typeface="나눔고딕코딩"/>
              </a:rPr>
              <a:t>10px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;          </a:t>
            </a:r>
            <a:r>
              <a:rPr sz="22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/* 한 방향만 */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margin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: </a:t>
            </a:r>
            <a:r>
              <a:rPr sz="2250" b="0">
                <a:solidFill>
                  <a:srgbClr val="FFB08A"/>
                </a:solidFill>
                <a:latin typeface="나눔고딕코딩"/>
                <a:ea typeface="나눔고딕코딩"/>
                <a:cs typeface="나눔고딕코딩"/>
              </a:rPr>
              <a:t>0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auto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;             </a:t>
            </a:r>
            <a:r>
              <a:rPr sz="22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/* 위아래 0, 좌우 auto → 가운데 정렬! */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border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: </a:t>
            </a:r>
            <a:r>
              <a:rPr sz="2250" b="0">
                <a:solidFill>
                  <a:srgbClr val="FFB08A"/>
                </a:solidFill>
                <a:latin typeface="나눔고딕코딩"/>
                <a:ea typeface="나눔고딕코딩"/>
                <a:cs typeface="나눔고딕코딩"/>
              </a:rPr>
              <a:t>1px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solid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#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cbd5e1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;  </a:t>
            </a:r>
            <a:r>
              <a:rPr sz="22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/* 두께 · 모양 · 색 */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border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radius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: </a:t>
            </a:r>
            <a:r>
              <a:rPr sz="2250" b="0">
                <a:solidFill>
                  <a:srgbClr val="FFB08A"/>
                </a:solidFill>
                <a:latin typeface="나눔고딕코딩"/>
                <a:ea typeface="나눔고딕코딩"/>
                <a:cs typeface="나눔고딕코딩"/>
              </a:rPr>
              <a:t>8px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;         </a:t>
            </a:r>
            <a:r>
              <a:rPr sz="22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/* 둥근 모서리 */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7주차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7주차 ·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width에 padding이 포함될까?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524500"/>
          </a:xfrm>
          <a:prstGeom prst="roundRect">
            <a:avLst>
              <a:gd name="adj" fmla="val 1724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524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12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/* 기본값(content-box) — width는 "내용"의 폭 */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.box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{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225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width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: </a:t>
            </a:r>
            <a:r>
              <a:rPr sz="2250" b="0">
                <a:solidFill>
                  <a:srgbClr val="FFB08A"/>
                </a:solidFill>
                <a:latin typeface="나눔고딕코딩"/>
                <a:ea typeface="나눔고딕코딩"/>
                <a:cs typeface="나눔고딕코딩"/>
              </a:rPr>
              <a:t>200px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225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padding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: </a:t>
            </a:r>
            <a:r>
              <a:rPr sz="2250" b="0">
                <a:solidFill>
                  <a:srgbClr val="FFB08A"/>
                </a:solidFill>
                <a:latin typeface="나눔고딕코딩"/>
                <a:ea typeface="나눔고딕코딩"/>
                <a:cs typeface="나눔고딕코딩"/>
              </a:rPr>
              <a:t>20px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225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border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: </a:t>
            </a:r>
            <a:r>
              <a:rPr sz="2250" b="0">
                <a:solidFill>
                  <a:srgbClr val="FFB08A"/>
                </a:solidFill>
                <a:latin typeface="나눔고딕코딩"/>
                <a:ea typeface="나눔고딕코딩"/>
                <a:cs typeface="나눔고딕코딩"/>
              </a:rPr>
              <a:t>1px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solid;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}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/* 실제 차지하는 폭 = 200 + 20 + 20 + 1 + 1 = 242px  😱 */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/* border-box — width는 "테두리까지"의 폭 */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*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{ </a:t>
            </a:r>
            <a:r>
              <a:rPr sz="225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box-sizing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: border-box; }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/* 실제 차지하는 폭 = 200px  ✅ 생각한 대로 */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7주차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7주차 ·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1.1 box-sizing — 반드시 알아야 할 한 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거의 모든 실무 프로젝트가 CSS 맨 위에 * { box-sizing: border-box; } 를 한 줄 씁니다.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이것이 없으면 "왜 3등분한 칸이 안 맞지?" 하는 일이 계속 생깁니다.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7주차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7주차 ·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위아래 마진은 겹쳐서 큰 쪽만 남습니다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524500"/>
          </a:xfrm>
          <a:prstGeom prst="roundRect">
            <a:avLst>
              <a:gd name="adj" fmla="val 1724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524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a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{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margin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bottom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: </a:t>
            </a:r>
            <a:r>
              <a:rPr sz="2250" b="0">
                <a:solidFill>
                  <a:srgbClr val="FFB08A"/>
                </a:solidFill>
                <a:latin typeface="나눔고딕코딩"/>
                <a:ea typeface="나눔고딕코딩"/>
                <a:cs typeface="나눔고딕코딩"/>
              </a:rPr>
              <a:t>30px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; }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b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{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margin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top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: </a:t>
            </a:r>
            <a:r>
              <a:rPr sz="2250" b="0">
                <a:solidFill>
                  <a:srgbClr val="FFB08A"/>
                </a:solidFill>
                <a:latin typeface="나눔고딕코딩"/>
                <a:ea typeface="나눔고딕코딩"/>
                <a:cs typeface="나눔고딕코딩"/>
              </a:rPr>
              <a:t>20px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; }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/* .a와 .b 사이 간격은 50px이 아니라 30px입니다.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   위아래(수직) 마진끼리는 겹칩니다 — 좌우는 겹치지 않습니다.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   "왜 여백이 생각보다 좁지?" 할 때 이걸 의심하세요. */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7주차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7주차 ·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블록과 인라인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CSS로 배치를 하려면 먼저 요소가 기본적으로 어떻게 자리를 잡는지를 알아야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7주차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7주차 ·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블록과 인라인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330742" cy="590550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330742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0" name="Rectangle 9"/>
          <p:cNvSpPr/>
          <p:nvPr/>
        </p:nvSpPr>
        <p:spPr>
          <a:xfrm>
            <a:off x="4511842" y="2781300"/>
            <a:ext cx="6980321" cy="59055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11842" y="2781300"/>
            <a:ext cx="6980321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블록(block)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530263" y="2781300"/>
            <a:ext cx="5614737" cy="59055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530263" y="2781300"/>
            <a:ext cx="5614737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인라인(inline)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330742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140242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줄바꿈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11842" y="3448050"/>
            <a:ext cx="6980321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07092" y="3448050"/>
            <a:ext cx="6789821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앞뒤로 줄이 바뀐다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530263" y="3448050"/>
            <a:ext cx="5614737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625513" y="3448050"/>
            <a:ext cx="5424237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글자처럼 옆으로 이어진다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43375"/>
            <a:ext cx="3330742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43375"/>
            <a:ext cx="3140242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너비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11842" y="4143375"/>
            <a:ext cx="6980321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07092" y="4143375"/>
            <a:ext cx="6789821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기본이 가로 전체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530263" y="4143375"/>
            <a:ext cx="5614737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625513" y="4143375"/>
            <a:ext cx="5424237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내용만큼만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38700"/>
            <a:ext cx="3330742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38700"/>
            <a:ext cx="3140242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width/height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11842" y="4838700"/>
            <a:ext cx="6980321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07092" y="4838700"/>
            <a:ext cx="6789821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먹는다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530263" y="4838700"/>
            <a:ext cx="5614737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625513" y="4838700"/>
            <a:ext cx="5424237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안 먹는다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534025"/>
            <a:ext cx="3330742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534025"/>
            <a:ext cx="3140242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margin 위아래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11842" y="5534025"/>
            <a:ext cx="6980321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07092" y="5534025"/>
            <a:ext cx="6789821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먹는다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530263" y="5534025"/>
            <a:ext cx="5614737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625513" y="5534025"/>
            <a:ext cx="5424237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안 먹는다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229350"/>
            <a:ext cx="3330742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229350"/>
            <a:ext cx="3140242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padding 위아래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11842" y="6229350"/>
            <a:ext cx="6980321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07092" y="6229350"/>
            <a:ext cx="6789821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먹지만 다른 줄을 밀지 않는다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530263" y="6229350"/>
            <a:ext cx="5614737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625513" y="6229350"/>
            <a:ext cx="5424237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겹쳐 보인다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924675"/>
            <a:ext cx="3330742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924675"/>
            <a:ext cx="3140242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대표 태그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511842" y="6924675"/>
            <a:ext cx="6980321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07092" y="6924675"/>
            <a:ext cx="6789821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div p h1~h6 ul li section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530263" y="6924675"/>
            <a:ext cx="5614737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625513" y="6924675"/>
            <a:ext cx="5424237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span a strong em img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요소는 크게 두 부류입니다.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7주차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7주차 ·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display로 성질을 바꿉니다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524500"/>
          </a:xfrm>
          <a:prstGeom prst="roundRect">
            <a:avLst>
              <a:gd name="adj" fmla="val 1724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524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span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{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display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: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block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; }         </a:t>
            </a:r>
            <a:r>
              <a:rPr sz="22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/* 인라인 → 블록 */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li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{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display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: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inline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; }        </a:t>
            </a:r>
            <a:r>
              <a:rPr sz="22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/* 블록 → 인라인 */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a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{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display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: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inline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block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; }  </a:t>
            </a:r>
            <a:r>
              <a:rPr sz="22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/* 옆으로 이어지되 width/height는 먹는다 */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menu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{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display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: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none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; }          </a:t>
            </a:r>
            <a:r>
              <a:rPr sz="22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/* 화면에서 완전히 사라진다(자리도 없음) */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7주차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7주차 ·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블록과 인라인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8766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87667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412432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41910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9719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display: none 과 visibility: hidden 은 다릅니다.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92442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92442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517207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52387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501967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none 은 자리까지 없어지고, hidden 은 안 보이지만 자리는 차지합니다.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9721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97217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621982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62865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60674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또 hidden 속성(HTML)을 쓸 때는 CSS에 [hidden] { display: none !important } 를 함께 두어야 다른 display 규칙에 지지 않습니다.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7주차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7주차 ·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position — 기준점을 바꾸기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7주차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7주차 ·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position — 기준점을 바꾸기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962150" cy="590550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96215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43250" y="2781300"/>
            <a:ext cx="4712494" cy="59055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43250" y="2781300"/>
            <a:ext cx="4712494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93844" y="2781300"/>
            <a:ext cx="2962275" cy="59055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93844" y="2781300"/>
            <a:ext cx="2962275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자리를 차지하나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894219" y="2781300"/>
            <a:ext cx="6250781" cy="59055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894219" y="2781300"/>
            <a:ext cx="6250781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언제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196215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177165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static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143250" y="3448050"/>
            <a:ext cx="4712494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38500" y="3448050"/>
            <a:ext cx="4521994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기본값 — 위치 지정 안 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93844" y="3448050"/>
            <a:ext cx="2962275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89094" y="3448050"/>
            <a:ext cx="2771775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894219" y="3448050"/>
            <a:ext cx="6250781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89469" y="3448050"/>
            <a:ext cx="6060281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196215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177165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relative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143250" y="4171950"/>
            <a:ext cx="4712494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38500" y="4171950"/>
            <a:ext cx="4521994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원래 자기 자리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93844" y="4171950"/>
            <a:ext cx="2962275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89094" y="4171950"/>
            <a:ext cx="2771775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예 (원래 자리 유지)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894219" y="4171950"/>
            <a:ext cx="6250781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989469" y="4171950"/>
            <a:ext cx="6060281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살짝 밀 때, absolute의 기준이 될 때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196215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177165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absolute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43250" y="4895850"/>
            <a:ext cx="4712494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38500" y="4895850"/>
            <a:ext cx="4521994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가장 가까운 static 아닌 조상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893844" y="4895850"/>
            <a:ext cx="2962275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989094" y="4895850"/>
            <a:ext cx="2771775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아니오 (붕 뜬다)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894219" y="4895850"/>
            <a:ext cx="6250781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989469" y="4895850"/>
            <a:ext cx="6060281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배지·닫기 버튼·툴팁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619750"/>
            <a:ext cx="196215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619750"/>
            <a:ext cx="177165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fixed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143250" y="5619750"/>
            <a:ext cx="4712494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38500" y="5619750"/>
            <a:ext cx="4521994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화면(뷰포트)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893844" y="5619750"/>
            <a:ext cx="2962275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989094" y="5619750"/>
            <a:ext cx="2771775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아니오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894219" y="5619750"/>
            <a:ext cx="6250781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989469" y="5619750"/>
            <a:ext cx="6060281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상단 고정 바, 떠 있는 버튼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6343650"/>
            <a:ext cx="196215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6343650"/>
            <a:ext cx="177165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sticky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143250" y="6343650"/>
            <a:ext cx="4712494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238500" y="6343650"/>
            <a:ext cx="4521994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스크롤하다 지정 위치에서 고정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893844" y="6343650"/>
            <a:ext cx="2962275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989094" y="6343650"/>
            <a:ext cx="2771775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예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894219" y="6343650"/>
            <a:ext cx="6250781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989469" y="6343650"/>
            <a:ext cx="6060281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스크롤해도 붙어 있는 헤더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7주차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7주차 ·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absolute는 relative 부모와 짝입니다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524500"/>
          </a:xfrm>
          <a:prstGeom prst="roundRect">
            <a:avLst>
              <a:gd name="adj" fmla="val 1724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524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12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.card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{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225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position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: relative;    </a:t>
            </a:r>
            <a:r>
              <a:rPr sz="22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/* ← 이게 있어야 자식 absolute의 기준이 된다 */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}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.card .badge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{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225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position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: absolute;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225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top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: -</a:t>
            </a:r>
            <a:r>
              <a:rPr sz="2250" b="0">
                <a:solidFill>
                  <a:srgbClr val="FFB08A"/>
                </a:solidFill>
                <a:latin typeface="나눔고딕코딩"/>
                <a:ea typeface="나눔고딕코딩"/>
                <a:cs typeface="나눔고딕코딩"/>
              </a:rPr>
              <a:t>8px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225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right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: -</a:t>
            </a:r>
            <a:r>
              <a:rPr sz="2250" b="0">
                <a:solidFill>
                  <a:srgbClr val="FFB08A"/>
                </a:solidFill>
                <a:latin typeface="나눔고딕코딩"/>
                <a:ea typeface="나눔고딕코딩"/>
                <a:cs typeface="나눔고딕코딩"/>
              </a:rPr>
              <a:t>8px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;           </a:t>
            </a:r>
            <a:r>
              <a:rPr sz="22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/* 카드 오른쪽 위 모서리에 배지 */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}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/* 부모에 position: relative가 없으면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   배지가 화면 전체 기준으로 날아가 버립니다 — 아주 흔한 실수입니다. */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7주차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7주차 ·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sticky — 스크롤하다 붙는 헤더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524500"/>
          </a:xfrm>
          <a:prstGeom prst="roundRect">
            <a:avLst>
              <a:gd name="adj" fmla="val 1724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524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.navbar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{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225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position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: sticky;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225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top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: </a:t>
            </a:r>
            <a:r>
              <a:rPr sz="2250" b="0">
                <a:solidFill>
                  <a:srgbClr val="FFB08A"/>
                </a:solidFill>
                <a:latin typeface="나눔고딕코딩"/>
                <a:ea typeface="나눔고딕코딩"/>
                <a:cs typeface="나눔고딕코딩"/>
              </a:rPr>
              <a:t>0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;            </a:t>
            </a:r>
            <a:r>
              <a:rPr sz="22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/* ⚠ top(또는 bottom)을 반드시 지정해야 동작합니다 */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225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z-index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: </a:t>
            </a:r>
            <a:r>
              <a:rPr sz="2250" b="0">
                <a:solidFill>
                  <a:srgbClr val="FFB08A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;       </a:t>
            </a:r>
            <a:r>
              <a:rPr sz="22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/* 다른 것에 가리지 않게 */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225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background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: </a:t>
            </a:r>
            <a:r>
              <a:rPr sz="2250" b="0">
                <a:solidFill>
                  <a:srgbClr val="FFB08A"/>
                </a:solidFill>
                <a:latin typeface="나눔고딕코딩"/>
                <a:ea typeface="나눔고딕코딩"/>
                <a:cs typeface="나눔고딕코딩"/>
              </a:rPr>
              <a:t>#fff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;  </a:t>
            </a:r>
            <a:r>
              <a:rPr sz="22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/* ⚠ 배경이 없으면 아래 내용이 비쳐 보입니다 */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}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7주차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7주차 ·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position — 기준점을 바꾸기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z-index 는 position이 static이 아닐 때만 먹습니다.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"z-index를 줬는데 안 올라와요"의 원인 1위입니다.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7주차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7주차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 시간의 실습 2개 — 학습사이트의 코드 실습장에서 직접 치고 실행합니다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7주차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678150" y="1181100"/>
            <a:ext cx="1466850" cy="590550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0020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0" y="1295400"/>
            <a:ext cx="723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4154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7주차 · 실습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41541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실습 1 · 기본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CSS · 학습사이트 실습장에서 작성 · 「확인」 으로 채점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.box를 카드처럼 만드세요. 안쪽 여백 24px, 바깥 여백 16px, 1px 회색 테두리, 둥근 모서리 12px, 흰 배경, 은은한 그림자를 주고, box-sizing도 border-box로 맞추세요.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힌트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box-sizing은 * 선택자로 전체에 주는 것이 실무 방식입니다.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7주차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4839950" y="1181100"/>
            <a:ext cx="2305050" cy="590550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1638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354300" y="1295400"/>
            <a:ext cx="1562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모범답안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33159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7주차 · 실습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33159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실습 1 모범답안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2343150"/>
            <a:ext cx="16002000" cy="5524500"/>
          </a:xfrm>
          <a:prstGeom prst="roundRect">
            <a:avLst>
              <a:gd name="adj" fmla="val 1724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2343150"/>
            <a:ext cx="685800" cy="5524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deckgen:code-lineno"/>
          <p:cNvSpPr txBox="1"/>
          <p:nvPr/>
        </p:nvSpPr>
        <p:spPr>
          <a:xfrm>
            <a:off x="1143000" y="2552700"/>
            <a:ext cx="55245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</p:txBody>
      </p:sp>
      <p:sp>
        <p:nvSpPr>
          <p:cNvPr id="14" name="deckgen:code"/>
          <p:cNvSpPr txBox="1"/>
          <p:nvPr/>
        </p:nvSpPr>
        <p:spPr>
          <a:xfrm>
            <a:off x="2038350" y="2552700"/>
            <a:ext cx="1489710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*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{ </a:t>
            </a:r>
            <a:r>
              <a:rPr sz="225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box-sizing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: border-box; }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.box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{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225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padding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: </a:t>
            </a:r>
            <a:r>
              <a:rPr sz="2250" b="0">
                <a:solidFill>
                  <a:srgbClr val="FFB08A"/>
                </a:solidFill>
                <a:latin typeface="나눔고딕코딩"/>
                <a:ea typeface="나눔고딕코딩"/>
                <a:cs typeface="나눔고딕코딩"/>
              </a:rPr>
              <a:t>24px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225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margin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: </a:t>
            </a:r>
            <a:r>
              <a:rPr sz="2250" b="0">
                <a:solidFill>
                  <a:srgbClr val="FFB08A"/>
                </a:solidFill>
                <a:latin typeface="나눔고딕코딩"/>
                <a:ea typeface="나눔고딕코딩"/>
                <a:cs typeface="나눔고딕코딩"/>
              </a:rPr>
              <a:t>16px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225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border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: </a:t>
            </a:r>
            <a:r>
              <a:rPr sz="2250" b="0">
                <a:solidFill>
                  <a:srgbClr val="FFB08A"/>
                </a:solidFill>
                <a:latin typeface="나눔고딕코딩"/>
                <a:ea typeface="나눔고딕코딩"/>
                <a:cs typeface="나눔고딕코딩"/>
              </a:rPr>
              <a:t>1px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solid </a:t>
            </a:r>
            <a:r>
              <a:rPr sz="2250" b="0">
                <a:solidFill>
                  <a:srgbClr val="FFB08A"/>
                </a:solidFill>
                <a:latin typeface="나눔고딕코딩"/>
                <a:ea typeface="나눔고딕코딩"/>
                <a:cs typeface="나눔고딕코딩"/>
              </a:rPr>
              <a:t>#e5e7eb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225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border-radius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: </a:t>
            </a:r>
            <a:r>
              <a:rPr sz="2250" b="0">
                <a:solidFill>
                  <a:srgbClr val="FFB08A"/>
                </a:solidFill>
                <a:latin typeface="나눔고딕코딩"/>
                <a:ea typeface="나눔고딕코딩"/>
                <a:cs typeface="나눔고딕코딩"/>
              </a:rPr>
              <a:t>12px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225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background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: </a:t>
            </a:r>
            <a:r>
              <a:rPr sz="2250" b="0">
                <a:solidFill>
                  <a:srgbClr val="FFB08A"/>
                </a:solidFill>
                <a:latin typeface="나눔고딕코딩"/>
                <a:ea typeface="나눔고딕코딩"/>
                <a:cs typeface="나눔고딕코딩"/>
              </a:rPr>
              <a:t>#ffffff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225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box-shadow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: </a:t>
            </a:r>
            <a:r>
              <a:rPr sz="2250" b="0">
                <a:solidFill>
                  <a:srgbClr val="FFB08A"/>
                </a:solidFill>
                <a:latin typeface="나눔고딕코딩"/>
                <a:ea typeface="나눔고딕코딩"/>
                <a:cs typeface="나눔고딕코딩"/>
              </a:rPr>
              <a:t>0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250" b="0">
                <a:solidFill>
                  <a:srgbClr val="FFB08A"/>
                </a:solidFill>
                <a:latin typeface="나눔고딕코딩"/>
                <a:ea typeface="나눔고딕코딩"/>
                <a:cs typeface="나눔고딕코딩"/>
              </a:rPr>
              <a:t>1px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250" b="0">
                <a:solidFill>
                  <a:srgbClr val="FFB08A"/>
                </a:solidFill>
                <a:latin typeface="나눔고딕코딩"/>
                <a:ea typeface="나눔고딕코딩"/>
                <a:cs typeface="나눔고딕코딩"/>
              </a:rPr>
              <a:t>3px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rgba(</a:t>
            </a:r>
            <a:r>
              <a:rPr sz="2250" b="0">
                <a:solidFill>
                  <a:srgbClr val="FFB08A"/>
                </a:solidFill>
                <a:latin typeface="나눔고딕코딩"/>
                <a:ea typeface="나눔고딕코딩"/>
                <a:cs typeface="나눔고딕코딩"/>
              </a:rPr>
              <a:t>0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, </a:t>
            </a:r>
            <a:r>
              <a:rPr sz="2250" b="0">
                <a:solidFill>
                  <a:srgbClr val="FFB08A"/>
                </a:solidFill>
                <a:latin typeface="나눔고딕코딩"/>
                <a:ea typeface="나눔고딕코딩"/>
                <a:cs typeface="나눔고딕코딩"/>
              </a:rPr>
              <a:t>0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, </a:t>
            </a:r>
            <a:r>
              <a:rPr sz="2250" b="0">
                <a:solidFill>
                  <a:srgbClr val="FFB08A"/>
                </a:solidFill>
                <a:latin typeface="나눔고딕코딩"/>
                <a:ea typeface="나눔고딕코딩"/>
                <a:cs typeface="나눔고딕코딩"/>
              </a:rPr>
              <a:t>0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, </a:t>
            </a:r>
            <a:r>
              <a:rPr sz="2250" b="0">
                <a:solidFill>
                  <a:srgbClr val="FFB08A"/>
                </a:solidFill>
                <a:latin typeface="나눔고딕코딩"/>
                <a:ea typeface="나눔고딕코딩"/>
                <a:cs typeface="나눔고딕코딩"/>
              </a:rPr>
              <a:t>0.08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7주차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678150" y="1181100"/>
            <a:ext cx="1466850" cy="590550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0020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0" y="1295400"/>
            <a:ext cx="723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4154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7주차 · 실습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41541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실습 2 · 응용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CSS · 학습사이트 실습장에서 작성 · 「확인」 으로 채점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목록에 줄무늬를 넣고 마지막 줄의 구분선을 없애세요. li에 아래 테두리를 주되, 짝수번째 li는 배경을 회색으로, 마지막 li는 테두리를 없앱니다.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힌트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:nth-child(2n) 과 :last-child 를 씁니다. 순서에 주의하세요 — last-child 규칙이 뒤에 와야 이깁니다.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7주차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4839950" y="1181100"/>
            <a:ext cx="2305050" cy="590550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1638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354300" y="1295400"/>
            <a:ext cx="1562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모범답안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33159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7주차 · 실습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33159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실습 2 모범답안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2343150"/>
            <a:ext cx="16002000" cy="5524500"/>
          </a:xfrm>
          <a:prstGeom prst="roundRect">
            <a:avLst>
              <a:gd name="adj" fmla="val 1724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2343150"/>
            <a:ext cx="685800" cy="5524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deckgen:code-lineno"/>
          <p:cNvSpPr txBox="1"/>
          <p:nvPr/>
        </p:nvSpPr>
        <p:spPr>
          <a:xfrm>
            <a:off x="1143000" y="2552700"/>
            <a:ext cx="55245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12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13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14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15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16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17</a:t>
            </a:r>
          </a:p>
        </p:txBody>
      </p:sp>
      <p:sp>
        <p:nvSpPr>
          <p:cNvPr id="14" name="deckgen:code"/>
          <p:cNvSpPr txBox="1"/>
          <p:nvPr/>
        </p:nvSpPr>
        <p:spPr>
          <a:xfrm>
            <a:off x="2038350" y="2552700"/>
            <a:ext cx="1489710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ul 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{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165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list-style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: none;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165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padding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: </a:t>
            </a:r>
            <a:r>
              <a:rPr sz="1650" b="0">
                <a:solidFill>
                  <a:srgbClr val="FFB08A"/>
                </a:solidFill>
                <a:latin typeface="나눔고딕코딩"/>
                <a:ea typeface="나눔고딕코딩"/>
                <a:cs typeface="나눔고딕코딩"/>
              </a:rPr>
              <a:t>0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;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}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li 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{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165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padding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: </a:t>
            </a:r>
            <a:r>
              <a:rPr sz="1650" b="0">
                <a:solidFill>
                  <a:srgbClr val="FFB08A"/>
                </a:solidFill>
                <a:latin typeface="나눔고딕코딩"/>
                <a:ea typeface="나눔고딕코딩"/>
                <a:cs typeface="나눔고딕코딩"/>
              </a:rPr>
              <a:t>12px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1650" b="0">
                <a:solidFill>
                  <a:srgbClr val="FFB08A"/>
                </a:solidFill>
                <a:latin typeface="나눔고딕코딩"/>
                <a:ea typeface="나눔고딕코딩"/>
                <a:cs typeface="나눔고딕코딩"/>
              </a:rPr>
              <a:t>16px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;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165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border-bottom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: </a:t>
            </a:r>
            <a:r>
              <a:rPr sz="1650" b="0">
                <a:solidFill>
                  <a:srgbClr val="FFB08A"/>
                </a:solidFill>
                <a:latin typeface="나눔고딕코딩"/>
                <a:ea typeface="나눔고딕코딩"/>
                <a:cs typeface="나눔고딕코딩"/>
              </a:rPr>
              <a:t>1px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solid </a:t>
            </a:r>
            <a:r>
              <a:rPr sz="1650" b="0">
                <a:solidFill>
                  <a:srgbClr val="FFB08A"/>
                </a:solidFill>
                <a:latin typeface="나눔고딕코딩"/>
                <a:ea typeface="나눔고딕코딩"/>
                <a:cs typeface="나눔고딕코딩"/>
              </a:rPr>
              <a:t>#e5e7eb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;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}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li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:</a:t>
            </a:r>
            <a:r>
              <a:rPr sz="16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nth-child(2n) 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{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165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background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: </a:t>
            </a:r>
            <a:r>
              <a:rPr sz="1650" b="0">
                <a:solidFill>
                  <a:srgbClr val="FFB08A"/>
                </a:solidFill>
                <a:latin typeface="나눔고딕코딩"/>
                <a:ea typeface="나눔고딕코딩"/>
                <a:cs typeface="나눔고딕코딩"/>
              </a:rPr>
              <a:t>#f9fafb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;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}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li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:</a:t>
            </a:r>
            <a:r>
              <a:rPr sz="16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last-child 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{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165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border-bottom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: none;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7주차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7주차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7주차 마무리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CSS3 기본 속성 활용하기 — 이 시간에 다룬 것을 학습사이트에서 다시 확인합니다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334000"/>
            <a:ext cx="672465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학습사이트 주차 페이지의 절마다 「이해했어요 · 실습했어요 · 어려워요」 표시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실습 2개를 실습장에서 「확인」 까지 — 「실습했어요」 체크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362700"/>
            <a:ext cx="672465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퀴즈 6 「퀴즈 6 — CSS3 기본 속성 활용」 응시 (성적 미반영 · 학습 확인용)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막히면 「질문있어요」 또는 패들릿에 — 30분 넘게 혼자 막혀 있지 않기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다음 시간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8주차 · 중간고사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