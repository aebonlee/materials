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47"/>
  </p:notesMasterIdLst>
  <p:sldIdLst>
    <p:sldId id="300" r:id="rId34"/>
    <p:sldId id="301" r:id="rId30"/>
    <p:sldId id="256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1" r:id="rId16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1"/>
    <p:sldId id="285" r:id="rId32"/>
    <p:sldId id="286" r:id="rId33"/>
    <p:sldId id="288" r:id="rId35"/>
    <p:sldId id="289" r:id="rId36"/>
    <p:sldId id="290" r:id="rId37"/>
    <p:sldId id="291" r:id="rId38"/>
    <p:sldId id="292" r:id="rId39"/>
    <p:sldId id="293" r:id="rId40"/>
    <p:sldId id="294" r:id="rId41"/>
    <p:sldId id="295" r:id="rId42"/>
    <p:sldId id="296" r:id="rId43"/>
    <p:sldId id="297" r:id="rId44"/>
    <p:sldId id="298" r:id="rId45"/>
    <p:sldId id="299" r:id="rId46"/>
    <p:sldId id="302" r:id="rId17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>
        <p:scale>
          <a:sx n="125" d="100"/>
          <a:sy n="125" d="100"/>
        </p:scale>
        <p:origin x="627" y="319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45.xml"/><Relationship Id="rId18" Type="http://schemas.openxmlformats.org/officeDocument/2006/relationships/slide" Target="slides/slide16.xml"/><Relationship Id="rId19" Type="http://schemas.openxmlformats.org/officeDocument/2006/relationships/slide" Target="slides/slide17.xml"/><Relationship Id="rId20" Type="http://schemas.openxmlformats.org/officeDocument/2006/relationships/slide" Target="slides/slide18.xml"/><Relationship Id="rId21" Type="http://schemas.openxmlformats.org/officeDocument/2006/relationships/slide" Target="slides/slide19.xml"/><Relationship Id="rId22" Type="http://schemas.openxmlformats.org/officeDocument/2006/relationships/slide" Target="slides/slide20.xml"/><Relationship Id="rId23" Type="http://schemas.openxmlformats.org/officeDocument/2006/relationships/slide" Target="slides/slide21.xml"/><Relationship Id="rId24" Type="http://schemas.openxmlformats.org/officeDocument/2006/relationships/slide" Target="slides/slide22.xml"/><Relationship Id="rId25" Type="http://schemas.openxmlformats.org/officeDocument/2006/relationships/slide" Target="slides/slide23.xml"/><Relationship Id="rId26" Type="http://schemas.openxmlformats.org/officeDocument/2006/relationships/slide" Target="slides/slide24.xml"/><Relationship Id="rId27" Type="http://schemas.openxmlformats.org/officeDocument/2006/relationships/slide" Target="slides/slide25.xml"/><Relationship Id="rId28" Type="http://schemas.openxmlformats.org/officeDocument/2006/relationships/slide" Target="slides/slide26.xml"/><Relationship Id="rId29" Type="http://schemas.openxmlformats.org/officeDocument/2006/relationships/slide" Target="slides/slide27.xml"/><Relationship Id="rId30" Type="http://schemas.openxmlformats.org/officeDocument/2006/relationships/slide" Target="slides/slide44.xml"/><Relationship Id="rId31" Type="http://schemas.openxmlformats.org/officeDocument/2006/relationships/slide" Target="slides/slide28.xml"/><Relationship Id="rId32" Type="http://schemas.openxmlformats.org/officeDocument/2006/relationships/slide" Target="slides/slide29.xml"/><Relationship Id="rId33" Type="http://schemas.openxmlformats.org/officeDocument/2006/relationships/slide" Target="slides/slide30.xml"/><Relationship Id="rId34" Type="http://schemas.openxmlformats.org/officeDocument/2006/relationships/slide" Target="slides/slide43.xml"/><Relationship Id="rId35" Type="http://schemas.openxmlformats.org/officeDocument/2006/relationships/slide" Target="slides/slide31.xml"/><Relationship Id="rId36" Type="http://schemas.openxmlformats.org/officeDocument/2006/relationships/slide" Target="slides/slide32.xml"/><Relationship Id="rId37" Type="http://schemas.openxmlformats.org/officeDocument/2006/relationships/slide" Target="slides/slide33.xml"/><Relationship Id="rId38" Type="http://schemas.openxmlformats.org/officeDocument/2006/relationships/slide" Target="slides/slide34.xml"/><Relationship Id="rId39" Type="http://schemas.openxmlformats.org/officeDocument/2006/relationships/slide" Target="slides/slide35.xml"/><Relationship Id="rId40" Type="http://schemas.openxmlformats.org/officeDocument/2006/relationships/slide" Target="slides/slide36.xml"/><Relationship Id="rId41" Type="http://schemas.openxmlformats.org/officeDocument/2006/relationships/slide" Target="slides/slide37.xml"/><Relationship Id="rId42" Type="http://schemas.openxmlformats.org/officeDocument/2006/relationships/slide" Target="slides/slide38.xml"/><Relationship Id="rId43" Type="http://schemas.openxmlformats.org/officeDocument/2006/relationships/slide" Target="slides/slide39.xml"/><Relationship Id="rId44" Type="http://schemas.openxmlformats.org/officeDocument/2006/relationships/slide" Target="slides/slide40.xml"/><Relationship Id="rId45" Type="http://schemas.openxmlformats.org/officeDocument/2006/relationships/slide" Target="slides/slide41.xml"/><Relationship Id="rId46" Type="http://schemas.openxmlformats.org/officeDocument/2006/relationships/slide" Target="slides/slide42.xml"/><Relationship Id="rId47" Type="http://schemas.openxmlformats.org/officeDocument/2006/relationships/notesMaster" Target="notesMasters/notesMaster1.xml"/><Relationship Id="rId48" Type="http://schemas.openxmlformats.org/officeDocument/2006/relationships/presProps" Target="presProps.xml"/><Relationship Id="rId49" Type="http://schemas.openxmlformats.org/officeDocument/2006/relationships/viewProps" Target="viewProps.xml"/><Relationship Id="rId50" Type="http://schemas.openxmlformats.org/officeDocument/2006/relationships/theme" Target="theme/theme1.xml"/><Relationship Id="rId51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2601511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3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3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3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3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_rels/notesSlide3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.xml"/></Relationships>
</file>

<file path=ppt/notesSlides/_rels/notesSlide3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6.xml"/></Relationships>
</file>

<file path=ppt/notesSlides/_rels/notesSlide4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7.xml"/></Relationships>
</file>

<file path=ppt/notesSlides/_rels/notesSlide4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8.xml"/></Relationships>
</file>

<file path=ppt/notesSlides/_rels/notesSlide4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9.xml"/></Relationships>
</file>

<file path=ppt/notesSlides/_rels/notesSlide4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0.xml"/></Relationships>
</file>

<file path=ppt/notesSlides/_rels/notesSlide4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1.xml"/></Relationships>
</file>

<file path=ppt/notesSlides/_rels/notesSlide4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2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Relationship Id="rId4" Type="http://schemas.openxmlformats.org/officeDocument/2006/relationships/image" Target="../media/image2.png"/><Relationship Id="rId5" Type="http://schemas.openxmlformats.org/officeDocument/2006/relationships/image" Target="../media/image3.png"/><Relationship Id="rId6" Type="http://schemas.openxmlformats.org/officeDocument/2006/relationships/image" Target="../media/image4.png"/><Relationship Id="rId7" Type="http://schemas.openxmlformats.org/officeDocument/2006/relationships/hyperlink" Target="mailto:aebon@dreamitbiz.com" TargetMode="Externa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5.png"/><Relationship Id="rId4" Type="http://schemas.openxmlformats.org/officeDocument/2006/relationships/image" Target="../media/image6.png"/><Relationship Id="rId5" Type="http://schemas.openxmlformats.org/officeDocument/2006/relationships/image" Target="../media/image7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8.png"/><Relationship Id="rId4" Type="http://schemas.openxmlformats.org/officeDocument/2006/relationships/image" Target="../media/image9.png"/><Relationship Id="rId5" Type="http://schemas.openxmlformats.org/officeDocument/2006/relationships/image" Target="../media/image10.png"/><Relationship Id="rId6" Type="http://schemas.openxmlformats.org/officeDocument/2006/relationships/image" Target="../media/image1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2.png"/><Relationship Id="rId4" Type="http://schemas.openxmlformats.org/officeDocument/2006/relationships/image" Target="../media/image13.png"/><Relationship Id="rId5" Type="http://schemas.openxmlformats.org/officeDocument/2006/relationships/image" Target="../media/image14.png"/><Relationship Id="rId6" Type="http://schemas.openxmlformats.org/officeDocument/2006/relationships/image" Target="../media/image15.png"/><Relationship Id="rId7" Type="http://schemas.openxmlformats.org/officeDocument/2006/relationships/image" Target="../media/image16.png"/><Relationship Id="rId8" Type="http://schemas.openxmlformats.org/officeDocument/2006/relationships/image" Target="../media/image17.png"/><Relationship Id="rId9" Type="http://schemas.openxmlformats.org/officeDocument/2006/relationships/image" Target="../media/image18.png"/><Relationship Id="rId10" Type="http://schemas.openxmlformats.org/officeDocument/2006/relationships/image" Target="../media/image19.png"/><Relationship Id="rId11" Type="http://schemas.openxmlformats.org/officeDocument/2006/relationships/image" Target="../media/image20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1.png"/><Relationship Id="rId4" Type="http://schemas.openxmlformats.org/officeDocument/2006/relationships/image" Target="../media/image22.png"/><Relationship Id="rId5" Type="http://schemas.openxmlformats.org/officeDocument/2006/relationships/image" Target="../media/image23.png"/><Relationship Id="rId6" Type="http://schemas.openxmlformats.org/officeDocument/2006/relationships/image" Target="../media/image24.png"/><Relationship Id="rId7" Type="http://schemas.openxmlformats.org/officeDocument/2006/relationships/image" Target="../media/image25.png"/><Relationship Id="rId8" Type="http://schemas.openxmlformats.org/officeDocument/2006/relationships/image" Target="../media/image26.png"/><Relationship Id="rId9" Type="http://schemas.openxmlformats.org/officeDocument/2006/relationships/image" Target="../media/image27.png"/><Relationship Id="rId10" Type="http://schemas.openxmlformats.org/officeDocument/2006/relationships/image" Target="../media/image28.png"/><Relationship Id="rId11" Type="http://schemas.openxmlformats.org/officeDocument/2006/relationships/image" Target="../media/image29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30.png"/><Relationship Id="rId4" Type="http://schemas.openxmlformats.org/officeDocument/2006/relationships/image" Target="../media/image13.png"/><Relationship Id="rId5" Type="http://schemas.openxmlformats.org/officeDocument/2006/relationships/image" Target="../media/image31.png"/><Relationship Id="rId6" Type="http://schemas.openxmlformats.org/officeDocument/2006/relationships/image" Target="../media/image32.png"/><Relationship Id="rId7" Type="http://schemas.openxmlformats.org/officeDocument/2006/relationships/image" Target="../media/image33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34.png"/><Relationship Id="rId4" Type="http://schemas.openxmlformats.org/officeDocument/2006/relationships/image" Target="../media/image35.png"/><Relationship Id="rId5" Type="http://schemas.openxmlformats.org/officeDocument/2006/relationships/image" Target="../media/image36.png"/><Relationship Id="rId6" Type="http://schemas.openxmlformats.org/officeDocument/2006/relationships/image" Target="../media/image37.png"/><Relationship Id="rId7" Type="http://schemas.openxmlformats.org/officeDocument/2006/relationships/image" Target="../media/image38.png"/><Relationship Id="rId8" Type="http://schemas.openxmlformats.org/officeDocument/2006/relationships/image" Target="../media/image39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40.png"/><Relationship Id="rId4" Type="http://schemas.openxmlformats.org/officeDocument/2006/relationships/image" Target="../media/image41.png"/><Relationship Id="rId5" Type="http://schemas.openxmlformats.org/officeDocument/2006/relationships/image" Target="../media/image42.png"/><Relationship Id="rId6" Type="http://schemas.openxmlformats.org/officeDocument/2006/relationships/image" Target="../media/image43.png"/><Relationship Id="rId7" Type="http://schemas.openxmlformats.org/officeDocument/2006/relationships/image" Target="../media/image44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45.png"/><Relationship Id="rId4" Type="http://schemas.openxmlformats.org/officeDocument/2006/relationships/image" Target="../media/image46.png"/><Relationship Id="rId5" Type="http://schemas.openxmlformats.org/officeDocument/2006/relationships/image" Target="../media/image47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30.png"/><Relationship Id="rId4" Type="http://schemas.openxmlformats.org/officeDocument/2006/relationships/image" Target="../media/image13.png"/><Relationship Id="rId5" Type="http://schemas.openxmlformats.org/officeDocument/2006/relationships/image" Target="../media/image48.png"/><Relationship Id="rId6" Type="http://schemas.openxmlformats.org/officeDocument/2006/relationships/image" Target="../media/image49.png"/><Relationship Id="rId7" Type="http://schemas.openxmlformats.org/officeDocument/2006/relationships/image" Target="../media/image50.png"/><Relationship Id="rId8" Type="http://schemas.openxmlformats.org/officeDocument/2006/relationships/image" Target="../media/image51.png"/><Relationship Id="rId9" Type="http://schemas.openxmlformats.org/officeDocument/2006/relationships/image" Target="../media/image52.png"/><Relationship Id="rId10" Type="http://schemas.openxmlformats.org/officeDocument/2006/relationships/image" Target="../media/image53.png"/><Relationship Id="rId11" Type="http://schemas.openxmlformats.org/officeDocument/2006/relationships/image" Target="../media/image54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55.png"/><Relationship Id="rId4" Type="http://schemas.openxmlformats.org/officeDocument/2006/relationships/image" Target="../media/image56.png"/><Relationship Id="rId5" Type="http://schemas.openxmlformats.org/officeDocument/2006/relationships/image" Target="../media/image57.png"/><Relationship Id="rId6" Type="http://schemas.openxmlformats.org/officeDocument/2006/relationships/image" Target="../media/image58.png"/><Relationship Id="rId7" Type="http://schemas.openxmlformats.org/officeDocument/2006/relationships/image" Target="../media/image31.png"/><Relationship Id="rId8" Type="http://schemas.openxmlformats.org/officeDocument/2006/relationships/image" Target="../media/image59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60.png"/><Relationship Id="rId4" Type="http://schemas.openxmlformats.org/officeDocument/2006/relationships/image" Target="../media/image41.png"/><Relationship Id="rId5" Type="http://schemas.openxmlformats.org/officeDocument/2006/relationships/image" Target="../media/image61.png"/><Relationship Id="rId6" Type="http://schemas.openxmlformats.org/officeDocument/2006/relationships/image" Target="../media/image62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63.png"/><Relationship Id="rId4" Type="http://schemas.openxmlformats.org/officeDocument/2006/relationships/image" Target="../media/image64.png"/><Relationship Id="rId5" Type="http://schemas.openxmlformats.org/officeDocument/2006/relationships/image" Target="../media/image65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66.png"/><Relationship Id="rId4" Type="http://schemas.openxmlformats.org/officeDocument/2006/relationships/image" Target="../media/image67.png"/><Relationship Id="rId5" Type="http://schemas.openxmlformats.org/officeDocument/2006/relationships/image" Target="../media/image68.png"/><Relationship Id="rId6" Type="http://schemas.openxmlformats.org/officeDocument/2006/relationships/image" Target="../media/image69.png"/><Relationship Id="rId7" Type="http://schemas.openxmlformats.org/officeDocument/2006/relationships/image" Target="../media/image70.png"/><Relationship Id="rId8" Type="http://schemas.openxmlformats.org/officeDocument/2006/relationships/image" Target="../media/image71.png"/><Relationship Id="rId9" Type="http://schemas.openxmlformats.org/officeDocument/2006/relationships/image" Target="../media/image72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73.png"/><Relationship Id="rId4" Type="http://schemas.openxmlformats.org/officeDocument/2006/relationships/image" Target="../media/image74.png"/><Relationship Id="rId5" Type="http://schemas.openxmlformats.org/officeDocument/2006/relationships/image" Target="../media/image75.png"/><Relationship Id="rId6" Type="http://schemas.openxmlformats.org/officeDocument/2006/relationships/image" Target="../media/image76.png"/><Relationship Id="rId7" Type="http://schemas.openxmlformats.org/officeDocument/2006/relationships/image" Target="../media/image77.png"/><Relationship Id="rId8" Type="http://schemas.openxmlformats.org/officeDocument/2006/relationships/image" Target="../media/image78.png"/><Relationship Id="rId9" Type="http://schemas.openxmlformats.org/officeDocument/2006/relationships/image" Target="../media/image79.png"/><Relationship Id="rId10" Type="http://schemas.openxmlformats.org/officeDocument/2006/relationships/image" Target="../media/image80.png"/><Relationship Id="rId11" Type="http://schemas.openxmlformats.org/officeDocument/2006/relationships/image" Target="../media/image81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82.png"/><Relationship Id="rId4" Type="http://schemas.openxmlformats.org/officeDocument/2006/relationships/image" Target="../media/image83.png"/><Relationship Id="rId5" Type="http://schemas.openxmlformats.org/officeDocument/2006/relationships/image" Target="../media/image84.png"/><Relationship Id="rId6" Type="http://schemas.openxmlformats.org/officeDocument/2006/relationships/image" Target="../media/image85.png"/><Relationship Id="rId7" Type="http://schemas.openxmlformats.org/officeDocument/2006/relationships/image" Target="../media/image86.png"/><Relationship Id="rId8" Type="http://schemas.openxmlformats.org/officeDocument/2006/relationships/image" Target="../media/image87.png"/><Relationship Id="rId9" Type="http://schemas.openxmlformats.org/officeDocument/2006/relationships/image" Target="../media/image88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89.png"/><Relationship Id="rId4" Type="http://schemas.openxmlformats.org/officeDocument/2006/relationships/image" Target="../media/image90.png"/><Relationship Id="rId5" Type="http://schemas.openxmlformats.org/officeDocument/2006/relationships/image" Target="../media/image91.png"/><Relationship Id="rId6" Type="http://schemas.openxmlformats.org/officeDocument/2006/relationships/image" Target="../media/image41.png"/><Relationship Id="rId7" Type="http://schemas.openxmlformats.org/officeDocument/2006/relationships/image" Target="../media/image92.png"/><Relationship Id="rId8" Type="http://schemas.openxmlformats.org/officeDocument/2006/relationships/image" Target="../media/image93.png"/><Relationship Id="rId9" Type="http://schemas.openxmlformats.org/officeDocument/2006/relationships/image" Target="../media/image94.png"/><Relationship Id="rId10" Type="http://schemas.openxmlformats.org/officeDocument/2006/relationships/image" Target="../media/image95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21.png"/><Relationship Id="rId4" Type="http://schemas.openxmlformats.org/officeDocument/2006/relationships/image" Target="../media/image96.png"/><Relationship Id="rId5" Type="http://schemas.openxmlformats.org/officeDocument/2006/relationships/image" Target="../media/image97.png"/><Relationship Id="rId6" Type="http://schemas.openxmlformats.org/officeDocument/2006/relationships/image" Target="../media/image98.png"/><Relationship Id="rId7" Type="http://schemas.openxmlformats.org/officeDocument/2006/relationships/image" Target="../media/image99.png"/><Relationship Id="rId8" Type="http://schemas.openxmlformats.org/officeDocument/2006/relationships/image" Target="../media/image100.png"/><Relationship Id="rId9" Type="http://schemas.openxmlformats.org/officeDocument/2006/relationships/image" Target="../media/image101.png"/><Relationship Id="rId10" Type="http://schemas.openxmlformats.org/officeDocument/2006/relationships/image" Target="../media/image102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103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104.png"/><Relationship Id="rId4" Type="http://schemas.openxmlformats.org/officeDocument/2006/relationships/image" Target="../media/image105.png"/><Relationship Id="rId5" Type="http://schemas.openxmlformats.org/officeDocument/2006/relationships/image" Target="../media/image106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107.png"/><Relationship Id="rId4" Type="http://schemas.openxmlformats.org/officeDocument/2006/relationships/image" Target="../media/image108.png"/><Relationship Id="rId5" Type="http://schemas.openxmlformats.org/officeDocument/2006/relationships/image" Target="../media/image109.png"/><Relationship Id="rId6" Type="http://schemas.openxmlformats.org/officeDocument/2006/relationships/image" Target="../media/image110.png"/><Relationship Id="rId7" Type="http://schemas.openxmlformats.org/officeDocument/2006/relationships/image" Target="../media/image111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112.png"/><Relationship Id="rId4" Type="http://schemas.openxmlformats.org/officeDocument/2006/relationships/image" Target="../media/image13.png"/><Relationship Id="rId5" Type="http://schemas.openxmlformats.org/officeDocument/2006/relationships/image" Target="../media/image113.png"/><Relationship Id="rId6" Type="http://schemas.openxmlformats.org/officeDocument/2006/relationships/image" Target="../media/image114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115.png"/><Relationship Id="rId4" Type="http://schemas.openxmlformats.org/officeDocument/2006/relationships/image" Target="../media/image116.png"/><Relationship Id="rId5" Type="http://schemas.openxmlformats.org/officeDocument/2006/relationships/image" Target="../media/image41.png"/><Relationship Id="rId6" Type="http://schemas.openxmlformats.org/officeDocument/2006/relationships/image" Target="../media/image117.png"/><Relationship Id="rId7" Type="http://schemas.openxmlformats.org/officeDocument/2006/relationships/image" Target="../media/image118.png"/><Relationship Id="rId8" Type="http://schemas.openxmlformats.org/officeDocument/2006/relationships/image" Target="../media/image119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120.png"/><Relationship Id="rId4" Type="http://schemas.openxmlformats.org/officeDocument/2006/relationships/image" Target="../media/image121.png"/><Relationship Id="rId5" Type="http://schemas.openxmlformats.org/officeDocument/2006/relationships/image" Target="../media/image122.png"/><Relationship Id="rId6" Type="http://schemas.openxmlformats.org/officeDocument/2006/relationships/image" Target="../media/image123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124.png"/><Relationship Id="rId4" Type="http://schemas.openxmlformats.org/officeDocument/2006/relationships/image" Target="../media/image121.png"/><Relationship Id="rId5" Type="http://schemas.openxmlformats.org/officeDocument/2006/relationships/image" Target="../media/image125.png"/><Relationship Id="rId6" Type="http://schemas.openxmlformats.org/officeDocument/2006/relationships/image" Target="../media/image126.png"/><Relationship Id="rId7" Type="http://schemas.openxmlformats.org/officeDocument/2006/relationships/image" Target="../media/image127.png"/><Relationship Id="rId8" Type="http://schemas.openxmlformats.org/officeDocument/2006/relationships/image" Target="../media/image128.pn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129.png"/><Relationship Id="rId4" Type="http://schemas.openxmlformats.org/officeDocument/2006/relationships/image" Target="../media/image130.png"/><Relationship Id="rId5" Type="http://schemas.openxmlformats.org/officeDocument/2006/relationships/image" Target="../media/image131.png"/><Relationship Id="rId6" Type="http://schemas.openxmlformats.org/officeDocument/2006/relationships/image" Target="../media/image132.pn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133.png"/><Relationship Id="rId4" Type="http://schemas.openxmlformats.org/officeDocument/2006/relationships/image" Target="../media/image13.png"/><Relationship Id="rId5" Type="http://schemas.openxmlformats.org/officeDocument/2006/relationships/image" Target="../media/image53.png"/><Relationship Id="rId6" Type="http://schemas.openxmlformats.org/officeDocument/2006/relationships/image" Target="../media/image134.pn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135.png"/><Relationship Id="rId4" Type="http://schemas.openxmlformats.org/officeDocument/2006/relationships/image" Target="../media/image136.png"/><Relationship Id="rId5" Type="http://schemas.openxmlformats.org/officeDocument/2006/relationships/image" Target="../media/image137.pn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Relationship Id="rId3" Type="http://schemas.openxmlformats.org/officeDocument/2006/relationships/image" Target="../media/image138.png"/><Relationship Id="rId4" Type="http://schemas.openxmlformats.org/officeDocument/2006/relationships/image" Target="../media/image139.png"/><Relationship Id="rId5" Type="http://schemas.openxmlformats.org/officeDocument/2006/relationships/image" Target="../media/image140.png"/><Relationship Id="rId6" Type="http://schemas.openxmlformats.org/officeDocument/2006/relationships/image" Target="../media/image141.png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Relationship Id="rId3" Type="http://schemas.openxmlformats.org/officeDocument/2006/relationships/image" Target="../media/image148.png"/><Relationship Id="rId4" Type="http://schemas.openxmlformats.org/officeDocument/2006/relationships/image" Target="../media/image13.png"/><Relationship Id="rId5" Type="http://schemas.openxmlformats.org/officeDocument/2006/relationships/image" Target="../media/image149.png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Relationship Id="rId3" Type="http://schemas.openxmlformats.org/officeDocument/2006/relationships/image" Target="../media/image150.png"/><Relationship Id="rId4" Type="http://schemas.openxmlformats.org/officeDocument/2006/relationships/image" Target="../media/image9.png"/><Relationship Id="rId5" Type="http://schemas.openxmlformats.org/officeDocument/2006/relationships/image" Target="../media/image151.png"/><Relationship Id="rId6" Type="http://schemas.openxmlformats.org/officeDocument/2006/relationships/image" Target="../media/image152.png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Relationship Id="rId3" Type="http://schemas.openxmlformats.org/officeDocument/2006/relationships/image" Target="../media/image153.png"/><Relationship Id="rId4" Type="http://schemas.openxmlformats.org/officeDocument/2006/relationships/image" Target="../media/image13.png"/><Relationship Id="rId5" Type="http://schemas.openxmlformats.org/officeDocument/2006/relationships/image" Target="../media/image154.png"/><Relationship Id="rId6" Type="http://schemas.openxmlformats.org/officeDocument/2006/relationships/image" Target="../media/image155.png"/><Relationship Id="rId7" Type="http://schemas.openxmlformats.org/officeDocument/2006/relationships/image" Target="../media/image156.png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Relationship Id="rId3" Type="http://schemas.openxmlformats.org/officeDocument/2006/relationships/image" Target="../media/image157.png"/><Relationship Id="rId4" Type="http://schemas.openxmlformats.org/officeDocument/2006/relationships/image" Target="../media/image158.png"/><Relationship Id="rId5" Type="http://schemas.openxmlformats.org/officeDocument/2006/relationships/image" Target="../media/image159.png"/><Relationship Id="rId6" Type="http://schemas.openxmlformats.org/officeDocument/2006/relationships/image" Target="../media/image160.png"/><Relationship Id="rId7" Type="http://schemas.openxmlformats.org/officeDocument/2006/relationships/image" Target="../media/image161.png"/><Relationship Id="rId8" Type="http://schemas.openxmlformats.org/officeDocument/2006/relationships/image" Target="../media/image162.png"/><Relationship Id="rId9" Type="http://schemas.openxmlformats.org/officeDocument/2006/relationships/image" Target="../media/image163.png"/><Relationship Id="rId10" Type="http://schemas.openxmlformats.org/officeDocument/2006/relationships/image" Target="../media/image164.png"/><Relationship Id="rId11" Type="http://schemas.openxmlformats.org/officeDocument/2006/relationships/image" Target="../media/image165.png"/><Relationship Id="rId12" Type="http://schemas.openxmlformats.org/officeDocument/2006/relationships/image" Target="../media/image166.png"/><Relationship Id="rId13" Type="http://schemas.openxmlformats.org/officeDocument/2006/relationships/image" Target="../media/image167.png"/><Relationship Id="rId14" Type="http://schemas.openxmlformats.org/officeDocument/2006/relationships/image" Target="../media/image168.png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Relationship Id="rId3" Type="http://schemas.openxmlformats.org/officeDocument/2006/relationships/image" Target="../media/image55.png"/><Relationship Id="rId4" Type="http://schemas.openxmlformats.org/officeDocument/2006/relationships/image" Target="../media/image169.png"/><Relationship Id="rId5" Type="http://schemas.openxmlformats.org/officeDocument/2006/relationships/image" Target="../media/image170.png"/><Relationship Id="rId6" Type="http://schemas.openxmlformats.org/officeDocument/2006/relationships/image" Target="../media/image171.png"/><Relationship Id="rId7" Type="http://schemas.openxmlformats.org/officeDocument/2006/relationships/image" Target="../media/image172.png"/><Relationship Id="rId8" Type="http://schemas.openxmlformats.org/officeDocument/2006/relationships/image" Target="../media/image173.png"/><Relationship Id="rId9" Type="http://schemas.openxmlformats.org/officeDocument/2006/relationships/image" Target="../media/image174.png"/><Relationship Id="rId10" Type="http://schemas.openxmlformats.org/officeDocument/2006/relationships/image" Target="../media/image175.png"/><Relationship Id="rId11" Type="http://schemas.openxmlformats.org/officeDocument/2006/relationships/image" Target="../media/image176.png"/><Relationship Id="rId12" Type="http://schemas.openxmlformats.org/officeDocument/2006/relationships/image" Target="../media/image177.png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<Relationship Id="rId3" Type="http://schemas.openxmlformats.org/officeDocument/2006/relationships/image" Target="../media/image178.png"/><Relationship Id="rId4" Type="http://schemas.openxmlformats.org/officeDocument/2006/relationships/image" Target="../media/image179.png"/><Relationship Id="rId5" Type="http://schemas.openxmlformats.org/officeDocument/2006/relationships/image" Target="../media/image180.png"/><Relationship Id="rId6" Type="http://schemas.openxmlformats.org/officeDocument/2006/relationships/image" Target="../media/image181.png"/><Relationship Id="rId7" Type="http://schemas.openxmlformats.org/officeDocument/2006/relationships/image" Target="../media/image182.png"/><Relationship Id="rId8" Type="http://schemas.openxmlformats.org/officeDocument/2006/relationships/image" Target="../media/image183.png"/><Relationship Id="rId9" Type="http://schemas.openxmlformats.org/officeDocument/2006/relationships/image" Target="../media/image184.png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0.xml"/><Relationship Id="rId3" Type="http://schemas.openxmlformats.org/officeDocument/2006/relationships/image" Target="../media/image185.png"/><Relationship Id="rId4" Type="http://schemas.openxmlformats.org/officeDocument/2006/relationships/image" Target="../media/image186.png"/><Relationship Id="rId5" Type="http://schemas.openxmlformats.org/officeDocument/2006/relationships/image" Target="../media/image187.png"/><Relationship Id="rId6" Type="http://schemas.openxmlformats.org/officeDocument/2006/relationships/image" Target="../media/image188.png"/><Relationship Id="rId7" Type="http://schemas.openxmlformats.org/officeDocument/2006/relationships/image" Target="../media/image189.png"/><Relationship Id="rId8" Type="http://schemas.openxmlformats.org/officeDocument/2006/relationships/image" Target="../media/image190.png"/><Relationship Id="rId9" Type="http://schemas.openxmlformats.org/officeDocument/2006/relationships/image" Target="../media/image191.png"/><Relationship Id="rId10" Type="http://schemas.openxmlformats.org/officeDocument/2006/relationships/image" Target="../media/image192.png"/><Relationship Id="rId11" Type="http://schemas.openxmlformats.org/officeDocument/2006/relationships/image" Target="../media/image193.png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1.xml"/><Relationship Id="rId3" Type="http://schemas.openxmlformats.org/officeDocument/2006/relationships/image" Target="../media/image21.png"/><Relationship Id="rId4" Type="http://schemas.openxmlformats.org/officeDocument/2006/relationships/image" Target="../media/image176.png"/><Relationship Id="rId5" Type="http://schemas.openxmlformats.org/officeDocument/2006/relationships/image" Target="../media/image194.png"/><Relationship Id="rId6" Type="http://schemas.openxmlformats.org/officeDocument/2006/relationships/image" Target="../media/image195.png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2.xml"/><Relationship Id="rId3" Type="http://schemas.openxmlformats.org/officeDocument/2006/relationships/image" Target="../media/image153.png"/><Relationship Id="rId4" Type="http://schemas.openxmlformats.org/officeDocument/2006/relationships/image" Target="../media/image196.png"/><Relationship Id="rId5" Type="http://schemas.openxmlformats.org/officeDocument/2006/relationships/image" Target="../media/image197.png"/><Relationship Id="rId6" Type="http://schemas.openxmlformats.org/officeDocument/2006/relationships/image" Target="../media/image198.png"/><Relationship Id="rId7" Type="http://schemas.openxmlformats.org/officeDocument/2006/relationships/image" Target="../media/image199.png"/><Relationship Id="rId8" Type="http://schemas.openxmlformats.org/officeDocument/2006/relationships/image" Target="../media/image200.png"/><Relationship Id="rId9" Type="http://schemas.openxmlformats.org/officeDocument/2006/relationships/image" Target="../media/image201.png"/><Relationship Id="rId10" Type="http://schemas.openxmlformats.org/officeDocument/2006/relationships/image" Target="../media/image173.png"/><Relationship Id="rId11" Type="http://schemas.openxmlformats.org/officeDocument/2006/relationships/image" Target="../media/image202.png"/><Relationship Id="rId12" Type="http://schemas.openxmlformats.org/officeDocument/2006/relationships/image" Target="../media/image203.png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3.xml"/><Relationship Id="rId3" Type="http://schemas.openxmlformats.org/officeDocument/2006/relationships/image" Target="../media/image204.png"/><Relationship Id="rId4" Type="http://schemas.openxmlformats.org/officeDocument/2006/relationships/image" Target="../media/image43.png"/><Relationship Id="rId5" Type="http://schemas.openxmlformats.org/officeDocument/2006/relationships/image" Target="../media/image41.png"/><Relationship Id="rId6" Type="http://schemas.openxmlformats.org/officeDocument/2006/relationships/image" Target="../media/image205.png"/><Relationship Id="rId7" Type="http://schemas.openxmlformats.org/officeDocument/2006/relationships/image" Target="../media/image206.png"/><Relationship Id="rId8" Type="http://schemas.openxmlformats.org/officeDocument/2006/relationships/image" Target="../media/image207.png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4.xml"/><Relationship Id="rId3" Type="http://schemas.openxmlformats.org/officeDocument/2006/relationships/image" Target="../media/image208.png"/><Relationship Id="rId4" Type="http://schemas.openxmlformats.org/officeDocument/2006/relationships/image" Target="../media/image209.png"/><Relationship Id="rId5" Type="http://schemas.openxmlformats.org/officeDocument/2006/relationships/image" Target="../media/image153.png"/><Relationship Id="rId6" Type="http://schemas.openxmlformats.org/officeDocument/2006/relationships/image" Target="../media/image113.png"/><Relationship Id="rId7" Type="http://schemas.openxmlformats.org/officeDocument/2006/relationships/image" Target="../media/image134.png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5.xml"/><Relationship Id="rId3" Type="http://schemas.openxmlformats.org/officeDocument/2006/relationships/image" Target="../media/image210.png"/><Relationship Id="rId4" Type="http://schemas.openxmlformats.org/officeDocument/2006/relationships/image" Target="../media/image211.png"/><Relationship Id="rId5" Type="http://schemas.openxmlformats.org/officeDocument/2006/relationships/image" Target="../media/image212.png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0F0F0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9449" y="-97739"/>
            <a:ext cx="12191695" cy="6858000"/>
          </a:xfrm>
          <a:prstGeom prst="rect">
            <a:avLst/>
          </a:prstGeom>
          <a:solidFill>
            <a:srgbClr val="00204A"/>
          </a:solidFill>
          <a:ln/>
          <a:effectLst>
            <a:outerShdw blurRad="63500" dist="381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4" name="Shape 2"/>
          <p:cNvSpPr/>
          <p:nvPr/>
        </p:nvSpPr>
        <p:spPr>
          <a:xfrm>
            <a:off x="9448" y="6185408"/>
            <a:ext cx="12191695" cy="688238"/>
          </a:xfrm>
          <a:prstGeom prst="rect">
            <a:avLst/>
          </a:prstGeom>
          <a:solidFill>
            <a:srgbClr val="002B5E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" name="Shape 3"/>
          <p:cNvSpPr/>
          <p:nvPr/>
        </p:nvSpPr>
        <p:spPr>
          <a:xfrm>
            <a:off x="1452575" y="1467612"/>
            <a:ext cx="761695" cy="75895"/>
          </a:xfrm>
          <a:prstGeom prst="rect">
            <a:avLst/>
          </a:prstGeom>
          <a:solidFill>
            <a:srgbClr val="00BBF0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" name="Text 4"/>
          <p:cNvSpPr txBox="1"/>
          <p:nvPr/>
        </p:nvSpPr>
        <p:spPr>
          <a:xfrm>
            <a:off x="1516211" y="1860836"/>
            <a:ext cx="5741859" cy="65262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28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리포트가 </a:t>
            </a:r>
            <a:r>
              <a:rPr lang="en-US" sz="2800" b="1" dirty="0" err="1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낯선</a:t>
            </a:r>
            <a:r>
              <a:rPr lang="en-US" sz="28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대학생을 위한</a:t>
            </a:r>
            <a:endParaRPr lang="en-US" sz="2800" dirty="0"/>
          </a:p>
        </p:txBody>
      </p:sp>
      <p:sp>
        <p:nvSpPr>
          <p:cNvPr id="7" name="Text 5"/>
          <p:cNvSpPr txBox="1"/>
          <p:nvPr/>
        </p:nvSpPr>
        <p:spPr>
          <a:xfrm>
            <a:off x="1464527" y="2592527"/>
            <a:ext cx="6335703" cy="10003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200" b="1" dirty="0">
                <a:solidFill>
                  <a:srgbClr val="93C5F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리포트 작성 방법</a:t>
            </a:r>
            <a:endParaRPr lang="en-US" sz="7200" dirty="0"/>
          </a:p>
        </p:txBody>
      </p:sp>
      <p:sp>
        <p:nvSpPr>
          <p:cNvPr id="8" name="Text 6"/>
          <p:cNvSpPr txBox="1"/>
          <p:nvPr/>
        </p:nvSpPr>
        <p:spPr>
          <a:xfrm>
            <a:off x="1462024" y="3848710"/>
            <a:ext cx="3372307" cy="3337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E5E7E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설득력 있는 학술적 글쓰기의 시작</a:t>
            </a:r>
            <a:endParaRPr lang="en-US" sz="1800" dirty="0"/>
          </a:p>
        </p:txBody>
      </p:sp>
      <p:sp>
        <p:nvSpPr>
          <p:cNvPr id="9" name="Text 7"/>
          <p:cNvSpPr txBox="1"/>
          <p:nvPr/>
        </p:nvSpPr>
        <p:spPr>
          <a:xfrm>
            <a:off x="1462024" y="4295851"/>
            <a:ext cx="4187038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9CA3A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주제 선정부터 퇴고까지, A+ 리포트를 위한 체계적 가이드</a:t>
            </a:r>
            <a:endParaRPr lang="en-US" sz="1300" dirty="0"/>
          </a:p>
        </p:txBody>
      </p:sp>
      <p:pic>
        <p:nvPicPr>
          <p:cNvPr id="10" name="Image 0" descr="preencoded.png"/>
          <p:cNvPicPr>
            <a:picLocks noChangeAspect="1"/>
          </p:cNvPicPr>
          <p:nvPr/>
        </p:nvPicPr>
        <p:blipFill>
          <a:blip r:embed="rId3"/>
          <a:srcRect t="-1092" b="-1092"/>
          <a:stretch/>
        </p:blipFill>
        <p:spPr>
          <a:xfrm>
            <a:off x="381305" y="424282"/>
            <a:ext cx="209398" cy="190195"/>
          </a:xfrm>
          <a:prstGeom prst="rect">
            <a:avLst/>
          </a:prstGeom>
        </p:spPr>
      </p:pic>
      <p:sp>
        <p:nvSpPr>
          <p:cNvPr id="12" name="Text 9"/>
          <p:cNvSpPr txBox="1"/>
          <p:nvPr/>
        </p:nvSpPr>
        <p:spPr>
          <a:xfrm>
            <a:off x="692042" y="406664"/>
            <a:ext cx="1991523" cy="23170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BFDBF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대학생 핵심 역량 강화 프로젝트</a:t>
            </a:r>
            <a:endParaRPr lang="en-US" sz="1200" b="1" dirty="0"/>
          </a:p>
        </p:txBody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4"/>
          <a:srcRect t="-1100" b="-1100"/>
          <a:stretch/>
        </p:blipFill>
        <p:spPr>
          <a:xfrm>
            <a:off x="381305" y="6479844"/>
            <a:ext cx="114300" cy="133502"/>
          </a:xfrm>
          <a:prstGeom prst="rect">
            <a:avLst/>
          </a:prstGeom>
        </p:spPr>
      </p:pic>
      <p:sp>
        <p:nvSpPr>
          <p:cNvPr id="14" name="Text 10"/>
          <p:cNvSpPr txBox="1"/>
          <p:nvPr/>
        </p:nvSpPr>
        <p:spPr>
          <a:xfrm>
            <a:off x="571500" y="6444182"/>
            <a:ext cx="1357884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9CA3A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대상: 신입생 및 재학생</a:t>
            </a:r>
            <a:endParaRPr lang="en-US" sz="1000" dirty="0"/>
          </a:p>
        </p:txBody>
      </p:sp>
      <p:pic>
        <p:nvPicPr>
          <p:cNvPr id="17" name="Image 3" descr="preencoded.png"/>
          <p:cNvPicPr>
            <a:picLocks noChangeAspect="1"/>
          </p:cNvPicPr>
          <p:nvPr/>
        </p:nvPicPr>
        <p:blipFill>
          <a:blip r:embed="rId5"/>
          <a:srcRect l="-2512" r="-2512"/>
          <a:stretch/>
        </p:blipFill>
        <p:spPr>
          <a:xfrm>
            <a:off x="8481060" y="6477610"/>
            <a:ext cx="105156" cy="133502"/>
          </a:xfrm>
          <a:prstGeom prst="rect">
            <a:avLst/>
          </a:prstGeom>
        </p:spPr>
      </p:pic>
      <p:sp>
        <p:nvSpPr>
          <p:cNvPr id="18" name="Text 12"/>
          <p:cNvSpPr txBox="1"/>
          <p:nvPr/>
        </p:nvSpPr>
        <p:spPr>
          <a:xfrm>
            <a:off x="8662111" y="6441948"/>
            <a:ext cx="3605479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9CA3A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구성 참고: DBpia 「리포트가 낯선 대학생을 위한 리포트 작성법」에서 아이디어를 얻어 내용을 전면 재구성함</a:t>
            </a:r>
            <a:endParaRPr lang="en-US" sz="1000" dirty="0"/>
          </a:p>
        </p:txBody>
      </p:sp>
      <p:sp>
        <p:nvSpPr>
          <p:cNvPr id="19" name="Shape 5">
            <a:extLst>
              <a:ext uri="{FF2B5EF4-FFF2-40B4-BE49-F238E27FC236}">
                <a16:creationId xmlns:a16="http://schemas.microsoft.com/office/drawing/2014/main" id="{F8D76137-595B-552F-5813-D07237E7C526}"/>
              </a:ext>
            </a:extLst>
          </p:cNvPr>
          <p:cNvSpPr/>
          <p:nvPr/>
        </p:nvSpPr>
        <p:spPr>
          <a:xfrm>
            <a:off x="7206386" y="5224856"/>
            <a:ext cx="381305" cy="381305"/>
          </a:xfrm>
          <a:prstGeom prst="ellipse">
            <a:avLst/>
          </a:prstGeom>
          <a:solidFill>
            <a:srgbClr val="38BDF8">
              <a:alpha val="10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20" name="Image 2" descr="preencoded.png">
            <a:extLst>
              <a:ext uri="{FF2B5EF4-FFF2-40B4-BE49-F238E27FC236}">
                <a16:creationId xmlns:a16="http://schemas.microsoft.com/office/drawing/2014/main" id="{1B7242BE-723A-9D91-82DD-78B938738683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l="-1064" r="-1064"/>
          <a:stretch/>
        </p:blipFill>
        <p:spPr>
          <a:xfrm>
            <a:off x="7286854" y="5330012"/>
            <a:ext cx="219456" cy="171907"/>
          </a:xfrm>
          <a:prstGeom prst="rect">
            <a:avLst/>
          </a:prstGeom>
        </p:spPr>
      </p:pic>
      <p:sp>
        <p:nvSpPr>
          <p:cNvPr id="21" name="Text 11">
            <a:extLst>
              <a:ext uri="{FF2B5EF4-FFF2-40B4-BE49-F238E27FC236}">
                <a16:creationId xmlns:a16="http://schemas.microsoft.com/office/drawing/2014/main" id="{DD919104-3779-2844-6D9C-6E763CF2DBA3}"/>
              </a:ext>
            </a:extLst>
          </p:cNvPr>
          <p:cNvSpPr txBox="1"/>
          <p:nvPr/>
        </p:nvSpPr>
        <p:spPr>
          <a:xfrm>
            <a:off x="7740393" y="5180508"/>
            <a:ext cx="3638397" cy="3666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ko-KR" altLang="en-US" sz="20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</a:rPr>
              <a:t>이애본</a:t>
            </a:r>
            <a:br>
              <a:rPr lang="en-US" altLang="ko-KR" sz="15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</a:rPr>
            </a:br>
            <a:r>
              <a:rPr lang="ko-KR" altLang="en-US" sz="15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</a:rPr>
              <a:t>드림아이티비즈(DreamIT Biz)</a:t>
            </a:r>
            <a:r>
              <a:rPr lang="en-US" altLang="ko-KR" sz="15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</a:rPr>
              <a:t/>
            </a:r>
            <a:br>
              <a:rPr lang="ko-KR" altLang="en-US" sz="15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</a:rPr>
            </a:br>
            <a:r>
              <a:rPr lang="en-US" altLang="ko-KR" sz="15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hlinkClick r:id="rId7"/>
              </a:rPr>
              <a:t>aebon@dreamitbiz.com</a:t>
            </a:r>
            <a:r>
              <a:rPr lang="ko-KR" altLang="en-US" sz="15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</a:rPr>
              <a:t> </a:t>
            </a:r>
            <a:endParaRPr lang="en-US" altLang="ko-KR" sz="1500" b="1" dirty="0">
              <a:solidFill>
                <a:srgbClr val="FFFFFF"/>
              </a:solidFill>
              <a:latin typeface="Noto Sans KR" pitchFamily="34" charset="0"/>
              <a:ea typeface="Noto Sans KR" pitchFamily="34" charset="-122"/>
            </a:endParaRPr>
          </a:p>
        </p:txBody>
      </p:sp>
      <p:sp>
        <p:nvSpPr>
          <p:cNvPr id="15" name="Shape 17">
            <a:extLst>
              <a:ext uri="{FF2B5EF4-FFF2-40B4-BE49-F238E27FC236}">
                <a16:creationId xmlns:a16="http://schemas.microsoft.com/office/drawing/2014/main" id="{07B8B944-1806-12D4-2A7B-1B6AE91AC3D9}"/>
              </a:ext>
            </a:extLst>
          </p:cNvPr>
          <p:cNvSpPr/>
          <p:nvPr/>
        </p:nvSpPr>
        <p:spPr>
          <a:xfrm>
            <a:off x="9302230" y="-1219442"/>
            <a:ext cx="3715613" cy="3715613"/>
          </a:xfrm>
          <a:prstGeom prst="ellipse">
            <a:avLst/>
          </a:prstGeom>
          <a:solidFill>
            <a:srgbClr val="00BBF0">
              <a:alpha val="10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6" name="Shape 17">
            <a:extLst>
              <a:ext uri="{FF2B5EF4-FFF2-40B4-BE49-F238E27FC236}">
                <a16:creationId xmlns:a16="http://schemas.microsoft.com/office/drawing/2014/main" id="{B60DB3D2-D251-62C9-D6C6-E60C63C22E3B}"/>
              </a:ext>
            </a:extLst>
          </p:cNvPr>
          <p:cNvSpPr/>
          <p:nvPr/>
        </p:nvSpPr>
        <p:spPr>
          <a:xfrm>
            <a:off x="11167719" y="2341575"/>
            <a:ext cx="685800" cy="685800"/>
          </a:xfrm>
          <a:prstGeom prst="ellipse">
            <a:avLst/>
          </a:prstGeom>
          <a:solidFill>
            <a:srgbClr val="00BBF0">
              <a:alpha val="10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2" name="Shape 17">
            <a:extLst>
              <a:ext uri="{FF2B5EF4-FFF2-40B4-BE49-F238E27FC236}">
                <a16:creationId xmlns:a16="http://schemas.microsoft.com/office/drawing/2014/main" id="{076B5E5E-860D-2522-BD7E-11A65A53E128}"/>
              </a:ext>
            </a:extLst>
          </p:cNvPr>
          <p:cNvSpPr/>
          <p:nvPr/>
        </p:nvSpPr>
        <p:spPr>
          <a:xfrm>
            <a:off x="8389526" y="512814"/>
            <a:ext cx="1825408" cy="1825408"/>
          </a:xfrm>
          <a:prstGeom prst="ellipse">
            <a:avLst/>
          </a:prstGeom>
          <a:solidFill>
            <a:srgbClr val="00BBF0">
              <a:alpha val="10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3" name="deckgen:wrap:footer"/>
          <p:cNvSpPr txBox="1"/>
          <p:nvPr/>
        </p:nvSpPr>
        <p:spPr>
          <a:xfrm>
            <a:off x="365760" y="6549390"/>
            <a:ext cx="11460480" cy="240030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0">
                <a:solidFill>
                  <a:srgbClr val="8A8F99"/>
                </a:solidFill>
                <a:latin typeface="Pretendard"/>
              </a:rPr>
              <a:t>© 2026 이애본 · 홍문원(洪文院) 발행 · CC BY-NC-ND 4.0 · useful-ai.dreamitbiz.com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0F0F0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204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" name="Shape 2"/>
          <p:cNvSpPr/>
          <p:nvPr/>
        </p:nvSpPr>
        <p:spPr>
          <a:xfrm>
            <a:off x="3619195" y="476402"/>
            <a:ext cx="2542946" cy="1848002"/>
          </a:xfrm>
          <a:prstGeom prst="rect">
            <a:avLst/>
          </a:prstGeom>
          <a:solidFill>
            <a:srgbClr val="FFFFFF">
              <a:alpha val="3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" name="Shape 3"/>
          <p:cNvSpPr/>
          <p:nvPr/>
        </p:nvSpPr>
        <p:spPr>
          <a:xfrm>
            <a:off x="3619195" y="476402"/>
            <a:ext cx="28346" cy="1848002"/>
          </a:xfrm>
          <a:prstGeom prst="rect">
            <a:avLst/>
          </a:prstGeom>
          <a:solidFill>
            <a:srgbClr val="00BBF0">
              <a:alpha val="50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" name="Text 4"/>
          <p:cNvSpPr txBox="1"/>
          <p:nvPr/>
        </p:nvSpPr>
        <p:spPr>
          <a:xfrm>
            <a:off x="3838651" y="984809"/>
            <a:ext cx="457200" cy="3337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00BBF0">
                    <a:alpha val="90000"/>
                  </a:srgbClr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01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3838651" y="1327709"/>
            <a:ext cx="90159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정의와 가치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3838651" y="1574597"/>
            <a:ext cx="1177747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CBD5E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학술적 글쓰기의 본질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6349594" y="476402"/>
            <a:ext cx="2542946" cy="1848002"/>
          </a:xfrm>
          <a:prstGeom prst="rect">
            <a:avLst/>
          </a:prstGeom>
          <a:solidFill>
            <a:srgbClr val="FFFFFF">
              <a:alpha val="3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0" name="Shape 8"/>
          <p:cNvSpPr/>
          <p:nvPr/>
        </p:nvSpPr>
        <p:spPr>
          <a:xfrm>
            <a:off x="6349594" y="476402"/>
            <a:ext cx="28346" cy="1848002"/>
          </a:xfrm>
          <a:prstGeom prst="rect">
            <a:avLst/>
          </a:prstGeom>
          <a:solidFill>
            <a:srgbClr val="00BBF0">
              <a:alpha val="50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1" name="Text 9"/>
          <p:cNvSpPr txBox="1"/>
          <p:nvPr/>
        </p:nvSpPr>
        <p:spPr>
          <a:xfrm>
            <a:off x="6569050" y="984809"/>
            <a:ext cx="457200" cy="3337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00BBF0">
                    <a:alpha val="90000"/>
                  </a:srgbClr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02</a:t>
            </a:r>
            <a:endParaRPr lang="en-US" sz="1800" dirty="0"/>
          </a:p>
        </p:txBody>
      </p:sp>
      <p:sp>
        <p:nvSpPr>
          <p:cNvPr id="12" name="Text 10"/>
          <p:cNvSpPr txBox="1"/>
          <p:nvPr/>
        </p:nvSpPr>
        <p:spPr>
          <a:xfrm>
            <a:off x="6569050" y="1327709"/>
            <a:ext cx="75895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과제 분석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6569050" y="1574597"/>
            <a:ext cx="1206094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CBD5E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출제 의도와 목표 파악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9080906" y="476402"/>
            <a:ext cx="2542946" cy="1848002"/>
          </a:xfrm>
          <a:prstGeom prst="rect">
            <a:avLst/>
          </a:prstGeom>
          <a:solidFill>
            <a:srgbClr val="FFFFFF">
              <a:alpha val="3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5" name="Shape 13"/>
          <p:cNvSpPr/>
          <p:nvPr/>
        </p:nvSpPr>
        <p:spPr>
          <a:xfrm>
            <a:off x="9080906" y="476402"/>
            <a:ext cx="28346" cy="1848002"/>
          </a:xfrm>
          <a:prstGeom prst="rect">
            <a:avLst/>
          </a:prstGeom>
          <a:solidFill>
            <a:srgbClr val="00BBF0">
              <a:alpha val="50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6" name="Text 14"/>
          <p:cNvSpPr txBox="1"/>
          <p:nvPr/>
        </p:nvSpPr>
        <p:spPr>
          <a:xfrm>
            <a:off x="9299448" y="984809"/>
            <a:ext cx="457200" cy="3337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00BBF0">
                    <a:alpha val="90000"/>
                  </a:srgbClr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03</a:t>
            </a:r>
            <a:endParaRPr lang="en-US" sz="1800" dirty="0"/>
          </a:p>
        </p:txBody>
      </p:sp>
      <p:sp>
        <p:nvSpPr>
          <p:cNvPr id="17" name="Text 15"/>
          <p:cNvSpPr txBox="1"/>
          <p:nvPr/>
        </p:nvSpPr>
        <p:spPr>
          <a:xfrm>
            <a:off x="9299448" y="1327709"/>
            <a:ext cx="110185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핵심 동사 사전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9299448" y="1574597"/>
            <a:ext cx="1511503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CBD5E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분석/비교/평가/제안의 차이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3619195" y="2508199"/>
            <a:ext cx="2542946" cy="1848002"/>
          </a:xfrm>
          <a:prstGeom prst="rect">
            <a:avLst/>
          </a:prstGeom>
          <a:solidFill>
            <a:srgbClr val="FFFFFF">
              <a:alpha val="3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0" name="Shape 18"/>
          <p:cNvSpPr/>
          <p:nvPr/>
        </p:nvSpPr>
        <p:spPr>
          <a:xfrm>
            <a:off x="3619195" y="2508199"/>
            <a:ext cx="28346" cy="1848002"/>
          </a:xfrm>
          <a:prstGeom prst="rect">
            <a:avLst/>
          </a:prstGeom>
          <a:solidFill>
            <a:srgbClr val="00BBF0">
              <a:alpha val="50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1" name="Text 19"/>
          <p:cNvSpPr txBox="1"/>
          <p:nvPr/>
        </p:nvSpPr>
        <p:spPr>
          <a:xfrm>
            <a:off x="3838651" y="3016606"/>
            <a:ext cx="457200" cy="3337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00BBF0">
                    <a:alpha val="90000"/>
                  </a:srgbClr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04</a:t>
            </a:r>
            <a:endParaRPr lang="en-US" sz="1800" dirty="0"/>
          </a:p>
        </p:txBody>
      </p:sp>
      <p:sp>
        <p:nvSpPr>
          <p:cNvPr id="22" name="Text 20"/>
          <p:cNvSpPr txBox="1"/>
          <p:nvPr/>
        </p:nvSpPr>
        <p:spPr>
          <a:xfrm>
            <a:off x="3838651" y="3359506"/>
            <a:ext cx="90159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주제 좁히기</a:t>
            </a:r>
            <a:endParaRPr lang="en-US" sz="1200" dirty="0"/>
          </a:p>
        </p:txBody>
      </p:sp>
      <p:sp>
        <p:nvSpPr>
          <p:cNvPr id="23" name="Text 21"/>
          <p:cNvSpPr txBox="1"/>
          <p:nvPr/>
        </p:nvSpPr>
        <p:spPr>
          <a:xfrm>
            <a:off x="3838651" y="3606394"/>
            <a:ext cx="1054303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CBD5E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5W1H 질문법 적용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6349594" y="2508199"/>
            <a:ext cx="2542946" cy="1848002"/>
          </a:xfrm>
          <a:prstGeom prst="rect">
            <a:avLst/>
          </a:prstGeom>
          <a:solidFill>
            <a:srgbClr val="FFFFFF">
              <a:alpha val="3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5" name="Shape 23"/>
          <p:cNvSpPr/>
          <p:nvPr/>
        </p:nvSpPr>
        <p:spPr>
          <a:xfrm>
            <a:off x="6349594" y="2508199"/>
            <a:ext cx="28346" cy="1848002"/>
          </a:xfrm>
          <a:prstGeom prst="rect">
            <a:avLst/>
          </a:prstGeom>
          <a:solidFill>
            <a:srgbClr val="00BBF0">
              <a:alpha val="50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6" name="Text 24"/>
          <p:cNvSpPr txBox="1"/>
          <p:nvPr/>
        </p:nvSpPr>
        <p:spPr>
          <a:xfrm>
            <a:off x="6569050" y="3016606"/>
            <a:ext cx="457200" cy="3337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00BBF0">
                    <a:alpha val="90000"/>
                  </a:srgbClr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05</a:t>
            </a:r>
            <a:endParaRPr lang="en-US" sz="1800" dirty="0"/>
          </a:p>
        </p:txBody>
      </p:sp>
      <p:sp>
        <p:nvSpPr>
          <p:cNvPr id="27" name="Text 25"/>
          <p:cNvSpPr txBox="1"/>
          <p:nvPr/>
        </p:nvSpPr>
        <p:spPr>
          <a:xfrm>
            <a:off x="6569050" y="3359506"/>
            <a:ext cx="90159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주제문 품질</a:t>
            </a:r>
            <a:endParaRPr lang="en-US" sz="1200" dirty="0"/>
          </a:p>
        </p:txBody>
      </p:sp>
      <p:sp>
        <p:nvSpPr>
          <p:cNvPr id="28" name="Text 26"/>
          <p:cNvSpPr txBox="1"/>
          <p:nvPr/>
        </p:nvSpPr>
        <p:spPr>
          <a:xfrm>
            <a:off x="6569050" y="3606394"/>
            <a:ext cx="1320394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CBD5E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약한 문장을 강한 논제로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9080906" y="2508199"/>
            <a:ext cx="2542946" cy="1848002"/>
          </a:xfrm>
          <a:prstGeom prst="rect">
            <a:avLst/>
          </a:prstGeom>
          <a:solidFill>
            <a:srgbClr val="FFFFFF">
              <a:alpha val="3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0" name="Shape 28"/>
          <p:cNvSpPr/>
          <p:nvPr/>
        </p:nvSpPr>
        <p:spPr>
          <a:xfrm>
            <a:off x="9080906" y="2508199"/>
            <a:ext cx="28346" cy="1848002"/>
          </a:xfrm>
          <a:prstGeom prst="rect">
            <a:avLst/>
          </a:prstGeom>
          <a:solidFill>
            <a:srgbClr val="00BBF0">
              <a:alpha val="50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1" name="Text 29"/>
          <p:cNvSpPr txBox="1"/>
          <p:nvPr/>
        </p:nvSpPr>
        <p:spPr>
          <a:xfrm>
            <a:off x="9299448" y="3016606"/>
            <a:ext cx="457200" cy="3337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00BBF0">
                    <a:alpha val="90000"/>
                  </a:srgbClr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06</a:t>
            </a:r>
            <a:endParaRPr lang="en-US" sz="1800" dirty="0"/>
          </a:p>
        </p:txBody>
      </p:sp>
      <p:sp>
        <p:nvSpPr>
          <p:cNvPr id="32" name="Text 30"/>
          <p:cNvSpPr txBox="1"/>
          <p:nvPr/>
        </p:nvSpPr>
        <p:spPr>
          <a:xfrm>
            <a:off x="9299448" y="3359506"/>
            <a:ext cx="1149401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자료조사 · 출처</a:t>
            </a:r>
            <a:endParaRPr lang="en-US" sz="1200" dirty="0"/>
          </a:p>
        </p:txBody>
      </p:sp>
      <p:sp>
        <p:nvSpPr>
          <p:cNvPr id="33" name="Text 31"/>
          <p:cNvSpPr txBox="1"/>
          <p:nvPr/>
        </p:nvSpPr>
        <p:spPr>
          <a:xfrm>
            <a:off x="9299448" y="3606394"/>
            <a:ext cx="1320394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CBD5E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신뢰도 평가와 검색 전략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3619195" y="4539996"/>
            <a:ext cx="2542946" cy="1848002"/>
          </a:xfrm>
          <a:prstGeom prst="rect">
            <a:avLst/>
          </a:prstGeom>
          <a:solidFill>
            <a:srgbClr val="FFFFFF">
              <a:alpha val="3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5" name="Shape 33"/>
          <p:cNvSpPr/>
          <p:nvPr/>
        </p:nvSpPr>
        <p:spPr>
          <a:xfrm>
            <a:off x="3619195" y="4539996"/>
            <a:ext cx="28346" cy="1848002"/>
          </a:xfrm>
          <a:prstGeom prst="rect">
            <a:avLst/>
          </a:prstGeom>
          <a:solidFill>
            <a:srgbClr val="00BBF0">
              <a:alpha val="50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6" name="Text 34"/>
          <p:cNvSpPr txBox="1"/>
          <p:nvPr/>
        </p:nvSpPr>
        <p:spPr>
          <a:xfrm>
            <a:off x="3838651" y="5049317"/>
            <a:ext cx="457200" cy="3337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00BBF0">
                    <a:alpha val="90000"/>
                  </a:srgbClr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07</a:t>
            </a:r>
            <a:endParaRPr lang="en-US" sz="1800" dirty="0"/>
          </a:p>
        </p:txBody>
      </p:sp>
      <p:sp>
        <p:nvSpPr>
          <p:cNvPr id="37" name="Text 35"/>
          <p:cNvSpPr txBox="1"/>
          <p:nvPr/>
        </p:nvSpPr>
        <p:spPr>
          <a:xfrm>
            <a:off x="3838651" y="5392217"/>
            <a:ext cx="11969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개요 · 문단 매핑</a:t>
            </a:r>
            <a:endParaRPr lang="en-US" sz="1200" dirty="0"/>
          </a:p>
        </p:txBody>
      </p:sp>
      <p:sp>
        <p:nvSpPr>
          <p:cNvPr id="38" name="Text 36"/>
          <p:cNvSpPr txBox="1"/>
          <p:nvPr/>
        </p:nvSpPr>
        <p:spPr>
          <a:xfrm>
            <a:off x="3838651" y="5638190"/>
            <a:ext cx="1358798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CBD5E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블록 구조와 첫 문장 공식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6349594" y="4539996"/>
            <a:ext cx="2542946" cy="1848002"/>
          </a:xfrm>
          <a:prstGeom prst="rect">
            <a:avLst/>
          </a:prstGeom>
          <a:solidFill>
            <a:srgbClr val="FFFFFF">
              <a:alpha val="3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0" name="Shape 38"/>
          <p:cNvSpPr/>
          <p:nvPr/>
        </p:nvSpPr>
        <p:spPr>
          <a:xfrm>
            <a:off x="6349594" y="4539996"/>
            <a:ext cx="28346" cy="1848002"/>
          </a:xfrm>
          <a:prstGeom prst="rect">
            <a:avLst/>
          </a:prstGeom>
          <a:solidFill>
            <a:srgbClr val="00BBF0">
              <a:alpha val="50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1" name="Text 39"/>
          <p:cNvSpPr txBox="1"/>
          <p:nvPr/>
        </p:nvSpPr>
        <p:spPr>
          <a:xfrm>
            <a:off x="6569050" y="5049317"/>
            <a:ext cx="457200" cy="3337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00BBF0">
                    <a:alpha val="90000"/>
                  </a:srgbClr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08</a:t>
            </a:r>
            <a:endParaRPr lang="en-US" sz="1800" dirty="0"/>
          </a:p>
        </p:txBody>
      </p:sp>
      <p:sp>
        <p:nvSpPr>
          <p:cNvPr id="42" name="Text 40"/>
          <p:cNvSpPr txBox="1"/>
          <p:nvPr/>
        </p:nvSpPr>
        <p:spPr>
          <a:xfrm>
            <a:off x="6569050" y="5392217"/>
            <a:ext cx="1005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글쓰기 · 반론</a:t>
            </a:r>
            <a:endParaRPr lang="en-US" sz="1200" dirty="0"/>
          </a:p>
        </p:txBody>
      </p:sp>
      <p:sp>
        <p:nvSpPr>
          <p:cNvPr id="43" name="Text 41"/>
          <p:cNvSpPr txBox="1"/>
          <p:nvPr/>
        </p:nvSpPr>
        <p:spPr>
          <a:xfrm>
            <a:off x="6569050" y="5638190"/>
            <a:ext cx="1463040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CBD5E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리라이트 실습 및 반박 논리</a:t>
            </a:r>
            <a:endParaRPr lang="en-US" sz="900" dirty="0"/>
          </a:p>
        </p:txBody>
      </p:sp>
      <p:sp>
        <p:nvSpPr>
          <p:cNvPr id="44" name="Shape 42"/>
          <p:cNvSpPr/>
          <p:nvPr/>
        </p:nvSpPr>
        <p:spPr>
          <a:xfrm>
            <a:off x="9080906" y="4539996"/>
            <a:ext cx="2542946" cy="1848002"/>
          </a:xfrm>
          <a:prstGeom prst="rect">
            <a:avLst/>
          </a:prstGeom>
          <a:solidFill>
            <a:srgbClr val="FFFFFF">
              <a:alpha val="3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5" name="Shape 43"/>
          <p:cNvSpPr/>
          <p:nvPr/>
        </p:nvSpPr>
        <p:spPr>
          <a:xfrm>
            <a:off x="9080906" y="4539996"/>
            <a:ext cx="28346" cy="1848002"/>
          </a:xfrm>
          <a:prstGeom prst="rect">
            <a:avLst/>
          </a:prstGeom>
          <a:solidFill>
            <a:srgbClr val="00BBF0">
              <a:alpha val="50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6" name="Text 44"/>
          <p:cNvSpPr txBox="1"/>
          <p:nvPr/>
        </p:nvSpPr>
        <p:spPr>
          <a:xfrm>
            <a:off x="9299448" y="5049317"/>
            <a:ext cx="457200" cy="3337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00BBF0">
                    <a:alpha val="90000"/>
                  </a:srgbClr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09</a:t>
            </a:r>
            <a:endParaRPr lang="en-US" sz="1800" dirty="0"/>
          </a:p>
        </p:txBody>
      </p:sp>
      <p:sp>
        <p:nvSpPr>
          <p:cNvPr id="47" name="Text 45"/>
          <p:cNvSpPr txBox="1"/>
          <p:nvPr/>
        </p:nvSpPr>
        <p:spPr>
          <a:xfrm>
            <a:off x="9299448" y="5392217"/>
            <a:ext cx="1301191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인용 · AI · 마무리</a:t>
            </a:r>
            <a:endParaRPr lang="en-US" sz="1200" dirty="0"/>
          </a:p>
        </p:txBody>
      </p:sp>
      <p:sp>
        <p:nvSpPr>
          <p:cNvPr id="48" name="Text 46"/>
          <p:cNvSpPr txBox="1"/>
          <p:nvPr/>
        </p:nvSpPr>
        <p:spPr>
          <a:xfrm>
            <a:off x="9299448" y="5638190"/>
            <a:ext cx="1206094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CBD5E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형식 점검과 최종 루틴</a:t>
            </a:r>
            <a:endParaRPr lang="en-US" sz="900" dirty="0"/>
          </a:p>
        </p:txBody>
      </p:sp>
      <p:sp>
        <p:nvSpPr>
          <p:cNvPr id="49" name="Shape 47"/>
          <p:cNvSpPr/>
          <p:nvPr/>
        </p:nvSpPr>
        <p:spPr>
          <a:xfrm>
            <a:off x="0" y="0"/>
            <a:ext cx="3047695" cy="6858000"/>
          </a:xfrm>
          <a:prstGeom prst="rect">
            <a:avLst/>
          </a:prstGeom>
          <a:solidFill>
            <a:srgbClr val="001835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0" name="Shape 48"/>
          <p:cNvSpPr/>
          <p:nvPr/>
        </p:nvSpPr>
        <p:spPr>
          <a:xfrm>
            <a:off x="3038551" y="0"/>
            <a:ext cx="9144" cy="6858000"/>
          </a:xfrm>
          <a:prstGeom prst="rect">
            <a:avLst/>
          </a:prstGeom>
          <a:solidFill>
            <a:srgbClr val="FFFFFF">
              <a:alpha val="10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1" name="Shape 49"/>
          <p:cNvSpPr/>
          <p:nvPr/>
        </p:nvSpPr>
        <p:spPr>
          <a:xfrm>
            <a:off x="381305" y="476402"/>
            <a:ext cx="476402" cy="57607"/>
          </a:xfrm>
          <a:prstGeom prst="rect">
            <a:avLst/>
          </a:prstGeom>
          <a:solidFill>
            <a:srgbClr val="00BBF0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2" name="Text 50"/>
          <p:cNvSpPr txBox="1"/>
          <p:nvPr/>
        </p:nvSpPr>
        <p:spPr>
          <a:xfrm>
            <a:off x="381305" y="800100"/>
            <a:ext cx="876910" cy="4956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강의</a:t>
            </a:r>
            <a:endParaRPr lang="en-US" sz="2700" dirty="0"/>
          </a:p>
        </p:txBody>
      </p:sp>
      <p:sp>
        <p:nvSpPr>
          <p:cNvPr id="53" name="Text 51"/>
          <p:cNvSpPr txBox="1"/>
          <p:nvPr/>
        </p:nvSpPr>
        <p:spPr>
          <a:xfrm>
            <a:off x="381305" y="1228954"/>
            <a:ext cx="1485900" cy="4956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93C5F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커리큘럼</a:t>
            </a:r>
            <a:endParaRPr lang="en-US" sz="2700" dirty="0"/>
          </a:p>
        </p:txBody>
      </p:sp>
      <p:sp>
        <p:nvSpPr>
          <p:cNvPr id="54" name="Text 52"/>
          <p:cNvSpPr txBox="1"/>
          <p:nvPr/>
        </p:nvSpPr>
        <p:spPr>
          <a:xfrm>
            <a:off x="381305" y="1895551"/>
            <a:ext cx="1552651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9CA3A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9단계 모듈.</a:t>
            </a:r>
            <a:endParaRPr lang="en-US" sz="1200" dirty="0"/>
          </a:p>
        </p:txBody>
      </p:sp>
      <p:sp>
        <p:nvSpPr>
          <p:cNvPr id="55" name="Text 53"/>
          <p:cNvSpPr txBox="1"/>
          <p:nvPr/>
        </p:nvSpPr>
        <p:spPr>
          <a:xfrm>
            <a:off x="381305" y="2143354"/>
            <a:ext cx="1743761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9CA3A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이론부터 실전 작성법까지</a:t>
            </a:r>
            <a:endParaRPr lang="en-US" sz="1200" dirty="0"/>
          </a:p>
        </p:txBody>
      </p:sp>
      <p:sp>
        <p:nvSpPr>
          <p:cNvPr id="56" name="Text 54"/>
          <p:cNvSpPr txBox="1"/>
          <p:nvPr/>
        </p:nvSpPr>
        <p:spPr>
          <a:xfrm>
            <a:off x="381305" y="2391156"/>
            <a:ext cx="1600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9CA3A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완벽하게 마스터합니다.</a:t>
            </a:r>
            <a:endParaRPr lang="en-US" sz="1200" dirty="0"/>
          </a:p>
        </p:txBody>
      </p:sp>
      <p:sp>
        <p:nvSpPr>
          <p:cNvPr id="57" name="deckgen:wrap:footer"/>
          <p:cNvSpPr txBox="1"/>
          <p:nvPr/>
        </p:nvSpPr>
        <p:spPr>
          <a:xfrm>
            <a:off x="365760" y="6549390"/>
            <a:ext cx="11460480" cy="240030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0">
                <a:solidFill>
                  <a:srgbClr val="8A8F99"/>
                </a:solidFill>
                <a:latin typeface="Pretendard"/>
              </a:rPr>
              <a:t>© 2026 이애본 · 홍문원(洪文院) 발행 · CC BY-NC-ND 4.0 · useful-ai.dreamitbiz.com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0F0F0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204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" name="Shape 2"/>
          <p:cNvSpPr/>
          <p:nvPr/>
        </p:nvSpPr>
        <p:spPr>
          <a:xfrm>
            <a:off x="761695" y="571500"/>
            <a:ext cx="571500" cy="57607"/>
          </a:xfrm>
          <a:prstGeom prst="rect">
            <a:avLst/>
          </a:prstGeom>
          <a:solidFill>
            <a:srgbClr val="00BBF0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 txBox="1"/>
          <p:nvPr/>
        </p:nvSpPr>
        <p:spPr>
          <a:xfrm>
            <a:off x="761695" y="790956"/>
            <a:ext cx="5000854" cy="7717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2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리포트의 정의와 가치</a:t>
            </a:r>
            <a:endParaRPr lang="en-US" sz="4200" dirty="0"/>
          </a:p>
        </p:txBody>
      </p:sp>
      <p:sp>
        <p:nvSpPr>
          <p:cNvPr id="6" name="Text 4"/>
          <p:cNvSpPr txBox="1"/>
          <p:nvPr/>
        </p:nvSpPr>
        <p:spPr>
          <a:xfrm>
            <a:off x="761695" y="1649578"/>
            <a:ext cx="6001207" cy="3337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CBD5E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리포트는 단순한 정보 전달이 아닌, 논리적인 설득 과정입니다.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761695" y="2373782"/>
            <a:ext cx="3353105" cy="3724351"/>
          </a:xfrm>
          <a:prstGeom prst="rect">
            <a:avLst/>
          </a:prstGeom>
          <a:solidFill>
            <a:srgbClr val="FFFFFF">
              <a:alpha val="5000"/>
            </a:srgbClr>
          </a:solidFill>
          <a:ln w="12700">
            <a:solidFill>
              <a:srgbClr val="FFFFFF">
                <a:alpha val="1000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Shape 6"/>
          <p:cNvSpPr/>
          <p:nvPr/>
        </p:nvSpPr>
        <p:spPr>
          <a:xfrm>
            <a:off x="761695" y="2373782"/>
            <a:ext cx="3333902" cy="38405"/>
          </a:xfrm>
          <a:prstGeom prst="rect">
            <a:avLst/>
          </a:prstGeom>
          <a:solidFill>
            <a:srgbClr val="00BBF0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9" name="Shape 7"/>
          <p:cNvSpPr/>
          <p:nvPr/>
        </p:nvSpPr>
        <p:spPr>
          <a:xfrm>
            <a:off x="1152144" y="2764231"/>
            <a:ext cx="685800" cy="685800"/>
          </a:xfrm>
          <a:prstGeom prst="ellipse">
            <a:avLst/>
          </a:prstGeom>
          <a:solidFill>
            <a:srgbClr val="00BBF0">
              <a:alpha val="10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10" name="Image 0" descr="preencoded.png"/>
          <p:cNvPicPr>
            <a:picLocks noChangeAspect="1"/>
          </p:cNvPicPr>
          <p:nvPr/>
        </p:nvPicPr>
        <p:blipFill>
          <a:blip r:embed="rId3"/>
          <a:srcRect l="-90" r="-90"/>
          <a:stretch/>
        </p:blipFill>
        <p:spPr>
          <a:xfrm>
            <a:off x="1304849" y="2954426"/>
            <a:ext cx="381305" cy="304495"/>
          </a:xfrm>
          <a:prstGeom prst="rect">
            <a:avLst/>
          </a:prstGeom>
        </p:spPr>
      </p:pic>
      <p:sp>
        <p:nvSpPr>
          <p:cNvPr id="11" name="Text 8"/>
          <p:cNvSpPr txBox="1"/>
          <p:nvPr/>
        </p:nvSpPr>
        <p:spPr>
          <a:xfrm>
            <a:off x="1152144" y="3764585"/>
            <a:ext cx="1733702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학술적 글쓰기</a:t>
            </a:r>
            <a:endParaRPr lang="en-US" sz="2100" dirty="0"/>
          </a:p>
        </p:txBody>
      </p:sp>
      <p:sp>
        <p:nvSpPr>
          <p:cNvPr id="12" name="Text 9"/>
          <p:cNvSpPr txBox="1"/>
          <p:nvPr/>
        </p:nvSpPr>
        <p:spPr>
          <a:xfrm>
            <a:off x="1152144" y="4364431"/>
            <a:ext cx="2634386" cy="11247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CBD5E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리포트는 자신의 '주장'과 이를 뒷받침하는 '근거'를 통해 독자를 설득하는 학술적 글쓰기입니다. </a:t>
            </a:r>
          </a:p>
          <a:p>
            <a:pPr marL="0" indent="0" algn="l">
              <a:buNone/>
            </a:pPr>
            <a:endParaRPr lang="en-US" sz="1300" dirty="0">
              <a:solidFill>
                <a:srgbClr val="CBD5E1"/>
              </a:solidFill>
              <a:latin typeface="Noto Sans KR" pitchFamily="34" charset="0"/>
              <a:ea typeface="Noto Sans KR" pitchFamily="34" charset="-122"/>
              <a:cs typeface="Noto Sans KR" pitchFamily="34" charset="-120"/>
            </a:endParaRPr>
          </a:p>
          <a:p>
            <a:pPr marL="0" indent="0" algn="l">
              <a:buNone/>
            </a:pPr>
            <a:r>
              <a:rPr lang="en-US" sz="1300" dirty="0" err="1">
                <a:solidFill>
                  <a:srgbClr val="CBD5E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단순</a:t>
            </a:r>
            <a:r>
              <a:rPr lang="en-US" sz="1300" dirty="0">
                <a:solidFill>
                  <a:srgbClr val="CBD5E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정보 나열은 리포트가 아닙니다.</a:t>
            </a:r>
            <a:endParaRPr lang="en-US" sz="1300" dirty="0"/>
          </a:p>
        </p:txBody>
      </p:sp>
      <p:sp>
        <p:nvSpPr>
          <p:cNvPr id="13" name="Shape 10"/>
          <p:cNvSpPr/>
          <p:nvPr/>
        </p:nvSpPr>
        <p:spPr>
          <a:xfrm>
            <a:off x="4419295" y="2373782"/>
            <a:ext cx="3353105" cy="3724351"/>
          </a:xfrm>
          <a:prstGeom prst="rect">
            <a:avLst/>
          </a:prstGeom>
          <a:solidFill>
            <a:srgbClr val="FFFFFF">
              <a:alpha val="5000"/>
            </a:srgbClr>
          </a:solidFill>
          <a:ln w="12700">
            <a:solidFill>
              <a:srgbClr val="FFFFFF">
                <a:alpha val="1000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Shape 11"/>
          <p:cNvSpPr/>
          <p:nvPr/>
        </p:nvSpPr>
        <p:spPr>
          <a:xfrm>
            <a:off x="4419295" y="2373782"/>
            <a:ext cx="3333902" cy="38405"/>
          </a:xfrm>
          <a:prstGeom prst="rect">
            <a:avLst/>
          </a:prstGeom>
          <a:solidFill>
            <a:srgbClr val="3B82F6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5" name="Shape 12"/>
          <p:cNvSpPr/>
          <p:nvPr/>
        </p:nvSpPr>
        <p:spPr>
          <a:xfrm>
            <a:off x="4809744" y="2764231"/>
            <a:ext cx="685800" cy="685800"/>
          </a:xfrm>
          <a:prstGeom prst="ellipse">
            <a:avLst/>
          </a:prstGeom>
          <a:solidFill>
            <a:srgbClr val="00BBF0">
              <a:alpha val="10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16" name="Image 1" descr="preencoded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5000854" y="2954426"/>
            <a:ext cx="304495" cy="304495"/>
          </a:xfrm>
          <a:prstGeom prst="rect">
            <a:avLst/>
          </a:prstGeom>
        </p:spPr>
      </p:pic>
      <p:sp>
        <p:nvSpPr>
          <p:cNvPr id="17" name="Text 13"/>
          <p:cNvSpPr txBox="1"/>
          <p:nvPr/>
        </p:nvSpPr>
        <p:spPr>
          <a:xfrm>
            <a:off x="4809744" y="3764585"/>
            <a:ext cx="1810512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핵심 역량 강화</a:t>
            </a:r>
            <a:endParaRPr lang="en-US" sz="2100" dirty="0"/>
          </a:p>
        </p:txBody>
      </p:sp>
      <p:sp>
        <p:nvSpPr>
          <p:cNvPr id="18" name="Text 14"/>
          <p:cNvSpPr txBox="1"/>
          <p:nvPr/>
        </p:nvSpPr>
        <p:spPr>
          <a:xfrm>
            <a:off x="4809744" y="4364431"/>
            <a:ext cx="2681935" cy="11247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CBD5E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대학 리포트 작성 </a:t>
            </a:r>
            <a:r>
              <a:rPr lang="en-US" sz="1300" dirty="0" err="1">
                <a:solidFill>
                  <a:srgbClr val="CBD5E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경험은</a:t>
            </a:r>
            <a:r>
              <a:rPr lang="en-US" sz="1300" dirty="0">
                <a:solidFill>
                  <a:srgbClr val="CBD5E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</a:t>
            </a:r>
          </a:p>
          <a:p>
            <a:pPr marL="0" indent="0" algn="l">
              <a:buNone/>
            </a:pPr>
            <a:r>
              <a:rPr lang="en-US" sz="1300" dirty="0" err="1">
                <a:solidFill>
                  <a:srgbClr val="CBD5E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향후</a:t>
            </a:r>
            <a:r>
              <a:rPr lang="en-US" sz="1300" dirty="0">
                <a:solidFill>
                  <a:srgbClr val="CBD5E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연구 논문, 직장 내 보고서 및 제안서 작성 등 커리어 전반에 </a:t>
            </a:r>
            <a:r>
              <a:rPr lang="en-US" sz="1300" dirty="0" err="1">
                <a:solidFill>
                  <a:srgbClr val="CBD5E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걸친</a:t>
            </a:r>
            <a:r>
              <a:rPr lang="en-US" sz="1300" dirty="0">
                <a:solidFill>
                  <a:srgbClr val="CBD5E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</a:t>
            </a:r>
            <a:r>
              <a:rPr lang="en-US" sz="1300" dirty="0" err="1">
                <a:solidFill>
                  <a:srgbClr val="CBD5E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논리적</a:t>
            </a:r>
            <a:r>
              <a:rPr lang="en-US" sz="1300" dirty="0">
                <a:solidFill>
                  <a:srgbClr val="CBD5E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사고와 성과 입증의 기초가 됩니다.</a:t>
            </a:r>
            <a:endParaRPr lang="en-US" sz="1300" dirty="0"/>
          </a:p>
        </p:txBody>
      </p:sp>
      <p:sp>
        <p:nvSpPr>
          <p:cNvPr id="19" name="Shape 15"/>
          <p:cNvSpPr/>
          <p:nvPr/>
        </p:nvSpPr>
        <p:spPr>
          <a:xfrm>
            <a:off x="8076895" y="2373782"/>
            <a:ext cx="3353105" cy="3724351"/>
          </a:xfrm>
          <a:prstGeom prst="rect">
            <a:avLst/>
          </a:prstGeom>
          <a:solidFill>
            <a:srgbClr val="FFFFFF">
              <a:alpha val="5000"/>
            </a:srgbClr>
          </a:solidFill>
          <a:ln w="12700">
            <a:solidFill>
              <a:srgbClr val="FFFFFF">
                <a:alpha val="1000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0" name="Shape 16"/>
          <p:cNvSpPr/>
          <p:nvPr/>
        </p:nvSpPr>
        <p:spPr>
          <a:xfrm>
            <a:off x="8076895" y="2373782"/>
            <a:ext cx="3333902" cy="38405"/>
          </a:xfrm>
          <a:prstGeom prst="rect">
            <a:avLst/>
          </a:prstGeom>
          <a:solidFill>
            <a:srgbClr val="60A5F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1" name="Shape 17"/>
          <p:cNvSpPr/>
          <p:nvPr/>
        </p:nvSpPr>
        <p:spPr>
          <a:xfrm>
            <a:off x="8467344" y="2764231"/>
            <a:ext cx="685800" cy="685800"/>
          </a:xfrm>
          <a:prstGeom prst="ellipse">
            <a:avLst/>
          </a:prstGeom>
          <a:solidFill>
            <a:srgbClr val="00BBF0">
              <a:alpha val="10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22" name="Image 2" descr="preencoded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8658454" y="2954426"/>
            <a:ext cx="304495" cy="304495"/>
          </a:xfrm>
          <a:prstGeom prst="rect">
            <a:avLst/>
          </a:prstGeom>
        </p:spPr>
      </p:pic>
      <p:sp>
        <p:nvSpPr>
          <p:cNvPr id="23" name="Text 18"/>
          <p:cNvSpPr txBox="1"/>
          <p:nvPr/>
        </p:nvSpPr>
        <p:spPr>
          <a:xfrm>
            <a:off x="8467344" y="3764585"/>
            <a:ext cx="2505456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명확한 논제(Thesis)</a:t>
            </a:r>
            <a:endParaRPr lang="en-US" sz="2100" dirty="0"/>
          </a:p>
        </p:txBody>
      </p:sp>
      <p:sp>
        <p:nvSpPr>
          <p:cNvPr id="24" name="Text 19"/>
          <p:cNvSpPr txBox="1"/>
          <p:nvPr/>
        </p:nvSpPr>
        <p:spPr>
          <a:xfrm>
            <a:off x="8467344" y="4364431"/>
            <a:ext cx="2634386" cy="11247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CBD5E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좋은 리포트는 핵심 내용을 단 한 문장으로 요약할 수 있어야 합니다. </a:t>
            </a:r>
          </a:p>
          <a:p>
            <a:pPr marL="0" indent="0" algn="l">
              <a:buNone/>
            </a:pPr>
            <a:endParaRPr lang="en-US" sz="1300" dirty="0">
              <a:solidFill>
                <a:srgbClr val="CBD5E1"/>
              </a:solidFill>
              <a:latin typeface="Noto Sans KR" pitchFamily="34" charset="0"/>
              <a:ea typeface="Noto Sans KR" pitchFamily="34" charset="-122"/>
              <a:cs typeface="Noto Sans KR" pitchFamily="34" charset="-120"/>
            </a:endParaRPr>
          </a:p>
          <a:p>
            <a:pPr marL="0" indent="0" algn="l">
              <a:buNone/>
            </a:pPr>
            <a:r>
              <a:rPr lang="en-US" sz="1300" dirty="0">
                <a:solidFill>
                  <a:srgbClr val="CBD5E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이 문장을 '논제' 또는 '주장'이라고 부르며, 글 전체의 뼈대가 됩니다.</a:t>
            </a:r>
            <a:endParaRPr lang="en-US" sz="1300" dirty="0"/>
          </a:p>
        </p:txBody>
      </p:sp>
      <p:sp>
        <p:nvSpPr>
          <p:cNvPr id="25" name="deckgen:wrap:footer"/>
          <p:cNvSpPr txBox="1"/>
          <p:nvPr/>
        </p:nvSpPr>
        <p:spPr>
          <a:xfrm>
            <a:off x="365760" y="6549390"/>
            <a:ext cx="11460480" cy="240030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0">
                <a:solidFill>
                  <a:srgbClr val="8A8F99"/>
                </a:solidFill>
                <a:latin typeface="Pretendard"/>
              </a:rPr>
              <a:t>© 2026 이애본 · 홍문원(洪文院) 발행 · CC BY-NC-ND 4.0 · useful-ai.dreamitbiz.com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0F0F0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204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" name="Shape 2"/>
          <p:cNvSpPr/>
          <p:nvPr/>
        </p:nvSpPr>
        <p:spPr>
          <a:xfrm>
            <a:off x="761695" y="476402"/>
            <a:ext cx="571500" cy="57607"/>
          </a:xfrm>
          <a:prstGeom prst="rect">
            <a:avLst/>
          </a:prstGeom>
          <a:solidFill>
            <a:srgbClr val="00BBF0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 txBox="1"/>
          <p:nvPr/>
        </p:nvSpPr>
        <p:spPr>
          <a:xfrm>
            <a:off x="761695" y="657454"/>
            <a:ext cx="4753051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최종 체크리스트 &amp; 요약</a:t>
            </a:r>
            <a:endParaRPr lang="en-US" sz="3600" dirty="0"/>
          </a:p>
        </p:txBody>
      </p:sp>
      <p:sp>
        <p:nvSpPr>
          <p:cNvPr id="6" name="Text 4"/>
          <p:cNvSpPr txBox="1"/>
          <p:nvPr/>
        </p:nvSpPr>
        <p:spPr>
          <a:xfrm>
            <a:off x="761695" y="1387145"/>
            <a:ext cx="5077663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dirty="0">
                <a:solidFill>
                  <a:srgbClr val="CBD5E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제출 버튼을 누르기 전, 다음 10가지 항목을 반드시 확인하세요.</a:t>
            </a:r>
            <a:endParaRPr lang="en-US" sz="1500" dirty="0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rcRect l="-3425" r="-3425"/>
          <a:stretch/>
        </p:blipFill>
        <p:spPr>
          <a:xfrm>
            <a:off x="761695" y="1845869"/>
            <a:ext cx="142646" cy="133502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905256" y="1800149"/>
            <a:ext cx="865022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60A5F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기획 및 구조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761695" y="2253691"/>
            <a:ext cx="5048402" cy="590702"/>
          </a:xfrm>
          <a:prstGeom prst="roundRect">
            <a:avLst>
              <a:gd name="adj" fmla="val 19974"/>
            </a:avLst>
          </a:prstGeom>
          <a:solidFill>
            <a:srgbClr val="FFFFFF">
              <a:alpha val="3000"/>
            </a:srgbClr>
          </a:solidFill>
          <a:ln w="12700">
            <a:solidFill>
              <a:srgbClr val="FFFFFF">
                <a:alpha val="500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Shape 7"/>
          <p:cNvSpPr/>
          <p:nvPr/>
        </p:nvSpPr>
        <p:spPr>
          <a:xfrm>
            <a:off x="961949" y="2415540"/>
            <a:ext cx="267005" cy="267005"/>
          </a:xfrm>
          <a:prstGeom prst="roundRect">
            <a:avLst>
              <a:gd name="adj" fmla="val 73385"/>
            </a:avLst>
          </a:prstGeom>
          <a:solidFill>
            <a:srgbClr val="00BBF0">
              <a:alpha val="10000"/>
            </a:srgbClr>
          </a:solidFill>
          <a:ln w="25400">
            <a:solidFill>
              <a:srgbClr val="00BB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rcRect l="-2838" r="-2838"/>
          <a:stretch/>
        </p:blipFill>
        <p:spPr>
          <a:xfrm>
            <a:off x="1033272" y="2482291"/>
            <a:ext cx="123444" cy="133502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1380744" y="2426513"/>
            <a:ext cx="342534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E2E8F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과제의 의도(학습목표)와 기술 규정을 준수했는가?</a:t>
            </a:r>
            <a:endParaRPr lang="en-US" sz="1200" dirty="0"/>
          </a:p>
        </p:txBody>
      </p:sp>
      <p:sp>
        <p:nvSpPr>
          <p:cNvPr id="13" name="Shape 9"/>
          <p:cNvSpPr/>
          <p:nvPr/>
        </p:nvSpPr>
        <p:spPr>
          <a:xfrm>
            <a:off x="761695" y="2996184"/>
            <a:ext cx="5048402" cy="590702"/>
          </a:xfrm>
          <a:prstGeom prst="roundRect">
            <a:avLst>
              <a:gd name="adj" fmla="val 19974"/>
            </a:avLst>
          </a:prstGeom>
          <a:solidFill>
            <a:srgbClr val="FFFFFF">
              <a:alpha val="3000"/>
            </a:srgbClr>
          </a:solidFill>
          <a:ln w="12700">
            <a:solidFill>
              <a:srgbClr val="FFFFFF">
                <a:alpha val="500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Shape 10"/>
          <p:cNvSpPr/>
          <p:nvPr/>
        </p:nvSpPr>
        <p:spPr>
          <a:xfrm>
            <a:off x="961949" y="3158033"/>
            <a:ext cx="267005" cy="267005"/>
          </a:xfrm>
          <a:prstGeom prst="roundRect">
            <a:avLst>
              <a:gd name="adj" fmla="val 73385"/>
            </a:avLst>
          </a:prstGeom>
          <a:solidFill>
            <a:srgbClr val="00BBF0">
              <a:alpha val="10000"/>
            </a:srgbClr>
          </a:solidFill>
          <a:ln w="25400">
            <a:solidFill>
              <a:srgbClr val="00BB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4"/>
          <a:srcRect l="-2838" r="-2838"/>
          <a:stretch/>
        </p:blipFill>
        <p:spPr>
          <a:xfrm>
            <a:off x="1033272" y="3224784"/>
            <a:ext cx="123444" cy="133502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1380744" y="3169920"/>
            <a:ext cx="342534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E2E8F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주제문(논제)이 한 문장으로 명확히 표현되었는가?</a:t>
            </a:r>
            <a:endParaRPr lang="en-US" sz="1200" dirty="0"/>
          </a:p>
        </p:txBody>
      </p:sp>
      <p:sp>
        <p:nvSpPr>
          <p:cNvPr id="17" name="Shape 12"/>
          <p:cNvSpPr/>
          <p:nvPr/>
        </p:nvSpPr>
        <p:spPr>
          <a:xfrm>
            <a:off x="761695" y="3739591"/>
            <a:ext cx="5048402" cy="590702"/>
          </a:xfrm>
          <a:prstGeom prst="roundRect">
            <a:avLst>
              <a:gd name="adj" fmla="val 19974"/>
            </a:avLst>
          </a:prstGeom>
          <a:solidFill>
            <a:srgbClr val="FFFFFF">
              <a:alpha val="3000"/>
            </a:srgbClr>
          </a:solidFill>
          <a:ln w="12700">
            <a:solidFill>
              <a:srgbClr val="FFFFFF">
                <a:alpha val="500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8" name="Shape 13"/>
          <p:cNvSpPr/>
          <p:nvPr/>
        </p:nvSpPr>
        <p:spPr>
          <a:xfrm>
            <a:off x="961949" y="3901440"/>
            <a:ext cx="267005" cy="267005"/>
          </a:xfrm>
          <a:prstGeom prst="roundRect">
            <a:avLst>
              <a:gd name="adj" fmla="val 73385"/>
            </a:avLst>
          </a:prstGeom>
          <a:solidFill>
            <a:srgbClr val="00BBF0">
              <a:alpha val="10000"/>
            </a:srgbClr>
          </a:solidFill>
          <a:ln w="25400">
            <a:solidFill>
              <a:srgbClr val="00BB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19" name="Image 3" descr="preencoded.png"/>
          <p:cNvPicPr>
            <a:picLocks noChangeAspect="1"/>
          </p:cNvPicPr>
          <p:nvPr/>
        </p:nvPicPr>
        <p:blipFill>
          <a:blip r:embed="rId4"/>
          <a:srcRect l="-2838" r="-2838"/>
          <a:stretch/>
        </p:blipFill>
        <p:spPr>
          <a:xfrm>
            <a:off x="1033272" y="3968191"/>
            <a:ext cx="123444" cy="133502"/>
          </a:xfrm>
          <a:prstGeom prst="rect">
            <a:avLst/>
          </a:prstGeom>
        </p:spPr>
      </p:pic>
      <p:sp>
        <p:nvSpPr>
          <p:cNvPr id="20" name="Text 14"/>
          <p:cNvSpPr txBox="1"/>
          <p:nvPr/>
        </p:nvSpPr>
        <p:spPr>
          <a:xfrm>
            <a:off x="1380744" y="3912413"/>
            <a:ext cx="355884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E2E8F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신뢰할 수 있는 자료(논문, 공식 통계)를 활용했는가?</a:t>
            </a:r>
            <a:endParaRPr lang="en-US" sz="1200" dirty="0"/>
          </a:p>
        </p:txBody>
      </p:sp>
      <p:sp>
        <p:nvSpPr>
          <p:cNvPr id="21" name="Shape 15"/>
          <p:cNvSpPr/>
          <p:nvPr/>
        </p:nvSpPr>
        <p:spPr>
          <a:xfrm>
            <a:off x="761695" y="4482084"/>
            <a:ext cx="5048402" cy="590702"/>
          </a:xfrm>
          <a:prstGeom prst="roundRect">
            <a:avLst>
              <a:gd name="adj" fmla="val 19974"/>
            </a:avLst>
          </a:prstGeom>
          <a:solidFill>
            <a:srgbClr val="FFFFFF">
              <a:alpha val="3000"/>
            </a:srgbClr>
          </a:solidFill>
          <a:ln w="12700">
            <a:solidFill>
              <a:srgbClr val="FFFFFF">
                <a:alpha val="500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2" name="Shape 16"/>
          <p:cNvSpPr/>
          <p:nvPr/>
        </p:nvSpPr>
        <p:spPr>
          <a:xfrm>
            <a:off x="961949" y="4643933"/>
            <a:ext cx="267005" cy="267005"/>
          </a:xfrm>
          <a:prstGeom prst="roundRect">
            <a:avLst>
              <a:gd name="adj" fmla="val 73385"/>
            </a:avLst>
          </a:prstGeom>
          <a:solidFill>
            <a:srgbClr val="00BBF0">
              <a:alpha val="10000"/>
            </a:srgbClr>
          </a:solidFill>
          <a:ln w="25400">
            <a:solidFill>
              <a:srgbClr val="00BB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23" name="Image 4" descr="preencoded.png"/>
          <p:cNvPicPr>
            <a:picLocks noChangeAspect="1"/>
          </p:cNvPicPr>
          <p:nvPr/>
        </p:nvPicPr>
        <p:blipFill>
          <a:blip r:embed="rId4"/>
          <a:srcRect l="-2838" r="-2838"/>
          <a:stretch/>
        </p:blipFill>
        <p:spPr>
          <a:xfrm>
            <a:off x="1033272" y="4710684"/>
            <a:ext cx="123444" cy="133502"/>
          </a:xfrm>
          <a:prstGeom prst="rect">
            <a:avLst/>
          </a:prstGeom>
        </p:spPr>
      </p:pic>
      <p:sp>
        <p:nvSpPr>
          <p:cNvPr id="24" name="Text 17"/>
          <p:cNvSpPr txBox="1"/>
          <p:nvPr/>
        </p:nvSpPr>
        <p:spPr>
          <a:xfrm>
            <a:off x="1380744" y="4655820"/>
            <a:ext cx="3692347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E2E8F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개요의 논리(서론-본론-결론)가 일관성 있게 흐르는가?</a:t>
            </a:r>
            <a:endParaRPr lang="en-US" sz="1200" dirty="0"/>
          </a:p>
        </p:txBody>
      </p:sp>
      <p:sp>
        <p:nvSpPr>
          <p:cNvPr id="25" name="Shape 18"/>
          <p:cNvSpPr/>
          <p:nvPr/>
        </p:nvSpPr>
        <p:spPr>
          <a:xfrm>
            <a:off x="761695" y="5225491"/>
            <a:ext cx="5048402" cy="590702"/>
          </a:xfrm>
          <a:prstGeom prst="roundRect">
            <a:avLst>
              <a:gd name="adj" fmla="val 19974"/>
            </a:avLst>
          </a:prstGeom>
          <a:solidFill>
            <a:srgbClr val="FFFFFF">
              <a:alpha val="3000"/>
            </a:srgbClr>
          </a:solidFill>
          <a:ln w="12700">
            <a:solidFill>
              <a:srgbClr val="FFFFFF">
                <a:alpha val="500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6" name="Shape 19"/>
          <p:cNvSpPr/>
          <p:nvPr/>
        </p:nvSpPr>
        <p:spPr>
          <a:xfrm>
            <a:off x="961949" y="5387340"/>
            <a:ext cx="267005" cy="267005"/>
          </a:xfrm>
          <a:prstGeom prst="roundRect">
            <a:avLst>
              <a:gd name="adj" fmla="val 73385"/>
            </a:avLst>
          </a:prstGeom>
          <a:solidFill>
            <a:srgbClr val="00BBF0">
              <a:alpha val="10000"/>
            </a:srgbClr>
          </a:solidFill>
          <a:ln w="25400">
            <a:solidFill>
              <a:srgbClr val="00BB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27" name="Image 5" descr="preencoded.png"/>
          <p:cNvPicPr>
            <a:picLocks noChangeAspect="1"/>
          </p:cNvPicPr>
          <p:nvPr/>
        </p:nvPicPr>
        <p:blipFill>
          <a:blip r:embed="rId4"/>
          <a:srcRect l="-2838" r="-2838"/>
          <a:stretch/>
        </p:blipFill>
        <p:spPr>
          <a:xfrm>
            <a:off x="1033272" y="5454091"/>
            <a:ext cx="123444" cy="133502"/>
          </a:xfrm>
          <a:prstGeom prst="rect">
            <a:avLst/>
          </a:prstGeom>
        </p:spPr>
      </p:pic>
      <p:sp>
        <p:nvSpPr>
          <p:cNvPr id="28" name="Text 20"/>
          <p:cNvSpPr txBox="1"/>
          <p:nvPr/>
        </p:nvSpPr>
        <p:spPr>
          <a:xfrm>
            <a:off x="1380744" y="5398313"/>
            <a:ext cx="3664001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E2E8F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각 문단의 첫 문장에 핵심 주장(두괄식)을 배치했는가?</a:t>
            </a:r>
            <a:endParaRPr lang="en-US" sz="1200" dirty="0"/>
          </a:p>
        </p:txBody>
      </p:sp>
      <p:pic>
        <p:nvPicPr>
          <p:cNvPr id="29" name="Image 6" descr="preencoded.png"/>
          <p:cNvPicPr>
            <a:picLocks noChangeAspect="1"/>
          </p:cNvPicPr>
          <p:nvPr/>
        </p:nvPicPr>
        <p:blipFill>
          <a:blip r:embed="rId5"/>
          <a:srcRect l="-7078" r="-7078"/>
          <a:stretch/>
        </p:blipFill>
        <p:spPr>
          <a:xfrm>
            <a:off x="6381598" y="1845869"/>
            <a:ext cx="114300" cy="133502"/>
          </a:xfrm>
          <a:prstGeom prst="rect">
            <a:avLst/>
          </a:prstGeom>
        </p:spPr>
      </p:pic>
      <p:sp>
        <p:nvSpPr>
          <p:cNvPr id="30" name="Text 21"/>
          <p:cNvSpPr txBox="1"/>
          <p:nvPr/>
        </p:nvSpPr>
        <p:spPr>
          <a:xfrm>
            <a:off x="6495898" y="1800149"/>
            <a:ext cx="998525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60A5F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글쓰기 및 형식</a:t>
            </a:r>
            <a:endParaRPr lang="en-US" sz="1000" dirty="0"/>
          </a:p>
        </p:txBody>
      </p:sp>
      <p:sp>
        <p:nvSpPr>
          <p:cNvPr id="31" name="Shape 22"/>
          <p:cNvSpPr/>
          <p:nvPr/>
        </p:nvSpPr>
        <p:spPr>
          <a:xfrm>
            <a:off x="6381598" y="2253691"/>
            <a:ext cx="5048402" cy="590702"/>
          </a:xfrm>
          <a:prstGeom prst="roundRect">
            <a:avLst>
              <a:gd name="adj" fmla="val 19974"/>
            </a:avLst>
          </a:prstGeom>
          <a:solidFill>
            <a:srgbClr val="FFFFFF">
              <a:alpha val="3000"/>
            </a:srgbClr>
          </a:solidFill>
          <a:ln w="12700">
            <a:solidFill>
              <a:srgbClr val="FFFFFF">
                <a:alpha val="500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2" name="Shape 23"/>
          <p:cNvSpPr/>
          <p:nvPr/>
        </p:nvSpPr>
        <p:spPr>
          <a:xfrm>
            <a:off x="6581851" y="2415540"/>
            <a:ext cx="267005" cy="267005"/>
          </a:xfrm>
          <a:prstGeom prst="roundRect">
            <a:avLst>
              <a:gd name="adj" fmla="val 73385"/>
            </a:avLst>
          </a:prstGeom>
          <a:solidFill>
            <a:srgbClr val="00BBF0">
              <a:alpha val="10000"/>
            </a:srgbClr>
          </a:solidFill>
          <a:ln w="25400">
            <a:solidFill>
              <a:srgbClr val="00BB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33" name="Image 7" descr="preencoded.png"/>
          <p:cNvPicPr>
            <a:picLocks noChangeAspect="1"/>
          </p:cNvPicPr>
          <p:nvPr/>
        </p:nvPicPr>
        <p:blipFill>
          <a:blip r:embed="rId4"/>
          <a:srcRect l="-2838" r="-2838"/>
          <a:stretch/>
        </p:blipFill>
        <p:spPr>
          <a:xfrm>
            <a:off x="6653174" y="2482291"/>
            <a:ext cx="123444" cy="133502"/>
          </a:xfrm>
          <a:prstGeom prst="rect">
            <a:avLst/>
          </a:prstGeom>
        </p:spPr>
      </p:pic>
      <p:sp>
        <p:nvSpPr>
          <p:cNvPr id="34" name="Text 24"/>
          <p:cNvSpPr txBox="1"/>
          <p:nvPr/>
        </p:nvSpPr>
        <p:spPr>
          <a:xfrm>
            <a:off x="7000646" y="2426513"/>
            <a:ext cx="3454603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E2E8F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감정을 배제하고 3인칭 객관적 문체를 유지했는가?</a:t>
            </a:r>
            <a:endParaRPr lang="en-US" sz="1200" dirty="0"/>
          </a:p>
        </p:txBody>
      </p:sp>
      <p:sp>
        <p:nvSpPr>
          <p:cNvPr id="35" name="Shape 25"/>
          <p:cNvSpPr/>
          <p:nvPr/>
        </p:nvSpPr>
        <p:spPr>
          <a:xfrm>
            <a:off x="6381598" y="2996184"/>
            <a:ext cx="5048402" cy="590702"/>
          </a:xfrm>
          <a:prstGeom prst="roundRect">
            <a:avLst>
              <a:gd name="adj" fmla="val 19974"/>
            </a:avLst>
          </a:prstGeom>
          <a:solidFill>
            <a:srgbClr val="FFFFFF">
              <a:alpha val="3000"/>
            </a:srgbClr>
          </a:solidFill>
          <a:ln w="12700">
            <a:solidFill>
              <a:srgbClr val="FFFFFF">
                <a:alpha val="500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6" name="Shape 26"/>
          <p:cNvSpPr/>
          <p:nvPr/>
        </p:nvSpPr>
        <p:spPr>
          <a:xfrm>
            <a:off x="6581851" y="3158033"/>
            <a:ext cx="267005" cy="267005"/>
          </a:xfrm>
          <a:prstGeom prst="roundRect">
            <a:avLst>
              <a:gd name="adj" fmla="val 73385"/>
            </a:avLst>
          </a:prstGeom>
          <a:solidFill>
            <a:srgbClr val="00BBF0">
              <a:alpha val="10000"/>
            </a:srgbClr>
          </a:solidFill>
          <a:ln w="25400">
            <a:solidFill>
              <a:srgbClr val="00BB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37" name="Image 8" descr="preencoded.png"/>
          <p:cNvPicPr>
            <a:picLocks noChangeAspect="1"/>
          </p:cNvPicPr>
          <p:nvPr/>
        </p:nvPicPr>
        <p:blipFill>
          <a:blip r:embed="rId4"/>
          <a:srcRect l="-2838" r="-2838"/>
          <a:stretch/>
        </p:blipFill>
        <p:spPr>
          <a:xfrm>
            <a:off x="6653174" y="3224784"/>
            <a:ext cx="123444" cy="133502"/>
          </a:xfrm>
          <a:prstGeom prst="rect">
            <a:avLst/>
          </a:prstGeom>
        </p:spPr>
      </p:pic>
      <p:sp>
        <p:nvSpPr>
          <p:cNvPr id="38" name="Text 27"/>
          <p:cNvSpPr txBox="1"/>
          <p:nvPr/>
        </p:nvSpPr>
        <p:spPr>
          <a:xfrm>
            <a:off x="7000646" y="3169920"/>
            <a:ext cx="2883103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E2E8F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모든 주장을 수치와 출처로 입증하였는가?</a:t>
            </a:r>
            <a:endParaRPr lang="en-US" sz="1200" dirty="0"/>
          </a:p>
        </p:txBody>
      </p:sp>
      <p:sp>
        <p:nvSpPr>
          <p:cNvPr id="39" name="Shape 28"/>
          <p:cNvSpPr/>
          <p:nvPr/>
        </p:nvSpPr>
        <p:spPr>
          <a:xfrm>
            <a:off x="6381598" y="3739591"/>
            <a:ext cx="5048402" cy="590702"/>
          </a:xfrm>
          <a:prstGeom prst="roundRect">
            <a:avLst>
              <a:gd name="adj" fmla="val 19974"/>
            </a:avLst>
          </a:prstGeom>
          <a:solidFill>
            <a:srgbClr val="FFFFFF">
              <a:alpha val="3000"/>
            </a:srgbClr>
          </a:solidFill>
          <a:ln w="12700">
            <a:solidFill>
              <a:srgbClr val="FFFFFF">
                <a:alpha val="500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0" name="Shape 29"/>
          <p:cNvSpPr/>
          <p:nvPr/>
        </p:nvSpPr>
        <p:spPr>
          <a:xfrm>
            <a:off x="6581851" y="3901440"/>
            <a:ext cx="267005" cy="267005"/>
          </a:xfrm>
          <a:prstGeom prst="roundRect">
            <a:avLst>
              <a:gd name="adj" fmla="val 73385"/>
            </a:avLst>
          </a:prstGeom>
          <a:solidFill>
            <a:srgbClr val="00BBF0">
              <a:alpha val="10000"/>
            </a:srgbClr>
          </a:solidFill>
          <a:ln w="25400">
            <a:solidFill>
              <a:srgbClr val="00BB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41" name="Image 9" descr="preencoded.png"/>
          <p:cNvPicPr>
            <a:picLocks noChangeAspect="1"/>
          </p:cNvPicPr>
          <p:nvPr/>
        </p:nvPicPr>
        <p:blipFill>
          <a:blip r:embed="rId4"/>
          <a:srcRect l="-2838" r="-2838"/>
          <a:stretch/>
        </p:blipFill>
        <p:spPr>
          <a:xfrm>
            <a:off x="6653174" y="3968191"/>
            <a:ext cx="123444" cy="133502"/>
          </a:xfrm>
          <a:prstGeom prst="rect">
            <a:avLst/>
          </a:prstGeom>
        </p:spPr>
      </p:pic>
      <p:sp>
        <p:nvSpPr>
          <p:cNvPr id="42" name="Text 30"/>
          <p:cNvSpPr txBox="1"/>
          <p:nvPr/>
        </p:nvSpPr>
        <p:spPr>
          <a:xfrm>
            <a:off x="7000646" y="3912413"/>
            <a:ext cx="3578047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E2E8F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서론-본론-결론이 각자의 역할에 맞게 구성되었는가?</a:t>
            </a:r>
            <a:endParaRPr lang="en-US" sz="1200" dirty="0"/>
          </a:p>
        </p:txBody>
      </p:sp>
      <p:sp>
        <p:nvSpPr>
          <p:cNvPr id="43" name="Shape 31"/>
          <p:cNvSpPr/>
          <p:nvPr/>
        </p:nvSpPr>
        <p:spPr>
          <a:xfrm>
            <a:off x="6381598" y="4482084"/>
            <a:ext cx="5048402" cy="590702"/>
          </a:xfrm>
          <a:prstGeom prst="roundRect">
            <a:avLst>
              <a:gd name="adj" fmla="val 19974"/>
            </a:avLst>
          </a:prstGeom>
          <a:solidFill>
            <a:srgbClr val="FFFFFF">
              <a:alpha val="3000"/>
            </a:srgbClr>
          </a:solidFill>
          <a:ln w="12700">
            <a:solidFill>
              <a:srgbClr val="FFFFFF">
                <a:alpha val="500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4" name="Shape 32"/>
          <p:cNvSpPr/>
          <p:nvPr/>
        </p:nvSpPr>
        <p:spPr>
          <a:xfrm>
            <a:off x="6581851" y="4643933"/>
            <a:ext cx="267005" cy="267005"/>
          </a:xfrm>
          <a:prstGeom prst="roundRect">
            <a:avLst>
              <a:gd name="adj" fmla="val 73385"/>
            </a:avLst>
          </a:prstGeom>
          <a:solidFill>
            <a:srgbClr val="00BBF0">
              <a:alpha val="10000"/>
            </a:srgbClr>
          </a:solidFill>
          <a:ln w="25400">
            <a:solidFill>
              <a:srgbClr val="00BB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45" name="Image 10" descr="preencoded.png"/>
          <p:cNvPicPr>
            <a:picLocks noChangeAspect="1"/>
          </p:cNvPicPr>
          <p:nvPr/>
        </p:nvPicPr>
        <p:blipFill>
          <a:blip r:embed="rId4"/>
          <a:srcRect l="-2838" r="-2838"/>
          <a:stretch/>
        </p:blipFill>
        <p:spPr>
          <a:xfrm>
            <a:off x="6653174" y="4710684"/>
            <a:ext cx="123444" cy="133502"/>
          </a:xfrm>
          <a:prstGeom prst="rect">
            <a:avLst/>
          </a:prstGeom>
        </p:spPr>
      </p:pic>
      <p:sp>
        <p:nvSpPr>
          <p:cNvPr id="46" name="Text 33"/>
          <p:cNvSpPr txBox="1"/>
          <p:nvPr/>
        </p:nvSpPr>
        <p:spPr>
          <a:xfrm>
            <a:off x="7000646" y="4655820"/>
            <a:ext cx="360639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E2E8F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학과 기준에 맞는 인용 및 참고문헌 형식을 지켰는가?</a:t>
            </a:r>
            <a:endParaRPr lang="en-US" sz="1200" dirty="0"/>
          </a:p>
        </p:txBody>
      </p:sp>
      <p:sp>
        <p:nvSpPr>
          <p:cNvPr id="47" name="Shape 34"/>
          <p:cNvSpPr/>
          <p:nvPr/>
        </p:nvSpPr>
        <p:spPr>
          <a:xfrm>
            <a:off x="6381598" y="5225491"/>
            <a:ext cx="5048402" cy="590702"/>
          </a:xfrm>
          <a:prstGeom prst="roundRect">
            <a:avLst>
              <a:gd name="adj" fmla="val 19974"/>
            </a:avLst>
          </a:prstGeom>
          <a:solidFill>
            <a:srgbClr val="FFFFFF">
              <a:alpha val="3000"/>
            </a:srgbClr>
          </a:solidFill>
          <a:ln w="12700">
            <a:solidFill>
              <a:srgbClr val="FFFFFF">
                <a:alpha val="500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8" name="Shape 35"/>
          <p:cNvSpPr/>
          <p:nvPr/>
        </p:nvSpPr>
        <p:spPr>
          <a:xfrm>
            <a:off x="6581851" y="5387340"/>
            <a:ext cx="267005" cy="267005"/>
          </a:xfrm>
          <a:prstGeom prst="roundRect">
            <a:avLst>
              <a:gd name="adj" fmla="val 73385"/>
            </a:avLst>
          </a:prstGeom>
          <a:solidFill>
            <a:srgbClr val="00BBF0">
              <a:alpha val="10000"/>
            </a:srgbClr>
          </a:solidFill>
          <a:ln w="25400">
            <a:solidFill>
              <a:srgbClr val="00BB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49" name="Image 11" descr="preencoded.png"/>
          <p:cNvPicPr>
            <a:picLocks noChangeAspect="1"/>
          </p:cNvPicPr>
          <p:nvPr/>
        </p:nvPicPr>
        <p:blipFill>
          <a:blip r:embed="rId4"/>
          <a:srcRect l="-2838" r="-2838"/>
          <a:stretch/>
        </p:blipFill>
        <p:spPr>
          <a:xfrm>
            <a:off x="6653174" y="5454091"/>
            <a:ext cx="123444" cy="133502"/>
          </a:xfrm>
          <a:prstGeom prst="rect">
            <a:avLst/>
          </a:prstGeom>
        </p:spPr>
      </p:pic>
      <p:sp>
        <p:nvSpPr>
          <p:cNvPr id="50" name="Text 36"/>
          <p:cNvSpPr txBox="1"/>
          <p:nvPr/>
        </p:nvSpPr>
        <p:spPr>
          <a:xfrm>
            <a:off x="7000646" y="5398313"/>
            <a:ext cx="355884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E2E8F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소리 내어 읽으며 퇴고하고 최종 형식을 점검했는가?</a:t>
            </a:r>
            <a:endParaRPr lang="en-US" sz="1200" dirty="0"/>
          </a:p>
        </p:txBody>
      </p:sp>
      <p:sp>
        <p:nvSpPr>
          <p:cNvPr id="51" name="Shape 37"/>
          <p:cNvSpPr/>
          <p:nvPr/>
        </p:nvSpPr>
        <p:spPr>
          <a:xfrm>
            <a:off x="761695" y="5973775"/>
            <a:ext cx="10668305" cy="685800"/>
          </a:xfrm>
          <a:prstGeom prst="rect">
            <a:avLst/>
          </a:prstGeom>
          <a:solidFill>
            <a:srgbClr val="00BBF0">
              <a:alpha val="10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2" name="Shape 38"/>
          <p:cNvSpPr/>
          <p:nvPr/>
        </p:nvSpPr>
        <p:spPr>
          <a:xfrm>
            <a:off x="761695" y="5973775"/>
            <a:ext cx="38405" cy="685800"/>
          </a:xfrm>
          <a:prstGeom prst="rect">
            <a:avLst/>
          </a:prstGeom>
          <a:solidFill>
            <a:srgbClr val="00BBF0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53" name="Image 12" descr="preencoded.png"/>
          <p:cNvPicPr>
            <a:picLocks noChangeAspect="1"/>
          </p:cNvPicPr>
          <p:nvPr/>
        </p:nvPicPr>
        <p:blipFill>
          <a:blip r:embed="rId6"/>
          <a:srcRect l="-90" r="-90"/>
          <a:stretch/>
        </p:blipFill>
        <p:spPr>
          <a:xfrm>
            <a:off x="1086307" y="6164885"/>
            <a:ext cx="381305" cy="304495"/>
          </a:xfrm>
          <a:prstGeom prst="rect">
            <a:avLst/>
          </a:prstGeom>
        </p:spPr>
      </p:pic>
      <p:sp>
        <p:nvSpPr>
          <p:cNvPr id="54" name="Text 39"/>
          <p:cNvSpPr txBox="1"/>
          <p:nvPr/>
        </p:nvSpPr>
        <p:spPr>
          <a:xfrm>
            <a:off x="1657807" y="6191402"/>
            <a:ext cx="7479792" cy="2386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이 체크리스트를 모두 통과했다면, 여러분의 리포트는 단순한 과제를 넘어 '지식'으로서의 가치를 가집니다.</a:t>
            </a:r>
            <a:endParaRPr lang="en-US" sz="1300" dirty="0"/>
          </a:p>
        </p:txBody>
      </p:sp>
      <p:sp>
        <p:nvSpPr>
          <p:cNvPr id="55" name="deckgen:wrap:footer"/>
          <p:cNvSpPr txBox="1"/>
          <p:nvPr/>
        </p:nvSpPr>
        <p:spPr>
          <a:xfrm>
            <a:off x="365760" y="6549390"/>
            <a:ext cx="11460480" cy="240030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0">
                <a:solidFill>
                  <a:srgbClr val="8A8F99"/>
                </a:solidFill>
                <a:latin typeface="Pretendard"/>
              </a:rPr>
              <a:t>© 2026 이애본 · 홍문원(洪文院) 발행 · CC BY-NC-ND 4.0 · useful-ai.dreamitbiz.com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0F0F0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204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" name="Shape 2"/>
          <p:cNvSpPr/>
          <p:nvPr/>
        </p:nvSpPr>
        <p:spPr>
          <a:xfrm>
            <a:off x="761695" y="476402"/>
            <a:ext cx="571500" cy="57607"/>
          </a:xfrm>
          <a:prstGeom prst="rect">
            <a:avLst/>
          </a:prstGeom>
          <a:solidFill>
            <a:srgbClr val="00BBF0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 txBox="1"/>
          <p:nvPr/>
        </p:nvSpPr>
        <p:spPr>
          <a:xfrm>
            <a:off x="761695" y="657454"/>
            <a:ext cx="5505602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과제 분석: 의도와 규칙 읽기</a:t>
            </a:r>
            <a:endParaRPr lang="en-US" sz="3600" dirty="0"/>
          </a:p>
        </p:txBody>
      </p:sp>
      <p:sp>
        <p:nvSpPr>
          <p:cNvPr id="6" name="Text 4"/>
          <p:cNvSpPr txBox="1"/>
          <p:nvPr/>
        </p:nvSpPr>
        <p:spPr>
          <a:xfrm>
            <a:off x="761695" y="1387145"/>
            <a:ext cx="6344107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dirty="0">
                <a:solidFill>
                  <a:srgbClr val="CBD5E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교수님이 이 과제를 왜 내셨는지 '의도'를 파악하고, 주어진 '규칙'을 준수하세요.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761695" y="3041294"/>
            <a:ext cx="4038905" cy="9144"/>
          </a:xfrm>
          <a:prstGeom prst="rect">
            <a:avLst/>
          </a:prstGeom>
          <a:solidFill>
            <a:srgbClr val="FFFFFF">
              <a:alpha val="20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761695" y="2584094"/>
            <a:ext cx="228600" cy="228600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1133856" y="2507285"/>
            <a:ext cx="2839212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과제의 숨은 의도(Why)</a:t>
            </a:r>
            <a:endParaRPr lang="en-US" sz="2100" dirty="0"/>
          </a:p>
        </p:txBody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rcRect t="-2725" b="-2725"/>
          <a:stretch/>
        </p:blipFill>
        <p:spPr>
          <a:xfrm>
            <a:off x="761695" y="3393338"/>
            <a:ext cx="142646" cy="171907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1047902" y="3335731"/>
            <a:ext cx="1324051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학습 목표 파악하기</a:t>
            </a:r>
            <a:endParaRPr lang="en-US" sz="1200" dirty="0"/>
          </a:p>
        </p:txBody>
      </p:sp>
      <p:sp>
        <p:nvSpPr>
          <p:cNvPr id="12" name="Text 8"/>
          <p:cNvSpPr txBox="1"/>
          <p:nvPr/>
        </p:nvSpPr>
        <p:spPr>
          <a:xfrm>
            <a:off x="1047902" y="3564331"/>
            <a:ext cx="38679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단순 평가용이 아닙니다. 이 과제를 통해 어떤 역량을 기르길 원하시는지 고민해보세요.</a:t>
            </a:r>
            <a:endParaRPr lang="en-US" sz="1200" dirty="0"/>
          </a:p>
        </p:txBody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4"/>
          <a:srcRect t="-2725" b="-2725"/>
          <a:stretch/>
        </p:blipFill>
        <p:spPr>
          <a:xfrm>
            <a:off x="761695" y="4316882"/>
            <a:ext cx="142646" cy="171907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1047902" y="4260190"/>
            <a:ext cx="146761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핵심 동사(Verb) 분석</a:t>
            </a:r>
            <a:endParaRPr lang="en-US" sz="1200" dirty="0"/>
          </a:p>
        </p:txBody>
      </p:sp>
      <p:sp>
        <p:nvSpPr>
          <p:cNvPr id="15" name="Text 10"/>
          <p:cNvSpPr txBox="1"/>
          <p:nvPr/>
        </p:nvSpPr>
        <p:spPr>
          <a:xfrm>
            <a:off x="1047902" y="4488790"/>
            <a:ext cx="3801161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'분석하라', '요약하라', '비교하라' 등 과제문에 쓰인 동사가 요구하는 행동을 정확히 수행해야 합니다.</a:t>
            </a:r>
            <a:endParaRPr lang="en-US" sz="1200" dirty="0"/>
          </a:p>
        </p:txBody>
      </p:sp>
      <p:pic>
        <p:nvPicPr>
          <p:cNvPr id="16" name="Image 3" descr="preencoded.png"/>
          <p:cNvPicPr>
            <a:picLocks noChangeAspect="1"/>
          </p:cNvPicPr>
          <p:nvPr/>
        </p:nvPicPr>
        <p:blipFill>
          <a:blip r:embed="rId4"/>
          <a:srcRect t="-2725" b="-2725"/>
          <a:stretch/>
        </p:blipFill>
        <p:spPr>
          <a:xfrm>
            <a:off x="761695" y="5241341"/>
            <a:ext cx="142646" cy="171907"/>
          </a:xfrm>
          <a:prstGeom prst="rect">
            <a:avLst/>
          </a:prstGeom>
        </p:spPr>
      </p:pic>
      <p:sp>
        <p:nvSpPr>
          <p:cNvPr id="17" name="Text 11"/>
          <p:cNvSpPr txBox="1"/>
          <p:nvPr/>
        </p:nvSpPr>
        <p:spPr>
          <a:xfrm>
            <a:off x="1047902" y="5183734"/>
            <a:ext cx="122895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독자 설정: 교수님</a:t>
            </a:r>
            <a:endParaRPr lang="en-US" sz="1200" dirty="0"/>
          </a:p>
        </p:txBody>
      </p:sp>
      <p:sp>
        <p:nvSpPr>
          <p:cNvPr id="18" name="Text 12"/>
          <p:cNvSpPr txBox="1"/>
          <p:nvPr/>
        </p:nvSpPr>
        <p:spPr>
          <a:xfrm>
            <a:off x="1047902" y="5412334"/>
            <a:ext cx="3829507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교수님은 평가자이자 전문가이지만, '독자'로서 설득해야 할 대상입니다. (배우는 입장이 아닌 가르치는 입장으로 작성)</a:t>
            </a:r>
            <a:endParaRPr lang="en-US" sz="1200" dirty="0"/>
          </a:p>
        </p:txBody>
      </p:sp>
      <p:sp>
        <p:nvSpPr>
          <p:cNvPr id="19" name="Shape 13"/>
          <p:cNvSpPr/>
          <p:nvPr/>
        </p:nvSpPr>
        <p:spPr>
          <a:xfrm>
            <a:off x="5372100" y="1958645"/>
            <a:ext cx="6057900" cy="1848002"/>
          </a:xfrm>
          <a:prstGeom prst="roundRect">
            <a:avLst>
              <a:gd name="adj" fmla="val 1020"/>
            </a:avLst>
          </a:prstGeom>
          <a:solidFill>
            <a:srgbClr val="FFFFFF">
              <a:alpha val="5000"/>
            </a:srgbClr>
          </a:solidFill>
          <a:ln w="12700">
            <a:solidFill>
              <a:srgbClr val="FFFFFF">
                <a:alpha val="1000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20" name="Image 4" descr="preencoded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5619902" y="2245766"/>
            <a:ext cx="171907" cy="171907"/>
          </a:xfrm>
          <a:prstGeom prst="rect">
            <a:avLst/>
          </a:prstGeom>
        </p:spPr>
      </p:pic>
      <p:sp>
        <p:nvSpPr>
          <p:cNvPr id="21" name="Text 14"/>
          <p:cNvSpPr txBox="1"/>
          <p:nvPr/>
        </p:nvSpPr>
        <p:spPr>
          <a:xfrm>
            <a:off x="5867705" y="2205533"/>
            <a:ext cx="2192731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60A5F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기술적 가이드라인 (MUST)</a:t>
            </a:r>
            <a:endParaRPr lang="en-US" sz="1300" dirty="0"/>
          </a:p>
        </p:txBody>
      </p:sp>
      <p:sp>
        <p:nvSpPr>
          <p:cNvPr id="22" name="Shape 15"/>
          <p:cNvSpPr/>
          <p:nvPr/>
        </p:nvSpPr>
        <p:spPr>
          <a:xfrm>
            <a:off x="5619902" y="2600554"/>
            <a:ext cx="2714854" cy="409651"/>
          </a:xfrm>
          <a:prstGeom prst="roundRect">
            <a:avLst>
              <a:gd name="adj" fmla="val 20764"/>
            </a:avLst>
          </a:prstGeom>
          <a:solidFill>
            <a:srgbClr val="000000">
              <a:alpha val="20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23" name="Image 5" descr="preencoded.png"/>
          <p:cNvPicPr>
            <a:picLocks noChangeAspect="1"/>
          </p:cNvPicPr>
          <p:nvPr/>
        </p:nvPicPr>
        <p:blipFill>
          <a:blip r:embed="rId6"/>
          <a:srcRect l="-38889" r="-38889"/>
          <a:stretch/>
        </p:blipFill>
        <p:spPr>
          <a:xfrm>
            <a:off x="5762549" y="2732227"/>
            <a:ext cx="190195" cy="142646"/>
          </a:xfrm>
          <a:prstGeom prst="rect">
            <a:avLst/>
          </a:prstGeom>
        </p:spPr>
      </p:pic>
      <p:sp>
        <p:nvSpPr>
          <p:cNvPr id="24" name="Text 16"/>
          <p:cNvSpPr txBox="1"/>
          <p:nvPr/>
        </p:nvSpPr>
        <p:spPr>
          <a:xfrm>
            <a:off x="5952744" y="2695651"/>
            <a:ext cx="994867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E2E8F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제한 분량 준수</a:t>
            </a:r>
            <a:endParaRPr lang="en-US" sz="1100" dirty="0"/>
          </a:p>
        </p:txBody>
      </p:sp>
      <p:sp>
        <p:nvSpPr>
          <p:cNvPr id="25" name="Shape 17"/>
          <p:cNvSpPr/>
          <p:nvPr/>
        </p:nvSpPr>
        <p:spPr>
          <a:xfrm>
            <a:off x="8472830" y="2600554"/>
            <a:ext cx="2714854" cy="409651"/>
          </a:xfrm>
          <a:prstGeom prst="roundRect">
            <a:avLst>
              <a:gd name="adj" fmla="val 20764"/>
            </a:avLst>
          </a:prstGeom>
          <a:solidFill>
            <a:srgbClr val="000000">
              <a:alpha val="20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26" name="Image 6" descr="preencoded.png"/>
          <p:cNvPicPr>
            <a:picLocks noChangeAspect="1"/>
          </p:cNvPicPr>
          <p:nvPr/>
        </p:nvPicPr>
        <p:blipFill>
          <a:blip r:embed="rId7"/>
          <a:srcRect l="-26191" r="-26191"/>
          <a:stretch/>
        </p:blipFill>
        <p:spPr>
          <a:xfrm>
            <a:off x="8615477" y="2732227"/>
            <a:ext cx="190195" cy="142646"/>
          </a:xfrm>
          <a:prstGeom prst="rect">
            <a:avLst/>
          </a:prstGeom>
        </p:spPr>
      </p:pic>
      <p:sp>
        <p:nvSpPr>
          <p:cNvPr id="27" name="Text 18"/>
          <p:cNvSpPr txBox="1"/>
          <p:nvPr/>
        </p:nvSpPr>
        <p:spPr>
          <a:xfrm>
            <a:off x="8805672" y="2695651"/>
            <a:ext cx="101407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E2E8F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지정 서체/크기</a:t>
            </a:r>
            <a:endParaRPr lang="en-US" sz="1100" dirty="0"/>
          </a:p>
        </p:txBody>
      </p:sp>
      <p:sp>
        <p:nvSpPr>
          <p:cNvPr id="28" name="Shape 19"/>
          <p:cNvSpPr/>
          <p:nvPr/>
        </p:nvSpPr>
        <p:spPr>
          <a:xfrm>
            <a:off x="5619902" y="3151022"/>
            <a:ext cx="2714854" cy="409651"/>
          </a:xfrm>
          <a:prstGeom prst="roundRect">
            <a:avLst>
              <a:gd name="adj" fmla="val 20764"/>
            </a:avLst>
          </a:prstGeom>
          <a:solidFill>
            <a:srgbClr val="000000">
              <a:alpha val="20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29" name="Image 7" descr="preencoded.png"/>
          <p:cNvPicPr>
            <a:picLocks noChangeAspect="1"/>
          </p:cNvPicPr>
          <p:nvPr/>
        </p:nvPicPr>
        <p:blipFill>
          <a:blip r:embed="rId8"/>
          <a:srcRect l="-26191" r="-26191"/>
          <a:stretch/>
        </p:blipFill>
        <p:spPr>
          <a:xfrm>
            <a:off x="5762549" y="3282696"/>
            <a:ext cx="190195" cy="142646"/>
          </a:xfrm>
          <a:prstGeom prst="rect">
            <a:avLst/>
          </a:prstGeom>
        </p:spPr>
      </p:pic>
      <p:sp>
        <p:nvSpPr>
          <p:cNvPr id="30" name="Text 20"/>
          <p:cNvSpPr txBox="1"/>
          <p:nvPr/>
        </p:nvSpPr>
        <p:spPr>
          <a:xfrm>
            <a:off x="5952744" y="3246120"/>
            <a:ext cx="994867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E2E8F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제출 마감 엄수</a:t>
            </a:r>
            <a:endParaRPr lang="en-US" sz="1100" dirty="0"/>
          </a:p>
        </p:txBody>
      </p:sp>
      <p:sp>
        <p:nvSpPr>
          <p:cNvPr id="31" name="Shape 21"/>
          <p:cNvSpPr/>
          <p:nvPr/>
        </p:nvSpPr>
        <p:spPr>
          <a:xfrm>
            <a:off x="8472830" y="3151022"/>
            <a:ext cx="2714854" cy="409651"/>
          </a:xfrm>
          <a:prstGeom prst="roundRect">
            <a:avLst>
              <a:gd name="adj" fmla="val 20764"/>
            </a:avLst>
          </a:prstGeom>
          <a:solidFill>
            <a:srgbClr val="000000">
              <a:alpha val="20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32" name="Image 8" descr="preencoded.png"/>
          <p:cNvPicPr>
            <a:picLocks noChangeAspect="1"/>
          </p:cNvPicPr>
          <p:nvPr/>
        </p:nvPicPr>
        <p:blipFill>
          <a:blip r:embed="rId9"/>
          <a:srcRect l="-16667" r="-16667"/>
          <a:stretch/>
        </p:blipFill>
        <p:spPr>
          <a:xfrm>
            <a:off x="8615477" y="3282696"/>
            <a:ext cx="190195" cy="142646"/>
          </a:xfrm>
          <a:prstGeom prst="rect">
            <a:avLst/>
          </a:prstGeom>
        </p:spPr>
      </p:pic>
      <p:sp>
        <p:nvSpPr>
          <p:cNvPr id="33" name="Text 22"/>
          <p:cNvSpPr txBox="1"/>
          <p:nvPr/>
        </p:nvSpPr>
        <p:spPr>
          <a:xfrm>
            <a:off x="8805672" y="3246120"/>
            <a:ext cx="95646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E2E8F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참고문헌 양식</a:t>
            </a:r>
            <a:endParaRPr lang="en-US" sz="1100" dirty="0"/>
          </a:p>
        </p:txBody>
      </p:sp>
      <p:sp>
        <p:nvSpPr>
          <p:cNvPr id="34" name="Shape 23"/>
          <p:cNvSpPr/>
          <p:nvPr/>
        </p:nvSpPr>
        <p:spPr>
          <a:xfrm>
            <a:off x="5372100" y="3996842"/>
            <a:ext cx="6057900" cy="2419502"/>
          </a:xfrm>
          <a:prstGeom prst="roundRect">
            <a:avLst>
              <a:gd name="adj" fmla="val 595"/>
            </a:avLst>
          </a:prstGeom>
          <a:solidFill>
            <a:srgbClr val="FFFFFF">
              <a:alpha val="5000"/>
            </a:srgbClr>
          </a:solidFill>
          <a:ln w="12700">
            <a:solidFill>
              <a:srgbClr val="FFFFFF">
                <a:alpha val="1000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35" name="Image 9" descr="preencoded.png"/>
          <p:cNvPicPr>
            <a:picLocks noChangeAspect="1"/>
          </p:cNvPicPr>
          <p:nvPr/>
        </p:nvPicPr>
        <p:blipFill>
          <a:blip r:embed="rId10"/>
          <a:srcRect l="-760" r="-760"/>
          <a:stretch/>
        </p:blipFill>
        <p:spPr>
          <a:xfrm>
            <a:off x="5619902" y="4283964"/>
            <a:ext cx="152705" cy="171907"/>
          </a:xfrm>
          <a:prstGeom prst="rect">
            <a:avLst/>
          </a:prstGeom>
        </p:spPr>
      </p:pic>
      <p:sp>
        <p:nvSpPr>
          <p:cNvPr id="36" name="Text 24"/>
          <p:cNvSpPr txBox="1"/>
          <p:nvPr/>
        </p:nvSpPr>
        <p:spPr>
          <a:xfrm>
            <a:off x="5848502" y="4244645"/>
            <a:ext cx="1764792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60A5F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분량에 따른 작성 전략</a:t>
            </a:r>
            <a:endParaRPr lang="en-US" sz="1300" dirty="0"/>
          </a:p>
        </p:txBody>
      </p:sp>
      <p:sp>
        <p:nvSpPr>
          <p:cNvPr id="37" name="Shape 25"/>
          <p:cNvSpPr/>
          <p:nvPr/>
        </p:nvSpPr>
        <p:spPr>
          <a:xfrm>
            <a:off x="5619902" y="4638751"/>
            <a:ext cx="2714854" cy="981151"/>
          </a:xfrm>
          <a:prstGeom prst="rect">
            <a:avLst/>
          </a:prstGeom>
          <a:solidFill>
            <a:srgbClr val="00204A">
              <a:alpha val="50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8" name="Shape 26"/>
          <p:cNvSpPr/>
          <p:nvPr/>
        </p:nvSpPr>
        <p:spPr>
          <a:xfrm>
            <a:off x="5619902" y="4638751"/>
            <a:ext cx="28346" cy="981151"/>
          </a:xfrm>
          <a:prstGeom prst="rect">
            <a:avLst/>
          </a:prstGeom>
          <a:solidFill>
            <a:srgbClr val="3B82F6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9" name="Text 27"/>
          <p:cNvSpPr txBox="1"/>
          <p:nvPr/>
        </p:nvSpPr>
        <p:spPr>
          <a:xfrm>
            <a:off x="5790895" y="4781398"/>
            <a:ext cx="129570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짧은 리포트 (~2p)</a:t>
            </a:r>
            <a:endParaRPr lang="en-US" sz="1200" dirty="0"/>
          </a:p>
        </p:txBody>
      </p:sp>
      <p:sp>
        <p:nvSpPr>
          <p:cNvPr id="40" name="Text 28"/>
          <p:cNvSpPr txBox="1"/>
          <p:nvPr/>
        </p:nvSpPr>
        <p:spPr>
          <a:xfrm>
            <a:off x="5790895" y="5076749"/>
            <a:ext cx="2484425" cy="4005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CBD5E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군더더기 없이 핵심만 압축. 광범위한 서론은 생략하고 본론의 논리에 집중.</a:t>
            </a:r>
            <a:endParaRPr lang="en-US" sz="1000" dirty="0"/>
          </a:p>
        </p:txBody>
      </p:sp>
      <p:sp>
        <p:nvSpPr>
          <p:cNvPr id="41" name="Shape 29"/>
          <p:cNvSpPr/>
          <p:nvPr/>
        </p:nvSpPr>
        <p:spPr>
          <a:xfrm>
            <a:off x="8472830" y="4638751"/>
            <a:ext cx="2714854" cy="981151"/>
          </a:xfrm>
          <a:prstGeom prst="rect">
            <a:avLst/>
          </a:prstGeom>
          <a:solidFill>
            <a:srgbClr val="00204A">
              <a:alpha val="50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2" name="Shape 30"/>
          <p:cNvSpPr/>
          <p:nvPr/>
        </p:nvSpPr>
        <p:spPr>
          <a:xfrm>
            <a:off x="8472830" y="4638751"/>
            <a:ext cx="28346" cy="981151"/>
          </a:xfrm>
          <a:prstGeom prst="rect">
            <a:avLst/>
          </a:prstGeom>
          <a:solidFill>
            <a:srgbClr val="00BBF0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3" name="Text 31"/>
          <p:cNvSpPr txBox="1"/>
          <p:nvPr/>
        </p:nvSpPr>
        <p:spPr>
          <a:xfrm>
            <a:off x="8643823" y="4781398"/>
            <a:ext cx="12481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긴 리포트 (10p~)</a:t>
            </a:r>
            <a:endParaRPr lang="en-US" sz="1200" dirty="0"/>
          </a:p>
        </p:txBody>
      </p:sp>
      <p:sp>
        <p:nvSpPr>
          <p:cNvPr id="44" name="Text 32"/>
          <p:cNvSpPr txBox="1"/>
          <p:nvPr/>
        </p:nvSpPr>
        <p:spPr>
          <a:xfrm>
            <a:off x="8643823" y="5076749"/>
            <a:ext cx="2484425" cy="4005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CBD5E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주장을 뒷받침할 상세 예시와 데이터 확장. 심도 있는 논증 과정 전개 가능.</a:t>
            </a:r>
            <a:endParaRPr lang="en-US" sz="1000" dirty="0"/>
          </a:p>
        </p:txBody>
      </p:sp>
      <p:sp>
        <p:nvSpPr>
          <p:cNvPr id="45" name="Shape 33"/>
          <p:cNvSpPr/>
          <p:nvPr/>
        </p:nvSpPr>
        <p:spPr>
          <a:xfrm>
            <a:off x="5619902" y="5708599"/>
            <a:ext cx="5562295" cy="457200"/>
          </a:xfrm>
          <a:prstGeom prst="roundRect">
            <a:avLst>
              <a:gd name="adj" fmla="val 16667"/>
            </a:avLst>
          </a:prstGeom>
          <a:solidFill>
            <a:srgbClr val="FBBF24">
              <a:alpha val="10000"/>
            </a:srgbClr>
          </a:solidFill>
          <a:ln w="12700">
            <a:solidFill>
              <a:srgbClr val="FBBF24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46" name="Image 10" descr="preencoded.png"/>
          <p:cNvPicPr>
            <a:picLocks noChangeAspect="1"/>
          </p:cNvPicPr>
          <p:nvPr/>
        </p:nvPicPr>
        <p:blipFill>
          <a:blip r:embed="rId11"/>
          <a:srcRect/>
          <a:stretch/>
        </p:blipFill>
        <p:spPr>
          <a:xfrm>
            <a:off x="5743346" y="5868619"/>
            <a:ext cx="133502" cy="133502"/>
          </a:xfrm>
          <a:prstGeom prst="rect">
            <a:avLst/>
          </a:prstGeom>
        </p:spPr>
      </p:pic>
      <p:sp>
        <p:nvSpPr>
          <p:cNvPr id="47" name="Text 34"/>
          <p:cNvSpPr txBox="1"/>
          <p:nvPr/>
        </p:nvSpPr>
        <p:spPr>
          <a:xfrm>
            <a:off x="5952744" y="5832043"/>
            <a:ext cx="4561027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FCD34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이해가 안 되는 부분은 즉시 교수님께 문의하세요. 질문은 적극성의 표현입니다.</a:t>
            </a:r>
            <a:endParaRPr lang="en-US" sz="1000" dirty="0"/>
          </a:p>
        </p:txBody>
      </p:sp>
      <p:sp>
        <p:nvSpPr>
          <p:cNvPr id="48" name="deckgen:wrap:footer"/>
          <p:cNvSpPr txBox="1"/>
          <p:nvPr/>
        </p:nvSpPr>
        <p:spPr>
          <a:xfrm>
            <a:off x="365760" y="6549390"/>
            <a:ext cx="11460480" cy="240030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0">
                <a:solidFill>
                  <a:srgbClr val="8A8F99"/>
                </a:solidFill>
                <a:latin typeface="Pretendard"/>
              </a:rPr>
              <a:t>© 2026 이애본 · 홍문원(洪文院) 발행 · CC BY-NC-ND 4.0 · useful-ai.dreamitbiz.com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0F0F0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204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" name="Shape 2"/>
          <p:cNvSpPr/>
          <p:nvPr/>
        </p:nvSpPr>
        <p:spPr>
          <a:xfrm>
            <a:off x="761695" y="476402"/>
            <a:ext cx="571500" cy="57607"/>
          </a:xfrm>
          <a:prstGeom prst="rect">
            <a:avLst/>
          </a:prstGeom>
          <a:solidFill>
            <a:srgbClr val="00BBF0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 txBox="1"/>
          <p:nvPr/>
        </p:nvSpPr>
        <p:spPr>
          <a:xfrm>
            <a:off x="761695" y="657454"/>
            <a:ext cx="6505956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주제 선정: 흥미·실현 가능·자료성</a:t>
            </a:r>
            <a:endParaRPr lang="en-US" sz="3600" dirty="0"/>
          </a:p>
        </p:txBody>
      </p:sp>
      <p:sp>
        <p:nvSpPr>
          <p:cNvPr id="6" name="Text 4"/>
          <p:cNvSpPr txBox="1"/>
          <p:nvPr/>
        </p:nvSpPr>
        <p:spPr>
          <a:xfrm>
            <a:off x="761695" y="1387145"/>
            <a:ext cx="5401361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dirty="0">
                <a:solidFill>
                  <a:srgbClr val="CBD5E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좋은 주제는 나의 흥미에서 시작해, 실현 가능한 범위로 완성됩니다.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761695" y="3193999"/>
            <a:ext cx="4038905" cy="9144"/>
          </a:xfrm>
          <a:prstGeom prst="rect">
            <a:avLst/>
          </a:prstGeom>
          <a:solidFill>
            <a:srgbClr val="FFFFFF">
              <a:alpha val="20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761695" y="2736799"/>
            <a:ext cx="228600" cy="228600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1133856" y="2660904"/>
            <a:ext cx="2229307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주제 선정의 3요소</a:t>
            </a:r>
            <a:endParaRPr lang="en-US" sz="2100" dirty="0"/>
          </a:p>
        </p:txBody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761695" y="3546043"/>
            <a:ext cx="171907" cy="171907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1076249" y="3489350"/>
            <a:ext cx="169621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작성자의 흥미 (Interest)</a:t>
            </a:r>
            <a:endParaRPr lang="en-US" sz="1200" dirty="0"/>
          </a:p>
        </p:txBody>
      </p:sp>
      <p:sp>
        <p:nvSpPr>
          <p:cNvPr id="12" name="Text 8"/>
          <p:cNvSpPr txBox="1"/>
          <p:nvPr/>
        </p:nvSpPr>
        <p:spPr>
          <a:xfrm>
            <a:off x="1076249" y="3717950"/>
            <a:ext cx="3724351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단순 과제 수행이 아닌, 내가 호기심을 가지고 끝까지 파고들 수 있는 주제여야 중도 포기를 막을 수 있습니다.</a:t>
            </a:r>
            <a:endParaRPr lang="en-US" sz="1200" dirty="0"/>
          </a:p>
        </p:txBody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761695" y="4470502"/>
            <a:ext cx="171907" cy="171907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1076249" y="4412894"/>
            <a:ext cx="172455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실현 가능성 (Feasibility)</a:t>
            </a:r>
            <a:endParaRPr lang="en-US" sz="1200" dirty="0"/>
          </a:p>
        </p:txBody>
      </p:sp>
      <p:sp>
        <p:nvSpPr>
          <p:cNvPr id="15" name="Text 10"/>
          <p:cNvSpPr txBox="1"/>
          <p:nvPr/>
        </p:nvSpPr>
        <p:spPr>
          <a:xfrm>
            <a:off x="1076249" y="4641494"/>
            <a:ext cx="3801161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제출 기한 내에 나의 현재 역량으로 해결할 수 있는가? 너무 광범위하거나 시간이 오래 걸리는 주제는 위험합니다.</a:t>
            </a:r>
            <a:endParaRPr lang="en-US" sz="1200" dirty="0"/>
          </a:p>
        </p:txBody>
      </p:sp>
      <p:pic>
        <p:nvPicPr>
          <p:cNvPr id="16" name="Image 3" descr="preencoded.png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761695" y="5394046"/>
            <a:ext cx="171907" cy="171907"/>
          </a:xfrm>
          <a:prstGeom prst="rect">
            <a:avLst/>
          </a:prstGeom>
        </p:spPr>
      </p:pic>
      <p:sp>
        <p:nvSpPr>
          <p:cNvPr id="17" name="Text 11"/>
          <p:cNvSpPr txBox="1"/>
          <p:nvPr/>
        </p:nvSpPr>
        <p:spPr>
          <a:xfrm>
            <a:off x="1076249" y="5337353"/>
            <a:ext cx="1515161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자료 확보 여부 (Data)</a:t>
            </a:r>
            <a:endParaRPr lang="en-US" sz="1200" dirty="0"/>
          </a:p>
        </p:txBody>
      </p:sp>
      <p:sp>
        <p:nvSpPr>
          <p:cNvPr id="18" name="Text 12"/>
          <p:cNvSpPr txBox="1"/>
          <p:nvPr/>
        </p:nvSpPr>
        <p:spPr>
          <a:xfrm>
            <a:off x="1076249" y="5565953"/>
            <a:ext cx="3829507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나의 주장을 뒷받침할 신뢰성 있는 자료(논문, 통계 등)를 충분히 구할 수 있는지 사전에 확인해야 합니다.</a:t>
            </a:r>
            <a:endParaRPr lang="en-US" sz="1200" dirty="0"/>
          </a:p>
        </p:txBody>
      </p:sp>
      <p:sp>
        <p:nvSpPr>
          <p:cNvPr id="19" name="Shape 13"/>
          <p:cNvSpPr/>
          <p:nvPr/>
        </p:nvSpPr>
        <p:spPr>
          <a:xfrm>
            <a:off x="5372100" y="1958645"/>
            <a:ext cx="6057900" cy="2457907"/>
          </a:xfrm>
          <a:prstGeom prst="roundRect">
            <a:avLst>
              <a:gd name="adj" fmla="val 577"/>
            </a:avLst>
          </a:prstGeom>
          <a:solidFill>
            <a:srgbClr val="FFFFFF">
              <a:alpha val="5000"/>
            </a:srgbClr>
          </a:solidFill>
          <a:ln w="12700">
            <a:solidFill>
              <a:srgbClr val="FFFFFF">
                <a:alpha val="1000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20" name="Image 4" descr="preencoded.png"/>
          <p:cNvPicPr>
            <a:picLocks noChangeAspect="1"/>
          </p:cNvPicPr>
          <p:nvPr/>
        </p:nvPicPr>
        <p:blipFill>
          <a:blip r:embed="rId7"/>
          <a:srcRect/>
          <a:stretch/>
        </p:blipFill>
        <p:spPr>
          <a:xfrm>
            <a:off x="5619902" y="2245766"/>
            <a:ext cx="171907" cy="171907"/>
          </a:xfrm>
          <a:prstGeom prst="rect">
            <a:avLst/>
          </a:prstGeom>
        </p:spPr>
      </p:pic>
      <p:sp>
        <p:nvSpPr>
          <p:cNvPr id="21" name="Text 14"/>
          <p:cNvSpPr txBox="1"/>
          <p:nvPr/>
        </p:nvSpPr>
        <p:spPr>
          <a:xfrm>
            <a:off x="5867705" y="2205533"/>
            <a:ext cx="1592885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CA5A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피해야 할 주제 유형</a:t>
            </a:r>
            <a:endParaRPr lang="en-US" sz="1300" dirty="0"/>
          </a:p>
        </p:txBody>
      </p:sp>
      <p:sp>
        <p:nvSpPr>
          <p:cNvPr id="22" name="Shape 15"/>
          <p:cNvSpPr/>
          <p:nvPr/>
        </p:nvSpPr>
        <p:spPr>
          <a:xfrm>
            <a:off x="5619902" y="2600554"/>
            <a:ext cx="5562295" cy="448056"/>
          </a:xfrm>
          <a:prstGeom prst="roundRect">
            <a:avLst>
              <a:gd name="adj" fmla="val 17369"/>
            </a:avLst>
          </a:prstGeom>
          <a:solidFill>
            <a:srgbClr val="000000">
              <a:alpha val="20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23" name="Image 5" descr="preencoded.png"/>
          <p:cNvPicPr>
            <a:picLocks noChangeAspect="1"/>
          </p:cNvPicPr>
          <p:nvPr/>
        </p:nvPicPr>
        <p:blipFill>
          <a:blip r:embed="rId8"/>
          <a:srcRect l="-16667" r="-16667"/>
          <a:stretch/>
        </p:blipFill>
        <p:spPr>
          <a:xfrm>
            <a:off x="5762549" y="2751430"/>
            <a:ext cx="190195" cy="142646"/>
          </a:xfrm>
          <a:prstGeom prst="rect">
            <a:avLst/>
          </a:prstGeom>
        </p:spPr>
      </p:pic>
      <p:sp>
        <p:nvSpPr>
          <p:cNvPr id="24" name="Text 16"/>
          <p:cNvSpPr txBox="1"/>
          <p:nvPr/>
        </p:nvSpPr>
        <p:spPr>
          <a:xfrm>
            <a:off x="5952744" y="2714854"/>
            <a:ext cx="3328416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E2E8F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개인이 감당하기 힘든 방대한 통계 조사가 필요한 주제</a:t>
            </a:r>
            <a:endParaRPr lang="en-US" sz="1100" dirty="0"/>
          </a:p>
        </p:txBody>
      </p:sp>
      <p:sp>
        <p:nvSpPr>
          <p:cNvPr id="25" name="Shape 17"/>
          <p:cNvSpPr/>
          <p:nvPr/>
        </p:nvSpPr>
        <p:spPr>
          <a:xfrm>
            <a:off x="5619902" y="3160166"/>
            <a:ext cx="5562295" cy="448056"/>
          </a:xfrm>
          <a:prstGeom prst="roundRect">
            <a:avLst>
              <a:gd name="adj" fmla="val 17369"/>
            </a:avLst>
          </a:prstGeom>
          <a:solidFill>
            <a:srgbClr val="000000">
              <a:alpha val="20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26" name="Image 6" descr="preencoded.png"/>
          <p:cNvPicPr>
            <a:picLocks noChangeAspect="1"/>
          </p:cNvPicPr>
          <p:nvPr/>
        </p:nvPicPr>
        <p:blipFill>
          <a:blip r:embed="rId9"/>
          <a:srcRect l="-16667" r="-16667"/>
          <a:stretch/>
        </p:blipFill>
        <p:spPr>
          <a:xfrm>
            <a:off x="5762549" y="3311957"/>
            <a:ext cx="190195" cy="142646"/>
          </a:xfrm>
          <a:prstGeom prst="rect">
            <a:avLst/>
          </a:prstGeom>
        </p:spPr>
      </p:pic>
      <p:sp>
        <p:nvSpPr>
          <p:cNvPr id="27" name="Text 18"/>
          <p:cNvSpPr txBox="1"/>
          <p:nvPr/>
        </p:nvSpPr>
        <p:spPr>
          <a:xfrm>
            <a:off x="5952744" y="3274466"/>
            <a:ext cx="3061411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E2E8F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너무 오래되어 관련 문헌을 찾기 어려운 고전 주제</a:t>
            </a:r>
            <a:endParaRPr lang="en-US" sz="1100" dirty="0"/>
          </a:p>
        </p:txBody>
      </p:sp>
      <p:sp>
        <p:nvSpPr>
          <p:cNvPr id="28" name="Shape 19"/>
          <p:cNvSpPr/>
          <p:nvPr/>
        </p:nvSpPr>
        <p:spPr>
          <a:xfrm>
            <a:off x="5619902" y="3720694"/>
            <a:ext cx="5562295" cy="448056"/>
          </a:xfrm>
          <a:prstGeom prst="roundRect">
            <a:avLst>
              <a:gd name="adj" fmla="val 17369"/>
            </a:avLst>
          </a:prstGeom>
          <a:solidFill>
            <a:srgbClr val="000000">
              <a:alpha val="20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29" name="Image 7" descr="preencoded.png"/>
          <p:cNvPicPr>
            <a:picLocks noChangeAspect="1"/>
          </p:cNvPicPr>
          <p:nvPr/>
        </p:nvPicPr>
        <p:blipFill>
          <a:blip r:embed="rId10"/>
          <a:srcRect l="-3333" r="-3333"/>
          <a:stretch/>
        </p:blipFill>
        <p:spPr>
          <a:xfrm>
            <a:off x="5762549" y="3871570"/>
            <a:ext cx="190195" cy="142646"/>
          </a:xfrm>
          <a:prstGeom prst="rect">
            <a:avLst/>
          </a:prstGeom>
        </p:spPr>
      </p:pic>
      <p:sp>
        <p:nvSpPr>
          <p:cNvPr id="30" name="Text 20"/>
          <p:cNvSpPr txBox="1"/>
          <p:nvPr/>
        </p:nvSpPr>
        <p:spPr>
          <a:xfrm>
            <a:off x="5952744" y="3834994"/>
            <a:ext cx="301386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E2E8F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외국어 원문 해독이 필수이나 역량이 부족한 주제</a:t>
            </a:r>
            <a:endParaRPr lang="en-US" sz="1100" dirty="0"/>
          </a:p>
        </p:txBody>
      </p:sp>
      <p:sp>
        <p:nvSpPr>
          <p:cNvPr id="31" name="Shape 21"/>
          <p:cNvSpPr/>
          <p:nvPr/>
        </p:nvSpPr>
        <p:spPr>
          <a:xfrm>
            <a:off x="5372100" y="4604004"/>
            <a:ext cx="6057900" cy="2115007"/>
          </a:xfrm>
          <a:prstGeom prst="roundRect">
            <a:avLst>
              <a:gd name="adj" fmla="val 779"/>
            </a:avLst>
          </a:prstGeom>
          <a:solidFill>
            <a:srgbClr val="FFFFFF">
              <a:alpha val="5000"/>
            </a:srgbClr>
          </a:solidFill>
          <a:ln w="12700">
            <a:solidFill>
              <a:srgbClr val="FFFFFF">
                <a:alpha val="1000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32" name="Image 8" descr="preencoded.png"/>
          <p:cNvPicPr>
            <a:picLocks noChangeAspect="1"/>
          </p:cNvPicPr>
          <p:nvPr/>
        </p:nvPicPr>
        <p:blipFill>
          <a:blip r:embed="rId11"/>
          <a:srcRect/>
          <a:stretch/>
        </p:blipFill>
        <p:spPr>
          <a:xfrm>
            <a:off x="5619902" y="4892040"/>
            <a:ext cx="171907" cy="171907"/>
          </a:xfrm>
          <a:prstGeom prst="rect">
            <a:avLst/>
          </a:prstGeom>
        </p:spPr>
      </p:pic>
      <p:sp>
        <p:nvSpPr>
          <p:cNvPr id="33" name="Text 22"/>
          <p:cNvSpPr txBox="1"/>
          <p:nvPr/>
        </p:nvSpPr>
        <p:spPr>
          <a:xfrm>
            <a:off x="5867705" y="4851806"/>
            <a:ext cx="1907438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60A5F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주제 범위 좁히기 (예시)</a:t>
            </a:r>
            <a:endParaRPr lang="en-US" sz="1300" dirty="0"/>
          </a:p>
        </p:txBody>
      </p:sp>
      <p:sp>
        <p:nvSpPr>
          <p:cNvPr id="34" name="Shape 23"/>
          <p:cNvSpPr/>
          <p:nvPr/>
        </p:nvSpPr>
        <p:spPr>
          <a:xfrm>
            <a:off x="5619902" y="5245913"/>
            <a:ext cx="2714854" cy="1228954"/>
          </a:xfrm>
          <a:prstGeom prst="rect">
            <a:avLst/>
          </a:prstGeom>
          <a:solidFill>
            <a:srgbClr val="000000">
              <a:alpha val="20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5" name="Shape 24"/>
          <p:cNvSpPr/>
          <p:nvPr/>
        </p:nvSpPr>
        <p:spPr>
          <a:xfrm>
            <a:off x="5619902" y="5245913"/>
            <a:ext cx="28346" cy="1228954"/>
          </a:xfrm>
          <a:prstGeom prst="rect">
            <a:avLst/>
          </a:prstGeom>
          <a:solidFill>
            <a:srgbClr val="64748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6" name="Text 25"/>
          <p:cNvSpPr txBox="1"/>
          <p:nvPr/>
        </p:nvSpPr>
        <p:spPr>
          <a:xfrm>
            <a:off x="5790895" y="5389474"/>
            <a:ext cx="145755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CBD5E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광범위한 주제 (Bad)</a:t>
            </a:r>
            <a:endParaRPr lang="en-US" sz="1200" dirty="0"/>
          </a:p>
        </p:txBody>
      </p:sp>
      <p:sp>
        <p:nvSpPr>
          <p:cNvPr id="37" name="Text 26"/>
          <p:cNvSpPr txBox="1"/>
          <p:nvPr/>
        </p:nvSpPr>
        <p:spPr>
          <a:xfrm>
            <a:off x="5790895" y="5684825"/>
            <a:ext cx="1903781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CBD5E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"원전 안전성에 대한 국제 비교"</a:t>
            </a:r>
            <a:endParaRPr lang="en-US" sz="1000" dirty="0"/>
          </a:p>
        </p:txBody>
      </p:sp>
      <p:sp>
        <p:nvSpPr>
          <p:cNvPr id="38" name="Text 27"/>
          <p:cNvSpPr txBox="1"/>
          <p:nvPr/>
        </p:nvSpPr>
        <p:spPr>
          <a:xfrm>
            <a:off x="5790895" y="5952744"/>
            <a:ext cx="1320394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CBD5E1">
                    <a:alpha val="60000"/>
                  </a:srgbClr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(기간 부족, 데이터 과다)</a:t>
            </a:r>
            <a:endParaRPr lang="en-US" sz="900" dirty="0"/>
          </a:p>
        </p:txBody>
      </p:sp>
      <p:sp>
        <p:nvSpPr>
          <p:cNvPr id="39" name="Shape 28"/>
          <p:cNvSpPr/>
          <p:nvPr/>
        </p:nvSpPr>
        <p:spPr>
          <a:xfrm>
            <a:off x="8472830" y="5245913"/>
            <a:ext cx="2714854" cy="1228954"/>
          </a:xfrm>
          <a:prstGeom prst="rect">
            <a:avLst/>
          </a:prstGeom>
          <a:solidFill>
            <a:srgbClr val="00204A">
              <a:alpha val="50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0" name="Shape 29"/>
          <p:cNvSpPr/>
          <p:nvPr/>
        </p:nvSpPr>
        <p:spPr>
          <a:xfrm>
            <a:off x="8472830" y="5245913"/>
            <a:ext cx="28346" cy="1228954"/>
          </a:xfrm>
          <a:prstGeom prst="rect">
            <a:avLst/>
          </a:prstGeom>
          <a:solidFill>
            <a:srgbClr val="00BBF0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1" name="Text 30"/>
          <p:cNvSpPr txBox="1"/>
          <p:nvPr/>
        </p:nvSpPr>
        <p:spPr>
          <a:xfrm>
            <a:off x="8643823" y="5389474"/>
            <a:ext cx="156271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구체화된 주제 (Good)</a:t>
            </a:r>
            <a:endParaRPr lang="en-US" sz="1200" dirty="0"/>
          </a:p>
        </p:txBody>
      </p:sp>
      <p:sp>
        <p:nvSpPr>
          <p:cNvPr id="42" name="Text 31"/>
          <p:cNvSpPr txBox="1"/>
          <p:nvPr/>
        </p:nvSpPr>
        <p:spPr>
          <a:xfrm>
            <a:off x="8643823" y="5684825"/>
            <a:ext cx="2417674" cy="4005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CBD5E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"후쿠시마 사고 이후 한국 원전 정책의 변화"</a:t>
            </a:r>
            <a:endParaRPr lang="en-US" sz="1000" dirty="0"/>
          </a:p>
        </p:txBody>
      </p:sp>
      <p:sp>
        <p:nvSpPr>
          <p:cNvPr id="43" name="Text 32"/>
          <p:cNvSpPr txBox="1"/>
          <p:nvPr/>
        </p:nvSpPr>
        <p:spPr>
          <a:xfrm>
            <a:off x="8643823" y="6144768"/>
            <a:ext cx="1292047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CBD5E1">
                    <a:alpha val="80000"/>
                  </a:srgbClr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(특정 사건·국가로 한정)</a:t>
            </a:r>
            <a:endParaRPr lang="en-US" sz="900" dirty="0"/>
          </a:p>
        </p:txBody>
      </p:sp>
      <p:sp>
        <p:nvSpPr>
          <p:cNvPr id="44" name="deckgen:wrap:footer"/>
          <p:cNvSpPr txBox="1"/>
          <p:nvPr/>
        </p:nvSpPr>
        <p:spPr>
          <a:xfrm>
            <a:off x="365760" y="6549390"/>
            <a:ext cx="11460480" cy="240030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0">
                <a:solidFill>
                  <a:srgbClr val="8A8F99"/>
                </a:solidFill>
                <a:latin typeface="Pretendard"/>
              </a:rPr>
              <a:t>© 2026 이애본 · 홍문원(洪文院) 발행 · CC BY-NC-ND 4.0 · useful-ai.dreamitbiz.com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0F0F0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204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" name="Shape 2"/>
          <p:cNvSpPr/>
          <p:nvPr/>
        </p:nvSpPr>
        <p:spPr>
          <a:xfrm>
            <a:off x="761695" y="476402"/>
            <a:ext cx="571500" cy="57607"/>
          </a:xfrm>
          <a:prstGeom prst="rect">
            <a:avLst/>
          </a:prstGeom>
          <a:solidFill>
            <a:srgbClr val="00BBF0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 txBox="1"/>
          <p:nvPr/>
        </p:nvSpPr>
        <p:spPr>
          <a:xfrm>
            <a:off x="761695" y="657454"/>
            <a:ext cx="7029907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주제문과 키워드: 정보에서 주장으로</a:t>
            </a:r>
            <a:endParaRPr lang="en-US" sz="3600" dirty="0"/>
          </a:p>
        </p:txBody>
      </p:sp>
      <p:sp>
        <p:nvSpPr>
          <p:cNvPr id="6" name="Text 4"/>
          <p:cNvSpPr txBox="1"/>
          <p:nvPr/>
        </p:nvSpPr>
        <p:spPr>
          <a:xfrm>
            <a:off x="761695" y="1387145"/>
            <a:ext cx="5448910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dirty="0">
                <a:solidFill>
                  <a:srgbClr val="CBD5E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단순한 정보 나열을 넘어 '나만의 관점'이 담긴 주제문을 완성하세요.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761695" y="3057754"/>
            <a:ext cx="4038905" cy="9144"/>
          </a:xfrm>
          <a:prstGeom prst="rect">
            <a:avLst/>
          </a:prstGeom>
          <a:solidFill>
            <a:srgbClr val="FFFFFF">
              <a:alpha val="20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761695" y="2600554"/>
            <a:ext cx="228600" cy="228600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1133856" y="2524658"/>
            <a:ext cx="1752905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주제문의 조건</a:t>
            </a:r>
            <a:endParaRPr lang="en-US" sz="2100" dirty="0"/>
          </a:p>
        </p:txBody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rcRect t="-2725" b="-2725"/>
          <a:stretch/>
        </p:blipFill>
        <p:spPr>
          <a:xfrm>
            <a:off x="761695" y="3409798"/>
            <a:ext cx="142646" cy="171907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1047902" y="3353105"/>
            <a:ext cx="181051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공식: 주제 + 주장 = 주제문</a:t>
            </a:r>
            <a:endParaRPr lang="en-US" sz="1200" dirty="0"/>
          </a:p>
        </p:txBody>
      </p:sp>
      <p:sp>
        <p:nvSpPr>
          <p:cNvPr id="12" name="Text 8"/>
          <p:cNvSpPr txBox="1"/>
          <p:nvPr/>
        </p:nvSpPr>
        <p:spPr>
          <a:xfrm>
            <a:off x="1047902" y="3581705"/>
            <a:ext cx="3829507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사실을 나열하는 것은 리포트가 아닙니다. 주제에 대한 나만의 해석과 주장이 반드시 포함되어야 합니다.</a:t>
            </a:r>
            <a:endParaRPr lang="en-US" sz="1200" dirty="0"/>
          </a:p>
        </p:txBody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4"/>
          <a:srcRect t="-2725" b="-2725"/>
          <a:stretch/>
        </p:blipFill>
        <p:spPr>
          <a:xfrm>
            <a:off x="761695" y="4334256"/>
            <a:ext cx="142646" cy="171907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1047902" y="4276649"/>
            <a:ext cx="1743761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질문을 주장으로 변환하기</a:t>
            </a:r>
            <a:endParaRPr lang="en-US" sz="1200" dirty="0"/>
          </a:p>
        </p:txBody>
      </p:sp>
      <p:sp>
        <p:nvSpPr>
          <p:cNvPr id="15" name="Text 10"/>
          <p:cNvSpPr txBox="1"/>
          <p:nvPr/>
        </p:nvSpPr>
        <p:spPr>
          <a:xfrm>
            <a:off x="1047902" y="4505249"/>
            <a:ext cx="3829507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과제 질문을 하나씩 지워가는 체크리스트로 대하지 말고, 이를 관통하는 하나의 논리로 통합하세요.</a:t>
            </a:r>
            <a:endParaRPr lang="en-US" sz="1200" dirty="0"/>
          </a:p>
        </p:txBody>
      </p:sp>
      <p:pic>
        <p:nvPicPr>
          <p:cNvPr id="16" name="Image 3" descr="preencoded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761695" y="5257800"/>
            <a:ext cx="171907" cy="171907"/>
          </a:xfrm>
          <a:prstGeom prst="rect">
            <a:avLst/>
          </a:prstGeom>
        </p:spPr>
      </p:pic>
      <p:sp>
        <p:nvSpPr>
          <p:cNvPr id="17" name="Text 11"/>
          <p:cNvSpPr txBox="1"/>
          <p:nvPr/>
        </p:nvSpPr>
        <p:spPr>
          <a:xfrm>
            <a:off x="1076249" y="5201107"/>
            <a:ext cx="1191463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키워드 발굴 루틴</a:t>
            </a:r>
            <a:endParaRPr lang="en-US" sz="1200" dirty="0"/>
          </a:p>
        </p:txBody>
      </p:sp>
      <p:sp>
        <p:nvSpPr>
          <p:cNvPr id="18" name="Text 12"/>
          <p:cNvSpPr txBox="1"/>
          <p:nvPr/>
        </p:nvSpPr>
        <p:spPr>
          <a:xfrm>
            <a:off x="1076249" y="5429707"/>
            <a:ext cx="373441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DBpia, 구글 알리미, 뉴스레터 등을 구독하여 평소에 관심 분야의 키워드에 지속적으로 노출되세요.</a:t>
            </a:r>
            <a:endParaRPr lang="en-US" sz="1200" dirty="0"/>
          </a:p>
        </p:txBody>
      </p:sp>
      <p:sp>
        <p:nvSpPr>
          <p:cNvPr id="19" name="Shape 13"/>
          <p:cNvSpPr/>
          <p:nvPr/>
        </p:nvSpPr>
        <p:spPr>
          <a:xfrm>
            <a:off x="5372100" y="1958645"/>
            <a:ext cx="6057900" cy="4486046"/>
          </a:xfrm>
          <a:prstGeom prst="roundRect">
            <a:avLst>
              <a:gd name="adj" fmla="val 173"/>
            </a:avLst>
          </a:prstGeom>
          <a:solidFill>
            <a:srgbClr val="00BBF0">
              <a:alpha val="3000"/>
            </a:srgbClr>
          </a:solidFill>
          <a:ln w="12700">
            <a:solidFill>
              <a:srgbClr val="00BBF0">
                <a:alpha val="30000"/>
              </a:srgbClr>
            </a:solidFill>
            <a:prstDash val="solid"/>
          </a:ln>
          <a:effectLst>
            <a:outerShdw blurRad="190500" dist="38100" dir="54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pic>
        <p:nvPicPr>
          <p:cNvPr id="20" name="Image 4" descr="preencoded.png"/>
          <p:cNvPicPr>
            <a:picLocks noChangeAspect="1"/>
          </p:cNvPicPr>
          <p:nvPr/>
        </p:nvPicPr>
        <p:blipFill>
          <a:blip r:embed="rId6"/>
          <a:srcRect l="-1773" r="-1773"/>
          <a:stretch/>
        </p:blipFill>
        <p:spPr>
          <a:xfrm>
            <a:off x="5667451" y="2293315"/>
            <a:ext cx="133502" cy="171907"/>
          </a:xfrm>
          <a:prstGeom prst="rect">
            <a:avLst/>
          </a:prstGeom>
        </p:spPr>
      </p:pic>
      <p:sp>
        <p:nvSpPr>
          <p:cNvPr id="21" name="Text 14"/>
          <p:cNvSpPr txBox="1"/>
          <p:nvPr/>
        </p:nvSpPr>
        <p:spPr>
          <a:xfrm>
            <a:off x="5876849" y="2253996"/>
            <a:ext cx="1383487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주제문 변환 예시</a:t>
            </a:r>
            <a:endParaRPr lang="en-US" sz="1300" dirty="0"/>
          </a:p>
        </p:txBody>
      </p:sp>
      <p:sp>
        <p:nvSpPr>
          <p:cNvPr id="22" name="Shape 15"/>
          <p:cNvSpPr/>
          <p:nvPr/>
        </p:nvSpPr>
        <p:spPr>
          <a:xfrm>
            <a:off x="5667451" y="2695651"/>
            <a:ext cx="5467198" cy="1171346"/>
          </a:xfrm>
          <a:prstGeom prst="rect">
            <a:avLst/>
          </a:prstGeom>
          <a:solidFill>
            <a:srgbClr val="000000">
              <a:alpha val="20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3" name="Shape 16"/>
          <p:cNvSpPr/>
          <p:nvPr/>
        </p:nvSpPr>
        <p:spPr>
          <a:xfrm>
            <a:off x="5667451" y="2695651"/>
            <a:ext cx="38405" cy="1171346"/>
          </a:xfrm>
          <a:prstGeom prst="rect">
            <a:avLst/>
          </a:prstGeom>
          <a:solidFill>
            <a:srgbClr val="64748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4" name="Text 17"/>
          <p:cNvSpPr txBox="1"/>
          <p:nvPr/>
        </p:nvSpPr>
        <p:spPr>
          <a:xfrm>
            <a:off x="5896051" y="2885846"/>
            <a:ext cx="1675181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94A3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BEFORE: 단순 정보 나열</a:t>
            </a:r>
            <a:endParaRPr lang="en-US" sz="1000" dirty="0"/>
          </a:p>
        </p:txBody>
      </p:sp>
      <p:sp>
        <p:nvSpPr>
          <p:cNvPr id="25" name="Text 18"/>
          <p:cNvSpPr txBox="1"/>
          <p:nvPr/>
        </p:nvSpPr>
        <p:spPr>
          <a:xfrm>
            <a:off x="5896051" y="3168396"/>
            <a:ext cx="5041087" cy="4956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E2E8F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"최근 청년 실업의 현황을 살펴보고, 정부가 시행 중인 여러 가지 정책들을 조사한다."</a:t>
            </a:r>
            <a:endParaRPr lang="en-US" sz="1300" dirty="0"/>
          </a:p>
        </p:txBody>
      </p:sp>
      <p:sp>
        <p:nvSpPr>
          <p:cNvPr id="26" name="Shape 19"/>
          <p:cNvSpPr/>
          <p:nvPr/>
        </p:nvSpPr>
        <p:spPr>
          <a:xfrm>
            <a:off x="5667451" y="4004158"/>
            <a:ext cx="5467198" cy="1171346"/>
          </a:xfrm>
          <a:prstGeom prst="rect">
            <a:avLst/>
          </a:prstGeom>
          <a:solidFill>
            <a:srgbClr val="00BBF0">
              <a:alpha val="10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7" name="Shape 20"/>
          <p:cNvSpPr/>
          <p:nvPr/>
        </p:nvSpPr>
        <p:spPr>
          <a:xfrm>
            <a:off x="5667451" y="4004158"/>
            <a:ext cx="38405" cy="1171346"/>
          </a:xfrm>
          <a:prstGeom prst="rect">
            <a:avLst/>
          </a:prstGeom>
          <a:solidFill>
            <a:srgbClr val="00BBF0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8" name="Text 21"/>
          <p:cNvSpPr txBox="1"/>
          <p:nvPr/>
        </p:nvSpPr>
        <p:spPr>
          <a:xfrm>
            <a:off x="5896051" y="4195267"/>
            <a:ext cx="2074774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38BDF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AFTER: 명확한 주장 (THESIS)</a:t>
            </a:r>
            <a:endParaRPr lang="en-US" sz="1000" dirty="0"/>
          </a:p>
        </p:txBody>
      </p:sp>
      <p:sp>
        <p:nvSpPr>
          <p:cNvPr id="29" name="Text 22"/>
          <p:cNvSpPr txBox="1"/>
          <p:nvPr/>
        </p:nvSpPr>
        <p:spPr>
          <a:xfrm>
            <a:off x="5896051" y="4476902"/>
            <a:ext cx="5164531" cy="4956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"청년 실업은 노동 시장의 구조적 불일치에서 기인한다. 따라서 단기 재정 지원보다는 교육과 산업을 연계한 장기적 정책 전환이 병행되어야 한다."</a:t>
            </a:r>
            <a:endParaRPr lang="en-US" sz="1300" dirty="0"/>
          </a:p>
        </p:txBody>
      </p:sp>
      <p:sp>
        <p:nvSpPr>
          <p:cNvPr id="30" name="Shape 23"/>
          <p:cNvSpPr/>
          <p:nvPr/>
        </p:nvSpPr>
        <p:spPr>
          <a:xfrm>
            <a:off x="5667451" y="5408676"/>
            <a:ext cx="5467198" cy="743407"/>
          </a:xfrm>
          <a:prstGeom prst="roundRect">
            <a:avLst>
              <a:gd name="adj" fmla="val 6308"/>
            </a:avLst>
          </a:prstGeom>
          <a:solidFill>
            <a:srgbClr val="FBBF24">
              <a:alpha val="5000"/>
            </a:srgbClr>
          </a:solidFill>
          <a:ln w="12700">
            <a:solidFill>
              <a:srgbClr val="FBBF24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31" name="Image 5" descr="preencoded.png"/>
          <p:cNvPicPr>
            <a:picLocks noChangeAspect="1"/>
          </p:cNvPicPr>
          <p:nvPr/>
        </p:nvPicPr>
        <p:blipFill>
          <a:blip r:embed="rId7"/>
          <a:srcRect t="-556" b="-556"/>
          <a:stretch/>
        </p:blipFill>
        <p:spPr>
          <a:xfrm>
            <a:off x="5820156" y="5598871"/>
            <a:ext cx="123444" cy="142646"/>
          </a:xfrm>
          <a:prstGeom prst="rect">
            <a:avLst/>
          </a:prstGeom>
        </p:spPr>
      </p:pic>
      <p:sp>
        <p:nvSpPr>
          <p:cNvPr id="32" name="Text 24"/>
          <p:cNvSpPr txBox="1"/>
          <p:nvPr/>
        </p:nvSpPr>
        <p:spPr>
          <a:xfrm>
            <a:off x="6057900" y="5561381"/>
            <a:ext cx="5033772" cy="4288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FCD34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좋은 주제문은 리포트의 내용을 단 한 문장으로 요약할 수 있어야 합니다. </a:t>
            </a:r>
          </a:p>
          <a:p>
            <a:pPr marL="0" indent="0" algn="l">
              <a:buNone/>
            </a:pPr>
            <a:r>
              <a:rPr lang="en-US" sz="1100" dirty="0">
                <a:solidFill>
                  <a:srgbClr val="FCD34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이 문장이 곧 리포트의 뼈대가 됩니다.</a:t>
            </a:r>
            <a:endParaRPr lang="en-US" sz="1100" dirty="0"/>
          </a:p>
        </p:txBody>
      </p:sp>
      <p:sp>
        <p:nvSpPr>
          <p:cNvPr id="33" name="deckgen:wrap:footer"/>
          <p:cNvSpPr txBox="1"/>
          <p:nvPr/>
        </p:nvSpPr>
        <p:spPr>
          <a:xfrm>
            <a:off x="365760" y="6549390"/>
            <a:ext cx="11460480" cy="240030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0">
                <a:solidFill>
                  <a:srgbClr val="8A8F99"/>
                </a:solidFill>
                <a:latin typeface="Pretendard"/>
              </a:rPr>
              <a:t>© 2026 이애본 · 홍문원(洪文院) 발행 · CC BY-NC-ND 4.0 · useful-ai.dreamitbiz.com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0F0F0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204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" name="Shape 2"/>
          <p:cNvSpPr/>
          <p:nvPr/>
        </p:nvSpPr>
        <p:spPr>
          <a:xfrm>
            <a:off x="761695" y="476402"/>
            <a:ext cx="571500" cy="57607"/>
          </a:xfrm>
          <a:prstGeom prst="rect">
            <a:avLst/>
          </a:prstGeom>
          <a:solidFill>
            <a:srgbClr val="00BBF0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 txBox="1"/>
          <p:nvPr/>
        </p:nvSpPr>
        <p:spPr>
          <a:xfrm>
            <a:off x="761695" y="657454"/>
            <a:ext cx="5915254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자료 조사: 출처의 격을 높여라</a:t>
            </a:r>
            <a:endParaRPr lang="en-US" sz="3600" dirty="0"/>
          </a:p>
        </p:txBody>
      </p:sp>
      <p:sp>
        <p:nvSpPr>
          <p:cNvPr id="6" name="Text 4"/>
          <p:cNvSpPr txBox="1"/>
          <p:nvPr/>
        </p:nvSpPr>
        <p:spPr>
          <a:xfrm>
            <a:off x="761695" y="1387145"/>
            <a:ext cx="7210958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dirty="0">
                <a:solidFill>
                  <a:srgbClr val="CBD5E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어떤 자료를 인용하느냐가 리포트의 신뢰도를 결정합니다. 공신력 있는 자료를 선별하세요.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761695" y="3076956"/>
            <a:ext cx="4028846" cy="9144"/>
          </a:xfrm>
          <a:prstGeom prst="rect">
            <a:avLst/>
          </a:prstGeom>
          <a:solidFill>
            <a:srgbClr val="FFFFFF">
              <a:alpha val="20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rcRect t="-45" b="-45"/>
          <a:stretch/>
        </p:blipFill>
        <p:spPr>
          <a:xfrm>
            <a:off x="761695" y="2619756"/>
            <a:ext cx="256946" cy="228600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1162202" y="2542946"/>
            <a:ext cx="1752905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출처 우선순위</a:t>
            </a:r>
            <a:endParaRPr lang="en-US" sz="2100" dirty="0"/>
          </a:p>
        </p:txBody>
      </p:sp>
      <p:sp>
        <p:nvSpPr>
          <p:cNvPr id="10" name="Shape 7"/>
          <p:cNvSpPr/>
          <p:nvPr/>
        </p:nvSpPr>
        <p:spPr>
          <a:xfrm>
            <a:off x="761695" y="3409798"/>
            <a:ext cx="571500" cy="286207"/>
          </a:xfrm>
          <a:prstGeom prst="roundRect">
            <a:avLst>
              <a:gd name="adj" fmla="val 42599"/>
            </a:avLst>
          </a:prstGeom>
          <a:solidFill>
            <a:srgbClr val="00BBF0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1" name="Text 8"/>
          <p:cNvSpPr txBox="1"/>
          <p:nvPr/>
        </p:nvSpPr>
        <p:spPr>
          <a:xfrm>
            <a:off x="812069" y="3448202"/>
            <a:ext cx="446227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0204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1순위</a:t>
            </a:r>
            <a:endParaRPr lang="en-US" sz="1000" dirty="0"/>
          </a:p>
        </p:txBody>
      </p:sp>
      <p:sp>
        <p:nvSpPr>
          <p:cNvPr id="12" name="Text 9"/>
          <p:cNvSpPr txBox="1"/>
          <p:nvPr/>
        </p:nvSpPr>
        <p:spPr>
          <a:xfrm>
            <a:off x="1476756" y="3372307"/>
            <a:ext cx="3429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공적 지식 (논문, 학술 보고서)</a:t>
            </a:r>
            <a:endParaRPr lang="en-US" sz="1200" dirty="0"/>
          </a:p>
        </p:txBody>
      </p:sp>
      <p:sp>
        <p:nvSpPr>
          <p:cNvPr id="13" name="Text 10"/>
          <p:cNvSpPr txBox="1"/>
          <p:nvPr/>
        </p:nvSpPr>
        <p:spPr>
          <a:xfrm>
            <a:off x="1476756" y="3600907"/>
            <a:ext cx="3429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DBpia, 대학 도서관 등에서 검증된 연구 결과.가장 객관적이고 체계적인 근거입니다.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761695" y="4381805"/>
            <a:ext cx="571500" cy="304495"/>
          </a:xfrm>
          <a:prstGeom prst="roundRect">
            <a:avLst>
              <a:gd name="adj" fmla="val 37538"/>
            </a:avLst>
          </a:prstGeom>
          <a:noFill/>
          <a:ln w="12700">
            <a:solidFill>
              <a:srgbClr val="00BB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" name="Text 12"/>
          <p:cNvSpPr txBox="1"/>
          <p:nvPr/>
        </p:nvSpPr>
        <p:spPr>
          <a:xfrm>
            <a:off x="812069" y="4429354"/>
            <a:ext cx="446227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0BBF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2순위</a:t>
            </a:r>
            <a:endParaRPr lang="en-US" sz="1000" dirty="0"/>
          </a:p>
        </p:txBody>
      </p:sp>
      <p:sp>
        <p:nvSpPr>
          <p:cNvPr id="16" name="Text 13"/>
          <p:cNvSpPr txBox="1"/>
          <p:nvPr/>
        </p:nvSpPr>
        <p:spPr>
          <a:xfrm>
            <a:off x="1476756" y="4343400"/>
            <a:ext cx="3429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신뢰할 수 있는 언론</a:t>
            </a:r>
            <a:endParaRPr lang="en-US" sz="1200" dirty="0"/>
          </a:p>
        </p:txBody>
      </p:sp>
      <p:sp>
        <p:nvSpPr>
          <p:cNvPr id="17" name="Text 14"/>
          <p:cNvSpPr txBox="1"/>
          <p:nvPr/>
        </p:nvSpPr>
        <p:spPr>
          <a:xfrm>
            <a:off x="1476756" y="4572000"/>
            <a:ext cx="3429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주요 일간지의 기획 기사, 전문 매체의 데이터.데스크의 팩트 체크를 거친 정보입니다.</a:t>
            </a:r>
            <a:endParaRPr lang="en-US" sz="1200" dirty="0"/>
          </a:p>
        </p:txBody>
      </p:sp>
      <p:sp>
        <p:nvSpPr>
          <p:cNvPr id="18" name="Shape 15"/>
          <p:cNvSpPr/>
          <p:nvPr/>
        </p:nvSpPr>
        <p:spPr>
          <a:xfrm>
            <a:off x="761695" y="5352898"/>
            <a:ext cx="571500" cy="304495"/>
          </a:xfrm>
          <a:prstGeom prst="roundRect">
            <a:avLst>
              <a:gd name="adj" fmla="val 37538"/>
            </a:avLst>
          </a:prstGeom>
          <a:noFill/>
          <a:ln w="12700">
            <a:solidFill>
              <a:srgbClr val="FBBF2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9" name="Text 16"/>
          <p:cNvSpPr txBox="1"/>
          <p:nvPr/>
        </p:nvSpPr>
        <p:spPr>
          <a:xfrm>
            <a:off x="854131" y="5400446"/>
            <a:ext cx="360274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BBF2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주의</a:t>
            </a:r>
            <a:endParaRPr lang="en-US" sz="1000" dirty="0"/>
          </a:p>
        </p:txBody>
      </p:sp>
      <p:sp>
        <p:nvSpPr>
          <p:cNvPr id="20" name="Text 17"/>
          <p:cNvSpPr txBox="1"/>
          <p:nvPr/>
        </p:nvSpPr>
        <p:spPr>
          <a:xfrm>
            <a:off x="1476756" y="5315407"/>
            <a:ext cx="3429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SNS · 위키 · 생성형 AI</a:t>
            </a:r>
            <a:endParaRPr lang="en-US" sz="1200" dirty="0"/>
          </a:p>
        </p:txBody>
      </p:sp>
      <p:sp>
        <p:nvSpPr>
          <p:cNvPr id="21" name="Text 18"/>
          <p:cNvSpPr txBox="1"/>
          <p:nvPr/>
        </p:nvSpPr>
        <p:spPr>
          <a:xfrm>
            <a:off x="1476756" y="5544007"/>
            <a:ext cx="3429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출처 불분명, 개인적 의견, 할루시네이션 위험.아이디어 참고용으로만 사용하세요.</a:t>
            </a:r>
            <a:endParaRPr lang="en-US" sz="1200" dirty="0"/>
          </a:p>
        </p:txBody>
      </p:sp>
      <p:sp>
        <p:nvSpPr>
          <p:cNvPr id="22" name="Shape 19"/>
          <p:cNvSpPr/>
          <p:nvPr/>
        </p:nvSpPr>
        <p:spPr>
          <a:xfrm>
            <a:off x="5362956" y="1958645"/>
            <a:ext cx="6067044" cy="2180844"/>
          </a:xfrm>
          <a:prstGeom prst="roundRect">
            <a:avLst>
              <a:gd name="adj" fmla="val 732"/>
            </a:avLst>
          </a:prstGeom>
          <a:solidFill>
            <a:srgbClr val="FFFFFF">
              <a:alpha val="5000"/>
            </a:srgbClr>
          </a:solidFill>
          <a:ln w="12700">
            <a:solidFill>
              <a:srgbClr val="FFFFFF">
                <a:alpha val="1000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23" name="Image 1" descr="preencoded.png"/>
          <p:cNvPicPr>
            <a:picLocks noChangeAspect="1"/>
          </p:cNvPicPr>
          <p:nvPr/>
        </p:nvPicPr>
        <p:blipFill>
          <a:blip r:embed="rId4"/>
          <a:srcRect l="-1773" r="-1773"/>
          <a:stretch/>
        </p:blipFill>
        <p:spPr>
          <a:xfrm>
            <a:off x="5609844" y="2245766"/>
            <a:ext cx="133502" cy="171907"/>
          </a:xfrm>
          <a:prstGeom prst="rect">
            <a:avLst/>
          </a:prstGeom>
        </p:spPr>
      </p:pic>
      <p:sp>
        <p:nvSpPr>
          <p:cNvPr id="24" name="Text 20"/>
          <p:cNvSpPr txBox="1"/>
          <p:nvPr/>
        </p:nvSpPr>
        <p:spPr>
          <a:xfrm>
            <a:off x="5820156" y="2205533"/>
            <a:ext cx="2030882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60A5F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자료 검증 3대 체크리스트</a:t>
            </a:r>
            <a:endParaRPr lang="en-US" sz="1300" dirty="0"/>
          </a:p>
        </p:txBody>
      </p:sp>
      <p:sp>
        <p:nvSpPr>
          <p:cNvPr id="25" name="Shape 21"/>
          <p:cNvSpPr/>
          <p:nvPr/>
        </p:nvSpPr>
        <p:spPr>
          <a:xfrm>
            <a:off x="5609844" y="2600554"/>
            <a:ext cx="1762049" cy="1285646"/>
          </a:xfrm>
          <a:prstGeom prst="roundRect">
            <a:avLst>
              <a:gd name="adj" fmla="val 2107"/>
            </a:avLst>
          </a:prstGeom>
          <a:solidFill>
            <a:srgbClr val="000000">
              <a:alpha val="20000"/>
            </a:srgbClr>
          </a:solidFill>
          <a:ln w="12700">
            <a:solidFill>
              <a:srgbClr val="FFFFFF">
                <a:alpha val="500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26" name="Image 2" descr="preencoded.png"/>
          <p:cNvPicPr>
            <a:picLocks noChangeAspect="1"/>
          </p:cNvPicPr>
          <p:nvPr/>
        </p:nvPicPr>
        <p:blipFill>
          <a:blip r:embed="rId5"/>
          <a:srcRect l="-289600" r="-289600"/>
          <a:stretch/>
        </p:blipFill>
        <p:spPr>
          <a:xfrm>
            <a:off x="3033979" y="2301545"/>
            <a:ext cx="6986930" cy="1028700"/>
          </a:xfrm>
          <a:prstGeom prst="rect">
            <a:avLst/>
          </a:prstGeom>
        </p:spPr>
      </p:pic>
      <p:sp>
        <p:nvSpPr>
          <p:cNvPr id="27" name="Text 22"/>
          <p:cNvSpPr txBox="1"/>
          <p:nvPr/>
        </p:nvSpPr>
        <p:spPr>
          <a:xfrm>
            <a:off x="6205118" y="3010205"/>
            <a:ext cx="69037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사실 검증</a:t>
            </a:r>
            <a:endParaRPr lang="en-US" sz="1100" dirty="0"/>
          </a:p>
        </p:txBody>
      </p:sp>
      <p:sp>
        <p:nvSpPr>
          <p:cNvPr id="28" name="Text 23"/>
          <p:cNvSpPr txBox="1"/>
          <p:nvPr/>
        </p:nvSpPr>
        <p:spPr>
          <a:xfrm>
            <a:off x="6194146" y="3312871"/>
            <a:ext cx="692201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4A3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교차 확인이</a:t>
            </a:r>
            <a:endParaRPr lang="en-US" sz="900" dirty="0"/>
          </a:p>
        </p:txBody>
      </p:sp>
      <p:sp>
        <p:nvSpPr>
          <p:cNvPr id="29" name="Text 24"/>
          <p:cNvSpPr txBox="1"/>
          <p:nvPr/>
        </p:nvSpPr>
        <p:spPr>
          <a:xfrm>
            <a:off x="6238037" y="3541471"/>
            <a:ext cx="606247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4A3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가능한가?</a:t>
            </a:r>
            <a:endParaRPr lang="en-US" sz="900" dirty="0"/>
          </a:p>
        </p:txBody>
      </p:sp>
      <p:sp>
        <p:nvSpPr>
          <p:cNvPr id="30" name="Shape 25"/>
          <p:cNvSpPr/>
          <p:nvPr/>
        </p:nvSpPr>
        <p:spPr>
          <a:xfrm>
            <a:off x="7515454" y="2600554"/>
            <a:ext cx="1762049" cy="1285646"/>
          </a:xfrm>
          <a:prstGeom prst="roundRect">
            <a:avLst>
              <a:gd name="adj" fmla="val 2107"/>
            </a:avLst>
          </a:prstGeom>
          <a:solidFill>
            <a:srgbClr val="000000">
              <a:alpha val="20000"/>
            </a:srgbClr>
          </a:solidFill>
          <a:ln w="12700">
            <a:solidFill>
              <a:srgbClr val="FFFFFF">
                <a:alpha val="500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31" name="Image 3" descr="preencoded.png"/>
          <p:cNvPicPr>
            <a:picLocks noChangeAspect="1"/>
          </p:cNvPicPr>
          <p:nvPr/>
        </p:nvPicPr>
        <p:blipFill>
          <a:blip r:embed="rId6"/>
          <a:srcRect l="-289600" r="-289600"/>
          <a:stretch/>
        </p:blipFill>
        <p:spPr>
          <a:xfrm>
            <a:off x="4938674" y="2301545"/>
            <a:ext cx="6986930" cy="1028700"/>
          </a:xfrm>
          <a:prstGeom prst="rect">
            <a:avLst/>
          </a:prstGeom>
        </p:spPr>
      </p:pic>
      <p:sp>
        <p:nvSpPr>
          <p:cNvPr id="32" name="Text 26"/>
          <p:cNvSpPr txBox="1"/>
          <p:nvPr/>
        </p:nvSpPr>
        <p:spPr>
          <a:xfrm>
            <a:off x="8196682" y="3010205"/>
            <a:ext cx="509321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최신성</a:t>
            </a:r>
            <a:endParaRPr lang="en-US" sz="1100" dirty="0"/>
          </a:p>
        </p:txBody>
      </p:sp>
      <p:sp>
        <p:nvSpPr>
          <p:cNvPr id="33" name="Text 27"/>
          <p:cNvSpPr txBox="1"/>
          <p:nvPr/>
        </p:nvSpPr>
        <p:spPr>
          <a:xfrm>
            <a:off x="8043062" y="3312871"/>
            <a:ext cx="806501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4A3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최근 데이터를</a:t>
            </a:r>
            <a:endParaRPr lang="en-US" sz="900" dirty="0"/>
          </a:p>
        </p:txBody>
      </p:sp>
      <p:sp>
        <p:nvSpPr>
          <p:cNvPr id="34" name="Text 28"/>
          <p:cNvSpPr txBox="1"/>
          <p:nvPr/>
        </p:nvSpPr>
        <p:spPr>
          <a:xfrm>
            <a:off x="8086954" y="3541471"/>
            <a:ext cx="711403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4A3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반영했는가?</a:t>
            </a:r>
            <a:endParaRPr lang="en-US" sz="900" dirty="0"/>
          </a:p>
        </p:txBody>
      </p:sp>
      <p:sp>
        <p:nvSpPr>
          <p:cNvPr id="35" name="Shape 29"/>
          <p:cNvSpPr/>
          <p:nvPr/>
        </p:nvSpPr>
        <p:spPr>
          <a:xfrm>
            <a:off x="9420149" y="2600554"/>
            <a:ext cx="1762049" cy="1285646"/>
          </a:xfrm>
          <a:prstGeom prst="roundRect">
            <a:avLst>
              <a:gd name="adj" fmla="val 2107"/>
            </a:avLst>
          </a:prstGeom>
          <a:solidFill>
            <a:srgbClr val="000000">
              <a:alpha val="20000"/>
            </a:srgbClr>
          </a:solidFill>
          <a:ln w="12700">
            <a:solidFill>
              <a:srgbClr val="FFFFFF">
                <a:alpha val="500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36" name="Image 4" descr="preencoded.png"/>
          <p:cNvPicPr>
            <a:picLocks noChangeAspect="1"/>
          </p:cNvPicPr>
          <p:nvPr/>
        </p:nvPicPr>
        <p:blipFill>
          <a:blip r:embed="rId7"/>
          <a:srcRect l="-221680" r="-221680"/>
          <a:stretch/>
        </p:blipFill>
        <p:spPr>
          <a:xfrm>
            <a:off x="6844284" y="2301545"/>
            <a:ext cx="6986930" cy="1028700"/>
          </a:xfrm>
          <a:prstGeom prst="rect">
            <a:avLst/>
          </a:prstGeom>
        </p:spPr>
      </p:pic>
      <p:sp>
        <p:nvSpPr>
          <p:cNvPr id="37" name="Text 30"/>
          <p:cNvSpPr txBox="1"/>
          <p:nvPr/>
        </p:nvSpPr>
        <p:spPr>
          <a:xfrm>
            <a:off x="10101377" y="3010205"/>
            <a:ext cx="509321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대표성</a:t>
            </a:r>
            <a:endParaRPr lang="en-US" sz="1100" dirty="0"/>
          </a:p>
        </p:txBody>
      </p:sp>
      <p:sp>
        <p:nvSpPr>
          <p:cNvPr id="38" name="Text 31"/>
          <p:cNvSpPr txBox="1"/>
          <p:nvPr/>
        </p:nvSpPr>
        <p:spPr>
          <a:xfrm>
            <a:off x="9947758" y="3312871"/>
            <a:ext cx="806501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4A3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편향되지 않은</a:t>
            </a:r>
            <a:endParaRPr lang="en-US" sz="900" dirty="0"/>
          </a:p>
        </p:txBody>
      </p:sp>
      <p:sp>
        <p:nvSpPr>
          <p:cNvPr id="39" name="Text 32"/>
          <p:cNvSpPr txBox="1"/>
          <p:nvPr/>
        </p:nvSpPr>
        <p:spPr>
          <a:xfrm>
            <a:off x="10048342" y="3541471"/>
            <a:ext cx="606247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4A3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표본인가?</a:t>
            </a:r>
            <a:endParaRPr lang="en-US" sz="900" dirty="0"/>
          </a:p>
        </p:txBody>
      </p:sp>
      <p:sp>
        <p:nvSpPr>
          <p:cNvPr id="40" name="Shape 33"/>
          <p:cNvSpPr/>
          <p:nvPr/>
        </p:nvSpPr>
        <p:spPr>
          <a:xfrm>
            <a:off x="5362956" y="4322369"/>
            <a:ext cx="6067044" cy="2257654"/>
          </a:xfrm>
          <a:prstGeom prst="roundRect">
            <a:avLst>
              <a:gd name="adj" fmla="val 684"/>
            </a:avLst>
          </a:prstGeom>
          <a:solidFill>
            <a:srgbClr val="FFFFFF">
              <a:alpha val="5000"/>
            </a:srgbClr>
          </a:solidFill>
          <a:ln w="12700">
            <a:solidFill>
              <a:srgbClr val="FFFFFF">
                <a:alpha val="1000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41" name="Image 5" descr="preencoded.png"/>
          <p:cNvPicPr>
            <a:picLocks noChangeAspect="1"/>
          </p:cNvPicPr>
          <p:nvPr/>
        </p:nvPicPr>
        <p:blipFill>
          <a:blip r:embed="rId8"/>
          <a:srcRect/>
          <a:stretch/>
        </p:blipFill>
        <p:spPr>
          <a:xfrm>
            <a:off x="5609844" y="4610405"/>
            <a:ext cx="171907" cy="171907"/>
          </a:xfrm>
          <a:prstGeom prst="rect">
            <a:avLst/>
          </a:prstGeom>
        </p:spPr>
      </p:pic>
      <p:sp>
        <p:nvSpPr>
          <p:cNvPr id="42" name="Text 34"/>
          <p:cNvSpPr txBox="1"/>
          <p:nvPr/>
        </p:nvSpPr>
        <p:spPr>
          <a:xfrm>
            <a:off x="5857646" y="4570171"/>
            <a:ext cx="1383487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60A5F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서지정보 기록 팁</a:t>
            </a:r>
            <a:endParaRPr lang="en-US" sz="1300" dirty="0"/>
          </a:p>
        </p:txBody>
      </p:sp>
      <p:sp>
        <p:nvSpPr>
          <p:cNvPr id="43" name="Shape 35"/>
          <p:cNvSpPr/>
          <p:nvPr/>
        </p:nvSpPr>
        <p:spPr>
          <a:xfrm>
            <a:off x="5609844" y="4964278"/>
            <a:ext cx="5572354" cy="1371600"/>
          </a:xfrm>
          <a:prstGeom prst="rect">
            <a:avLst/>
          </a:prstGeom>
          <a:solidFill>
            <a:srgbClr val="00204A">
              <a:alpha val="50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4" name="Shape 36"/>
          <p:cNvSpPr/>
          <p:nvPr/>
        </p:nvSpPr>
        <p:spPr>
          <a:xfrm>
            <a:off x="5609844" y="4964278"/>
            <a:ext cx="28346" cy="1371600"/>
          </a:xfrm>
          <a:prstGeom prst="rect">
            <a:avLst/>
          </a:prstGeom>
          <a:solidFill>
            <a:srgbClr val="3B82F6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5" name="Text 37"/>
          <p:cNvSpPr txBox="1"/>
          <p:nvPr/>
        </p:nvSpPr>
        <p:spPr>
          <a:xfrm>
            <a:off x="5829300" y="5155387"/>
            <a:ext cx="3471977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D1D5D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자료를 찾은 즉시 기록해야 나중에 시간을 낭비하지 않습니다.</a:t>
            </a:r>
            <a:endParaRPr lang="en-US" sz="1000" dirty="0"/>
          </a:p>
        </p:txBody>
      </p:sp>
      <p:sp>
        <p:nvSpPr>
          <p:cNvPr id="46" name="Shape 38"/>
          <p:cNvSpPr/>
          <p:nvPr/>
        </p:nvSpPr>
        <p:spPr>
          <a:xfrm>
            <a:off x="5829300" y="5440680"/>
            <a:ext cx="571500" cy="304495"/>
          </a:xfrm>
          <a:prstGeom prst="roundRect">
            <a:avLst>
              <a:gd name="adj" fmla="val 37538"/>
            </a:avLst>
          </a:prstGeom>
          <a:solidFill>
            <a:srgbClr val="3B82F6">
              <a:alpha val="20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7" name="Text 39"/>
          <p:cNvSpPr txBox="1"/>
          <p:nvPr/>
        </p:nvSpPr>
        <p:spPr>
          <a:xfrm>
            <a:off x="5924398" y="5488229"/>
            <a:ext cx="484632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93C5F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저자명</a:t>
            </a:r>
            <a:endParaRPr lang="en-US" sz="1000" dirty="0"/>
          </a:p>
        </p:txBody>
      </p:sp>
      <p:sp>
        <p:nvSpPr>
          <p:cNvPr id="48" name="Shape 40"/>
          <p:cNvSpPr/>
          <p:nvPr/>
        </p:nvSpPr>
        <p:spPr>
          <a:xfrm>
            <a:off x="6493154" y="5440680"/>
            <a:ext cx="733349" cy="304495"/>
          </a:xfrm>
          <a:prstGeom prst="roundRect">
            <a:avLst>
              <a:gd name="adj" fmla="val 37538"/>
            </a:avLst>
          </a:prstGeom>
          <a:solidFill>
            <a:srgbClr val="3B82F6">
              <a:alpha val="20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9" name="Text 41"/>
          <p:cNvSpPr txBox="1"/>
          <p:nvPr/>
        </p:nvSpPr>
        <p:spPr>
          <a:xfrm>
            <a:off x="6588252" y="5488229"/>
            <a:ext cx="646481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93C5F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발행 연도</a:t>
            </a:r>
            <a:endParaRPr lang="en-US" sz="1000" dirty="0"/>
          </a:p>
        </p:txBody>
      </p:sp>
      <p:sp>
        <p:nvSpPr>
          <p:cNvPr id="50" name="Shape 42"/>
          <p:cNvSpPr/>
          <p:nvPr/>
        </p:nvSpPr>
        <p:spPr>
          <a:xfrm>
            <a:off x="7321601" y="5440680"/>
            <a:ext cx="1047902" cy="304495"/>
          </a:xfrm>
          <a:prstGeom prst="roundRect">
            <a:avLst>
              <a:gd name="adj" fmla="val 37538"/>
            </a:avLst>
          </a:prstGeom>
          <a:solidFill>
            <a:srgbClr val="3B82F6">
              <a:alpha val="20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1" name="Text 43"/>
          <p:cNvSpPr txBox="1"/>
          <p:nvPr/>
        </p:nvSpPr>
        <p:spPr>
          <a:xfrm>
            <a:off x="7417613" y="5488229"/>
            <a:ext cx="960120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93C5F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논문/기사 제목</a:t>
            </a:r>
            <a:endParaRPr lang="en-US" sz="1000" dirty="0"/>
          </a:p>
        </p:txBody>
      </p:sp>
      <p:sp>
        <p:nvSpPr>
          <p:cNvPr id="52" name="Shape 44"/>
          <p:cNvSpPr/>
          <p:nvPr/>
        </p:nvSpPr>
        <p:spPr>
          <a:xfrm>
            <a:off x="8456371" y="5440680"/>
            <a:ext cx="1009498" cy="304495"/>
          </a:xfrm>
          <a:prstGeom prst="roundRect">
            <a:avLst>
              <a:gd name="adj" fmla="val 37538"/>
            </a:avLst>
          </a:prstGeom>
          <a:solidFill>
            <a:srgbClr val="3B82F6">
              <a:alpha val="20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3" name="Text 45"/>
          <p:cNvSpPr txBox="1"/>
          <p:nvPr/>
        </p:nvSpPr>
        <p:spPr>
          <a:xfrm>
            <a:off x="8551469" y="5488229"/>
            <a:ext cx="922630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93C5F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게재지/출판사</a:t>
            </a:r>
            <a:endParaRPr lang="en-US" sz="1000" dirty="0"/>
          </a:p>
        </p:txBody>
      </p:sp>
      <p:sp>
        <p:nvSpPr>
          <p:cNvPr id="54" name="Shape 46"/>
          <p:cNvSpPr/>
          <p:nvPr/>
        </p:nvSpPr>
        <p:spPr>
          <a:xfrm>
            <a:off x="9552737" y="5440680"/>
            <a:ext cx="866851" cy="304495"/>
          </a:xfrm>
          <a:prstGeom prst="roundRect">
            <a:avLst>
              <a:gd name="adj" fmla="val 37538"/>
            </a:avLst>
          </a:prstGeom>
          <a:solidFill>
            <a:srgbClr val="3B82F6">
              <a:alpha val="20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5" name="Text 47"/>
          <p:cNvSpPr txBox="1"/>
          <p:nvPr/>
        </p:nvSpPr>
        <p:spPr>
          <a:xfrm>
            <a:off x="9647834" y="5488229"/>
            <a:ext cx="779983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93C5F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페이지 번호</a:t>
            </a:r>
            <a:endParaRPr lang="en-US" sz="1000" dirty="0"/>
          </a:p>
        </p:txBody>
      </p:sp>
      <p:sp>
        <p:nvSpPr>
          <p:cNvPr id="56" name="Shape 48"/>
          <p:cNvSpPr/>
          <p:nvPr/>
        </p:nvSpPr>
        <p:spPr>
          <a:xfrm>
            <a:off x="5829300" y="5836615"/>
            <a:ext cx="838505" cy="304495"/>
          </a:xfrm>
          <a:prstGeom prst="roundRect">
            <a:avLst>
              <a:gd name="adj" fmla="val 37538"/>
            </a:avLst>
          </a:prstGeom>
          <a:solidFill>
            <a:srgbClr val="3B82F6">
              <a:alpha val="20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7" name="Text 49"/>
          <p:cNvSpPr txBox="1"/>
          <p:nvPr/>
        </p:nvSpPr>
        <p:spPr>
          <a:xfrm>
            <a:off x="5924398" y="5885078"/>
            <a:ext cx="750722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93C5F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DOI / URL</a:t>
            </a:r>
            <a:endParaRPr lang="en-US" sz="1000" dirty="0"/>
          </a:p>
        </p:txBody>
      </p:sp>
      <p:sp>
        <p:nvSpPr>
          <p:cNvPr id="58" name="deckgen:wrap:footer"/>
          <p:cNvSpPr txBox="1"/>
          <p:nvPr/>
        </p:nvSpPr>
        <p:spPr>
          <a:xfrm>
            <a:off x="365760" y="6549390"/>
            <a:ext cx="11460480" cy="240030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0">
                <a:solidFill>
                  <a:srgbClr val="8A8F99"/>
                </a:solidFill>
                <a:latin typeface="Pretendard"/>
              </a:rPr>
              <a:t>© 2026 이애본 · 홍문원(洪文院) 발행 · CC BY-NC-ND 4.0 · useful-ai.dreamitbiz.com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0F0F0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204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" name="Shape 2"/>
          <p:cNvSpPr/>
          <p:nvPr/>
        </p:nvSpPr>
        <p:spPr>
          <a:xfrm>
            <a:off x="761695" y="476402"/>
            <a:ext cx="571500" cy="57607"/>
          </a:xfrm>
          <a:prstGeom prst="rect">
            <a:avLst/>
          </a:prstGeom>
          <a:solidFill>
            <a:srgbClr val="00BBF0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 txBox="1"/>
          <p:nvPr/>
        </p:nvSpPr>
        <p:spPr>
          <a:xfrm>
            <a:off x="761695" y="657454"/>
            <a:ext cx="6858000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개요 구성: 설계도 없이 짓지 않는다</a:t>
            </a:r>
            <a:endParaRPr lang="en-US" sz="3600" dirty="0"/>
          </a:p>
        </p:txBody>
      </p:sp>
      <p:sp>
        <p:nvSpPr>
          <p:cNvPr id="6" name="Text 4"/>
          <p:cNvSpPr txBox="1"/>
          <p:nvPr/>
        </p:nvSpPr>
        <p:spPr>
          <a:xfrm>
            <a:off x="761695" y="1387145"/>
            <a:ext cx="5582412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dirty="0">
                <a:solidFill>
                  <a:srgbClr val="CBD5E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리포트 작성 속도를 높이고 논리적 일관성을 확보하는 4단계 프로세스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1238098" y="2444191"/>
            <a:ext cx="9715500" cy="19202"/>
          </a:xfrm>
          <a:prstGeom prst="rect">
            <a:avLst/>
          </a:prstGeom>
          <a:solidFill>
            <a:srgbClr val="FFFFFF">
              <a:alpha val="15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8" name="Shape 6"/>
          <p:cNvSpPr/>
          <p:nvPr/>
        </p:nvSpPr>
        <p:spPr>
          <a:xfrm>
            <a:off x="761695" y="5625389"/>
            <a:ext cx="10668305" cy="562356"/>
          </a:xfrm>
          <a:prstGeom prst="rect">
            <a:avLst/>
          </a:prstGeom>
          <a:solidFill>
            <a:srgbClr val="00BBF0">
              <a:alpha val="10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9" name="Shape 7"/>
          <p:cNvSpPr/>
          <p:nvPr/>
        </p:nvSpPr>
        <p:spPr>
          <a:xfrm>
            <a:off x="761695" y="5625389"/>
            <a:ext cx="38405" cy="562356"/>
          </a:xfrm>
          <a:prstGeom prst="rect">
            <a:avLst/>
          </a:prstGeom>
          <a:solidFill>
            <a:srgbClr val="00BBF0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0" name="Text 8"/>
          <p:cNvSpPr txBox="1"/>
          <p:nvPr/>
        </p:nvSpPr>
        <p:spPr>
          <a:xfrm>
            <a:off x="3610051" y="5778094"/>
            <a:ext cx="5146243" cy="2386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E2E8F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"개요 없이 리포트를 쓰는 것은 설계도 없이 건물을 짓는 것과 같습니다."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1702613" y="2157984"/>
            <a:ext cx="571500" cy="571500"/>
          </a:xfrm>
          <a:prstGeom prst="ellipse">
            <a:avLst/>
          </a:prstGeom>
          <a:solidFill>
            <a:srgbClr val="00204A"/>
          </a:solidFill>
          <a:ln w="38100">
            <a:solidFill>
              <a:srgbClr val="00BBF0"/>
            </a:solidFill>
            <a:prstDash val="solid"/>
          </a:ln>
          <a:effectLst>
            <a:outerShdw blurRad="139700" dist="12700" dir="16200000" algn="bl" rotWithShape="0">
              <a:srgbClr val="00BBF0">
                <a:alpha val="3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3" name="Text 11"/>
          <p:cNvSpPr txBox="1"/>
          <p:nvPr/>
        </p:nvSpPr>
        <p:spPr>
          <a:xfrm>
            <a:off x="1919326" y="2272284"/>
            <a:ext cx="314554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00BBF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761695" y="2958084"/>
            <a:ext cx="2457907" cy="2286000"/>
          </a:xfrm>
          <a:prstGeom prst="roundRect">
            <a:avLst>
              <a:gd name="adj" fmla="val 1333"/>
            </a:avLst>
          </a:prstGeom>
          <a:solidFill>
            <a:srgbClr val="FFFFFF">
              <a:alpha val="5000"/>
            </a:srgbClr>
          </a:solidFill>
          <a:ln w="12700">
            <a:solidFill>
              <a:srgbClr val="FFFFFF">
                <a:alpha val="1000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" name="Text 13"/>
          <p:cNvSpPr txBox="1"/>
          <p:nvPr/>
        </p:nvSpPr>
        <p:spPr>
          <a:xfrm>
            <a:off x="1611173" y="3653942"/>
            <a:ext cx="905256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주제 인식</a:t>
            </a:r>
            <a:endParaRPr lang="en-US" sz="1500" dirty="0"/>
          </a:p>
        </p:txBody>
      </p:sp>
      <p:sp>
        <p:nvSpPr>
          <p:cNvPr id="16" name="Text 14"/>
          <p:cNvSpPr txBox="1"/>
          <p:nvPr/>
        </p:nvSpPr>
        <p:spPr>
          <a:xfrm>
            <a:off x="1129284" y="4053535"/>
            <a:ext cx="1833372" cy="4288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CBD5E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내가 이 </a:t>
            </a:r>
            <a:r>
              <a:rPr lang="en-US" sz="1100" dirty="0" err="1">
                <a:solidFill>
                  <a:srgbClr val="CBD5E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리포트를</a:t>
            </a:r>
            <a:r>
              <a:rPr lang="en-US" sz="1100" dirty="0">
                <a:solidFill>
                  <a:srgbClr val="CBD5E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</a:t>
            </a:r>
            <a:r>
              <a:rPr lang="en-US" sz="1100" dirty="0" err="1">
                <a:solidFill>
                  <a:srgbClr val="CBD5E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통해</a:t>
            </a:r>
            <a:r>
              <a:rPr lang="en-US" sz="1100" dirty="0">
                <a:solidFill>
                  <a:srgbClr val="CBD5E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</a:t>
            </a:r>
            <a:r>
              <a:rPr lang="en-US" sz="1100" dirty="0" err="1">
                <a:solidFill>
                  <a:srgbClr val="CBD5E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말하고</a:t>
            </a:r>
            <a:r>
              <a:rPr lang="en-US" sz="1100" dirty="0">
                <a:solidFill>
                  <a:srgbClr val="CBD5E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</a:t>
            </a:r>
          </a:p>
          <a:p>
            <a:pPr marL="0" indent="0" algn="ctr">
              <a:buNone/>
            </a:pPr>
            <a:r>
              <a:rPr lang="en-US" sz="1100" dirty="0" err="1">
                <a:solidFill>
                  <a:srgbClr val="CBD5E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싶은</a:t>
            </a:r>
            <a:r>
              <a:rPr lang="en-US" sz="1100" dirty="0">
                <a:solidFill>
                  <a:srgbClr val="CBD5E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</a:t>
            </a:r>
            <a:r>
              <a:rPr lang="en-US" sz="1100" dirty="0" err="1">
                <a:solidFill>
                  <a:srgbClr val="CBD5E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핵심</a:t>
            </a:r>
            <a:r>
              <a:rPr lang="en-US" sz="1100" dirty="0">
                <a:solidFill>
                  <a:srgbClr val="CBD5E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주제는 무엇인가?</a:t>
            </a:r>
            <a:endParaRPr lang="en-US" sz="1100" dirty="0"/>
          </a:p>
        </p:txBody>
      </p:sp>
      <p:pic>
        <p:nvPicPr>
          <p:cNvPr id="17" name="Image 0" descr="preencoded.png"/>
          <p:cNvPicPr>
            <a:picLocks noChangeAspect="1"/>
          </p:cNvPicPr>
          <p:nvPr/>
        </p:nvPicPr>
        <p:blipFill>
          <a:blip r:embed="rId3">
            <a:alphaModFix amt="80000"/>
          </a:blip>
          <a:srcRect l="-50" r="-50"/>
          <a:stretch/>
        </p:blipFill>
        <p:spPr>
          <a:xfrm>
            <a:off x="1874520" y="3196742"/>
            <a:ext cx="228600" cy="304495"/>
          </a:xfrm>
          <a:prstGeom prst="rect">
            <a:avLst/>
          </a:prstGeom>
        </p:spPr>
      </p:pic>
      <p:pic>
        <p:nvPicPr>
          <p:cNvPr id="18" name="Image 1" descr="preencoded.png"/>
          <p:cNvPicPr>
            <a:picLocks noChangeAspect="1"/>
          </p:cNvPicPr>
          <p:nvPr/>
        </p:nvPicPr>
        <p:blipFill>
          <a:blip r:embed="rId4"/>
          <a:srcRect t="-180" b="-180"/>
          <a:stretch/>
        </p:blipFill>
        <p:spPr>
          <a:xfrm>
            <a:off x="3488436" y="2368296"/>
            <a:ext cx="95098" cy="152705"/>
          </a:xfrm>
          <a:prstGeom prst="rect">
            <a:avLst/>
          </a:prstGeom>
        </p:spPr>
      </p:pic>
      <p:sp>
        <p:nvSpPr>
          <p:cNvPr id="19" name="Shape 15"/>
          <p:cNvSpPr/>
          <p:nvPr/>
        </p:nvSpPr>
        <p:spPr>
          <a:xfrm>
            <a:off x="4441241" y="2157984"/>
            <a:ext cx="571500" cy="571500"/>
          </a:xfrm>
          <a:prstGeom prst="ellipse">
            <a:avLst/>
          </a:prstGeom>
          <a:solidFill>
            <a:srgbClr val="00204A"/>
          </a:solidFill>
          <a:ln w="38100">
            <a:solidFill>
              <a:srgbClr val="00BBF0"/>
            </a:solidFill>
            <a:prstDash val="solid"/>
          </a:ln>
          <a:effectLst>
            <a:outerShdw blurRad="139700" dist="12700" dir="16200000" algn="bl" rotWithShape="0">
              <a:srgbClr val="00BBF0">
                <a:alpha val="3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0" name="Text 16"/>
          <p:cNvSpPr txBox="1"/>
          <p:nvPr/>
        </p:nvSpPr>
        <p:spPr>
          <a:xfrm>
            <a:off x="4657039" y="2272284"/>
            <a:ext cx="314554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00BBF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</a:t>
            </a:r>
            <a:endParaRPr lang="en-US" sz="1800" dirty="0"/>
          </a:p>
        </p:txBody>
      </p:sp>
      <p:sp>
        <p:nvSpPr>
          <p:cNvPr id="21" name="Shape 17"/>
          <p:cNvSpPr/>
          <p:nvPr/>
        </p:nvSpPr>
        <p:spPr>
          <a:xfrm>
            <a:off x="3500323" y="2958084"/>
            <a:ext cx="2457907" cy="2286000"/>
          </a:xfrm>
          <a:prstGeom prst="roundRect">
            <a:avLst>
              <a:gd name="adj" fmla="val 1333"/>
            </a:avLst>
          </a:prstGeom>
          <a:solidFill>
            <a:srgbClr val="FFFFFF">
              <a:alpha val="5000"/>
            </a:srgbClr>
          </a:solidFill>
          <a:ln w="12700">
            <a:solidFill>
              <a:srgbClr val="FFFFFF">
                <a:alpha val="1000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2" name="Text 18"/>
          <p:cNvSpPr txBox="1"/>
          <p:nvPr/>
        </p:nvSpPr>
        <p:spPr>
          <a:xfrm>
            <a:off x="4349801" y="3653942"/>
            <a:ext cx="905256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자료 정의</a:t>
            </a:r>
            <a:endParaRPr lang="en-US" sz="1500" dirty="0"/>
          </a:p>
        </p:txBody>
      </p:sp>
      <p:sp>
        <p:nvSpPr>
          <p:cNvPr id="23" name="Text 19"/>
          <p:cNvSpPr txBox="1"/>
          <p:nvPr/>
        </p:nvSpPr>
        <p:spPr>
          <a:xfrm>
            <a:off x="3731623" y="4053535"/>
            <a:ext cx="2070245" cy="6483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CBD5E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수집한 </a:t>
            </a:r>
            <a:r>
              <a:rPr lang="en-US" sz="1100" dirty="0" err="1">
                <a:solidFill>
                  <a:srgbClr val="CBD5E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방대한</a:t>
            </a:r>
            <a:r>
              <a:rPr lang="en-US" sz="1100" dirty="0">
                <a:solidFill>
                  <a:srgbClr val="CBD5E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</a:t>
            </a:r>
            <a:r>
              <a:rPr lang="en-US" sz="1100" dirty="0" err="1">
                <a:solidFill>
                  <a:srgbClr val="CBD5E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자료를</a:t>
            </a:r>
            <a:r>
              <a:rPr lang="en-US" sz="1100" dirty="0">
                <a:solidFill>
                  <a:srgbClr val="CBD5E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</a:t>
            </a:r>
            <a:r>
              <a:rPr lang="en-US" sz="1100" dirty="0" err="1">
                <a:solidFill>
                  <a:srgbClr val="CBD5E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한눈에</a:t>
            </a:r>
            <a:r>
              <a:rPr lang="en-US" sz="1100" dirty="0">
                <a:solidFill>
                  <a:srgbClr val="CBD5E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파악할 수 있도록핵심 문장(Key)으로 요약</a:t>
            </a:r>
            <a:endParaRPr lang="en-US" sz="1100" dirty="0"/>
          </a:p>
        </p:txBody>
      </p:sp>
      <p:pic>
        <p:nvPicPr>
          <p:cNvPr id="24" name="Image 2" descr="preencoded.png"/>
          <p:cNvPicPr>
            <a:picLocks noChangeAspect="1"/>
          </p:cNvPicPr>
          <p:nvPr/>
        </p:nvPicPr>
        <p:blipFill>
          <a:blip r:embed="rId5">
            <a:alphaModFix amt="80000"/>
          </a:blip>
          <a:srcRect l="-50" r="-50"/>
          <a:stretch/>
        </p:blipFill>
        <p:spPr>
          <a:xfrm>
            <a:off x="4555541" y="3196742"/>
            <a:ext cx="342900" cy="304495"/>
          </a:xfrm>
          <a:prstGeom prst="rect">
            <a:avLst/>
          </a:prstGeom>
        </p:spPr>
      </p:pic>
      <p:pic>
        <p:nvPicPr>
          <p:cNvPr id="25" name="Image 3" descr="preencoded.png"/>
          <p:cNvPicPr>
            <a:picLocks noChangeAspect="1"/>
          </p:cNvPicPr>
          <p:nvPr/>
        </p:nvPicPr>
        <p:blipFill>
          <a:blip r:embed="rId4"/>
          <a:srcRect t="-180" b="-180"/>
          <a:stretch/>
        </p:blipFill>
        <p:spPr>
          <a:xfrm>
            <a:off x="6226150" y="2368296"/>
            <a:ext cx="95098" cy="152705"/>
          </a:xfrm>
          <a:prstGeom prst="rect">
            <a:avLst/>
          </a:prstGeom>
        </p:spPr>
      </p:pic>
      <p:sp>
        <p:nvSpPr>
          <p:cNvPr id="26" name="Shape 20"/>
          <p:cNvSpPr/>
          <p:nvPr/>
        </p:nvSpPr>
        <p:spPr>
          <a:xfrm>
            <a:off x="7178954" y="2157984"/>
            <a:ext cx="571500" cy="571500"/>
          </a:xfrm>
          <a:prstGeom prst="ellipse">
            <a:avLst/>
          </a:prstGeom>
          <a:solidFill>
            <a:srgbClr val="00204A"/>
          </a:solidFill>
          <a:ln w="38100">
            <a:solidFill>
              <a:srgbClr val="00BBF0"/>
            </a:solidFill>
            <a:prstDash val="solid"/>
          </a:ln>
          <a:effectLst>
            <a:outerShdw blurRad="139700" dist="12700" dir="16200000" algn="bl" rotWithShape="0">
              <a:srgbClr val="00BBF0">
                <a:alpha val="3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7" name="Text 21"/>
          <p:cNvSpPr txBox="1"/>
          <p:nvPr/>
        </p:nvSpPr>
        <p:spPr>
          <a:xfrm>
            <a:off x="7395667" y="2272284"/>
            <a:ext cx="314554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00BBF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3</a:t>
            </a:r>
            <a:endParaRPr lang="en-US" sz="1800" dirty="0"/>
          </a:p>
        </p:txBody>
      </p:sp>
      <p:sp>
        <p:nvSpPr>
          <p:cNvPr id="28" name="Shape 22"/>
          <p:cNvSpPr/>
          <p:nvPr/>
        </p:nvSpPr>
        <p:spPr>
          <a:xfrm>
            <a:off x="6238037" y="2958084"/>
            <a:ext cx="2457907" cy="2286000"/>
          </a:xfrm>
          <a:prstGeom prst="roundRect">
            <a:avLst>
              <a:gd name="adj" fmla="val 1333"/>
            </a:avLst>
          </a:prstGeom>
          <a:solidFill>
            <a:srgbClr val="FFFFFF">
              <a:alpha val="5000"/>
            </a:srgbClr>
          </a:solidFill>
          <a:ln w="12700">
            <a:solidFill>
              <a:srgbClr val="FFFFFF">
                <a:alpha val="1000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9" name="Text 23"/>
          <p:cNvSpPr txBox="1"/>
          <p:nvPr/>
        </p:nvSpPr>
        <p:spPr>
          <a:xfrm>
            <a:off x="7087514" y="3653942"/>
            <a:ext cx="905256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자료 분리</a:t>
            </a:r>
            <a:endParaRPr lang="en-US" sz="1500" dirty="0"/>
          </a:p>
        </p:txBody>
      </p:sp>
      <p:sp>
        <p:nvSpPr>
          <p:cNvPr id="30" name="Text 24"/>
          <p:cNvSpPr txBox="1"/>
          <p:nvPr/>
        </p:nvSpPr>
        <p:spPr>
          <a:xfrm>
            <a:off x="6505042" y="4053535"/>
            <a:ext cx="2032711" cy="6483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CBD5E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자료를 성격에 </a:t>
            </a:r>
            <a:r>
              <a:rPr lang="en-US" sz="1100" dirty="0" err="1">
                <a:solidFill>
                  <a:srgbClr val="CBD5E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따라'블록’화하여</a:t>
            </a:r>
            <a:endParaRPr lang="en-US" sz="1100" dirty="0">
              <a:solidFill>
                <a:srgbClr val="CBD5E1"/>
              </a:solidFill>
              <a:latin typeface="Noto Sans KR" pitchFamily="34" charset="0"/>
              <a:ea typeface="Noto Sans KR" pitchFamily="34" charset="-122"/>
              <a:cs typeface="Noto Sans KR" pitchFamily="34" charset="-120"/>
            </a:endParaRPr>
          </a:p>
          <a:p>
            <a:pPr marL="0" indent="0" algn="ctr">
              <a:buNone/>
            </a:pPr>
            <a:r>
              <a:rPr lang="en-US" sz="1100" dirty="0" err="1">
                <a:solidFill>
                  <a:srgbClr val="CBD5E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상·하위</a:t>
            </a:r>
            <a:r>
              <a:rPr lang="en-US" sz="1100" dirty="0">
                <a:solidFill>
                  <a:srgbClr val="CBD5E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및 병렬 관계로 분리</a:t>
            </a:r>
            <a:endParaRPr lang="en-US" sz="1100" dirty="0"/>
          </a:p>
        </p:txBody>
      </p:sp>
      <p:pic>
        <p:nvPicPr>
          <p:cNvPr id="31" name="Image 4" descr="preencoded.png"/>
          <p:cNvPicPr>
            <a:picLocks noChangeAspect="1"/>
          </p:cNvPicPr>
          <p:nvPr/>
        </p:nvPicPr>
        <p:blipFill>
          <a:blip r:embed="rId6">
            <a:alphaModFix amt="80000"/>
          </a:blip>
          <a:srcRect l="-50" r="-50"/>
          <a:stretch/>
        </p:blipFill>
        <p:spPr>
          <a:xfrm>
            <a:off x="7293254" y="3196742"/>
            <a:ext cx="342900" cy="304495"/>
          </a:xfrm>
          <a:prstGeom prst="rect">
            <a:avLst/>
          </a:prstGeom>
        </p:spPr>
      </p:pic>
      <p:pic>
        <p:nvPicPr>
          <p:cNvPr id="32" name="Image 5" descr="preencoded.png"/>
          <p:cNvPicPr>
            <a:picLocks noChangeAspect="1"/>
          </p:cNvPicPr>
          <p:nvPr/>
        </p:nvPicPr>
        <p:blipFill>
          <a:blip r:embed="rId4"/>
          <a:srcRect t="-180" b="-180"/>
          <a:stretch/>
        </p:blipFill>
        <p:spPr>
          <a:xfrm>
            <a:off x="8964778" y="2368296"/>
            <a:ext cx="95098" cy="152705"/>
          </a:xfrm>
          <a:prstGeom prst="rect">
            <a:avLst/>
          </a:prstGeom>
        </p:spPr>
      </p:pic>
      <p:sp>
        <p:nvSpPr>
          <p:cNvPr id="33" name="Shape 25"/>
          <p:cNvSpPr/>
          <p:nvPr/>
        </p:nvSpPr>
        <p:spPr>
          <a:xfrm>
            <a:off x="9917582" y="2157984"/>
            <a:ext cx="571500" cy="571500"/>
          </a:xfrm>
          <a:prstGeom prst="ellipse">
            <a:avLst/>
          </a:prstGeom>
          <a:solidFill>
            <a:srgbClr val="00204A"/>
          </a:solidFill>
          <a:ln w="38100">
            <a:solidFill>
              <a:srgbClr val="00BBF0"/>
            </a:solidFill>
            <a:prstDash val="solid"/>
          </a:ln>
          <a:effectLst>
            <a:outerShdw blurRad="139700" dist="12700" dir="16200000" algn="bl" rotWithShape="0">
              <a:srgbClr val="00BBF0">
                <a:alpha val="3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34" name="Text 26"/>
          <p:cNvSpPr txBox="1"/>
          <p:nvPr/>
        </p:nvSpPr>
        <p:spPr>
          <a:xfrm>
            <a:off x="10133381" y="2272284"/>
            <a:ext cx="314554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00BBF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4</a:t>
            </a:r>
            <a:endParaRPr lang="en-US" sz="1800" dirty="0"/>
          </a:p>
        </p:txBody>
      </p:sp>
      <p:sp>
        <p:nvSpPr>
          <p:cNvPr id="35" name="Shape 27"/>
          <p:cNvSpPr/>
          <p:nvPr/>
        </p:nvSpPr>
        <p:spPr>
          <a:xfrm>
            <a:off x="8976665" y="2958084"/>
            <a:ext cx="2457907" cy="2286000"/>
          </a:xfrm>
          <a:prstGeom prst="roundRect">
            <a:avLst>
              <a:gd name="adj" fmla="val 1333"/>
            </a:avLst>
          </a:prstGeom>
          <a:solidFill>
            <a:srgbClr val="FFFFFF">
              <a:alpha val="5000"/>
            </a:srgbClr>
          </a:solidFill>
          <a:ln w="12700">
            <a:solidFill>
              <a:srgbClr val="FFFFFF">
                <a:alpha val="1000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6" name="Text 28"/>
          <p:cNvSpPr txBox="1"/>
          <p:nvPr/>
        </p:nvSpPr>
        <p:spPr>
          <a:xfrm>
            <a:off x="9940442" y="3653942"/>
            <a:ext cx="676656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재배치</a:t>
            </a:r>
            <a:endParaRPr lang="en-US" sz="1500" dirty="0"/>
          </a:p>
        </p:txBody>
      </p:sp>
      <p:sp>
        <p:nvSpPr>
          <p:cNvPr id="37" name="Text 29"/>
          <p:cNvSpPr txBox="1"/>
          <p:nvPr/>
        </p:nvSpPr>
        <p:spPr>
          <a:xfrm>
            <a:off x="9297619" y="4053535"/>
            <a:ext cx="1928470" cy="6483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CBD5E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논리적 흐름(서론-본론-결론)에 </a:t>
            </a:r>
            <a:r>
              <a:rPr lang="en-US" sz="1100" dirty="0" err="1">
                <a:solidFill>
                  <a:srgbClr val="CBD5E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맞춰</a:t>
            </a:r>
            <a:r>
              <a:rPr lang="en-US" sz="1100" dirty="0">
                <a:solidFill>
                  <a:srgbClr val="CBD5E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블록을 배치하고설득력 점검</a:t>
            </a:r>
            <a:endParaRPr lang="en-US" sz="1100" dirty="0"/>
          </a:p>
        </p:txBody>
      </p:sp>
      <p:pic>
        <p:nvPicPr>
          <p:cNvPr id="38" name="Image 6" descr="preencoded.png"/>
          <p:cNvPicPr>
            <a:picLocks noChangeAspect="1"/>
          </p:cNvPicPr>
          <p:nvPr/>
        </p:nvPicPr>
        <p:blipFill>
          <a:blip r:embed="rId7">
            <a:alphaModFix amt="80000"/>
          </a:blip>
          <a:srcRect/>
          <a:stretch/>
        </p:blipFill>
        <p:spPr>
          <a:xfrm>
            <a:off x="10051085" y="3196742"/>
            <a:ext cx="304495" cy="304495"/>
          </a:xfrm>
          <a:prstGeom prst="rect">
            <a:avLst/>
          </a:prstGeom>
        </p:spPr>
      </p:pic>
      <p:sp>
        <p:nvSpPr>
          <p:cNvPr id="39" name="deckgen:wrap:footer"/>
          <p:cNvSpPr txBox="1"/>
          <p:nvPr/>
        </p:nvSpPr>
        <p:spPr>
          <a:xfrm>
            <a:off x="365760" y="6549390"/>
            <a:ext cx="11460480" cy="240030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0">
                <a:solidFill>
                  <a:srgbClr val="8A8F99"/>
                </a:solidFill>
                <a:latin typeface="Pretendard"/>
              </a:rPr>
              <a:t>© 2026 이애본 · 홍문원(洪文院) 발행 · CC BY-NC-ND 4.0 · useful-ai.dreamitbiz.com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0F0F0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204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" name="Shape 2"/>
          <p:cNvSpPr/>
          <p:nvPr/>
        </p:nvSpPr>
        <p:spPr>
          <a:xfrm>
            <a:off x="761695" y="213694"/>
            <a:ext cx="571500" cy="57607"/>
          </a:xfrm>
          <a:prstGeom prst="rect">
            <a:avLst/>
          </a:prstGeom>
          <a:solidFill>
            <a:srgbClr val="00BBF0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 txBox="1"/>
          <p:nvPr/>
        </p:nvSpPr>
        <p:spPr>
          <a:xfrm>
            <a:off x="761695" y="433150"/>
            <a:ext cx="6734556" cy="7717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2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글쓰기 원칙 1: 두괄식과 문장</a:t>
            </a:r>
            <a:endParaRPr lang="en-US" sz="4200" dirty="0"/>
          </a:p>
        </p:txBody>
      </p:sp>
      <p:sp>
        <p:nvSpPr>
          <p:cNvPr id="6" name="Text 4"/>
          <p:cNvSpPr txBox="1"/>
          <p:nvPr/>
        </p:nvSpPr>
        <p:spPr>
          <a:xfrm>
            <a:off x="761695" y="1291772"/>
            <a:ext cx="6696151" cy="3337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CBD5E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명확한 전달을 위해 핵심을 먼저 말하고, 문장을 간결하게 다듬으세요.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761695" y="1920880"/>
            <a:ext cx="3409798" cy="4714484"/>
          </a:xfrm>
          <a:prstGeom prst="roundRect">
            <a:avLst>
              <a:gd name="adj" fmla="val 599"/>
            </a:avLst>
          </a:prstGeom>
          <a:solidFill>
            <a:srgbClr val="FFFFFF">
              <a:alpha val="5000"/>
            </a:srgbClr>
          </a:solidFill>
          <a:ln w="12700">
            <a:solidFill>
              <a:srgbClr val="FFFFFF">
                <a:alpha val="1000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Shape 6"/>
          <p:cNvSpPr/>
          <p:nvPr/>
        </p:nvSpPr>
        <p:spPr>
          <a:xfrm>
            <a:off x="761695" y="1920879"/>
            <a:ext cx="3384194" cy="38405"/>
          </a:xfrm>
          <a:prstGeom prst="roundRect">
            <a:avLst>
              <a:gd name="adj" fmla="val 2380940"/>
            </a:avLst>
          </a:prstGeom>
          <a:solidFill>
            <a:srgbClr val="00BBF0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9" name="Shape 7"/>
          <p:cNvSpPr/>
          <p:nvPr/>
        </p:nvSpPr>
        <p:spPr>
          <a:xfrm>
            <a:off x="1076249" y="2234518"/>
            <a:ext cx="609905" cy="609905"/>
          </a:xfrm>
          <a:prstGeom prst="ellipse">
            <a:avLst/>
          </a:prstGeom>
          <a:solidFill>
            <a:srgbClr val="00BBF0">
              <a:alpha val="10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10" name="Image 0" descr="preencoded.png"/>
          <p:cNvPicPr>
            <a:picLocks noChangeAspect="1"/>
          </p:cNvPicPr>
          <p:nvPr/>
        </p:nvPicPr>
        <p:blipFill>
          <a:blip r:embed="rId3"/>
          <a:srcRect l="-685" r="-685"/>
          <a:stretch/>
        </p:blipFill>
        <p:spPr>
          <a:xfrm>
            <a:off x="1228954" y="2406425"/>
            <a:ext cx="304495" cy="267005"/>
          </a:xfrm>
          <a:prstGeom prst="rect">
            <a:avLst/>
          </a:prstGeom>
        </p:spPr>
      </p:pic>
      <p:sp>
        <p:nvSpPr>
          <p:cNvPr id="11" name="Text 8"/>
          <p:cNvSpPr txBox="1"/>
          <p:nvPr/>
        </p:nvSpPr>
        <p:spPr>
          <a:xfrm>
            <a:off x="1076249" y="3073023"/>
            <a:ext cx="1276502" cy="3337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두괄식 전개</a:t>
            </a:r>
            <a:endParaRPr lang="en-US" sz="1800" dirty="0"/>
          </a:p>
        </p:txBody>
      </p:sp>
      <p:sp>
        <p:nvSpPr>
          <p:cNvPr id="12" name="Text 9"/>
          <p:cNvSpPr txBox="1"/>
          <p:nvPr/>
        </p:nvSpPr>
        <p:spPr>
          <a:xfrm>
            <a:off x="1076249" y="3568628"/>
            <a:ext cx="2848356" cy="7242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CBD5E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문단의 핵심 문장(주제)을 맨 앞에 </a:t>
            </a:r>
            <a:r>
              <a:rPr lang="en-US" sz="1200" dirty="0" err="1">
                <a:solidFill>
                  <a:srgbClr val="CBD5E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배치하세요</a:t>
            </a:r>
            <a:r>
              <a:rPr lang="en-US" sz="1200" dirty="0">
                <a:solidFill>
                  <a:srgbClr val="CBD5E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.</a:t>
            </a:r>
          </a:p>
          <a:p>
            <a:pPr marL="0" indent="0" algn="l">
              <a:buNone/>
            </a:pPr>
            <a:endParaRPr lang="en-US" sz="1200" dirty="0">
              <a:solidFill>
                <a:srgbClr val="CBD5E1"/>
              </a:solidFill>
              <a:latin typeface="Noto Sans KR" pitchFamily="34" charset="0"/>
              <a:ea typeface="Noto Sans KR" pitchFamily="34" charset="-122"/>
              <a:cs typeface="Noto Sans KR" pitchFamily="34" charset="-120"/>
            </a:endParaRPr>
          </a:p>
          <a:p>
            <a:pPr marL="0" indent="0" algn="l">
              <a:buNone/>
            </a:pPr>
            <a:r>
              <a:rPr lang="en-US" sz="1200" dirty="0" err="1">
                <a:solidFill>
                  <a:srgbClr val="CBD5E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독자가</a:t>
            </a:r>
            <a:r>
              <a:rPr lang="en-US" sz="1200" dirty="0">
                <a:solidFill>
                  <a:srgbClr val="CBD5E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첫 문장만 읽어도 전체 요지를 파악할 수 있어야 논지가 흔들리지 않습니다.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1076249" y="5566592"/>
            <a:ext cx="2781605" cy="886054"/>
          </a:xfrm>
          <a:prstGeom prst="roundRect">
            <a:avLst>
              <a:gd name="adj" fmla="val 6658"/>
            </a:avLst>
          </a:prstGeom>
          <a:solidFill>
            <a:srgbClr val="000000">
              <a:alpha val="20000"/>
            </a:srgbClr>
          </a:solidFill>
          <a:ln w="12700">
            <a:solidFill>
              <a:srgbClr val="37415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Text 11"/>
          <p:cNvSpPr txBox="1"/>
          <p:nvPr/>
        </p:nvSpPr>
        <p:spPr>
          <a:xfrm>
            <a:off x="1200607" y="5690036"/>
            <a:ext cx="338328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D1D5D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Tip:</a:t>
            </a:r>
            <a:endParaRPr lang="en-US" sz="1000" dirty="0"/>
          </a:p>
        </p:txBody>
      </p:sp>
      <p:sp>
        <p:nvSpPr>
          <p:cNvPr id="15" name="Text 12"/>
          <p:cNvSpPr txBox="1"/>
          <p:nvPr/>
        </p:nvSpPr>
        <p:spPr>
          <a:xfrm>
            <a:off x="1200607" y="5928694"/>
            <a:ext cx="2500884" cy="3913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9CA3A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결론부터 말하고 근거를 뒤에 붙이는 습관을 들이세요.</a:t>
            </a:r>
            <a:endParaRPr lang="en-US" sz="1000" dirty="0"/>
          </a:p>
        </p:txBody>
      </p:sp>
      <p:sp>
        <p:nvSpPr>
          <p:cNvPr id="16" name="Shape 13"/>
          <p:cNvSpPr/>
          <p:nvPr/>
        </p:nvSpPr>
        <p:spPr>
          <a:xfrm>
            <a:off x="4394606" y="1920880"/>
            <a:ext cx="3409798" cy="4714484"/>
          </a:xfrm>
          <a:prstGeom prst="roundRect">
            <a:avLst>
              <a:gd name="adj" fmla="val 599"/>
            </a:avLst>
          </a:prstGeom>
          <a:solidFill>
            <a:srgbClr val="FFFFFF">
              <a:alpha val="5000"/>
            </a:srgbClr>
          </a:solidFill>
          <a:ln w="12700">
            <a:solidFill>
              <a:srgbClr val="FFFFFF">
                <a:alpha val="1000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7" name="Shape 14"/>
          <p:cNvSpPr/>
          <p:nvPr/>
        </p:nvSpPr>
        <p:spPr>
          <a:xfrm>
            <a:off x="4394606" y="1920879"/>
            <a:ext cx="3384194" cy="38405"/>
          </a:xfrm>
          <a:prstGeom prst="roundRect">
            <a:avLst>
              <a:gd name="adj" fmla="val 2380940"/>
            </a:avLst>
          </a:prstGeom>
          <a:solidFill>
            <a:srgbClr val="3B82F6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8" name="Shape 15"/>
          <p:cNvSpPr/>
          <p:nvPr/>
        </p:nvSpPr>
        <p:spPr>
          <a:xfrm>
            <a:off x="4708246" y="2234518"/>
            <a:ext cx="609905" cy="609905"/>
          </a:xfrm>
          <a:prstGeom prst="ellipse">
            <a:avLst/>
          </a:prstGeom>
          <a:solidFill>
            <a:srgbClr val="00BBF0">
              <a:alpha val="10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19" name="Image 1" descr="preencoded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4880153" y="2406425"/>
            <a:ext cx="267005" cy="267005"/>
          </a:xfrm>
          <a:prstGeom prst="rect">
            <a:avLst/>
          </a:prstGeom>
        </p:spPr>
      </p:pic>
      <p:sp>
        <p:nvSpPr>
          <p:cNvPr id="20" name="Text 16"/>
          <p:cNvSpPr txBox="1"/>
          <p:nvPr/>
        </p:nvSpPr>
        <p:spPr>
          <a:xfrm>
            <a:off x="4708246" y="3073023"/>
            <a:ext cx="1752905" cy="3337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짧고 명료한 문장</a:t>
            </a:r>
            <a:endParaRPr lang="en-US" sz="1800" dirty="0"/>
          </a:p>
        </p:txBody>
      </p:sp>
      <p:sp>
        <p:nvSpPr>
          <p:cNvPr id="21" name="Text 17"/>
          <p:cNvSpPr txBox="1"/>
          <p:nvPr/>
        </p:nvSpPr>
        <p:spPr>
          <a:xfrm>
            <a:off x="4708246" y="3568628"/>
            <a:ext cx="2857500" cy="7242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CBD5E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한 문장에는 하나의 생각만 담으세요. </a:t>
            </a:r>
          </a:p>
          <a:p>
            <a:pPr marL="0" indent="0" algn="l">
              <a:buNone/>
            </a:pPr>
            <a:endParaRPr lang="en-US" sz="1200" dirty="0">
              <a:solidFill>
                <a:srgbClr val="CBD5E1"/>
              </a:solidFill>
              <a:latin typeface="Noto Sans KR" pitchFamily="34" charset="0"/>
              <a:ea typeface="Noto Sans KR" pitchFamily="34" charset="-122"/>
              <a:cs typeface="Noto Sans KR" pitchFamily="34" charset="-120"/>
            </a:endParaRPr>
          </a:p>
          <a:p>
            <a:pPr marL="0" indent="0" algn="l">
              <a:buNone/>
            </a:pPr>
            <a:r>
              <a:rPr lang="en-US" sz="1200" dirty="0" err="1">
                <a:solidFill>
                  <a:srgbClr val="CBD5E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주어와</a:t>
            </a:r>
            <a:r>
              <a:rPr lang="en-US" sz="1200" dirty="0">
                <a:solidFill>
                  <a:srgbClr val="CBD5E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술어의 거리가 멀어질수록 가독성은 떨어집니다.</a:t>
            </a:r>
            <a:endParaRPr lang="en-US" sz="1200" dirty="0"/>
          </a:p>
        </p:txBody>
      </p:sp>
      <p:sp>
        <p:nvSpPr>
          <p:cNvPr id="22" name="Shape 18"/>
          <p:cNvSpPr/>
          <p:nvPr/>
        </p:nvSpPr>
        <p:spPr>
          <a:xfrm>
            <a:off x="4708246" y="4490343"/>
            <a:ext cx="2781605" cy="914400"/>
          </a:xfrm>
          <a:prstGeom prst="roundRect">
            <a:avLst>
              <a:gd name="adj" fmla="val 6250"/>
            </a:avLst>
          </a:prstGeom>
          <a:solidFill>
            <a:srgbClr val="000000">
              <a:alpha val="20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3" name="Shape 19"/>
          <p:cNvSpPr/>
          <p:nvPr/>
        </p:nvSpPr>
        <p:spPr>
          <a:xfrm>
            <a:off x="4822546" y="4604643"/>
            <a:ext cx="485546" cy="209398"/>
          </a:xfrm>
          <a:prstGeom prst="roundRect">
            <a:avLst>
              <a:gd name="adj" fmla="val 79396"/>
            </a:avLst>
          </a:prstGeom>
          <a:solidFill>
            <a:srgbClr val="EF4444">
              <a:alpha val="20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4" name="Text 20"/>
          <p:cNvSpPr txBox="1"/>
          <p:nvPr/>
        </p:nvSpPr>
        <p:spPr>
          <a:xfrm>
            <a:off x="4880153" y="4623845"/>
            <a:ext cx="457200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FCA5A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Before</a:t>
            </a:r>
            <a:endParaRPr lang="en-US" sz="900" dirty="0"/>
          </a:p>
        </p:txBody>
      </p:sp>
      <p:sp>
        <p:nvSpPr>
          <p:cNvPr id="25" name="Text 21"/>
          <p:cNvSpPr txBox="1"/>
          <p:nvPr/>
        </p:nvSpPr>
        <p:spPr>
          <a:xfrm>
            <a:off x="4822546" y="4889936"/>
            <a:ext cx="2624328" cy="3913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9CA3A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청년실업은 심각한데 단순 일자리 부족만이 아니라 교육과 정책 등 여러 가지가 얽혀 있어...</a:t>
            </a:r>
            <a:endParaRPr lang="en-US" sz="1000" dirty="0"/>
          </a:p>
        </p:txBody>
      </p:sp>
      <p:sp>
        <p:nvSpPr>
          <p:cNvPr id="26" name="Shape 22"/>
          <p:cNvSpPr/>
          <p:nvPr/>
        </p:nvSpPr>
        <p:spPr>
          <a:xfrm>
            <a:off x="4708246" y="5519043"/>
            <a:ext cx="2781605" cy="933602"/>
          </a:xfrm>
          <a:prstGeom prst="roundRect">
            <a:avLst>
              <a:gd name="adj" fmla="val 5997"/>
            </a:avLst>
          </a:prstGeom>
          <a:solidFill>
            <a:srgbClr val="000000">
              <a:alpha val="20000"/>
            </a:srgbClr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7" name="Shape 23"/>
          <p:cNvSpPr/>
          <p:nvPr/>
        </p:nvSpPr>
        <p:spPr>
          <a:xfrm>
            <a:off x="4832604" y="5642487"/>
            <a:ext cx="390449" cy="209398"/>
          </a:xfrm>
          <a:prstGeom prst="roundRect">
            <a:avLst>
              <a:gd name="adj" fmla="val 79396"/>
            </a:avLst>
          </a:prstGeom>
          <a:solidFill>
            <a:srgbClr val="22C55E">
              <a:alpha val="20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8" name="Text 24"/>
          <p:cNvSpPr txBox="1"/>
          <p:nvPr/>
        </p:nvSpPr>
        <p:spPr>
          <a:xfrm>
            <a:off x="4889297" y="5661689"/>
            <a:ext cx="362102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86EFA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After</a:t>
            </a:r>
            <a:endParaRPr lang="en-US" sz="900" dirty="0"/>
          </a:p>
        </p:txBody>
      </p:sp>
      <p:sp>
        <p:nvSpPr>
          <p:cNvPr id="29" name="Text 25"/>
          <p:cNvSpPr txBox="1"/>
          <p:nvPr/>
        </p:nvSpPr>
        <p:spPr>
          <a:xfrm>
            <a:off x="4832604" y="5928694"/>
            <a:ext cx="2624328" cy="3913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DBEAF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청년실업은 복합적 문제입니다. 일자리 부족뿐만 아니라 교육과 정책 요인도 작용합니다.</a:t>
            </a:r>
            <a:endParaRPr lang="en-US" sz="1000" dirty="0"/>
          </a:p>
        </p:txBody>
      </p:sp>
      <p:sp>
        <p:nvSpPr>
          <p:cNvPr id="30" name="Shape 26"/>
          <p:cNvSpPr/>
          <p:nvPr/>
        </p:nvSpPr>
        <p:spPr>
          <a:xfrm>
            <a:off x="8026603" y="1920880"/>
            <a:ext cx="3409798" cy="4714484"/>
          </a:xfrm>
          <a:prstGeom prst="roundRect">
            <a:avLst>
              <a:gd name="adj" fmla="val 599"/>
            </a:avLst>
          </a:prstGeom>
          <a:solidFill>
            <a:srgbClr val="FFFFFF">
              <a:alpha val="5000"/>
            </a:srgbClr>
          </a:solidFill>
          <a:ln w="12700">
            <a:solidFill>
              <a:srgbClr val="FFFFFF">
                <a:alpha val="1000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1" name="Shape 27"/>
          <p:cNvSpPr/>
          <p:nvPr/>
        </p:nvSpPr>
        <p:spPr>
          <a:xfrm>
            <a:off x="8026603" y="1920879"/>
            <a:ext cx="3384194" cy="38405"/>
          </a:xfrm>
          <a:prstGeom prst="roundRect">
            <a:avLst>
              <a:gd name="adj" fmla="val 2380940"/>
            </a:avLst>
          </a:prstGeom>
          <a:solidFill>
            <a:srgbClr val="60A5F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2" name="Shape 28"/>
          <p:cNvSpPr/>
          <p:nvPr/>
        </p:nvSpPr>
        <p:spPr>
          <a:xfrm>
            <a:off x="8340242" y="2234518"/>
            <a:ext cx="609905" cy="609905"/>
          </a:xfrm>
          <a:prstGeom prst="ellipse">
            <a:avLst/>
          </a:prstGeom>
          <a:solidFill>
            <a:srgbClr val="00BBF0">
              <a:alpha val="10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33" name="Image 2" descr="preencoded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8478317" y="2406425"/>
            <a:ext cx="333756" cy="267005"/>
          </a:xfrm>
          <a:prstGeom prst="rect">
            <a:avLst/>
          </a:prstGeom>
        </p:spPr>
      </p:pic>
      <p:sp>
        <p:nvSpPr>
          <p:cNvPr id="34" name="Text 29"/>
          <p:cNvSpPr txBox="1"/>
          <p:nvPr/>
        </p:nvSpPr>
        <p:spPr>
          <a:xfrm>
            <a:off x="8340242" y="3073023"/>
            <a:ext cx="1485900" cy="3337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매끄러운 연결</a:t>
            </a:r>
            <a:endParaRPr lang="en-US" sz="1800" dirty="0"/>
          </a:p>
        </p:txBody>
      </p:sp>
      <p:sp>
        <p:nvSpPr>
          <p:cNvPr id="35" name="Text 30"/>
          <p:cNvSpPr txBox="1"/>
          <p:nvPr/>
        </p:nvSpPr>
        <p:spPr>
          <a:xfrm>
            <a:off x="8340242" y="3768881"/>
            <a:ext cx="2800807" cy="5239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CBD5E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문장과 문단 사이를 '따라서', '그러나', '한편' 등의 연결어로 이어 논리의 흐름을 강화하세요. </a:t>
            </a:r>
          </a:p>
          <a:p>
            <a:pPr marL="0" indent="0" algn="l">
              <a:buNone/>
            </a:pPr>
            <a:endParaRPr lang="en-US" sz="1200" dirty="0">
              <a:solidFill>
                <a:srgbClr val="CBD5E1"/>
              </a:solidFill>
              <a:latin typeface="Noto Sans KR" pitchFamily="34" charset="0"/>
              <a:ea typeface="Noto Sans KR" pitchFamily="34" charset="-122"/>
              <a:cs typeface="Noto Sans KR" pitchFamily="34" charset="-120"/>
            </a:endParaRPr>
          </a:p>
          <a:p>
            <a:pPr marL="0" indent="0" algn="l">
              <a:buNone/>
            </a:pPr>
            <a:r>
              <a:rPr lang="en-US" sz="1200" dirty="0" err="1">
                <a:solidFill>
                  <a:srgbClr val="CBD5E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글의</a:t>
            </a:r>
            <a:r>
              <a:rPr lang="en-US" sz="1200" dirty="0">
                <a:solidFill>
                  <a:srgbClr val="CBD5E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호흡이 자연스러워집니다.</a:t>
            </a:r>
            <a:endParaRPr lang="en-US" sz="1200" dirty="0"/>
          </a:p>
        </p:txBody>
      </p:sp>
      <p:sp>
        <p:nvSpPr>
          <p:cNvPr id="36" name="Shape 31"/>
          <p:cNvSpPr/>
          <p:nvPr/>
        </p:nvSpPr>
        <p:spPr>
          <a:xfrm>
            <a:off x="8340242" y="5566592"/>
            <a:ext cx="2781605" cy="886054"/>
          </a:xfrm>
          <a:prstGeom prst="roundRect">
            <a:avLst>
              <a:gd name="adj" fmla="val 6658"/>
            </a:avLst>
          </a:prstGeom>
          <a:solidFill>
            <a:srgbClr val="000000">
              <a:alpha val="20000"/>
            </a:srgbClr>
          </a:solidFill>
          <a:ln w="12700">
            <a:solidFill>
              <a:srgbClr val="37415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7" name="Text 32"/>
          <p:cNvSpPr txBox="1"/>
          <p:nvPr/>
        </p:nvSpPr>
        <p:spPr>
          <a:xfrm>
            <a:off x="8464601" y="5690036"/>
            <a:ext cx="491033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D1D5D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Effect:</a:t>
            </a:r>
            <a:endParaRPr lang="en-US" sz="1000" dirty="0"/>
          </a:p>
        </p:txBody>
      </p:sp>
      <p:sp>
        <p:nvSpPr>
          <p:cNvPr id="38" name="Text 33"/>
          <p:cNvSpPr txBox="1"/>
          <p:nvPr/>
        </p:nvSpPr>
        <p:spPr>
          <a:xfrm>
            <a:off x="8464601" y="5928694"/>
            <a:ext cx="2624328" cy="3913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9CA3A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앞뒤 문맥의 인과관계가 분명해져 설득력이 높아집니다.</a:t>
            </a:r>
            <a:endParaRPr lang="en-US" sz="1000" dirty="0"/>
          </a:p>
        </p:txBody>
      </p:sp>
      <p:sp>
        <p:nvSpPr>
          <p:cNvPr id="39" name="deckgen:wrap:footer"/>
          <p:cNvSpPr txBox="1"/>
          <p:nvPr/>
        </p:nvSpPr>
        <p:spPr>
          <a:xfrm>
            <a:off x="365760" y="6549390"/>
            <a:ext cx="11460480" cy="240030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0">
                <a:solidFill>
                  <a:srgbClr val="8A8F99"/>
                </a:solidFill>
                <a:latin typeface="Pretendard"/>
              </a:rPr>
              <a:t>© 2026 이애본 · 홍문원(洪文院) 발행 · CC BY-NC-ND 4.0 · useful-ai.dreamitbiz.com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0F0F0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204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" name="Shape 2"/>
          <p:cNvSpPr/>
          <p:nvPr/>
        </p:nvSpPr>
        <p:spPr>
          <a:xfrm>
            <a:off x="761695" y="476402"/>
            <a:ext cx="571500" cy="57607"/>
          </a:xfrm>
          <a:prstGeom prst="rect">
            <a:avLst/>
          </a:prstGeom>
          <a:solidFill>
            <a:srgbClr val="00BBF0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 txBox="1"/>
          <p:nvPr/>
        </p:nvSpPr>
        <p:spPr>
          <a:xfrm>
            <a:off x="761695" y="657454"/>
            <a:ext cx="5362956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글쓰기 원칙 2: 문체와 근거</a:t>
            </a:r>
            <a:endParaRPr lang="en-US" sz="3600" dirty="0"/>
          </a:p>
        </p:txBody>
      </p:sp>
      <p:sp>
        <p:nvSpPr>
          <p:cNvPr id="6" name="Text 4"/>
          <p:cNvSpPr txBox="1"/>
          <p:nvPr/>
        </p:nvSpPr>
        <p:spPr>
          <a:xfrm>
            <a:off x="761695" y="1387145"/>
            <a:ext cx="4953305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dirty="0">
                <a:solidFill>
                  <a:srgbClr val="CBD5E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감정을 배제한 객관적 문체와 확실한 근거로 신뢰를 얻으세요.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761695" y="3041294"/>
            <a:ext cx="4038905" cy="9144"/>
          </a:xfrm>
          <a:prstGeom prst="rect">
            <a:avLst/>
          </a:prstGeom>
          <a:solidFill>
            <a:srgbClr val="FFFFFF">
              <a:alpha val="20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761695" y="2584094"/>
            <a:ext cx="228600" cy="228600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1133856" y="2507285"/>
            <a:ext cx="3143707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문체: 객관적이고 명확하게</a:t>
            </a:r>
            <a:endParaRPr lang="en-US" sz="2100" dirty="0"/>
          </a:p>
        </p:txBody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rcRect t="-2725" b="-2725"/>
          <a:stretch/>
        </p:blipFill>
        <p:spPr>
          <a:xfrm>
            <a:off x="761695" y="3393338"/>
            <a:ext cx="142646" cy="171907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1047902" y="3335731"/>
            <a:ext cx="11338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3인칭 시점 유지</a:t>
            </a:r>
            <a:endParaRPr lang="en-US" sz="1200" dirty="0"/>
          </a:p>
        </p:txBody>
      </p:sp>
      <p:sp>
        <p:nvSpPr>
          <p:cNvPr id="12" name="Text 8"/>
          <p:cNvSpPr txBox="1"/>
          <p:nvPr/>
        </p:nvSpPr>
        <p:spPr>
          <a:xfrm>
            <a:off x="1047902" y="3564331"/>
            <a:ext cx="3829507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'나' 대신 '본 리포트는', '</a:t>
            </a:r>
            <a:r>
              <a:rPr lang="en-US" sz="1200" dirty="0" err="1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자료에</a:t>
            </a:r>
            <a:r>
              <a:rPr lang="en-US" sz="120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</a:t>
            </a:r>
            <a:r>
              <a:rPr lang="en-US" sz="1200" dirty="0" err="1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따르면</a:t>
            </a:r>
            <a:r>
              <a:rPr lang="en-US" sz="120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’ 등 </a:t>
            </a:r>
          </a:p>
          <a:p>
            <a:pPr marL="0" indent="0" algn="l">
              <a:buNone/>
            </a:pPr>
            <a:r>
              <a:rPr lang="en-US" sz="120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3인칭 주어로 객관성을 높입니다.</a:t>
            </a:r>
            <a:endParaRPr lang="en-US" sz="1200" dirty="0"/>
          </a:p>
        </p:txBody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4"/>
          <a:srcRect t="-2725" b="-2725"/>
          <a:stretch/>
        </p:blipFill>
        <p:spPr>
          <a:xfrm>
            <a:off x="761695" y="4316882"/>
            <a:ext cx="142646" cy="171907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1047902" y="4260190"/>
            <a:ext cx="1191463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감정적 표현 지양</a:t>
            </a:r>
            <a:endParaRPr lang="en-US" sz="1200" dirty="0"/>
          </a:p>
        </p:txBody>
      </p:sp>
      <p:sp>
        <p:nvSpPr>
          <p:cNvPr id="15" name="Text 10"/>
          <p:cNvSpPr txBox="1"/>
          <p:nvPr/>
        </p:nvSpPr>
        <p:spPr>
          <a:xfrm>
            <a:off x="1047902" y="4488790"/>
            <a:ext cx="381030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'너무 안타깝다' 같은 주관적 감상이나 비유, 감탄사 등 </a:t>
            </a:r>
          </a:p>
          <a:p>
            <a:pPr marL="0" indent="0" algn="l">
              <a:buNone/>
            </a:pPr>
            <a:r>
              <a:rPr lang="en-US" sz="1200" dirty="0" err="1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문학적</a:t>
            </a:r>
            <a:r>
              <a:rPr lang="en-US" sz="120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수사는 피하세요.</a:t>
            </a:r>
            <a:endParaRPr lang="en-US" sz="1200" dirty="0"/>
          </a:p>
        </p:txBody>
      </p:sp>
      <p:pic>
        <p:nvPicPr>
          <p:cNvPr id="16" name="Image 3" descr="preencoded.png"/>
          <p:cNvPicPr>
            <a:picLocks noChangeAspect="1"/>
          </p:cNvPicPr>
          <p:nvPr/>
        </p:nvPicPr>
        <p:blipFill>
          <a:blip r:embed="rId4"/>
          <a:srcRect t="-2725" b="-2725"/>
          <a:stretch/>
        </p:blipFill>
        <p:spPr>
          <a:xfrm>
            <a:off x="761695" y="5241341"/>
            <a:ext cx="142646" cy="171907"/>
          </a:xfrm>
          <a:prstGeom prst="rect">
            <a:avLst/>
          </a:prstGeom>
        </p:spPr>
      </p:pic>
      <p:sp>
        <p:nvSpPr>
          <p:cNvPr id="17" name="Text 11"/>
          <p:cNvSpPr txBox="1"/>
          <p:nvPr/>
        </p:nvSpPr>
        <p:spPr>
          <a:xfrm>
            <a:off x="1047902" y="5183734"/>
            <a:ext cx="1191463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명료한 서술 어미</a:t>
            </a:r>
            <a:endParaRPr lang="en-US" sz="1200" dirty="0"/>
          </a:p>
        </p:txBody>
      </p:sp>
      <p:sp>
        <p:nvSpPr>
          <p:cNvPr id="18" name="Text 12"/>
          <p:cNvSpPr txBox="1"/>
          <p:nvPr/>
        </p:nvSpPr>
        <p:spPr>
          <a:xfrm>
            <a:off x="1047902" y="5412334"/>
            <a:ext cx="3820363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'~라고 생각된다' 대신 '~로 판단된다', '~임을 알 수 </a:t>
            </a:r>
            <a:r>
              <a:rPr lang="en-US" sz="1200" dirty="0" err="1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있다’로</a:t>
            </a:r>
            <a:r>
              <a:rPr lang="en-US" sz="120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</a:t>
            </a:r>
          </a:p>
          <a:p>
            <a:pPr marL="0" indent="0" algn="l">
              <a:buNone/>
            </a:pPr>
            <a:r>
              <a:rPr lang="en-US" sz="1200" dirty="0" err="1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명확히</a:t>
            </a:r>
            <a:r>
              <a:rPr lang="en-US" sz="120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끝맺으세요.</a:t>
            </a:r>
            <a:endParaRPr lang="en-US" sz="1200" dirty="0"/>
          </a:p>
        </p:txBody>
      </p:sp>
      <p:sp>
        <p:nvSpPr>
          <p:cNvPr id="19" name="Shape 13"/>
          <p:cNvSpPr/>
          <p:nvPr/>
        </p:nvSpPr>
        <p:spPr>
          <a:xfrm>
            <a:off x="5372100" y="1958645"/>
            <a:ext cx="6057900" cy="1848002"/>
          </a:xfrm>
          <a:prstGeom prst="roundRect">
            <a:avLst>
              <a:gd name="adj" fmla="val 1020"/>
            </a:avLst>
          </a:prstGeom>
          <a:solidFill>
            <a:srgbClr val="FFFFFF">
              <a:alpha val="5000"/>
            </a:srgbClr>
          </a:solidFill>
          <a:ln w="12700">
            <a:solidFill>
              <a:srgbClr val="FFFFFF">
                <a:alpha val="1000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20" name="Image 4" descr="preencoded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5619902" y="2245766"/>
            <a:ext cx="171907" cy="171907"/>
          </a:xfrm>
          <a:prstGeom prst="rect">
            <a:avLst/>
          </a:prstGeom>
        </p:spPr>
      </p:pic>
      <p:sp>
        <p:nvSpPr>
          <p:cNvPr id="21" name="Text 14"/>
          <p:cNvSpPr txBox="1"/>
          <p:nvPr/>
        </p:nvSpPr>
        <p:spPr>
          <a:xfrm>
            <a:off x="5867705" y="2205533"/>
            <a:ext cx="1764792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60A5F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근거 제시의 핵심 요소</a:t>
            </a:r>
            <a:endParaRPr lang="en-US" sz="1300" dirty="0"/>
          </a:p>
        </p:txBody>
      </p:sp>
      <p:sp>
        <p:nvSpPr>
          <p:cNvPr id="22" name="Shape 15"/>
          <p:cNvSpPr/>
          <p:nvPr/>
        </p:nvSpPr>
        <p:spPr>
          <a:xfrm>
            <a:off x="5619902" y="2600554"/>
            <a:ext cx="2714854" cy="409651"/>
          </a:xfrm>
          <a:prstGeom prst="roundRect">
            <a:avLst>
              <a:gd name="adj" fmla="val 20764"/>
            </a:avLst>
          </a:prstGeom>
          <a:solidFill>
            <a:srgbClr val="000000">
              <a:alpha val="20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23" name="Image 5" descr="preencoded.png"/>
          <p:cNvPicPr>
            <a:picLocks noChangeAspect="1"/>
          </p:cNvPicPr>
          <p:nvPr/>
        </p:nvPicPr>
        <p:blipFill>
          <a:blip r:embed="rId6"/>
          <a:srcRect l="-38889" r="-38889"/>
          <a:stretch/>
        </p:blipFill>
        <p:spPr>
          <a:xfrm>
            <a:off x="5762549" y="2732227"/>
            <a:ext cx="190195" cy="142646"/>
          </a:xfrm>
          <a:prstGeom prst="rect">
            <a:avLst/>
          </a:prstGeom>
        </p:spPr>
      </p:pic>
      <p:sp>
        <p:nvSpPr>
          <p:cNvPr id="24" name="Text 16"/>
          <p:cNvSpPr txBox="1"/>
          <p:nvPr/>
        </p:nvSpPr>
        <p:spPr>
          <a:xfrm>
            <a:off x="5952744" y="2695651"/>
            <a:ext cx="112837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E2E8F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정확한 수치 인용</a:t>
            </a:r>
            <a:endParaRPr lang="en-US" sz="1100" dirty="0"/>
          </a:p>
        </p:txBody>
      </p:sp>
      <p:sp>
        <p:nvSpPr>
          <p:cNvPr id="25" name="Shape 17"/>
          <p:cNvSpPr/>
          <p:nvPr/>
        </p:nvSpPr>
        <p:spPr>
          <a:xfrm>
            <a:off x="8472830" y="2600554"/>
            <a:ext cx="2714854" cy="409651"/>
          </a:xfrm>
          <a:prstGeom prst="roundRect">
            <a:avLst>
              <a:gd name="adj" fmla="val 20764"/>
            </a:avLst>
          </a:prstGeom>
          <a:solidFill>
            <a:srgbClr val="000000">
              <a:alpha val="20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26" name="Image 6" descr="preencoded.png"/>
          <p:cNvPicPr>
            <a:picLocks noChangeAspect="1"/>
          </p:cNvPicPr>
          <p:nvPr/>
        </p:nvPicPr>
        <p:blipFill>
          <a:blip r:embed="rId7"/>
          <a:srcRect l="-38889" r="-38889"/>
          <a:stretch/>
        </p:blipFill>
        <p:spPr>
          <a:xfrm>
            <a:off x="8615477" y="2732227"/>
            <a:ext cx="190195" cy="142646"/>
          </a:xfrm>
          <a:prstGeom prst="rect">
            <a:avLst/>
          </a:prstGeom>
        </p:spPr>
      </p:pic>
      <p:sp>
        <p:nvSpPr>
          <p:cNvPr id="27" name="Text 18"/>
          <p:cNvSpPr txBox="1"/>
          <p:nvPr/>
        </p:nvSpPr>
        <p:spPr>
          <a:xfrm>
            <a:off x="8805672" y="2695651"/>
            <a:ext cx="112837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E2E8F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공신력 있는 기관</a:t>
            </a:r>
            <a:endParaRPr lang="en-US" sz="1100" dirty="0"/>
          </a:p>
        </p:txBody>
      </p:sp>
      <p:sp>
        <p:nvSpPr>
          <p:cNvPr id="28" name="Shape 19"/>
          <p:cNvSpPr/>
          <p:nvPr/>
        </p:nvSpPr>
        <p:spPr>
          <a:xfrm>
            <a:off x="5619902" y="3151022"/>
            <a:ext cx="2714854" cy="409651"/>
          </a:xfrm>
          <a:prstGeom prst="roundRect">
            <a:avLst>
              <a:gd name="adj" fmla="val 20764"/>
            </a:avLst>
          </a:prstGeom>
          <a:solidFill>
            <a:srgbClr val="000000">
              <a:alpha val="20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29" name="Image 7" descr="preencoded.png"/>
          <p:cNvPicPr>
            <a:picLocks noChangeAspect="1"/>
          </p:cNvPicPr>
          <p:nvPr/>
        </p:nvPicPr>
        <p:blipFill>
          <a:blip r:embed="rId8"/>
          <a:srcRect l="-26191" r="-26191"/>
          <a:stretch/>
        </p:blipFill>
        <p:spPr>
          <a:xfrm>
            <a:off x="5762549" y="3282696"/>
            <a:ext cx="190195" cy="142646"/>
          </a:xfrm>
          <a:prstGeom prst="rect">
            <a:avLst/>
          </a:prstGeom>
        </p:spPr>
      </p:pic>
      <p:sp>
        <p:nvSpPr>
          <p:cNvPr id="30" name="Text 20"/>
          <p:cNvSpPr txBox="1"/>
          <p:nvPr/>
        </p:nvSpPr>
        <p:spPr>
          <a:xfrm>
            <a:off x="5952744" y="3246120"/>
            <a:ext cx="112837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E2E8F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최신 데이터 확인</a:t>
            </a:r>
            <a:endParaRPr lang="en-US" sz="1100" dirty="0"/>
          </a:p>
        </p:txBody>
      </p:sp>
      <p:sp>
        <p:nvSpPr>
          <p:cNvPr id="31" name="Shape 21"/>
          <p:cNvSpPr/>
          <p:nvPr/>
        </p:nvSpPr>
        <p:spPr>
          <a:xfrm>
            <a:off x="8472830" y="3151022"/>
            <a:ext cx="2714854" cy="409651"/>
          </a:xfrm>
          <a:prstGeom prst="roundRect">
            <a:avLst>
              <a:gd name="adj" fmla="val 20764"/>
            </a:avLst>
          </a:prstGeom>
          <a:solidFill>
            <a:srgbClr val="000000">
              <a:alpha val="20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32" name="Image 8" descr="preencoded.png"/>
          <p:cNvPicPr>
            <a:picLocks noChangeAspect="1"/>
          </p:cNvPicPr>
          <p:nvPr/>
        </p:nvPicPr>
        <p:blipFill>
          <a:blip r:embed="rId9"/>
          <a:srcRect l="-3333" r="-3333"/>
          <a:stretch/>
        </p:blipFill>
        <p:spPr>
          <a:xfrm>
            <a:off x="8615477" y="3282696"/>
            <a:ext cx="190195" cy="142646"/>
          </a:xfrm>
          <a:prstGeom prst="rect">
            <a:avLst/>
          </a:prstGeom>
        </p:spPr>
      </p:pic>
      <p:sp>
        <p:nvSpPr>
          <p:cNvPr id="33" name="Text 22"/>
          <p:cNvSpPr txBox="1"/>
          <p:nvPr/>
        </p:nvSpPr>
        <p:spPr>
          <a:xfrm>
            <a:off x="8805672" y="3246120"/>
            <a:ext cx="994867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E2E8F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출처 표기 필수</a:t>
            </a:r>
            <a:endParaRPr lang="en-US" sz="1100" dirty="0"/>
          </a:p>
        </p:txBody>
      </p:sp>
      <p:sp>
        <p:nvSpPr>
          <p:cNvPr id="34" name="Shape 23"/>
          <p:cNvSpPr/>
          <p:nvPr/>
        </p:nvSpPr>
        <p:spPr>
          <a:xfrm>
            <a:off x="5372100" y="3996842"/>
            <a:ext cx="6057900" cy="2419502"/>
          </a:xfrm>
          <a:prstGeom prst="roundRect">
            <a:avLst>
              <a:gd name="adj" fmla="val 595"/>
            </a:avLst>
          </a:prstGeom>
          <a:solidFill>
            <a:srgbClr val="FFFFFF">
              <a:alpha val="5000"/>
            </a:srgbClr>
          </a:solidFill>
          <a:ln w="12700">
            <a:solidFill>
              <a:srgbClr val="FFFFFF">
                <a:alpha val="1000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35" name="Image 9" descr="preencoded.png"/>
          <p:cNvPicPr>
            <a:picLocks noChangeAspect="1"/>
          </p:cNvPicPr>
          <p:nvPr/>
        </p:nvPicPr>
        <p:blipFill>
          <a:blip r:embed="rId10"/>
          <a:srcRect/>
          <a:stretch/>
        </p:blipFill>
        <p:spPr>
          <a:xfrm>
            <a:off x="5619902" y="4283964"/>
            <a:ext cx="171907" cy="171907"/>
          </a:xfrm>
          <a:prstGeom prst="rect">
            <a:avLst/>
          </a:prstGeom>
        </p:spPr>
      </p:pic>
      <p:sp>
        <p:nvSpPr>
          <p:cNvPr id="36" name="Text 24"/>
          <p:cNvSpPr txBox="1"/>
          <p:nvPr/>
        </p:nvSpPr>
        <p:spPr>
          <a:xfrm>
            <a:off x="5867705" y="4244645"/>
            <a:ext cx="1592885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60A5F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근거 제시 사례 비교</a:t>
            </a:r>
            <a:endParaRPr lang="en-US" sz="1300" dirty="0"/>
          </a:p>
        </p:txBody>
      </p:sp>
      <p:sp>
        <p:nvSpPr>
          <p:cNvPr id="37" name="Shape 25"/>
          <p:cNvSpPr/>
          <p:nvPr/>
        </p:nvSpPr>
        <p:spPr>
          <a:xfrm>
            <a:off x="5619902" y="4638751"/>
            <a:ext cx="2714854" cy="981151"/>
          </a:xfrm>
          <a:prstGeom prst="rect">
            <a:avLst/>
          </a:prstGeom>
          <a:solidFill>
            <a:srgbClr val="00204A">
              <a:alpha val="50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8" name="Shape 26"/>
          <p:cNvSpPr/>
          <p:nvPr/>
        </p:nvSpPr>
        <p:spPr>
          <a:xfrm>
            <a:off x="5619902" y="4638751"/>
            <a:ext cx="28346" cy="981151"/>
          </a:xfrm>
          <a:prstGeom prst="rect">
            <a:avLst/>
          </a:prstGeom>
          <a:solidFill>
            <a:srgbClr val="64748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9" name="Text 27"/>
          <p:cNvSpPr txBox="1"/>
          <p:nvPr/>
        </p:nvSpPr>
        <p:spPr>
          <a:xfrm>
            <a:off x="5790895" y="4781398"/>
            <a:ext cx="111465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94A3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막연한 추측 (X)</a:t>
            </a:r>
            <a:endParaRPr lang="en-US" sz="1200" dirty="0"/>
          </a:p>
        </p:txBody>
      </p:sp>
      <p:sp>
        <p:nvSpPr>
          <p:cNvPr id="40" name="Text 28"/>
          <p:cNvSpPr txBox="1"/>
          <p:nvPr/>
        </p:nvSpPr>
        <p:spPr>
          <a:xfrm>
            <a:off x="5790895" y="5076749"/>
            <a:ext cx="2417674" cy="4005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CBD5E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"요즘 청년들이 일자리를 못 구하는 것 같고, 그런 얘기를 자주 듣는다."</a:t>
            </a:r>
            <a:endParaRPr lang="en-US" sz="1000" dirty="0"/>
          </a:p>
        </p:txBody>
      </p:sp>
      <p:sp>
        <p:nvSpPr>
          <p:cNvPr id="41" name="Shape 29"/>
          <p:cNvSpPr/>
          <p:nvPr/>
        </p:nvSpPr>
        <p:spPr>
          <a:xfrm>
            <a:off x="8472830" y="4638751"/>
            <a:ext cx="2714854" cy="981151"/>
          </a:xfrm>
          <a:prstGeom prst="rect">
            <a:avLst/>
          </a:prstGeom>
          <a:solidFill>
            <a:srgbClr val="00204A">
              <a:alpha val="50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2" name="Shape 30"/>
          <p:cNvSpPr/>
          <p:nvPr/>
        </p:nvSpPr>
        <p:spPr>
          <a:xfrm>
            <a:off x="8472830" y="4638751"/>
            <a:ext cx="28346" cy="981151"/>
          </a:xfrm>
          <a:prstGeom prst="rect">
            <a:avLst/>
          </a:prstGeom>
          <a:solidFill>
            <a:srgbClr val="00BBF0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3" name="Text 31"/>
          <p:cNvSpPr txBox="1"/>
          <p:nvPr/>
        </p:nvSpPr>
        <p:spPr>
          <a:xfrm>
            <a:off x="8643823" y="4781398"/>
            <a:ext cx="11338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60A5F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구체적 근거 (O)</a:t>
            </a:r>
            <a:endParaRPr lang="en-US" sz="1200" dirty="0"/>
          </a:p>
        </p:txBody>
      </p:sp>
      <p:sp>
        <p:nvSpPr>
          <p:cNvPr id="44" name="Text 32"/>
          <p:cNvSpPr txBox="1"/>
          <p:nvPr/>
        </p:nvSpPr>
        <p:spPr>
          <a:xfrm>
            <a:off x="8643823" y="5076749"/>
            <a:ext cx="2417674" cy="4005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CBD5E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"최근 통계청 등 공식 통계에 따르면 청년층 실업률이 전체 대비 높다."</a:t>
            </a:r>
            <a:endParaRPr lang="en-US" sz="1000" dirty="0"/>
          </a:p>
        </p:txBody>
      </p:sp>
      <p:sp>
        <p:nvSpPr>
          <p:cNvPr id="45" name="Shape 33"/>
          <p:cNvSpPr/>
          <p:nvPr/>
        </p:nvSpPr>
        <p:spPr>
          <a:xfrm>
            <a:off x="5619902" y="5708599"/>
            <a:ext cx="5562295" cy="457200"/>
          </a:xfrm>
          <a:prstGeom prst="roundRect">
            <a:avLst>
              <a:gd name="adj" fmla="val 16667"/>
            </a:avLst>
          </a:prstGeom>
          <a:solidFill>
            <a:srgbClr val="FBBF24">
              <a:alpha val="10000"/>
            </a:srgbClr>
          </a:solidFill>
          <a:ln w="12700">
            <a:solidFill>
              <a:srgbClr val="FBBF24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46" name="Image 10" descr="preencoded.png"/>
          <p:cNvPicPr>
            <a:picLocks noChangeAspect="1"/>
          </p:cNvPicPr>
          <p:nvPr/>
        </p:nvPicPr>
        <p:blipFill>
          <a:blip r:embed="rId11"/>
          <a:srcRect l="-2512" r="-2512"/>
          <a:stretch/>
        </p:blipFill>
        <p:spPr>
          <a:xfrm>
            <a:off x="5743346" y="5868619"/>
            <a:ext cx="105156" cy="133502"/>
          </a:xfrm>
          <a:prstGeom prst="rect">
            <a:avLst/>
          </a:prstGeom>
        </p:spPr>
      </p:pic>
      <p:sp>
        <p:nvSpPr>
          <p:cNvPr id="47" name="Text 34"/>
          <p:cNvSpPr txBox="1"/>
          <p:nvPr/>
        </p:nvSpPr>
        <p:spPr>
          <a:xfrm>
            <a:off x="5924398" y="5832043"/>
            <a:ext cx="5037430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FCD34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수치를 인용할 때는 반드시 해당 자료의 연도·기관·표본/범위를 명확히 명시해야 합니다.</a:t>
            </a:r>
            <a:endParaRPr lang="en-US" sz="1000" dirty="0"/>
          </a:p>
        </p:txBody>
      </p:sp>
      <p:sp>
        <p:nvSpPr>
          <p:cNvPr id="48" name="deckgen:wrap:footer"/>
          <p:cNvSpPr txBox="1"/>
          <p:nvPr/>
        </p:nvSpPr>
        <p:spPr>
          <a:xfrm>
            <a:off x="365760" y="6549390"/>
            <a:ext cx="11460480" cy="240030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0">
                <a:solidFill>
                  <a:srgbClr val="8A8F99"/>
                </a:solidFill>
                <a:latin typeface="Pretendard"/>
              </a:rPr>
              <a:t>© 2026 이애본 · 홍문원(洪文院) 발행 · CC BY-NC-ND 4.0 · useful-ai.dreamitbiz.com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0F0F0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204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" name="Shape 2"/>
          <p:cNvSpPr/>
          <p:nvPr/>
        </p:nvSpPr>
        <p:spPr>
          <a:xfrm>
            <a:off x="761695" y="476402"/>
            <a:ext cx="571500" cy="57607"/>
          </a:xfrm>
          <a:prstGeom prst="rect">
            <a:avLst/>
          </a:prstGeom>
          <a:solidFill>
            <a:srgbClr val="00BBF0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 txBox="1"/>
          <p:nvPr/>
        </p:nvSpPr>
        <p:spPr>
          <a:xfrm>
            <a:off x="761695" y="657454"/>
            <a:ext cx="6591910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글쓰기 원칙 3: 스토리텔링과 반론</a:t>
            </a:r>
            <a:endParaRPr lang="en-US" sz="3600" dirty="0"/>
          </a:p>
        </p:txBody>
      </p:sp>
      <p:sp>
        <p:nvSpPr>
          <p:cNvPr id="6" name="Text 4"/>
          <p:cNvSpPr txBox="1"/>
          <p:nvPr/>
        </p:nvSpPr>
        <p:spPr>
          <a:xfrm>
            <a:off x="761695" y="1387145"/>
            <a:ext cx="6877202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dirty="0">
                <a:solidFill>
                  <a:srgbClr val="CBD5E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단순한 정보의 나열이 아닌 '서사'를 만들고, 예상되는 반론을 '선제적'으로 방어하세요.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761695" y="2980030"/>
            <a:ext cx="4038905" cy="9144"/>
          </a:xfrm>
          <a:prstGeom prst="rect">
            <a:avLst/>
          </a:prstGeom>
          <a:solidFill>
            <a:srgbClr val="FFFFFF">
              <a:alpha val="20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rcRect t="-45" b="-45"/>
          <a:stretch/>
        </p:blipFill>
        <p:spPr>
          <a:xfrm>
            <a:off x="761695" y="2521915"/>
            <a:ext cx="256946" cy="228600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1162202" y="2446020"/>
            <a:ext cx="2638958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설득을 위한 서사 구조</a:t>
            </a:r>
            <a:endParaRPr lang="en-US" sz="2100" dirty="0"/>
          </a:p>
        </p:txBody>
      </p:sp>
      <p:sp>
        <p:nvSpPr>
          <p:cNvPr id="10" name="Shape 7"/>
          <p:cNvSpPr/>
          <p:nvPr/>
        </p:nvSpPr>
        <p:spPr>
          <a:xfrm>
            <a:off x="5372099" y="2319833"/>
            <a:ext cx="6471557" cy="1705356"/>
          </a:xfrm>
          <a:prstGeom prst="roundRect">
            <a:avLst>
              <a:gd name="adj" fmla="val 1198"/>
            </a:avLst>
          </a:prstGeom>
          <a:solidFill>
            <a:srgbClr val="FFFFFF">
              <a:alpha val="5000"/>
            </a:srgbClr>
          </a:solidFill>
          <a:ln w="12700">
            <a:solidFill>
              <a:srgbClr val="FFFFFF">
                <a:alpha val="1000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5619902" y="2607869"/>
            <a:ext cx="171907" cy="171907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5867705" y="2567635"/>
            <a:ext cx="3136392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60A5F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반론 잠재우기 (DEFENSE STRATEGY)</a:t>
            </a:r>
            <a:endParaRPr lang="en-US" sz="1300" dirty="0"/>
          </a:p>
        </p:txBody>
      </p:sp>
      <p:sp>
        <p:nvSpPr>
          <p:cNvPr id="13" name="Shape 9"/>
          <p:cNvSpPr/>
          <p:nvPr/>
        </p:nvSpPr>
        <p:spPr>
          <a:xfrm>
            <a:off x="5619902" y="2962656"/>
            <a:ext cx="5989712" cy="724205"/>
          </a:xfrm>
          <a:prstGeom prst="roundRect">
            <a:avLst>
              <a:gd name="adj" fmla="val 6645"/>
            </a:avLst>
          </a:prstGeom>
          <a:solidFill>
            <a:srgbClr val="000000">
              <a:alpha val="20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4" name="Text 10"/>
          <p:cNvSpPr txBox="1"/>
          <p:nvPr/>
        </p:nvSpPr>
        <p:spPr>
          <a:xfrm>
            <a:off x="5762549" y="3105302"/>
            <a:ext cx="5776308" cy="4288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E2E8F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내 주장의 약점을 감추지 않고 스스로 드러낸 뒤 방어하면, 독자는 저자가 편향되지 않았으며 깊이 있게 고민했다고 느낍니다. 논리적 완결성이 크게 향상됩니다.</a:t>
            </a:r>
            <a:endParaRPr lang="en-US" sz="1100" dirty="0"/>
          </a:p>
        </p:txBody>
      </p:sp>
      <p:sp>
        <p:nvSpPr>
          <p:cNvPr id="15" name="Shape 11"/>
          <p:cNvSpPr/>
          <p:nvPr/>
        </p:nvSpPr>
        <p:spPr>
          <a:xfrm>
            <a:off x="5372099" y="4215384"/>
            <a:ext cx="6471557" cy="1714500"/>
          </a:xfrm>
          <a:prstGeom prst="roundRect">
            <a:avLst>
              <a:gd name="adj" fmla="val 1185"/>
            </a:avLst>
          </a:prstGeom>
          <a:solidFill>
            <a:srgbClr val="FFFFFF">
              <a:alpha val="5000"/>
            </a:srgbClr>
          </a:solidFill>
          <a:ln w="12700">
            <a:solidFill>
              <a:srgbClr val="FFFFFF">
                <a:alpha val="1000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5"/>
          <a:srcRect l="-1064" r="-1064"/>
          <a:stretch/>
        </p:blipFill>
        <p:spPr>
          <a:xfrm>
            <a:off x="5619902" y="4503420"/>
            <a:ext cx="219456" cy="171907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5915254" y="4463186"/>
            <a:ext cx="1592885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60A5F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실전 반박 패턴 예시</a:t>
            </a:r>
            <a:endParaRPr lang="en-US" sz="1300" dirty="0"/>
          </a:p>
        </p:txBody>
      </p:sp>
      <p:sp>
        <p:nvSpPr>
          <p:cNvPr id="18" name="Shape 13"/>
          <p:cNvSpPr/>
          <p:nvPr/>
        </p:nvSpPr>
        <p:spPr>
          <a:xfrm>
            <a:off x="5619902" y="4858207"/>
            <a:ext cx="5989712" cy="228600"/>
          </a:xfrm>
          <a:prstGeom prst="rect">
            <a:avLst/>
          </a:prstGeom>
          <a:solidFill>
            <a:srgbClr val="FFFFFF">
              <a:alpha val="10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9" name="Text 14"/>
          <p:cNvSpPr txBox="1"/>
          <p:nvPr/>
        </p:nvSpPr>
        <p:spPr>
          <a:xfrm>
            <a:off x="5619901" y="4835347"/>
            <a:ext cx="5918955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CBD5E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"혹자는 초기 도입 비용이 과도하게 높다는 점을 들어 이 정책에 반대할 수 있습니다."</a:t>
            </a:r>
            <a:endParaRPr lang="en-US" sz="1200" dirty="0"/>
          </a:p>
        </p:txBody>
      </p:sp>
      <p:sp>
        <p:nvSpPr>
          <p:cNvPr id="20" name="Shape 15"/>
          <p:cNvSpPr/>
          <p:nvPr/>
        </p:nvSpPr>
        <p:spPr>
          <a:xfrm>
            <a:off x="5619902" y="5201107"/>
            <a:ext cx="5989712" cy="476402"/>
          </a:xfrm>
          <a:prstGeom prst="rect">
            <a:avLst/>
          </a:prstGeom>
          <a:solidFill>
            <a:srgbClr val="3B82F6">
              <a:alpha val="20000"/>
            </a:srgbClr>
          </a:solidFill>
          <a:ln w="12700">
            <a:solidFill>
              <a:srgbClr val="3B82F6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1" name="Text 16"/>
          <p:cNvSpPr txBox="1"/>
          <p:nvPr/>
        </p:nvSpPr>
        <p:spPr>
          <a:xfrm>
            <a:off x="5707684" y="5210251"/>
            <a:ext cx="5831173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"그러나 최근 연구에 따르면, 장기적 유지보수 비용이 30% </a:t>
            </a:r>
            <a:r>
              <a:rPr lang="en-US" sz="1200" dirty="0" err="1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절감되어</a:t>
            </a:r>
            <a:r>
              <a:rPr lang="en-US" sz="120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</a:t>
            </a:r>
          </a:p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3년 내에 손익분기점을 넘어서는 것으로 확인되었습니다." (가상의 예시)</a:t>
            </a:r>
            <a:endParaRPr lang="en-US" sz="1200" dirty="0"/>
          </a:p>
        </p:txBody>
      </p:sp>
      <p:sp>
        <p:nvSpPr>
          <p:cNvPr id="23" name="Shape 18"/>
          <p:cNvSpPr/>
          <p:nvPr/>
        </p:nvSpPr>
        <p:spPr>
          <a:xfrm>
            <a:off x="761695" y="3274466"/>
            <a:ext cx="418795" cy="418795"/>
          </a:xfrm>
          <a:prstGeom prst="ellipse">
            <a:avLst/>
          </a:prstGeom>
          <a:solidFill>
            <a:srgbClr val="00204A"/>
          </a:solidFill>
          <a:ln w="25400">
            <a:solidFill>
              <a:srgbClr val="00BB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24" name="Image 3" descr="preencoded.png"/>
          <p:cNvPicPr>
            <a:picLocks noChangeAspect="1"/>
          </p:cNvPicPr>
          <p:nvPr/>
        </p:nvPicPr>
        <p:blipFill>
          <a:blip r:embed="rId6"/>
          <a:srcRect t="-5953" b="-5953"/>
          <a:stretch/>
        </p:blipFill>
        <p:spPr>
          <a:xfrm flipH="1">
            <a:off x="942438" y="3273901"/>
            <a:ext cx="45719" cy="409302"/>
          </a:xfrm>
          <a:prstGeom prst="rect">
            <a:avLst/>
          </a:prstGeom>
        </p:spPr>
      </p:pic>
      <p:sp>
        <p:nvSpPr>
          <p:cNvPr id="25" name="Text 19"/>
          <p:cNvSpPr txBox="1"/>
          <p:nvPr/>
        </p:nvSpPr>
        <p:spPr>
          <a:xfrm>
            <a:off x="1371600" y="3274466"/>
            <a:ext cx="1648663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1. 문제 제기 (Problem)</a:t>
            </a:r>
            <a:endParaRPr lang="en-US" sz="1200" dirty="0"/>
          </a:p>
        </p:txBody>
      </p:sp>
      <p:sp>
        <p:nvSpPr>
          <p:cNvPr id="26" name="Text 20"/>
          <p:cNvSpPr txBox="1"/>
          <p:nvPr/>
        </p:nvSpPr>
        <p:spPr>
          <a:xfrm>
            <a:off x="1371600" y="3503066"/>
            <a:ext cx="344820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단순 팩트 나열 금지. 독자가 해결해야 할 갈등 상황이나 문제 의식을 제시하여 몰입을 유도합니다.</a:t>
            </a:r>
            <a:endParaRPr lang="en-US" sz="1200" dirty="0"/>
          </a:p>
        </p:txBody>
      </p:sp>
      <p:sp>
        <p:nvSpPr>
          <p:cNvPr id="27" name="Shape 21"/>
          <p:cNvSpPr/>
          <p:nvPr/>
        </p:nvSpPr>
        <p:spPr>
          <a:xfrm>
            <a:off x="761695" y="4198925"/>
            <a:ext cx="418795" cy="418795"/>
          </a:xfrm>
          <a:prstGeom prst="ellipse">
            <a:avLst/>
          </a:prstGeom>
          <a:solidFill>
            <a:srgbClr val="00204A"/>
          </a:solidFill>
          <a:ln w="25400">
            <a:solidFill>
              <a:srgbClr val="00BB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28" name="Image 4" descr="preencoded.png"/>
          <p:cNvPicPr>
            <a:picLocks noChangeAspect="1"/>
          </p:cNvPicPr>
          <p:nvPr/>
        </p:nvPicPr>
        <p:blipFill>
          <a:blip r:embed="rId7"/>
          <a:srcRect/>
          <a:stretch/>
        </p:blipFill>
        <p:spPr>
          <a:xfrm>
            <a:off x="886054" y="4322369"/>
            <a:ext cx="171907" cy="171907"/>
          </a:xfrm>
          <a:prstGeom prst="rect">
            <a:avLst/>
          </a:prstGeom>
        </p:spPr>
      </p:pic>
      <p:sp>
        <p:nvSpPr>
          <p:cNvPr id="29" name="Text 22"/>
          <p:cNvSpPr txBox="1"/>
          <p:nvPr/>
        </p:nvSpPr>
        <p:spPr>
          <a:xfrm>
            <a:off x="1371600" y="4198925"/>
            <a:ext cx="129570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2. 분석 (Analysis)</a:t>
            </a:r>
            <a:endParaRPr lang="en-US" sz="1200" dirty="0"/>
          </a:p>
        </p:txBody>
      </p:sp>
      <p:sp>
        <p:nvSpPr>
          <p:cNvPr id="30" name="Text 23"/>
          <p:cNvSpPr txBox="1"/>
          <p:nvPr/>
        </p:nvSpPr>
        <p:spPr>
          <a:xfrm>
            <a:off x="1371600" y="4427525"/>
            <a:ext cx="350581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현상의 이면을 파고드는 심층 분석 단계입니다. </a:t>
            </a:r>
          </a:p>
          <a:p>
            <a:pPr marL="0" indent="0" algn="l">
              <a:buNone/>
            </a:pPr>
            <a:r>
              <a:rPr lang="en-US" sz="1200" dirty="0" err="1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다양한</a:t>
            </a:r>
            <a:r>
              <a:rPr lang="en-US" sz="120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자료를 구조화하여 저자의 관점을 드러냅니다.</a:t>
            </a:r>
            <a:endParaRPr lang="en-US" sz="1200" dirty="0"/>
          </a:p>
        </p:txBody>
      </p:sp>
      <p:sp>
        <p:nvSpPr>
          <p:cNvPr id="31" name="Shape 24"/>
          <p:cNvSpPr/>
          <p:nvPr/>
        </p:nvSpPr>
        <p:spPr>
          <a:xfrm>
            <a:off x="761695" y="5122469"/>
            <a:ext cx="418795" cy="418795"/>
          </a:xfrm>
          <a:prstGeom prst="ellipse">
            <a:avLst/>
          </a:prstGeom>
          <a:solidFill>
            <a:srgbClr val="00204A"/>
          </a:solidFill>
          <a:ln w="25400">
            <a:solidFill>
              <a:srgbClr val="00BB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32" name="Image 5" descr="preencoded.png"/>
          <p:cNvPicPr>
            <a:picLocks noChangeAspect="1"/>
          </p:cNvPicPr>
          <p:nvPr/>
        </p:nvPicPr>
        <p:blipFill>
          <a:blip r:embed="rId8"/>
          <a:srcRect t="-2222" b="-2222"/>
          <a:stretch/>
        </p:blipFill>
        <p:spPr>
          <a:xfrm>
            <a:off x="909828" y="5245913"/>
            <a:ext cx="123444" cy="171907"/>
          </a:xfrm>
          <a:prstGeom prst="rect">
            <a:avLst/>
          </a:prstGeom>
        </p:spPr>
      </p:pic>
      <p:sp>
        <p:nvSpPr>
          <p:cNvPr id="33" name="Text 25"/>
          <p:cNvSpPr txBox="1"/>
          <p:nvPr/>
        </p:nvSpPr>
        <p:spPr>
          <a:xfrm>
            <a:off x="1371600" y="5122469"/>
            <a:ext cx="134325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3. 제안 (Proposal)</a:t>
            </a:r>
            <a:endParaRPr lang="en-US" sz="1200" dirty="0"/>
          </a:p>
        </p:txBody>
      </p:sp>
      <p:sp>
        <p:nvSpPr>
          <p:cNvPr id="34" name="Text 26"/>
          <p:cNvSpPr txBox="1"/>
          <p:nvPr/>
        </p:nvSpPr>
        <p:spPr>
          <a:xfrm>
            <a:off x="1371600" y="5351069"/>
            <a:ext cx="3458261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앞선 분석을 토대로 필연적이고 논리적인 해결책을 제시합니다. 이것이 곧 리포트의 결론이 됩니다.</a:t>
            </a:r>
            <a:endParaRPr lang="en-US" sz="1200" dirty="0"/>
          </a:p>
        </p:txBody>
      </p:sp>
      <p:sp>
        <p:nvSpPr>
          <p:cNvPr id="35" name="deckgen:wrap:footer"/>
          <p:cNvSpPr txBox="1"/>
          <p:nvPr/>
        </p:nvSpPr>
        <p:spPr>
          <a:xfrm>
            <a:off x="365760" y="6549390"/>
            <a:ext cx="11460480" cy="240030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0">
                <a:solidFill>
                  <a:srgbClr val="8A8F99"/>
                </a:solidFill>
                <a:latin typeface="Pretendard"/>
              </a:rPr>
              <a:t>© 2026 이애본 · 홍문원(洪文院) 발행 · CC BY-NC-ND 4.0 · useful-ai.dreamitbiz.com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0F0F0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204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" name="Shape 2"/>
          <p:cNvSpPr/>
          <p:nvPr/>
        </p:nvSpPr>
        <p:spPr>
          <a:xfrm>
            <a:off x="761695" y="476402"/>
            <a:ext cx="571500" cy="57607"/>
          </a:xfrm>
          <a:prstGeom prst="rect">
            <a:avLst/>
          </a:prstGeom>
          <a:solidFill>
            <a:srgbClr val="00BBF0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 txBox="1"/>
          <p:nvPr/>
        </p:nvSpPr>
        <p:spPr>
          <a:xfrm>
            <a:off x="761695" y="657454"/>
            <a:ext cx="4715561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구조: 서론 - 본론 - 결론</a:t>
            </a:r>
            <a:endParaRPr lang="en-US" sz="3600" dirty="0"/>
          </a:p>
        </p:txBody>
      </p:sp>
      <p:sp>
        <p:nvSpPr>
          <p:cNvPr id="6" name="Text 4"/>
          <p:cNvSpPr txBox="1"/>
          <p:nvPr/>
        </p:nvSpPr>
        <p:spPr>
          <a:xfrm>
            <a:off x="761695" y="1387145"/>
            <a:ext cx="4305910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dirty="0">
                <a:solidFill>
                  <a:srgbClr val="CBD5E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논리적 완결성을 갖춘 리포트의 3단 구성과 핵심 역할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2495398" y="2349094"/>
            <a:ext cx="7200900" cy="19202"/>
          </a:xfrm>
          <a:prstGeom prst="rect">
            <a:avLst/>
          </a:prstGeom>
          <a:solidFill>
            <a:srgbClr val="FFFFFF">
              <a:alpha val="15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8" name="Shape 6"/>
          <p:cNvSpPr/>
          <p:nvPr/>
        </p:nvSpPr>
        <p:spPr>
          <a:xfrm>
            <a:off x="3463747" y="5720486"/>
            <a:ext cx="5266944" cy="562356"/>
          </a:xfrm>
          <a:prstGeom prst="rect">
            <a:avLst/>
          </a:prstGeom>
          <a:solidFill>
            <a:srgbClr val="00BBF0">
              <a:alpha val="10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9" name="Shape 7"/>
          <p:cNvSpPr/>
          <p:nvPr/>
        </p:nvSpPr>
        <p:spPr>
          <a:xfrm>
            <a:off x="3463747" y="5720486"/>
            <a:ext cx="38405" cy="562356"/>
          </a:xfrm>
          <a:prstGeom prst="rect">
            <a:avLst/>
          </a:prstGeom>
          <a:solidFill>
            <a:srgbClr val="00BBF0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0" name="Text 8"/>
          <p:cNvSpPr txBox="1"/>
          <p:nvPr/>
        </p:nvSpPr>
        <p:spPr>
          <a:xfrm>
            <a:off x="3730752" y="5873191"/>
            <a:ext cx="4898441" cy="2386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E2E8F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"서론에서 주장을 밝히고, 본론에서 증명하며, 결론에서 완성합니다."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2210105" y="2062886"/>
            <a:ext cx="571500" cy="571500"/>
          </a:xfrm>
          <a:prstGeom prst="ellipse">
            <a:avLst/>
          </a:prstGeom>
          <a:solidFill>
            <a:srgbClr val="00204A"/>
          </a:solidFill>
          <a:ln w="38100">
            <a:solidFill>
              <a:srgbClr val="00BBF0"/>
            </a:solidFill>
            <a:prstDash val="solid"/>
          </a:ln>
          <a:effectLst>
            <a:outerShdw blurRad="139700" dist="12700" dir="16200000" algn="bl" rotWithShape="0">
              <a:srgbClr val="00BBF0">
                <a:alpha val="3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3" name="Text 11"/>
          <p:cNvSpPr txBox="1"/>
          <p:nvPr/>
        </p:nvSpPr>
        <p:spPr>
          <a:xfrm>
            <a:off x="2425903" y="2177186"/>
            <a:ext cx="314554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00BBF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952805" y="2862986"/>
            <a:ext cx="3086100" cy="2476195"/>
          </a:xfrm>
          <a:prstGeom prst="roundRect">
            <a:avLst>
              <a:gd name="adj" fmla="val 1136"/>
            </a:avLst>
          </a:prstGeom>
          <a:solidFill>
            <a:srgbClr val="FFFFFF">
              <a:alpha val="5000"/>
            </a:srgbClr>
          </a:solidFill>
          <a:ln w="12700">
            <a:solidFill>
              <a:srgbClr val="FFFFFF">
                <a:alpha val="1000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" name="Text 13"/>
          <p:cNvSpPr txBox="1"/>
          <p:nvPr/>
        </p:nvSpPr>
        <p:spPr>
          <a:xfrm>
            <a:off x="1525219" y="3682289"/>
            <a:ext cx="2104034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서론 (Introduction)</a:t>
            </a:r>
            <a:endParaRPr lang="en-US" sz="1600" dirty="0"/>
          </a:p>
        </p:txBody>
      </p:sp>
      <p:sp>
        <p:nvSpPr>
          <p:cNvPr id="16" name="Text 14"/>
          <p:cNvSpPr txBox="1"/>
          <p:nvPr/>
        </p:nvSpPr>
        <p:spPr>
          <a:xfrm>
            <a:off x="1309421" y="4155034"/>
            <a:ext cx="2486254" cy="4764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CBD5E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리포트의 </a:t>
            </a:r>
            <a:r>
              <a:rPr lang="en-US" sz="1200" dirty="0" err="1">
                <a:solidFill>
                  <a:srgbClr val="CBD5E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주제를</a:t>
            </a:r>
            <a:r>
              <a:rPr lang="en-US" sz="1200" dirty="0">
                <a:solidFill>
                  <a:srgbClr val="CBD5E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</a:t>
            </a:r>
            <a:r>
              <a:rPr lang="en-US" sz="1200" dirty="0" err="1">
                <a:solidFill>
                  <a:srgbClr val="CBD5E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소개하고</a:t>
            </a:r>
            <a:r>
              <a:rPr lang="en-US" sz="1200" dirty="0">
                <a:solidFill>
                  <a:srgbClr val="CBD5E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</a:t>
            </a:r>
            <a:r>
              <a:rPr lang="en-US" sz="1200" dirty="0" err="1">
                <a:solidFill>
                  <a:srgbClr val="CBD5E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문제</a:t>
            </a:r>
            <a:r>
              <a:rPr lang="en-US" sz="1200" dirty="0">
                <a:solidFill>
                  <a:srgbClr val="CBD5E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</a:t>
            </a:r>
            <a:r>
              <a:rPr lang="en-US" sz="1200" dirty="0" err="1">
                <a:solidFill>
                  <a:srgbClr val="CBD5E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제기와</a:t>
            </a:r>
            <a:r>
              <a:rPr lang="en-US" sz="1200" dirty="0">
                <a:solidFill>
                  <a:srgbClr val="CBD5E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</a:t>
            </a:r>
            <a:r>
              <a:rPr lang="en-US" sz="1200" dirty="0" err="1">
                <a:solidFill>
                  <a:srgbClr val="CBD5E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함께</a:t>
            </a:r>
            <a:r>
              <a:rPr lang="en-US" sz="1200" dirty="0">
                <a:solidFill>
                  <a:srgbClr val="CBD5E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</a:t>
            </a:r>
            <a:r>
              <a:rPr lang="en-US" sz="1200" dirty="0" err="1">
                <a:solidFill>
                  <a:srgbClr val="CBD5E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나의</a:t>
            </a:r>
            <a:r>
              <a:rPr lang="en-US" sz="1200" dirty="0">
                <a:solidFill>
                  <a:srgbClr val="CBD5E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주장(논제)을 명확히 선언</a:t>
            </a:r>
            <a:endParaRPr lang="en-US" sz="1200" dirty="0"/>
          </a:p>
        </p:txBody>
      </p:sp>
      <p:pic>
        <p:nvPicPr>
          <p:cNvPr id="17" name="Image 0" descr="preencoded.png"/>
          <p:cNvPicPr>
            <a:picLocks noChangeAspect="1"/>
          </p:cNvPicPr>
          <p:nvPr/>
        </p:nvPicPr>
        <p:blipFill>
          <a:blip r:embed="rId3">
            <a:alphaModFix amt="80000"/>
          </a:blip>
          <a:srcRect l="-776" r="-776"/>
          <a:stretch/>
        </p:blipFill>
        <p:spPr>
          <a:xfrm>
            <a:off x="2305202" y="3158338"/>
            <a:ext cx="381305" cy="333756"/>
          </a:xfrm>
          <a:prstGeom prst="rect">
            <a:avLst/>
          </a:prstGeom>
        </p:spPr>
      </p:pic>
      <p:pic>
        <p:nvPicPr>
          <p:cNvPr id="18" name="Image 1" descr="preencoded.png"/>
          <p:cNvPicPr>
            <a:picLocks noChangeAspect="1"/>
          </p:cNvPicPr>
          <p:nvPr/>
        </p:nvPicPr>
        <p:blipFill>
          <a:blip r:embed="rId4"/>
          <a:srcRect t="-180" b="-180"/>
          <a:stretch/>
        </p:blipFill>
        <p:spPr>
          <a:xfrm>
            <a:off x="4560113" y="2272284"/>
            <a:ext cx="95098" cy="152705"/>
          </a:xfrm>
          <a:prstGeom prst="rect">
            <a:avLst/>
          </a:prstGeom>
        </p:spPr>
      </p:pic>
      <p:sp>
        <p:nvSpPr>
          <p:cNvPr id="19" name="Shape 15"/>
          <p:cNvSpPr/>
          <p:nvPr/>
        </p:nvSpPr>
        <p:spPr>
          <a:xfrm>
            <a:off x="5810098" y="2062886"/>
            <a:ext cx="571500" cy="571500"/>
          </a:xfrm>
          <a:prstGeom prst="ellipse">
            <a:avLst/>
          </a:prstGeom>
          <a:solidFill>
            <a:srgbClr val="00204A"/>
          </a:solidFill>
          <a:ln w="38100">
            <a:solidFill>
              <a:srgbClr val="00BBF0"/>
            </a:solidFill>
            <a:prstDash val="solid"/>
          </a:ln>
          <a:effectLst>
            <a:outerShdw blurRad="139700" dist="12700" dir="16200000" algn="bl" rotWithShape="0">
              <a:srgbClr val="00BBF0">
                <a:alpha val="3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0" name="Text 16"/>
          <p:cNvSpPr txBox="1"/>
          <p:nvPr/>
        </p:nvSpPr>
        <p:spPr>
          <a:xfrm>
            <a:off x="6025896" y="2177186"/>
            <a:ext cx="314554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00BBF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</a:t>
            </a:r>
            <a:endParaRPr lang="en-US" sz="1800" dirty="0"/>
          </a:p>
        </p:txBody>
      </p:sp>
      <p:sp>
        <p:nvSpPr>
          <p:cNvPr id="21" name="Shape 17"/>
          <p:cNvSpPr/>
          <p:nvPr/>
        </p:nvSpPr>
        <p:spPr>
          <a:xfrm>
            <a:off x="4552798" y="2862986"/>
            <a:ext cx="3086100" cy="2476195"/>
          </a:xfrm>
          <a:prstGeom prst="roundRect">
            <a:avLst>
              <a:gd name="adj" fmla="val 1136"/>
            </a:avLst>
          </a:prstGeom>
          <a:solidFill>
            <a:srgbClr val="FFFFFF">
              <a:alpha val="5000"/>
            </a:srgbClr>
          </a:solidFill>
          <a:ln w="12700">
            <a:solidFill>
              <a:srgbClr val="FFFFFF">
                <a:alpha val="1000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2" name="Text 18"/>
          <p:cNvSpPr txBox="1"/>
          <p:nvPr/>
        </p:nvSpPr>
        <p:spPr>
          <a:xfrm>
            <a:off x="5520233" y="3682289"/>
            <a:ext cx="1313078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본론 (Body)</a:t>
            </a:r>
            <a:endParaRPr lang="en-US" sz="1600" dirty="0"/>
          </a:p>
        </p:txBody>
      </p:sp>
      <p:sp>
        <p:nvSpPr>
          <p:cNvPr id="23" name="Text 19"/>
          <p:cNvSpPr txBox="1"/>
          <p:nvPr/>
        </p:nvSpPr>
        <p:spPr>
          <a:xfrm>
            <a:off x="4839919" y="4155034"/>
            <a:ext cx="2628900" cy="4764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CBD5E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타당한 근거와 </a:t>
            </a:r>
            <a:r>
              <a:rPr lang="en-US" sz="1200" dirty="0" err="1">
                <a:solidFill>
                  <a:srgbClr val="CBD5E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사례를</a:t>
            </a:r>
            <a:r>
              <a:rPr lang="en-US" sz="1200" dirty="0">
                <a:solidFill>
                  <a:srgbClr val="CBD5E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</a:t>
            </a:r>
            <a:r>
              <a:rPr lang="en-US" sz="1200" dirty="0" err="1">
                <a:solidFill>
                  <a:srgbClr val="CBD5E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제시하고</a:t>
            </a:r>
            <a:r>
              <a:rPr lang="en-US" sz="1200" dirty="0">
                <a:solidFill>
                  <a:srgbClr val="CBD5E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</a:t>
            </a:r>
            <a:r>
              <a:rPr lang="en-US" sz="1200" dirty="0" err="1">
                <a:solidFill>
                  <a:srgbClr val="CBD5E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예상되는</a:t>
            </a:r>
            <a:r>
              <a:rPr lang="en-US" sz="1200" dirty="0">
                <a:solidFill>
                  <a:srgbClr val="CBD5E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</a:t>
            </a:r>
            <a:r>
              <a:rPr lang="en-US" sz="1200" dirty="0" err="1">
                <a:solidFill>
                  <a:srgbClr val="CBD5E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반론에</a:t>
            </a:r>
            <a:r>
              <a:rPr lang="en-US" sz="1200" dirty="0">
                <a:solidFill>
                  <a:srgbClr val="CBD5E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</a:t>
            </a:r>
            <a:r>
              <a:rPr lang="en-US" sz="1200" dirty="0" err="1">
                <a:solidFill>
                  <a:srgbClr val="CBD5E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대응하며</a:t>
            </a:r>
            <a:r>
              <a:rPr lang="en-US" sz="1200" dirty="0">
                <a:solidFill>
                  <a:srgbClr val="CBD5E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</a:t>
            </a:r>
            <a:r>
              <a:rPr lang="en-US" sz="1200" dirty="0" err="1">
                <a:solidFill>
                  <a:srgbClr val="CBD5E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주장을</a:t>
            </a:r>
            <a:r>
              <a:rPr lang="en-US" sz="1200" dirty="0">
                <a:solidFill>
                  <a:srgbClr val="CBD5E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논리적으로 입증</a:t>
            </a:r>
            <a:endParaRPr lang="en-US" sz="1200" dirty="0"/>
          </a:p>
        </p:txBody>
      </p:sp>
      <p:pic>
        <p:nvPicPr>
          <p:cNvPr id="24" name="Image 2" descr="preencoded.png"/>
          <p:cNvPicPr>
            <a:picLocks noChangeAspect="1"/>
          </p:cNvPicPr>
          <p:nvPr/>
        </p:nvPicPr>
        <p:blipFill>
          <a:blip r:embed="rId5">
            <a:alphaModFix amt="80000"/>
          </a:blip>
          <a:srcRect l="-776" r="-776"/>
          <a:stretch/>
        </p:blipFill>
        <p:spPr>
          <a:xfrm>
            <a:off x="5905195" y="3158338"/>
            <a:ext cx="381305" cy="333756"/>
          </a:xfrm>
          <a:prstGeom prst="rect">
            <a:avLst/>
          </a:prstGeom>
        </p:spPr>
      </p:pic>
      <p:pic>
        <p:nvPicPr>
          <p:cNvPr id="25" name="Image 3" descr="preencoded.png"/>
          <p:cNvPicPr>
            <a:picLocks noChangeAspect="1"/>
          </p:cNvPicPr>
          <p:nvPr/>
        </p:nvPicPr>
        <p:blipFill>
          <a:blip r:embed="rId4"/>
          <a:srcRect t="-180" b="-180"/>
          <a:stretch/>
        </p:blipFill>
        <p:spPr>
          <a:xfrm>
            <a:off x="8161020" y="2272284"/>
            <a:ext cx="95098" cy="152705"/>
          </a:xfrm>
          <a:prstGeom prst="rect">
            <a:avLst/>
          </a:prstGeom>
        </p:spPr>
      </p:pic>
      <p:sp>
        <p:nvSpPr>
          <p:cNvPr id="26" name="Shape 20"/>
          <p:cNvSpPr/>
          <p:nvPr/>
        </p:nvSpPr>
        <p:spPr>
          <a:xfrm>
            <a:off x="9411005" y="2062886"/>
            <a:ext cx="571500" cy="571500"/>
          </a:xfrm>
          <a:prstGeom prst="ellipse">
            <a:avLst/>
          </a:prstGeom>
          <a:solidFill>
            <a:srgbClr val="00204A"/>
          </a:solidFill>
          <a:ln w="38100">
            <a:solidFill>
              <a:srgbClr val="00BBF0"/>
            </a:solidFill>
            <a:prstDash val="solid"/>
          </a:ln>
          <a:effectLst>
            <a:outerShdw blurRad="139700" dist="12700" dir="16200000" algn="bl" rotWithShape="0">
              <a:srgbClr val="00BBF0">
                <a:alpha val="3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7" name="Text 21"/>
          <p:cNvSpPr txBox="1"/>
          <p:nvPr/>
        </p:nvSpPr>
        <p:spPr>
          <a:xfrm>
            <a:off x="9626803" y="2177186"/>
            <a:ext cx="314554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00BBF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3</a:t>
            </a:r>
            <a:endParaRPr lang="en-US" sz="1800" dirty="0"/>
          </a:p>
        </p:txBody>
      </p:sp>
      <p:sp>
        <p:nvSpPr>
          <p:cNvPr id="28" name="Shape 22"/>
          <p:cNvSpPr/>
          <p:nvPr/>
        </p:nvSpPr>
        <p:spPr>
          <a:xfrm>
            <a:off x="8153705" y="2862986"/>
            <a:ext cx="3086100" cy="2476195"/>
          </a:xfrm>
          <a:prstGeom prst="roundRect">
            <a:avLst>
              <a:gd name="adj" fmla="val 1136"/>
            </a:avLst>
          </a:prstGeom>
          <a:solidFill>
            <a:srgbClr val="FFFFFF">
              <a:alpha val="5000"/>
            </a:srgbClr>
          </a:solidFill>
          <a:ln w="12700">
            <a:solidFill>
              <a:srgbClr val="FFFFFF">
                <a:alpha val="1000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9" name="Text 23"/>
          <p:cNvSpPr txBox="1"/>
          <p:nvPr/>
        </p:nvSpPr>
        <p:spPr>
          <a:xfrm>
            <a:off x="8806586" y="3682289"/>
            <a:ext cx="1941271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결론 (Conclusion)</a:t>
            </a:r>
            <a:endParaRPr lang="en-US" sz="1600" dirty="0"/>
          </a:p>
        </p:txBody>
      </p:sp>
      <p:sp>
        <p:nvSpPr>
          <p:cNvPr id="30" name="Text 24"/>
          <p:cNvSpPr txBox="1"/>
          <p:nvPr/>
        </p:nvSpPr>
        <p:spPr>
          <a:xfrm>
            <a:off x="8510321" y="4155034"/>
            <a:ext cx="2486254" cy="4764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CBD5E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핵심 내용을 요약하고주장의 </a:t>
            </a:r>
            <a:r>
              <a:rPr lang="en-US" sz="1200" dirty="0" err="1">
                <a:solidFill>
                  <a:srgbClr val="CBD5E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시사점을</a:t>
            </a:r>
            <a:r>
              <a:rPr lang="en-US" sz="1200" dirty="0">
                <a:solidFill>
                  <a:srgbClr val="CBD5E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</a:t>
            </a:r>
            <a:r>
              <a:rPr lang="en-US" sz="1200" dirty="0" err="1">
                <a:solidFill>
                  <a:srgbClr val="CBD5E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도출하거나</a:t>
            </a:r>
            <a:r>
              <a:rPr lang="en-US" sz="1200" dirty="0">
                <a:solidFill>
                  <a:srgbClr val="CBD5E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</a:t>
            </a:r>
            <a:r>
              <a:rPr lang="en-US" sz="1200" dirty="0" err="1">
                <a:solidFill>
                  <a:srgbClr val="CBD5E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미래를</a:t>
            </a:r>
            <a:r>
              <a:rPr lang="en-US" sz="1200" dirty="0">
                <a:solidFill>
                  <a:srgbClr val="CBD5E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위한 제언 제시</a:t>
            </a:r>
            <a:endParaRPr lang="en-US" sz="1200" dirty="0"/>
          </a:p>
        </p:txBody>
      </p:sp>
      <p:pic>
        <p:nvPicPr>
          <p:cNvPr id="31" name="Image 4" descr="preencoded.png"/>
          <p:cNvPicPr>
            <a:picLocks noChangeAspect="1"/>
          </p:cNvPicPr>
          <p:nvPr/>
        </p:nvPicPr>
        <p:blipFill>
          <a:blip r:embed="rId6">
            <a:alphaModFix amt="80000"/>
          </a:blip>
          <a:srcRect/>
          <a:stretch/>
        </p:blipFill>
        <p:spPr>
          <a:xfrm>
            <a:off x="9529877" y="3158338"/>
            <a:ext cx="333756" cy="333756"/>
          </a:xfrm>
          <a:prstGeom prst="rect">
            <a:avLst/>
          </a:prstGeom>
        </p:spPr>
      </p:pic>
      <p:sp>
        <p:nvSpPr>
          <p:cNvPr id="32" name="deckgen:wrap:footer"/>
          <p:cNvSpPr txBox="1"/>
          <p:nvPr/>
        </p:nvSpPr>
        <p:spPr>
          <a:xfrm>
            <a:off x="365760" y="6549390"/>
            <a:ext cx="11460480" cy="240030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0">
                <a:solidFill>
                  <a:srgbClr val="8A8F99"/>
                </a:solidFill>
                <a:latin typeface="Pretendard"/>
              </a:rPr>
              <a:t>© 2026 이애본 · 홍문원(洪文院) 발행 · CC BY-NC-ND 4.0 · useful-ai.dreamitbiz.com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0F0F0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204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" name="Shape 2"/>
          <p:cNvSpPr/>
          <p:nvPr/>
        </p:nvSpPr>
        <p:spPr>
          <a:xfrm>
            <a:off x="761695" y="571500"/>
            <a:ext cx="571500" cy="57607"/>
          </a:xfrm>
          <a:prstGeom prst="rect">
            <a:avLst/>
          </a:prstGeom>
          <a:solidFill>
            <a:srgbClr val="00BBF0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 txBox="1"/>
          <p:nvPr/>
        </p:nvSpPr>
        <p:spPr>
          <a:xfrm>
            <a:off x="761695" y="790956"/>
            <a:ext cx="5181905" cy="7717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2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출처·인용 핵심 가이드</a:t>
            </a:r>
            <a:endParaRPr lang="en-US" sz="4200" dirty="0"/>
          </a:p>
        </p:txBody>
      </p:sp>
      <p:sp>
        <p:nvSpPr>
          <p:cNvPr id="6" name="Text 4"/>
          <p:cNvSpPr txBox="1"/>
          <p:nvPr/>
        </p:nvSpPr>
        <p:spPr>
          <a:xfrm>
            <a:off x="761695" y="1649578"/>
            <a:ext cx="7115861" cy="3337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CBD5E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표절을 피하고 학술적 신뢰를 높이기 위해 정확한 인용 원칙을 준수하세요.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761695" y="2373782"/>
            <a:ext cx="3353105" cy="3733495"/>
          </a:xfrm>
          <a:prstGeom prst="rect">
            <a:avLst/>
          </a:prstGeom>
          <a:solidFill>
            <a:srgbClr val="FFFFFF">
              <a:alpha val="5000"/>
            </a:srgbClr>
          </a:solidFill>
          <a:ln w="12700">
            <a:solidFill>
              <a:srgbClr val="FFFFFF">
                <a:alpha val="1000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Shape 6"/>
          <p:cNvSpPr/>
          <p:nvPr/>
        </p:nvSpPr>
        <p:spPr>
          <a:xfrm>
            <a:off x="761695" y="2373782"/>
            <a:ext cx="3333902" cy="38405"/>
          </a:xfrm>
          <a:prstGeom prst="rect">
            <a:avLst/>
          </a:prstGeom>
          <a:solidFill>
            <a:srgbClr val="00BBF0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9" name="Shape 7"/>
          <p:cNvSpPr/>
          <p:nvPr/>
        </p:nvSpPr>
        <p:spPr>
          <a:xfrm>
            <a:off x="1152144" y="2764231"/>
            <a:ext cx="685800" cy="685800"/>
          </a:xfrm>
          <a:prstGeom prst="ellipse">
            <a:avLst/>
          </a:prstGeom>
          <a:solidFill>
            <a:srgbClr val="00BBF0">
              <a:alpha val="10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10" name="Image 0" descr="preencoded.png"/>
          <p:cNvPicPr>
            <a:picLocks noChangeAspect="1"/>
          </p:cNvPicPr>
          <p:nvPr/>
        </p:nvPicPr>
        <p:blipFill>
          <a:blip r:embed="rId3"/>
          <a:srcRect l="-50" r="-50"/>
          <a:stretch/>
        </p:blipFill>
        <p:spPr>
          <a:xfrm>
            <a:off x="1380744" y="2954426"/>
            <a:ext cx="228600" cy="304495"/>
          </a:xfrm>
          <a:prstGeom prst="rect">
            <a:avLst/>
          </a:prstGeom>
        </p:spPr>
      </p:pic>
      <p:sp>
        <p:nvSpPr>
          <p:cNvPr id="11" name="Text 8"/>
          <p:cNvSpPr txBox="1"/>
          <p:nvPr/>
        </p:nvSpPr>
        <p:spPr>
          <a:xfrm>
            <a:off x="1152144" y="3764585"/>
            <a:ext cx="1810512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학과 기준 준수</a:t>
            </a:r>
            <a:endParaRPr lang="en-US" sz="2100" dirty="0"/>
          </a:p>
        </p:txBody>
      </p:sp>
      <p:sp>
        <p:nvSpPr>
          <p:cNvPr id="12" name="Text 9"/>
          <p:cNvSpPr txBox="1"/>
          <p:nvPr/>
        </p:nvSpPr>
        <p:spPr>
          <a:xfrm>
            <a:off x="1152144" y="4355287"/>
            <a:ext cx="2701138" cy="1353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CBD5E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APA, MLA, Chicago 등 학문 분야마다 선호하는 양식이 다릅니다. </a:t>
            </a:r>
          </a:p>
          <a:p>
            <a:pPr marL="0" indent="0" algn="l">
              <a:buNone/>
            </a:pPr>
            <a:endParaRPr lang="en-US" sz="1300" dirty="0">
              <a:solidFill>
                <a:srgbClr val="CBD5E1"/>
              </a:solidFill>
              <a:latin typeface="Noto Sans KR" pitchFamily="34" charset="0"/>
              <a:ea typeface="Noto Sans KR" pitchFamily="34" charset="-122"/>
              <a:cs typeface="Noto Sans KR" pitchFamily="34" charset="-120"/>
            </a:endParaRPr>
          </a:p>
          <a:p>
            <a:pPr marL="0" indent="0" algn="l">
              <a:buNone/>
            </a:pPr>
            <a:r>
              <a:rPr lang="en-US" sz="1300" dirty="0" err="1">
                <a:solidFill>
                  <a:srgbClr val="CBD5E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교수님이나</a:t>
            </a:r>
            <a:r>
              <a:rPr lang="en-US" sz="1300" dirty="0">
                <a:solidFill>
                  <a:srgbClr val="CBD5E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학과에서 지정한 가이드라인을 최우선으로 확인하고 일관되게 적용하십시오.</a:t>
            </a:r>
            <a:endParaRPr lang="en-US" sz="1300" dirty="0"/>
          </a:p>
        </p:txBody>
      </p:sp>
      <p:sp>
        <p:nvSpPr>
          <p:cNvPr id="13" name="Shape 10"/>
          <p:cNvSpPr/>
          <p:nvPr/>
        </p:nvSpPr>
        <p:spPr>
          <a:xfrm>
            <a:off x="4419295" y="2373782"/>
            <a:ext cx="3353105" cy="3733495"/>
          </a:xfrm>
          <a:prstGeom prst="rect">
            <a:avLst/>
          </a:prstGeom>
          <a:solidFill>
            <a:srgbClr val="FFFFFF">
              <a:alpha val="5000"/>
            </a:srgbClr>
          </a:solidFill>
          <a:ln w="12700">
            <a:solidFill>
              <a:srgbClr val="FFFFFF">
                <a:alpha val="1000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Shape 11"/>
          <p:cNvSpPr/>
          <p:nvPr/>
        </p:nvSpPr>
        <p:spPr>
          <a:xfrm>
            <a:off x="4419295" y="2373782"/>
            <a:ext cx="3333902" cy="38405"/>
          </a:xfrm>
          <a:prstGeom prst="rect">
            <a:avLst/>
          </a:prstGeom>
          <a:solidFill>
            <a:srgbClr val="3B82F6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5" name="Shape 12"/>
          <p:cNvSpPr/>
          <p:nvPr/>
        </p:nvSpPr>
        <p:spPr>
          <a:xfrm>
            <a:off x="4809744" y="2764231"/>
            <a:ext cx="685800" cy="685800"/>
          </a:xfrm>
          <a:prstGeom prst="ellipse">
            <a:avLst/>
          </a:prstGeom>
          <a:solidFill>
            <a:srgbClr val="00BBF0">
              <a:alpha val="10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16" name="Image 1" descr="preencoded.png"/>
          <p:cNvPicPr>
            <a:picLocks noChangeAspect="1"/>
          </p:cNvPicPr>
          <p:nvPr/>
        </p:nvPicPr>
        <p:blipFill>
          <a:blip r:embed="rId4"/>
          <a:srcRect l="-107" r="-107"/>
          <a:stretch/>
        </p:blipFill>
        <p:spPr>
          <a:xfrm>
            <a:off x="5020056" y="2954426"/>
            <a:ext cx="267005" cy="304495"/>
          </a:xfrm>
          <a:prstGeom prst="rect">
            <a:avLst/>
          </a:prstGeom>
        </p:spPr>
      </p:pic>
      <p:sp>
        <p:nvSpPr>
          <p:cNvPr id="17" name="Text 13"/>
          <p:cNvSpPr txBox="1"/>
          <p:nvPr/>
        </p:nvSpPr>
        <p:spPr>
          <a:xfrm>
            <a:off x="4809744" y="3764585"/>
            <a:ext cx="2048256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본문 인용과 주석</a:t>
            </a:r>
            <a:endParaRPr lang="en-US" sz="2100" dirty="0"/>
          </a:p>
        </p:txBody>
      </p:sp>
      <p:sp>
        <p:nvSpPr>
          <p:cNvPr id="18" name="Text 14"/>
          <p:cNvSpPr txBox="1"/>
          <p:nvPr/>
        </p:nvSpPr>
        <p:spPr>
          <a:xfrm>
            <a:off x="4686300" y="4355287"/>
            <a:ext cx="2841171" cy="1353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just">
              <a:buNone/>
            </a:pPr>
            <a:r>
              <a:rPr lang="en-US" sz="1300" dirty="0">
                <a:solidFill>
                  <a:srgbClr val="CBD5E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본문 내 괄호(내주)를 사용하여 글의 흐름을 유지하되, 추가 설명이 필요하거나 출처가 복잡할 경우에는 각주(외주)를 활용하여 가독성을 높이는 것이 좋습니다.</a:t>
            </a:r>
            <a:endParaRPr lang="en-US" sz="1300" dirty="0"/>
          </a:p>
        </p:txBody>
      </p:sp>
      <p:sp>
        <p:nvSpPr>
          <p:cNvPr id="19" name="Shape 15"/>
          <p:cNvSpPr/>
          <p:nvPr/>
        </p:nvSpPr>
        <p:spPr>
          <a:xfrm>
            <a:off x="8076895" y="2373782"/>
            <a:ext cx="3353105" cy="3733495"/>
          </a:xfrm>
          <a:prstGeom prst="rect">
            <a:avLst/>
          </a:prstGeom>
          <a:solidFill>
            <a:srgbClr val="FFFFFF">
              <a:alpha val="5000"/>
            </a:srgbClr>
          </a:solidFill>
          <a:ln w="12700">
            <a:solidFill>
              <a:srgbClr val="FFFFFF">
                <a:alpha val="1000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0" name="Shape 16"/>
          <p:cNvSpPr/>
          <p:nvPr/>
        </p:nvSpPr>
        <p:spPr>
          <a:xfrm>
            <a:off x="8076895" y="2373782"/>
            <a:ext cx="3333902" cy="38405"/>
          </a:xfrm>
          <a:prstGeom prst="rect">
            <a:avLst/>
          </a:prstGeom>
          <a:solidFill>
            <a:srgbClr val="60A5F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1" name="Shape 17"/>
          <p:cNvSpPr/>
          <p:nvPr/>
        </p:nvSpPr>
        <p:spPr>
          <a:xfrm>
            <a:off x="8467344" y="2764231"/>
            <a:ext cx="685800" cy="685800"/>
          </a:xfrm>
          <a:prstGeom prst="ellipse">
            <a:avLst/>
          </a:prstGeom>
          <a:solidFill>
            <a:srgbClr val="00BBF0">
              <a:alpha val="10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22" name="Image 2" descr="preencoded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8658454" y="2954426"/>
            <a:ext cx="304495" cy="304495"/>
          </a:xfrm>
          <a:prstGeom prst="rect">
            <a:avLst/>
          </a:prstGeom>
        </p:spPr>
      </p:pic>
      <p:sp>
        <p:nvSpPr>
          <p:cNvPr id="23" name="Text 18"/>
          <p:cNvSpPr txBox="1"/>
          <p:nvPr/>
        </p:nvSpPr>
        <p:spPr>
          <a:xfrm>
            <a:off x="8467344" y="3764585"/>
            <a:ext cx="2048256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필수 요소와 윤리</a:t>
            </a:r>
            <a:endParaRPr lang="en-US" sz="2100" dirty="0"/>
          </a:p>
        </p:txBody>
      </p:sp>
      <p:sp>
        <p:nvSpPr>
          <p:cNvPr id="24" name="Text 19"/>
          <p:cNvSpPr txBox="1"/>
          <p:nvPr/>
        </p:nvSpPr>
        <p:spPr>
          <a:xfrm>
            <a:off x="8467344" y="4355287"/>
            <a:ext cx="2615184" cy="1353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CBD5E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저자, 연도, 제목, 페이지 등 필수 서지 정보를 누락하지 마십시오. </a:t>
            </a:r>
          </a:p>
          <a:p>
            <a:pPr marL="0" indent="0" algn="l">
              <a:buNone/>
            </a:pPr>
            <a:endParaRPr lang="en-US" sz="1300" dirty="0">
              <a:solidFill>
                <a:srgbClr val="CBD5E1"/>
              </a:solidFill>
              <a:latin typeface="Noto Sans KR" pitchFamily="34" charset="0"/>
              <a:ea typeface="Noto Sans KR" pitchFamily="34" charset="-122"/>
              <a:cs typeface="Noto Sans KR" pitchFamily="34" charset="-120"/>
            </a:endParaRPr>
          </a:p>
          <a:p>
            <a:pPr marL="0" indent="0" algn="l">
              <a:buNone/>
            </a:pPr>
            <a:r>
              <a:rPr lang="en-US" sz="1300" dirty="0" err="1">
                <a:solidFill>
                  <a:srgbClr val="CBD5E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타인의</a:t>
            </a:r>
            <a:r>
              <a:rPr lang="en-US" sz="1300" dirty="0">
                <a:solidFill>
                  <a:srgbClr val="CBD5E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문장을 그대로 가져올 때는 반드시 인용 부호를 사용하여 표절 의혹을 방지해야 합니다.</a:t>
            </a:r>
            <a:endParaRPr lang="en-US" sz="1300" dirty="0"/>
          </a:p>
        </p:txBody>
      </p:sp>
      <p:sp>
        <p:nvSpPr>
          <p:cNvPr id="25" name="deckgen:wrap:footer"/>
          <p:cNvSpPr txBox="1"/>
          <p:nvPr/>
        </p:nvSpPr>
        <p:spPr>
          <a:xfrm>
            <a:off x="365760" y="6549390"/>
            <a:ext cx="11460480" cy="240030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0">
                <a:solidFill>
                  <a:srgbClr val="8A8F99"/>
                </a:solidFill>
                <a:latin typeface="Pretendard"/>
              </a:rPr>
              <a:t>© 2026 이애본 · 홍문원(洪文院) 발행 · CC BY-NC-ND 4.0 · useful-ai.dreamitbiz.com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0F0F0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204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" name="Shape 2"/>
          <p:cNvSpPr/>
          <p:nvPr/>
        </p:nvSpPr>
        <p:spPr>
          <a:xfrm>
            <a:off x="761695" y="381305"/>
            <a:ext cx="571500" cy="57607"/>
          </a:xfrm>
          <a:prstGeom prst="rect">
            <a:avLst/>
          </a:prstGeom>
          <a:solidFill>
            <a:srgbClr val="00BBF0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 txBox="1"/>
          <p:nvPr/>
        </p:nvSpPr>
        <p:spPr>
          <a:xfrm>
            <a:off x="761695" y="562356"/>
            <a:ext cx="5372100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실습: 과제문 해석 워크시트</a:t>
            </a:r>
            <a:endParaRPr lang="en-US" sz="3600" dirty="0"/>
          </a:p>
        </p:txBody>
      </p:sp>
      <p:sp>
        <p:nvSpPr>
          <p:cNvPr id="6" name="Text 4"/>
          <p:cNvSpPr txBox="1"/>
          <p:nvPr/>
        </p:nvSpPr>
        <p:spPr>
          <a:xfrm>
            <a:off x="761695" y="1291133"/>
            <a:ext cx="5172761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dirty="0">
                <a:solidFill>
                  <a:srgbClr val="CBD5E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과제 안내문을 받은 즉시, 다음 6가지 항목을 빈칸에 채워보세요.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761695" y="1796796"/>
            <a:ext cx="3429000" cy="1809598"/>
          </a:xfrm>
          <a:prstGeom prst="roundRect">
            <a:avLst>
              <a:gd name="adj" fmla="val 2128"/>
            </a:avLst>
          </a:prstGeom>
          <a:solidFill>
            <a:srgbClr val="FFFFFF">
              <a:alpha val="5000"/>
            </a:srgbClr>
          </a:solidFill>
          <a:ln w="12700">
            <a:solidFill>
              <a:srgbClr val="FFFFFF">
                <a:alpha val="1000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Shape 6"/>
          <p:cNvSpPr/>
          <p:nvPr/>
        </p:nvSpPr>
        <p:spPr>
          <a:xfrm>
            <a:off x="1000354" y="2406701"/>
            <a:ext cx="2952598" cy="9144"/>
          </a:xfrm>
          <a:prstGeom prst="rect">
            <a:avLst/>
          </a:prstGeom>
          <a:solidFill>
            <a:srgbClr val="FFFFFF">
              <a:alpha val="10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1000354" y="2064715"/>
            <a:ext cx="190195" cy="190195"/>
          </a:xfrm>
          <a:prstGeom prst="rect">
            <a:avLst/>
          </a:prstGeom>
        </p:spPr>
      </p:pic>
      <p:sp>
        <p:nvSpPr>
          <p:cNvPr id="10" name="Text 7"/>
          <p:cNvSpPr txBox="1"/>
          <p:nvPr/>
        </p:nvSpPr>
        <p:spPr>
          <a:xfrm>
            <a:off x="1304849" y="2034540"/>
            <a:ext cx="1316736" cy="2386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과제 목적 (Goal)</a:t>
            </a:r>
            <a:endParaRPr lang="en-US" sz="1300" dirty="0"/>
          </a:p>
        </p:txBody>
      </p:sp>
      <p:sp>
        <p:nvSpPr>
          <p:cNvPr id="11" name="Text 8"/>
          <p:cNvSpPr txBox="1"/>
          <p:nvPr/>
        </p:nvSpPr>
        <p:spPr>
          <a:xfrm>
            <a:off x="1000354" y="2562149"/>
            <a:ext cx="276240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E2E8F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수업 핵심 개념을 적용해 정책 대안을 제시</a:t>
            </a:r>
            <a:endParaRPr lang="en-US" sz="1200" dirty="0"/>
          </a:p>
        </p:txBody>
      </p:sp>
      <p:sp>
        <p:nvSpPr>
          <p:cNvPr id="12" name="Text 9"/>
          <p:cNvSpPr txBox="1"/>
          <p:nvPr/>
        </p:nvSpPr>
        <p:spPr>
          <a:xfrm>
            <a:off x="1000354" y="2891333"/>
            <a:ext cx="2227478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i="1" dirty="0">
                <a:solidFill>
                  <a:srgbClr val="94A3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예: 배운 이론으로 현실 문제 해결하기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4381805" y="1796796"/>
            <a:ext cx="3429000" cy="1809598"/>
          </a:xfrm>
          <a:prstGeom prst="roundRect">
            <a:avLst>
              <a:gd name="adj" fmla="val 2128"/>
            </a:avLst>
          </a:prstGeom>
          <a:solidFill>
            <a:srgbClr val="FFFFFF">
              <a:alpha val="5000"/>
            </a:srgbClr>
          </a:solidFill>
          <a:ln w="12700">
            <a:solidFill>
              <a:srgbClr val="FFFFFF">
                <a:alpha val="1000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Shape 11"/>
          <p:cNvSpPr/>
          <p:nvPr/>
        </p:nvSpPr>
        <p:spPr>
          <a:xfrm>
            <a:off x="4619549" y="2406701"/>
            <a:ext cx="2952598" cy="9144"/>
          </a:xfrm>
          <a:prstGeom prst="rect">
            <a:avLst/>
          </a:prstGeom>
          <a:solidFill>
            <a:srgbClr val="FFFFFF">
              <a:alpha val="10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15" name="Image 1" descr="preencoded.png"/>
          <p:cNvPicPr>
            <a:picLocks noChangeAspect="1"/>
          </p:cNvPicPr>
          <p:nvPr/>
        </p:nvPicPr>
        <p:blipFill>
          <a:blip r:embed="rId4"/>
          <a:srcRect l="-1648" r="-1648"/>
          <a:stretch/>
        </p:blipFill>
        <p:spPr>
          <a:xfrm>
            <a:off x="4619549" y="2064715"/>
            <a:ext cx="171907" cy="190195"/>
          </a:xfrm>
          <a:prstGeom prst="rect">
            <a:avLst/>
          </a:prstGeom>
        </p:spPr>
      </p:pic>
      <p:sp>
        <p:nvSpPr>
          <p:cNvPr id="16" name="Text 12"/>
          <p:cNvSpPr txBox="1"/>
          <p:nvPr/>
        </p:nvSpPr>
        <p:spPr>
          <a:xfrm>
            <a:off x="4905756" y="2034540"/>
            <a:ext cx="1526134" cy="2386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예상 독자 (Reader)</a:t>
            </a:r>
            <a:endParaRPr lang="en-US" sz="1300" dirty="0"/>
          </a:p>
        </p:txBody>
      </p:sp>
      <p:sp>
        <p:nvSpPr>
          <p:cNvPr id="17" name="Text 13"/>
          <p:cNvSpPr txBox="1"/>
          <p:nvPr/>
        </p:nvSpPr>
        <p:spPr>
          <a:xfrm>
            <a:off x="4619549" y="2562149"/>
            <a:ext cx="249631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E2E8F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과목 담당 교수님 (전문가이자 학습자)</a:t>
            </a:r>
            <a:endParaRPr lang="en-US" sz="1200" dirty="0"/>
          </a:p>
        </p:txBody>
      </p:sp>
      <p:sp>
        <p:nvSpPr>
          <p:cNvPr id="18" name="Text 14"/>
          <p:cNvSpPr txBox="1"/>
          <p:nvPr/>
        </p:nvSpPr>
        <p:spPr>
          <a:xfrm>
            <a:off x="4619549" y="2891333"/>
            <a:ext cx="2141525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i="1" dirty="0">
                <a:solidFill>
                  <a:srgbClr val="94A3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Tip: 독자를 가르친다는 태도로 작성</a:t>
            </a:r>
            <a:endParaRPr lang="en-US" sz="1000" dirty="0"/>
          </a:p>
        </p:txBody>
      </p:sp>
      <p:sp>
        <p:nvSpPr>
          <p:cNvPr id="19" name="Shape 15"/>
          <p:cNvSpPr/>
          <p:nvPr/>
        </p:nvSpPr>
        <p:spPr>
          <a:xfrm>
            <a:off x="8001000" y="1796796"/>
            <a:ext cx="3429000" cy="1809598"/>
          </a:xfrm>
          <a:prstGeom prst="roundRect">
            <a:avLst>
              <a:gd name="adj" fmla="val 2128"/>
            </a:avLst>
          </a:prstGeom>
          <a:solidFill>
            <a:srgbClr val="FFFFFF">
              <a:alpha val="5000"/>
            </a:srgbClr>
          </a:solidFill>
          <a:ln w="12700">
            <a:solidFill>
              <a:srgbClr val="FFFFFF">
                <a:alpha val="1000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0" name="Shape 16"/>
          <p:cNvSpPr/>
          <p:nvPr/>
        </p:nvSpPr>
        <p:spPr>
          <a:xfrm>
            <a:off x="8238744" y="2406701"/>
            <a:ext cx="2952598" cy="9144"/>
          </a:xfrm>
          <a:prstGeom prst="rect">
            <a:avLst/>
          </a:prstGeom>
          <a:solidFill>
            <a:srgbClr val="FFFFFF">
              <a:alpha val="10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21" name="Image 2" descr="preencoded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8238744" y="2064715"/>
            <a:ext cx="190195" cy="190195"/>
          </a:xfrm>
          <a:prstGeom prst="rect">
            <a:avLst/>
          </a:prstGeom>
        </p:spPr>
      </p:pic>
      <p:sp>
        <p:nvSpPr>
          <p:cNvPr id="22" name="Text 17"/>
          <p:cNvSpPr txBox="1"/>
          <p:nvPr/>
        </p:nvSpPr>
        <p:spPr>
          <a:xfrm>
            <a:off x="8544154" y="2034540"/>
            <a:ext cx="1402690" cy="2386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핵심 동사 (Verbs)</a:t>
            </a:r>
            <a:endParaRPr lang="en-US" sz="1300" dirty="0"/>
          </a:p>
        </p:txBody>
      </p:sp>
      <p:sp>
        <p:nvSpPr>
          <p:cNvPr id="23" name="Text 18"/>
          <p:cNvSpPr txBox="1"/>
          <p:nvPr/>
        </p:nvSpPr>
        <p:spPr>
          <a:xfrm>
            <a:off x="8238744" y="2562149"/>
            <a:ext cx="2533802" cy="4764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E2E8F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분석(Analyze), 비교(Compare), 제안(Propose)</a:t>
            </a:r>
            <a:endParaRPr lang="en-US" sz="1200" dirty="0"/>
          </a:p>
        </p:txBody>
      </p:sp>
      <p:sp>
        <p:nvSpPr>
          <p:cNvPr id="24" name="Text 19"/>
          <p:cNvSpPr txBox="1"/>
          <p:nvPr/>
        </p:nvSpPr>
        <p:spPr>
          <a:xfrm>
            <a:off x="8238744" y="3135478"/>
            <a:ext cx="2313432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i="1" dirty="0">
                <a:solidFill>
                  <a:srgbClr val="94A3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무엇을 해야 하는지 지시하는 단어 확인</a:t>
            </a:r>
            <a:endParaRPr lang="en-US" sz="1000" dirty="0"/>
          </a:p>
        </p:txBody>
      </p:sp>
      <p:sp>
        <p:nvSpPr>
          <p:cNvPr id="25" name="Shape 20"/>
          <p:cNvSpPr/>
          <p:nvPr/>
        </p:nvSpPr>
        <p:spPr>
          <a:xfrm>
            <a:off x="761695" y="3796589"/>
            <a:ext cx="3429000" cy="1809598"/>
          </a:xfrm>
          <a:prstGeom prst="roundRect">
            <a:avLst>
              <a:gd name="adj" fmla="val 2128"/>
            </a:avLst>
          </a:prstGeom>
          <a:solidFill>
            <a:srgbClr val="FFFFFF">
              <a:alpha val="5000"/>
            </a:srgbClr>
          </a:solidFill>
          <a:ln w="12700">
            <a:solidFill>
              <a:srgbClr val="FFFFFF">
                <a:alpha val="1000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6" name="Shape 21"/>
          <p:cNvSpPr/>
          <p:nvPr/>
        </p:nvSpPr>
        <p:spPr>
          <a:xfrm>
            <a:off x="1000354" y="4406494"/>
            <a:ext cx="2952598" cy="9144"/>
          </a:xfrm>
          <a:prstGeom prst="rect">
            <a:avLst/>
          </a:prstGeom>
          <a:solidFill>
            <a:srgbClr val="FFFFFF">
              <a:alpha val="10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27" name="Image 3" descr="preencoded.png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1000354" y="4065422"/>
            <a:ext cx="190195" cy="190195"/>
          </a:xfrm>
          <a:prstGeom prst="rect">
            <a:avLst/>
          </a:prstGeom>
        </p:spPr>
      </p:pic>
      <p:sp>
        <p:nvSpPr>
          <p:cNvPr id="28" name="Text 22"/>
          <p:cNvSpPr txBox="1"/>
          <p:nvPr/>
        </p:nvSpPr>
        <p:spPr>
          <a:xfrm>
            <a:off x="1304849" y="4034333"/>
            <a:ext cx="1431036" cy="2386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기술 규정 (Specs)</a:t>
            </a:r>
            <a:endParaRPr lang="en-US" sz="1300" dirty="0"/>
          </a:p>
        </p:txBody>
      </p:sp>
      <p:sp>
        <p:nvSpPr>
          <p:cNvPr id="29" name="Text 23"/>
          <p:cNvSpPr txBox="1"/>
          <p:nvPr/>
        </p:nvSpPr>
        <p:spPr>
          <a:xfrm>
            <a:off x="1000354" y="4562856"/>
            <a:ext cx="3029407" cy="4764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E2E8F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6~8페이지, Noto Sans KR, APA 인용 형식 준수</a:t>
            </a:r>
            <a:endParaRPr lang="en-US" sz="1200" dirty="0"/>
          </a:p>
        </p:txBody>
      </p:sp>
      <p:sp>
        <p:nvSpPr>
          <p:cNvPr id="30" name="Text 24"/>
          <p:cNvSpPr txBox="1"/>
          <p:nvPr/>
        </p:nvSpPr>
        <p:spPr>
          <a:xfrm>
            <a:off x="1000354" y="5136185"/>
            <a:ext cx="1893722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i="1" dirty="0">
                <a:solidFill>
                  <a:srgbClr val="94A3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글꼴, 분량, 줄간격 등 필수 형식</a:t>
            </a:r>
            <a:endParaRPr lang="en-US" sz="1000" dirty="0"/>
          </a:p>
        </p:txBody>
      </p:sp>
      <p:sp>
        <p:nvSpPr>
          <p:cNvPr id="31" name="Shape 25"/>
          <p:cNvSpPr/>
          <p:nvPr/>
        </p:nvSpPr>
        <p:spPr>
          <a:xfrm>
            <a:off x="4381805" y="3796589"/>
            <a:ext cx="3429000" cy="1809598"/>
          </a:xfrm>
          <a:prstGeom prst="roundRect">
            <a:avLst>
              <a:gd name="adj" fmla="val 2128"/>
            </a:avLst>
          </a:prstGeom>
          <a:solidFill>
            <a:srgbClr val="FFFFFF">
              <a:alpha val="5000"/>
            </a:srgbClr>
          </a:solidFill>
          <a:ln w="12700">
            <a:solidFill>
              <a:srgbClr val="FFFFFF">
                <a:alpha val="1000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2" name="Shape 26"/>
          <p:cNvSpPr/>
          <p:nvPr/>
        </p:nvSpPr>
        <p:spPr>
          <a:xfrm>
            <a:off x="4619549" y="4406494"/>
            <a:ext cx="2952598" cy="9144"/>
          </a:xfrm>
          <a:prstGeom prst="rect">
            <a:avLst/>
          </a:prstGeom>
          <a:solidFill>
            <a:srgbClr val="FFFFFF">
              <a:alpha val="10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33" name="Image 4" descr="preencoded.png"/>
          <p:cNvPicPr>
            <a:picLocks noChangeAspect="1"/>
          </p:cNvPicPr>
          <p:nvPr/>
        </p:nvPicPr>
        <p:blipFill>
          <a:blip r:embed="rId7"/>
          <a:srcRect/>
          <a:stretch/>
        </p:blipFill>
        <p:spPr>
          <a:xfrm>
            <a:off x="4619549" y="4065422"/>
            <a:ext cx="190195" cy="190195"/>
          </a:xfrm>
          <a:prstGeom prst="rect">
            <a:avLst/>
          </a:prstGeom>
        </p:spPr>
      </p:pic>
      <p:sp>
        <p:nvSpPr>
          <p:cNvPr id="34" name="Text 27"/>
          <p:cNvSpPr txBox="1"/>
          <p:nvPr/>
        </p:nvSpPr>
        <p:spPr>
          <a:xfrm>
            <a:off x="4924044" y="4034333"/>
            <a:ext cx="1469441" cy="2386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제출 및 마감 (Due)</a:t>
            </a:r>
            <a:endParaRPr lang="en-US" sz="1300" dirty="0"/>
          </a:p>
        </p:txBody>
      </p:sp>
      <p:sp>
        <p:nvSpPr>
          <p:cNvPr id="35" name="Text 28"/>
          <p:cNvSpPr txBox="1"/>
          <p:nvPr/>
        </p:nvSpPr>
        <p:spPr>
          <a:xfrm>
            <a:off x="4619549" y="4562856"/>
            <a:ext cx="2809951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E2E8F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LMS 업로드 마감 23:59, 표절률 기준 확인(기관마다 다르며 보통 15~20%)</a:t>
            </a:r>
            <a:endParaRPr lang="en-US" sz="1200" dirty="0"/>
          </a:p>
        </p:txBody>
      </p:sp>
      <p:sp>
        <p:nvSpPr>
          <p:cNvPr id="36" name="Text 29"/>
          <p:cNvSpPr txBox="1"/>
          <p:nvPr/>
        </p:nvSpPr>
        <p:spPr>
          <a:xfrm>
            <a:off x="4619549" y="4892040"/>
            <a:ext cx="1645920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i="1" dirty="0">
                <a:solidFill>
                  <a:srgbClr val="94A3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시간 엄수는 기본 중의 기본</a:t>
            </a:r>
            <a:endParaRPr lang="en-US" sz="1000" dirty="0"/>
          </a:p>
        </p:txBody>
      </p:sp>
      <p:sp>
        <p:nvSpPr>
          <p:cNvPr id="37" name="Shape 30"/>
          <p:cNvSpPr/>
          <p:nvPr/>
        </p:nvSpPr>
        <p:spPr>
          <a:xfrm>
            <a:off x="8001000" y="3796589"/>
            <a:ext cx="3429000" cy="1809598"/>
          </a:xfrm>
          <a:prstGeom prst="roundRect">
            <a:avLst>
              <a:gd name="adj" fmla="val 2128"/>
            </a:avLst>
          </a:prstGeom>
          <a:solidFill>
            <a:srgbClr val="FFFFFF">
              <a:alpha val="5000"/>
            </a:srgbClr>
          </a:solidFill>
          <a:ln w="12700">
            <a:solidFill>
              <a:srgbClr val="FFFFFF">
                <a:alpha val="1000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8" name="Shape 31"/>
          <p:cNvSpPr/>
          <p:nvPr/>
        </p:nvSpPr>
        <p:spPr>
          <a:xfrm>
            <a:off x="8238744" y="4406494"/>
            <a:ext cx="2952598" cy="9144"/>
          </a:xfrm>
          <a:prstGeom prst="rect">
            <a:avLst/>
          </a:prstGeom>
          <a:solidFill>
            <a:srgbClr val="FFFFFF">
              <a:alpha val="10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39" name="Image 5" descr="preencoded.png"/>
          <p:cNvPicPr>
            <a:picLocks noChangeAspect="1"/>
          </p:cNvPicPr>
          <p:nvPr/>
        </p:nvPicPr>
        <p:blipFill>
          <a:blip r:embed="rId8"/>
          <a:srcRect/>
          <a:stretch/>
        </p:blipFill>
        <p:spPr>
          <a:xfrm>
            <a:off x="8238744" y="4065422"/>
            <a:ext cx="142646" cy="190195"/>
          </a:xfrm>
          <a:prstGeom prst="rect">
            <a:avLst/>
          </a:prstGeom>
        </p:spPr>
      </p:pic>
      <p:sp>
        <p:nvSpPr>
          <p:cNvPr id="40" name="Text 32"/>
          <p:cNvSpPr txBox="1"/>
          <p:nvPr/>
        </p:nvSpPr>
        <p:spPr>
          <a:xfrm>
            <a:off x="8496605" y="4034333"/>
            <a:ext cx="1488643" cy="2386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평가 기준 (Rubric)</a:t>
            </a:r>
            <a:endParaRPr lang="en-US" sz="1300" dirty="0"/>
          </a:p>
        </p:txBody>
      </p:sp>
      <p:sp>
        <p:nvSpPr>
          <p:cNvPr id="41" name="Text 33"/>
          <p:cNvSpPr txBox="1"/>
          <p:nvPr/>
        </p:nvSpPr>
        <p:spPr>
          <a:xfrm>
            <a:off x="8238744" y="4562856"/>
            <a:ext cx="28483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E2E8F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논지 명확성, 근거의 신뢰성, 형식 준수 여부</a:t>
            </a:r>
            <a:endParaRPr lang="en-US" sz="1200" dirty="0"/>
          </a:p>
        </p:txBody>
      </p:sp>
      <p:sp>
        <p:nvSpPr>
          <p:cNvPr id="42" name="Text 34"/>
          <p:cNvSpPr txBox="1"/>
          <p:nvPr/>
        </p:nvSpPr>
        <p:spPr>
          <a:xfrm>
            <a:off x="8238744" y="4892040"/>
            <a:ext cx="1903781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i="1" dirty="0">
                <a:solidFill>
                  <a:srgbClr val="94A3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어디에 점수 비중이 높은지 확인</a:t>
            </a:r>
            <a:endParaRPr lang="en-US" sz="1000" dirty="0"/>
          </a:p>
        </p:txBody>
      </p:sp>
      <p:sp>
        <p:nvSpPr>
          <p:cNvPr id="43" name="Shape 35"/>
          <p:cNvSpPr/>
          <p:nvPr/>
        </p:nvSpPr>
        <p:spPr>
          <a:xfrm>
            <a:off x="761695" y="5892394"/>
            <a:ext cx="10668305" cy="562356"/>
          </a:xfrm>
          <a:prstGeom prst="rect">
            <a:avLst/>
          </a:prstGeom>
          <a:solidFill>
            <a:srgbClr val="00BBF0">
              <a:alpha val="10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4" name="Shape 36"/>
          <p:cNvSpPr/>
          <p:nvPr/>
        </p:nvSpPr>
        <p:spPr>
          <a:xfrm>
            <a:off x="761695" y="5892394"/>
            <a:ext cx="38405" cy="562356"/>
          </a:xfrm>
          <a:prstGeom prst="rect">
            <a:avLst/>
          </a:prstGeom>
          <a:solidFill>
            <a:srgbClr val="00BBF0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45" name="Image 6" descr="preencoded.png"/>
          <p:cNvPicPr>
            <a:picLocks noChangeAspect="1"/>
          </p:cNvPicPr>
          <p:nvPr/>
        </p:nvPicPr>
        <p:blipFill>
          <a:blip r:embed="rId9"/>
          <a:srcRect/>
          <a:stretch/>
        </p:blipFill>
        <p:spPr>
          <a:xfrm>
            <a:off x="1028700" y="6056071"/>
            <a:ext cx="228600" cy="228600"/>
          </a:xfrm>
          <a:prstGeom prst="rect">
            <a:avLst/>
          </a:prstGeom>
        </p:spPr>
      </p:pic>
      <p:sp>
        <p:nvSpPr>
          <p:cNvPr id="46" name="Text 37"/>
          <p:cNvSpPr txBox="1"/>
          <p:nvPr/>
        </p:nvSpPr>
        <p:spPr>
          <a:xfrm>
            <a:off x="1410005" y="6044184"/>
            <a:ext cx="4411980" cy="2386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지금 바로 여러분의 과제 안내문을 꺼내 위 빈칸을 채워보세요.</a:t>
            </a:r>
            <a:endParaRPr lang="en-US" sz="1300" dirty="0"/>
          </a:p>
        </p:txBody>
      </p:sp>
      <p:sp>
        <p:nvSpPr>
          <p:cNvPr id="47" name="Stage3 Note"/>
          <p:cNvSpPr txBox="1"/>
          <p:nvPr/>
        </p:nvSpPr>
        <p:spPr>
          <a:xfrm>
            <a:off x="571500" y="6560000"/>
            <a:ext cx="11049000" cy="23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900">
                <a:solidFill>
                  <a:srgbClr val="8B95A7"/>
                </a:solidFill>
                <a:latin typeface="Noto Sans KR"/>
                <a:ea typeface="Noto Sans KR"/>
                <a:cs typeface="Noto Sans KR"/>
              </a:rPr>
              <a:t>표절률(유사도) 기준은 기관마다 다르며 보통 15~20% 를 쓴다. 과목·학교 규정을 먼저 확인한다.</a:t>
            </a:r>
          </a:p>
        </p:txBody>
      </p:sp>
      <p:sp>
        <p:nvSpPr>
          <p:cNvPr id="48" name="deckgen:wrap:footer"/>
          <p:cNvSpPr txBox="1"/>
          <p:nvPr/>
        </p:nvSpPr>
        <p:spPr>
          <a:xfrm>
            <a:off x="365760" y="6549390"/>
            <a:ext cx="11460480" cy="240030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0">
                <a:solidFill>
                  <a:srgbClr val="8A8F99"/>
                </a:solidFill>
                <a:latin typeface="Pretendard"/>
              </a:rPr>
              <a:t>© 2026 이애본 · 홍문원(洪文院) 발행 · CC BY-NC-ND 4.0 · useful-ai.dreamitbiz.com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0F0F0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204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" name="Shape 2"/>
          <p:cNvSpPr/>
          <p:nvPr/>
        </p:nvSpPr>
        <p:spPr>
          <a:xfrm>
            <a:off x="761695" y="476402"/>
            <a:ext cx="571500" cy="57607"/>
          </a:xfrm>
          <a:prstGeom prst="rect">
            <a:avLst/>
          </a:prstGeom>
          <a:solidFill>
            <a:srgbClr val="00BBF0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 txBox="1"/>
          <p:nvPr/>
        </p:nvSpPr>
        <p:spPr>
          <a:xfrm>
            <a:off x="761695" y="657454"/>
            <a:ext cx="3467405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분량별 전략 예시</a:t>
            </a:r>
            <a:endParaRPr lang="en-US" sz="3600" dirty="0"/>
          </a:p>
        </p:txBody>
      </p:sp>
      <p:sp>
        <p:nvSpPr>
          <p:cNvPr id="6" name="Text 4"/>
          <p:cNvSpPr txBox="1"/>
          <p:nvPr/>
        </p:nvSpPr>
        <p:spPr>
          <a:xfrm>
            <a:off x="4190695" y="1003097"/>
            <a:ext cx="4429354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dirty="0">
                <a:solidFill>
                  <a:srgbClr val="CBD5E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페이지 수에 따라 선택해야 할 작성 전략이 달라집니다.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78027" y="1422350"/>
            <a:ext cx="5143500" cy="4651553"/>
          </a:xfrm>
          <a:prstGeom prst="roundRect">
            <a:avLst>
              <a:gd name="adj" fmla="val 267"/>
            </a:avLst>
          </a:prstGeom>
          <a:solidFill>
            <a:srgbClr val="FFFFFF">
              <a:alpha val="5000"/>
            </a:srgbClr>
          </a:solidFill>
          <a:ln w="12700">
            <a:solidFill>
              <a:srgbClr val="FFFFFF">
                <a:alpha val="1000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Shape 6"/>
          <p:cNvSpPr/>
          <p:nvPr/>
        </p:nvSpPr>
        <p:spPr>
          <a:xfrm>
            <a:off x="687171" y="1380286"/>
            <a:ext cx="5124298" cy="951889"/>
          </a:xfrm>
          <a:prstGeom prst="rect">
            <a:avLst/>
          </a:prstGeom>
          <a:solidFill>
            <a:srgbClr val="000000">
              <a:alpha val="20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9" name="Shape 7"/>
          <p:cNvSpPr/>
          <p:nvPr/>
        </p:nvSpPr>
        <p:spPr>
          <a:xfrm>
            <a:off x="687171" y="2373324"/>
            <a:ext cx="5124298" cy="45719"/>
          </a:xfrm>
          <a:prstGeom prst="rect">
            <a:avLst/>
          </a:prstGeom>
          <a:solidFill>
            <a:srgbClr val="3B82F6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0" name="Text 8"/>
          <p:cNvSpPr txBox="1"/>
          <p:nvPr/>
        </p:nvSpPr>
        <p:spPr>
          <a:xfrm>
            <a:off x="792326" y="1515161"/>
            <a:ext cx="4863694" cy="4197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1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짧은 리포트 (~2p)</a:t>
            </a:r>
            <a:endParaRPr lang="en-US" sz="2100" dirty="0"/>
          </a:p>
        </p:txBody>
      </p:sp>
      <p:sp>
        <p:nvSpPr>
          <p:cNvPr id="11" name="Text 9"/>
          <p:cNvSpPr txBox="1"/>
          <p:nvPr/>
        </p:nvSpPr>
        <p:spPr>
          <a:xfrm>
            <a:off x="792326" y="1974190"/>
            <a:ext cx="477225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CBD5E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핵심 압축 &amp; 논리적 완결성</a:t>
            </a:r>
            <a:endParaRPr lang="en-US" sz="1200" dirty="0"/>
          </a:p>
        </p:txBody>
      </p:sp>
      <p:pic>
        <p:nvPicPr>
          <p:cNvPr id="12" name="Image 0" descr="preencoded.png"/>
          <p:cNvPicPr>
            <a:picLocks noChangeAspect="1"/>
          </p:cNvPicPr>
          <p:nvPr/>
        </p:nvPicPr>
        <p:blipFill>
          <a:blip r:embed="rId3"/>
          <a:srcRect l="-13318" r="-13318"/>
          <a:stretch/>
        </p:blipFill>
        <p:spPr>
          <a:xfrm>
            <a:off x="925829" y="2658618"/>
            <a:ext cx="190195" cy="133502"/>
          </a:xfrm>
          <a:prstGeom prst="rect">
            <a:avLst/>
          </a:prstGeom>
        </p:spPr>
      </p:pic>
      <p:sp>
        <p:nvSpPr>
          <p:cNvPr id="13" name="Text 10"/>
          <p:cNvSpPr txBox="1"/>
          <p:nvPr/>
        </p:nvSpPr>
        <p:spPr>
          <a:xfrm>
            <a:off x="1116025" y="2622957"/>
            <a:ext cx="141732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60A5F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구조 (STRUCTURE)</a:t>
            </a:r>
            <a:endParaRPr lang="en-US" sz="1000" dirty="0"/>
          </a:p>
        </p:txBody>
      </p:sp>
      <p:pic>
        <p:nvPicPr>
          <p:cNvPr id="14" name="Image 1" descr="preencoded.png"/>
          <p:cNvPicPr>
            <a:picLocks noChangeAspect="1"/>
          </p:cNvPicPr>
          <p:nvPr/>
        </p:nvPicPr>
        <p:blipFill>
          <a:blip r:embed="rId4"/>
          <a:srcRect l="-21233" r="-21233"/>
          <a:stretch/>
        </p:blipFill>
        <p:spPr>
          <a:xfrm>
            <a:off x="925829" y="3551073"/>
            <a:ext cx="190195" cy="133502"/>
          </a:xfrm>
          <a:prstGeom prst="rect">
            <a:avLst/>
          </a:prstGeom>
        </p:spPr>
      </p:pic>
      <p:sp>
        <p:nvSpPr>
          <p:cNvPr id="15" name="Text 11"/>
          <p:cNvSpPr txBox="1"/>
          <p:nvPr/>
        </p:nvSpPr>
        <p:spPr>
          <a:xfrm>
            <a:off x="1116025" y="3514497"/>
            <a:ext cx="126553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60A5F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근거 (EVIDENCE)</a:t>
            </a:r>
            <a:endParaRPr lang="en-US" sz="1000" dirty="0"/>
          </a:p>
        </p:txBody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5"/>
          <a:srcRect l="-44978" r="-44978"/>
          <a:stretch/>
        </p:blipFill>
        <p:spPr>
          <a:xfrm>
            <a:off x="868509" y="4442613"/>
            <a:ext cx="247515" cy="173736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1116025" y="4406037"/>
            <a:ext cx="1217981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60A5F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예시 (EXAMPLE)</a:t>
            </a:r>
            <a:endParaRPr lang="en-US" sz="1000" dirty="0"/>
          </a:p>
        </p:txBody>
      </p:sp>
      <p:pic>
        <p:nvPicPr>
          <p:cNvPr id="18" name="Image 3" descr="preencoded.png"/>
          <p:cNvPicPr>
            <a:picLocks noChangeAspect="1"/>
          </p:cNvPicPr>
          <p:nvPr/>
        </p:nvPicPr>
        <p:blipFill>
          <a:blip r:embed="rId6"/>
          <a:srcRect l="-31409" r="-31409"/>
          <a:stretch/>
        </p:blipFill>
        <p:spPr>
          <a:xfrm>
            <a:off x="925829" y="5110125"/>
            <a:ext cx="190195" cy="133502"/>
          </a:xfrm>
          <a:prstGeom prst="rect">
            <a:avLst/>
          </a:prstGeom>
        </p:spPr>
      </p:pic>
      <p:sp>
        <p:nvSpPr>
          <p:cNvPr id="19" name="Text 13"/>
          <p:cNvSpPr txBox="1"/>
          <p:nvPr/>
        </p:nvSpPr>
        <p:spPr>
          <a:xfrm>
            <a:off x="1116025" y="5074463"/>
            <a:ext cx="1503274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60A5F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결론 (CONCLUSION)</a:t>
            </a:r>
            <a:endParaRPr lang="en-US" sz="1000" dirty="0"/>
          </a:p>
        </p:txBody>
      </p:sp>
      <p:sp>
        <p:nvSpPr>
          <p:cNvPr id="20" name="Shape 14"/>
          <p:cNvSpPr/>
          <p:nvPr/>
        </p:nvSpPr>
        <p:spPr>
          <a:xfrm>
            <a:off x="6202831" y="1422350"/>
            <a:ext cx="5416209" cy="4651553"/>
          </a:xfrm>
          <a:prstGeom prst="roundRect">
            <a:avLst>
              <a:gd name="adj" fmla="val 267"/>
            </a:avLst>
          </a:prstGeom>
          <a:solidFill>
            <a:srgbClr val="FFFFFF">
              <a:alpha val="5000"/>
            </a:srgbClr>
          </a:solidFill>
          <a:ln w="12700">
            <a:solidFill>
              <a:srgbClr val="FFFFFF">
                <a:alpha val="1000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1" name="Shape 15"/>
          <p:cNvSpPr/>
          <p:nvPr/>
        </p:nvSpPr>
        <p:spPr>
          <a:xfrm>
            <a:off x="6211975" y="1424174"/>
            <a:ext cx="5416209" cy="968353"/>
          </a:xfrm>
          <a:prstGeom prst="rect">
            <a:avLst/>
          </a:prstGeom>
          <a:solidFill>
            <a:srgbClr val="000000">
              <a:alpha val="20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2" name="Shape 16"/>
          <p:cNvSpPr/>
          <p:nvPr/>
        </p:nvSpPr>
        <p:spPr>
          <a:xfrm>
            <a:off x="6211976" y="2373324"/>
            <a:ext cx="5416208" cy="45719"/>
          </a:xfrm>
          <a:prstGeom prst="rect">
            <a:avLst/>
          </a:prstGeom>
          <a:solidFill>
            <a:srgbClr val="00BBF0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3" name="Text 17"/>
          <p:cNvSpPr txBox="1"/>
          <p:nvPr/>
        </p:nvSpPr>
        <p:spPr>
          <a:xfrm>
            <a:off x="6449720" y="1505039"/>
            <a:ext cx="4854550" cy="4197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1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긴 리포트 (10p+)</a:t>
            </a:r>
            <a:endParaRPr lang="en-US" sz="2100" dirty="0"/>
          </a:p>
        </p:txBody>
      </p:sp>
      <p:sp>
        <p:nvSpPr>
          <p:cNvPr id="24" name="Text 18"/>
          <p:cNvSpPr txBox="1"/>
          <p:nvPr/>
        </p:nvSpPr>
        <p:spPr>
          <a:xfrm>
            <a:off x="6449720" y="1964068"/>
            <a:ext cx="476311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CBD5E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심층 논증 &amp; 다각적 분석</a:t>
            </a:r>
            <a:endParaRPr lang="en-US" sz="1200" dirty="0"/>
          </a:p>
        </p:txBody>
      </p:sp>
      <p:pic>
        <p:nvPicPr>
          <p:cNvPr id="25" name="Image 4" descr="preencoded.png"/>
          <p:cNvPicPr>
            <a:picLocks noChangeAspect="1"/>
          </p:cNvPicPr>
          <p:nvPr/>
        </p:nvPicPr>
        <p:blipFill>
          <a:blip r:embed="rId7"/>
          <a:srcRect l="-13318" r="-13318"/>
          <a:stretch/>
        </p:blipFill>
        <p:spPr>
          <a:xfrm>
            <a:off x="6449720" y="2658618"/>
            <a:ext cx="190195" cy="133502"/>
          </a:xfrm>
          <a:prstGeom prst="rect">
            <a:avLst/>
          </a:prstGeom>
        </p:spPr>
      </p:pic>
      <p:sp>
        <p:nvSpPr>
          <p:cNvPr id="26" name="Text 19"/>
          <p:cNvSpPr txBox="1"/>
          <p:nvPr/>
        </p:nvSpPr>
        <p:spPr>
          <a:xfrm>
            <a:off x="6640829" y="2622957"/>
            <a:ext cx="141732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60A5F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구조 (STRUCTURE)</a:t>
            </a:r>
            <a:endParaRPr lang="en-US" sz="1000" dirty="0"/>
          </a:p>
        </p:txBody>
      </p:sp>
      <p:pic>
        <p:nvPicPr>
          <p:cNvPr id="27" name="Image 5" descr="preencoded.png"/>
          <p:cNvPicPr>
            <a:picLocks noChangeAspect="1"/>
          </p:cNvPicPr>
          <p:nvPr/>
        </p:nvPicPr>
        <p:blipFill>
          <a:blip r:embed="rId8"/>
          <a:srcRect l="-21233" r="-21233"/>
          <a:stretch/>
        </p:blipFill>
        <p:spPr>
          <a:xfrm>
            <a:off x="6449720" y="3551073"/>
            <a:ext cx="190195" cy="133502"/>
          </a:xfrm>
          <a:prstGeom prst="rect">
            <a:avLst/>
          </a:prstGeom>
        </p:spPr>
      </p:pic>
      <p:sp>
        <p:nvSpPr>
          <p:cNvPr id="28" name="Text 20"/>
          <p:cNvSpPr txBox="1"/>
          <p:nvPr/>
        </p:nvSpPr>
        <p:spPr>
          <a:xfrm>
            <a:off x="6640829" y="3514497"/>
            <a:ext cx="126553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60A5F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근거 (EVIDENCE)</a:t>
            </a:r>
            <a:endParaRPr lang="en-US" sz="1000" dirty="0"/>
          </a:p>
        </p:txBody>
      </p:sp>
      <p:pic>
        <p:nvPicPr>
          <p:cNvPr id="29" name="Image 6" descr="preencoded.png"/>
          <p:cNvPicPr>
            <a:picLocks noChangeAspect="1"/>
          </p:cNvPicPr>
          <p:nvPr/>
        </p:nvPicPr>
        <p:blipFill>
          <a:blip r:embed="rId9"/>
          <a:srcRect l="-21233" r="-21233"/>
          <a:stretch/>
        </p:blipFill>
        <p:spPr>
          <a:xfrm>
            <a:off x="6449720" y="4442613"/>
            <a:ext cx="190195" cy="133502"/>
          </a:xfrm>
          <a:prstGeom prst="rect">
            <a:avLst/>
          </a:prstGeom>
        </p:spPr>
      </p:pic>
      <p:sp>
        <p:nvSpPr>
          <p:cNvPr id="30" name="Text 21"/>
          <p:cNvSpPr txBox="1"/>
          <p:nvPr/>
        </p:nvSpPr>
        <p:spPr>
          <a:xfrm>
            <a:off x="6640829" y="4406037"/>
            <a:ext cx="1217981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60A5F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예시 (EXAMPLE)</a:t>
            </a:r>
            <a:endParaRPr lang="en-US" sz="1000" dirty="0"/>
          </a:p>
        </p:txBody>
      </p:sp>
      <p:pic>
        <p:nvPicPr>
          <p:cNvPr id="31" name="Image 7" descr="preencoded.png"/>
          <p:cNvPicPr>
            <a:picLocks noChangeAspect="1"/>
          </p:cNvPicPr>
          <p:nvPr/>
        </p:nvPicPr>
        <p:blipFill>
          <a:blip r:embed="rId10"/>
          <a:srcRect l="-21233" r="-21233"/>
          <a:stretch/>
        </p:blipFill>
        <p:spPr>
          <a:xfrm>
            <a:off x="6449720" y="5334153"/>
            <a:ext cx="190195" cy="133502"/>
          </a:xfrm>
          <a:prstGeom prst="rect">
            <a:avLst/>
          </a:prstGeom>
        </p:spPr>
      </p:pic>
      <p:sp>
        <p:nvSpPr>
          <p:cNvPr id="32" name="Text 22"/>
          <p:cNvSpPr txBox="1"/>
          <p:nvPr/>
        </p:nvSpPr>
        <p:spPr>
          <a:xfrm>
            <a:off x="6640829" y="5298491"/>
            <a:ext cx="1503274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60A5F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결론 (CONCLUSION)</a:t>
            </a:r>
            <a:endParaRPr lang="en-US" sz="1000" dirty="0"/>
          </a:p>
        </p:txBody>
      </p:sp>
      <p:sp>
        <p:nvSpPr>
          <p:cNvPr id="33" name="Text 23"/>
          <p:cNvSpPr txBox="1"/>
          <p:nvPr/>
        </p:nvSpPr>
        <p:spPr>
          <a:xfrm>
            <a:off x="1163573" y="2866187"/>
            <a:ext cx="4492447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E2E8F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서론을 최소화하고 본론 논리에 집중. </a:t>
            </a:r>
          </a:p>
          <a:p>
            <a:pPr marL="0" indent="0" algn="l">
              <a:buNone/>
            </a:pPr>
            <a:r>
              <a:rPr lang="en-US" sz="1200" dirty="0" err="1">
                <a:solidFill>
                  <a:srgbClr val="E2E8F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논제</a:t>
            </a:r>
            <a:r>
              <a:rPr lang="en-US" sz="1200" dirty="0">
                <a:solidFill>
                  <a:srgbClr val="E2E8F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(Thesis)를 첫 단락에 명확히 선언.</a:t>
            </a:r>
            <a:endParaRPr lang="en-US" sz="1200" dirty="0"/>
          </a:p>
        </p:txBody>
      </p:sp>
      <p:sp>
        <p:nvSpPr>
          <p:cNvPr id="34" name="Text 24"/>
          <p:cNvSpPr txBox="1"/>
          <p:nvPr/>
        </p:nvSpPr>
        <p:spPr>
          <a:xfrm>
            <a:off x="1163573" y="3758641"/>
            <a:ext cx="447324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E2E8F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가장 강력한 핵심 근거 2가지 선택. </a:t>
            </a:r>
          </a:p>
          <a:p>
            <a:pPr marL="0" indent="0" algn="l">
              <a:buNone/>
            </a:pPr>
            <a:r>
              <a:rPr lang="en-US" sz="1200" dirty="0" err="1">
                <a:solidFill>
                  <a:srgbClr val="E2E8F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그래프나</a:t>
            </a:r>
            <a:r>
              <a:rPr lang="en-US" sz="1200" dirty="0">
                <a:solidFill>
                  <a:srgbClr val="E2E8F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도표는 1개 이내로 제한.</a:t>
            </a:r>
            <a:endParaRPr lang="en-US" sz="1200" dirty="0"/>
          </a:p>
        </p:txBody>
      </p:sp>
      <p:sp>
        <p:nvSpPr>
          <p:cNvPr id="35" name="Text 25"/>
          <p:cNvSpPr txBox="1"/>
          <p:nvPr/>
        </p:nvSpPr>
        <p:spPr>
          <a:xfrm>
            <a:off x="1163573" y="4650181"/>
            <a:ext cx="399684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E2E8F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장황한 설명 대신 대표적인 단일 사례 1개로 압축하여 설명.</a:t>
            </a:r>
            <a:endParaRPr lang="en-US" sz="1200" dirty="0"/>
          </a:p>
        </p:txBody>
      </p:sp>
      <p:sp>
        <p:nvSpPr>
          <p:cNvPr id="36" name="Text 26"/>
          <p:cNvSpPr txBox="1"/>
          <p:nvPr/>
        </p:nvSpPr>
        <p:spPr>
          <a:xfrm>
            <a:off x="1163573" y="5317693"/>
            <a:ext cx="395935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E2E8F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한 단락으로 마무리. 새로운 정보 추가 없이 핵심만 재강조.</a:t>
            </a:r>
            <a:endParaRPr lang="en-US" sz="1200" dirty="0"/>
          </a:p>
        </p:txBody>
      </p:sp>
      <p:sp>
        <p:nvSpPr>
          <p:cNvPr id="37" name="Text 27"/>
          <p:cNvSpPr txBox="1"/>
          <p:nvPr/>
        </p:nvSpPr>
        <p:spPr>
          <a:xfrm>
            <a:off x="6688378" y="2866187"/>
            <a:ext cx="4483303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E2E8F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장/절(Chapter) 구조 도입. 목차를 세분화하여 논리의 흐름을 시각화.</a:t>
            </a:r>
            <a:endParaRPr lang="en-US" sz="1200" dirty="0"/>
          </a:p>
        </p:txBody>
      </p:sp>
      <p:sp>
        <p:nvSpPr>
          <p:cNvPr id="38" name="Text 28"/>
          <p:cNvSpPr txBox="1"/>
          <p:nvPr/>
        </p:nvSpPr>
        <p:spPr>
          <a:xfrm>
            <a:off x="6688378" y="3758641"/>
            <a:ext cx="463235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E2E8F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다양한 데이터, 선행 연구, 전문가 견해를 복합적으로 인용하여 논증 강화.</a:t>
            </a:r>
            <a:endParaRPr lang="en-US" sz="1200" dirty="0"/>
          </a:p>
        </p:txBody>
      </p:sp>
      <p:sp>
        <p:nvSpPr>
          <p:cNvPr id="39" name="Text 29"/>
          <p:cNvSpPr txBox="1"/>
          <p:nvPr/>
        </p:nvSpPr>
        <p:spPr>
          <a:xfrm>
            <a:off x="6688378" y="4650181"/>
            <a:ext cx="47301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E2E8F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주장별로 구체적 사례 제시. 예상되는 반론을 위한 별도 섹션(Defense) 포함.</a:t>
            </a:r>
            <a:endParaRPr lang="en-US" sz="1200" dirty="0"/>
          </a:p>
        </p:txBody>
      </p:sp>
      <p:sp>
        <p:nvSpPr>
          <p:cNvPr id="40" name="Text 30"/>
          <p:cNvSpPr txBox="1"/>
          <p:nvPr/>
        </p:nvSpPr>
        <p:spPr>
          <a:xfrm>
            <a:off x="6688377" y="5541721"/>
            <a:ext cx="4632351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E2E8F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요약, 시사점, 한계, 제언을 각각 분리하여 상세 기술. 참고문헌 15개 이상.</a:t>
            </a:r>
            <a:endParaRPr lang="en-US" sz="1200" dirty="0"/>
          </a:p>
        </p:txBody>
      </p:sp>
      <p:sp>
        <p:nvSpPr>
          <p:cNvPr id="41" name="Shape 31"/>
          <p:cNvSpPr/>
          <p:nvPr/>
        </p:nvSpPr>
        <p:spPr>
          <a:xfrm>
            <a:off x="750265" y="6215637"/>
            <a:ext cx="10668305" cy="386791"/>
          </a:xfrm>
          <a:prstGeom prst="roundRect">
            <a:avLst>
              <a:gd name="adj" fmla="val 11024"/>
            </a:avLst>
          </a:prstGeom>
          <a:solidFill>
            <a:srgbClr val="00BBF0">
              <a:alpha val="15000"/>
            </a:srgbClr>
          </a:solidFill>
          <a:ln w="12700">
            <a:solidFill>
              <a:srgbClr val="00BBF0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2" name="Text 32"/>
          <p:cNvSpPr txBox="1"/>
          <p:nvPr/>
        </p:nvSpPr>
        <p:spPr>
          <a:xfrm>
            <a:off x="3723894" y="6304334"/>
            <a:ext cx="2716682" cy="2386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여러분의 과제 분량은 어느 쪽인가요?</a:t>
            </a:r>
            <a:endParaRPr lang="en-US" sz="1300" dirty="0"/>
          </a:p>
        </p:txBody>
      </p:sp>
      <p:sp>
        <p:nvSpPr>
          <p:cNvPr id="43" name="Text 33"/>
          <p:cNvSpPr txBox="1"/>
          <p:nvPr/>
        </p:nvSpPr>
        <p:spPr>
          <a:xfrm>
            <a:off x="6754215" y="6304334"/>
            <a:ext cx="1821485" cy="2386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93C5F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지금 전략을 선택하세요.</a:t>
            </a:r>
            <a:endParaRPr lang="en-US" sz="1300" dirty="0"/>
          </a:p>
        </p:txBody>
      </p:sp>
      <p:pic>
        <p:nvPicPr>
          <p:cNvPr id="44" name="Image 8" descr="preencoded.png"/>
          <p:cNvPicPr>
            <a:picLocks noChangeAspect="1"/>
          </p:cNvPicPr>
          <p:nvPr/>
        </p:nvPicPr>
        <p:blipFill>
          <a:blip r:embed="rId11"/>
          <a:srcRect l="-1082" r="-1082"/>
          <a:stretch/>
        </p:blipFill>
        <p:spPr>
          <a:xfrm>
            <a:off x="6449720" y="6339996"/>
            <a:ext cx="161849" cy="181051"/>
          </a:xfrm>
          <a:prstGeom prst="rect">
            <a:avLst/>
          </a:prstGeom>
        </p:spPr>
      </p:pic>
      <p:sp>
        <p:nvSpPr>
          <p:cNvPr id="45" name="deckgen:wrap:footer"/>
          <p:cNvSpPr txBox="1"/>
          <p:nvPr/>
        </p:nvSpPr>
        <p:spPr>
          <a:xfrm>
            <a:off x="365760" y="6549390"/>
            <a:ext cx="11460480" cy="240030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0">
                <a:solidFill>
                  <a:srgbClr val="8A8F99"/>
                </a:solidFill>
                <a:latin typeface="Pretendard"/>
              </a:rPr>
              <a:t>© 2026 이애본 · 홍문원(洪文院) 발행 · CC BY-NC-ND 4.0 · useful-ai.dreamitbiz.com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0F0F0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204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" name="Shape 2"/>
          <p:cNvSpPr/>
          <p:nvPr/>
        </p:nvSpPr>
        <p:spPr>
          <a:xfrm>
            <a:off x="761695" y="476402"/>
            <a:ext cx="571500" cy="57607"/>
          </a:xfrm>
          <a:prstGeom prst="rect">
            <a:avLst/>
          </a:prstGeom>
          <a:solidFill>
            <a:srgbClr val="00BBF0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 txBox="1"/>
          <p:nvPr/>
        </p:nvSpPr>
        <p:spPr>
          <a:xfrm>
            <a:off x="761695" y="657454"/>
            <a:ext cx="5953658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주제 좁히기: Before &amp; After</a:t>
            </a:r>
            <a:endParaRPr lang="en-US" sz="3600" dirty="0"/>
          </a:p>
        </p:txBody>
      </p:sp>
      <p:sp>
        <p:nvSpPr>
          <p:cNvPr id="6" name="Text 4"/>
          <p:cNvSpPr txBox="1"/>
          <p:nvPr/>
        </p:nvSpPr>
        <p:spPr>
          <a:xfrm>
            <a:off x="761695" y="1387145"/>
            <a:ext cx="6020410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dirty="0">
                <a:solidFill>
                  <a:srgbClr val="CBD5E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광범위한 주제는 작성을 어렵게 만듭니다. 대상, 범위, 변수를 구체화하세요.</a:t>
            </a:r>
            <a:endParaRPr lang="en-US" sz="1500" dirty="0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761695" y="2006194"/>
            <a:ext cx="190195" cy="190195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1047902" y="1958645"/>
            <a:ext cx="1810512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F8717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Before: 모호한 주제</a:t>
            </a:r>
            <a:endParaRPr lang="en-US" sz="1500" dirty="0"/>
          </a:p>
        </p:txBody>
      </p:sp>
      <p:sp>
        <p:nvSpPr>
          <p:cNvPr id="9" name="Shape 6"/>
          <p:cNvSpPr/>
          <p:nvPr/>
        </p:nvSpPr>
        <p:spPr>
          <a:xfrm>
            <a:off x="761695" y="2434133"/>
            <a:ext cx="5048402" cy="3857854"/>
          </a:xfrm>
          <a:prstGeom prst="roundRect">
            <a:avLst>
              <a:gd name="adj" fmla="val 468"/>
            </a:avLst>
          </a:prstGeom>
          <a:solidFill>
            <a:srgbClr val="FFFFFF">
              <a:alpha val="5000"/>
            </a:srgbClr>
          </a:solidFill>
          <a:ln w="12700">
            <a:solidFill>
              <a:srgbClr val="FFFFFF">
                <a:alpha val="1000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Text 7"/>
          <p:cNvSpPr txBox="1"/>
          <p:nvPr/>
        </p:nvSpPr>
        <p:spPr>
          <a:xfrm>
            <a:off x="1755648" y="3826764"/>
            <a:ext cx="3267151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1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"청년 실업 문제 해결 방안"</a:t>
            </a:r>
            <a:endParaRPr lang="en-US" sz="2100" dirty="0"/>
          </a:p>
        </p:txBody>
      </p:sp>
      <p:sp>
        <p:nvSpPr>
          <p:cNvPr id="11" name="Shape 8"/>
          <p:cNvSpPr/>
          <p:nvPr/>
        </p:nvSpPr>
        <p:spPr>
          <a:xfrm>
            <a:off x="1845259" y="4496105"/>
            <a:ext cx="905256" cy="390449"/>
          </a:xfrm>
          <a:prstGeom prst="roundRect">
            <a:avLst>
              <a:gd name="adj" fmla="val 114240"/>
            </a:avLst>
          </a:prstGeom>
          <a:solidFill>
            <a:srgbClr val="F87171">
              <a:alpha val="20000"/>
            </a:srgbClr>
          </a:solidFill>
          <a:ln w="12700">
            <a:solidFill>
              <a:srgbClr val="F87171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Text 9"/>
          <p:cNvSpPr txBox="1"/>
          <p:nvPr/>
        </p:nvSpPr>
        <p:spPr>
          <a:xfrm>
            <a:off x="2007108" y="4581144"/>
            <a:ext cx="69037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FCA5A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범위 과다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2837383" y="4496105"/>
            <a:ext cx="905256" cy="390449"/>
          </a:xfrm>
          <a:prstGeom prst="roundRect">
            <a:avLst>
              <a:gd name="adj" fmla="val 114240"/>
            </a:avLst>
          </a:prstGeom>
          <a:solidFill>
            <a:srgbClr val="F87171">
              <a:alpha val="20000"/>
            </a:srgbClr>
          </a:solidFill>
          <a:ln w="12700">
            <a:solidFill>
              <a:srgbClr val="F87171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Text 11"/>
          <p:cNvSpPr txBox="1"/>
          <p:nvPr/>
        </p:nvSpPr>
        <p:spPr>
          <a:xfrm>
            <a:off x="2999232" y="4581144"/>
            <a:ext cx="69037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FCA5A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대상 불명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3829507" y="4496105"/>
            <a:ext cx="905256" cy="390449"/>
          </a:xfrm>
          <a:prstGeom prst="roundRect">
            <a:avLst>
              <a:gd name="adj" fmla="val 114240"/>
            </a:avLst>
          </a:prstGeom>
          <a:solidFill>
            <a:srgbClr val="F87171">
              <a:alpha val="20000"/>
            </a:srgbClr>
          </a:solidFill>
          <a:ln w="12700">
            <a:solidFill>
              <a:srgbClr val="F87171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6" name="Text 13"/>
          <p:cNvSpPr txBox="1"/>
          <p:nvPr/>
        </p:nvSpPr>
        <p:spPr>
          <a:xfrm>
            <a:off x="3991356" y="4581144"/>
            <a:ext cx="69037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FCA5A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변수 불명</a:t>
            </a:r>
            <a:endParaRPr lang="en-US" sz="1100" dirty="0"/>
          </a:p>
        </p:txBody>
      </p:sp>
      <p:pic>
        <p:nvPicPr>
          <p:cNvPr id="17" name="Image 1" descr="preencoded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6381598" y="2006194"/>
            <a:ext cx="190195" cy="190195"/>
          </a:xfrm>
          <a:prstGeom prst="rect">
            <a:avLst/>
          </a:prstGeom>
        </p:spPr>
      </p:pic>
      <p:sp>
        <p:nvSpPr>
          <p:cNvPr id="18" name="Text 14"/>
          <p:cNvSpPr txBox="1"/>
          <p:nvPr/>
        </p:nvSpPr>
        <p:spPr>
          <a:xfrm>
            <a:off x="6667805" y="1958645"/>
            <a:ext cx="1828800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00BBF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After: 구체화된 주제</a:t>
            </a:r>
            <a:endParaRPr lang="en-US" sz="1500" dirty="0"/>
          </a:p>
        </p:txBody>
      </p:sp>
      <p:sp>
        <p:nvSpPr>
          <p:cNvPr id="19" name="Shape 15"/>
          <p:cNvSpPr/>
          <p:nvPr/>
        </p:nvSpPr>
        <p:spPr>
          <a:xfrm>
            <a:off x="6381598" y="2434133"/>
            <a:ext cx="5048402" cy="3857854"/>
          </a:xfrm>
          <a:prstGeom prst="roundRect">
            <a:avLst>
              <a:gd name="adj" fmla="val 468"/>
            </a:avLst>
          </a:prstGeom>
          <a:solidFill>
            <a:srgbClr val="FFFFFF">
              <a:alpha val="5000"/>
            </a:srgbClr>
          </a:solidFill>
          <a:ln w="12700">
            <a:solidFill>
              <a:srgbClr val="FFFFFF">
                <a:alpha val="1000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0" name="Shape 16"/>
          <p:cNvSpPr/>
          <p:nvPr/>
        </p:nvSpPr>
        <p:spPr>
          <a:xfrm>
            <a:off x="6724498" y="2825496"/>
            <a:ext cx="4362602" cy="457200"/>
          </a:xfrm>
          <a:prstGeom prst="roundRect">
            <a:avLst>
              <a:gd name="adj" fmla="val 25000"/>
            </a:avLst>
          </a:prstGeom>
          <a:solidFill>
            <a:srgbClr val="00BBF0">
              <a:alpha val="10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1" name="Shape 17"/>
          <p:cNvSpPr/>
          <p:nvPr/>
        </p:nvSpPr>
        <p:spPr>
          <a:xfrm>
            <a:off x="6724498" y="2825496"/>
            <a:ext cx="38405" cy="457200"/>
          </a:xfrm>
          <a:prstGeom prst="rect">
            <a:avLst/>
          </a:prstGeom>
          <a:solidFill>
            <a:srgbClr val="00BBF0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22" name="Image 2" descr="preencoded.png"/>
          <p:cNvPicPr>
            <a:picLocks noChangeAspect="1"/>
          </p:cNvPicPr>
          <p:nvPr/>
        </p:nvPicPr>
        <p:blipFill>
          <a:blip r:embed="rId5"/>
          <a:srcRect l="-25988" r="-25988"/>
          <a:stretch/>
        </p:blipFill>
        <p:spPr>
          <a:xfrm>
            <a:off x="6953098" y="2968142"/>
            <a:ext cx="228600" cy="171907"/>
          </a:xfrm>
          <a:prstGeom prst="rect">
            <a:avLst/>
          </a:prstGeom>
        </p:spPr>
      </p:pic>
      <p:sp>
        <p:nvSpPr>
          <p:cNvPr id="23" name="Text 18"/>
          <p:cNvSpPr txBox="1"/>
          <p:nvPr/>
        </p:nvSpPr>
        <p:spPr>
          <a:xfrm>
            <a:off x="7324344" y="2939796"/>
            <a:ext cx="186720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대상: IT 비전공 청년 구직자</a:t>
            </a:r>
            <a:endParaRPr lang="en-US" sz="1200" dirty="0"/>
          </a:p>
        </p:txBody>
      </p:sp>
      <p:sp>
        <p:nvSpPr>
          <p:cNvPr id="24" name="Shape 19"/>
          <p:cNvSpPr/>
          <p:nvPr/>
        </p:nvSpPr>
        <p:spPr>
          <a:xfrm>
            <a:off x="6724498" y="3425342"/>
            <a:ext cx="4362602" cy="457200"/>
          </a:xfrm>
          <a:prstGeom prst="roundRect">
            <a:avLst>
              <a:gd name="adj" fmla="val 25000"/>
            </a:avLst>
          </a:prstGeom>
          <a:solidFill>
            <a:srgbClr val="00BBF0">
              <a:alpha val="10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5" name="Shape 20"/>
          <p:cNvSpPr/>
          <p:nvPr/>
        </p:nvSpPr>
        <p:spPr>
          <a:xfrm>
            <a:off x="6724498" y="3425342"/>
            <a:ext cx="38405" cy="457200"/>
          </a:xfrm>
          <a:prstGeom prst="rect">
            <a:avLst/>
          </a:prstGeom>
          <a:solidFill>
            <a:srgbClr val="00BBF0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26" name="Image 3" descr="preencoded.png"/>
          <p:cNvPicPr>
            <a:picLocks noChangeAspect="1"/>
          </p:cNvPicPr>
          <p:nvPr/>
        </p:nvPicPr>
        <p:blipFill>
          <a:blip r:embed="rId6"/>
          <a:srcRect l="-38653" r="-38653"/>
          <a:stretch/>
        </p:blipFill>
        <p:spPr>
          <a:xfrm>
            <a:off x="6953098" y="3567989"/>
            <a:ext cx="228600" cy="171907"/>
          </a:xfrm>
          <a:prstGeom prst="rect">
            <a:avLst/>
          </a:prstGeom>
        </p:spPr>
      </p:pic>
      <p:sp>
        <p:nvSpPr>
          <p:cNvPr id="27" name="Text 21"/>
          <p:cNvSpPr txBox="1"/>
          <p:nvPr/>
        </p:nvSpPr>
        <p:spPr>
          <a:xfrm>
            <a:off x="7324344" y="3539642"/>
            <a:ext cx="248625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범위: 첫 일자리 진입 과정 (초기 경력)</a:t>
            </a:r>
            <a:endParaRPr lang="en-US" sz="1200" dirty="0"/>
          </a:p>
        </p:txBody>
      </p:sp>
      <p:sp>
        <p:nvSpPr>
          <p:cNvPr id="28" name="Shape 22"/>
          <p:cNvSpPr/>
          <p:nvPr/>
        </p:nvSpPr>
        <p:spPr>
          <a:xfrm>
            <a:off x="6724498" y="4025189"/>
            <a:ext cx="4362602" cy="457200"/>
          </a:xfrm>
          <a:prstGeom prst="roundRect">
            <a:avLst>
              <a:gd name="adj" fmla="val 25000"/>
            </a:avLst>
          </a:prstGeom>
          <a:solidFill>
            <a:srgbClr val="00BBF0">
              <a:alpha val="10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9" name="Shape 23"/>
          <p:cNvSpPr/>
          <p:nvPr/>
        </p:nvSpPr>
        <p:spPr>
          <a:xfrm>
            <a:off x="6724498" y="4025189"/>
            <a:ext cx="38405" cy="457200"/>
          </a:xfrm>
          <a:prstGeom prst="rect">
            <a:avLst/>
          </a:prstGeom>
          <a:solidFill>
            <a:srgbClr val="00BBF0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30" name="Image 4" descr="preencoded.png"/>
          <p:cNvPicPr>
            <a:picLocks noChangeAspect="1"/>
          </p:cNvPicPr>
          <p:nvPr/>
        </p:nvPicPr>
        <p:blipFill>
          <a:blip r:embed="rId7"/>
          <a:srcRect l="-16489" r="-16489"/>
          <a:stretch/>
        </p:blipFill>
        <p:spPr>
          <a:xfrm>
            <a:off x="6953098" y="4167835"/>
            <a:ext cx="228600" cy="171907"/>
          </a:xfrm>
          <a:prstGeom prst="rect">
            <a:avLst/>
          </a:prstGeom>
        </p:spPr>
      </p:pic>
      <p:sp>
        <p:nvSpPr>
          <p:cNvPr id="31" name="Text 24"/>
          <p:cNvSpPr txBox="1"/>
          <p:nvPr/>
        </p:nvSpPr>
        <p:spPr>
          <a:xfrm>
            <a:off x="7324344" y="4139489"/>
            <a:ext cx="253380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변수: 교육-고용 연계 정책의 효과 분석</a:t>
            </a:r>
            <a:endParaRPr lang="en-US" sz="1200" dirty="0"/>
          </a:p>
        </p:txBody>
      </p:sp>
      <p:sp>
        <p:nvSpPr>
          <p:cNvPr id="32" name="Shape 25"/>
          <p:cNvSpPr/>
          <p:nvPr/>
        </p:nvSpPr>
        <p:spPr>
          <a:xfrm>
            <a:off x="6724498" y="4720133"/>
            <a:ext cx="4362602" cy="533095"/>
          </a:xfrm>
          <a:prstGeom prst="roundRect">
            <a:avLst>
              <a:gd name="adj" fmla="val 18378"/>
            </a:avLst>
          </a:prstGeom>
          <a:solidFill>
            <a:srgbClr val="3B82F6">
              <a:alpha val="15000"/>
            </a:srgbClr>
          </a:solidFill>
          <a:ln w="12700">
            <a:solidFill>
              <a:srgbClr val="3B82F6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33" name="Image 5" descr="preencoded.png"/>
          <p:cNvPicPr>
            <a:picLocks noChangeAspect="1"/>
          </p:cNvPicPr>
          <p:nvPr/>
        </p:nvPicPr>
        <p:blipFill>
          <a:blip r:embed="rId8"/>
          <a:srcRect t="-100" b="-100"/>
          <a:stretch/>
        </p:blipFill>
        <p:spPr>
          <a:xfrm>
            <a:off x="7104888" y="4911242"/>
            <a:ext cx="114300" cy="152705"/>
          </a:xfrm>
          <a:prstGeom prst="rect">
            <a:avLst/>
          </a:prstGeom>
        </p:spPr>
      </p:pic>
      <p:sp>
        <p:nvSpPr>
          <p:cNvPr id="34" name="Text 26"/>
          <p:cNvSpPr txBox="1"/>
          <p:nvPr/>
        </p:nvSpPr>
        <p:spPr>
          <a:xfrm>
            <a:off x="7314286" y="4872838"/>
            <a:ext cx="351495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93C5F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이렇게 좁히면 필요한 자료를 찾기가 훨씬 쉬워집니다!</a:t>
            </a:r>
            <a:endParaRPr lang="en-US" sz="1200" dirty="0"/>
          </a:p>
        </p:txBody>
      </p:sp>
      <p:pic>
        <p:nvPicPr>
          <p:cNvPr id="36" name="Image 6" descr="preencoded.png"/>
          <p:cNvPicPr>
            <a:picLocks noChangeAspect="1"/>
          </p:cNvPicPr>
          <p:nvPr/>
        </p:nvPicPr>
        <p:blipFill>
          <a:blip r:embed="rId9"/>
          <a:srcRect t="-120" b="-120"/>
          <a:stretch/>
        </p:blipFill>
        <p:spPr>
          <a:xfrm>
            <a:off x="6001207" y="3951122"/>
            <a:ext cx="237744" cy="381305"/>
          </a:xfrm>
          <a:prstGeom prst="rect">
            <a:avLst/>
          </a:prstGeom>
        </p:spPr>
      </p:pic>
      <p:sp>
        <p:nvSpPr>
          <p:cNvPr id="37" name="deckgen:wrap:footer"/>
          <p:cNvSpPr txBox="1"/>
          <p:nvPr/>
        </p:nvSpPr>
        <p:spPr>
          <a:xfrm>
            <a:off x="365760" y="6549390"/>
            <a:ext cx="11460480" cy="240030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0">
                <a:solidFill>
                  <a:srgbClr val="8A8F99"/>
                </a:solidFill>
                <a:latin typeface="Pretendard"/>
              </a:rPr>
              <a:t>© 2026 이애본 · 홍문원(洪文院) 발행 · CC BY-NC-ND 4.0 · useful-ai.dreamitbiz.com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0F0F0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204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" name="Shape 2"/>
          <p:cNvSpPr/>
          <p:nvPr/>
        </p:nvSpPr>
        <p:spPr>
          <a:xfrm>
            <a:off x="761695" y="476402"/>
            <a:ext cx="571500" cy="57607"/>
          </a:xfrm>
          <a:prstGeom prst="rect">
            <a:avLst/>
          </a:prstGeom>
          <a:solidFill>
            <a:srgbClr val="00BBF0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 txBox="1"/>
          <p:nvPr/>
        </p:nvSpPr>
        <p:spPr>
          <a:xfrm>
            <a:off x="761695" y="657454"/>
            <a:ext cx="4677156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주제문 변환 3단계 예시</a:t>
            </a:r>
            <a:endParaRPr lang="en-US" sz="3600" dirty="0"/>
          </a:p>
        </p:txBody>
      </p:sp>
      <p:sp>
        <p:nvSpPr>
          <p:cNvPr id="6" name="Text 4"/>
          <p:cNvSpPr txBox="1"/>
          <p:nvPr/>
        </p:nvSpPr>
        <p:spPr>
          <a:xfrm>
            <a:off x="761695" y="1387145"/>
            <a:ext cx="4953305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dirty="0">
                <a:solidFill>
                  <a:srgbClr val="CBD5E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단순한 사실 나열을 넘어 나만의 관점과 주장을 담아내는 과정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1164946" y="2339645"/>
            <a:ext cx="9715500" cy="19202"/>
          </a:xfrm>
          <a:prstGeom prst="rect">
            <a:avLst/>
          </a:prstGeom>
          <a:solidFill>
            <a:srgbClr val="FFFFFF">
              <a:alpha val="15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8" name="Shape 6"/>
          <p:cNvSpPr/>
          <p:nvPr/>
        </p:nvSpPr>
        <p:spPr>
          <a:xfrm>
            <a:off x="688543" y="5717438"/>
            <a:ext cx="5943600" cy="381305"/>
          </a:xfrm>
          <a:prstGeom prst="roundRect">
            <a:avLst>
              <a:gd name="adj" fmla="val 23981"/>
            </a:avLst>
          </a:prstGeom>
          <a:solidFill>
            <a:srgbClr val="000000">
              <a:alpha val="20000"/>
            </a:srgbClr>
          </a:solidFill>
          <a:ln w="12700">
            <a:solidFill>
              <a:srgbClr val="FFFFFF">
                <a:alpha val="1000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/>
          <a:srcRect l="-2512" r="-2512"/>
          <a:stretch/>
        </p:blipFill>
        <p:spPr>
          <a:xfrm>
            <a:off x="850392" y="5848198"/>
            <a:ext cx="105156" cy="133502"/>
          </a:xfrm>
          <a:prstGeom prst="rect">
            <a:avLst/>
          </a:prstGeom>
        </p:spPr>
      </p:pic>
      <p:sp>
        <p:nvSpPr>
          <p:cNvPr id="10" name="Text 7"/>
          <p:cNvSpPr txBox="1"/>
          <p:nvPr/>
        </p:nvSpPr>
        <p:spPr>
          <a:xfrm>
            <a:off x="955548" y="5802478"/>
            <a:ext cx="5618074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94A3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여러분의 주제도 이 3단계를 거쳐 '한 문장의 주장'으로 다듬어 보세요.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2109521" y="2054352"/>
            <a:ext cx="571500" cy="571500"/>
          </a:xfrm>
          <a:prstGeom prst="ellipse">
            <a:avLst/>
          </a:prstGeom>
          <a:solidFill>
            <a:srgbClr val="00204A"/>
          </a:solidFill>
          <a:ln w="38100">
            <a:solidFill>
              <a:srgbClr val="00BBF0"/>
            </a:solidFill>
            <a:prstDash val="solid"/>
          </a:ln>
          <a:effectLst>
            <a:outerShdw blurRad="139700" dist="12700" dir="16200000" algn="bl" rotWithShape="0">
              <a:srgbClr val="00BBF0">
                <a:alpha val="3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3" name="Text 10"/>
          <p:cNvSpPr txBox="1"/>
          <p:nvPr/>
        </p:nvSpPr>
        <p:spPr>
          <a:xfrm>
            <a:off x="2326234" y="2168652"/>
            <a:ext cx="314554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00BBF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</a:t>
            </a:r>
            <a:endParaRPr lang="en-US" sz="1800" dirty="0"/>
          </a:p>
        </p:txBody>
      </p:sp>
      <p:sp>
        <p:nvSpPr>
          <p:cNvPr id="14" name="Shape 11"/>
          <p:cNvSpPr/>
          <p:nvPr/>
        </p:nvSpPr>
        <p:spPr>
          <a:xfrm>
            <a:off x="688543" y="2854452"/>
            <a:ext cx="3419856" cy="2667305"/>
          </a:xfrm>
          <a:prstGeom prst="roundRect">
            <a:avLst>
              <a:gd name="adj" fmla="val 979"/>
            </a:avLst>
          </a:prstGeom>
          <a:solidFill>
            <a:srgbClr val="FFFFFF">
              <a:alpha val="5000"/>
            </a:srgbClr>
          </a:solidFill>
          <a:ln w="12700">
            <a:solidFill>
              <a:srgbClr val="FFFFFF">
                <a:alpha val="1000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" name="Shape 12"/>
          <p:cNvSpPr/>
          <p:nvPr/>
        </p:nvSpPr>
        <p:spPr>
          <a:xfrm>
            <a:off x="927202" y="3987394"/>
            <a:ext cx="2943454" cy="705002"/>
          </a:xfrm>
          <a:prstGeom prst="roundRect">
            <a:avLst>
              <a:gd name="adj" fmla="val 7011"/>
            </a:avLst>
          </a:prstGeom>
          <a:solidFill>
            <a:srgbClr val="000000">
              <a:alpha val="20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6" name="Shape 13"/>
          <p:cNvSpPr/>
          <p:nvPr/>
        </p:nvSpPr>
        <p:spPr>
          <a:xfrm>
            <a:off x="927202" y="3987394"/>
            <a:ext cx="28346" cy="705002"/>
          </a:xfrm>
          <a:prstGeom prst="rect">
            <a:avLst/>
          </a:prstGeom>
          <a:solidFill>
            <a:srgbClr val="FFFFFF">
              <a:alpha val="20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7" name="Shape 14"/>
          <p:cNvSpPr/>
          <p:nvPr/>
        </p:nvSpPr>
        <p:spPr>
          <a:xfrm>
            <a:off x="927202" y="4936541"/>
            <a:ext cx="2943454" cy="352044"/>
          </a:xfrm>
          <a:prstGeom prst="roundRect">
            <a:avLst>
              <a:gd name="adj" fmla="val 140400"/>
            </a:avLst>
          </a:prstGeom>
          <a:solidFill>
            <a:srgbClr val="EF4444">
              <a:alpha val="10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8" name="Text 15"/>
          <p:cNvSpPr txBox="1"/>
          <p:nvPr/>
        </p:nvSpPr>
        <p:spPr>
          <a:xfrm>
            <a:off x="1574597" y="3549396"/>
            <a:ext cx="1791310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Step 1. 정보 (Fact)</a:t>
            </a:r>
            <a:endParaRPr lang="en-US" sz="1500" dirty="0"/>
          </a:p>
        </p:txBody>
      </p:sp>
      <p:sp>
        <p:nvSpPr>
          <p:cNvPr id="19" name="Text 16"/>
          <p:cNvSpPr txBox="1"/>
          <p:nvPr/>
        </p:nvSpPr>
        <p:spPr>
          <a:xfrm>
            <a:off x="1069848" y="4101694"/>
            <a:ext cx="2776118" cy="4288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E2E8F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"최근 청년층 실업률이 높아지고 있으며 이는 사회적 이슈가 되고 있다."</a:t>
            </a:r>
            <a:endParaRPr lang="en-US" sz="1100" dirty="0"/>
          </a:p>
        </p:txBody>
      </p:sp>
      <p:pic>
        <p:nvPicPr>
          <p:cNvPr id="20" name="Image 1" descr="preencoded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1579169" y="5047183"/>
            <a:ext cx="133502" cy="133502"/>
          </a:xfrm>
          <a:prstGeom prst="rect">
            <a:avLst/>
          </a:prstGeom>
        </p:spPr>
      </p:pic>
      <p:sp>
        <p:nvSpPr>
          <p:cNvPr id="21" name="Text 17"/>
          <p:cNvSpPr txBox="1"/>
          <p:nvPr/>
        </p:nvSpPr>
        <p:spPr>
          <a:xfrm>
            <a:off x="1788566" y="5012436"/>
            <a:ext cx="1526134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CA5A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단순 사실 나열 (주장 없음)</a:t>
            </a:r>
            <a:endParaRPr lang="en-US" sz="1000" dirty="0"/>
          </a:p>
        </p:txBody>
      </p:sp>
      <p:pic>
        <p:nvPicPr>
          <p:cNvPr id="22" name="Image 2" descr="preencoded.png"/>
          <p:cNvPicPr>
            <a:picLocks noChangeAspect="1"/>
          </p:cNvPicPr>
          <p:nvPr/>
        </p:nvPicPr>
        <p:blipFill>
          <a:blip r:embed="rId5">
            <a:alphaModFix amt="80000"/>
          </a:blip>
          <a:srcRect/>
          <a:stretch/>
        </p:blipFill>
        <p:spPr>
          <a:xfrm>
            <a:off x="2243023" y="3092196"/>
            <a:ext cx="304495" cy="304495"/>
          </a:xfrm>
          <a:prstGeom prst="rect">
            <a:avLst/>
          </a:prstGeom>
        </p:spPr>
      </p:pic>
      <p:pic>
        <p:nvPicPr>
          <p:cNvPr id="23" name="Image 3" descr="preencoded.png"/>
          <p:cNvPicPr>
            <a:picLocks noChangeAspect="1"/>
          </p:cNvPicPr>
          <p:nvPr/>
        </p:nvPicPr>
        <p:blipFill>
          <a:blip r:embed="rId6"/>
          <a:srcRect t="-180" b="-180"/>
          <a:stretch/>
        </p:blipFill>
        <p:spPr>
          <a:xfrm>
            <a:off x="4348886" y="2263750"/>
            <a:ext cx="95098" cy="152705"/>
          </a:xfrm>
          <a:prstGeom prst="rect">
            <a:avLst/>
          </a:prstGeom>
        </p:spPr>
      </p:pic>
      <p:sp>
        <p:nvSpPr>
          <p:cNvPr id="24" name="Shape 18"/>
          <p:cNvSpPr/>
          <p:nvPr/>
        </p:nvSpPr>
        <p:spPr>
          <a:xfrm>
            <a:off x="5736946" y="2054352"/>
            <a:ext cx="571500" cy="571500"/>
          </a:xfrm>
          <a:prstGeom prst="ellipse">
            <a:avLst/>
          </a:prstGeom>
          <a:solidFill>
            <a:srgbClr val="00204A"/>
          </a:solidFill>
          <a:ln w="38100">
            <a:solidFill>
              <a:srgbClr val="00BBF0"/>
            </a:solidFill>
            <a:prstDash val="solid"/>
          </a:ln>
          <a:effectLst>
            <a:outerShdw blurRad="139700" dist="12700" dir="16200000" algn="bl" rotWithShape="0">
              <a:srgbClr val="00BBF0">
                <a:alpha val="3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5" name="Text 19"/>
          <p:cNvSpPr txBox="1"/>
          <p:nvPr/>
        </p:nvSpPr>
        <p:spPr>
          <a:xfrm>
            <a:off x="5952744" y="2168652"/>
            <a:ext cx="314554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00BBF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</a:t>
            </a:r>
            <a:endParaRPr lang="en-US" sz="1800" dirty="0"/>
          </a:p>
        </p:txBody>
      </p:sp>
      <p:sp>
        <p:nvSpPr>
          <p:cNvPr id="26" name="Shape 20"/>
          <p:cNvSpPr/>
          <p:nvPr/>
        </p:nvSpPr>
        <p:spPr>
          <a:xfrm>
            <a:off x="4315968" y="2854452"/>
            <a:ext cx="3419856" cy="2667305"/>
          </a:xfrm>
          <a:prstGeom prst="roundRect">
            <a:avLst>
              <a:gd name="adj" fmla="val 979"/>
            </a:avLst>
          </a:prstGeom>
          <a:solidFill>
            <a:srgbClr val="FFFFFF">
              <a:alpha val="5000"/>
            </a:srgbClr>
          </a:solidFill>
          <a:ln w="12700">
            <a:solidFill>
              <a:srgbClr val="FFFFFF">
                <a:alpha val="1000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7" name="Shape 21"/>
          <p:cNvSpPr/>
          <p:nvPr/>
        </p:nvSpPr>
        <p:spPr>
          <a:xfrm>
            <a:off x="4553712" y="3987394"/>
            <a:ext cx="2943454" cy="705002"/>
          </a:xfrm>
          <a:prstGeom prst="roundRect">
            <a:avLst>
              <a:gd name="adj" fmla="val 7011"/>
            </a:avLst>
          </a:prstGeom>
          <a:solidFill>
            <a:srgbClr val="000000">
              <a:alpha val="20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8" name="Shape 22"/>
          <p:cNvSpPr/>
          <p:nvPr/>
        </p:nvSpPr>
        <p:spPr>
          <a:xfrm>
            <a:off x="4553712" y="3987394"/>
            <a:ext cx="28346" cy="705002"/>
          </a:xfrm>
          <a:prstGeom prst="rect">
            <a:avLst/>
          </a:prstGeom>
          <a:solidFill>
            <a:srgbClr val="FFFFFF">
              <a:alpha val="20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9" name="Shape 23"/>
          <p:cNvSpPr/>
          <p:nvPr/>
        </p:nvSpPr>
        <p:spPr>
          <a:xfrm>
            <a:off x="4553712" y="4936541"/>
            <a:ext cx="2943454" cy="352044"/>
          </a:xfrm>
          <a:prstGeom prst="roundRect">
            <a:avLst>
              <a:gd name="adj" fmla="val 140400"/>
            </a:avLst>
          </a:prstGeom>
          <a:solidFill>
            <a:srgbClr val="10B981">
              <a:alpha val="10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0" name="Text 24"/>
          <p:cNvSpPr txBox="1"/>
          <p:nvPr/>
        </p:nvSpPr>
        <p:spPr>
          <a:xfrm>
            <a:off x="5172761" y="3549396"/>
            <a:ext cx="1848002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Step 2. 관점 (View)</a:t>
            </a:r>
            <a:endParaRPr lang="en-US" sz="1500" dirty="0"/>
          </a:p>
        </p:txBody>
      </p:sp>
      <p:sp>
        <p:nvSpPr>
          <p:cNvPr id="31" name="Text 25"/>
          <p:cNvSpPr txBox="1"/>
          <p:nvPr/>
        </p:nvSpPr>
        <p:spPr>
          <a:xfrm>
            <a:off x="4697273" y="4101694"/>
            <a:ext cx="2728570" cy="4288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E2E8F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"청년 실업 문제 해결을 위한 단기적 재정 지원만으로는 효과가 제한적이다."</a:t>
            </a:r>
            <a:endParaRPr lang="en-US" sz="1100" dirty="0"/>
          </a:p>
        </p:txBody>
      </p:sp>
      <p:pic>
        <p:nvPicPr>
          <p:cNvPr id="32" name="Image 4" descr="preencoded.png"/>
          <p:cNvPicPr>
            <a:picLocks noChangeAspect="1"/>
          </p:cNvPicPr>
          <p:nvPr/>
        </p:nvPicPr>
        <p:blipFill>
          <a:blip r:embed="rId7"/>
          <a:srcRect/>
          <a:stretch/>
        </p:blipFill>
        <p:spPr>
          <a:xfrm>
            <a:off x="5205679" y="5047183"/>
            <a:ext cx="133502" cy="133502"/>
          </a:xfrm>
          <a:prstGeom prst="rect">
            <a:avLst/>
          </a:prstGeom>
        </p:spPr>
      </p:pic>
      <p:sp>
        <p:nvSpPr>
          <p:cNvPr id="33" name="Text 26"/>
          <p:cNvSpPr txBox="1"/>
          <p:nvPr/>
        </p:nvSpPr>
        <p:spPr>
          <a:xfrm>
            <a:off x="5415991" y="5012436"/>
            <a:ext cx="1526134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EE7B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문제 의식 포함 (약한 주장)</a:t>
            </a:r>
            <a:endParaRPr lang="en-US" sz="1000" dirty="0"/>
          </a:p>
        </p:txBody>
      </p:sp>
      <p:pic>
        <p:nvPicPr>
          <p:cNvPr id="34" name="Image 5" descr="preencoded.png"/>
          <p:cNvPicPr>
            <a:picLocks noChangeAspect="1"/>
          </p:cNvPicPr>
          <p:nvPr/>
        </p:nvPicPr>
        <p:blipFill>
          <a:blip r:embed="rId8">
            <a:alphaModFix amt="80000"/>
          </a:blip>
          <a:srcRect/>
          <a:stretch/>
        </p:blipFill>
        <p:spPr>
          <a:xfrm>
            <a:off x="5870448" y="3092196"/>
            <a:ext cx="304495" cy="304495"/>
          </a:xfrm>
          <a:prstGeom prst="rect">
            <a:avLst/>
          </a:prstGeom>
        </p:spPr>
      </p:pic>
      <p:pic>
        <p:nvPicPr>
          <p:cNvPr id="35" name="Image 6" descr="preencoded.png"/>
          <p:cNvPicPr>
            <a:picLocks noChangeAspect="1"/>
          </p:cNvPicPr>
          <p:nvPr/>
        </p:nvPicPr>
        <p:blipFill>
          <a:blip r:embed="rId6"/>
          <a:srcRect t="-180" b="-180"/>
          <a:stretch/>
        </p:blipFill>
        <p:spPr>
          <a:xfrm>
            <a:off x="7975397" y="2263750"/>
            <a:ext cx="95098" cy="152705"/>
          </a:xfrm>
          <a:prstGeom prst="rect">
            <a:avLst/>
          </a:prstGeom>
        </p:spPr>
      </p:pic>
      <p:sp>
        <p:nvSpPr>
          <p:cNvPr id="36" name="Shape 27"/>
          <p:cNvSpPr/>
          <p:nvPr/>
        </p:nvSpPr>
        <p:spPr>
          <a:xfrm>
            <a:off x="9364370" y="2054352"/>
            <a:ext cx="571500" cy="571500"/>
          </a:xfrm>
          <a:prstGeom prst="ellipse">
            <a:avLst/>
          </a:prstGeom>
          <a:solidFill>
            <a:srgbClr val="00204A"/>
          </a:solidFill>
          <a:ln w="38100">
            <a:solidFill>
              <a:srgbClr val="00BBF0"/>
            </a:solidFill>
            <a:prstDash val="solid"/>
          </a:ln>
          <a:effectLst>
            <a:outerShdw blurRad="139700" dist="12700" dir="16200000" algn="bl" rotWithShape="0">
              <a:srgbClr val="00BBF0">
                <a:alpha val="3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37" name="Text 28"/>
          <p:cNvSpPr txBox="1"/>
          <p:nvPr/>
        </p:nvSpPr>
        <p:spPr>
          <a:xfrm>
            <a:off x="9580169" y="2168652"/>
            <a:ext cx="314554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00BBF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3</a:t>
            </a:r>
            <a:endParaRPr lang="en-US" sz="1800" dirty="0"/>
          </a:p>
        </p:txBody>
      </p:sp>
      <p:sp>
        <p:nvSpPr>
          <p:cNvPr id="38" name="Shape 29"/>
          <p:cNvSpPr/>
          <p:nvPr/>
        </p:nvSpPr>
        <p:spPr>
          <a:xfrm>
            <a:off x="7943393" y="2854452"/>
            <a:ext cx="3419856" cy="2667305"/>
          </a:xfrm>
          <a:prstGeom prst="roundRect">
            <a:avLst>
              <a:gd name="adj" fmla="val 979"/>
            </a:avLst>
          </a:prstGeom>
          <a:solidFill>
            <a:srgbClr val="00BBF0">
              <a:alpha val="10000"/>
            </a:srgbClr>
          </a:solidFill>
          <a:ln w="12700">
            <a:solidFill>
              <a:srgbClr val="00BBF0"/>
            </a:solidFill>
            <a:prstDash val="solid"/>
          </a:ln>
          <a:effectLst>
            <a:outerShdw blurRad="190500" dist="12700" dir="16200000" algn="bl" rotWithShape="0">
              <a:srgbClr val="00BBF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pic>
        <p:nvPicPr>
          <p:cNvPr id="39" name="Image 7" descr="preencoded.png"/>
          <p:cNvPicPr>
            <a:picLocks noChangeAspect="1"/>
          </p:cNvPicPr>
          <p:nvPr/>
        </p:nvPicPr>
        <p:blipFill>
          <a:blip r:embed="rId9"/>
          <a:srcRect l="-107" r="-107"/>
          <a:stretch/>
        </p:blipFill>
        <p:spPr>
          <a:xfrm>
            <a:off x="9516161" y="3092196"/>
            <a:ext cx="267005" cy="304495"/>
          </a:xfrm>
          <a:prstGeom prst="rect">
            <a:avLst/>
          </a:prstGeom>
        </p:spPr>
      </p:pic>
      <p:sp>
        <p:nvSpPr>
          <p:cNvPr id="40" name="Shape 30"/>
          <p:cNvSpPr/>
          <p:nvPr/>
        </p:nvSpPr>
        <p:spPr>
          <a:xfrm>
            <a:off x="8181137" y="3987394"/>
            <a:ext cx="2943454" cy="705002"/>
          </a:xfrm>
          <a:prstGeom prst="roundRect">
            <a:avLst>
              <a:gd name="adj" fmla="val 7011"/>
            </a:avLst>
          </a:prstGeom>
          <a:solidFill>
            <a:srgbClr val="00204A">
              <a:alpha val="60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1" name="Shape 31"/>
          <p:cNvSpPr/>
          <p:nvPr/>
        </p:nvSpPr>
        <p:spPr>
          <a:xfrm>
            <a:off x="8181137" y="3987394"/>
            <a:ext cx="28346" cy="705002"/>
          </a:xfrm>
          <a:prstGeom prst="rect">
            <a:avLst/>
          </a:prstGeom>
          <a:solidFill>
            <a:srgbClr val="00BBF0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2" name="Shape 32"/>
          <p:cNvSpPr/>
          <p:nvPr/>
        </p:nvSpPr>
        <p:spPr>
          <a:xfrm>
            <a:off x="8181137" y="4936541"/>
            <a:ext cx="2943454" cy="352044"/>
          </a:xfrm>
          <a:prstGeom prst="roundRect">
            <a:avLst>
              <a:gd name="adj" fmla="val 140400"/>
            </a:avLst>
          </a:prstGeom>
          <a:solidFill>
            <a:srgbClr val="00BBF0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3" name="Text 33"/>
          <p:cNvSpPr txBox="1"/>
          <p:nvPr/>
        </p:nvSpPr>
        <p:spPr>
          <a:xfrm>
            <a:off x="8726119" y="3549396"/>
            <a:ext cx="2000707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Step 3. 논제 (Thesis)</a:t>
            </a:r>
            <a:endParaRPr lang="en-US" sz="1500" dirty="0"/>
          </a:p>
        </p:txBody>
      </p:sp>
      <p:sp>
        <p:nvSpPr>
          <p:cNvPr id="44" name="Text 34"/>
          <p:cNvSpPr txBox="1"/>
          <p:nvPr/>
        </p:nvSpPr>
        <p:spPr>
          <a:xfrm>
            <a:off x="8323783" y="4101694"/>
            <a:ext cx="2737714" cy="4288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E2E8F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"청년 실업 완화를 위해 교육-산업 연계형 중장기 정책 전환이 필요하다."</a:t>
            </a:r>
            <a:endParaRPr lang="en-US" sz="1100" dirty="0"/>
          </a:p>
        </p:txBody>
      </p:sp>
      <p:pic>
        <p:nvPicPr>
          <p:cNvPr id="45" name="Image 8" descr="preencoded.png"/>
          <p:cNvPicPr>
            <a:picLocks noChangeAspect="1"/>
          </p:cNvPicPr>
          <p:nvPr/>
        </p:nvPicPr>
        <p:blipFill>
          <a:blip r:embed="rId10"/>
          <a:srcRect t="-2644" b="-2644"/>
          <a:stretch/>
        </p:blipFill>
        <p:spPr>
          <a:xfrm>
            <a:off x="8841334" y="5047183"/>
            <a:ext cx="142646" cy="133502"/>
          </a:xfrm>
          <a:prstGeom prst="rect">
            <a:avLst/>
          </a:prstGeom>
        </p:spPr>
      </p:pic>
      <p:sp>
        <p:nvSpPr>
          <p:cNvPr id="46" name="Text 35"/>
          <p:cNvSpPr txBox="1"/>
          <p:nvPr/>
        </p:nvSpPr>
        <p:spPr>
          <a:xfrm>
            <a:off x="9060790" y="5012436"/>
            <a:ext cx="1497787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명확한 주장과 대안 (완성)</a:t>
            </a:r>
            <a:endParaRPr lang="en-US" sz="1000" dirty="0"/>
          </a:p>
        </p:txBody>
      </p:sp>
      <p:sp>
        <p:nvSpPr>
          <p:cNvPr id="47" name="deckgen:wrap:footer"/>
          <p:cNvSpPr txBox="1"/>
          <p:nvPr/>
        </p:nvSpPr>
        <p:spPr>
          <a:xfrm>
            <a:off x="365760" y="6549390"/>
            <a:ext cx="11460480" cy="240030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0">
                <a:solidFill>
                  <a:srgbClr val="8A8F99"/>
                </a:solidFill>
                <a:latin typeface="Pretendard"/>
              </a:rPr>
              <a:t>© 2026 이애본 · 홍문원(洪文院) 발행 · CC BY-NC-ND 4.0 · useful-ai.dreamitbiz.com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0F0F0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204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" name="Shape 2"/>
          <p:cNvSpPr/>
          <p:nvPr/>
        </p:nvSpPr>
        <p:spPr>
          <a:xfrm>
            <a:off x="690938" y="389992"/>
            <a:ext cx="571500" cy="57607"/>
          </a:xfrm>
          <a:prstGeom prst="rect">
            <a:avLst/>
          </a:prstGeom>
          <a:solidFill>
            <a:srgbClr val="00BBF0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 txBox="1"/>
          <p:nvPr/>
        </p:nvSpPr>
        <p:spPr>
          <a:xfrm>
            <a:off x="690938" y="571044"/>
            <a:ext cx="4858207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키워드 → 검색식 만들기</a:t>
            </a:r>
            <a:endParaRPr lang="en-US" sz="3600" dirty="0"/>
          </a:p>
        </p:txBody>
      </p:sp>
      <p:sp>
        <p:nvSpPr>
          <p:cNvPr id="6" name="Text 4"/>
          <p:cNvSpPr txBox="1"/>
          <p:nvPr/>
        </p:nvSpPr>
        <p:spPr>
          <a:xfrm>
            <a:off x="690938" y="1300735"/>
            <a:ext cx="5982005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dirty="0">
                <a:solidFill>
                  <a:srgbClr val="CBD5E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단순 키워드 나열을 넘어, 논리 연산자를 활용해 검색의 정확도를 높이세요.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785382" y="2534946"/>
            <a:ext cx="4038905" cy="9144"/>
          </a:xfrm>
          <a:prstGeom prst="rect">
            <a:avLst/>
          </a:prstGeom>
          <a:solidFill>
            <a:srgbClr val="FFFFFF">
              <a:alpha val="20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785382" y="2077746"/>
            <a:ext cx="228600" cy="228600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1157543" y="2001851"/>
            <a:ext cx="2667305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키워드 확장/축약 규칙</a:t>
            </a:r>
            <a:endParaRPr lang="en-US" sz="2100" dirty="0"/>
          </a:p>
        </p:txBody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785382" y="2887904"/>
            <a:ext cx="171907" cy="171907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1099936" y="2830297"/>
            <a:ext cx="144841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동의어/유의어 (확장)</a:t>
            </a:r>
            <a:endParaRPr lang="en-US" sz="1200" dirty="0"/>
          </a:p>
        </p:txBody>
      </p:sp>
      <p:sp>
        <p:nvSpPr>
          <p:cNvPr id="12" name="Text 8"/>
          <p:cNvSpPr txBox="1"/>
          <p:nvPr/>
        </p:nvSpPr>
        <p:spPr>
          <a:xfrm>
            <a:off x="1099936" y="3058897"/>
            <a:ext cx="374355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'청년 실업', '구직난', '</a:t>
            </a:r>
            <a:r>
              <a:rPr lang="en-US" sz="1200" dirty="0" err="1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고용</a:t>
            </a:r>
            <a:r>
              <a:rPr lang="en-US" sz="120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</a:t>
            </a:r>
            <a:r>
              <a:rPr lang="en-US" sz="1200" dirty="0" err="1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절벽</a:t>
            </a:r>
            <a:r>
              <a:rPr lang="en-US" sz="120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’ 등 </a:t>
            </a:r>
          </a:p>
          <a:p>
            <a:pPr marL="0" indent="0" algn="l">
              <a:buNone/>
            </a:pPr>
            <a:r>
              <a:rPr lang="en-US" sz="1200" dirty="0" err="1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비슷한</a:t>
            </a:r>
            <a:r>
              <a:rPr lang="en-US" sz="120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의미의 단어를 묶어 검색 결과 누락을 방지합니다.</a:t>
            </a:r>
            <a:endParaRPr lang="en-US" sz="1200" dirty="0"/>
          </a:p>
        </p:txBody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5"/>
          <a:srcRect t="-842" b="-842"/>
          <a:stretch/>
        </p:blipFill>
        <p:spPr>
          <a:xfrm>
            <a:off x="785382" y="3811448"/>
            <a:ext cx="190195" cy="171907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1119138" y="3753841"/>
            <a:ext cx="181051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상위/하위 개념 (범위 조절)</a:t>
            </a:r>
            <a:endParaRPr lang="en-US" sz="1200" dirty="0"/>
          </a:p>
        </p:txBody>
      </p:sp>
      <p:sp>
        <p:nvSpPr>
          <p:cNvPr id="15" name="Text 10"/>
          <p:cNvSpPr txBox="1"/>
          <p:nvPr/>
        </p:nvSpPr>
        <p:spPr>
          <a:xfrm>
            <a:off x="1119138" y="3982441"/>
            <a:ext cx="3686861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결과가 적으면 '노동 시장'(상위)으로 넓히고, 너무 많으면 '초기 경력'(하위)으로 좁힙니다.</a:t>
            </a:r>
            <a:endParaRPr lang="en-US" sz="1200" dirty="0"/>
          </a:p>
        </p:txBody>
      </p:sp>
      <p:pic>
        <p:nvPicPr>
          <p:cNvPr id="16" name="Image 3" descr="preencoded.png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785382" y="4734992"/>
            <a:ext cx="171907" cy="171907"/>
          </a:xfrm>
          <a:prstGeom prst="rect">
            <a:avLst/>
          </a:prstGeom>
        </p:spPr>
      </p:pic>
      <p:sp>
        <p:nvSpPr>
          <p:cNvPr id="17" name="Text 11"/>
          <p:cNvSpPr txBox="1"/>
          <p:nvPr/>
        </p:nvSpPr>
        <p:spPr>
          <a:xfrm>
            <a:off x="1099936" y="4678300"/>
            <a:ext cx="1429207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제한어 추가 (구체화)</a:t>
            </a:r>
            <a:endParaRPr lang="en-US" sz="1200" dirty="0"/>
          </a:p>
        </p:txBody>
      </p:sp>
      <p:sp>
        <p:nvSpPr>
          <p:cNvPr id="18" name="Text 12"/>
          <p:cNvSpPr txBox="1"/>
          <p:nvPr/>
        </p:nvSpPr>
        <p:spPr>
          <a:xfrm>
            <a:off x="1099936" y="4906900"/>
            <a:ext cx="3838651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'대한민국', 'IT 비전공', '수도권' 등 대상을 한정하는 </a:t>
            </a:r>
            <a:r>
              <a:rPr lang="en-US" sz="1200" dirty="0" err="1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단어를</a:t>
            </a:r>
            <a:r>
              <a:rPr lang="en-US" sz="120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</a:t>
            </a:r>
          </a:p>
          <a:p>
            <a:pPr marL="0" indent="0" algn="l">
              <a:buNone/>
            </a:pPr>
            <a:r>
              <a:rPr lang="en-US" sz="1200" dirty="0" err="1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추가해</a:t>
            </a:r>
            <a:r>
              <a:rPr lang="en-US" sz="120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정확도를 높입니다.</a:t>
            </a:r>
            <a:endParaRPr lang="en-US" sz="1200" dirty="0"/>
          </a:p>
        </p:txBody>
      </p:sp>
      <p:pic>
        <p:nvPicPr>
          <p:cNvPr id="19" name="Image 4" descr="preencoded.png"/>
          <p:cNvPicPr>
            <a:picLocks noChangeAspect="1"/>
          </p:cNvPicPr>
          <p:nvPr/>
        </p:nvPicPr>
        <p:blipFill>
          <a:blip r:embed="rId7"/>
          <a:srcRect/>
          <a:stretch/>
        </p:blipFill>
        <p:spPr>
          <a:xfrm>
            <a:off x="785382" y="5659451"/>
            <a:ext cx="171907" cy="171907"/>
          </a:xfrm>
          <a:prstGeom prst="rect">
            <a:avLst/>
          </a:prstGeom>
        </p:spPr>
      </p:pic>
      <p:sp>
        <p:nvSpPr>
          <p:cNvPr id="20" name="Text 13"/>
          <p:cNvSpPr txBox="1"/>
          <p:nvPr/>
        </p:nvSpPr>
        <p:spPr>
          <a:xfrm>
            <a:off x="1099936" y="5601844"/>
            <a:ext cx="175290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제외어 설정 (노이즈 제거)</a:t>
            </a:r>
            <a:endParaRPr lang="en-US" sz="1200" dirty="0"/>
          </a:p>
        </p:txBody>
      </p:sp>
      <p:sp>
        <p:nvSpPr>
          <p:cNvPr id="21" name="Text 14"/>
          <p:cNvSpPr txBox="1"/>
          <p:nvPr/>
        </p:nvSpPr>
        <p:spPr>
          <a:xfrm>
            <a:off x="1099936" y="5830444"/>
            <a:ext cx="3724351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나의 논지와 관계없는 분야(예: '해외 사례', '군복무')를 검색 결과에서 배제합니다.</a:t>
            </a:r>
            <a:endParaRPr lang="en-US" sz="1200" dirty="0"/>
          </a:p>
        </p:txBody>
      </p:sp>
      <p:sp>
        <p:nvSpPr>
          <p:cNvPr id="22" name="Shape 15"/>
          <p:cNvSpPr/>
          <p:nvPr/>
        </p:nvSpPr>
        <p:spPr>
          <a:xfrm>
            <a:off x="5497286" y="1709602"/>
            <a:ext cx="6057900" cy="2371955"/>
          </a:xfrm>
          <a:prstGeom prst="roundRect">
            <a:avLst>
              <a:gd name="adj" fmla="val 539"/>
            </a:avLst>
          </a:prstGeom>
          <a:solidFill>
            <a:srgbClr val="FFFFFF">
              <a:alpha val="5000"/>
            </a:srgbClr>
          </a:solidFill>
          <a:ln w="12700">
            <a:solidFill>
              <a:srgbClr val="FFFFFF">
                <a:alpha val="1000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23" name="Image 5" descr="preencoded.png"/>
          <p:cNvPicPr>
            <a:picLocks noChangeAspect="1"/>
          </p:cNvPicPr>
          <p:nvPr/>
        </p:nvPicPr>
        <p:blipFill>
          <a:blip r:embed="rId8"/>
          <a:srcRect/>
          <a:stretch/>
        </p:blipFill>
        <p:spPr>
          <a:xfrm>
            <a:off x="5745088" y="1825734"/>
            <a:ext cx="171907" cy="171907"/>
          </a:xfrm>
          <a:prstGeom prst="rect">
            <a:avLst/>
          </a:prstGeom>
        </p:spPr>
      </p:pic>
      <p:sp>
        <p:nvSpPr>
          <p:cNvPr id="24" name="Text 16"/>
          <p:cNvSpPr txBox="1"/>
          <p:nvPr/>
        </p:nvSpPr>
        <p:spPr>
          <a:xfrm>
            <a:off x="5992891" y="1785500"/>
            <a:ext cx="1383487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60A5F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실전 검색식 예시</a:t>
            </a:r>
            <a:endParaRPr lang="en-US" sz="1300" dirty="0"/>
          </a:p>
        </p:txBody>
      </p:sp>
      <p:sp>
        <p:nvSpPr>
          <p:cNvPr id="25" name="Shape 17"/>
          <p:cNvSpPr/>
          <p:nvPr/>
        </p:nvSpPr>
        <p:spPr>
          <a:xfrm>
            <a:off x="5745088" y="2180521"/>
            <a:ext cx="5562295" cy="771754"/>
          </a:xfrm>
          <a:prstGeom prst="roundRect">
            <a:avLst>
              <a:gd name="adj" fmla="val 8777"/>
            </a:avLst>
          </a:prstGeom>
          <a:solidFill>
            <a:srgbClr val="000000">
              <a:alpha val="30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6" name="Shape 18"/>
          <p:cNvSpPr/>
          <p:nvPr/>
        </p:nvSpPr>
        <p:spPr>
          <a:xfrm>
            <a:off x="5745088" y="2180521"/>
            <a:ext cx="38405" cy="771754"/>
          </a:xfrm>
          <a:prstGeom prst="rect">
            <a:avLst/>
          </a:prstGeom>
          <a:solidFill>
            <a:srgbClr val="00BBF0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7" name="Text 19"/>
          <p:cNvSpPr txBox="1"/>
          <p:nvPr/>
        </p:nvSpPr>
        <p:spPr>
          <a:xfrm>
            <a:off x="5926140" y="2323167"/>
            <a:ext cx="1431036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94A3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DBpia / 학술 DB 검색식</a:t>
            </a:r>
            <a:endParaRPr lang="en-US" sz="1000" dirty="0"/>
          </a:p>
        </p:txBody>
      </p:sp>
      <p:sp>
        <p:nvSpPr>
          <p:cNvPr id="28" name="Text 20"/>
          <p:cNvSpPr txBox="1"/>
          <p:nvPr/>
        </p:nvSpPr>
        <p:spPr>
          <a:xfrm>
            <a:off x="5926140" y="2602974"/>
            <a:ext cx="4810658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E2E8F0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("청년" AND 실업) AND (정책 OR "고용 연계") AND 대한민국</a:t>
            </a:r>
            <a:endParaRPr lang="en-US" sz="1200" dirty="0"/>
          </a:p>
        </p:txBody>
      </p:sp>
      <p:sp>
        <p:nvSpPr>
          <p:cNvPr id="29" name="Shape 21"/>
          <p:cNvSpPr/>
          <p:nvPr/>
        </p:nvSpPr>
        <p:spPr>
          <a:xfrm>
            <a:off x="5745088" y="3060174"/>
            <a:ext cx="5562295" cy="771754"/>
          </a:xfrm>
          <a:prstGeom prst="roundRect">
            <a:avLst>
              <a:gd name="adj" fmla="val 8777"/>
            </a:avLst>
          </a:prstGeom>
          <a:solidFill>
            <a:srgbClr val="000000">
              <a:alpha val="30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0" name="Shape 22"/>
          <p:cNvSpPr/>
          <p:nvPr/>
        </p:nvSpPr>
        <p:spPr>
          <a:xfrm>
            <a:off x="5745088" y="3060174"/>
            <a:ext cx="38405" cy="771754"/>
          </a:xfrm>
          <a:prstGeom prst="rect">
            <a:avLst/>
          </a:prstGeom>
          <a:solidFill>
            <a:srgbClr val="3B82F6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1" name="Text 23"/>
          <p:cNvSpPr txBox="1"/>
          <p:nvPr/>
        </p:nvSpPr>
        <p:spPr>
          <a:xfrm>
            <a:off x="5926140" y="3202820"/>
            <a:ext cx="973836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94A3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도서관 통합검색</a:t>
            </a:r>
            <a:endParaRPr lang="en-US" sz="1000" dirty="0"/>
          </a:p>
        </p:txBody>
      </p:sp>
      <p:sp>
        <p:nvSpPr>
          <p:cNvPr id="32" name="Text 24"/>
          <p:cNvSpPr txBox="1"/>
          <p:nvPr/>
        </p:nvSpPr>
        <p:spPr>
          <a:xfrm>
            <a:off x="5926140" y="3483541"/>
            <a:ext cx="4048963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E2E8F0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청년 실업 AND 교육 연계 AND 초기 경력 NOT 군복무</a:t>
            </a:r>
            <a:endParaRPr lang="en-US" sz="1200" dirty="0"/>
          </a:p>
        </p:txBody>
      </p:sp>
      <p:sp>
        <p:nvSpPr>
          <p:cNvPr id="33" name="Shape 25"/>
          <p:cNvSpPr/>
          <p:nvPr/>
        </p:nvSpPr>
        <p:spPr>
          <a:xfrm>
            <a:off x="5497286" y="4264438"/>
            <a:ext cx="6057900" cy="2371955"/>
          </a:xfrm>
          <a:prstGeom prst="roundRect">
            <a:avLst>
              <a:gd name="adj" fmla="val 568"/>
            </a:avLst>
          </a:prstGeom>
          <a:solidFill>
            <a:srgbClr val="FFFFFF">
              <a:alpha val="5000"/>
            </a:srgbClr>
          </a:solidFill>
          <a:ln w="12700">
            <a:solidFill>
              <a:srgbClr val="FFFFFF">
                <a:alpha val="1000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34" name="Image 6" descr="preencoded.png"/>
          <p:cNvPicPr>
            <a:picLocks noChangeAspect="1"/>
          </p:cNvPicPr>
          <p:nvPr/>
        </p:nvPicPr>
        <p:blipFill>
          <a:blip r:embed="rId9"/>
          <a:srcRect l="-1773" r="-1773"/>
          <a:stretch/>
        </p:blipFill>
        <p:spPr>
          <a:xfrm>
            <a:off x="5745088" y="4552474"/>
            <a:ext cx="200254" cy="171907"/>
          </a:xfrm>
          <a:prstGeom prst="rect">
            <a:avLst/>
          </a:prstGeom>
        </p:spPr>
      </p:pic>
      <p:sp>
        <p:nvSpPr>
          <p:cNvPr id="35" name="Text 26"/>
          <p:cNvSpPr txBox="1"/>
          <p:nvPr/>
        </p:nvSpPr>
        <p:spPr>
          <a:xfrm>
            <a:off x="6021237" y="4512241"/>
            <a:ext cx="1926641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60A5F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검색 연산자 미니 가이드</a:t>
            </a:r>
            <a:endParaRPr lang="en-US" sz="1300" dirty="0"/>
          </a:p>
        </p:txBody>
      </p:sp>
      <p:sp>
        <p:nvSpPr>
          <p:cNvPr id="36" name="Shape 27"/>
          <p:cNvSpPr/>
          <p:nvPr/>
        </p:nvSpPr>
        <p:spPr>
          <a:xfrm>
            <a:off x="5745088" y="4906347"/>
            <a:ext cx="2723998" cy="437998"/>
          </a:xfrm>
          <a:prstGeom prst="roundRect">
            <a:avLst>
              <a:gd name="adj" fmla="val 18154"/>
            </a:avLst>
          </a:prstGeom>
          <a:solidFill>
            <a:srgbClr val="000000">
              <a:alpha val="20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7" name="Text 28"/>
          <p:cNvSpPr txBox="1"/>
          <p:nvPr/>
        </p:nvSpPr>
        <p:spPr>
          <a:xfrm>
            <a:off x="5945342" y="5020647"/>
            <a:ext cx="303581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" "</a:t>
            </a:r>
            <a:endParaRPr lang="en-US" sz="1000" dirty="0"/>
          </a:p>
        </p:txBody>
      </p:sp>
      <p:sp>
        <p:nvSpPr>
          <p:cNvPr id="38" name="Text 29"/>
          <p:cNvSpPr txBox="1"/>
          <p:nvPr/>
        </p:nvSpPr>
        <p:spPr>
          <a:xfrm>
            <a:off x="7366320" y="5020647"/>
            <a:ext cx="1065276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CBD5E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정확한 구절 검색</a:t>
            </a:r>
            <a:endParaRPr lang="en-US" sz="1000" dirty="0"/>
          </a:p>
        </p:txBody>
      </p:sp>
      <p:sp>
        <p:nvSpPr>
          <p:cNvPr id="39" name="Shape 30"/>
          <p:cNvSpPr/>
          <p:nvPr/>
        </p:nvSpPr>
        <p:spPr>
          <a:xfrm>
            <a:off x="8583386" y="4906347"/>
            <a:ext cx="2723998" cy="437998"/>
          </a:xfrm>
          <a:prstGeom prst="roundRect">
            <a:avLst>
              <a:gd name="adj" fmla="val 18154"/>
            </a:avLst>
          </a:prstGeom>
          <a:solidFill>
            <a:srgbClr val="000000">
              <a:alpha val="20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0" name="Text 31"/>
          <p:cNvSpPr txBox="1"/>
          <p:nvPr/>
        </p:nvSpPr>
        <p:spPr>
          <a:xfrm>
            <a:off x="8783640" y="5020647"/>
            <a:ext cx="398678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60A5F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AND</a:t>
            </a:r>
            <a:endParaRPr lang="en-US" sz="1000" dirty="0"/>
          </a:p>
        </p:txBody>
      </p:sp>
      <p:sp>
        <p:nvSpPr>
          <p:cNvPr id="41" name="Text 32"/>
          <p:cNvSpPr txBox="1"/>
          <p:nvPr/>
        </p:nvSpPr>
        <p:spPr>
          <a:xfrm>
            <a:off x="10112263" y="5020647"/>
            <a:ext cx="1160374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CBD5E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교집합 (모두 포함)</a:t>
            </a:r>
            <a:endParaRPr lang="en-US" sz="1000" dirty="0"/>
          </a:p>
        </p:txBody>
      </p:sp>
      <p:sp>
        <p:nvSpPr>
          <p:cNvPr id="42" name="Shape 33"/>
          <p:cNvSpPr/>
          <p:nvPr/>
        </p:nvSpPr>
        <p:spPr>
          <a:xfrm>
            <a:off x="5745088" y="5454987"/>
            <a:ext cx="2723998" cy="437998"/>
          </a:xfrm>
          <a:prstGeom prst="roundRect">
            <a:avLst>
              <a:gd name="adj" fmla="val 18154"/>
            </a:avLst>
          </a:prstGeom>
          <a:solidFill>
            <a:srgbClr val="000000">
              <a:alpha val="20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3" name="Text 34"/>
          <p:cNvSpPr txBox="1"/>
          <p:nvPr/>
        </p:nvSpPr>
        <p:spPr>
          <a:xfrm>
            <a:off x="5945342" y="5569287"/>
            <a:ext cx="303581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60A5F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OR</a:t>
            </a:r>
            <a:endParaRPr lang="en-US" sz="1000" dirty="0"/>
          </a:p>
        </p:txBody>
      </p:sp>
      <p:sp>
        <p:nvSpPr>
          <p:cNvPr id="44" name="Text 35"/>
          <p:cNvSpPr txBox="1"/>
          <p:nvPr/>
        </p:nvSpPr>
        <p:spPr>
          <a:xfrm>
            <a:off x="7312370" y="5569287"/>
            <a:ext cx="1122883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CBD5E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합집합 (하나라도)</a:t>
            </a:r>
            <a:endParaRPr lang="en-US" sz="1000" dirty="0"/>
          </a:p>
        </p:txBody>
      </p:sp>
      <p:sp>
        <p:nvSpPr>
          <p:cNvPr id="45" name="Shape 36"/>
          <p:cNvSpPr/>
          <p:nvPr/>
        </p:nvSpPr>
        <p:spPr>
          <a:xfrm>
            <a:off x="8583386" y="5454987"/>
            <a:ext cx="2723998" cy="437998"/>
          </a:xfrm>
          <a:prstGeom prst="roundRect">
            <a:avLst>
              <a:gd name="adj" fmla="val 18154"/>
            </a:avLst>
          </a:prstGeom>
          <a:solidFill>
            <a:srgbClr val="000000">
              <a:alpha val="20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6" name="Text 37"/>
          <p:cNvSpPr txBox="1"/>
          <p:nvPr/>
        </p:nvSpPr>
        <p:spPr>
          <a:xfrm>
            <a:off x="8783640" y="5569287"/>
            <a:ext cx="398678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F8717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NOT</a:t>
            </a:r>
            <a:endParaRPr lang="en-US" sz="1000" dirty="0"/>
          </a:p>
        </p:txBody>
      </p:sp>
      <p:sp>
        <p:nvSpPr>
          <p:cNvPr id="47" name="Text 38"/>
          <p:cNvSpPr txBox="1"/>
          <p:nvPr/>
        </p:nvSpPr>
        <p:spPr>
          <a:xfrm>
            <a:off x="10403042" y="5569287"/>
            <a:ext cx="865022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CBD5E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차집합 (제외)</a:t>
            </a:r>
            <a:endParaRPr lang="en-US" sz="1000" dirty="0"/>
          </a:p>
        </p:txBody>
      </p:sp>
      <p:sp>
        <p:nvSpPr>
          <p:cNvPr id="48" name="Shape 39"/>
          <p:cNvSpPr/>
          <p:nvPr/>
        </p:nvSpPr>
        <p:spPr>
          <a:xfrm>
            <a:off x="5745088" y="6032888"/>
            <a:ext cx="5562295" cy="457200"/>
          </a:xfrm>
          <a:prstGeom prst="roundRect">
            <a:avLst>
              <a:gd name="adj" fmla="val 16667"/>
            </a:avLst>
          </a:prstGeom>
          <a:solidFill>
            <a:srgbClr val="00BBF0">
              <a:alpha val="10000"/>
            </a:srgbClr>
          </a:solidFill>
          <a:ln w="12700">
            <a:solidFill>
              <a:srgbClr val="00BBF0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49" name="Image 7" descr="preencoded.png"/>
          <p:cNvPicPr>
            <a:picLocks noChangeAspect="1"/>
          </p:cNvPicPr>
          <p:nvPr/>
        </p:nvPicPr>
        <p:blipFill>
          <a:blip r:embed="rId10"/>
          <a:srcRect l="-2512" r="-2512"/>
          <a:stretch/>
        </p:blipFill>
        <p:spPr>
          <a:xfrm>
            <a:off x="5868532" y="6192908"/>
            <a:ext cx="105156" cy="133502"/>
          </a:xfrm>
          <a:prstGeom prst="rect">
            <a:avLst/>
          </a:prstGeom>
        </p:spPr>
      </p:pic>
      <p:sp>
        <p:nvSpPr>
          <p:cNvPr id="50" name="Text 40"/>
          <p:cNvSpPr txBox="1"/>
          <p:nvPr/>
        </p:nvSpPr>
        <p:spPr>
          <a:xfrm>
            <a:off x="6049584" y="6156332"/>
            <a:ext cx="3799332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60A5F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동의어는 OR로 묶고 괄호 ( )를 사용해야 논리가 꼬이지 않습니다.</a:t>
            </a:r>
            <a:endParaRPr lang="en-US" sz="1000" dirty="0"/>
          </a:p>
        </p:txBody>
      </p:sp>
      <p:sp>
        <p:nvSpPr>
          <p:cNvPr id="51" name="deckgen:wrap:footer"/>
          <p:cNvSpPr txBox="1"/>
          <p:nvPr/>
        </p:nvSpPr>
        <p:spPr>
          <a:xfrm>
            <a:off x="365760" y="6549390"/>
            <a:ext cx="11460480" cy="240030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0">
                <a:solidFill>
                  <a:srgbClr val="8A8F99"/>
                </a:solidFill>
                <a:latin typeface="Pretendard"/>
              </a:rPr>
              <a:t>© 2026 이애본 · 홍문원(洪文院) 발행 · CC BY-NC-ND 4.0 · useful-ai.dreamitbiz.com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0F0F0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204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" name="Shape 2"/>
          <p:cNvSpPr/>
          <p:nvPr/>
        </p:nvSpPr>
        <p:spPr>
          <a:xfrm>
            <a:off x="761695" y="476402"/>
            <a:ext cx="571500" cy="57607"/>
          </a:xfrm>
          <a:prstGeom prst="rect">
            <a:avLst/>
          </a:prstGeom>
          <a:solidFill>
            <a:srgbClr val="00BBF0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 txBox="1"/>
          <p:nvPr/>
        </p:nvSpPr>
        <p:spPr>
          <a:xfrm>
            <a:off x="761695" y="657454"/>
            <a:ext cx="4286707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출처 신뢰도 스펙트럼</a:t>
            </a:r>
            <a:endParaRPr lang="en-US" sz="3600" dirty="0"/>
          </a:p>
        </p:txBody>
      </p:sp>
      <p:sp>
        <p:nvSpPr>
          <p:cNvPr id="6" name="Text 4"/>
          <p:cNvSpPr txBox="1"/>
          <p:nvPr/>
        </p:nvSpPr>
        <p:spPr>
          <a:xfrm>
            <a:off x="761695" y="1387145"/>
            <a:ext cx="5544007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dirty="0">
                <a:solidFill>
                  <a:srgbClr val="CBD5E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리포트의 품격은 인용하는 자료의 신뢰도(Credibility)가 결정합니다.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086246" y="2434133"/>
            <a:ext cx="19202" cy="2667305"/>
          </a:xfrm>
          <a:prstGeom prst="rect">
            <a:avLst/>
          </a:prstGeom>
          <a:solidFill>
            <a:srgbClr val="FFFFFF">
              <a:alpha val="20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8" name="Shape 6"/>
          <p:cNvSpPr/>
          <p:nvPr/>
        </p:nvSpPr>
        <p:spPr>
          <a:xfrm>
            <a:off x="761695" y="2399386"/>
            <a:ext cx="2667305" cy="114300"/>
          </a:xfrm>
          <a:prstGeom prst="rect">
            <a:avLst/>
          </a:prstGeom>
          <a:solidFill>
            <a:srgbClr val="FFFFFF">
              <a:alpha val="20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9" name="Shape 7"/>
          <p:cNvSpPr/>
          <p:nvPr/>
        </p:nvSpPr>
        <p:spPr>
          <a:xfrm>
            <a:off x="3429000" y="2399386"/>
            <a:ext cx="2667305" cy="114300"/>
          </a:xfrm>
          <a:prstGeom prst="rect">
            <a:avLst/>
          </a:prstGeom>
          <a:solidFill>
            <a:srgbClr val="60A5F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0" name="Shape 8"/>
          <p:cNvSpPr/>
          <p:nvPr/>
        </p:nvSpPr>
        <p:spPr>
          <a:xfrm>
            <a:off x="6096305" y="2399386"/>
            <a:ext cx="2667305" cy="114300"/>
          </a:xfrm>
          <a:prstGeom prst="rect">
            <a:avLst/>
          </a:prstGeom>
          <a:solidFill>
            <a:srgbClr val="3B82F6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1" name="Shape 9"/>
          <p:cNvSpPr/>
          <p:nvPr/>
        </p:nvSpPr>
        <p:spPr>
          <a:xfrm>
            <a:off x="8762695" y="2399386"/>
            <a:ext cx="2667305" cy="114300"/>
          </a:xfrm>
          <a:prstGeom prst="rect">
            <a:avLst/>
          </a:prstGeom>
          <a:solidFill>
            <a:srgbClr val="00BBF0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2" name="Text 10"/>
          <p:cNvSpPr txBox="1"/>
          <p:nvPr/>
        </p:nvSpPr>
        <p:spPr>
          <a:xfrm>
            <a:off x="1933042" y="2970886"/>
            <a:ext cx="95280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CBD5E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낮음 (LOW)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1295705" y="3313786"/>
            <a:ext cx="2115007" cy="418795"/>
          </a:xfrm>
          <a:prstGeom prst="roundRect">
            <a:avLst>
              <a:gd name="adj" fmla="val 99246"/>
            </a:avLst>
          </a:prstGeom>
          <a:solidFill>
            <a:srgbClr val="FFFFFF">
              <a:alpha val="5000"/>
            </a:srgbClr>
          </a:solidFill>
          <a:ln w="12700">
            <a:solidFill>
              <a:srgbClr val="FFFFFF">
                <a:alpha val="1000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Text 12"/>
          <p:cNvSpPr txBox="1"/>
          <p:nvPr/>
        </p:nvSpPr>
        <p:spPr>
          <a:xfrm>
            <a:off x="2017166" y="3418027"/>
            <a:ext cx="779983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E2E8F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개인 블로그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1295705" y="3824021"/>
            <a:ext cx="2115007" cy="418795"/>
          </a:xfrm>
          <a:prstGeom prst="roundRect">
            <a:avLst>
              <a:gd name="adj" fmla="val 99246"/>
            </a:avLst>
          </a:prstGeom>
          <a:solidFill>
            <a:srgbClr val="FFFFFF">
              <a:alpha val="5000"/>
            </a:srgbClr>
          </a:solidFill>
          <a:ln w="12700">
            <a:solidFill>
              <a:srgbClr val="FFFFFF">
                <a:alpha val="1000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6" name="Text 14"/>
          <p:cNvSpPr txBox="1"/>
          <p:nvPr/>
        </p:nvSpPr>
        <p:spPr>
          <a:xfrm>
            <a:off x="1954073" y="3929177"/>
            <a:ext cx="903427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E2E8F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익명 커뮤니티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1295705" y="4335170"/>
            <a:ext cx="2115007" cy="418795"/>
          </a:xfrm>
          <a:prstGeom prst="roundRect">
            <a:avLst>
              <a:gd name="adj" fmla="val 99246"/>
            </a:avLst>
          </a:prstGeom>
          <a:solidFill>
            <a:srgbClr val="FFFFFF">
              <a:alpha val="5000"/>
            </a:srgbClr>
          </a:solidFill>
          <a:ln w="12700">
            <a:solidFill>
              <a:srgbClr val="FFFFFF">
                <a:alpha val="1000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8" name="Text 16"/>
          <p:cNvSpPr txBox="1"/>
          <p:nvPr/>
        </p:nvSpPr>
        <p:spPr>
          <a:xfrm>
            <a:off x="1878178" y="4439412"/>
            <a:ext cx="1056132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E2E8F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나무위키/지식iN</a:t>
            </a:r>
            <a:endParaRPr lang="en-US" sz="1000" dirty="0"/>
          </a:p>
        </p:txBody>
      </p:sp>
      <p:sp>
        <p:nvSpPr>
          <p:cNvPr id="19" name="Text 17"/>
          <p:cNvSpPr txBox="1"/>
          <p:nvPr/>
        </p:nvSpPr>
        <p:spPr>
          <a:xfrm>
            <a:off x="4272991" y="2970886"/>
            <a:ext cx="126735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CBD5E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보통 (MEDIUM)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3792017" y="3313786"/>
            <a:ext cx="2115007" cy="418795"/>
          </a:xfrm>
          <a:prstGeom prst="roundRect">
            <a:avLst>
              <a:gd name="adj" fmla="val 99246"/>
            </a:avLst>
          </a:prstGeom>
          <a:solidFill>
            <a:srgbClr val="FFFFFF">
              <a:alpha val="5000"/>
            </a:srgbClr>
          </a:solidFill>
          <a:ln w="12700">
            <a:solidFill>
              <a:srgbClr val="FFFFFF">
                <a:alpha val="1000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1" name="Text 19"/>
          <p:cNvSpPr txBox="1"/>
          <p:nvPr/>
        </p:nvSpPr>
        <p:spPr>
          <a:xfrm>
            <a:off x="4431182" y="3418027"/>
            <a:ext cx="941832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E2E8F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일반 뉴스 기사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3792017" y="3824021"/>
            <a:ext cx="2115007" cy="418795"/>
          </a:xfrm>
          <a:prstGeom prst="roundRect">
            <a:avLst>
              <a:gd name="adj" fmla="val 99246"/>
            </a:avLst>
          </a:prstGeom>
          <a:solidFill>
            <a:srgbClr val="FFFFFF">
              <a:alpha val="5000"/>
            </a:srgbClr>
          </a:solidFill>
          <a:ln w="12700">
            <a:solidFill>
              <a:srgbClr val="FFFFFF">
                <a:alpha val="1000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3" name="Text 21"/>
          <p:cNvSpPr txBox="1"/>
          <p:nvPr/>
        </p:nvSpPr>
        <p:spPr>
          <a:xfrm>
            <a:off x="4296766" y="3929177"/>
            <a:ext cx="1207922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E2E8F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전문가 칼럼/에세이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3792017" y="4335170"/>
            <a:ext cx="2115007" cy="418795"/>
          </a:xfrm>
          <a:prstGeom prst="roundRect">
            <a:avLst>
              <a:gd name="adj" fmla="val 99246"/>
            </a:avLst>
          </a:prstGeom>
          <a:solidFill>
            <a:srgbClr val="FFFFFF">
              <a:alpha val="5000"/>
            </a:srgbClr>
          </a:solidFill>
          <a:ln w="12700">
            <a:solidFill>
              <a:srgbClr val="FFFFFF">
                <a:alpha val="1000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5" name="Text 23"/>
          <p:cNvSpPr txBox="1"/>
          <p:nvPr/>
        </p:nvSpPr>
        <p:spPr>
          <a:xfrm>
            <a:off x="4431182" y="4439412"/>
            <a:ext cx="941832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E2E8F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기업 홍보 자료</a:t>
            </a:r>
            <a:endParaRPr lang="en-US" sz="1000" dirty="0"/>
          </a:p>
        </p:txBody>
      </p:sp>
      <p:sp>
        <p:nvSpPr>
          <p:cNvPr id="26" name="Text 24"/>
          <p:cNvSpPr txBox="1"/>
          <p:nvPr/>
        </p:nvSpPr>
        <p:spPr>
          <a:xfrm>
            <a:off x="6895490" y="2970886"/>
            <a:ext cx="10195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00BBF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높음 (HIGH)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6288329" y="3313786"/>
            <a:ext cx="2115007" cy="418795"/>
          </a:xfrm>
          <a:prstGeom prst="roundRect">
            <a:avLst>
              <a:gd name="adj" fmla="val 99246"/>
            </a:avLst>
          </a:prstGeom>
          <a:solidFill>
            <a:srgbClr val="00BBF0">
              <a:alpha val="10000"/>
            </a:srgbClr>
          </a:solidFill>
          <a:ln w="12700">
            <a:solidFill>
              <a:srgbClr val="00BBF0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8" name="Text 26"/>
          <p:cNvSpPr txBox="1"/>
          <p:nvPr/>
        </p:nvSpPr>
        <p:spPr>
          <a:xfrm>
            <a:off x="6774790" y="3418027"/>
            <a:ext cx="1246327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탐사 보도/기획 기사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6288329" y="3824021"/>
            <a:ext cx="2115007" cy="418795"/>
          </a:xfrm>
          <a:prstGeom prst="roundRect">
            <a:avLst>
              <a:gd name="adj" fmla="val 99246"/>
            </a:avLst>
          </a:prstGeom>
          <a:solidFill>
            <a:srgbClr val="00BBF0">
              <a:alpha val="10000"/>
            </a:srgbClr>
          </a:solidFill>
          <a:ln w="12700">
            <a:solidFill>
              <a:srgbClr val="00BBF0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0" name="Text 28"/>
          <p:cNvSpPr txBox="1"/>
          <p:nvPr/>
        </p:nvSpPr>
        <p:spPr>
          <a:xfrm>
            <a:off x="6730898" y="3929177"/>
            <a:ext cx="1332281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정부/공공기관 보고서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6288329" y="4335170"/>
            <a:ext cx="2115007" cy="418795"/>
          </a:xfrm>
          <a:prstGeom prst="roundRect">
            <a:avLst>
              <a:gd name="adj" fmla="val 99246"/>
            </a:avLst>
          </a:prstGeom>
          <a:solidFill>
            <a:srgbClr val="00BBF0">
              <a:alpha val="10000"/>
            </a:srgbClr>
          </a:solidFill>
          <a:ln w="12700">
            <a:solidFill>
              <a:srgbClr val="00BBF0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2" name="Text 30"/>
          <p:cNvSpPr txBox="1"/>
          <p:nvPr/>
        </p:nvSpPr>
        <p:spPr>
          <a:xfrm>
            <a:off x="6597396" y="4439412"/>
            <a:ext cx="1598371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연구원(Think Tank) 자료</a:t>
            </a:r>
            <a:endParaRPr lang="en-US" sz="1000" dirty="0"/>
          </a:p>
        </p:txBody>
      </p:sp>
      <p:sp>
        <p:nvSpPr>
          <p:cNvPr id="33" name="Text 31"/>
          <p:cNvSpPr txBox="1"/>
          <p:nvPr/>
        </p:nvSpPr>
        <p:spPr>
          <a:xfrm>
            <a:off x="9221724" y="2970886"/>
            <a:ext cx="135331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00BBF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매우 높음 (BEST)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8784641" y="3313786"/>
            <a:ext cx="2115007" cy="418795"/>
          </a:xfrm>
          <a:prstGeom prst="roundRect">
            <a:avLst>
              <a:gd name="adj" fmla="val 99246"/>
            </a:avLst>
          </a:prstGeom>
          <a:solidFill>
            <a:srgbClr val="00BBF0">
              <a:alpha val="10000"/>
            </a:srgbClr>
          </a:solidFill>
          <a:ln w="12700">
            <a:solidFill>
              <a:srgbClr val="00BBF0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5" name="Text 33"/>
          <p:cNvSpPr txBox="1"/>
          <p:nvPr/>
        </p:nvSpPr>
        <p:spPr>
          <a:xfrm>
            <a:off x="9099194" y="3418027"/>
            <a:ext cx="1589227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학술 논문 (Peer Review)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8784641" y="3824021"/>
            <a:ext cx="2115007" cy="418795"/>
          </a:xfrm>
          <a:prstGeom prst="roundRect">
            <a:avLst>
              <a:gd name="adj" fmla="val 99246"/>
            </a:avLst>
          </a:prstGeom>
          <a:solidFill>
            <a:srgbClr val="00BBF0">
              <a:alpha val="10000"/>
            </a:srgbClr>
          </a:solidFill>
          <a:ln w="12700">
            <a:solidFill>
              <a:srgbClr val="00BBF0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7" name="Text 35"/>
          <p:cNvSpPr txBox="1"/>
          <p:nvPr/>
        </p:nvSpPr>
        <p:spPr>
          <a:xfrm>
            <a:off x="9100109" y="3929177"/>
            <a:ext cx="1589227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공식 통계 (통계청/OECD)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8784641" y="4335170"/>
            <a:ext cx="2115007" cy="418795"/>
          </a:xfrm>
          <a:prstGeom prst="roundRect">
            <a:avLst>
              <a:gd name="adj" fmla="val 99246"/>
            </a:avLst>
          </a:prstGeom>
          <a:solidFill>
            <a:srgbClr val="00BBF0">
              <a:alpha val="10000"/>
            </a:srgbClr>
          </a:solidFill>
          <a:ln w="12700">
            <a:solidFill>
              <a:srgbClr val="00BBF0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9" name="Text 37"/>
          <p:cNvSpPr txBox="1"/>
          <p:nvPr/>
        </p:nvSpPr>
        <p:spPr>
          <a:xfrm>
            <a:off x="9284818" y="4439412"/>
            <a:ext cx="1217981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학위 논문 (석/박사)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1828800" y="5188306"/>
            <a:ext cx="8534095" cy="752551"/>
          </a:xfrm>
          <a:prstGeom prst="roundRect">
            <a:avLst>
              <a:gd name="adj" fmla="val 12304"/>
            </a:avLst>
          </a:prstGeom>
          <a:solidFill>
            <a:srgbClr val="00BBF0">
              <a:alpha val="8000"/>
            </a:srgbClr>
          </a:solidFill>
          <a:ln w="12700">
            <a:solidFill>
              <a:srgbClr val="00BBF0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41" name="Image 0" descr="preencoded.png"/>
          <p:cNvPicPr>
            <a:picLocks noChangeAspect="1"/>
          </p:cNvPicPr>
          <p:nvPr/>
        </p:nvPicPr>
        <p:blipFill>
          <a:blip r:embed="rId3"/>
          <a:srcRect t="-817" b="-817"/>
          <a:stretch/>
        </p:blipFill>
        <p:spPr>
          <a:xfrm>
            <a:off x="2560320" y="5426050"/>
            <a:ext cx="237744" cy="276149"/>
          </a:xfrm>
          <a:prstGeom prst="rect">
            <a:avLst/>
          </a:prstGeom>
        </p:spPr>
      </p:pic>
      <p:sp>
        <p:nvSpPr>
          <p:cNvPr id="42" name="Text 39"/>
          <p:cNvSpPr txBox="1"/>
          <p:nvPr/>
        </p:nvSpPr>
        <p:spPr>
          <a:xfrm>
            <a:off x="2989174" y="5432450"/>
            <a:ext cx="6780276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리포트의 핵심 주장은 반드시 '높음(High)' 이상 등급의 자료로 입증해야 설득력을 얻습니다.</a:t>
            </a:r>
            <a:endParaRPr lang="en-US" sz="1300" dirty="0"/>
          </a:p>
        </p:txBody>
      </p:sp>
      <p:sp>
        <p:nvSpPr>
          <p:cNvPr id="44" name="Shape 41"/>
          <p:cNvSpPr/>
          <p:nvPr/>
        </p:nvSpPr>
        <p:spPr>
          <a:xfrm>
            <a:off x="2237537" y="2551176"/>
            <a:ext cx="228600" cy="228600"/>
          </a:xfrm>
          <a:prstGeom prst="ellipse">
            <a:avLst/>
          </a:prstGeom>
          <a:solidFill>
            <a:srgbClr val="00204A"/>
          </a:solidFill>
          <a:ln w="50800">
            <a:solidFill>
              <a:srgbClr val="FFFFFF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5" name="Shape 42"/>
          <p:cNvSpPr/>
          <p:nvPr/>
        </p:nvSpPr>
        <p:spPr>
          <a:xfrm>
            <a:off x="4733849" y="2551176"/>
            <a:ext cx="228600" cy="228600"/>
          </a:xfrm>
          <a:prstGeom prst="ellipse">
            <a:avLst/>
          </a:prstGeom>
          <a:solidFill>
            <a:srgbClr val="00204A"/>
          </a:solidFill>
          <a:ln w="50800">
            <a:solidFill>
              <a:srgbClr val="60A5F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6" name="Shape 43"/>
          <p:cNvSpPr/>
          <p:nvPr/>
        </p:nvSpPr>
        <p:spPr>
          <a:xfrm>
            <a:off x="7230161" y="2551176"/>
            <a:ext cx="228600" cy="228600"/>
          </a:xfrm>
          <a:prstGeom prst="ellipse">
            <a:avLst/>
          </a:prstGeom>
          <a:solidFill>
            <a:srgbClr val="00204A"/>
          </a:solidFill>
          <a:ln w="508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7" name="Shape 44"/>
          <p:cNvSpPr/>
          <p:nvPr/>
        </p:nvSpPr>
        <p:spPr>
          <a:xfrm>
            <a:off x="9726473" y="2551176"/>
            <a:ext cx="228600" cy="228600"/>
          </a:xfrm>
          <a:prstGeom prst="ellipse">
            <a:avLst/>
          </a:prstGeom>
          <a:solidFill>
            <a:srgbClr val="00204A"/>
          </a:solidFill>
          <a:ln w="50800">
            <a:solidFill>
              <a:srgbClr val="00BB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8" name="deckgen:wrap:footer"/>
          <p:cNvSpPr txBox="1"/>
          <p:nvPr/>
        </p:nvSpPr>
        <p:spPr>
          <a:xfrm>
            <a:off x="365760" y="6549390"/>
            <a:ext cx="11460480" cy="240030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0">
                <a:solidFill>
                  <a:srgbClr val="8A8F99"/>
                </a:solidFill>
                <a:latin typeface="Pretendard"/>
              </a:rPr>
              <a:t>© 2026 이애본 · 홍문원(洪文院) 발행 · CC BY-NC-ND 4.0 · useful-ai.dreamitbiz.com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0F0F0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204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" name="Shape 2"/>
          <p:cNvSpPr/>
          <p:nvPr/>
        </p:nvSpPr>
        <p:spPr>
          <a:xfrm>
            <a:off x="761695" y="571500"/>
            <a:ext cx="571500" cy="57607"/>
          </a:xfrm>
          <a:prstGeom prst="rect">
            <a:avLst/>
          </a:prstGeom>
          <a:solidFill>
            <a:srgbClr val="00BBF0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 txBox="1"/>
          <p:nvPr/>
        </p:nvSpPr>
        <p:spPr>
          <a:xfrm>
            <a:off x="761695" y="790956"/>
            <a:ext cx="6648602" cy="7717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2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개요 블록화 예시 (목차 샘플)</a:t>
            </a:r>
            <a:endParaRPr lang="en-US" sz="4200" dirty="0"/>
          </a:p>
        </p:txBody>
      </p:sp>
      <p:sp>
        <p:nvSpPr>
          <p:cNvPr id="6" name="Text 4"/>
          <p:cNvSpPr txBox="1"/>
          <p:nvPr/>
        </p:nvSpPr>
        <p:spPr>
          <a:xfrm>
            <a:off x="761695" y="1649578"/>
            <a:ext cx="8563356" cy="3337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CBD5E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처음부터 완벽한 문장을 쓰려 하지 마세요. 블록 단위로 생각하면 작성 속도가 빨라집니다.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761695" y="2373782"/>
            <a:ext cx="3353105" cy="4067251"/>
          </a:xfrm>
          <a:prstGeom prst="rect">
            <a:avLst/>
          </a:prstGeom>
          <a:solidFill>
            <a:srgbClr val="FFFFFF">
              <a:alpha val="5000"/>
            </a:srgbClr>
          </a:solidFill>
          <a:ln w="12700">
            <a:solidFill>
              <a:srgbClr val="FFFFFF">
                <a:alpha val="1000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Shape 6"/>
          <p:cNvSpPr/>
          <p:nvPr/>
        </p:nvSpPr>
        <p:spPr>
          <a:xfrm>
            <a:off x="761695" y="2373782"/>
            <a:ext cx="3333902" cy="38405"/>
          </a:xfrm>
          <a:prstGeom prst="rect">
            <a:avLst/>
          </a:prstGeom>
          <a:solidFill>
            <a:srgbClr val="00BBF0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9" name="Shape 7"/>
          <p:cNvSpPr/>
          <p:nvPr/>
        </p:nvSpPr>
        <p:spPr>
          <a:xfrm>
            <a:off x="1152144" y="2764231"/>
            <a:ext cx="609905" cy="609905"/>
          </a:xfrm>
          <a:prstGeom prst="ellipse">
            <a:avLst/>
          </a:prstGeom>
          <a:solidFill>
            <a:srgbClr val="00BBF0">
              <a:alpha val="10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10" name="Image 0" descr="preencoded.png"/>
          <p:cNvPicPr>
            <a:picLocks noChangeAspect="1"/>
          </p:cNvPicPr>
          <p:nvPr/>
        </p:nvPicPr>
        <p:blipFill>
          <a:blip r:embed="rId3"/>
          <a:srcRect l="-685" r="-685"/>
          <a:stretch/>
        </p:blipFill>
        <p:spPr>
          <a:xfrm>
            <a:off x="1304849" y="2935224"/>
            <a:ext cx="304495" cy="267005"/>
          </a:xfrm>
          <a:prstGeom prst="rect">
            <a:avLst/>
          </a:prstGeom>
        </p:spPr>
      </p:pic>
      <p:sp>
        <p:nvSpPr>
          <p:cNvPr id="11" name="Shape 8"/>
          <p:cNvSpPr/>
          <p:nvPr/>
        </p:nvSpPr>
        <p:spPr>
          <a:xfrm>
            <a:off x="1152144" y="4098341"/>
            <a:ext cx="2572207" cy="9144"/>
          </a:xfrm>
          <a:prstGeom prst="rect">
            <a:avLst/>
          </a:prstGeom>
          <a:solidFill>
            <a:srgbClr val="FFFFFF">
              <a:alpha val="10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2" name="Text 9"/>
          <p:cNvSpPr txBox="1"/>
          <p:nvPr/>
        </p:nvSpPr>
        <p:spPr>
          <a:xfrm>
            <a:off x="1152144" y="3602736"/>
            <a:ext cx="2419502" cy="3337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I. 서론 (Introduction)</a:t>
            </a:r>
            <a:endParaRPr lang="en-US" sz="1800" dirty="0"/>
          </a:p>
        </p:txBody>
      </p:sp>
      <p:sp>
        <p:nvSpPr>
          <p:cNvPr id="13" name="Text 10"/>
          <p:cNvSpPr txBox="1"/>
          <p:nvPr/>
        </p:nvSpPr>
        <p:spPr>
          <a:xfrm>
            <a:off x="1380744" y="4345229"/>
            <a:ext cx="2310689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 err="1">
                <a:solidFill>
                  <a:srgbClr val="CBD5E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문제</a:t>
            </a:r>
            <a:r>
              <a:rPr lang="en-US" sz="1300" dirty="0">
                <a:solidFill>
                  <a:srgbClr val="CBD5E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</a:t>
            </a:r>
            <a:r>
              <a:rPr lang="en-US" sz="1300" dirty="0" err="1">
                <a:solidFill>
                  <a:srgbClr val="CBD5E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제기</a:t>
            </a:r>
            <a:r>
              <a:rPr lang="en-US" sz="1300" dirty="0">
                <a:solidFill>
                  <a:srgbClr val="CBD5E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: 연구 배경 및 필요성</a:t>
            </a:r>
            <a:endParaRPr lang="en-US" sz="1300" dirty="0"/>
          </a:p>
        </p:txBody>
      </p:sp>
      <p:sp>
        <p:nvSpPr>
          <p:cNvPr id="14" name="Text 11"/>
          <p:cNvSpPr txBox="1"/>
          <p:nvPr/>
        </p:nvSpPr>
        <p:spPr>
          <a:xfrm>
            <a:off x="1380744" y="4733849"/>
            <a:ext cx="2414930" cy="5239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CBD5E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논제(Thesis) </a:t>
            </a:r>
            <a:r>
              <a:rPr lang="en-US" sz="1300" dirty="0" err="1">
                <a:solidFill>
                  <a:srgbClr val="CBD5E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제시</a:t>
            </a:r>
            <a:r>
              <a:rPr lang="en-US" sz="1300" dirty="0">
                <a:solidFill>
                  <a:srgbClr val="CBD5E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: 핵심 주장 선언</a:t>
            </a:r>
            <a:endParaRPr lang="en-US" sz="1300" dirty="0"/>
          </a:p>
        </p:txBody>
      </p:sp>
      <p:sp>
        <p:nvSpPr>
          <p:cNvPr id="15" name="Text 12"/>
          <p:cNvSpPr txBox="1"/>
          <p:nvPr/>
        </p:nvSpPr>
        <p:spPr>
          <a:xfrm>
            <a:off x="1380744" y="5396789"/>
            <a:ext cx="2310689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 err="1">
                <a:solidFill>
                  <a:srgbClr val="CBD5E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구성</a:t>
            </a:r>
            <a:r>
              <a:rPr lang="en-US" sz="1300" dirty="0">
                <a:solidFill>
                  <a:srgbClr val="CBD5E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</a:t>
            </a:r>
            <a:r>
              <a:rPr lang="en-US" sz="1300" dirty="0" err="1">
                <a:solidFill>
                  <a:srgbClr val="CBD5E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안내</a:t>
            </a:r>
            <a:r>
              <a:rPr lang="en-US" sz="1300" dirty="0">
                <a:solidFill>
                  <a:srgbClr val="CBD5E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: 본론 전개 방향 예고</a:t>
            </a:r>
            <a:endParaRPr lang="en-US" sz="1300" dirty="0"/>
          </a:p>
        </p:txBody>
      </p:sp>
      <p:sp>
        <p:nvSpPr>
          <p:cNvPr id="16" name="Shape 13"/>
          <p:cNvSpPr/>
          <p:nvPr/>
        </p:nvSpPr>
        <p:spPr>
          <a:xfrm>
            <a:off x="4419295" y="2373782"/>
            <a:ext cx="3353105" cy="4067251"/>
          </a:xfrm>
          <a:prstGeom prst="rect">
            <a:avLst/>
          </a:prstGeom>
          <a:solidFill>
            <a:srgbClr val="FFFFFF">
              <a:alpha val="5000"/>
            </a:srgbClr>
          </a:solidFill>
          <a:ln w="12700">
            <a:solidFill>
              <a:srgbClr val="FFFFFF">
                <a:alpha val="1000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7" name="Shape 14"/>
          <p:cNvSpPr/>
          <p:nvPr/>
        </p:nvSpPr>
        <p:spPr>
          <a:xfrm>
            <a:off x="4419295" y="2373782"/>
            <a:ext cx="3333902" cy="38405"/>
          </a:xfrm>
          <a:prstGeom prst="rect">
            <a:avLst/>
          </a:prstGeom>
          <a:solidFill>
            <a:srgbClr val="3B82F6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8" name="Shape 15"/>
          <p:cNvSpPr/>
          <p:nvPr/>
        </p:nvSpPr>
        <p:spPr>
          <a:xfrm>
            <a:off x="4809744" y="2764231"/>
            <a:ext cx="609905" cy="609905"/>
          </a:xfrm>
          <a:prstGeom prst="ellipse">
            <a:avLst/>
          </a:prstGeom>
          <a:solidFill>
            <a:srgbClr val="00BBF0">
              <a:alpha val="10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19" name="Image 1" descr="preencoded.png"/>
          <p:cNvPicPr>
            <a:picLocks noChangeAspect="1"/>
          </p:cNvPicPr>
          <p:nvPr/>
        </p:nvPicPr>
        <p:blipFill>
          <a:blip r:embed="rId4"/>
          <a:srcRect l="-685" r="-685"/>
          <a:stretch/>
        </p:blipFill>
        <p:spPr>
          <a:xfrm>
            <a:off x="4962449" y="2935224"/>
            <a:ext cx="304495" cy="267005"/>
          </a:xfrm>
          <a:prstGeom prst="rect">
            <a:avLst/>
          </a:prstGeom>
        </p:spPr>
      </p:pic>
      <p:sp>
        <p:nvSpPr>
          <p:cNvPr id="20" name="Shape 16"/>
          <p:cNvSpPr/>
          <p:nvPr/>
        </p:nvSpPr>
        <p:spPr>
          <a:xfrm>
            <a:off x="4809744" y="4098341"/>
            <a:ext cx="2572207" cy="9144"/>
          </a:xfrm>
          <a:prstGeom prst="rect">
            <a:avLst/>
          </a:prstGeom>
          <a:solidFill>
            <a:srgbClr val="FFFFFF">
              <a:alpha val="10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1" name="Text 17"/>
          <p:cNvSpPr txBox="1"/>
          <p:nvPr/>
        </p:nvSpPr>
        <p:spPr>
          <a:xfrm>
            <a:off x="4809744" y="3602736"/>
            <a:ext cx="1666951" cy="3337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II. 본론 (Body)</a:t>
            </a:r>
            <a:endParaRPr lang="en-US" sz="1800" dirty="0"/>
          </a:p>
        </p:txBody>
      </p:sp>
      <p:sp>
        <p:nvSpPr>
          <p:cNvPr id="22" name="Text 18"/>
          <p:cNvSpPr txBox="1"/>
          <p:nvPr/>
        </p:nvSpPr>
        <p:spPr>
          <a:xfrm>
            <a:off x="5038344" y="4345229"/>
            <a:ext cx="2464090" cy="5239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CBD5E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A. 원인 분석: 데이터 기반 현황 파악</a:t>
            </a:r>
            <a:endParaRPr lang="en-US" sz="1300" dirty="0"/>
          </a:p>
        </p:txBody>
      </p:sp>
      <p:sp>
        <p:nvSpPr>
          <p:cNvPr id="23" name="Text 19"/>
          <p:cNvSpPr txBox="1"/>
          <p:nvPr/>
        </p:nvSpPr>
        <p:spPr>
          <a:xfrm>
            <a:off x="5038344" y="5008169"/>
            <a:ext cx="2319833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CBD5E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B. 정책 비교: 국내외 사례 대조</a:t>
            </a:r>
            <a:endParaRPr lang="en-US" sz="1300" dirty="0"/>
          </a:p>
        </p:txBody>
      </p:sp>
      <p:sp>
        <p:nvSpPr>
          <p:cNvPr id="24" name="Text 20"/>
          <p:cNvSpPr txBox="1"/>
          <p:nvPr/>
        </p:nvSpPr>
        <p:spPr>
          <a:xfrm>
            <a:off x="5038344" y="5396789"/>
            <a:ext cx="2358238" cy="5239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CBD5E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C. 사례 평가: 예상 반론 및 한계점</a:t>
            </a:r>
            <a:endParaRPr lang="en-US" sz="1300" dirty="0"/>
          </a:p>
        </p:txBody>
      </p:sp>
      <p:sp>
        <p:nvSpPr>
          <p:cNvPr id="25" name="Shape 21"/>
          <p:cNvSpPr/>
          <p:nvPr/>
        </p:nvSpPr>
        <p:spPr>
          <a:xfrm>
            <a:off x="8076895" y="2373782"/>
            <a:ext cx="3353105" cy="4067251"/>
          </a:xfrm>
          <a:prstGeom prst="rect">
            <a:avLst/>
          </a:prstGeom>
          <a:solidFill>
            <a:srgbClr val="FFFFFF">
              <a:alpha val="5000"/>
            </a:srgbClr>
          </a:solidFill>
          <a:ln w="12700">
            <a:solidFill>
              <a:srgbClr val="FFFFFF">
                <a:alpha val="1000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6" name="Shape 22"/>
          <p:cNvSpPr/>
          <p:nvPr/>
        </p:nvSpPr>
        <p:spPr>
          <a:xfrm>
            <a:off x="8076895" y="2373782"/>
            <a:ext cx="3333902" cy="38405"/>
          </a:xfrm>
          <a:prstGeom prst="rect">
            <a:avLst/>
          </a:prstGeom>
          <a:solidFill>
            <a:srgbClr val="60A5F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7" name="Shape 23"/>
          <p:cNvSpPr/>
          <p:nvPr/>
        </p:nvSpPr>
        <p:spPr>
          <a:xfrm>
            <a:off x="8467344" y="2764231"/>
            <a:ext cx="609905" cy="609905"/>
          </a:xfrm>
          <a:prstGeom prst="ellipse">
            <a:avLst/>
          </a:prstGeom>
          <a:solidFill>
            <a:srgbClr val="00BBF0">
              <a:alpha val="10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28" name="Image 2" descr="preencoded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8639251" y="2935224"/>
            <a:ext cx="267005" cy="267005"/>
          </a:xfrm>
          <a:prstGeom prst="rect">
            <a:avLst/>
          </a:prstGeom>
        </p:spPr>
      </p:pic>
      <p:sp>
        <p:nvSpPr>
          <p:cNvPr id="29" name="Shape 24"/>
          <p:cNvSpPr/>
          <p:nvPr/>
        </p:nvSpPr>
        <p:spPr>
          <a:xfrm>
            <a:off x="8467344" y="4098341"/>
            <a:ext cx="2572207" cy="9144"/>
          </a:xfrm>
          <a:prstGeom prst="rect">
            <a:avLst/>
          </a:prstGeom>
          <a:solidFill>
            <a:srgbClr val="FFFFFF">
              <a:alpha val="10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0" name="Text 25"/>
          <p:cNvSpPr txBox="1"/>
          <p:nvPr/>
        </p:nvSpPr>
        <p:spPr>
          <a:xfrm>
            <a:off x="8467344" y="3602736"/>
            <a:ext cx="2400300" cy="3337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III. 결론 (Conclusion)</a:t>
            </a:r>
            <a:endParaRPr lang="en-US" sz="1800" dirty="0"/>
          </a:p>
        </p:txBody>
      </p:sp>
      <p:sp>
        <p:nvSpPr>
          <p:cNvPr id="31" name="Text 26"/>
          <p:cNvSpPr txBox="1"/>
          <p:nvPr/>
        </p:nvSpPr>
        <p:spPr>
          <a:xfrm>
            <a:off x="8695944" y="4345229"/>
            <a:ext cx="2110435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 err="1">
                <a:solidFill>
                  <a:srgbClr val="CBD5E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요약</a:t>
            </a:r>
            <a:r>
              <a:rPr lang="en-US" sz="1300" dirty="0">
                <a:solidFill>
                  <a:srgbClr val="CBD5E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: 본론의 핵심 내용 정리</a:t>
            </a:r>
            <a:endParaRPr lang="en-US" sz="1300" dirty="0"/>
          </a:p>
        </p:txBody>
      </p:sp>
      <p:sp>
        <p:nvSpPr>
          <p:cNvPr id="32" name="Text 27"/>
          <p:cNvSpPr txBox="1"/>
          <p:nvPr/>
        </p:nvSpPr>
        <p:spPr>
          <a:xfrm>
            <a:off x="8695944" y="4733849"/>
            <a:ext cx="2262226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 err="1">
                <a:solidFill>
                  <a:srgbClr val="CBD5E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시사점</a:t>
            </a:r>
            <a:r>
              <a:rPr lang="en-US" sz="1300" dirty="0">
                <a:solidFill>
                  <a:srgbClr val="CBD5E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: 연구 결과의 의미 도출</a:t>
            </a:r>
            <a:endParaRPr lang="en-US" sz="1300" dirty="0"/>
          </a:p>
        </p:txBody>
      </p:sp>
      <p:sp>
        <p:nvSpPr>
          <p:cNvPr id="33" name="Text 28"/>
          <p:cNvSpPr txBox="1"/>
          <p:nvPr/>
        </p:nvSpPr>
        <p:spPr>
          <a:xfrm>
            <a:off x="8695944" y="5122469"/>
            <a:ext cx="2472538" cy="5239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 err="1">
                <a:solidFill>
                  <a:srgbClr val="CBD5E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정책</a:t>
            </a:r>
            <a:r>
              <a:rPr lang="en-US" sz="1300" dirty="0">
                <a:solidFill>
                  <a:srgbClr val="CBD5E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</a:t>
            </a:r>
            <a:r>
              <a:rPr lang="en-US" sz="1300" dirty="0" err="1">
                <a:solidFill>
                  <a:srgbClr val="CBD5E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제언</a:t>
            </a:r>
            <a:r>
              <a:rPr lang="en-US" sz="1300" dirty="0">
                <a:solidFill>
                  <a:srgbClr val="CBD5E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: 미래를 위한 구체적 제안</a:t>
            </a:r>
            <a:endParaRPr lang="en-US" sz="1300" dirty="0"/>
          </a:p>
        </p:txBody>
      </p:sp>
      <p:sp>
        <p:nvSpPr>
          <p:cNvPr id="34" name="deckgen:wrap:footer"/>
          <p:cNvSpPr txBox="1"/>
          <p:nvPr/>
        </p:nvSpPr>
        <p:spPr>
          <a:xfrm>
            <a:off x="365760" y="6549390"/>
            <a:ext cx="11460480" cy="240030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0">
                <a:solidFill>
                  <a:srgbClr val="8A8F99"/>
                </a:solidFill>
                <a:latin typeface="Pretendard"/>
              </a:rPr>
              <a:t>© 2026 이애본 · 홍문원(洪文院) 발행 · CC BY-NC-ND 4.0 · useful-ai.dreamitbiz.com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0F0F0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204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" name="Shape 2"/>
          <p:cNvSpPr/>
          <p:nvPr/>
        </p:nvSpPr>
        <p:spPr>
          <a:xfrm>
            <a:off x="761695" y="476402"/>
            <a:ext cx="571500" cy="57607"/>
          </a:xfrm>
          <a:prstGeom prst="rect">
            <a:avLst/>
          </a:prstGeom>
          <a:solidFill>
            <a:srgbClr val="00BBF0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 txBox="1"/>
          <p:nvPr/>
        </p:nvSpPr>
        <p:spPr>
          <a:xfrm>
            <a:off x="761695" y="657454"/>
            <a:ext cx="6601054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실습: 문단 리라이트(두괄식/문장)</a:t>
            </a:r>
            <a:endParaRPr lang="en-US" sz="3600" dirty="0"/>
          </a:p>
        </p:txBody>
      </p:sp>
      <p:sp>
        <p:nvSpPr>
          <p:cNvPr id="6" name="Text 4"/>
          <p:cNvSpPr txBox="1"/>
          <p:nvPr/>
        </p:nvSpPr>
        <p:spPr>
          <a:xfrm>
            <a:off x="761695" y="1387145"/>
            <a:ext cx="5220310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dirty="0">
                <a:solidFill>
                  <a:srgbClr val="CBD5E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장황한 문장을 핵심만 남기는 '두괄식 단문'으로 직접 고쳐보세요.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761695" y="2445106"/>
            <a:ext cx="4038905" cy="9144"/>
          </a:xfrm>
          <a:prstGeom prst="rect">
            <a:avLst/>
          </a:prstGeom>
          <a:solidFill>
            <a:srgbClr val="FFFFFF">
              <a:alpha val="20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761695" y="2015338"/>
            <a:ext cx="228600" cy="228600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1133856" y="1958645"/>
            <a:ext cx="1752905" cy="3337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Before: 수정 전</a:t>
            </a:r>
            <a:endParaRPr lang="en-US" sz="1800" dirty="0"/>
          </a:p>
        </p:txBody>
      </p:sp>
      <p:sp>
        <p:nvSpPr>
          <p:cNvPr id="10" name="Shape 7"/>
          <p:cNvSpPr/>
          <p:nvPr/>
        </p:nvSpPr>
        <p:spPr>
          <a:xfrm>
            <a:off x="761695" y="2644445"/>
            <a:ext cx="4038905" cy="3715207"/>
          </a:xfrm>
          <a:prstGeom prst="roundRect">
            <a:avLst>
              <a:gd name="adj" fmla="val 505"/>
            </a:avLst>
          </a:prstGeom>
          <a:solidFill>
            <a:srgbClr val="EF4444">
              <a:alpha val="10000"/>
            </a:srgbClr>
          </a:solidFill>
          <a:ln w="12700">
            <a:solidFill>
              <a:srgbClr val="EF4444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Shape 8"/>
          <p:cNvSpPr/>
          <p:nvPr/>
        </p:nvSpPr>
        <p:spPr>
          <a:xfrm>
            <a:off x="961949" y="2539289"/>
            <a:ext cx="972007" cy="228600"/>
          </a:xfrm>
          <a:prstGeom prst="roundRect">
            <a:avLst>
              <a:gd name="adj" fmla="val 66667"/>
            </a:avLst>
          </a:prstGeom>
          <a:solidFill>
            <a:srgbClr val="EF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2" name="Text 9"/>
          <p:cNvSpPr txBox="1"/>
          <p:nvPr/>
        </p:nvSpPr>
        <p:spPr>
          <a:xfrm>
            <a:off x="1057046" y="2558491"/>
            <a:ext cx="873252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Bad Example</a:t>
            </a:r>
            <a:endParaRPr lang="en-US" sz="900" dirty="0"/>
          </a:p>
        </p:txBody>
      </p:sp>
      <p:sp>
        <p:nvSpPr>
          <p:cNvPr id="13" name="Text 10"/>
          <p:cNvSpPr txBox="1"/>
          <p:nvPr/>
        </p:nvSpPr>
        <p:spPr>
          <a:xfrm>
            <a:off x="1009498" y="2910535"/>
            <a:ext cx="3650285" cy="10954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300" dirty="0">
                <a:solidFill>
                  <a:srgbClr val="E2E8F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"청년실업은 최근 들어 여러 가지 사회적, 경제적 요인이 복합적으로 얽혀 있고 단순히 일자리 부족만의 문제가 아니라 교육 시스템과 정부 정책 등 여러 가지가 얽혀 있어 단기간에 해결이 어렵고..."</a:t>
            </a:r>
            <a:endParaRPr lang="en-US" sz="1300" dirty="0"/>
          </a:p>
        </p:txBody>
      </p:sp>
      <p:pic>
        <p:nvPicPr>
          <p:cNvPr id="14" name="Image 1" descr="preencoded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1009498" y="4590070"/>
            <a:ext cx="133502" cy="133502"/>
          </a:xfrm>
          <a:prstGeom prst="rect">
            <a:avLst/>
          </a:prstGeom>
        </p:spPr>
      </p:pic>
      <p:sp>
        <p:nvSpPr>
          <p:cNvPr id="15" name="Text 11"/>
          <p:cNvSpPr txBox="1"/>
          <p:nvPr/>
        </p:nvSpPr>
        <p:spPr>
          <a:xfrm>
            <a:off x="1181405" y="4554408"/>
            <a:ext cx="1643177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9CA3A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핵심 불명확, 문장이 너무 김</a:t>
            </a:r>
            <a:endParaRPr lang="en-US" sz="1000" dirty="0"/>
          </a:p>
        </p:txBody>
      </p:sp>
      <p:sp>
        <p:nvSpPr>
          <p:cNvPr id="16" name="Shape 12"/>
          <p:cNvSpPr/>
          <p:nvPr/>
        </p:nvSpPr>
        <p:spPr>
          <a:xfrm>
            <a:off x="5372100" y="2445106"/>
            <a:ext cx="6057900" cy="9144"/>
          </a:xfrm>
          <a:prstGeom prst="rect">
            <a:avLst/>
          </a:prstGeom>
          <a:solidFill>
            <a:srgbClr val="FFFFFF">
              <a:alpha val="20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17" name="Image 2" descr="preencoded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5372100" y="2015338"/>
            <a:ext cx="228600" cy="228600"/>
          </a:xfrm>
          <a:prstGeom prst="rect">
            <a:avLst/>
          </a:prstGeom>
        </p:spPr>
      </p:pic>
      <p:sp>
        <p:nvSpPr>
          <p:cNvPr id="18" name="Text 13"/>
          <p:cNvSpPr txBox="1"/>
          <p:nvPr/>
        </p:nvSpPr>
        <p:spPr>
          <a:xfrm>
            <a:off x="5743346" y="1958645"/>
            <a:ext cx="1562710" cy="3337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After: 수정 후</a:t>
            </a:r>
            <a:endParaRPr lang="en-US" sz="1800" dirty="0"/>
          </a:p>
        </p:txBody>
      </p:sp>
      <p:sp>
        <p:nvSpPr>
          <p:cNvPr id="19" name="Shape 14"/>
          <p:cNvSpPr/>
          <p:nvPr/>
        </p:nvSpPr>
        <p:spPr>
          <a:xfrm>
            <a:off x="5372100" y="2834640"/>
            <a:ext cx="6057900" cy="1067105"/>
          </a:xfrm>
          <a:prstGeom prst="roundRect">
            <a:avLst>
              <a:gd name="adj" fmla="val 6121"/>
            </a:avLst>
          </a:prstGeom>
          <a:solidFill>
            <a:srgbClr val="3B82F6">
              <a:alpha val="15000"/>
            </a:srgbClr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0" name="Shape 15"/>
          <p:cNvSpPr/>
          <p:nvPr/>
        </p:nvSpPr>
        <p:spPr>
          <a:xfrm>
            <a:off x="5572354" y="2729484"/>
            <a:ext cx="1057046" cy="228600"/>
          </a:xfrm>
          <a:prstGeom prst="roundRect">
            <a:avLst>
              <a:gd name="adj" fmla="val 66667"/>
            </a:avLst>
          </a:prstGeom>
          <a:solidFill>
            <a:srgbClr val="3B82F6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1" name="Text 16"/>
          <p:cNvSpPr txBox="1"/>
          <p:nvPr/>
        </p:nvSpPr>
        <p:spPr>
          <a:xfrm>
            <a:off x="5667451" y="2748686"/>
            <a:ext cx="958291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Good Example</a:t>
            </a:r>
            <a:endParaRPr lang="en-US" sz="900" dirty="0"/>
          </a:p>
        </p:txBody>
      </p:sp>
      <p:sp>
        <p:nvSpPr>
          <p:cNvPr id="22" name="Text 17"/>
          <p:cNvSpPr txBox="1"/>
          <p:nvPr/>
        </p:nvSpPr>
        <p:spPr>
          <a:xfrm>
            <a:off x="5619902" y="3101645"/>
            <a:ext cx="5631790" cy="5239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E2E8F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청년실업은 구조적 요인에서 비롯된다. 특히 교육-산업 간의 연계 부재가 핵심 원인이다. 이를 보완하는 장기적 정책이 필요하다.</a:t>
            </a:r>
            <a:endParaRPr lang="en-US" sz="1300" dirty="0"/>
          </a:p>
        </p:txBody>
      </p:sp>
      <p:sp>
        <p:nvSpPr>
          <p:cNvPr id="23" name="Shape 18"/>
          <p:cNvSpPr/>
          <p:nvPr/>
        </p:nvSpPr>
        <p:spPr>
          <a:xfrm>
            <a:off x="5372100" y="4090111"/>
            <a:ext cx="6057900" cy="2266798"/>
          </a:xfrm>
          <a:prstGeom prst="roundRect">
            <a:avLst>
              <a:gd name="adj" fmla="val 1356"/>
            </a:avLst>
          </a:prstGeom>
          <a:solidFill>
            <a:srgbClr val="FFFFFF">
              <a:alpha val="5000"/>
            </a:srgbClr>
          </a:solidFill>
          <a:ln w="12700">
            <a:solidFill>
              <a:srgbClr val="FFFFFF">
                <a:alpha val="1000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24" name="Image 3" descr="preencoded.png"/>
          <p:cNvPicPr>
            <a:picLocks noChangeAspect="1"/>
          </p:cNvPicPr>
          <p:nvPr/>
        </p:nvPicPr>
        <p:blipFill>
          <a:blip r:embed="rId6"/>
          <a:srcRect l="-3425" r="-3425"/>
          <a:stretch/>
        </p:blipFill>
        <p:spPr>
          <a:xfrm>
            <a:off x="5619902" y="4326026"/>
            <a:ext cx="142646" cy="133502"/>
          </a:xfrm>
          <a:prstGeom prst="rect">
            <a:avLst/>
          </a:prstGeom>
        </p:spPr>
      </p:pic>
      <p:sp>
        <p:nvSpPr>
          <p:cNvPr id="25" name="Text 19"/>
          <p:cNvSpPr txBox="1"/>
          <p:nvPr/>
        </p:nvSpPr>
        <p:spPr>
          <a:xfrm>
            <a:off x="5838444" y="4290365"/>
            <a:ext cx="1443838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93C5F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리라이트 3단계 가이드</a:t>
            </a:r>
            <a:endParaRPr lang="en-US" sz="1000" dirty="0"/>
          </a:p>
        </p:txBody>
      </p:sp>
      <p:sp>
        <p:nvSpPr>
          <p:cNvPr id="26" name="Shape 20"/>
          <p:cNvSpPr/>
          <p:nvPr/>
        </p:nvSpPr>
        <p:spPr>
          <a:xfrm>
            <a:off x="5619902" y="4594860"/>
            <a:ext cx="1762049" cy="1028700"/>
          </a:xfrm>
          <a:prstGeom prst="roundRect">
            <a:avLst>
              <a:gd name="adj" fmla="val 4938"/>
            </a:avLst>
          </a:prstGeom>
          <a:solidFill>
            <a:srgbClr val="000000">
              <a:alpha val="20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7" name="Shape 21"/>
          <p:cNvSpPr/>
          <p:nvPr/>
        </p:nvSpPr>
        <p:spPr>
          <a:xfrm>
            <a:off x="6385255" y="4738421"/>
            <a:ext cx="228600" cy="228600"/>
          </a:xfrm>
          <a:prstGeom prst="ellipse">
            <a:avLst/>
          </a:prstGeom>
          <a:solidFill>
            <a:srgbClr val="00BBF0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8" name="Text 22"/>
          <p:cNvSpPr txBox="1"/>
          <p:nvPr/>
        </p:nvSpPr>
        <p:spPr>
          <a:xfrm>
            <a:off x="6457493" y="4749394"/>
            <a:ext cx="189281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0204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</a:t>
            </a:r>
            <a:endParaRPr lang="en-US" sz="1000" dirty="0"/>
          </a:p>
        </p:txBody>
      </p:sp>
      <p:sp>
        <p:nvSpPr>
          <p:cNvPr id="29" name="Text 23"/>
          <p:cNvSpPr txBox="1"/>
          <p:nvPr/>
        </p:nvSpPr>
        <p:spPr>
          <a:xfrm>
            <a:off x="6212434" y="5042916"/>
            <a:ext cx="69037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핵심 먼저</a:t>
            </a:r>
            <a:endParaRPr lang="en-US" sz="1100" dirty="0"/>
          </a:p>
        </p:txBody>
      </p:sp>
      <p:sp>
        <p:nvSpPr>
          <p:cNvPr id="30" name="Text 24"/>
          <p:cNvSpPr txBox="1"/>
          <p:nvPr/>
        </p:nvSpPr>
        <p:spPr>
          <a:xfrm>
            <a:off x="6201461" y="5298034"/>
            <a:ext cx="692201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4A3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두괄식 배치</a:t>
            </a:r>
            <a:endParaRPr lang="en-US" sz="900" dirty="0"/>
          </a:p>
        </p:txBody>
      </p:sp>
      <p:sp>
        <p:nvSpPr>
          <p:cNvPr id="31" name="Shape 25"/>
          <p:cNvSpPr/>
          <p:nvPr/>
        </p:nvSpPr>
        <p:spPr>
          <a:xfrm>
            <a:off x="7521854" y="4594860"/>
            <a:ext cx="1762049" cy="1028700"/>
          </a:xfrm>
          <a:prstGeom prst="roundRect">
            <a:avLst>
              <a:gd name="adj" fmla="val 4938"/>
            </a:avLst>
          </a:prstGeom>
          <a:solidFill>
            <a:srgbClr val="000000">
              <a:alpha val="20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2" name="Shape 26"/>
          <p:cNvSpPr/>
          <p:nvPr/>
        </p:nvSpPr>
        <p:spPr>
          <a:xfrm>
            <a:off x="8287207" y="4738421"/>
            <a:ext cx="228600" cy="228600"/>
          </a:xfrm>
          <a:prstGeom prst="ellipse">
            <a:avLst/>
          </a:prstGeom>
          <a:solidFill>
            <a:srgbClr val="00BBF0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3" name="Text 27"/>
          <p:cNvSpPr txBox="1"/>
          <p:nvPr/>
        </p:nvSpPr>
        <p:spPr>
          <a:xfrm>
            <a:off x="8359445" y="4749394"/>
            <a:ext cx="189281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0204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</a:t>
            </a:r>
            <a:endParaRPr lang="en-US" sz="1000" dirty="0"/>
          </a:p>
        </p:txBody>
      </p:sp>
      <p:sp>
        <p:nvSpPr>
          <p:cNvPr id="34" name="Text 28"/>
          <p:cNvSpPr txBox="1"/>
          <p:nvPr/>
        </p:nvSpPr>
        <p:spPr>
          <a:xfrm>
            <a:off x="8047634" y="5042916"/>
            <a:ext cx="82296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문장 쪼개기</a:t>
            </a:r>
            <a:endParaRPr lang="en-US" sz="1100" dirty="0"/>
          </a:p>
        </p:txBody>
      </p:sp>
      <p:sp>
        <p:nvSpPr>
          <p:cNvPr id="35" name="Text 29"/>
          <p:cNvSpPr txBox="1"/>
          <p:nvPr/>
        </p:nvSpPr>
        <p:spPr>
          <a:xfrm>
            <a:off x="8026603" y="5298034"/>
            <a:ext cx="843991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4A3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주어-술어 일치</a:t>
            </a:r>
            <a:endParaRPr lang="en-US" sz="900" dirty="0"/>
          </a:p>
        </p:txBody>
      </p:sp>
      <p:sp>
        <p:nvSpPr>
          <p:cNvPr id="36" name="Shape 30"/>
          <p:cNvSpPr/>
          <p:nvPr/>
        </p:nvSpPr>
        <p:spPr>
          <a:xfrm>
            <a:off x="9423806" y="4594860"/>
            <a:ext cx="1762049" cy="1028700"/>
          </a:xfrm>
          <a:prstGeom prst="roundRect">
            <a:avLst>
              <a:gd name="adj" fmla="val 4938"/>
            </a:avLst>
          </a:prstGeom>
          <a:solidFill>
            <a:srgbClr val="000000">
              <a:alpha val="20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7" name="Shape 31"/>
          <p:cNvSpPr/>
          <p:nvPr/>
        </p:nvSpPr>
        <p:spPr>
          <a:xfrm>
            <a:off x="10188245" y="4738421"/>
            <a:ext cx="228600" cy="228600"/>
          </a:xfrm>
          <a:prstGeom prst="ellipse">
            <a:avLst/>
          </a:prstGeom>
          <a:solidFill>
            <a:srgbClr val="00BBF0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8" name="Text 32"/>
          <p:cNvSpPr txBox="1"/>
          <p:nvPr/>
        </p:nvSpPr>
        <p:spPr>
          <a:xfrm>
            <a:off x="10261397" y="4749394"/>
            <a:ext cx="189281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0204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3</a:t>
            </a:r>
            <a:endParaRPr lang="en-US" sz="1000" dirty="0"/>
          </a:p>
        </p:txBody>
      </p:sp>
      <p:sp>
        <p:nvSpPr>
          <p:cNvPr id="39" name="Text 33"/>
          <p:cNvSpPr txBox="1"/>
          <p:nvPr/>
        </p:nvSpPr>
        <p:spPr>
          <a:xfrm>
            <a:off x="9949586" y="5042916"/>
            <a:ext cx="82296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연결어 넣기</a:t>
            </a:r>
            <a:endParaRPr lang="en-US" sz="1100" dirty="0"/>
          </a:p>
        </p:txBody>
      </p:sp>
      <p:sp>
        <p:nvSpPr>
          <p:cNvPr id="40" name="Text 34"/>
          <p:cNvSpPr txBox="1"/>
          <p:nvPr/>
        </p:nvSpPr>
        <p:spPr>
          <a:xfrm>
            <a:off x="9932213" y="5298034"/>
            <a:ext cx="834847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4A3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논리 흐름 강화</a:t>
            </a:r>
            <a:endParaRPr lang="en-US" sz="900" dirty="0"/>
          </a:p>
        </p:txBody>
      </p:sp>
      <p:sp>
        <p:nvSpPr>
          <p:cNvPr id="41" name="Shape 35"/>
          <p:cNvSpPr/>
          <p:nvPr/>
        </p:nvSpPr>
        <p:spPr>
          <a:xfrm>
            <a:off x="5619902" y="5719572"/>
            <a:ext cx="5562295" cy="437998"/>
          </a:xfrm>
          <a:prstGeom prst="roundRect">
            <a:avLst>
              <a:gd name="adj" fmla="val 27231"/>
            </a:avLst>
          </a:prstGeom>
          <a:solidFill>
            <a:srgbClr val="FBBF24">
              <a:alpha val="10000"/>
            </a:srgbClr>
          </a:solidFill>
          <a:ln w="12700">
            <a:solidFill>
              <a:srgbClr val="FBBF24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42" name="Image 4" descr="preencoded.png"/>
          <p:cNvPicPr>
            <a:picLocks noChangeAspect="1"/>
          </p:cNvPicPr>
          <p:nvPr/>
        </p:nvPicPr>
        <p:blipFill>
          <a:blip r:embed="rId7"/>
          <a:srcRect t="-43" b="-43"/>
          <a:stretch/>
        </p:blipFill>
        <p:spPr>
          <a:xfrm>
            <a:off x="7833665" y="5862218"/>
            <a:ext cx="133502" cy="152705"/>
          </a:xfrm>
          <a:prstGeom prst="rect">
            <a:avLst/>
          </a:prstGeom>
        </p:spPr>
      </p:pic>
      <p:sp>
        <p:nvSpPr>
          <p:cNvPr id="43" name="Text 36"/>
          <p:cNvSpPr txBox="1"/>
          <p:nvPr/>
        </p:nvSpPr>
        <p:spPr>
          <a:xfrm>
            <a:off x="8043062" y="5823814"/>
            <a:ext cx="104790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 err="1">
                <a:solidFill>
                  <a:srgbClr val="FCD34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실습</a:t>
            </a:r>
            <a:r>
              <a:rPr lang="en-US" sz="1200" b="1" dirty="0">
                <a:solidFill>
                  <a:srgbClr val="FCD34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</a:t>
            </a:r>
            <a:r>
              <a:rPr lang="en-US" sz="1200" b="1" dirty="0" err="1">
                <a:solidFill>
                  <a:srgbClr val="FCD34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시간</a:t>
            </a:r>
            <a:r>
              <a:rPr lang="en-US" sz="1200" b="1" dirty="0">
                <a:solidFill>
                  <a:srgbClr val="FCD34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: 2분</a:t>
            </a:r>
            <a:endParaRPr lang="en-US" sz="1200" dirty="0"/>
          </a:p>
        </p:txBody>
      </p:sp>
      <p:sp>
        <p:nvSpPr>
          <p:cNvPr id="44" name="deckgen:wrap:footer"/>
          <p:cNvSpPr txBox="1"/>
          <p:nvPr/>
        </p:nvSpPr>
        <p:spPr>
          <a:xfrm>
            <a:off x="365760" y="6549390"/>
            <a:ext cx="11460480" cy="240030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0">
                <a:solidFill>
                  <a:srgbClr val="8A8F99"/>
                </a:solidFill>
                <a:latin typeface="Pretendard"/>
              </a:rPr>
              <a:t>© 2026 이애본 · 홍문원(洪文院) 발행 · CC BY-NC-ND 4.0 · useful-ai.dreamitbiz.com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0F0F0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204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" name="Shape 2"/>
          <p:cNvSpPr/>
          <p:nvPr/>
        </p:nvSpPr>
        <p:spPr>
          <a:xfrm>
            <a:off x="761695" y="476402"/>
            <a:ext cx="571500" cy="57607"/>
          </a:xfrm>
          <a:prstGeom prst="rect">
            <a:avLst/>
          </a:prstGeom>
          <a:solidFill>
            <a:srgbClr val="00BBF0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 txBox="1"/>
          <p:nvPr/>
        </p:nvSpPr>
        <p:spPr>
          <a:xfrm>
            <a:off x="761695" y="657454"/>
            <a:ext cx="4849063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인용·참고문헌 미니 예시</a:t>
            </a:r>
            <a:endParaRPr lang="en-US" sz="3600" dirty="0"/>
          </a:p>
        </p:txBody>
      </p:sp>
      <p:sp>
        <p:nvSpPr>
          <p:cNvPr id="6" name="Text 4"/>
          <p:cNvSpPr txBox="1"/>
          <p:nvPr/>
        </p:nvSpPr>
        <p:spPr>
          <a:xfrm>
            <a:off x="761695" y="1387145"/>
            <a:ext cx="6430061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dirty="0">
                <a:solidFill>
                  <a:srgbClr val="CBD5E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표절을 막고 신뢰를 높이는 '정확한 출처 표기'의 기본 원칙과 예시를 확인하세요.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761695" y="2562149"/>
            <a:ext cx="4038905" cy="9144"/>
          </a:xfrm>
          <a:prstGeom prst="rect">
            <a:avLst/>
          </a:prstGeom>
          <a:solidFill>
            <a:srgbClr val="FFFFFF">
              <a:alpha val="20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761695" y="2104034"/>
            <a:ext cx="228600" cy="228600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1133856" y="2028139"/>
            <a:ext cx="1420063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작성 4원칙</a:t>
            </a:r>
            <a:endParaRPr lang="en-US" sz="2100" dirty="0"/>
          </a:p>
        </p:txBody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rcRect t="-2725" b="-2725"/>
          <a:stretch/>
        </p:blipFill>
        <p:spPr>
          <a:xfrm>
            <a:off x="761695" y="2914193"/>
            <a:ext cx="142646" cy="171907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1047902" y="2856586"/>
            <a:ext cx="1886407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인용은 최소화하되 정확하게</a:t>
            </a:r>
            <a:endParaRPr lang="en-US" sz="1200" dirty="0"/>
          </a:p>
        </p:txBody>
      </p:sp>
      <p:sp>
        <p:nvSpPr>
          <p:cNvPr id="12" name="Text 8"/>
          <p:cNvSpPr txBox="1"/>
          <p:nvPr/>
        </p:nvSpPr>
        <p:spPr>
          <a:xfrm>
            <a:off x="1047902" y="3085186"/>
            <a:ext cx="37536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직접 인용은 꼭 필요할 때만 인용부호("")를 </a:t>
            </a:r>
            <a:r>
              <a:rPr lang="en-US" sz="1200" dirty="0" err="1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사용하고</a:t>
            </a:r>
            <a:r>
              <a:rPr lang="en-US" sz="120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</a:t>
            </a:r>
          </a:p>
          <a:p>
            <a:pPr marL="0" indent="0" algn="l">
              <a:buNone/>
            </a:pPr>
            <a:r>
              <a:rPr lang="en-US" sz="1200" dirty="0" err="1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페이지까지</a:t>
            </a:r>
            <a:r>
              <a:rPr lang="en-US" sz="120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명시합니다.</a:t>
            </a:r>
            <a:endParaRPr lang="en-US" sz="1200" dirty="0"/>
          </a:p>
        </p:txBody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4"/>
          <a:srcRect t="-2725" b="-2725"/>
          <a:stretch/>
        </p:blipFill>
        <p:spPr>
          <a:xfrm>
            <a:off x="761695" y="3837737"/>
            <a:ext cx="142646" cy="171907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1047902" y="3781044"/>
            <a:ext cx="2686507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재서술(Paraphrasing) 시에도 출처 병기</a:t>
            </a:r>
            <a:endParaRPr lang="en-US" sz="1200" dirty="0"/>
          </a:p>
        </p:txBody>
      </p:sp>
      <p:sp>
        <p:nvSpPr>
          <p:cNvPr id="15" name="Text 10"/>
          <p:cNvSpPr txBox="1"/>
          <p:nvPr/>
        </p:nvSpPr>
        <p:spPr>
          <a:xfrm>
            <a:off x="1047902" y="4009644"/>
            <a:ext cx="3829507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타인의 아이디어를 내 말로 바꾸어 표현할 </a:t>
            </a:r>
            <a:r>
              <a:rPr lang="en-US" sz="1200" dirty="0" err="1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때도</a:t>
            </a:r>
            <a:r>
              <a:rPr lang="en-US" sz="120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</a:t>
            </a:r>
          </a:p>
          <a:p>
            <a:pPr marL="0" indent="0" algn="l">
              <a:buNone/>
            </a:pPr>
            <a:r>
              <a:rPr lang="en-US" sz="1200" dirty="0" err="1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반드시</a:t>
            </a:r>
            <a:r>
              <a:rPr lang="en-US" sz="120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출처를 밝혀야 합니다.</a:t>
            </a:r>
            <a:endParaRPr lang="en-US" sz="1200" dirty="0"/>
          </a:p>
        </p:txBody>
      </p:sp>
      <p:pic>
        <p:nvPicPr>
          <p:cNvPr id="16" name="Image 3" descr="preencoded.png"/>
          <p:cNvPicPr>
            <a:picLocks noChangeAspect="1"/>
          </p:cNvPicPr>
          <p:nvPr/>
        </p:nvPicPr>
        <p:blipFill>
          <a:blip r:embed="rId4"/>
          <a:srcRect t="-2725" b="-2725"/>
          <a:stretch/>
        </p:blipFill>
        <p:spPr>
          <a:xfrm>
            <a:off x="761695" y="4762195"/>
            <a:ext cx="142646" cy="171907"/>
          </a:xfrm>
          <a:prstGeom prst="rect">
            <a:avLst/>
          </a:prstGeom>
        </p:spPr>
      </p:pic>
      <p:sp>
        <p:nvSpPr>
          <p:cNvPr id="17" name="Text 11"/>
          <p:cNvSpPr txBox="1"/>
          <p:nvPr/>
        </p:nvSpPr>
        <p:spPr>
          <a:xfrm>
            <a:off x="1047902" y="4704588"/>
            <a:ext cx="161025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본문과 참고문헌의 일치</a:t>
            </a:r>
            <a:endParaRPr lang="en-US" sz="1200" dirty="0"/>
          </a:p>
        </p:txBody>
      </p:sp>
      <p:sp>
        <p:nvSpPr>
          <p:cNvPr id="18" name="Text 12"/>
          <p:cNvSpPr txBox="1"/>
          <p:nvPr/>
        </p:nvSpPr>
        <p:spPr>
          <a:xfrm>
            <a:off x="1047902" y="4933188"/>
            <a:ext cx="378195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본문에서 인용한 모든 자료는 참고문헌 리스트에 </a:t>
            </a:r>
            <a:r>
              <a:rPr lang="en-US" sz="1200" dirty="0" err="1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반드시</a:t>
            </a:r>
            <a:r>
              <a:rPr lang="en-US" sz="120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</a:t>
            </a:r>
          </a:p>
          <a:p>
            <a:pPr marL="0" indent="0" algn="l">
              <a:buNone/>
            </a:pPr>
            <a:r>
              <a:rPr lang="en-US" sz="1200" dirty="0" err="1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포함되어야</a:t>
            </a:r>
            <a:r>
              <a:rPr lang="en-US" sz="120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합니다.</a:t>
            </a:r>
            <a:endParaRPr lang="en-US" sz="1200" dirty="0"/>
          </a:p>
        </p:txBody>
      </p:sp>
      <p:pic>
        <p:nvPicPr>
          <p:cNvPr id="19" name="Image 4" descr="preencoded.png"/>
          <p:cNvPicPr>
            <a:picLocks noChangeAspect="1"/>
          </p:cNvPicPr>
          <p:nvPr/>
        </p:nvPicPr>
        <p:blipFill>
          <a:blip r:embed="rId4"/>
          <a:srcRect t="-2725" b="-2725"/>
          <a:stretch/>
        </p:blipFill>
        <p:spPr>
          <a:xfrm>
            <a:off x="761695" y="5685739"/>
            <a:ext cx="142646" cy="171907"/>
          </a:xfrm>
          <a:prstGeom prst="rect">
            <a:avLst/>
          </a:prstGeom>
        </p:spPr>
      </p:pic>
      <p:sp>
        <p:nvSpPr>
          <p:cNvPr id="20" name="Text 13"/>
          <p:cNvSpPr txBox="1"/>
          <p:nvPr/>
        </p:nvSpPr>
        <p:spPr>
          <a:xfrm>
            <a:off x="1047902" y="5628132"/>
            <a:ext cx="169621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신뢰할 수 있는 자료 우선</a:t>
            </a:r>
            <a:endParaRPr lang="en-US" sz="1200" dirty="0"/>
          </a:p>
        </p:txBody>
      </p:sp>
      <p:sp>
        <p:nvSpPr>
          <p:cNvPr id="21" name="Text 14"/>
          <p:cNvSpPr txBox="1"/>
          <p:nvPr/>
        </p:nvSpPr>
        <p:spPr>
          <a:xfrm>
            <a:off x="1047902" y="5856732"/>
            <a:ext cx="37719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최근 공식 통계나 동료 심사(Peer Review)를 </a:t>
            </a:r>
            <a:r>
              <a:rPr lang="en-US" sz="1200" dirty="0" err="1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거친</a:t>
            </a:r>
            <a:r>
              <a:rPr lang="en-US" sz="120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</a:t>
            </a:r>
          </a:p>
          <a:p>
            <a:pPr marL="0" indent="0" algn="l">
              <a:buNone/>
            </a:pPr>
            <a:r>
              <a:rPr lang="en-US" sz="1200" dirty="0" err="1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학술</a:t>
            </a:r>
            <a:r>
              <a:rPr lang="en-US" sz="120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자료를 우선 인용하세요.</a:t>
            </a:r>
            <a:endParaRPr lang="en-US" sz="1200" dirty="0"/>
          </a:p>
        </p:txBody>
      </p:sp>
      <p:sp>
        <p:nvSpPr>
          <p:cNvPr id="22" name="Shape 15"/>
          <p:cNvSpPr/>
          <p:nvPr/>
        </p:nvSpPr>
        <p:spPr>
          <a:xfrm>
            <a:off x="5372100" y="1958645"/>
            <a:ext cx="6057900" cy="2095805"/>
          </a:xfrm>
          <a:prstGeom prst="roundRect">
            <a:avLst>
              <a:gd name="adj" fmla="val 793"/>
            </a:avLst>
          </a:prstGeom>
          <a:solidFill>
            <a:srgbClr val="FFFFFF">
              <a:alpha val="5000"/>
            </a:srgbClr>
          </a:solidFill>
          <a:ln w="12700">
            <a:solidFill>
              <a:srgbClr val="FFFFFF">
                <a:alpha val="1000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23" name="Image 5" descr="preencoded.png"/>
          <p:cNvPicPr>
            <a:picLocks noChangeAspect="1"/>
          </p:cNvPicPr>
          <p:nvPr/>
        </p:nvPicPr>
        <p:blipFill>
          <a:blip r:embed="rId5"/>
          <a:srcRect l="-760" r="-760"/>
          <a:stretch/>
        </p:blipFill>
        <p:spPr>
          <a:xfrm>
            <a:off x="5619902" y="2245766"/>
            <a:ext cx="152705" cy="171907"/>
          </a:xfrm>
          <a:prstGeom prst="rect">
            <a:avLst/>
          </a:prstGeom>
        </p:spPr>
      </p:pic>
      <p:sp>
        <p:nvSpPr>
          <p:cNvPr id="24" name="Text 16"/>
          <p:cNvSpPr txBox="1"/>
          <p:nvPr/>
        </p:nvSpPr>
        <p:spPr>
          <a:xfrm>
            <a:off x="5848502" y="2205533"/>
            <a:ext cx="2860243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60A5F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본문 내 인용 (IN-TEXT CITATION)</a:t>
            </a:r>
            <a:endParaRPr lang="en-US" sz="1300" dirty="0"/>
          </a:p>
        </p:txBody>
      </p:sp>
      <p:sp>
        <p:nvSpPr>
          <p:cNvPr id="25" name="Shape 17"/>
          <p:cNvSpPr/>
          <p:nvPr/>
        </p:nvSpPr>
        <p:spPr>
          <a:xfrm>
            <a:off x="5619902" y="2600554"/>
            <a:ext cx="5562295" cy="1200607"/>
          </a:xfrm>
          <a:prstGeom prst="rect">
            <a:avLst/>
          </a:prstGeom>
          <a:solidFill>
            <a:srgbClr val="00204A">
              <a:alpha val="50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6" name="Shape 18"/>
          <p:cNvSpPr/>
          <p:nvPr/>
        </p:nvSpPr>
        <p:spPr>
          <a:xfrm>
            <a:off x="5619902" y="2600554"/>
            <a:ext cx="28346" cy="1200607"/>
          </a:xfrm>
          <a:prstGeom prst="rect">
            <a:avLst/>
          </a:prstGeom>
          <a:solidFill>
            <a:srgbClr val="00BBF0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7" name="Text 19"/>
          <p:cNvSpPr txBox="1"/>
          <p:nvPr/>
        </p:nvSpPr>
        <p:spPr>
          <a:xfrm>
            <a:off x="5838444" y="2800807"/>
            <a:ext cx="5164531" cy="5148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E2E8F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"청년 실업은 단순한 일자리 부족이 아니라 구조적 요인에서 기인한다 (홍길동, 2024)."</a:t>
            </a:r>
            <a:endParaRPr lang="en-US" sz="1300" dirty="0"/>
          </a:p>
        </p:txBody>
      </p:sp>
      <p:sp>
        <p:nvSpPr>
          <p:cNvPr id="28" name="Text 20"/>
          <p:cNvSpPr txBox="1"/>
          <p:nvPr/>
        </p:nvSpPr>
        <p:spPr>
          <a:xfrm>
            <a:off x="5838444" y="3403397"/>
            <a:ext cx="3618281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i="1" dirty="0">
                <a:solidFill>
                  <a:srgbClr val="94A3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* 또는 각주 활용: 1) 홍길동, 논문 제목, 학술지명, 2024, p.25.</a:t>
            </a:r>
            <a:endParaRPr lang="en-US" sz="1000" dirty="0"/>
          </a:p>
        </p:txBody>
      </p:sp>
      <p:sp>
        <p:nvSpPr>
          <p:cNvPr id="29" name="Shape 21"/>
          <p:cNvSpPr/>
          <p:nvPr/>
        </p:nvSpPr>
        <p:spPr>
          <a:xfrm>
            <a:off x="5372100" y="4285793"/>
            <a:ext cx="6057900" cy="2095805"/>
          </a:xfrm>
          <a:prstGeom prst="roundRect">
            <a:avLst>
              <a:gd name="adj" fmla="val 793"/>
            </a:avLst>
          </a:prstGeom>
          <a:solidFill>
            <a:srgbClr val="FFFFFF">
              <a:alpha val="5000"/>
            </a:srgbClr>
          </a:solidFill>
          <a:ln w="12700">
            <a:solidFill>
              <a:srgbClr val="FFFFFF">
                <a:alpha val="1000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30" name="Image 6" descr="preencoded.png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5619902" y="4572914"/>
            <a:ext cx="171907" cy="171907"/>
          </a:xfrm>
          <a:prstGeom prst="rect">
            <a:avLst/>
          </a:prstGeom>
        </p:spPr>
      </p:pic>
      <p:sp>
        <p:nvSpPr>
          <p:cNvPr id="31" name="Text 22"/>
          <p:cNvSpPr txBox="1"/>
          <p:nvPr/>
        </p:nvSpPr>
        <p:spPr>
          <a:xfrm>
            <a:off x="5867705" y="4533595"/>
            <a:ext cx="2478938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60A5F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참고문헌 (REFERENCE LIST)</a:t>
            </a:r>
            <a:endParaRPr lang="en-US" sz="1300" dirty="0"/>
          </a:p>
        </p:txBody>
      </p:sp>
      <p:sp>
        <p:nvSpPr>
          <p:cNvPr id="32" name="Shape 23"/>
          <p:cNvSpPr/>
          <p:nvPr/>
        </p:nvSpPr>
        <p:spPr>
          <a:xfrm>
            <a:off x="5619902" y="4927702"/>
            <a:ext cx="5562295" cy="1200607"/>
          </a:xfrm>
          <a:prstGeom prst="rect">
            <a:avLst/>
          </a:prstGeom>
          <a:solidFill>
            <a:srgbClr val="00204A">
              <a:alpha val="50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3" name="Shape 24"/>
          <p:cNvSpPr/>
          <p:nvPr/>
        </p:nvSpPr>
        <p:spPr>
          <a:xfrm>
            <a:off x="5619902" y="4927702"/>
            <a:ext cx="28346" cy="1200607"/>
          </a:xfrm>
          <a:prstGeom prst="rect">
            <a:avLst/>
          </a:prstGeom>
          <a:solidFill>
            <a:srgbClr val="00BBF0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4" name="Text 25"/>
          <p:cNvSpPr txBox="1"/>
          <p:nvPr/>
        </p:nvSpPr>
        <p:spPr>
          <a:xfrm>
            <a:off x="5838444" y="5127955"/>
            <a:ext cx="5260543" cy="5148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E2E8F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홍길동. (2024). 글쓰기 연구: 대학생 리포트 작성법을 중심으로. </a:t>
            </a:r>
          </a:p>
          <a:p>
            <a:pPr marL="0" indent="0" algn="l">
              <a:buNone/>
            </a:pPr>
            <a:r>
              <a:rPr lang="en-US" sz="1300" dirty="0" err="1">
                <a:solidFill>
                  <a:srgbClr val="E2E8F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서울</a:t>
            </a:r>
            <a:r>
              <a:rPr lang="en-US" sz="1300" dirty="0">
                <a:solidFill>
                  <a:srgbClr val="E2E8F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: 한국출판사.</a:t>
            </a:r>
            <a:endParaRPr lang="en-US" sz="1300" dirty="0"/>
          </a:p>
        </p:txBody>
      </p:sp>
      <p:sp>
        <p:nvSpPr>
          <p:cNvPr id="35" name="Text 26"/>
          <p:cNvSpPr txBox="1"/>
          <p:nvPr/>
        </p:nvSpPr>
        <p:spPr>
          <a:xfrm>
            <a:off x="5838444" y="5730545"/>
            <a:ext cx="3370478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i="1" dirty="0">
                <a:solidFill>
                  <a:srgbClr val="94A3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* APA 스타일 예시 (저자. (연도). 제목. 출판도시: 출판사.)</a:t>
            </a:r>
            <a:endParaRPr lang="en-US" sz="1000" dirty="0"/>
          </a:p>
        </p:txBody>
      </p:sp>
      <p:sp>
        <p:nvSpPr>
          <p:cNvPr id="36" name="deckgen:wrap:footer"/>
          <p:cNvSpPr txBox="1"/>
          <p:nvPr/>
        </p:nvSpPr>
        <p:spPr>
          <a:xfrm>
            <a:off x="365760" y="6549390"/>
            <a:ext cx="11460480" cy="240030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0">
                <a:solidFill>
                  <a:srgbClr val="8A8F99"/>
                </a:solidFill>
                <a:latin typeface="Pretendard"/>
              </a:rPr>
              <a:t>© 2026 이애본 · 홍문원(洪文院) 발행 · CC BY-NC-ND 4.0 · useful-ai.dreamitbiz.com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0F0F0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204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" name="Shape 2"/>
          <p:cNvSpPr/>
          <p:nvPr/>
        </p:nvSpPr>
        <p:spPr>
          <a:xfrm>
            <a:off x="761695" y="476402"/>
            <a:ext cx="571500" cy="57607"/>
          </a:xfrm>
          <a:prstGeom prst="rect">
            <a:avLst/>
          </a:prstGeom>
          <a:solidFill>
            <a:srgbClr val="00BBF0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 txBox="1"/>
          <p:nvPr/>
        </p:nvSpPr>
        <p:spPr>
          <a:xfrm>
            <a:off x="761695" y="657454"/>
            <a:ext cx="5925312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퇴고 루틴: 초안 → 완성 4단계</a:t>
            </a:r>
            <a:endParaRPr lang="en-US" sz="3600" dirty="0"/>
          </a:p>
        </p:txBody>
      </p:sp>
      <p:sp>
        <p:nvSpPr>
          <p:cNvPr id="6" name="Text 4"/>
          <p:cNvSpPr txBox="1"/>
          <p:nvPr/>
        </p:nvSpPr>
        <p:spPr>
          <a:xfrm>
            <a:off x="761695" y="1387145"/>
            <a:ext cx="4657954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dirty="0">
                <a:solidFill>
                  <a:srgbClr val="CBD5E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좋은 글은 쓰는 것이 아니라 고쳐 쓰는 것에서 완성됩니다.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1238098" y="2473452"/>
            <a:ext cx="9715500" cy="19202"/>
          </a:xfrm>
          <a:prstGeom prst="rect">
            <a:avLst/>
          </a:prstGeom>
          <a:solidFill>
            <a:srgbClr val="FFFFFF">
              <a:alpha val="15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8" name="Shape 6"/>
          <p:cNvSpPr/>
          <p:nvPr/>
        </p:nvSpPr>
        <p:spPr>
          <a:xfrm>
            <a:off x="761695" y="5702198"/>
            <a:ext cx="10668305" cy="552298"/>
          </a:xfrm>
          <a:prstGeom prst="rect">
            <a:avLst/>
          </a:prstGeom>
          <a:solidFill>
            <a:srgbClr val="00BBF0">
              <a:alpha val="10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9" name="Shape 7"/>
          <p:cNvSpPr/>
          <p:nvPr/>
        </p:nvSpPr>
        <p:spPr>
          <a:xfrm>
            <a:off x="761695" y="5702198"/>
            <a:ext cx="38405" cy="552298"/>
          </a:xfrm>
          <a:prstGeom prst="rect">
            <a:avLst/>
          </a:prstGeom>
          <a:solidFill>
            <a:srgbClr val="00BBF0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10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1028700" y="5884164"/>
            <a:ext cx="181051" cy="181051"/>
          </a:xfrm>
          <a:prstGeom prst="rect">
            <a:avLst/>
          </a:prstGeom>
        </p:spPr>
      </p:pic>
      <p:sp>
        <p:nvSpPr>
          <p:cNvPr id="11" name="Text 8"/>
          <p:cNvSpPr txBox="1"/>
          <p:nvPr/>
        </p:nvSpPr>
        <p:spPr>
          <a:xfrm>
            <a:off x="1362456" y="5854903"/>
            <a:ext cx="8264347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E2E8F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실습: 내 초안에서 가장 긴 단락 3개를 골라, 각각 '한 문장'으로 요약해보세요.  </a:t>
            </a:r>
            <a:r>
              <a:rPr lang="en-US" sz="1200" dirty="0" err="1">
                <a:solidFill>
                  <a:srgbClr val="E2E8F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요약이</a:t>
            </a:r>
            <a:r>
              <a:rPr lang="en-US" sz="1200" dirty="0">
                <a:solidFill>
                  <a:srgbClr val="E2E8F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안 된다면 그 단락은 다시 써야 합니다.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1702613" y="2188159"/>
            <a:ext cx="571500" cy="571500"/>
          </a:xfrm>
          <a:prstGeom prst="ellipse">
            <a:avLst/>
          </a:prstGeom>
          <a:solidFill>
            <a:srgbClr val="00204A"/>
          </a:solidFill>
          <a:ln w="38100">
            <a:solidFill>
              <a:srgbClr val="00BBF0"/>
            </a:solidFill>
            <a:prstDash val="solid"/>
          </a:ln>
          <a:effectLst>
            <a:outerShdw blurRad="139700" dist="12700" dir="16200000" algn="bl" rotWithShape="0">
              <a:srgbClr val="00BBF0">
                <a:alpha val="3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4" name="Text 11"/>
          <p:cNvSpPr txBox="1"/>
          <p:nvPr/>
        </p:nvSpPr>
        <p:spPr>
          <a:xfrm>
            <a:off x="1919326" y="2302459"/>
            <a:ext cx="314554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00BBF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</a:t>
            </a:r>
            <a:endParaRPr lang="en-US" sz="1800" dirty="0"/>
          </a:p>
        </p:txBody>
      </p:sp>
      <p:sp>
        <p:nvSpPr>
          <p:cNvPr id="15" name="Shape 12"/>
          <p:cNvSpPr/>
          <p:nvPr/>
        </p:nvSpPr>
        <p:spPr>
          <a:xfrm>
            <a:off x="761695" y="2988259"/>
            <a:ext cx="2457907" cy="2381098"/>
          </a:xfrm>
          <a:prstGeom prst="roundRect">
            <a:avLst>
              <a:gd name="adj" fmla="val 1229"/>
            </a:avLst>
          </a:prstGeom>
          <a:solidFill>
            <a:srgbClr val="FFFFFF">
              <a:alpha val="5000"/>
            </a:srgbClr>
          </a:solidFill>
          <a:ln w="12700">
            <a:solidFill>
              <a:srgbClr val="FFFFFF">
                <a:alpha val="1000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6" name="Text 13"/>
          <p:cNvSpPr txBox="1"/>
          <p:nvPr/>
        </p:nvSpPr>
        <p:spPr>
          <a:xfrm>
            <a:off x="1611173" y="3635654"/>
            <a:ext cx="905256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개요 점검</a:t>
            </a:r>
            <a:endParaRPr lang="en-US" sz="1500" dirty="0"/>
          </a:p>
        </p:txBody>
      </p:sp>
      <p:sp>
        <p:nvSpPr>
          <p:cNvPr id="17" name="Text 14"/>
          <p:cNvSpPr txBox="1"/>
          <p:nvPr/>
        </p:nvSpPr>
        <p:spPr>
          <a:xfrm>
            <a:off x="1328623" y="4064508"/>
            <a:ext cx="1432865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00BBF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각 단락을 한 문장으로</a:t>
            </a:r>
            <a:endParaRPr lang="en-US" sz="1100" dirty="0"/>
          </a:p>
        </p:txBody>
      </p:sp>
      <p:sp>
        <p:nvSpPr>
          <p:cNvPr id="18" name="Text 15"/>
          <p:cNvSpPr txBox="1"/>
          <p:nvPr/>
        </p:nvSpPr>
        <p:spPr>
          <a:xfrm>
            <a:off x="1482242" y="4266590"/>
            <a:ext cx="112837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00BBF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요약해 흐름 확인</a:t>
            </a:r>
            <a:endParaRPr lang="en-US" sz="1100" dirty="0"/>
          </a:p>
        </p:txBody>
      </p:sp>
      <p:pic>
        <p:nvPicPr>
          <p:cNvPr id="19" name="Image 1" descr="preencoded.png"/>
          <p:cNvPicPr>
            <a:picLocks noChangeAspect="1"/>
          </p:cNvPicPr>
          <p:nvPr/>
        </p:nvPicPr>
        <p:blipFill>
          <a:blip r:embed="rId4">
            <a:alphaModFix amt="90000"/>
          </a:blip>
          <a:srcRect/>
          <a:stretch/>
        </p:blipFill>
        <p:spPr>
          <a:xfrm>
            <a:off x="1850746" y="3226003"/>
            <a:ext cx="276149" cy="276149"/>
          </a:xfrm>
          <a:prstGeom prst="rect">
            <a:avLst/>
          </a:prstGeom>
        </p:spPr>
      </p:pic>
      <p:sp>
        <p:nvSpPr>
          <p:cNvPr id="20" name="Text 16"/>
          <p:cNvSpPr txBox="1"/>
          <p:nvPr/>
        </p:nvSpPr>
        <p:spPr>
          <a:xfrm>
            <a:off x="1200607" y="4593031"/>
            <a:ext cx="1164031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CBD5E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전체 논리 구조 파악</a:t>
            </a:r>
            <a:endParaRPr lang="en-US" sz="1000" dirty="0"/>
          </a:p>
        </p:txBody>
      </p:sp>
      <p:sp>
        <p:nvSpPr>
          <p:cNvPr id="21" name="Text 17"/>
          <p:cNvSpPr txBox="1"/>
          <p:nvPr/>
        </p:nvSpPr>
        <p:spPr>
          <a:xfrm>
            <a:off x="1200607" y="4839005"/>
            <a:ext cx="1174090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CBD5E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서론-본론-결론 균형</a:t>
            </a:r>
            <a:endParaRPr lang="en-US" sz="1000" dirty="0"/>
          </a:p>
        </p:txBody>
      </p:sp>
      <p:pic>
        <p:nvPicPr>
          <p:cNvPr id="22" name="Image 2" descr="preencoded.png"/>
          <p:cNvPicPr>
            <a:picLocks noChangeAspect="1"/>
          </p:cNvPicPr>
          <p:nvPr/>
        </p:nvPicPr>
        <p:blipFill>
          <a:blip r:embed="rId5"/>
          <a:srcRect t="-180" b="-180"/>
          <a:stretch/>
        </p:blipFill>
        <p:spPr>
          <a:xfrm>
            <a:off x="3488436" y="2397557"/>
            <a:ext cx="95098" cy="152705"/>
          </a:xfrm>
          <a:prstGeom prst="rect">
            <a:avLst/>
          </a:prstGeom>
        </p:spPr>
      </p:pic>
      <p:sp>
        <p:nvSpPr>
          <p:cNvPr id="23" name="Shape 18"/>
          <p:cNvSpPr/>
          <p:nvPr/>
        </p:nvSpPr>
        <p:spPr>
          <a:xfrm>
            <a:off x="4441241" y="2188159"/>
            <a:ext cx="571500" cy="571500"/>
          </a:xfrm>
          <a:prstGeom prst="ellipse">
            <a:avLst/>
          </a:prstGeom>
          <a:solidFill>
            <a:srgbClr val="00204A"/>
          </a:solidFill>
          <a:ln w="38100">
            <a:solidFill>
              <a:srgbClr val="00BBF0"/>
            </a:solidFill>
            <a:prstDash val="solid"/>
          </a:ln>
          <a:effectLst>
            <a:outerShdw blurRad="139700" dist="12700" dir="16200000" algn="bl" rotWithShape="0">
              <a:srgbClr val="00BBF0">
                <a:alpha val="3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4" name="Text 19"/>
          <p:cNvSpPr txBox="1"/>
          <p:nvPr/>
        </p:nvSpPr>
        <p:spPr>
          <a:xfrm>
            <a:off x="4657039" y="2302459"/>
            <a:ext cx="314554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00BBF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</a:t>
            </a:r>
            <a:endParaRPr lang="en-US" sz="1800" dirty="0"/>
          </a:p>
        </p:txBody>
      </p:sp>
      <p:sp>
        <p:nvSpPr>
          <p:cNvPr id="25" name="Shape 20"/>
          <p:cNvSpPr/>
          <p:nvPr/>
        </p:nvSpPr>
        <p:spPr>
          <a:xfrm>
            <a:off x="3500323" y="2988259"/>
            <a:ext cx="2457907" cy="2381098"/>
          </a:xfrm>
          <a:prstGeom prst="roundRect">
            <a:avLst>
              <a:gd name="adj" fmla="val 1229"/>
            </a:avLst>
          </a:prstGeom>
          <a:solidFill>
            <a:srgbClr val="FFFFFF">
              <a:alpha val="5000"/>
            </a:srgbClr>
          </a:solidFill>
          <a:ln w="12700">
            <a:solidFill>
              <a:srgbClr val="FFFFFF">
                <a:alpha val="1000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6" name="Text 21"/>
          <p:cNvSpPr txBox="1"/>
          <p:nvPr/>
        </p:nvSpPr>
        <p:spPr>
          <a:xfrm>
            <a:off x="4349801" y="3635654"/>
            <a:ext cx="905256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논리 정리</a:t>
            </a:r>
            <a:endParaRPr lang="en-US" sz="1500" dirty="0"/>
          </a:p>
        </p:txBody>
      </p:sp>
      <p:sp>
        <p:nvSpPr>
          <p:cNvPr id="27" name="Text 22"/>
          <p:cNvSpPr txBox="1"/>
          <p:nvPr/>
        </p:nvSpPr>
        <p:spPr>
          <a:xfrm>
            <a:off x="4286707" y="4064508"/>
            <a:ext cx="994867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00BBF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순서 재배치 및</a:t>
            </a:r>
            <a:endParaRPr lang="en-US" sz="1100" dirty="0"/>
          </a:p>
        </p:txBody>
      </p:sp>
      <p:sp>
        <p:nvSpPr>
          <p:cNvPr id="28" name="Text 23"/>
          <p:cNvSpPr txBox="1"/>
          <p:nvPr/>
        </p:nvSpPr>
        <p:spPr>
          <a:xfrm>
            <a:off x="4145890" y="4266590"/>
            <a:ext cx="1271016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00BBF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병합/삭제로 선명화</a:t>
            </a:r>
            <a:endParaRPr lang="en-US" sz="1100" dirty="0"/>
          </a:p>
        </p:txBody>
      </p:sp>
      <p:pic>
        <p:nvPicPr>
          <p:cNvPr id="29" name="Image 3" descr="preencoded.png"/>
          <p:cNvPicPr>
            <a:picLocks noChangeAspect="1"/>
          </p:cNvPicPr>
          <p:nvPr/>
        </p:nvPicPr>
        <p:blipFill>
          <a:blip r:embed="rId6">
            <a:alphaModFix amt="90000"/>
          </a:blip>
          <a:srcRect/>
          <a:stretch/>
        </p:blipFill>
        <p:spPr>
          <a:xfrm>
            <a:off x="4588459" y="3226003"/>
            <a:ext cx="276149" cy="276149"/>
          </a:xfrm>
          <a:prstGeom prst="rect">
            <a:avLst/>
          </a:prstGeom>
        </p:spPr>
      </p:pic>
      <p:sp>
        <p:nvSpPr>
          <p:cNvPr id="30" name="Text 24"/>
          <p:cNvSpPr txBox="1"/>
          <p:nvPr/>
        </p:nvSpPr>
        <p:spPr>
          <a:xfrm>
            <a:off x="3938321" y="4593031"/>
            <a:ext cx="1126541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CBD5E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중복 단락 통합하기</a:t>
            </a:r>
            <a:endParaRPr lang="en-US" sz="1000" dirty="0"/>
          </a:p>
        </p:txBody>
      </p:sp>
      <p:sp>
        <p:nvSpPr>
          <p:cNvPr id="31" name="Text 25"/>
          <p:cNvSpPr txBox="1"/>
          <p:nvPr/>
        </p:nvSpPr>
        <p:spPr>
          <a:xfrm>
            <a:off x="3938321" y="4839005"/>
            <a:ext cx="1164031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CBD5E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논지 이탈 부분 삭제</a:t>
            </a:r>
            <a:endParaRPr lang="en-US" sz="1000" dirty="0"/>
          </a:p>
        </p:txBody>
      </p:sp>
      <p:pic>
        <p:nvPicPr>
          <p:cNvPr id="32" name="Image 4" descr="preencoded.png"/>
          <p:cNvPicPr>
            <a:picLocks noChangeAspect="1"/>
          </p:cNvPicPr>
          <p:nvPr/>
        </p:nvPicPr>
        <p:blipFill>
          <a:blip r:embed="rId5"/>
          <a:srcRect t="-180" b="-180"/>
          <a:stretch/>
        </p:blipFill>
        <p:spPr>
          <a:xfrm>
            <a:off x="6226150" y="2397557"/>
            <a:ext cx="95098" cy="152705"/>
          </a:xfrm>
          <a:prstGeom prst="rect">
            <a:avLst/>
          </a:prstGeom>
        </p:spPr>
      </p:pic>
      <p:sp>
        <p:nvSpPr>
          <p:cNvPr id="33" name="Shape 26"/>
          <p:cNvSpPr/>
          <p:nvPr/>
        </p:nvSpPr>
        <p:spPr>
          <a:xfrm>
            <a:off x="7178954" y="2188159"/>
            <a:ext cx="571500" cy="571500"/>
          </a:xfrm>
          <a:prstGeom prst="ellipse">
            <a:avLst/>
          </a:prstGeom>
          <a:solidFill>
            <a:srgbClr val="00204A"/>
          </a:solidFill>
          <a:ln w="38100">
            <a:solidFill>
              <a:srgbClr val="00BBF0"/>
            </a:solidFill>
            <a:prstDash val="solid"/>
          </a:ln>
          <a:effectLst>
            <a:outerShdw blurRad="139700" dist="12700" dir="16200000" algn="bl" rotWithShape="0">
              <a:srgbClr val="00BBF0">
                <a:alpha val="3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34" name="Text 27"/>
          <p:cNvSpPr txBox="1"/>
          <p:nvPr/>
        </p:nvSpPr>
        <p:spPr>
          <a:xfrm>
            <a:off x="7395667" y="2302459"/>
            <a:ext cx="314554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00BBF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3</a:t>
            </a:r>
            <a:endParaRPr lang="en-US" sz="1800" dirty="0"/>
          </a:p>
        </p:txBody>
      </p:sp>
      <p:sp>
        <p:nvSpPr>
          <p:cNvPr id="35" name="Shape 28"/>
          <p:cNvSpPr/>
          <p:nvPr/>
        </p:nvSpPr>
        <p:spPr>
          <a:xfrm>
            <a:off x="6238037" y="2988259"/>
            <a:ext cx="2457907" cy="2381098"/>
          </a:xfrm>
          <a:prstGeom prst="roundRect">
            <a:avLst>
              <a:gd name="adj" fmla="val 1229"/>
            </a:avLst>
          </a:prstGeom>
          <a:solidFill>
            <a:srgbClr val="FFFFFF">
              <a:alpha val="5000"/>
            </a:srgbClr>
          </a:solidFill>
          <a:ln w="12700">
            <a:solidFill>
              <a:srgbClr val="FFFFFF">
                <a:alpha val="1000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6" name="Text 29"/>
          <p:cNvSpPr txBox="1"/>
          <p:nvPr/>
        </p:nvSpPr>
        <p:spPr>
          <a:xfrm>
            <a:off x="6999732" y="3635654"/>
            <a:ext cx="1077163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문장 다듬기</a:t>
            </a:r>
            <a:endParaRPr lang="en-US" sz="1500" dirty="0"/>
          </a:p>
        </p:txBody>
      </p:sp>
      <p:sp>
        <p:nvSpPr>
          <p:cNvPr id="37" name="Text 30"/>
          <p:cNvSpPr txBox="1"/>
          <p:nvPr/>
        </p:nvSpPr>
        <p:spPr>
          <a:xfrm>
            <a:off x="6958584" y="4064508"/>
            <a:ext cx="112837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00BBF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소리 내어 읽으며</a:t>
            </a:r>
            <a:endParaRPr lang="en-US" sz="1100" dirty="0"/>
          </a:p>
        </p:txBody>
      </p:sp>
      <p:sp>
        <p:nvSpPr>
          <p:cNvPr id="38" name="Text 31"/>
          <p:cNvSpPr txBox="1"/>
          <p:nvPr/>
        </p:nvSpPr>
        <p:spPr>
          <a:xfrm>
            <a:off x="7045452" y="4266590"/>
            <a:ext cx="95646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00BBF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군더더기 제거</a:t>
            </a:r>
            <a:endParaRPr lang="en-US" sz="1100" dirty="0"/>
          </a:p>
        </p:txBody>
      </p:sp>
      <p:pic>
        <p:nvPicPr>
          <p:cNvPr id="39" name="Image 5" descr="preencoded.png"/>
          <p:cNvPicPr>
            <a:picLocks noChangeAspect="1"/>
          </p:cNvPicPr>
          <p:nvPr/>
        </p:nvPicPr>
        <p:blipFill>
          <a:blip r:embed="rId7">
            <a:alphaModFix amt="90000"/>
          </a:blip>
          <a:srcRect/>
          <a:stretch/>
        </p:blipFill>
        <p:spPr>
          <a:xfrm>
            <a:off x="7327087" y="3226003"/>
            <a:ext cx="276149" cy="276149"/>
          </a:xfrm>
          <a:prstGeom prst="rect">
            <a:avLst/>
          </a:prstGeom>
        </p:spPr>
      </p:pic>
      <p:sp>
        <p:nvSpPr>
          <p:cNvPr id="40" name="Text 32"/>
          <p:cNvSpPr txBox="1"/>
          <p:nvPr/>
        </p:nvSpPr>
        <p:spPr>
          <a:xfrm>
            <a:off x="6676034" y="4593031"/>
            <a:ext cx="1174090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CBD5E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주어-술어 호응 확인</a:t>
            </a:r>
            <a:endParaRPr lang="en-US" sz="1000" dirty="0"/>
          </a:p>
        </p:txBody>
      </p:sp>
      <p:sp>
        <p:nvSpPr>
          <p:cNvPr id="41" name="Text 33"/>
          <p:cNvSpPr txBox="1"/>
          <p:nvPr/>
        </p:nvSpPr>
        <p:spPr>
          <a:xfrm>
            <a:off x="6676034" y="4839005"/>
            <a:ext cx="887882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CBD5E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긴 문장 쪼개기</a:t>
            </a:r>
            <a:endParaRPr lang="en-US" sz="1000" dirty="0"/>
          </a:p>
        </p:txBody>
      </p:sp>
      <p:pic>
        <p:nvPicPr>
          <p:cNvPr id="42" name="Image 6" descr="preencoded.png"/>
          <p:cNvPicPr>
            <a:picLocks noChangeAspect="1"/>
          </p:cNvPicPr>
          <p:nvPr/>
        </p:nvPicPr>
        <p:blipFill>
          <a:blip r:embed="rId5"/>
          <a:srcRect t="-180" b="-180"/>
          <a:stretch/>
        </p:blipFill>
        <p:spPr>
          <a:xfrm>
            <a:off x="8964778" y="2397557"/>
            <a:ext cx="95098" cy="152705"/>
          </a:xfrm>
          <a:prstGeom prst="rect">
            <a:avLst/>
          </a:prstGeom>
        </p:spPr>
      </p:pic>
      <p:sp>
        <p:nvSpPr>
          <p:cNvPr id="43" name="Shape 34"/>
          <p:cNvSpPr/>
          <p:nvPr/>
        </p:nvSpPr>
        <p:spPr>
          <a:xfrm>
            <a:off x="9917582" y="2188159"/>
            <a:ext cx="571500" cy="571500"/>
          </a:xfrm>
          <a:prstGeom prst="ellipse">
            <a:avLst/>
          </a:prstGeom>
          <a:solidFill>
            <a:srgbClr val="00204A"/>
          </a:solidFill>
          <a:ln w="38100">
            <a:solidFill>
              <a:srgbClr val="00BBF0"/>
            </a:solidFill>
            <a:prstDash val="solid"/>
          </a:ln>
          <a:effectLst>
            <a:outerShdw blurRad="139700" dist="12700" dir="16200000" algn="bl" rotWithShape="0">
              <a:srgbClr val="00BBF0">
                <a:alpha val="3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44" name="Text 35"/>
          <p:cNvSpPr txBox="1"/>
          <p:nvPr/>
        </p:nvSpPr>
        <p:spPr>
          <a:xfrm>
            <a:off x="10133381" y="2302459"/>
            <a:ext cx="314554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00BBF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4</a:t>
            </a:r>
            <a:endParaRPr lang="en-US" sz="1800" dirty="0"/>
          </a:p>
        </p:txBody>
      </p:sp>
      <p:sp>
        <p:nvSpPr>
          <p:cNvPr id="45" name="Shape 36"/>
          <p:cNvSpPr/>
          <p:nvPr/>
        </p:nvSpPr>
        <p:spPr>
          <a:xfrm>
            <a:off x="8976665" y="2988259"/>
            <a:ext cx="2457907" cy="2381098"/>
          </a:xfrm>
          <a:prstGeom prst="roundRect">
            <a:avLst>
              <a:gd name="adj" fmla="val 1229"/>
            </a:avLst>
          </a:prstGeom>
          <a:solidFill>
            <a:srgbClr val="FFFFFF">
              <a:alpha val="5000"/>
            </a:srgbClr>
          </a:solidFill>
          <a:ln w="12700">
            <a:solidFill>
              <a:srgbClr val="FFFFFF">
                <a:alpha val="1000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6" name="Text 37"/>
          <p:cNvSpPr txBox="1"/>
          <p:nvPr/>
        </p:nvSpPr>
        <p:spPr>
          <a:xfrm>
            <a:off x="9738360" y="3635654"/>
            <a:ext cx="1077163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근거 재검토</a:t>
            </a:r>
            <a:endParaRPr lang="en-US" sz="1500" dirty="0"/>
          </a:p>
        </p:txBody>
      </p:sp>
      <p:sp>
        <p:nvSpPr>
          <p:cNvPr id="47" name="Text 38"/>
          <p:cNvSpPr txBox="1"/>
          <p:nvPr/>
        </p:nvSpPr>
        <p:spPr>
          <a:xfrm>
            <a:off x="9563710" y="4064508"/>
            <a:ext cx="1395374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00BBF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수치와 출처 교차확인</a:t>
            </a:r>
            <a:endParaRPr lang="en-US" sz="1100" dirty="0"/>
          </a:p>
        </p:txBody>
      </p:sp>
      <p:sp>
        <p:nvSpPr>
          <p:cNvPr id="48" name="Text 39"/>
          <p:cNvSpPr txBox="1"/>
          <p:nvPr/>
        </p:nvSpPr>
        <p:spPr>
          <a:xfrm>
            <a:off x="9676181" y="4266590"/>
            <a:ext cx="1166774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00BBF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및 인용 누락 탐색</a:t>
            </a:r>
            <a:endParaRPr lang="en-US" sz="1100" dirty="0"/>
          </a:p>
        </p:txBody>
      </p:sp>
      <p:pic>
        <p:nvPicPr>
          <p:cNvPr id="49" name="Image 7" descr="preencoded.png"/>
          <p:cNvPicPr>
            <a:picLocks noChangeAspect="1"/>
          </p:cNvPicPr>
          <p:nvPr/>
        </p:nvPicPr>
        <p:blipFill>
          <a:blip r:embed="rId8">
            <a:alphaModFix amt="90000"/>
          </a:blip>
          <a:srcRect t="-817" b="-817"/>
          <a:stretch/>
        </p:blipFill>
        <p:spPr>
          <a:xfrm>
            <a:off x="10084003" y="3226003"/>
            <a:ext cx="237744" cy="276149"/>
          </a:xfrm>
          <a:prstGeom prst="rect">
            <a:avLst/>
          </a:prstGeom>
        </p:spPr>
      </p:pic>
      <p:sp>
        <p:nvSpPr>
          <p:cNvPr id="50" name="Text 40"/>
          <p:cNvSpPr txBox="1"/>
          <p:nvPr/>
        </p:nvSpPr>
        <p:spPr>
          <a:xfrm>
            <a:off x="9414662" y="4593031"/>
            <a:ext cx="1164031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CBD5E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최신 통계 여부 확인</a:t>
            </a:r>
            <a:endParaRPr lang="en-US" sz="1000" dirty="0"/>
          </a:p>
        </p:txBody>
      </p:sp>
      <p:sp>
        <p:nvSpPr>
          <p:cNvPr id="51" name="Text 41"/>
          <p:cNvSpPr txBox="1"/>
          <p:nvPr/>
        </p:nvSpPr>
        <p:spPr>
          <a:xfrm>
            <a:off x="9414662" y="4839005"/>
            <a:ext cx="1126541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CBD5E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참고문헌 일치 점검</a:t>
            </a:r>
            <a:endParaRPr lang="en-US" sz="1000" dirty="0"/>
          </a:p>
        </p:txBody>
      </p:sp>
      <p:sp>
        <p:nvSpPr>
          <p:cNvPr id="52" name="deckgen:wrap:footer"/>
          <p:cNvSpPr txBox="1"/>
          <p:nvPr/>
        </p:nvSpPr>
        <p:spPr>
          <a:xfrm>
            <a:off x="365760" y="6549390"/>
            <a:ext cx="11460480" cy="240030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0">
                <a:solidFill>
                  <a:srgbClr val="8A8F99"/>
                </a:solidFill>
                <a:latin typeface="Pretendard"/>
              </a:rPr>
              <a:t>© 2026 이애본 · 홍문원(洪文院) 발행 · CC BY-NC-ND 4.0 · useful-ai.dreamitbiz.com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0F0F0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204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" name="Shape 2"/>
          <p:cNvSpPr/>
          <p:nvPr/>
        </p:nvSpPr>
        <p:spPr>
          <a:xfrm>
            <a:off x="761695" y="476402"/>
            <a:ext cx="571500" cy="57607"/>
          </a:xfrm>
          <a:prstGeom prst="rect">
            <a:avLst/>
          </a:prstGeom>
          <a:solidFill>
            <a:srgbClr val="00BBF0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 txBox="1"/>
          <p:nvPr/>
        </p:nvSpPr>
        <p:spPr>
          <a:xfrm>
            <a:off x="761695" y="657454"/>
            <a:ext cx="4696358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문장 다듬기 체크리스트</a:t>
            </a:r>
            <a:endParaRPr lang="en-US" sz="3600" dirty="0"/>
          </a:p>
        </p:txBody>
      </p:sp>
      <p:sp>
        <p:nvSpPr>
          <p:cNvPr id="6" name="Text 4"/>
          <p:cNvSpPr txBox="1"/>
          <p:nvPr/>
        </p:nvSpPr>
        <p:spPr>
          <a:xfrm>
            <a:off x="761695" y="1387145"/>
            <a:ext cx="5210251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dirty="0">
                <a:solidFill>
                  <a:srgbClr val="CBD5E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더 명확하고 간결한 문장을 위해 다음 10가지 항목을 점검하세요.</a:t>
            </a:r>
            <a:endParaRPr lang="en-US" sz="1500" dirty="0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rcRect l="-3882" r="-3882"/>
          <a:stretch/>
        </p:blipFill>
        <p:spPr>
          <a:xfrm>
            <a:off x="761695" y="2004365"/>
            <a:ext cx="161849" cy="133502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980150" y="1958645"/>
            <a:ext cx="865022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60A5F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구조 및 논리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761695" y="2412187"/>
            <a:ext cx="5048402" cy="514807"/>
          </a:xfrm>
          <a:prstGeom prst="roundRect">
            <a:avLst>
              <a:gd name="adj" fmla="val 26314"/>
            </a:avLst>
          </a:prstGeom>
          <a:solidFill>
            <a:srgbClr val="FFFFFF">
              <a:alpha val="3000"/>
            </a:srgbClr>
          </a:solidFill>
          <a:ln w="12700">
            <a:solidFill>
              <a:srgbClr val="FFFFFF">
                <a:alpha val="500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Shape 7"/>
          <p:cNvSpPr/>
          <p:nvPr/>
        </p:nvSpPr>
        <p:spPr>
          <a:xfrm>
            <a:off x="961949" y="2554834"/>
            <a:ext cx="228600" cy="228600"/>
          </a:xfrm>
          <a:prstGeom prst="roundRect">
            <a:avLst>
              <a:gd name="adj" fmla="val 100000"/>
            </a:avLst>
          </a:prstGeom>
          <a:solidFill>
            <a:srgbClr val="00BBF0">
              <a:alpha val="10000"/>
            </a:srgbClr>
          </a:solidFill>
          <a:ln w="25400">
            <a:solidFill>
              <a:srgbClr val="00BB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rcRect t="-1359" b="-1359"/>
          <a:stretch/>
        </p:blipFill>
        <p:spPr>
          <a:xfrm>
            <a:off x="1024128" y="2606954"/>
            <a:ext cx="105156" cy="123444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1343254" y="2553005"/>
            <a:ext cx="3477463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E2E8F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두괄식 전개: 문단 첫 문장에 핵심 주장을 배치했는가?</a:t>
            </a:r>
            <a:endParaRPr lang="en-US" sz="1200" dirty="0"/>
          </a:p>
        </p:txBody>
      </p:sp>
      <p:sp>
        <p:nvSpPr>
          <p:cNvPr id="13" name="Shape 9"/>
          <p:cNvSpPr/>
          <p:nvPr/>
        </p:nvSpPr>
        <p:spPr>
          <a:xfrm>
            <a:off x="761695" y="3078785"/>
            <a:ext cx="5048402" cy="514807"/>
          </a:xfrm>
          <a:prstGeom prst="roundRect">
            <a:avLst>
              <a:gd name="adj" fmla="val 26314"/>
            </a:avLst>
          </a:prstGeom>
          <a:solidFill>
            <a:srgbClr val="FFFFFF">
              <a:alpha val="3000"/>
            </a:srgbClr>
          </a:solidFill>
          <a:ln w="12700">
            <a:solidFill>
              <a:srgbClr val="FFFFFF">
                <a:alpha val="500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Shape 10"/>
          <p:cNvSpPr/>
          <p:nvPr/>
        </p:nvSpPr>
        <p:spPr>
          <a:xfrm>
            <a:off x="961949" y="3221431"/>
            <a:ext cx="228600" cy="228600"/>
          </a:xfrm>
          <a:prstGeom prst="roundRect">
            <a:avLst>
              <a:gd name="adj" fmla="val 100000"/>
            </a:avLst>
          </a:prstGeom>
          <a:solidFill>
            <a:srgbClr val="00BBF0">
              <a:alpha val="10000"/>
            </a:srgbClr>
          </a:solidFill>
          <a:ln w="25400">
            <a:solidFill>
              <a:srgbClr val="00BB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4"/>
          <a:srcRect t="-1359" b="-1359"/>
          <a:stretch/>
        </p:blipFill>
        <p:spPr>
          <a:xfrm>
            <a:off x="1024128" y="3273552"/>
            <a:ext cx="105156" cy="123444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1343254" y="3219602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E2E8F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한 문장 한 생각: 한 문장에 하나의 아이디어만 담았는가?</a:t>
            </a:r>
            <a:endParaRPr lang="en-US" sz="1200" dirty="0"/>
          </a:p>
        </p:txBody>
      </p:sp>
      <p:sp>
        <p:nvSpPr>
          <p:cNvPr id="17" name="Shape 12"/>
          <p:cNvSpPr/>
          <p:nvPr/>
        </p:nvSpPr>
        <p:spPr>
          <a:xfrm>
            <a:off x="761695" y="3745382"/>
            <a:ext cx="5048402" cy="514807"/>
          </a:xfrm>
          <a:prstGeom prst="roundRect">
            <a:avLst>
              <a:gd name="adj" fmla="val 26314"/>
            </a:avLst>
          </a:prstGeom>
          <a:solidFill>
            <a:srgbClr val="FFFFFF">
              <a:alpha val="3000"/>
            </a:srgbClr>
          </a:solidFill>
          <a:ln w="12700">
            <a:solidFill>
              <a:srgbClr val="FFFFFF">
                <a:alpha val="500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8" name="Shape 13"/>
          <p:cNvSpPr/>
          <p:nvPr/>
        </p:nvSpPr>
        <p:spPr>
          <a:xfrm>
            <a:off x="961949" y="3888029"/>
            <a:ext cx="228600" cy="228600"/>
          </a:xfrm>
          <a:prstGeom prst="roundRect">
            <a:avLst>
              <a:gd name="adj" fmla="val 100000"/>
            </a:avLst>
          </a:prstGeom>
          <a:solidFill>
            <a:srgbClr val="00BBF0">
              <a:alpha val="10000"/>
            </a:srgbClr>
          </a:solidFill>
          <a:ln w="25400">
            <a:solidFill>
              <a:srgbClr val="00BB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19" name="Image 3" descr="preencoded.png"/>
          <p:cNvPicPr>
            <a:picLocks noChangeAspect="1"/>
          </p:cNvPicPr>
          <p:nvPr/>
        </p:nvPicPr>
        <p:blipFill>
          <a:blip r:embed="rId4"/>
          <a:srcRect t="-1359" b="-1359"/>
          <a:stretch/>
        </p:blipFill>
        <p:spPr>
          <a:xfrm>
            <a:off x="1024128" y="3940150"/>
            <a:ext cx="105156" cy="123444"/>
          </a:xfrm>
          <a:prstGeom prst="rect">
            <a:avLst/>
          </a:prstGeom>
        </p:spPr>
      </p:pic>
      <p:sp>
        <p:nvSpPr>
          <p:cNvPr id="20" name="Text 14"/>
          <p:cNvSpPr txBox="1"/>
          <p:nvPr/>
        </p:nvSpPr>
        <p:spPr>
          <a:xfrm>
            <a:off x="1343254" y="3886200"/>
            <a:ext cx="385785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E2E8F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주술 호응: 주어와 서술어의 관계가 명확하고 자연스러운가?</a:t>
            </a:r>
            <a:endParaRPr lang="en-US" sz="1200" dirty="0"/>
          </a:p>
        </p:txBody>
      </p:sp>
      <p:sp>
        <p:nvSpPr>
          <p:cNvPr id="21" name="Shape 15"/>
          <p:cNvSpPr/>
          <p:nvPr/>
        </p:nvSpPr>
        <p:spPr>
          <a:xfrm>
            <a:off x="761695" y="4411980"/>
            <a:ext cx="5048402" cy="514807"/>
          </a:xfrm>
          <a:prstGeom prst="roundRect">
            <a:avLst>
              <a:gd name="adj" fmla="val 26314"/>
            </a:avLst>
          </a:prstGeom>
          <a:solidFill>
            <a:srgbClr val="FFFFFF">
              <a:alpha val="3000"/>
            </a:srgbClr>
          </a:solidFill>
          <a:ln w="12700">
            <a:solidFill>
              <a:srgbClr val="FFFFFF">
                <a:alpha val="500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2" name="Shape 16"/>
          <p:cNvSpPr/>
          <p:nvPr/>
        </p:nvSpPr>
        <p:spPr>
          <a:xfrm>
            <a:off x="961949" y="4554626"/>
            <a:ext cx="228600" cy="228600"/>
          </a:xfrm>
          <a:prstGeom prst="roundRect">
            <a:avLst>
              <a:gd name="adj" fmla="val 100000"/>
            </a:avLst>
          </a:prstGeom>
          <a:solidFill>
            <a:srgbClr val="00BBF0">
              <a:alpha val="10000"/>
            </a:srgbClr>
          </a:solidFill>
          <a:ln w="25400">
            <a:solidFill>
              <a:srgbClr val="00BB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23" name="Image 4" descr="preencoded.png"/>
          <p:cNvPicPr>
            <a:picLocks noChangeAspect="1"/>
          </p:cNvPicPr>
          <p:nvPr/>
        </p:nvPicPr>
        <p:blipFill>
          <a:blip r:embed="rId4"/>
          <a:srcRect t="-1359" b="-1359"/>
          <a:stretch/>
        </p:blipFill>
        <p:spPr>
          <a:xfrm>
            <a:off x="1024128" y="4607662"/>
            <a:ext cx="105156" cy="123444"/>
          </a:xfrm>
          <a:prstGeom prst="rect">
            <a:avLst/>
          </a:prstGeom>
        </p:spPr>
      </p:pic>
      <p:sp>
        <p:nvSpPr>
          <p:cNvPr id="24" name="Text 17"/>
          <p:cNvSpPr txBox="1"/>
          <p:nvPr/>
        </p:nvSpPr>
        <p:spPr>
          <a:xfrm>
            <a:off x="1343254" y="4552798"/>
            <a:ext cx="42291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E2E8F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연결어 사용: 문장 간 논리적 연결(따라서, 그러나 등)이 적절한가?</a:t>
            </a:r>
            <a:endParaRPr lang="en-US" sz="1200" dirty="0"/>
          </a:p>
        </p:txBody>
      </p:sp>
      <p:sp>
        <p:nvSpPr>
          <p:cNvPr id="25" name="Shape 18"/>
          <p:cNvSpPr/>
          <p:nvPr/>
        </p:nvSpPr>
        <p:spPr>
          <a:xfrm>
            <a:off x="761695" y="5078578"/>
            <a:ext cx="5048402" cy="514807"/>
          </a:xfrm>
          <a:prstGeom prst="roundRect">
            <a:avLst>
              <a:gd name="adj" fmla="val 26314"/>
            </a:avLst>
          </a:prstGeom>
          <a:solidFill>
            <a:srgbClr val="FFFFFF">
              <a:alpha val="3000"/>
            </a:srgbClr>
          </a:solidFill>
          <a:ln w="12700">
            <a:solidFill>
              <a:srgbClr val="FFFFFF">
                <a:alpha val="500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6" name="Shape 19"/>
          <p:cNvSpPr/>
          <p:nvPr/>
        </p:nvSpPr>
        <p:spPr>
          <a:xfrm>
            <a:off x="961949" y="5221224"/>
            <a:ext cx="228600" cy="228600"/>
          </a:xfrm>
          <a:prstGeom prst="roundRect">
            <a:avLst>
              <a:gd name="adj" fmla="val 100000"/>
            </a:avLst>
          </a:prstGeom>
          <a:solidFill>
            <a:srgbClr val="00BBF0">
              <a:alpha val="10000"/>
            </a:srgbClr>
          </a:solidFill>
          <a:ln w="25400">
            <a:solidFill>
              <a:srgbClr val="00BB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27" name="Image 5" descr="preencoded.png"/>
          <p:cNvPicPr>
            <a:picLocks noChangeAspect="1"/>
          </p:cNvPicPr>
          <p:nvPr/>
        </p:nvPicPr>
        <p:blipFill>
          <a:blip r:embed="rId4"/>
          <a:srcRect t="-1359" b="-1359"/>
          <a:stretch/>
        </p:blipFill>
        <p:spPr>
          <a:xfrm>
            <a:off x="1024128" y="5274259"/>
            <a:ext cx="105156" cy="123444"/>
          </a:xfrm>
          <a:prstGeom prst="rect">
            <a:avLst/>
          </a:prstGeom>
        </p:spPr>
      </p:pic>
      <p:sp>
        <p:nvSpPr>
          <p:cNvPr id="28" name="Text 20"/>
          <p:cNvSpPr txBox="1"/>
          <p:nvPr/>
        </p:nvSpPr>
        <p:spPr>
          <a:xfrm>
            <a:off x="1343254" y="5219395"/>
            <a:ext cx="389625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E2E8F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중복 제거: 같은 단어나 의미가 불필요하게 반복되지 않는가?</a:t>
            </a:r>
            <a:endParaRPr lang="en-US" sz="1200" dirty="0"/>
          </a:p>
        </p:txBody>
      </p:sp>
      <p:pic>
        <p:nvPicPr>
          <p:cNvPr id="29" name="Image 6" descr="preencoded.png"/>
          <p:cNvPicPr>
            <a:picLocks noChangeAspect="1"/>
          </p:cNvPicPr>
          <p:nvPr/>
        </p:nvPicPr>
        <p:blipFill>
          <a:blip r:embed="rId5"/>
          <a:srcRect l="-3425" r="-3425"/>
          <a:stretch/>
        </p:blipFill>
        <p:spPr>
          <a:xfrm>
            <a:off x="6381598" y="2004365"/>
            <a:ext cx="142646" cy="133502"/>
          </a:xfrm>
          <a:prstGeom prst="rect">
            <a:avLst/>
          </a:prstGeom>
        </p:spPr>
      </p:pic>
      <p:sp>
        <p:nvSpPr>
          <p:cNvPr id="30" name="Text 21"/>
          <p:cNvSpPr txBox="1"/>
          <p:nvPr/>
        </p:nvSpPr>
        <p:spPr>
          <a:xfrm>
            <a:off x="6580850" y="1958645"/>
            <a:ext cx="865022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60A5F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표현 및 문체</a:t>
            </a:r>
            <a:endParaRPr lang="en-US" sz="1200" dirty="0"/>
          </a:p>
        </p:txBody>
      </p:sp>
      <p:sp>
        <p:nvSpPr>
          <p:cNvPr id="31" name="Shape 22"/>
          <p:cNvSpPr/>
          <p:nvPr/>
        </p:nvSpPr>
        <p:spPr>
          <a:xfrm>
            <a:off x="6381598" y="2412187"/>
            <a:ext cx="5048402" cy="514807"/>
          </a:xfrm>
          <a:prstGeom prst="roundRect">
            <a:avLst>
              <a:gd name="adj" fmla="val 26314"/>
            </a:avLst>
          </a:prstGeom>
          <a:solidFill>
            <a:srgbClr val="FFFFFF">
              <a:alpha val="3000"/>
            </a:srgbClr>
          </a:solidFill>
          <a:ln w="12700">
            <a:solidFill>
              <a:srgbClr val="FFFFFF">
                <a:alpha val="500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2" name="Shape 23"/>
          <p:cNvSpPr/>
          <p:nvPr/>
        </p:nvSpPr>
        <p:spPr>
          <a:xfrm>
            <a:off x="6581851" y="2554834"/>
            <a:ext cx="228600" cy="228600"/>
          </a:xfrm>
          <a:prstGeom prst="roundRect">
            <a:avLst>
              <a:gd name="adj" fmla="val 100000"/>
            </a:avLst>
          </a:prstGeom>
          <a:solidFill>
            <a:srgbClr val="00BBF0">
              <a:alpha val="10000"/>
            </a:srgbClr>
          </a:solidFill>
          <a:ln w="25400">
            <a:solidFill>
              <a:srgbClr val="00BB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33" name="Image 7" descr="preencoded.png"/>
          <p:cNvPicPr>
            <a:picLocks noChangeAspect="1"/>
          </p:cNvPicPr>
          <p:nvPr/>
        </p:nvPicPr>
        <p:blipFill>
          <a:blip r:embed="rId4"/>
          <a:srcRect t="-1359" b="-1359"/>
          <a:stretch/>
        </p:blipFill>
        <p:spPr>
          <a:xfrm>
            <a:off x="6644030" y="2606954"/>
            <a:ext cx="105156" cy="123444"/>
          </a:xfrm>
          <a:prstGeom prst="rect">
            <a:avLst/>
          </a:prstGeom>
        </p:spPr>
      </p:pic>
      <p:sp>
        <p:nvSpPr>
          <p:cNvPr id="34" name="Text 24"/>
          <p:cNvSpPr txBox="1"/>
          <p:nvPr/>
        </p:nvSpPr>
        <p:spPr>
          <a:xfrm>
            <a:off x="6963156" y="2553005"/>
            <a:ext cx="415320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E2E8F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불필요 수식 제거: '매우', '너무' 등 불필요한 부사를 삭제했는가?</a:t>
            </a:r>
            <a:endParaRPr lang="en-US" sz="1200" dirty="0"/>
          </a:p>
        </p:txBody>
      </p:sp>
      <p:sp>
        <p:nvSpPr>
          <p:cNvPr id="35" name="Shape 25"/>
          <p:cNvSpPr/>
          <p:nvPr/>
        </p:nvSpPr>
        <p:spPr>
          <a:xfrm>
            <a:off x="6381598" y="3078785"/>
            <a:ext cx="5048402" cy="514807"/>
          </a:xfrm>
          <a:prstGeom prst="roundRect">
            <a:avLst>
              <a:gd name="adj" fmla="val 26314"/>
            </a:avLst>
          </a:prstGeom>
          <a:solidFill>
            <a:srgbClr val="FFFFFF">
              <a:alpha val="3000"/>
            </a:srgbClr>
          </a:solidFill>
          <a:ln w="12700">
            <a:solidFill>
              <a:srgbClr val="FFFFFF">
                <a:alpha val="500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6" name="Shape 26"/>
          <p:cNvSpPr/>
          <p:nvPr/>
        </p:nvSpPr>
        <p:spPr>
          <a:xfrm>
            <a:off x="6581851" y="3221431"/>
            <a:ext cx="228600" cy="228600"/>
          </a:xfrm>
          <a:prstGeom prst="roundRect">
            <a:avLst>
              <a:gd name="adj" fmla="val 100000"/>
            </a:avLst>
          </a:prstGeom>
          <a:solidFill>
            <a:srgbClr val="00BBF0">
              <a:alpha val="10000"/>
            </a:srgbClr>
          </a:solidFill>
          <a:ln w="25400">
            <a:solidFill>
              <a:srgbClr val="00BB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37" name="Image 8" descr="preencoded.png"/>
          <p:cNvPicPr>
            <a:picLocks noChangeAspect="1"/>
          </p:cNvPicPr>
          <p:nvPr/>
        </p:nvPicPr>
        <p:blipFill>
          <a:blip r:embed="rId4"/>
          <a:srcRect t="-1359" b="-1359"/>
          <a:stretch/>
        </p:blipFill>
        <p:spPr>
          <a:xfrm>
            <a:off x="6644030" y="3273552"/>
            <a:ext cx="105156" cy="123444"/>
          </a:xfrm>
          <a:prstGeom prst="rect">
            <a:avLst/>
          </a:prstGeom>
        </p:spPr>
      </p:pic>
      <p:sp>
        <p:nvSpPr>
          <p:cNvPr id="38" name="Text 27"/>
          <p:cNvSpPr txBox="1"/>
          <p:nvPr/>
        </p:nvSpPr>
        <p:spPr>
          <a:xfrm>
            <a:off x="6963156" y="3219602"/>
            <a:ext cx="389625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E2E8F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용어 통일: 핵심 키워드나 전문 용어를 일관되게 사용했는가?</a:t>
            </a:r>
            <a:endParaRPr lang="en-US" sz="1200" dirty="0"/>
          </a:p>
        </p:txBody>
      </p:sp>
      <p:sp>
        <p:nvSpPr>
          <p:cNvPr id="39" name="Shape 28"/>
          <p:cNvSpPr/>
          <p:nvPr/>
        </p:nvSpPr>
        <p:spPr>
          <a:xfrm>
            <a:off x="6381598" y="3745382"/>
            <a:ext cx="5048402" cy="514807"/>
          </a:xfrm>
          <a:prstGeom prst="roundRect">
            <a:avLst>
              <a:gd name="adj" fmla="val 26314"/>
            </a:avLst>
          </a:prstGeom>
          <a:solidFill>
            <a:srgbClr val="FFFFFF">
              <a:alpha val="3000"/>
            </a:srgbClr>
          </a:solidFill>
          <a:ln w="12700">
            <a:solidFill>
              <a:srgbClr val="FFFFFF">
                <a:alpha val="500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0" name="Shape 29"/>
          <p:cNvSpPr/>
          <p:nvPr/>
        </p:nvSpPr>
        <p:spPr>
          <a:xfrm>
            <a:off x="6581851" y="3888029"/>
            <a:ext cx="228600" cy="228600"/>
          </a:xfrm>
          <a:prstGeom prst="roundRect">
            <a:avLst>
              <a:gd name="adj" fmla="val 100000"/>
            </a:avLst>
          </a:prstGeom>
          <a:solidFill>
            <a:srgbClr val="00BBF0">
              <a:alpha val="10000"/>
            </a:srgbClr>
          </a:solidFill>
          <a:ln w="25400">
            <a:solidFill>
              <a:srgbClr val="00BB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41" name="Image 9" descr="preencoded.png"/>
          <p:cNvPicPr>
            <a:picLocks noChangeAspect="1"/>
          </p:cNvPicPr>
          <p:nvPr/>
        </p:nvPicPr>
        <p:blipFill>
          <a:blip r:embed="rId4"/>
          <a:srcRect t="-1359" b="-1359"/>
          <a:stretch/>
        </p:blipFill>
        <p:spPr>
          <a:xfrm>
            <a:off x="6644030" y="3940150"/>
            <a:ext cx="105156" cy="123444"/>
          </a:xfrm>
          <a:prstGeom prst="rect">
            <a:avLst/>
          </a:prstGeom>
        </p:spPr>
      </p:pic>
      <p:sp>
        <p:nvSpPr>
          <p:cNvPr id="42" name="Text 30"/>
          <p:cNvSpPr txBox="1"/>
          <p:nvPr/>
        </p:nvSpPr>
        <p:spPr>
          <a:xfrm>
            <a:off x="6963156" y="3886200"/>
            <a:ext cx="3715207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E2E8F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3인칭 객관화: '나', '우리' 대신 3인칭 주어를 사용했는가?</a:t>
            </a:r>
            <a:endParaRPr lang="en-US" sz="1200" dirty="0"/>
          </a:p>
        </p:txBody>
      </p:sp>
      <p:sp>
        <p:nvSpPr>
          <p:cNvPr id="43" name="Shape 31"/>
          <p:cNvSpPr/>
          <p:nvPr/>
        </p:nvSpPr>
        <p:spPr>
          <a:xfrm>
            <a:off x="6381598" y="4411980"/>
            <a:ext cx="5048402" cy="514807"/>
          </a:xfrm>
          <a:prstGeom prst="roundRect">
            <a:avLst>
              <a:gd name="adj" fmla="val 26314"/>
            </a:avLst>
          </a:prstGeom>
          <a:solidFill>
            <a:srgbClr val="FFFFFF">
              <a:alpha val="3000"/>
            </a:srgbClr>
          </a:solidFill>
          <a:ln w="12700">
            <a:solidFill>
              <a:srgbClr val="FFFFFF">
                <a:alpha val="500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4" name="Shape 32"/>
          <p:cNvSpPr/>
          <p:nvPr/>
        </p:nvSpPr>
        <p:spPr>
          <a:xfrm>
            <a:off x="6581851" y="4554626"/>
            <a:ext cx="228600" cy="228600"/>
          </a:xfrm>
          <a:prstGeom prst="roundRect">
            <a:avLst>
              <a:gd name="adj" fmla="val 100000"/>
            </a:avLst>
          </a:prstGeom>
          <a:solidFill>
            <a:srgbClr val="00BBF0">
              <a:alpha val="10000"/>
            </a:srgbClr>
          </a:solidFill>
          <a:ln w="25400">
            <a:solidFill>
              <a:srgbClr val="00BB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45" name="Image 10" descr="preencoded.png"/>
          <p:cNvPicPr>
            <a:picLocks noChangeAspect="1"/>
          </p:cNvPicPr>
          <p:nvPr/>
        </p:nvPicPr>
        <p:blipFill>
          <a:blip r:embed="rId4"/>
          <a:srcRect t="-1359" b="-1359"/>
          <a:stretch/>
        </p:blipFill>
        <p:spPr>
          <a:xfrm>
            <a:off x="6644030" y="4607662"/>
            <a:ext cx="105156" cy="123444"/>
          </a:xfrm>
          <a:prstGeom prst="rect">
            <a:avLst/>
          </a:prstGeom>
        </p:spPr>
      </p:pic>
      <p:sp>
        <p:nvSpPr>
          <p:cNvPr id="46" name="Text 33"/>
          <p:cNvSpPr txBox="1"/>
          <p:nvPr/>
        </p:nvSpPr>
        <p:spPr>
          <a:xfrm>
            <a:off x="6963156" y="4552798"/>
            <a:ext cx="3724351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E2E8F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단위·기호: 숫자 단위와 문장 부호(마침표 등)가 정확한가?</a:t>
            </a:r>
            <a:endParaRPr lang="en-US" sz="1200" dirty="0"/>
          </a:p>
        </p:txBody>
      </p:sp>
      <p:sp>
        <p:nvSpPr>
          <p:cNvPr id="47" name="Shape 34"/>
          <p:cNvSpPr/>
          <p:nvPr/>
        </p:nvSpPr>
        <p:spPr>
          <a:xfrm>
            <a:off x="6381598" y="5078578"/>
            <a:ext cx="5048402" cy="514807"/>
          </a:xfrm>
          <a:prstGeom prst="roundRect">
            <a:avLst>
              <a:gd name="adj" fmla="val 26314"/>
            </a:avLst>
          </a:prstGeom>
          <a:solidFill>
            <a:srgbClr val="FFFFFF">
              <a:alpha val="3000"/>
            </a:srgbClr>
          </a:solidFill>
          <a:ln w="12700">
            <a:solidFill>
              <a:srgbClr val="FFFFFF">
                <a:alpha val="500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8" name="Shape 35"/>
          <p:cNvSpPr/>
          <p:nvPr/>
        </p:nvSpPr>
        <p:spPr>
          <a:xfrm>
            <a:off x="6581851" y="5221224"/>
            <a:ext cx="228600" cy="228600"/>
          </a:xfrm>
          <a:prstGeom prst="roundRect">
            <a:avLst>
              <a:gd name="adj" fmla="val 100000"/>
            </a:avLst>
          </a:prstGeom>
          <a:solidFill>
            <a:srgbClr val="00BBF0">
              <a:alpha val="10000"/>
            </a:srgbClr>
          </a:solidFill>
          <a:ln w="25400">
            <a:solidFill>
              <a:srgbClr val="00BB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49" name="Image 11" descr="preencoded.png"/>
          <p:cNvPicPr>
            <a:picLocks noChangeAspect="1"/>
          </p:cNvPicPr>
          <p:nvPr/>
        </p:nvPicPr>
        <p:blipFill>
          <a:blip r:embed="rId4"/>
          <a:srcRect t="-1359" b="-1359"/>
          <a:stretch/>
        </p:blipFill>
        <p:spPr>
          <a:xfrm>
            <a:off x="6644030" y="5274259"/>
            <a:ext cx="105156" cy="123444"/>
          </a:xfrm>
          <a:prstGeom prst="rect">
            <a:avLst/>
          </a:prstGeom>
        </p:spPr>
      </p:pic>
      <p:sp>
        <p:nvSpPr>
          <p:cNvPr id="50" name="Text 36"/>
          <p:cNvSpPr txBox="1"/>
          <p:nvPr/>
        </p:nvSpPr>
        <p:spPr>
          <a:xfrm>
            <a:off x="6963156" y="5219395"/>
            <a:ext cx="3943807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E2E8F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표현 강도 조절: 단정적 표현 대신 객관적 근거에 기반했는가?</a:t>
            </a:r>
            <a:endParaRPr lang="en-US" sz="1200" dirty="0"/>
          </a:p>
        </p:txBody>
      </p:sp>
      <p:sp>
        <p:nvSpPr>
          <p:cNvPr id="51" name="Shape 37"/>
          <p:cNvSpPr/>
          <p:nvPr/>
        </p:nvSpPr>
        <p:spPr>
          <a:xfrm>
            <a:off x="761695" y="5724144"/>
            <a:ext cx="10668305" cy="657454"/>
          </a:xfrm>
          <a:prstGeom prst="rect">
            <a:avLst/>
          </a:prstGeom>
          <a:solidFill>
            <a:srgbClr val="00BBF0">
              <a:alpha val="10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2" name="Shape 38"/>
          <p:cNvSpPr/>
          <p:nvPr/>
        </p:nvSpPr>
        <p:spPr>
          <a:xfrm>
            <a:off x="761695" y="5724144"/>
            <a:ext cx="38405" cy="657454"/>
          </a:xfrm>
          <a:prstGeom prst="rect">
            <a:avLst/>
          </a:prstGeom>
          <a:solidFill>
            <a:srgbClr val="00BBF0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53" name="Image 12" descr="preencoded.png"/>
          <p:cNvPicPr>
            <a:picLocks noChangeAspect="1"/>
          </p:cNvPicPr>
          <p:nvPr/>
        </p:nvPicPr>
        <p:blipFill>
          <a:blip r:embed="rId6"/>
          <a:srcRect t="-333" b="-333"/>
          <a:stretch/>
        </p:blipFill>
        <p:spPr>
          <a:xfrm>
            <a:off x="1086307" y="5915254"/>
            <a:ext cx="342900" cy="276149"/>
          </a:xfrm>
          <a:prstGeom prst="rect">
            <a:avLst/>
          </a:prstGeom>
        </p:spPr>
      </p:pic>
      <p:sp>
        <p:nvSpPr>
          <p:cNvPr id="54" name="Text 39"/>
          <p:cNvSpPr txBox="1"/>
          <p:nvPr/>
        </p:nvSpPr>
        <p:spPr>
          <a:xfrm>
            <a:off x="1619402" y="5927141"/>
            <a:ext cx="6421831" cy="2386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소리 내어 읽기 1회 필수: 눈으로 볼 때 놓친 비문과 어색한 흐름을 귀로 찾아낼 수 있습니다.</a:t>
            </a:r>
            <a:endParaRPr lang="en-US" sz="1300" dirty="0"/>
          </a:p>
        </p:txBody>
      </p:sp>
      <p:sp>
        <p:nvSpPr>
          <p:cNvPr id="55" name="deckgen:wrap:footer"/>
          <p:cNvSpPr txBox="1"/>
          <p:nvPr/>
        </p:nvSpPr>
        <p:spPr>
          <a:xfrm>
            <a:off x="365760" y="6549390"/>
            <a:ext cx="11460480" cy="240030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0">
                <a:solidFill>
                  <a:srgbClr val="8A8F99"/>
                </a:solidFill>
                <a:latin typeface="Pretendard"/>
              </a:rPr>
              <a:t>© 2026 이애본 · 홍문원(洪文院) 발행 · CC BY-NC-ND 4.0 · useful-ai.dreamitbiz.com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0F0F0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204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" name="Shape 2"/>
          <p:cNvSpPr/>
          <p:nvPr/>
        </p:nvSpPr>
        <p:spPr>
          <a:xfrm>
            <a:off x="761695" y="476402"/>
            <a:ext cx="571500" cy="57607"/>
          </a:xfrm>
          <a:prstGeom prst="rect">
            <a:avLst/>
          </a:prstGeom>
          <a:solidFill>
            <a:srgbClr val="00BBF0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 txBox="1"/>
          <p:nvPr/>
        </p:nvSpPr>
        <p:spPr>
          <a:xfrm>
            <a:off x="761695" y="657454"/>
            <a:ext cx="4972507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형식 점검: 디테일의 완성</a:t>
            </a:r>
            <a:endParaRPr lang="en-US" sz="3600" dirty="0"/>
          </a:p>
        </p:txBody>
      </p:sp>
      <p:sp>
        <p:nvSpPr>
          <p:cNvPr id="6" name="Text 4"/>
          <p:cNvSpPr txBox="1"/>
          <p:nvPr/>
        </p:nvSpPr>
        <p:spPr>
          <a:xfrm>
            <a:off x="761695" y="1387145"/>
            <a:ext cx="4896612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dirty="0">
                <a:solidFill>
                  <a:srgbClr val="CBD5E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내용이 아무리 좋아도 형식이 무너지면 신뢰도가 떨어집니다.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761695" y="2264054"/>
            <a:ext cx="5048402" cy="9144"/>
          </a:xfrm>
          <a:prstGeom prst="rect">
            <a:avLst/>
          </a:prstGeom>
          <a:solidFill>
            <a:srgbClr val="FFFFFF">
              <a:alpha val="10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rcRect l="-2694" r="-2694"/>
          <a:stretch/>
        </p:blipFill>
        <p:spPr>
          <a:xfrm>
            <a:off x="761695" y="2006194"/>
            <a:ext cx="181051" cy="152705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1067934" y="1958645"/>
            <a:ext cx="72420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60A5F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표 · 그림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761695" y="2386584"/>
            <a:ext cx="5048402" cy="476402"/>
          </a:xfrm>
          <a:prstGeom prst="roundRect">
            <a:avLst>
              <a:gd name="adj" fmla="val 23033"/>
            </a:avLst>
          </a:prstGeom>
          <a:solidFill>
            <a:srgbClr val="FFFFFF">
              <a:alpha val="3000"/>
            </a:srgbClr>
          </a:solidFill>
          <a:ln w="12700">
            <a:solidFill>
              <a:srgbClr val="FFFFFF">
                <a:alpha val="500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Shape 8"/>
          <p:cNvSpPr/>
          <p:nvPr/>
        </p:nvSpPr>
        <p:spPr>
          <a:xfrm>
            <a:off x="923544" y="2510942"/>
            <a:ext cx="228600" cy="228600"/>
          </a:xfrm>
          <a:prstGeom prst="roundRect">
            <a:avLst>
              <a:gd name="adj" fmla="val 83333"/>
            </a:avLst>
          </a:prstGeom>
          <a:solidFill>
            <a:srgbClr val="00BBF0">
              <a:alpha val="10000"/>
            </a:srgbClr>
          </a:solidFill>
          <a:ln w="25400">
            <a:solidFill>
              <a:srgbClr val="00BB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rcRect t="-1359" b="-1359"/>
          <a:stretch/>
        </p:blipFill>
        <p:spPr>
          <a:xfrm>
            <a:off x="985723" y="2563063"/>
            <a:ext cx="105156" cy="123444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1285646" y="2509114"/>
            <a:ext cx="367680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E2E8F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표와 그림에 제목(캡션)과 번호, 출처를 모두 표기했는가?</a:t>
            </a:r>
            <a:endParaRPr lang="en-US" sz="1200" dirty="0"/>
          </a:p>
        </p:txBody>
      </p:sp>
      <p:sp>
        <p:nvSpPr>
          <p:cNvPr id="14" name="Shape 10"/>
          <p:cNvSpPr/>
          <p:nvPr/>
        </p:nvSpPr>
        <p:spPr>
          <a:xfrm>
            <a:off x="761695" y="2977286"/>
            <a:ext cx="5048402" cy="476402"/>
          </a:xfrm>
          <a:prstGeom prst="roundRect">
            <a:avLst>
              <a:gd name="adj" fmla="val 23033"/>
            </a:avLst>
          </a:prstGeom>
          <a:solidFill>
            <a:srgbClr val="FFFFFF">
              <a:alpha val="3000"/>
            </a:srgbClr>
          </a:solidFill>
          <a:ln w="12700">
            <a:solidFill>
              <a:srgbClr val="FFFFFF">
                <a:alpha val="500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" name="Shape 11"/>
          <p:cNvSpPr/>
          <p:nvPr/>
        </p:nvSpPr>
        <p:spPr>
          <a:xfrm>
            <a:off x="923544" y="3101645"/>
            <a:ext cx="228600" cy="228600"/>
          </a:xfrm>
          <a:prstGeom prst="roundRect">
            <a:avLst>
              <a:gd name="adj" fmla="val 83333"/>
            </a:avLst>
          </a:prstGeom>
          <a:solidFill>
            <a:srgbClr val="00BBF0">
              <a:alpha val="10000"/>
            </a:srgbClr>
          </a:solidFill>
          <a:ln w="25400">
            <a:solidFill>
              <a:srgbClr val="00BB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4"/>
          <a:srcRect t="-1359" b="-1359"/>
          <a:stretch/>
        </p:blipFill>
        <p:spPr>
          <a:xfrm>
            <a:off x="985723" y="3153766"/>
            <a:ext cx="105156" cy="123444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1285646" y="3098902"/>
            <a:ext cx="384871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E2E8F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본문에서 &lt;그림 1&gt;, &lt;표 2&gt;와 같이 교차참조로 언급했는가?</a:t>
            </a:r>
            <a:endParaRPr lang="en-US" sz="1200" dirty="0"/>
          </a:p>
        </p:txBody>
      </p:sp>
      <p:sp>
        <p:nvSpPr>
          <p:cNvPr id="18" name="Shape 13"/>
          <p:cNvSpPr/>
          <p:nvPr/>
        </p:nvSpPr>
        <p:spPr>
          <a:xfrm>
            <a:off x="761695" y="3567989"/>
            <a:ext cx="5048402" cy="476402"/>
          </a:xfrm>
          <a:prstGeom prst="roundRect">
            <a:avLst>
              <a:gd name="adj" fmla="val 23033"/>
            </a:avLst>
          </a:prstGeom>
          <a:solidFill>
            <a:srgbClr val="FFFFFF">
              <a:alpha val="3000"/>
            </a:srgbClr>
          </a:solidFill>
          <a:ln w="12700">
            <a:solidFill>
              <a:srgbClr val="FFFFFF">
                <a:alpha val="500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9" name="Shape 14"/>
          <p:cNvSpPr/>
          <p:nvPr/>
        </p:nvSpPr>
        <p:spPr>
          <a:xfrm>
            <a:off x="923544" y="3691433"/>
            <a:ext cx="228600" cy="228600"/>
          </a:xfrm>
          <a:prstGeom prst="roundRect">
            <a:avLst>
              <a:gd name="adj" fmla="val 83333"/>
            </a:avLst>
          </a:prstGeom>
          <a:solidFill>
            <a:srgbClr val="00BBF0">
              <a:alpha val="10000"/>
            </a:srgbClr>
          </a:solidFill>
          <a:ln w="25400">
            <a:solidFill>
              <a:srgbClr val="00BB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20" name="Image 3" descr="preencoded.png"/>
          <p:cNvPicPr>
            <a:picLocks noChangeAspect="1"/>
          </p:cNvPicPr>
          <p:nvPr/>
        </p:nvPicPr>
        <p:blipFill>
          <a:blip r:embed="rId4"/>
          <a:srcRect t="-1359" b="-1359"/>
          <a:stretch/>
        </p:blipFill>
        <p:spPr>
          <a:xfrm>
            <a:off x="985723" y="3744468"/>
            <a:ext cx="105156" cy="123444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1285646" y="3689604"/>
            <a:ext cx="3258007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E2E8F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단위(%, 원 등)가 누락되지 않고 통일되어 있는가?</a:t>
            </a:r>
            <a:endParaRPr lang="en-US" sz="1200" dirty="0"/>
          </a:p>
        </p:txBody>
      </p:sp>
      <p:sp>
        <p:nvSpPr>
          <p:cNvPr id="22" name="Shape 16"/>
          <p:cNvSpPr/>
          <p:nvPr/>
        </p:nvSpPr>
        <p:spPr>
          <a:xfrm>
            <a:off x="761695" y="4578401"/>
            <a:ext cx="5048402" cy="9144"/>
          </a:xfrm>
          <a:prstGeom prst="rect">
            <a:avLst/>
          </a:prstGeom>
          <a:solidFill>
            <a:srgbClr val="FFFFFF">
              <a:alpha val="10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23" name="Image 4" descr="preencoded.png"/>
          <p:cNvPicPr>
            <a:picLocks noChangeAspect="1"/>
          </p:cNvPicPr>
          <p:nvPr/>
        </p:nvPicPr>
        <p:blipFill>
          <a:blip r:embed="rId5"/>
          <a:srcRect l="-3892" r="-3892"/>
          <a:stretch/>
        </p:blipFill>
        <p:spPr>
          <a:xfrm>
            <a:off x="761695" y="4320540"/>
            <a:ext cx="123444" cy="152705"/>
          </a:xfrm>
          <a:prstGeom prst="rect">
            <a:avLst/>
          </a:prstGeom>
        </p:spPr>
      </p:pic>
      <p:sp>
        <p:nvSpPr>
          <p:cNvPr id="24" name="Text 17"/>
          <p:cNvSpPr txBox="1"/>
          <p:nvPr/>
        </p:nvSpPr>
        <p:spPr>
          <a:xfrm>
            <a:off x="1011242" y="4272991"/>
            <a:ext cx="76261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60A5F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문서 서식</a:t>
            </a:r>
            <a:endParaRPr lang="en-US" sz="1200" dirty="0"/>
          </a:p>
        </p:txBody>
      </p:sp>
      <p:sp>
        <p:nvSpPr>
          <p:cNvPr id="25" name="Shape 18"/>
          <p:cNvSpPr/>
          <p:nvPr/>
        </p:nvSpPr>
        <p:spPr>
          <a:xfrm>
            <a:off x="761695" y="4701845"/>
            <a:ext cx="5048402" cy="476402"/>
          </a:xfrm>
          <a:prstGeom prst="roundRect">
            <a:avLst>
              <a:gd name="adj" fmla="val 23033"/>
            </a:avLst>
          </a:prstGeom>
          <a:solidFill>
            <a:srgbClr val="FFFFFF">
              <a:alpha val="3000"/>
            </a:srgbClr>
          </a:solidFill>
          <a:ln w="12700">
            <a:solidFill>
              <a:srgbClr val="FFFFFF">
                <a:alpha val="500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6" name="Shape 19"/>
          <p:cNvSpPr/>
          <p:nvPr/>
        </p:nvSpPr>
        <p:spPr>
          <a:xfrm>
            <a:off x="923544" y="4825289"/>
            <a:ext cx="228600" cy="228600"/>
          </a:xfrm>
          <a:prstGeom prst="roundRect">
            <a:avLst>
              <a:gd name="adj" fmla="val 83333"/>
            </a:avLst>
          </a:prstGeom>
          <a:solidFill>
            <a:srgbClr val="00BBF0">
              <a:alpha val="10000"/>
            </a:srgbClr>
          </a:solidFill>
          <a:ln w="25400">
            <a:solidFill>
              <a:srgbClr val="00BB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27" name="Image 5" descr="preencoded.png"/>
          <p:cNvPicPr>
            <a:picLocks noChangeAspect="1"/>
          </p:cNvPicPr>
          <p:nvPr/>
        </p:nvPicPr>
        <p:blipFill>
          <a:blip r:embed="rId4"/>
          <a:srcRect t="-1359" b="-1359"/>
          <a:stretch/>
        </p:blipFill>
        <p:spPr>
          <a:xfrm>
            <a:off x="985723" y="4877410"/>
            <a:ext cx="105156" cy="123444"/>
          </a:xfrm>
          <a:prstGeom prst="rect">
            <a:avLst/>
          </a:prstGeom>
        </p:spPr>
      </p:pic>
      <p:sp>
        <p:nvSpPr>
          <p:cNvPr id="28" name="Text 20"/>
          <p:cNvSpPr txBox="1"/>
          <p:nvPr/>
        </p:nvSpPr>
        <p:spPr>
          <a:xfrm>
            <a:off x="1285646" y="4823460"/>
            <a:ext cx="3706063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E2E8F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과제 규정에 맞는 글꼴, 크기, 줄간격, 여백을 설정했는가?</a:t>
            </a:r>
            <a:endParaRPr lang="en-US" sz="1200" dirty="0"/>
          </a:p>
        </p:txBody>
      </p:sp>
      <p:sp>
        <p:nvSpPr>
          <p:cNvPr id="29" name="Shape 21"/>
          <p:cNvSpPr/>
          <p:nvPr/>
        </p:nvSpPr>
        <p:spPr>
          <a:xfrm>
            <a:off x="761695" y="5291633"/>
            <a:ext cx="5048402" cy="476402"/>
          </a:xfrm>
          <a:prstGeom prst="roundRect">
            <a:avLst>
              <a:gd name="adj" fmla="val 23033"/>
            </a:avLst>
          </a:prstGeom>
          <a:solidFill>
            <a:srgbClr val="FFFFFF">
              <a:alpha val="3000"/>
            </a:srgbClr>
          </a:solidFill>
          <a:ln w="12700">
            <a:solidFill>
              <a:srgbClr val="FFFFFF">
                <a:alpha val="500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0" name="Shape 22"/>
          <p:cNvSpPr/>
          <p:nvPr/>
        </p:nvSpPr>
        <p:spPr>
          <a:xfrm>
            <a:off x="923544" y="5415991"/>
            <a:ext cx="228600" cy="228600"/>
          </a:xfrm>
          <a:prstGeom prst="roundRect">
            <a:avLst>
              <a:gd name="adj" fmla="val 83333"/>
            </a:avLst>
          </a:prstGeom>
          <a:solidFill>
            <a:srgbClr val="00BBF0">
              <a:alpha val="10000"/>
            </a:srgbClr>
          </a:solidFill>
          <a:ln w="25400">
            <a:solidFill>
              <a:srgbClr val="00BB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31" name="Image 6" descr="preencoded.png"/>
          <p:cNvPicPr>
            <a:picLocks noChangeAspect="1"/>
          </p:cNvPicPr>
          <p:nvPr/>
        </p:nvPicPr>
        <p:blipFill>
          <a:blip r:embed="rId4"/>
          <a:srcRect t="-1359" b="-1359"/>
          <a:stretch/>
        </p:blipFill>
        <p:spPr>
          <a:xfrm>
            <a:off x="985723" y="5468112"/>
            <a:ext cx="105156" cy="123444"/>
          </a:xfrm>
          <a:prstGeom prst="rect">
            <a:avLst/>
          </a:prstGeom>
        </p:spPr>
      </p:pic>
      <p:sp>
        <p:nvSpPr>
          <p:cNvPr id="32" name="Text 23"/>
          <p:cNvSpPr txBox="1"/>
          <p:nvPr/>
        </p:nvSpPr>
        <p:spPr>
          <a:xfrm>
            <a:off x="1285646" y="5414162"/>
            <a:ext cx="373441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E2E8F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개조식(Bullet)과 서술식 문장이 적절히 구분되어 있는가?</a:t>
            </a:r>
            <a:endParaRPr lang="en-US" sz="1200" dirty="0"/>
          </a:p>
        </p:txBody>
      </p:sp>
      <p:sp>
        <p:nvSpPr>
          <p:cNvPr id="33" name="Shape 24"/>
          <p:cNvSpPr/>
          <p:nvPr/>
        </p:nvSpPr>
        <p:spPr>
          <a:xfrm>
            <a:off x="6381598" y="2264054"/>
            <a:ext cx="5048402" cy="9144"/>
          </a:xfrm>
          <a:prstGeom prst="rect">
            <a:avLst/>
          </a:prstGeom>
          <a:solidFill>
            <a:srgbClr val="FFFFFF">
              <a:alpha val="10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34" name="Image 7" descr="preencoded.png"/>
          <p:cNvPicPr>
            <a:picLocks noChangeAspect="1"/>
          </p:cNvPicPr>
          <p:nvPr/>
        </p:nvPicPr>
        <p:blipFill>
          <a:blip r:embed="rId6"/>
          <a:srcRect l="-2994" r="-2994"/>
          <a:stretch/>
        </p:blipFill>
        <p:spPr>
          <a:xfrm>
            <a:off x="6381598" y="2006194"/>
            <a:ext cx="161849" cy="152705"/>
          </a:xfrm>
          <a:prstGeom prst="rect">
            <a:avLst/>
          </a:prstGeom>
        </p:spPr>
      </p:pic>
      <p:sp>
        <p:nvSpPr>
          <p:cNvPr id="35" name="Text 25"/>
          <p:cNvSpPr txBox="1"/>
          <p:nvPr/>
        </p:nvSpPr>
        <p:spPr>
          <a:xfrm>
            <a:off x="6668634" y="1958645"/>
            <a:ext cx="106710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60A5F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쪽 번호 · 목차</a:t>
            </a:r>
            <a:endParaRPr lang="en-US" sz="1200" dirty="0"/>
          </a:p>
        </p:txBody>
      </p:sp>
      <p:sp>
        <p:nvSpPr>
          <p:cNvPr id="36" name="Shape 26"/>
          <p:cNvSpPr/>
          <p:nvPr/>
        </p:nvSpPr>
        <p:spPr>
          <a:xfrm>
            <a:off x="6381598" y="2386584"/>
            <a:ext cx="5048402" cy="476402"/>
          </a:xfrm>
          <a:prstGeom prst="roundRect">
            <a:avLst>
              <a:gd name="adj" fmla="val 23033"/>
            </a:avLst>
          </a:prstGeom>
          <a:solidFill>
            <a:srgbClr val="FFFFFF">
              <a:alpha val="3000"/>
            </a:srgbClr>
          </a:solidFill>
          <a:ln w="12700">
            <a:solidFill>
              <a:srgbClr val="FFFFFF">
                <a:alpha val="500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7" name="Shape 27"/>
          <p:cNvSpPr/>
          <p:nvPr/>
        </p:nvSpPr>
        <p:spPr>
          <a:xfrm>
            <a:off x="6543446" y="2510942"/>
            <a:ext cx="228600" cy="228600"/>
          </a:xfrm>
          <a:prstGeom prst="roundRect">
            <a:avLst>
              <a:gd name="adj" fmla="val 83333"/>
            </a:avLst>
          </a:prstGeom>
          <a:solidFill>
            <a:srgbClr val="00BBF0">
              <a:alpha val="10000"/>
            </a:srgbClr>
          </a:solidFill>
          <a:ln w="25400">
            <a:solidFill>
              <a:srgbClr val="00BB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38" name="Image 8" descr="preencoded.png"/>
          <p:cNvPicPr>
            <a:picLocks noChangeAspect="1"/>
          </p:cNvPicPr>
          <p:nvPr/>
        </p:nvPicPr>
        <p:blipFill>
          <a:blip r:embed="rId4"/>
          <a:srcRect t="-1359" b="-1359"/>
          <a:stretch/>
        </p:blipFill>
        <p:spPr>
          <a:xfrm>
            <a:off x="6605626" y="2563063"/>
            <a:ext cx="105156" cy="123444"/>
          </a:xfrm>
          <a:prstGeom prst="rect">
            <a:avLst/>
          </a:prstGeom>
        </p:spPr>
      </p:pic>
      <p:sp>
        <p:nvSpPr>
          <p:cNvPr id="39" name="Text 28"/>
          <p:cNvSpPr txBox="1"/>
          <p:nvPr/>
        </p:nvSpPr>
        <p:spPr>
          <a:xfrm>
            <a:off x="6905549" y="2509114"/>
            <a:ext cx="3495751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E2E8F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표지를 제외하고 본문부터 쪽 번호(1p)가 시작되는가?</a:t>
            </a:r>
            <a:endParaRPr lang="en-US" sz="1200" dirty="0"/>
          </a:p>
        </p:txBody>
      </p:sp>
      <p:sp>
        <p:nvSpPr>
          <p:cNvPr id="40" name="Shape 29"/>
          <p:cNvSpPr/>
          <p:nvPr/>
        </p:nvSpPr>
        <p:spPr>
          <a:xfrm>
            <a:off x="6381598" y="2977286"/>
            <a:ext cx="5048402" cy="476402"/>
          </a:xfrm>
          <a:prstGeom prst="roundRect">
            <a:avLst>
              <a:gd name="adj" fmla="val 23033"/>
            </a:avLst>
          </a:prstGeom>
          <a:solidFill>
            <a:srgbClr val="FFFFFF">
              <a:alpha val="3000"/>
            </a:srgbClr>
          </a:solidFill>
          <a:ln w="12700">
            <a:solidFill>
              <a:srgbClr val="FFFFFF">
                <a:alpha val="500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1" name="Shape 30"/>
          <p:cNvSpPr/>
          <p:nvPr/>
        </p:nvSpPr>
        <p:spPr>
          <a:xfrm>
            <a:off x="6543446" y="3101645"/>
            <a:ext cx="228600" cy="228600"/>
          </a:xfrm>
          <a:prstGeom prst="roundRect">
            <a:avLst>
              <a:gd name="adj" fmla="val 83333"/>
            </a:avLst>
          </a:prstGeom>
          <a:solidFill>
            <a:srgbClr val="00BBF0">
              <a:alpha val="10000"/>
            </a:srgbClr>
          </a:solidFill>
          <a:ln w="25400">
            <a:solidFill>
              <a:srgbClr val="00BB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42" name="Image 9" descr="preencoded.png"/>
          <p:cNvPicPr>
            <a:picLocks noChangeAspect="1"/>
          </p:cNvPicPr>
          <p:nvPr/>
        </p:nvPicPr>
        <p:blipFill>
          <a:blip r:embed="rId4"/>
          <a:srcRect t="-1359" b="-1359"/>
          <a:stretch/>
        </p:blipFill>
        <p:spPr>
          <a:xfrm>
            <a:off x="6605626" y="3153766"/>
            <a:ext cx="105156" cy="123444"/>
          </a:xfrm>
          <a:prstGeom prst="rect">
            <a:avLst/>
          </a:prstGeom>
        </p:spPr>
      </p:pic>
      <p:sp>
        <p:nvSpPr>
          <p:cNvPr id="43" name="Text 31"/>
          <p:cNvSpPr txBox="1"/>
          <p:nvPr/>
        </p:nvSpPr>
        <p:spPr>
          <a:xfrm>
            <a:off x="6905549" y="3098902"/>
            <a:ext cx="35341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E2E8F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목차의 페이지 번호가 실제 본문 페이지와 일치하는가?</a:t>
            </a:r>
            <a:endParaRPr lang="en-US" sz="1200" dirty="0"/>
          </a:p>
        </p:txBody>
      </p:sp>
      <p:sp>
        <p:nvSpPr>
          <p:cNvPr id="44" name="Shape 32"/>
          <p:cNvSpPr/>
          <p:nvPr/>
        </p:nvSpPr>
        <p:spPr>
          <a:xfrm>
            <a:off x="6381598" y="3987698"/>
            <a:ext cx="5048402" cy="9144"/>
          </a:xfrm>
          <a:prstGeom prst="rect">
            <a:avLst/>
          </a:prstGeom>
          <a:solidFill>
            <a:srgbClr val="FFFFFF">
              <a:alpha val="10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45" name="Image 10" descr="preencoded.png"/>
          <p:cNvPicPr>
            <a:picLocks noChangeAspect="1"/>
          </p:cNvPicPr>
          <p:nvPr/>
        </p:nvPicPr>
        <p:blipFill>
          <a:blip r:embed="rId7"/>
          <a:srcRect l="-2694" r="-2694"/>
          <a:stretch/>
        </p:blipFill>
        <p:spPr>
          <a:xfrm>
            <a:off x="6381598" y="3729838"/>
            <a:ext cx="181051" cy="152705"/>
          </a:xfrm>
          <a:prstGeom prst="rect">
            <a:avLst/>
          </a:prstGeom>
        </p:spPr>
      </p:pic>
      <p:sp>
        <p:nvSpPr>
          <p:cNvPr id="46" name="Text 33"/>
          <p:cNvSpPr txBox="1"/>
          <p:nvPr/>
        </p:nvSpPr>
        <p:spPr>
          <a:xfrm>
            <a:off x="6687837" y="3682289"/>
            <a:ext cx="10195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60A5F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오탈자 · 기호</a:t>
            </a:r>
            <a:endParaRPr lang="en-US" sz="1200" dirty="0"/>
          </a:p>
        </p:txBody>
      </p:sp>
      <p:sp>
        <p:nvSpPr>
          <p:cNvPr id="47" name="Shape 34"/>
          <p:cNvSpPr/>
          <p:nvPr/>
        </p:nvSpPr>
        <p:spPr>
          <a:xfrm>
            <a:off x="6381598" y="4111142"/>
            <a:ext cx="5048402" cy="476402"/>
          </a:xfrm>
          <a:prstGeom prst="roundRect">
            <a:avLst>
              <a:gd name="adj" fmla="val 23033"/>
            </a:avLst>
          </a:prstGeom>
          <a:solidFill>
            <a:srgbClr val="FFFFFF">
              <a:alpha val="3000"/>
            </a:srgbClr>
          </a:solidFill>
          <a:ln w="12700">
            <a:solidFill>
              <a:srgbClr val="FFFFFF">
                <a:alpha val="500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8" name="Shape 35"/>
          <p:cNvSpPr/>
          <p:nvPr/>
        </p:nvSpPr>
        <p:spPr>
          <a:xfrm>
            <a:off x="6543446" y="4234586"/>
            <a:ext cx="228600" cy="228600"/>
          </a:xfrm>
          <a:prstGeom prst="roundRect">
            <a:avLst>
              <a:gd name="adj" fmla="val 83333"/>
            </a:avLst>
          </a:prstGeom>
          <a:solidFill>
            <a:srgbClr val="00BBF0">
              <a:alpha val="10000"/>
            </a:srgbClr>
          </a:solidFill>
          <a:ln w="25400">
            <a:solidFill>
              <a:srgbClr val="00BB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49" name="Image 11" descr="preencoded.png"/>
          <p:cNvPicPr>
            <a:picLocks noChangeAspect="1"/>
          </p:cNvPicPr>
          <p:nvPr/>
        </p:nvPicPr>
        <p:blipFill>
          <a:blip r:embed="rId4"/>
          <a:srcRect t="-1359" b="-1359"/>
          <a:stretch/>
        </p:blipFill>
        <p:spPr>
          <a:xfrm>
            <a:off x="6605626" y="4286707"/>
            <a:ext cx="105156" cy="123444"/>
          </a:xfrm>
          <a:prstGeom prst="rect">
            <a:avLst/>
          </a:prstGeom>
        </p:spPr>
      </p:pic>
      <p:sp>
        <p:nvSpPr>
          <p:cNvPr id="50" name="Text 36"/>
          <p:cNvSpPr txBox="1"/>
          <p:nvPr/>
        </p:nvSpPr>
        <p:spPr>
          <a:xfrm>
            <a:off x="6905549" y="4232758"/>
            <a:ext cx="3952951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E2E8F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맞춤법 검사기를 돌려 오탈자와 띄어쓰기를 최종 확인했는가?</a:t>
            </a:r>
            <a:endParaRPr lang="en-US" sz="1200" dirty="0"/>
          </a:p>
        </p:txBody>
      </p:sp>
      <p:sp>
        <p:nvSpPr>
          <p:cNvPr id="51" name="Shape 37"/>
          <p:cNvSpPr/>
          <p:nvPr/>
        </p:nvSpPr>
        <p:spPr>
          <a:xfrm>
            <a:off x="6381598" y="4701845"/>
            <a:ext cx="5048402" cy="476402"/>
          </a:xfrm>
          <a:prstGeom prst="roundRect">
            <a:avLst>
              <a:gd name="adj" fmla="val 23033"/>
            </a:avLst>
          </a:prstGeom>
          <a:solidFill>
            <a:srgbClr val="FFFFFF">
              <a:alpha val="3000"/>
            </a:srgbClr>
          </a:solidFill>
          <a:ln w="12700">
            <a:solidFill>
              <a:srgbClr val="FFFFFF">
                <a:alpha val="500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2" name="Shape 38"/>
          <p:cNvSpPr/>
          <p:nvPr/>
        </p:nvSpPr>
        <p:spPr>
          <a:xfrm>
            <a:off x="6543446" y="4825289"/>
            <a:ext cx="228600" cy="228600"/>
          </a:xfrm>
          <a:prstGeom prst="roundRect">
            <a:avLst>
              <a:gd name="adj" fmla="val 83333"/>
            </a:avLst>
          </a:prstGeom>
          <a:solidFill>
            <a:srgbClr val="00BBF0">
              <a:alpha val="10000"/>
            </a:srgbClr>
          </a:solidFill>
          <a:ln w="25400">
            <a:solidFill>
              <a:srgbClr val="00BB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53" name="Image 12" descr="preencoded.png"/>
          <p:cNvPicPr>
            <a:picLocks noChangeAspect="1"/>
          </p:cNvPicPr>
          <p:nvPr/>
        </p:nvPicPr>
        <p:blipFill>
          <a:blip r:embed="rId4"/>
          <a:srcRect t="-1359" b="-1359"/>
          <a:stretch/>
        </p:blipFill>
        <p:spPr>
          <a:xfrm>
            <a:off x="6605626" y="4877410"/>
            <a:ext cx="105156" cy="123444"/>
          </a:xfrm>
          <a:prstGeom prst="rect">
            <a:avLst/>
          </a:prstGeom>
        </p:spPr>
      </p:pic>
      <p:sp>
        <p:nvSpPr>
          <p:cNvPr id="54" name="Text 39"/>
          <p:cNvSpPr txBox="1"/>
          <p:nvPr/>
        </p:nvSpPr>
        <p:spPr>
          <a:xfrm>
            <a:off x="6905549" y="4823460"/>
            <a:ext cx="3820363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E2E8F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특수기호(‘-’, ‘%’, ‘“’)의 모양이 문서 전체에서 일관적인가?</a:t>
            </a:r>
            <a:endParaRPr lang="en-US" sz="1200" dirty="0"/>
          </a:p>
        </p:txBody>
      </p:sp>
      <p:sp>
        <p:nvSpPr>
          <p:cNvPr id="55" name="Shape 40"/>
          <p:cNvSpPr/>
          <p:nvPr/>
        </p:nvSpPr>
        <p:spPr>
          <a:xfrm>
            <a:off x="6381598" y="5291633"/>
            <a:ext cx="5048402" cy="476402"/>
          </a:xfrm>
          <a:prstGeom prst="roundRect">
            <a:avLst>
              <a:gd name="adj" fmla="val 23033"/>
            </a:avLst>
          </a:prstGeom>
          <a:solidFill>
            <a:srgbClr val="FFFFFF">
              <a:alpha val="3000"/>
            </a:srgbClr>
          </a:solidFill>
          <a:ln w="12700">
            <a:solidFill>
              <a:srgbClr val="FFFFFF">
                <a:alpha val="500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6" name="Shape 41"/>
          <p:cNvSpPr/>
          <p:nvPr/>
        </p:nvSpPr>
        <p:spPr>
          <a:xfrm>
            <a:off x="6543446" y="5415991"/>
            <a:ext cx="228600" cy="228600"/>
          </a:xfrm>
          <a:prstGeom prst="roundRect">
            <a:avLst>
              <a:gd name="adj" fmla="val 83333"/>
            </a:avLst>
          </a:prstGeom>
          <a:solidFill>
            <a:srgbClr val="00BBF0">
              <a:alpha val="10000"/>
            </a:srgbClr>
          </a:solidFill>
          <a:ln w="25400">
            <a:solidFill>
              <a:srgbClr val="00BB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57" name="Image 13" descr="preencoded.png"/>
          <p:cNvPicPr>
            <a:picLocks noChangeAspect="1"/>
          </p:cNvPicPr>
          <p:nvPr/>
        </p:nvPicPr>
        <p:blipFill>
          <a:blip r:embed="rId4"/>
          <a:srcRect t="-1359" b="-1359"/>
          <a:stretch/>
        </p:blipFill>
        <p:spPr>
          <a:xfrm>
            <a:off x="6605626" y="5468112"/>
            <a:ext cx="105156" cy="123444"/>
          </a:xfrm>
          <a:prstGeom prst="rect">
            <a:avLst/>
          </a:prstGeom>
        </p:spPr>
      </p:pic>
      <p:sp>
        <p:nvSpPr>
          <p:cNvPr id="58" name="Text 42"/>
          <p:cNvSpPr txBox="1"/>
          <p:nvPr/>
        </p:nvSpPr>
        <p:spPr>
          <a:xfrm>
            <a:off x="6905549" y="5414162"/>
            <a:ext cx="2924251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E2E8F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불필요한 빈 줄이나 공백이 남아있지 않은가?</a:t>
            </a:r>
            <a:endParaRPr lang="en-US" sz="1200" dirty="0"/>
          </a:p>
        </p:txBody>
      </p:sp>
      <p:sp>
        <p:nvSpPr>
          <p:cNvPr id="59" name="Shape 43"/>
          <p:cNvSpPr/>
          <p:nvPr/>
        </p:nvSpPr>
        <p:spPr>
          <a:xfrm>
            <a:off x="761695" y="5896051"/>
            <a:ext cx="10668305" cy="580644"/>
          </a:xfrm>
          <a:prstGeom prst="rect">
            <a:avLst/>
          </a:prstGeom>
          <a:solidFill>
            <a:srgbClr val="00BBF0">
              <a:alpha val="10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0" name="Shape 44"/>
          <p:cNvSpPr/>
          <p:nvPr/>
        </p:nvSpPr>
        <p:spPr>
          <a:xfrm>
            <a:off x="761695" y="5896051"/>
            <a:ext cx="38405" cy="580644"/>
          </a:xfrm>
          <a:prstGeom prst="rect">
            <a:avLst/>
          </a:prstGeom>
          <a:solidFill>
            <a:srgbClr val="00BBF0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61" name="Image 14" descr="preencoded.png"/>
          <p:cNvPicPr>
            <a:picLocks noChangeAspect="1"/>
          </p:cNvPicPr>
          <p:nvPr/>
        </p:nvPicPr>
        <p:blipFill>
          <a:blip r:embed="rId8"/>
          <a:srcRect t="-1013" b="-1013"/>
          <a:stretch/>
        </p:blipFill>
        <p:spPr>
          <a:xfrm>
            <a:off x="1028700" y="6048756"/>
            <a:ext cx="304495" cy="276149"/>
          </a:xfrm>
          <a:prstGeom prst="rect">
            <a:avLst/>
          </a:prstGeom>
        </p:spPr>
      </p:pic>
      <p:sp>
        <p:nvSpPr>
          <p:cNvPr id="62" name="Text 45"/>
          <p:cNvSpPr txBox="1"/>
          <p:nvPr/>
        </p:nvSpPr>
        <p:spPr>
          <a:xfrm>
            <a:off x="1485900" y="6066130"/>
            <a:ext cx="8044891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교수님은 '형식'을 통해 학생의 성실함과 기본기를 가장 먼저 평가합니다. 사소한 실수가 감점 요인이 되지 않도록 하세요.</a:t>
            </a:r>
            <a:endParaRPr lang="en-US" sz="1200" dirty="0"/>
          </a:p>
        </p:txBody>
      </p:sp>
      <p:sp>
        <p:nvSpPr>
          <p:cNvPr id="63" name="deckgen:wrap:footer"/>
          <p:cNvSpPr txBox="1"/>
          <p:nvPr/>
        </p:nvSpPr>
        <p:spPr>
          <a:xfrm>
            <a:off x="365760" y="6549390"/>
            <a:ext cx="11460480" cy="240030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0">
                <a:solidFill>
                  <a:srgbClr val="8A8F99"/>
                </a:solidFill>
                <a:latin typeface="Pretendard"/>
              </a:rPr>
              <a:t>© 2026 이애본 · 홍문원(洪文院) 발행 · CC BY-NC-ND 4.0 · useful-ai.dreamitbiz.com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0F0F0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204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" name="Shape 2"/>
          <p:cNvSpPr/>
          <p:nvPr/>
        </p:nvSpPr>
        <p:spPr>
          <a:xfrm>
            <a:off x="761695" y="476402"/>
            <a:ext cx="571500" cy="57607"/>
          </a:xfrm>
          <a:prstGeom prst="rect">
            <a:avLst/>
          </a:prstGeom>
          <a:solidFill>
            <a:srgbClr val="00BBF0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 txBox="1"/>
          <p:nvPr/>
        </p:nvSpPr>
        <p:spPr>
          <a:xfrm>
            <a:off x="761695" y="657454"/>
            <a:ext cx="5267858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버전 관리 &amp; 제출 타임라인</a:t>
            </a:r>
            <a:endParaRPr lang="en-US" sz="3600" dirty="0"/>
          </a:p>
        </p:txBody>
      </p:sp>
      <p:sp>
        <p:nvSpPr>
          <p:cNvPr id="6" name="Text 4"/>
          <p:cNvSpPr txBox="1"/>
          <p:nvPr/>
        </p:nvSpPr>
        <p:spPr>
          <a:xfrm>
            <a:off x="761695" y="1387145"/>
            <a:ext cx="5629961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dirty="0">
                <a:solidFill>
                  <a:srgbClr val="CBD5E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실수 없는 제출을 위한 체계적인 '파일 관리'와 '마감 역산' 전략입니다.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761695" y="2501798"/>
            <a:ext cx="5048402" cy="9144"/>
          </a:xfrm>
          <a:prstGeom prst="rect">
            <a:avLst/>
          </a:prstGeom>
          <a:solidFill>
            <a:srgbClr val="FFFFFF">
              <a:alpha val="20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rcRect t="-45" b="-45"/>
          <a:stretch/>
        </p:blipFill>
        <p:spPr>
          <a:xfrm>
            <a:off x="761695" y="2043684"/>
            <a:ext cx="256946" cy="228600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1162202" y="1967789"/>
            <a:ext cx="2315261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체계적인 버전 관리</a:t>
            </a:r>
            <a:endParaRPr lang="en-US" sz="2100" dirty="0"/>
          </a:p>
        </p:txBody>
      </p:sp>
      <p:sp>
        <p:nvSpPr>
          <p:cNvPr id="10" name="Shape 7"/>
          <p:cNvSpPr/>
          <p:nvPr/>
        </p:nvSpPr>
        <p:spPr>
          <a:xfrm>
            <a:off x="761695" y="2939796"/>
            <a:ext cx="5048402" cy="2486254"/>
          </a:xfrm>
          <a:prstGeom prst="roundRect">
            <a:avLst>
              <a:gd name="adj" fmla="val 1127"/>
            </a:avLst>
          </a:prstGeom>
          <a:solidFill>
            <a:srgbClr val="FFFFFF">
              <a:alpha val="5000"/>
            </a:srgbClr>
          </a:solidFill>
          <a:ln w="12700">
            <a:solidFill>
              <a:srgbClr val="FFFFFF">
                <a:alpha val="1000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Text 8"/>
          <p:cNvSpPr txBox="1"/>
          <p:nvPr/>
        </p:nvSpPr>
        <p:spPr>
          <a:xfrm>
            <a:off x="1009498" y="3186684"/>
            <a:ext cx="2424989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9CA3A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RECOMMENDED FILE NAMING RULE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1009498" y="3453689"/>
            <a:ext cx="4552798" cy="485546"/>
          </a:xfrm>
          <a:prstGeom prst="roundRect">
            <a:avLst>
              <a:gd name="adj" fmla="val 14771"/>
            </a:avLst>
          </a:prstGeom>
          <a:solidFill>
            <a:srgbClr val="0F172A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4"/>
          <a:srcRect t="-2222" b="-2222"/>
          <a:stretch/>
        </p:blipFill>
        <p:spPr>
          <a:xfrm>
            <a:off x="1152144" y="3608222"/>
            <a:ext cx="123444" cy="171907"/>
          </a:xfrm>
          <a:prstGeom prst="rect">
            <a:avLst/>
          </a:prstGeom>
        </p:spPr>
      </p:pic>
      <p:sp>
        <p:nvSpPr>
          <p:cNvPr id="14" name="Text 10"/>
          <p:cNvSpPr txBox="1"/>
          <p:nvPr/>
        </p:nvSpPr>
        <p:spPr>
          <a:xfrm>
            <a:off x="1276502" y="3596335"/>
            <a:ext cx="3145536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00BB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YYYY-학기_과목명_문서성격_v03.hwpx</a:t>
            </a:r>
            <a:endParaRPr lang="en-US" sz="1300" dirty="0"/>
          </a:p>
        </p:txBody>
      </p:sp>
      <p:sp>
        <p:nvSpPr>
          <p:cNvPr id="15" name="Shape 11"/>
          <p:cNvSpPr/>
          <p:nvPr/>
        </p:nvSpPr>
        <p:spPr>
          <a:xfrm>
            <a:off x="1009498" y="4371746"/>
            <a:ext cx="4552798" cy="9144"/>
          </a:xfrm>
          <a:prstGeom prst="rect">
            <a:avLst/>
          </a:prstGeom>
          <a:solidFill>
            <a:srgbClr val="FFFFFF">
              <a:alpha val="10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6" name="Text 12"/>
          <p:cNvSpPr txBox="1"/>
          <p:nvPr/>
        </p:nvSpPr>
        <p:spPr>
          <a:xfrm>
            <a:off x="1009498" y="4076395"/>
            <a:ext cx="36576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60A5F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v01</a:t>
            </a:r>
            <a:endParaRPr lang="en-US" sz="1100" dirty="0"/>
          </a:p>
        </p:txBody>
      </p:sp>
      <p:sp>
        <p:nvSpPr>
          <p:cNvPr id="17" name="Text 13"/>
          <p:cNvSpPr txBox="1"/>
          <p:nvPr/>
        </p:nvSpPr>
        <p:spPr>
          <a:xfrm>
            <a:off x="1580998" y="4067251"/>
            <a:ext cx="232806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CBD5E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초안 작성 완료 (서론-본론 구조 잡기)</a:t>
            </a:r>
            <a:endParaRPr lang="en-US" sz="1100" dirty="0"/>
          </a:p>
        </p:txBody>
      </p:sp>
      <p:sp>
        <p:nvSpPr>
          <p:cNvPr id="18" name="Shape 14"/>
          <p:cNvSpPr/>
          <p:nvPr/>
        </p:nvSpPr>
        <p:spPr>
          <a:xfrm>
            <a:off x="1009498" y="4770425"/>
            <a:ext cx="4552798" cy="9144"/>
          </a:xfrm>
          <a:prstGeom prst="rect">
            <a:avLst/>
          </a:prstGeom>
          <a:solidFill>
            <a:srgbClr val="FFFFFF">
              <a:alpha val="10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9" name="Text 15"/>
          <p:cNvSpPr txBox="1"/>
          <p:nvPr/>
        </p:nvSpPr>
        <p:spPr>
          <a:xfrm>
            <a:off x="1009498" y="4475074"/>
            <a:ext cx="36576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60A5F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v02</a:t>
            </a:r>
            <a:endParaRPr lang="en-US" sz="1100" dirty="0"/>
          </a:p>
        </p:txBody>
      </p:sp>
      <p:sp>
        <p:nvSpPr>
          <p:cNvPr id="20" name="Text 16"/>
          <p:cNvSpPr txBox="1"/>
          <p:nvPr/>
        </p:nvSpPr>
        <p:spPr>
          <a:xfrm>
            <a:off x="1580998" y="4465015"/>
            <a:ext cx="244236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CBD5E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1차 퇴고 (문장 다듬기, 인용 출처 보강)</a:t>
            </a:r>
            <a:endParaRPr lang="en-US" sz="1100" dirty="0"/>
          </a:p>
        </p:txBody>
      </p:sp>
      <p:sp>
        <p:nvSpPr>
          <p:cNvPr id="21" name="Shape 17"/>
          <p:cNvSpPr/>
          <p:nvPr/>
        </p:nvSpPr>
        <p:spPr>
          <a:xfrm>
            <a:off x="1009498" y="5168189"/>
            <a:ext cx="4552798" cy="9144"/>
          </a:xfrm>
          <a:prstGeom prst="rect">
            <a:avLst/>
          </a:prstGeom>
          <a:solidFill>
            <a:srgbClr val="FFFFFF">
              <a:alpha val="10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2" name="Text 18"/>
          <p:cNvSpPr txBox="1"/>
          <p:nvPr/>
        </p:nvSpPr>
        <p:spPr>
          <a:xfrm>
            <a:off x="1009498" y="4872838"/>
            <a:ext cx="36576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60A5F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v03</a:t>
            </a:r>
            <a:endParaRPr lang="en-US" sz="1100" dirty="0"/>
          </a:p>
        </p:txBody>
      </p:sp>
      <p:sp>
        <p:nvSpPr>
          <p:cNvPr id="23" name="Text 19"/>
          <p:cNvSpPr txBox="1"/>
          <p:nvPr/>
        </p:nvSpPr>
        <p:spPr>
          <a:xfrm>
            <a:off x="1580998" y="4863694"/>
            <a:ext cx="2452421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CBD5E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최종 완성 (오탈자 점검, 참고문헌 정리)</a:t>
            </a:r>
            <a:endParaRPr lang="en-US" sz="1100" dirty="0"/>
          </a:p>
        </p:txBody>
      </p:sp>
      <p:sp>
        <p:nvSpPr>
          <p:cNvPr id="24" name="Shape 20"/>
          <p:cNvSpPr/>
          <p:nvPr/>
        </p:nvSpPr>
        <p:spPr>
          <a:xfrm>
            <a:off x="761695" y="5737860"/>
            <a:ext cx="5048402" cy="761695"/>
          </a:xfrm>
          <a:prstGeom prst="roundRect">
            <a:avLst>
              <a:gd name="adj" fmla="val 6002"/>
            </a:avLst>
          </a:prstGeom>
          <a:solidFill>
            <a:srgbClr val="FFFFFF">
              <a:alpha val="10000"/>
            </a:srgbClr>
          </a:solidFill>
          <a:ln w="12700">
            <a:solidFill>
              <a:srgbClr val="37415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5" name="Text 21"/>
          <p:cNvSpPr txBox="1"/>
          <p:nvPr/>
        </p:nvSpPr>
        <p:spPr>
          <a:xfrm>
            <a:off x="923544" y="5908853"/>
            <a:ext cx="4796028" cy="4096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BFDBF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파일명에 날짜, 과목, 버전을 명시하면 수정 이력을 추적하기 쉽고, 실수로 구버전을 제출하는 사고를 예방할 수 있습니다.</a:t>
            </a:r>
            <a:endParaRPr lang="en-US" sz="1000" dirty="0"/>
          </a:p>
        </p:txBody>
      </p:sp>
      <p:sp>
        <p:nvSpPr>
          <p:cNvPr id="26" name="Shape 22"/>
          <p:cNvSpPr/>
          <p:nvPr/>
        </p:nvSpPr>
        <p:spPr>
          <a:xfrm>
            <a:off x="6381598" y="1958645"/>
            <a:ext cx="5048402" cy="3495751"/>
          </a:xfrm>
          <a:prstGeom prst="rect">
            <a:avLst/>
          </a:prstGeom>
          <a:solidFill>
            <a:srgbClr val="00204A">
              <a:alpha val="60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7" name="Shape 23"/>
          <p:cNvSpPr/>
          <p:nvPr/>
        </p:nvSpPr>
        <p:spPr>
          <a:xfrm>
            <a:off x="6381598" y="1958645"/>
            <a:ext cx="38405" cy="3495751"/>
          </a:xfrm>
          <a:prstGeom prst="rect">
            <a:avLst/>
          </a:prstGeom>
          <a:solidFill>
            <a:srgbClr val="00BBF0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0" name="Shape 25"/>
          <p:cNvSpPr/>
          <p:nvPr/>
        </p:nvSpPr>
        <p:spPr>
          <a:xfrm>
            <a:off x="6381598" y="5782666"/>
            <a:ext cx="5048402" cy="714146"/>
          </a:xfrm>
          <a:prstGeom prst="roundRect">
            <a:avLst>
              <a:gd name="adj" fmla="val 10243"/>
            </a:avLst>
          </a:prstGeom>
          <a:solidFill>
            <a:srgbClr val="3B82F6">
              <a:alpha val="15000"/>
            </a:srgbClr>
          </a:solidFill>
          <a:ln w="12700">
            <a:solidFill>
              <a:srgbClr val="3B82F6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31" name="Image 3" descr="preencoded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6534302" y="6043270"/>
            <a:ext cx="237744" cy="190195"/>
          </a:xfrm>
          <a:prstGeom prst="rect">
            <a:avLst/>
          </a:prstGeom>
        </p:spPr>
      </p:pic>
      <p:sp>
        <p:nvSpPr>
          <p:cNvPr id="32" name="Text 26"/>
          <p:cNvSpPr txBox="1"/>
          <p:nvPr/>
        </p:nvSpPr>
        <p:spPr>
          <a:xfrm>
            <a:off x="6924751" y="5935370"/>
            <a:ext cx="209946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백업 2중 원칙 (2-Way Backup)</a:t>
            </a:r>
            <a:endParaRPr lang="en-US" sz="1100" dirty="0"/>
          </a:p>
        </p:txBody>
      </p:sp>
      <p:sp>
        <p:nvSpPr>
          <p:cNvPr id="33" name="Text 27"/>
          <p:cNvSpPr txBox="1"/>
          <p:nvPr/>
        </p:nvSpPr>
        <p:spPr>
          <a:xfrm>
            <a:off x="6924751" y="6180430"/>
            <a:ext cx="4124858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BFDBF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파일 유실 대비: 클라우드(Google Drive/OneDrive) + 로컬(USB/PC) 동시 저장 필수</a:t>
            </a:r>
            <a:endParaRPr lang="en-US" sz="900" dirty="0"/>
          </a:p>
        </p:txBody>
      </p:sp>
      <p:grpSp>
        <p:nvGrpSpPr>
          <p:cNvPr id="51" name="그룹 50">
            <a:extLst>
              <a:ext uri="{FF2B5EF4-FFF2-40B4-BE49-F238E27FC236}">
                <a16:creationId xmlns:a16="http://schemas.microsoft.com/office/drawing/2014/main" id="{565B0AF9-C93F-2189-B70F-B69D5F0414C2}"/>
              </a:ext>
            </a:extLst>
          </p:cNvPr>
          <p:cNvGrpSpPr/>
          <p:nvPr/>
        </p:nvGrpSpPr>
        <p:grpSpPr>
          <a:xfrm>
            <a:off x="7113574" y="1827184"/>
            <a:ext cx="3201315" cy="3598082"/>
            <a:chOff x="6657746" y="2196389"/>
            <a:chExt cx="2478939" cy="2786176"/>
          </a:xfrm>
        </p:grpSpPr>
        <p:pic>
          <p:nvPicPr>
            <p:cNvPr id="28" name="Image 2" descr="preencoded.png"/>
            <p:cNvPicPr>
              <a:picLocks noChangeAspect="1"/>
            </p:cNvPicPr>
            <p:nvPr/>
          </p:nvPicPr>
          <p:blipFill>
            <a:blip r:embed="rId6"/>
            <a:srcRect/>
            <a:stretch/>
          </p:blipFill>
          <p:spPr>
            <a:xfrm>
              <a:off x="6657746" y="2243023"/>
              <a:ext cx="181051" cy="181051"/>
            </a:xfrm>
            <a:prstGeom prst="rect">
              <a:avLst/>
            </a:prstGeom>
          </p:spPr>
        </p:pic>
        <p:sp>
          <p:nvSpPr>
            <p:cNvPr id="29" name="Text 24"/>
            <p:cNvSpPr txBox="1"/>
            <p:nvPr/>
          </p:nvSpPr>
          <p:spPr>
            <a:xfrm>
              <a:off x="6953098" y="2196389"/>
              <a:ext cx="1613916" cy="277063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b="1" dirty="0">
                  <a:solidFill>
                    <a:srgbClr val="FFFFFF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제출 D-7 역산 플랜</a:t>
              </a:r>
              <a:endParaRPr lang="en-US" dirty="0"/>
            </a:p>
          </p:txBody>
        </p:sp>
        <p:sp>
          <p:nvSpPr>
            <p:cNvPr id="35" name="Shape 29"/>
            <p:cNvSpPr/>
            <p:nvPr/>
          </p:nvSpPr>
          <p:spPr>
            <a:xfrm>
              <a:off x="6657746" y="2756002"/>
              <a:ext cx="286207" cy="286207"/>
            </a:xfrm>
            <a:prstGeom prst="ellipse">
              <a:avLst/>
            </a:prstGeom>
            <a:solidFill>
              <a:srgbClr val="00204A"/>
            </a:solidFill>
            <a:ln w="25400">
              <a:solidFill>
                <a:srgbClr val="00BBF0"/>
              </a:solidFill>
              <a:prstDash val="solid"/>
            </a:ln>
          </p:spPr>
          <p:txBody>
            <a:bodyPr/>
            <a:lstStyle/>
            <a:p>
              <a:endParaRPr lang="ko-KR" altLang="en-US" sz="2400"/>
            </a:p>
          </p:txBody>
        </p:sp>
        <p:sp>
          <p:nvSpPr>
            <p:cNvPr id="36" name="Text 30"/>
            <p:cNvSpPr txBox="1"/>
            <p:nvPr/>
          </p:nvSpPr>
          <p:spPr>
            <a:xfrm>
              <a:off x="6711696" y="2819095"/>
              <a:ext cx="261518" cy="162763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000" b="1" dirty="0">
                  <a:solidFill>
                    <a:srgbClr val="00BBF0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D-7</a:t>
              </a:r>
              <a:endParaRPr lang="en-US" sz="1000" dirty="0"/>
            </a:p>
          </p:txBody>
        </p:sp>
        <p:sp>
          <p:nvSpPr>
            <p:cNvPr id="37" name="Text 31"/>
            <p:cNvSpPr txBox="1"/>
            <p:nvPr/>
          </p:nvSpPr>
          <p:spPr>
            <a:xfrm>
              <a:off x="7086600" y="2660904"/>
              <a:ext cx="627278" cy="20025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100" dirty="0">
                  <a:solidFill>
                    <a:srgbClr val="CBD5E1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Drafting</a:t>
              </a:r>
              <a:endParaRPr lang="en-US" sz="1100" dirty="0"/>
            </a:p>
          </p:txBody>
        </p:sp>
        <p:sp>
          <p:nvSpPr>
            <p:cNvPr id="38" name="Text 32"/>
            <p:cNvSpPr txBox="1"/>
            <p:nvPr/>
          </p:nvSpPr>
          <p:spPr>
            <a:xfrm>
              <a:off x="7086600" y="2885846"/>
              <a:ext cx="1145743" cy="23865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600" b="1" dirty="0">
                  <a:solidFill>
                    <a:srgbClr val="FFFFFF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초안 작성 완료</a:t>
              </a:r>
              <a:endParaRPr lang="en-US" sz="1600" dirty="0"/>
            </a:p>
          </p:txBody>
        </p:sp>
        <p:sp>
          <p:nvSpPr>
            <p:cNvPr id="39" name="Shape 33"/>
            <p:cNvSpPr/>
            <p:nvPr/>
          </p:nvSpPr>
          <p:spPr>
            <a:xfrm>
              <a:off x="6657746" y="3375965"/>
              <a:ext cx="286207" cy="286207"/>
            </a:xfrm>
            <a:prstGeom prst="ellipse">
              <a:avLst/>
            </a:prstGeom>
            <a:solidFill>
              <a:srgbClr val="00204A"/>
            </a:solidFill>
            <a:ln w="25400">
              <a:solidFill>
                <a:srgbClr val="00BBF0"/>
              </a:solidFill>
              <a:prstDash val="solid"/>
            </a:ln>
          </p:spPr>
          <p:txBody>
            <a:bodyPr/>
            <a:lstStyle/>
            <a:p>
              <a:endParaRPr lang="ko-KR" altLang="en-US" sz="2400"/>
            </a:p>
          </p:txBody>
        </p:sp>
        <p:sp>
          <p:nvSpPr>
            <p:cNvPr id="40" name="Text 34"/>
            <p:cNvSpPr txBox="1"/>
            <p:nvPr/>
          </p:nvSpPr>
          <p:spPr>
            <a:xfrm>
              <a:off x="6711696" y="3438144"/>
              <a:ext cx="261518" cy="162763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000" b="1" dirty="0">
                  <a:solidFill>
                    <a:srgbClr val="00BBF0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D-5</a:t>
              </a:r>
              <a:endParaRPr lang="en-US" sz="1000" dirty="0"/>
            </a:p>
          </p:txBody>
        </p:sp>
        <p:sp>
          <p:nvSpPr>
            <p:cNvPr id="41" name="Text 35"/>
            <p:cNvSpPr txBox="1"/>
            <p:nvPr/>
          </p:nvSpPr>
          <p:spPr>
            <a:xfrm>
              <a:off x="7086600" y="3280867"/>
              <a:ext cx="646481" cy="20025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100" dirty="0">
                  <a:solidFill>
                    <a:srgbClr val="CBD5E1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Revision</a:t>
              </a:r>
              <a:endParaRPr lang="en-US" sz="1100" dirty="0"/>
            </a:p>
          </p:txBody>
        </p:sp>
        <p:sp>
          <p:nvSpPr>
            <p:cNvPr id="42" name="Text 36"/>
            <p:cNvSpPr txBox="1"/>
            <p:nvPr/>
          </p:nvSpPr>
          <p:spPr>
            <a:xfrm>
              <a:off x="7086600" y="3504895"/>
              <a:ext cx="1621231" cy="23865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600" b="1" dirty="0">
                  <a:solidFill>
                    <a:srgbClr val="FFFFFF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1차 퇴고 &amp; 논리 점검</a:t>
              </a:r>
              <a:endParaRPr lang="en-US" sz="1600" dirty="0"/>
            </a:p>
          </p:txBody>
        </p:sp>
        <p:sp>
          <p:nvSpPr>
            <p:cNvPr id="43" name="Shape 37"/>
            <p:cNvSpPr/>
            <p:nvPr/>
          </p:nvSpPr>
          <p:spPr>
            <a:xfrm>
              <a:off x="6657746" y="3995014"/>
              <a:ext cx="286207" cy="286207"/>
            </a:xfrm>
            <a:prstGeom prst="ellipse">
              <a:avLst/>
            </a:prstGeom>
            <a:solidFill>
              <a:srgbClr val="00204A"/>
            </a:solidFill>
            <a:ln w="25400">
              <a:solidFill>
                <a:srgbClr val="00BBF0"/>
              </a:solidFill>
              <a:prstDash val="solid"/>
            </a:ln>
          </p:spPr>
          <p:txBody>
            <a:bodyPr/>
            <a:lstStyle/>
            <a:p>
              <a:endParaRPr lang="ko-KR" altLang="en-US" sz="2400"/>
            </a:p>
          </p:txBody>
        </p:sp>
        <p:sp>
          <p:nvSpPr>
            <p:cNvPr id="44" name="Text 38"/>
            <p:cNvSpPr txBox="1"/>
            <p:nvPr/>
          </p:nvSpPr>
          <p:spPr>
            <a:xfrm>
              <a:off x="6711696" y="4058107"/>
              <a:ext cx="261518" cy="162763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000" b="1" dirty="0">
                  <a:solidFill>
                    <a:srgbClr val="00BBF0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D-3</a:t>
              </a:r>
              <a:endParaRPr lang="en-US" sz="1000" dirty="0"/>
            </a:p>
          </p:txBody>
        </p:sp>
        <p:sp>
          <p:nvSpPr>
            <p:cNvPr id="45" name="Text 39"/>
            <p:cNvSpPr txBox="1"/>
            <p:nvPr/>
          </p:nvSpPr>
          <p:spPr>
            <a:xfrm>
              <a:off x="7086600" y="3899916"/>
              <a:ext cx="1046074" cy="20025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100" dirty="0">
                  <a:solidFill>
                    <a:srgbClr val="CBD5E1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Citation Check</a:t>
              </a:r>
              <a:endParaRPr lang="en-US" sz="1100" dirty="0"/>
            </a:p>
          </p:txBody>
        </p:sp>
        <p:sp>
          <p:nvSpPr>
            <p:cNvPr id="46" name="Text 40"/>
            <p:cNvSpPr txBox="1"/>
            <p:nvPr/>
          </p:nvSpPr>
          <p:spPr>
            <a:xfrm>
              <a:off x="7086600" y="4124858"/>
              <a:ext cx="1707185" cy="23865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600" b="1" dirty="0">
                  <a:solidFill>
                    <a:srgbClr val="FFFFFF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인용 및 형식 정밀 점검</a:t>
              </a:r>
              <a:endParaRPr lang="en-US" sz="1600" dirty="0"/>
            </a:p>
          </p:txBody>
        </p:sp>
        <p:sp>
          <p:nvSpPr>
            <p:cNvPr id="47" name="Shape 41"/>
            <p:cNvSpPr/>
            <p:nvPr/>
          </p:nvSpPr>
          <p:spPr>
            <a:xfrm>
              <a:off x="6657746" y="4614062"/>
              <a:ext cx="286207" cy="286207"/>
            </a:xfrm>
            <a:prstGeom prst="ellipse">
              <a:avLst/>
            </a:prstGeom>
            <a:solidFill>
              <a:srgbClr val="00204A"/>
            </a:solidFill>
            <a:ln w="25400">
              <a:solidFill>
                <a:srgbClr val="00BBF0"/>
              </a:solidFill>
              <a:prstDash val="solid"/>
            </a:ln>
          </p:spPr>
          <p:txBody>
            <a:bodyPr/>
            <a:lstStyle/>
            <a:p>
              <a:endParaRPr lang="ko-KR" altLang="en-US" sz="2400"/>
            </a:p>
          </p:txBody>
        </p:sp>
        <p:sp>
          <p:nvSpPr>
            <p:cNvPr id="48" name="Text 42"/>
            <p:cNvSpPr txBox="1"/>
            <p:nvPr/>
          </p:nvSpPr>
          <p:spPr>
            <a:xfrm>
              <a:off x="6711696" y="4677156"/>
              <a:ext cx="261518" cy="162763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000" b="1" dirty="0">
                  <a:solidFill>
                    <a:srgbClr val="00BBF0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D-1</a:t>
              </a:r>
              <a:endParaRPr lang="en-US" sz="1000" dirty="0"/>
            </a:p>
          </p:txBody>
        </p:sp>
        <p:sp>
          <p:nvSpPr>
            <p:cNvPr id="49" name="Text 43"/>
            <p:cNvSpPr txBox="1"/>
            <p:nvPr/>
          </p:nvSpPr>
          <p:spPr>
            <a:xfrm>
              <a:off x="7086600" y="4518965"/>
              <a:ext cx="912571" cy="20025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100" dirty="0">
                  <a:solidFill>
                    <a:srgbClr val="CBD5E1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Final Review</a:t>
              </a:r>
              <a:endParaRPr lang="en-US" sz="1100" dirty="0"/>
            </a:p>
          </p:txBody>
        </p:sp>
        <p:sp>
          <p:nvSpPr>
            <p:cNvPr id="50" name="Text 44"/>
            <p:cNvSpPr txBox="1"/>
            <p:nvPr/>
          </p:nvSpPr>
          <p:spPr>
            <a:xfrm>
              <a:off x="7086600" y="4743907"/>
              <a:ext cx="2050085" cy="23865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600" b="1" dirty="0">
                  <a:solidFill>
                    <a:srgbClr val="FFFFFF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최종 검토 &amp; PDF 변환 저장</a:t>
              </a:r>
              <a:endParaRPr lang="en-US" sz="1600" dirty="0"/>
            </a:p>
          </p:txBody>
        </p:sp>
      </p:grpSp>
      <p:sp>
        <p:nvSpPr>
          <p:cNvPr id="52" name="deckgen:wrap:footer"/>
          <p:cNvSpPr txBox="1"/>
          <p:nvPr/>
        </p:nvSpPr>
        <p:spPr>
          <a:xfrm>
            <a:off x="365760" y="6549390"/>
            <a:ext cx="11460480" cy="240030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0">
                <a:solidFill>
                  <a:srgbClr val="8A8F99"/>
                </a:solidFill>
                <a:latin typeface="Pretendard"/>
              </a:rPr>
              <a:t>© 2026 이애본 · 홍문원(洪文院) 발행 · CC BY-NC-ND 4.0 · useful-ai.dreamitbiz.com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0F0F0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204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" name="Shape 2"/>
          <p:cNvSpPr/>
          <p:nvPr/>
        </p:nvSpPr>
        <p:spPr>
          <a:xfrm>
            <a:off x="609295" y="323632"/>
            <a:ext cx="571500" cy="57607"/>
          </a:xfrm>
          <a:prstGeom prst="rect">
            <a:avLst/>
          </a:prstGeom>
          <a:solidFill>
            <a:srgbClr val="00BBF0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 txBox="1"/>
          <p:nvPr/>
        </p:nvSpPr>
        <p:spPr>
          <a:xfrm>
            <a:off x="609295" y="504684"/>
            <a:ext cx="6430061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표절 오해 방지: 인용 원칙과 예시</a:t>
            </a:r>
            <a:endParaRPr lang="en-US" sz="3600" dirty="0"/>
          </a:p>
        </p:txBody>
      </p:sp>
      <p:sp>
        <p:nvSpPr>
          <p:cNvPr id="6" name="Text 4"/>
          <p:cNvSpPr txBox="1"/>
          <p:nvPr/>
        </p:nvSpPr>
        <p:spPr>
          <a:xfrm>
            <a:off x="609295" y="1234375"/>
            <a:ext cx="5925312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dirty="0">
                <a:solidFill>
                  <a:srgbClr val="CBD5E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정직한 인용은 학술적 글쓰기의 기본이며, '내 주장'을 더욱 빛나게 합니다.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817322" y="2460650"/>
            <a:ext cx="4038905" cy="9144"/>
          </a:xfrm>
          <a:prstGeom prst="rect">
            <a:avLst/>
          </a:prstGeom>
          <a:solidFill>
            <a:srgbClr val="FFFFFF">
              <a:alpha val="20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817322" y="2003450"/>
            <a:ext cx="228600" cy="228600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1189483" y="1926641"/>
            <a:ext cx="1981505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표절 예방 5원칙</a:t>
            </a:r>
            <a:endParaRPr lang="en-US" sz="2100" dirty="0"/>
          </a:p>
        </p:txBody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rcRect t="-2725" b="-2725"/>
          <a:stretch/>
        </p:blipFill>
        <p:spPr>
          <a:xfrm>
            <a:off x="817322" y="2812694"/>
            <a:ext cx="142646" cy="171907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1103529" y="2756002"/>
            <a:ext cx="2918765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재서술(Paraphrasing)도 출처 표기</a:t>
            </a:r>
            <a:endParaRPr lang="en-US" sz="1400" dirty="0"/>
          </a:p>
        </p:txBody>
      </p:sp>
      <p:sp>
        <p:nvSpPr>
          <p:cNvPr id="12" name="Text 8"/>
          <p:cNvSpPr txBox="1"/>
          <p:nvPr/>
        </p:nvSpPr>
        <p:spPr>
          <a:xfrm>
            <a:off x="1103529" y="3067812"/>
            <a:ext cx="38679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CBD5E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타인의 생각을 내 말로 바꿔 써도 원천 아이디어의 출처는 필수입니다.</a:t>
            </a:r>
            <a:endParaRPr lang="en-US" sz="1200" dirty="0"/>
          </a:p>
        </p:txBody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4"/>
          <a:srcRect t="-2725" b="-2725"/>
          <a:stretch/>
        </p:blipFill>
        <p:spPr>
          <a:xfrm>
            <a:off x="817322" y="3772814"/>
            <a:ext cx="142646" cy="171907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1103529" y="3715207"/>
            <a:ext cx="1756562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직접 인용은 명확하게</a:t>
            </a:r>
            <a:endParaRPr lang="en-US" sz="1400" dirty="0"/>
          </a:p>
        </p:txBody>
      </p:sp>
      <p:sp>
        <p:nvSpPr>
          <p:cNvPr id="15" name="Text 10"/>
          <p:cNvSpPr txBox="1"/>
          <p:nvPr/>
        </p:nvSpPr>
        <p:spPr>
          <a:xfrm>
            <a:off x="1103529" y="4027932"/>
            <a:ext cx="37536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CBD5E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원문을 그대로 가져올 땐 큰따옴표("")와 페이지 번호를 반드시 명시합니다.</a:t>
            </a:r>
            <a:endParaRPr lang="en-US" sz="1200" dirty="0"/>
          </a:p>
        </p:txBody>
      </p:sp>
      <p:pic>
        <p:nvPicPr>
          <p:cNvPr id="16" name="Image 3" descr="preencoded.png"/>
          <p:cNvPicPr>
            <a:picLocks noChangeAspect="1"/>
          </p:cNvPicPr>
          <p:nvPr/>
        </p:nvPicPr>
        <p:blipFill>
          <a:blip r:embed="rId4"/>
          <a:srcRect t="-2725" b="-2725"/>
          <a:stretch/>
        </p:blipFill>
        <p:spPr>
          <a:xfrm>
            <a:off x="817322" y="4732934"/>
            <a:ext cx="142646" cy="171907"/>
          </a:xfrm>
          <a:prstGeom prst="rect">
            <a:avLst/>
          </a:prstGeom>
        </p:spPr>
      </p:pic>
      <p:sp>
        <p:nvSpPr>
          <p:cNvPr id="17" name="Text 11"/>
          <p:cNvSpPr txBox="1"/>
          <p:nvPr/>
        </p:nvSpPr>
        <p:spPr>
          <a:xfrm>
            <a:off x="1103529" y="4675327"/>
            <a:ext cx="2213762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데이터·그림·도표 출처 명시</a:t>
            </a:r>
            <a:endParaRPr lang="en-US" sz="1400" dirty="0"/>
          </a:p>
        </p:txBody>
      </p:sp>
      <p:sp>
        <p:nvSpPr>
          <p:cNvPr id="18" name="Text 12"/>
          <p:cNvSpPr txBox="1"/>
          <p:nvPr/>
        </p:nvSpPr>
        <p:spPr>
          <a:xfrm>
            <a:off x="1103529" y="4988052"/>
            <a:ext cx="373441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CBD5E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통계 수치나 시각 자료 하단에 '자료: 출처(연도)'를 기재합니다.</a:t>
            </a:r>
            <a:endParaRPr lang="en-US" sz="1200" dirty="0"/>
          </a:p>
        </p:txBody>
      </p:sp>
      <p:pic>
        <p:nvPicPr>
          <p:cNvPr id="19" name="Image 4" descr="preencoded.png"/>
          <p:cNvPicPr>
            <a:picLocks noChangeAspect="1"/>
          </p:cNvPicPr>
          <p:nvPr/>
        </p:nvPicPr>
        <p:blipFill>
          <a:blip r:embed="rId4"/>
          <a:srcRect t="-2725" b="-2725"/>
          <a:stretch/>
        </p:blipFill>
        <p:spPr>
          <a:xfrm>
            <a:off x="817322" y="5693054"/>
            <a:ext cx="142646" cy="171907"/>
          </a:xfrm>
          <a:prstGeom prst="rect">
            <a:avLst/>
          </a:prstGeom>
        </p:spPr>
      </p:pic>
      <p:sp>
        <p:nvSpPr>
          <p:cNvPr id="20" name="Text 13"/>
          <p:cNvSpPr txBox="1"/>
          <p:nvPr/>
        </p:nvSpPr>
        <p:spPr>
          <a:xfrm>
            <a:off x="1103529" y="5635447"/>
            <a:ext cx="1918411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AI 활용 시 검증 및 표기</a:t>
            </a:r>
            <a:endParaRPr lang="en-US" sz="1400" dirty="0"/>
          </a:p>
        </p:txBody>
      </p:sp>
      <p:sp>
        <p:nvSpPr>
          <p:cNvPr id="21" name="Text 14"/>
          <p:cNvSpPr txBox="1"/>
          <p:nvPr/>
        </p:nvSpPr>
        <p:spPr>
          <a:xfrm>
            <a:off x="1103529" y="5948172"/>
            <a:ext cx="381030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CBD5E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생성형 AI가 만든 문장을 그대로 쓰지 말고, 사실 확인 후 참고용으로만 활용하세요.</a:t>
            </a:r>
            <a:endParaRPr lang="en-US" sz="1200" dirty="0"/>
          </a:p>
        </p:txBody>
      </p:sp>
      <p:sp>
        <p:nvSpPr>
          <p:cNvPr id="22" name="Shape 15"/>
          <p:cNvSpPr/>
          <p:nvPr/>
        </p:nvSpPr>
        <p:spPr>
          <a:xfrm>
            <a:off x="5475884" y="1387145"/>
            <a:ext cx="6057900" cy="3504895"/>
          </a:xfrm>
          <a:prstGeom prst="roundRect">
            <a:avLst>
              <a:gd name="adj" fmla="val 284"/>
            </a:avLst>
          </a:prstGeom>
          <a:solidFill>
            <a:srgbClr val="FFFFFF">
              <a:alpha val="5000"/>
            </a:srgbClr>
          </a:solidFill>
          <a:ln w="12700">
            <a:solidFill>
              <a:srgbClr val="FFFFFF">
                <a:alpha val="1000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23" name="Image 5" descr="preencoded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5723686" y="1674266"/>
            <a:ext cx="171907" cy="171907"/>
          </a:xfrm>
          <a:prstGeom prst="rect">
            <a:avLst/>
          </a:prstGeom>
        </p:spPr>
      </p:pic>
      <p:sp>
        <p:nvSpPr>
          <p:cNvPr id="24" name="Text 16"/>
          <p:cNvSpPr txBox="1"/>
          <p:nvPr/>
        </p:nvSpPr>
        <p:spPr>
          <a:xfrm>
            <a:off x="5971489" y="1634033"/>
            <a:ext cx="1221638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60A5F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인용 실전 비교</a:t>
            </a:r>
            <a:endParaRPr lang="en-US" sz="1300" dirty="0"/>
          </a:p>
        </p:txBody>
      </p:sp>
      <p:sp>
        <p:nvSpPr>
          <p:cNvPr id="25" name="Shape 17"/>
          <p:cNvSpPr/>
          <p:nvPr/>
        </p:nvSpPr>
        <p:spPr>
          <a:xfrm>
            <a:off x="5723686" y="2124151"/>
            <a:ext cx="5562295" cy="1190549"/>
          </a:xfrm>
          <a:prstGeom prst="roundRect">
            <a:avLst>
              <a:gd name="adj" fmla="val 2458"/>
            </a:avLst>
          </a:prstGeom>
          <a:solidFill>
            <a:srgbClr val="EF4444">
              <a:alpha val="10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6" name="Shape 18"/>
          <p:cNvSpPr/>
          <p:nvPr/>
        </p:nvSpPr>
        <p:spPr>
          <a:xfrm>
            <a:off x="5723686" y="2124151"/>
            <a:ext cx="38405" cy="1190549"/>
          </a:xfrm>
          <a:prstGeom prst="rect">
            <a:avLst/>
          </a:prstGeom>
          <a:solidFill>
            <a:srgbClr val="EF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7" name="Text 19"/>
          <p:cNvSpPr txBox="1"/>
          <p:nvPr/>
        </p:nvSpPr>
        <p:spPr>
          <a:xfrm>
            <a:off x="10285628" y="2164819"/>
            <a:ext cx="949147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FCA5A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BAD (표절 위험)</a:t>
            </a:r>
            <a:endParaRPr lang="en-US" sz="900" dirty="0"/>
          </a:p>
        </p:txBody>
      </p:sp>
      <p:sp>
        <p:nvSpPr>
          <p:cNvPr id="28" name="Text 20"/>
          <p:cNvSpPr txBox="1"/>
          <p:nvPr/>
        </p:nvSpPr>
        <p:spPr>
          <a:xfrm>
            <a:off x="5952286" y="2324405"/>
            <a:ext cx="5136185" cy="5148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E2E8F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청년실업은 단순한 일자리 부족이 아니라 노동 시장의 구조적 불일치에서 기인한다.</a:t>
            </a:r>
            <a:endParaRPr lang="en-US" sz="1300" dirty="0"/>
          </a:p>
        </p:txBody>
      </p:sp>
      <p:sp>
        <p:nvSpPr>
          <p:cNvPr id="29" name="Text 21"/>
          <p:cNvSpPr txBox="1"/>
          <p:nvPr/>
        </p:nvSpPr>
        <p:spPr>
          <a:xfrm>
            <a:off x="5952286" y="2926994"/>
            <a:ext cx="3290926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9CA3A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* 타인의 견해를 마치 내 생각인 것처럼 서술함 (출처 누락)</a:t>
            </a:r>
            <a:endParaRPr lang="en-US" sz="1000" dirty="0"/>
          </a:p>
        </p:txBody>
      </p:sp>
      <p:sp>
        <p:nvSpPr>
          <p:cNvPr id="30" name="Shape 22"/>
          <p:cNvSpPr/>
          <p:nvPr/>
        </p:nvSpPr>
        <p:spPr>
          <a:xfrm>
            <a:off x="5723686" y="3450946"/>
            <a:ext cx="5562295" cy="1190549"/>
          </a:xfrm>
          <a:prstGeom prst="roundRect">
            <a:avLst>
              <a:gd name="adj" fmla="val 2458"/>
            </a:avLst>
          </a:prstGeom>
          <a:solidFill>
            <a:srgbClr val="10B981">
              <a:alpha val="10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1" name="Shape 23"/>
          <p:cNvSpPr/>
          <p:nvPr/>
        </p:nvSpPr>
        <p:spPr>
          <a:xfrm>
            <a:off x="5723686" y="3450946"/>
            <a:ext cx="38405" cy="1190549"/>
          </a:xfrm>
          <a:prstGeom prst="rect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2" name="Text 24"/>
          <p:cNvSpPr txBox="1"/>
          <p:nvPr/>
        </p:nvSpPr>
        <p:spPr>
          <a:xfrm>
            <a:off x="10059771" y="3546043"/>
            <a:ext cx="1177747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6EE7B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GOOD (올바른 인용)</a:t>
            </a:r>
            <a:endParaRPr lang="en-US" sz="900" dirty="0"/>
          </a:p>
        </p:txBody>
      </p:sp>
      <p:sp>
        <p:nvSpPr>
          <p:cNvPr id="33" name="Text 25"/>
          <p:cNvSpPr txBox="1"/>
          <p:nvPr/>
        </p:nvSpPr>
        <p:spPr>
          <a:xfrm>
            <a:off x="5951806" y="3765956"/>
            <a:ext cx="5136185" cy="5148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E2E8F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청년실업은 단순한 일자리 부족이 아니라 노동 시장의 구조적 불일치에서 기인한다(홍길동, 2023).</a:t>
            </a:r>
            <a:endParaRPr lang="en-US" sz="1300" dirty="0"/>
          </a:p>
        </p:txBody>
      </p:sp>
      <p:sp>
        <p:nvSpPr>
          <p:cNvPr id="34" name="Text 26"/>
          <p:cNvSpPr txBox="1"/>
          <p:nvPr/>
        </p:nvSpPr>
        <p:spPr>
          <a:xfrm>
            <a:off x="5951806" y="4368546"/>
            <a:ext cx="3005633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9CA3A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* 아이디어의 원작자를 밝혀 내 주장의 근거로 활용함</a:t>
            </a:r>
            <a:endParaRPr lang="en-US" sz="1000" dirty="0"/>
          </a:p>
        </p:txBody>
      </p:sp>
      <p:sp>
        <p:nvSpPr>
          <p:cNvPr id="35" name="Shape 27"/>
          <p:cNvSpPr/>
          <p:nvPr/>
        </p:nvSpPr>
        <p:spPr>
          <a:xfrm>
            <a:off x="5475884" y="5073091"/>
            <a:ext cx="6057900" cy="1638605"/>
          </a:xfrm>
          <a:prstGeom prst="roundRect">
            <a:avLst>
              <a:gd name="adj" fmla="val 1298"/>
            </a:avLst>
          </a:prstGeom>
          <a:solidFill>
            <a:srgbClr val="FFFFFF">
              <a:alpha val="5000"/>
            </a:srgbClr>
          </a:solidFill>
          <a:ln w="12700">
            <a:solidFill>
              <a:srgbClr val="FFFFFF">
                <a:alpha val="1000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36" name="Image 6" descr="preencoded.png"/>
          <p:cNvPicPr>
            <a:picLocks noChangeAspect="1"/>
          </p:cNvPicPr>
          <p:nvPr/>
        </p:nvPicPr>
        <p:blipFill>
          <a:blip r:embed="rId6"/>
          <a:srcRect l="-760" r="-760"/>
          <a:stretch/>
        </p:blipFill>
        <p:spPr>
          <a:xfrm>
            <a:off x="5723686" y="5361127"/>
            <a:ext cx="152705" cy="171907"/>
          </a:xfrm>
          <a:prstGeom prst="rect">
            <a:avLst/>
          </a:prstGeom>
        </p:spPr>
      </p:pic>
      <p:sp>
        <p:nvSpPr>
          <p:cNvPr id="37" name="Text 28"/>
          <p:cNvSpPr txBox="1"/>
          <p:nvPr/>
        </p:nvSpPr>
        <p:spPr>
          <a:xfrm>
            <a:off x="5952286" y="5320894"/>
            <a:ext cx="1221638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60A5F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직접 인용 예시</a:t>
            </a:r>
            <a:endParaRPr lang="en-US" sz="1300" dirty="0"/>
          </a:p>
        </p:txBody>
      </p:sp>
      <p:sp>
        <p:nvSpPr>
          <p:cNvPr id="38" name="Shape 29"/>
          <p:cNvSpPr/>
          <p:nvPr/>
        </p:nvSpPr>
        <p:spPr>
          <a:xfrm>
            <a:off x="5723686" y="5810098"/>
            <a:ext cx="5562295" cy="657454"/>
          </a:xfrm>
          <a:prstGeom prst="roundRect">
            <a:avLst>
              <a:gd name="adj" fmla="val 8063"/>
            </a:avLst>
          </a:prstGeom>
          <a:solidFill>
            <a:srgbClr val="3B82F6">
              <a:alpha val="10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9" name="Shape 30"/>
          <p:cNvSpPr/>
          <p:nvPr/>
        </p:nvSpPr>
        <p:spPr>
          <a:xfrm>
            <a:off x="5723686" y="5810098"/>
            <a:ext cx="38405" cy="657454"/>
          </a:xfrm>
          <a:prstGeom prst="rect">
            <a:avLst/>
          </a:prstGeom>
          <a:solidFill>
            <a:srgbClr val="3B82F6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0" name="Text 31"/>
          <p:cNvSpPr txBox="1"/>
          <p:nvPr/>
        </p:nvSpPr>
        <p:spPr>
          <a:xfrm>
            <a:off x="10244480" y="5906110"/>
            <a:ext cx="996696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60A5F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DIRECT QUOTE</a:t>
            </a:r>
            <a:endParaRPr lang="en-US" sz="900" dirty="0"/>
          </a:p>
        </p:txBody>
      </p:sp>
      <p:sp>
        <p:nvSpPr>
          <p:cNvPr id="41" name="Text 32"/>
          <p:cNvSpPr txBox="1"/>
          <p:nvPr/>
        </p:nvSpPr>
        <p:spPr>
          <a:xfrm>
            <a:off x="5901275" y="6134253"/>
            <a:ext cx="4898441" cy="2386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E2E8F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홍길동(2023)은 "구조적 불일치 해소가 시급하다"(p.45)고 강조했다.</a:t>
            </a:r>
            <a:endParaRPr lang="en-US" sz="1300" dirty="0"/>
          </a:p>
        </p:txBody>
      </p:sp>
      <p:sp>
        <p:nvSpPr>
          <p:cNvPr id="42" name="deckgen:wrap:footer"/>
          <p:cNvSpPr txBox="1"/>
          <p:nvPr/>
        </p:nvSpPr>
        <p:spPr>
          <a:xfrm>
            <a:off x="365760" y="6549390"/>
            <a:ext cx="11460480" cy="240030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0">
                <a:solidFill>
                  <a:srgbClr val="8A8F99"/>
                </a:solidFill>
                <a:latin typeface="Pretendard"/>
              </a:rPr>
              <a:t>© 2026 이애본 · 홍문원(洪文院) 발행 · CC BY-NC-ND 4.0 · useful-ai.dreamitbiz.com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0F0F0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204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" name="Shape 2"/>
          <p:cNvSpPr/>
          <p:nvPr/>
        </p:nvSpPr>
        <p:spPr>
          <a:xfrm>
            <a:off x="761695" y="571500"/>
            <a:ext cx="571500" cy="57607"/>
          </a:xfrm>
          <a:prstGeom prst="rect">
            <a:avLst/>
          </a:prstGeom>
          <a:solidFill>
            <a:srgbClr val="00BBF0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 txBox="1"/>
          <p:nvPr/>
        </p:nvSpPr>
        <p:spPr>
          <a:xfrm>
            <a:off x="761695" y="790956"/>
            <a:ext cx="4486961" cy="7717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2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인용 양식 3종 비교</a:t>
            </a:r>
            <a:endParaRPr lang="en-US" sz="4200" dirty="0"/>
          </a:p>
        </p:txBody>
      </p:sp>
      <p:sp>
        <p:nvSpPr>
          <p:cNvPr id="6" name="Text 4"/>
          <p:cNvSpPr txBox="1"/>
          <p:nvPr/>
        </p:nvSpPr>
        <p:spPr>
          <a:xfrm>
            <a:off x="761695" y="1649578"/>
            <a:ext cx="6639458" cy="3337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CBD5E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학과별로 선호하는 인용 스타일을 확인하고, 일관성 있게 적용하세요.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761695" y="2278685"/>
            <a:ext cx="3353105" cy="4304995"/>
          </a:xfrm>
          <a:prstGeom prst="rect">
            <a:avLst/>
          </a:prstGeom>
          <a:solidFill>
            <a:srgbClr val="FFFFFF">
              <a:alpha val="5000"/>
            </a:srgbClr>
          </a:solidFill>
          <a:ln w="12700">
            <a:solidFill>
              <a:srgbClr val="FFFFFF">
                <a:alpha val="1000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Shape 6"/>
          <p:cNvSpPr/>
          <p:nvPr/>
        </p:nvSpPr>
        <p:spPr>
          <a:xfrm>
            <a:off x="761695" y="2278685"/>
            <a:ext cx="3333902" cy="38405"/>
          </a:xfrm>
          <a:prstGeom prst="rect">
            <a:avLst/>
          </a:prstGeom>
          <a:solidFill>
            <a:srgbClr val="00BBF0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9" name="Shape 7"/>
          <p:cNvSpPr/>
          <p:nvPr/>
        </p:nvSpPr>
        <p:spPr>
          <a:xfrm>
            <a:off x="1076249" y="2592324"/>
            <a:ext cx="571500" cy="571500"/>
          </a:xfrm>
          <a:prstGeom prst="ellipse">
            <a:avLst/>
          </a:prstGeom>
          <a:solidFill>
            <a:srgbClr val="00BBF0">
              <a:alpha val="10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10" name="Image 0" descr="preencoded.png"/>
          <p:cNvPicPr>
            <a:picLocks noChangeAspect="1"/>
          </p:cNvPicPr>
          <p:nvPr/>
        </p:nvPicPr>
        <p:blipFill>
          <a:blip r:embed="rId3"/>
          <a:srcRect l="-881" r="-881"/>
          <a:stretch/>
        </p:blipFill>
        <p:spPr>
          <a:xfrm>
            <a:off x="1242670" y="2745029"/>
            <a:ext cx="237744" cy="267005"/>
          </a:xfrm>
          <a:prstGeom prst="rect">
            <a:avLst/>
          </a:prstGeom>
        </p:spPr>
      </p:pic>
      <p:sp>
        <p:nvSpPr>
          <p:cNvPr id="11" name="Text 8"/>
          <p:cNvSpPr txBox="1"/>
          <p:nvPr/>
        </p:nvSpPr>
        <p:spPr>
          <a:xfrm>
            <a:off x="1076249" y="3392424"/>
            <a:ext cx="2143354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APA (내주) 사회과학</a:t>
            </a:r>
            <a:endParaRPr lang="en-US" sz="1800" dirty="0"/>
          </a:p>
        </p:txBody>
      </p:sp>
      <p:sp>
        <p:nvSpPr>
          <p:cNvPr id="12" name="Shape 9"/>
          <p:cNvSpPr/>
          <p:nvPr/>
        </p:nvSpPr>
        <p:spPr>
          <a:xfrm>
            <a:off x="1076249" y="3888029"/>
            <a:ext cx="2723998" cy="1152144"/>
          </a:xfrm>
          <a:prstGeom prst="rect">
            <a:avLst/>
          </a:prstGeom>
          <a:solidFill>
            <a:srgbClr val="000000">
              <a:alpha val="20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3" name="Shape 10"/>
          <p:cNvSpPr/>
          <p:nvPr/>
        </p:nvSpPr>
        <p:spPr>
          <a:xfrm>
            <a:off x="1076249" y="3888029"/>
            <a:ext cx="28346" cy="1152144"/>
          </a:xfrm>
          <a:prstGeom prst="rect">
            <a:avLst/>
          </a:prstGeom>
          <a:solidFill>
            <a:srgbClr val="FFFFFF">
              <a:alpha val="20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4" name="Text 11"/>
          <p:cNvSpPr txBox="1"/>
          <p:nvPr/>
        </p:nvSpPr>
        <p:spPr>
          <a:xfrm>
            <a:off x="1218895" y="4002329"/>
            <a:ext cx="967435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94A3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본문 표기 예시</a:t>
            </a:r>
            <a:endParaRPr lang="en-US" sz="1000" dirty="0"/>
          </a:p>
        </p:txBody>
      </p:sp>
      <p:sp>
        <p:nvSpPr>
          <p:cNvPr id="15" name="Text 12"/>
          <p:cNvSpPr txBox="1"/>
          <p:nvPr/>
        </p:nvSpPr>
        <p:spPr>
          <a:xfrm>
            <a:off x="1218895" y="4240987"/>
            <a:ext cx="2572207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E2E8F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최근 연구 결과에 따르면 청년 실업은 구조적 요인에 기인한다 (홍길동, 2024, p. 23).</a:t>
            </a:r>
            <a:endParaRPr lang="en-US" sz="1200" dirty="0"/>
          </a:p>
        </p:txBody>
      </p:sp>
      <p:sp>
        <p:nvSpPr>
          <p:cNvPr id="16" name="Shape 13"/>
          <p:cNvSpPr/>
          <p:nvPr/>
        </p:nvSpPr>
        <p:spPr>
          <a:xfrm>
            <a:off x="1076249" y="5192878"/>
            <a:ext cx="2723998" cy="923544"/>
          </a:xfrm>
          <a:prstGeom prst="rect">
            <a:avLst/>
          </a:prstGeom>
          <a:solidFill>
            <a:srgbClr val="000000">
              <a:alpha val="20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7" name="Shape 14"/>
          <p:cNvSpPr/>
          <p:nvPr/>
        </p:nvSpPr>
        <p:spPr>
          <a:xfrm>
            <a:off x="1076249" y="5192878"/>
            <a:ext cx="28346" cy="923544"/>
          </a:xfrm>
          <a:prstGeom prst="rect">
            <a:avLst/>
          </a:prstGeom>
          <a:solidFill>
            <a:srgbClr val="FFFFFF">
              <a:alpha val="20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8" name="Text 15"/>
          <p:cNvSpPr txBox="1"/>
          <p:nvPr/>
        </p:nvSpPr>
        <p:spPr>
          <a:xfrm>
            <a:off x="1218895" y="5307178"/>
            <a:ext cx="929030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94A3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참고문헌 예시</a:t>
            </a:r>
            <a:endParaRPr lang="en-US" sz="1000" dirty="0"/>
          </a:p>
        </p:txBody>
      </p:sp>
      <p:sp>
        <p:nvSpPr>
          <p:cNvPr id="19" name="Text 16"/>
          <p:cNvSpPr txBox="1"/>
          <p:nvPr/>
        </p:nvSpPr>
        <p:spPr>
          <a:xfrm>
            <a:off x="1218895" y="5545836"/>
            <a:ext cx="2572207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E2E8F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홍길동. (2024). 글쓰기 연구와 실제. 서울: 한국출판사.</a:t>
            </a:r>
            <a:endParaRPr lang="en-US" sz="1200" dirty="0"/>
          </a:p>
        </p:txBody>
      </p:sp>
      <p:sp>
        <p:nvSpPr>
          <p:cNvPr id="20" name="Shape 17"/>
          <p:cNvSpPr/>
          <p:nvPr/>
        </p:nvSpPr>
        <p:spPr>
          <a:xfrm>
            <a:off x="4419295" y="2278685"/>
            <a:ext cx="3353105" cy="4304995"/>
          </a:xfrm>
          <a:prstGeom prst="rect">
            <a:avLst/>
          </a:prstGeom>
          <a:solidFill>
            <a:srgbClr val="FFFFFF">
              <a:alpha val="5000"/>
            </a:srgbClr>
          </a:solidFill>
          <a:ln w="12700">
            <a:solidFill>
              <a:srgbClr val="FFFFFF">
                <a:alpha val="1000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1" name="Shape 18"/>
          <p:cNvSpPr/>
          <p:nvPr/>
        </p:nvSpPr>
        <p:spPr>
          <a:xfrm>
            <a:off x="4419295" y="2278685"/>
            <a:ext cx="3333902" cy="38405"/>
          </a:xfrm>
          <a:prstGeom prst="rect">
            <a:avLst/>
          </a:prstGeom>
          <a:solidFill>
            <a:srgbClr val="3B82F6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2" name="Shape 19"/>
          <p:cNvSpPr/>
          <p:nvPr/>
        </p:nvSpPr>
        <p:spPr>
          <a:xfrm>
            <a:off x="4733849" y="2592324"/>
            <a:ext cx="571500" cy="571500"/>
          </a:xfrm>
          <a:prstGeom prst="ellipse">
            <a:avLst/>
          </a:prstGeom>
          <a:solidFill>
            <a:srgbClr val="00BBF0">
              <a:alpha val="10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23" name="Image 1" descr="preencoded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4886554" y="2745029"/>
            <a:ext cx="267005" cy="267005"/>
          </a:xfrm>
          <a:prstGeom prst="rect">
            <a:avLst/>
          </a:prstGeom>
        </p:spPr>
      </p:pic>
      <p:sp>
        <p:nvSpPr>
          <p:cNvPr id="24" name="Text 20"/>
          <p:cNvSpPr txBox="1"/>
          <p:nvPr/>
        </p:nvSpPr>
        <p:spPr>
          <a:xfrm>
            <a:off x="4733849" y="3392424"/>
            <a:ext cx="2296058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IEEE (번호주) 공학/IT</a:t>
            </a:r>
            <a:endParaRPr lang="en-US" sz="1800" dirty="0"/>
          </a:p>
        </p:txBody>
      </p:sp>
      <p:sp>
        <p:nvSpPr>
          <p:cNvPr id="25" name="Shape 21"/>
          <p:cNvSpPr/>
          <p:nvPr/>
        </p:nvSpPr>
        <p:spPr>
          <a:xfrm>
            <a:off x="4733849" y="3888029"/>
            <a:ext cx="2723998" cy="923544"/>
          </a:xfrm>
          <a:prstGeom prst="rect">
            <a:avLst/>
          </a:prstGeom>
          <a:solidFill>
            <a:srgbClr val="000000">
              <a:alpha val="20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6" name="Shape 22"/>
          <p:cNvSpPr/>
          <p:nvPr/>
        </p:nvSpPr>
        <p:spPr>
          <a:xfrm>
            <a:off x="4733849" y="3888029"/>
            <a:ext cx="28346" cy="923544"/>
          </a:xfrm>
          <a:prstGeom prst="rect">
            <a:avLst/>
          </a:prstGeom>
          <a:solidFill>
            <a:srgbClr val="FFFFFF">
              <a:alpha val="20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7" name="Text 23"/>
          <p:cNvSpPr txBox="1"/>
          <p:nvPr/>
        </p:nvSpPr>
        <p:spPr>
          <a:xfrm>
            <a:off x="4876495" y="4002329"/>
            <a:ext cx="967435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94A3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본문 표기 예시</a:t>
            </a:r>
            <a:endParaRPr lang="en-US" sz="1000" dirty="0"/>
          </a:p>
        </p:txBody>
      </p:sp>
      <p:sp>
        <p:nvSpPr>
          <p:cNvPr id="28" name="Text 24"/>
          <p:cNvSpPr txBox="1"/>
          <p:nvPr/>
        </p:nvSpPr>
        <p:spPr>
          <a:xfrm>
            <a:off x="4876495" y="4240987"/>
            <a:ext cx="25054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E2E8F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이 알고리즘은 기존 방식 대비 30% 향상된 성능을 보인다 [1].</a:t>
            </a:r>
            <a:endParaRPr lang="en-US" sz="1200" dirty="0"/>
          </a:p>
        </p:txBody>
      </p:sp>
      <p:sp>
        <p:nvSpPr>
          <p:cNvPr id="29" name="Shape 25"/>
          <p:cNvSpPr/>
          <p:nvPr/>
        </p:nvSpPr>
        <p:spPr>
          <a:xfrm>
            <a:off x="4733849" y="4964278"/>
            <a:ext cx="2723998" cy="923544"/>
          </a:xfrm>
          <a:prstGeom prst="rect">
            <a:avLst/>
          </a:prstGeom>
          <a:solidFill>
            <a:srgbClr val="000000">
              <a:alpha val="20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0" name="Shape 26"/>
          <p:cNvSpPr/>
          <p:nvPr/>
        </p:nvSpPr>
        <p:spPr>
          <a:xfrm>
            <a:off x="4733849" y="4964278"/>
            <a:ext cx="28346" cy="923544"/>
          </a:xfrm>
          <a:prstGeom prst="rect">
            <a:avLst/>
          </a:prstGeom>
          <a:solidFill>
            <a:srgbClr val="FFFFFF">
              <a:alpha val="20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1" name="Text 27"/>
          <p:cNvSpPr txBox="1"/>
          <p:nvPr/>
        </p:nvSpPr>
        <p:spPr>
          <a:xfrm>
            <a:off x="4876495" y="5078578"/>
            <a:ext cx="929030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94A3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참고문헌 예시</a:t>
            </a:r>
            <a:endParaRPr lang="en-US" sz="1000" dirty="0"/>
          </a:p>
        </p:txBody>
      </p:sp>
      <p:sp>
        <p:nvSpPr>
          <p:cNvPr id="32" name="Text 28"/>
          <p:cNvSpPr txBox="1"/>
          <p:nvPr/>
        </p:nvSpPr>
        <p:spPr>
          <a:xfrm>
            <a:off x="4876495" y="5317236"/>
            <a:ext cx="2572207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E2E8F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[1] H. Hong, Advanced Algorithms, Seoul: Tech Press, 2024.</a:t>
            </a:r>
            <a:endParaRPr lang="en-US" sz="1200" dirty="0"/>
          </a:p>
        </p:txBody>
      </p:sp>
      <p:sp>
        <p:nvSpPr>
          <p:cNvPr id="33" name="Shape 29"/>
          <p:cNvSpPr/>
          <p:nvPr/>
        </p:nvSpPr>
        <p:spPr>
          <a:xfrm>
            <a:off x="8076895" y="2278685"/>
            <a:ext cx="3353105" cy="4304995"/>
          </a:xfrm>
          <a:prstGeom prst="rect">
            <a:avLst/>
          </a:prstGeom>
          <a:solidFill>
            <a:srgbClr val="FFFFFF">
              <a:alpha val="5000"/>
            </a:srgbClr>
          </a:solidFill>
          <a:ln w="12700">
            <a:solidFill>
              <a:srgbClr val="FFFFFF">
                <a:alpha val="1000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4" name="Shape 30"/>
          <p:cNvSpPr/>
          <p:nvPr/>
        </p:nvSpPr>
        <p:spPr>
          <a:xfrm>
            <a:off x="8076895" y="2278685"/>
            <a:ext cx="3333902" cy="38405"/>
          </a:xfrm>
          <a:prstGeom prst="rect">
            <a:avLst/>
          </a:prstGeom>
          <a:solidFill>
            <a:srgbClr val="60A5F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5" name="Shape 31"/>
          <p:cNvSpPr/>
          <p:nvPr/>
        </p:nvSpPr>
        <p:spPr>
          <a:xfrm>
            <a:off x="8391449" y="2592324"/>
            <a:ext cx="571500" cy="571500"/>
          </a:xfrm>
          <a:prstGeom prst="ellipse">
            <a:avLst/>
          </a:prstGeom>
          <a:solidFill>
            <a:srgbClr val="00BBF0">
              <a:alpha val="10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36" name="Image 2" descr="preencoded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8577072" y="2745029"/>
            <a:ext cx="200254" cy="267005"/>
          </a:xfrm>
          <a:prstGeom prst="rect">
            <a:avLst/>
          </a:prstGeom>
        </p:spPr>
      </p:pic>
      <p:sp>
        <p:nvSpPr>
          <p:cNvPr id="37" name="Text 32"/>
          <p:cNvSpPr txBox="1"/>
          <p:nvPr/>
        </p:nvSpPr>
        <p:spPr>
          <a:xfrm>
            <a:off x="8391449" y="3392424"/>
            <a:ext cx="2382012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Chicago (각주) 인문학</a:t>
            </a:r>
            <a:endParaRPr lang="en-US" sz="1800" dirty="0"/>
          </a:p>
        </p:txBody>
      </p:sp>
      <p:sp>
        <p:nvSpPr>
          <p:cNvPr id="38" name="Shape 33"/>
          <p:cNvSpPr/>
          <p:nvPr/>
        </p:nvSpPr>
        <p:spPr>
          <a:xfrm>
            <a:off x="8391449" y="3888029"/>
            <a:ext cx="2723998" cy="923544"/>
          </a:xfrm>
          <a:prstGeom prst="rect">
            <a:avLst/>
          </a:prstGeom>
          <a:solidFill>
            <a:srgbClr val="000000">
              <a:alpha val="20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9" name="Shape 34"/>
          <p:cNvSpPr/>
          <p:nvPr/>
        </p:nvSpPr>
        <p:spPr>
          <a:xfrm>
            <a:off x="8391449" y="3888029"/>
            <a:ext cx="28346" cy="923544"/>
          </a:xfrm>
          <a:prstGeom prst="rect">
            <a:avLst/>
          </a:prstGeom>
          <a:solidFill>
            <a:srgbClr val="FFFFFF">
              <a:alpha val="20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0" name="Text 35"/>
          <p:cNvSpPr txBox="1"/>
          <p:nvPr/>
        </p:nvSpPr>
        <p:spPr>
          <a:xfrm>
            <a:off x="8534095" y="4002329"/>
            <a:ext cx="967435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94A3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본문 표기 예시</a:t>
            </a:r>
            <a:endParaRPr lang="en-US" sz="1000" dirty="0"/>
          </a:p>
        </p:txBody>
      </p:sp>
      <p:sp>
        <p:nvSpPr>
          <p:cNvPr id="41" name="Text 36"/>
          <p:cNvSpPr txBox="1"/>
          <p:nvPr/>
        </p:nvSpPr>
        <p:spPr>
          <a:xfrm>
            <a:off x="8534095" y="4240987"/>
            <a:ext cx="247711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E2E8F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역사적 맥락을 고려할 때 이 사건은 중대한 의미를 갖는다.¹</a:t>
            </a:r>
            <a:endParaRPr lang="en-US" sz="1200" dirty="0"/>
          </a:p>
        </p:txBody>
      </p:sp>
      <p:sp>
        <p:nvSpPr>
          <p:cNvPr id="42" name="Shape 37"/>
          <p:cNvSpPr/>
          <p:nvPr/>
        </p:nvSpPr>
        <p:spPr>
          <a:xfrm>
            <a:off x="8391449" y="4964278"/>
            <a:ext cx="2723998" cy="923544"/>
          </a:xfrm>
          <a:prstGeom prst="rect">
            <a:avLst/>
          </a:prstGeom>
          <a:solidFill>
            <a:srgbClr val="000000">
              <a:alpha val="20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3" name="Shape 38"/>
          <p:cNvSpPr/>
          <p:nvPr/>
        </p:nvSpPr>
        <p:spPr>
          <a:xfrm>
            <a:off x="8391449" y="4964278"/>
            <a:ext cx="28346" cy="923544"/>
          </a:xfrm>
          <a:prstGeom prst="rect">
            <a:avLst/>
          </a:prstGeom>
          <a:solidFill>
            <a:srgbClr val="FFFFFF">
              <a:alpha val="20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4" name="Text 39"/>
          <p:cNvSpPr txBox="1"/>
          <p:nvPr/>
        </p:nvSpPr>
        <p:spPr>
          <a:xfrm>
            <a:off x="8534095" y="5078578"/>
            <a:ext cx="662026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94A3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각주 예시</a:t>
            </a:r>
            <a:endParaRPr lang="en-US" sz="1000" dirty="0"/>
          </a:p>
        </p:txBody>
      </p:sp>
      <p:sp>
        <p:nvSpPr>
          <p:cNvPr id="45" name="Text 40"/>
          <p:cNvSpPr txBox="1"/>
          <p:nvPr/>
        </p:nvSpPr>
        <p:spPr>
          <a:xfrm>
            <a:off x="8534095" y="5317236"/>
            <a:ext cx="2572207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E2E8F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1) 홍길동, 조선시대사 연구 (서울: 역사비평사, 2024), 45.</a:t>
            </a:r>
            <a:endParaRPr lang="en-US" sz="1200" dirty="0"/>
          </a:p>
        </p:txBody>
      </p:sp>
      <p:sp>
        <p:nvSpPr>
          <p:cNvPr id="46" name="deckgen:wrap:footer"/>
          <p:cNvSpPr txBox="1"/>
          <p:nvPr/>
        </p:nvSpPr>
        <p:spPr>
          <a:xfrm>
            <a:off x="365760" y="6549390"/>
            <a:ext cx="11460480" cy="240030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0">
                <a:solidFill>
                  <a:srgbClr val="8A8F99"/>
                </a:solidFill>
                <a:latin typeface="Pretendard"/>
              </a:rPr>
              <a:t>© 2026 이애본 · 홍문원(洪文院) 발행 · CC BY-NC-ND 4.0 · useful-ai.dreamitbiz.com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0F0F0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204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" name="Shape 2"/>
          <p:cNvSpPr/>
          <p:nvPr/>
        </p:nvSpPr>
        <p:spPr>
          <a:xfrm>
            <a:off x="761695" y="476402"/>
            <a:ext cx="571500" cy="57607"/>
          </a:xfrm>
          <a:prstGeom prst="rect">
            <a:avLst/>
          </a:prstGeom>
          <a:solidFill>
            <a:srgbClr val="F43F5E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" name="Shape 3"/>
          <p:cNvSpPr/>
          <p:nvPr/>
        </p:nvSpPr>
        <p:spPr>
          <a:xfrm>
            <a:off x="761695" y="724205"/>
            <a:ext cx="838505" cy="323698"/>
          </a:xfrm>
          <a:prstGeom prst="roundRect">
            <a:avLst>
              <a:gd name="adj" fmla="val 33234"/>
            </a:avLst>
          </a:prstGeom>
          <a:solidFill>
            <a:srgbClr val="F43F5E">
              <a:alpha val="20000"/>
            </a:srgbClr>
          </a:solidFill>
          <a:ln w="12700">
            <a:solidFill>
              <a:srgbClr val="F43F5E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Text 4"/>
          <p:cNvSpPr txBox="1"/>
          <p:nvPr/>
        </p:nvSpPr>
        <p:spPr>
          <a:xfrm>
            <a:off x="886054" y="771754"/>
            <a:ext cx="70500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43F5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DO NOT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761695" y="1057046"/>
            <a:ext cx="3172054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절대 하지 말 것</a:t>
            </a:r>
            <a:endParaRPr lang="en-US" sz="3600" dirty="0"/>
          </a:p>
        </p:txBody>
      </p:sp>
      <p:sp>
        <p:nvSpPr>
          <p:cNvPr id="8" name="Text 6"/>
          <p:cNvSpPr txBox="1"/>
          <p:nvPr/>
        </p:nvSpPr>
        <p:spPr>
          <a:xfrm>
            <a:off x="761695" y="1786738"/>
            <a:ext cx="5000854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dirty="0">
                <a:solidFill>
                  <a:srgbClr val="CBD5E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리포트의 신뢰를 무너뜨리는 8가지 치명적 실수를 경계하세요.</a:t>
            </a:r>
            <a:endParaRPr lang="en-US" sz="1500" dirty="0"/>
          </a:p>
        </p:txBody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/>
          <a:srcRect l="-3425" r="-3425"/>
          <a:stretch/>
        </p:blipFill>
        <p:spPr>
          <a:xfrm>
            <a:off x="761695" y="2403958"/>
            <a:ext cx="142646" cy="133502"/>
          </a:xfrm>
          <a:prstGeom prst="rect">
            <a:avLst/>
          </a:prstGeom>
        </p:spPr>
      </p:pic>
      <p:sp>
        <p:nvSpPr>
          <p:cNvPr id="10" name="Text 7"/>
          <p:cNvSpPr txBox="1"/>
          <p:nvPr/>
        </p:nvSpPr>
        <p:spPr>
          <a:xfrm>
            <a:off x="905256" y="2358238"/>
            <a:ext cx="865022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F43F5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태도 및 과정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761695" y="2811780"/>
            <a:ext cx="5048402" cy="590702"/>
          </a:xfrm>
          <a:prstGeom prst="roundRect">
            <a:avLst>
              <a:gd name="adj" fmla="val 19974"/>
            </a:avLst>
          </a:prstGeom>
          <a:solidFill>
            <a:srgbClr val="F43F5E">
              <a:alpha val="5000"/>
            </a:srgbClr>
          </a:solidFill>
          <a:ln w="12700">
            <a:solidFill>
              <a:srgbClr val="F43F5E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Shape 9"/>
          <p:cNvSpPr/>
          <p:nvPr/>
        </p:nvSpPr>
        <p:spPr>
          <a:xfrm>
            <a:off x="961949" y="2973629"/>
            <a:ext cx="267005" cy="267005"/>
          </a:xfrm>
          <a:prstGeom prst="roundRect">
            <a:avLst>
              <a:gd name="adj" fmla="val 73385"/>
            </a:avLst>
          </a:prstGeom>
          <a:solidFill>
            <a:srgbClr val="F43F5E">
              <a:alpha val="10000"/>
            </a:srgbClr>
          </a:solidFill>
          <a:ln w="25400">
            <a:solidFill>
              <a:srgbClr val="F43F5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4"/>
          <a:srcRect l="-2512" r="-2512"/>
          <a:stretch/>
        </p:blipFill>
        <p:spPr>
          <a:xfrm>
            <a:off x="1043330" y="3040380"/>
            <a:ext cx="105156" cy="133502"/>
          </a:xfrm>
          <a:prstGeom prst="rect">
            <a:avLst/>
          </a:prstGeom>
        </p:spPr>
      </p:pic>
      <p:sp>
        <p:nvSpPr>
          <p:cNvPr id="14" name="Text 10"/>
          <p:cNvSpPr txBox="1"/>
          <p:nvPr/>
        </p:nvSpPr>
        <p:spPr>
          <a:xfrm>
            <a:off x="1380744" y="2985516"/>
            <a:ext cx="304495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E2E8F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표지 꾸미기에 불필요한 시간을 쏟지 마세요.</a:t>
            </a:r>
            <a:endParaRPr lang="en-US" sz="1200" dirty="0"/>
          </a:p>
        </p:txBody>
      </p:sp>
      <p:sp>
        <p:nvSpPr>
          <p:cNvPr id="15" name="Shape 11"/>
          <p:cNvSpPr/>
          <p:nvPr/>
        </p:nvSpPr>
        <p:spPr>
          <a:xfrm>
            <a:off x="761695" y="3555187"/>
            <a:ext cx="5048402" cy="590702"/>
          </a:xfrm>
          <a:prstGeom prst="roundRect">
            <a:avLst>
              <a:gd name="adj" fmla="val 19974"/>
            </a:avLst>
          </a:prstGeom>
          <a:solidFill>
            <a:srgbClr val="F43F5E">
              <a:alpha val="5000"/>
            </a:srgbClr>
          </a:solidFill>
          <a:ln w="12700">
            <a:solidFill>
              <a:srgbClr val="F43F5E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6" name="Shape 12"/>
          <p:cNvSpPr/>
          <p:nvPr/>
        </p:nvSpPr>
        <p:spPr>
          <a:xfrm>
            <a:off x="961949" y="3717036"/>
            <a:ext cx="267005" cy="267005"/>
          </a:xfrm>
          <a:prstGeom prst="roundRect">
            <a:avLst>
              <a:gd name="adj" fmla="val 73385"/>
            </a:avLst>
          </a:prstGeom>
          <a:solidFill>
            <a:srgbClr val="F43F5E">
              <a:alpha val="10000"/>
            </a:srgbClr>
          </a:solidFill>
          <a:ln w="25400">
            <a:solidFill>
              <a:srgbClr val="F43F5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17" name="Image 2" descr="preencoded.png"/>
          <p:cNvPicPr>
            <a:picLocks noChangeAspect="1"/>
          </p:cNvPicPr>
          <p:nvPr/>
        </p:nvPicPr>
        <p:blipFill>
          <a:blip r:embed="rId4"/>
          <a:srcRect l="-2512" r="-2512"/>
          <a:stretch/>
        </p:blipFill>
        <p:spPr>
          <a:xfrm>
            <a:off x="1043330" y="3783787"/>
            <a:ext cx="105156" cy="133502"/>
          </a:xfrm>
          <a:prstGeom prst="rect">
            <a:avLst/>
          </a:prstGeom>
        </p:spPr>
      </p:pic>
      <p:sp>
        <p:nvSpPr>
          <p:cNvPr id="18" name="Text 13"/>
          <p:cNvSpPr txBox="1"/>
          <p:nvPr/>
        </p:nvSpPr>
        <p:spPr>
          <a:xfrm>
            <a:off x="1380744" y="3728009"/>
            <a:ext cx="318759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E2E8F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과제 범위에서 벗어난 주제로 이탈하지 마세요.</a:t>
            </a:r>
            <a:endParaRPr lang="en-US" sz="1200" dirty="0"/>
          </a:p>
        </p:txBody>
      </p:sp>
      <p:sp>
        <p:nvSpPr>
          <p:cNvPr id="19" name="Shape 14"/>
          <p:cNvSpPr/>
          <p:nvPr/>
        </p:nvSpPr>
        <p:spPr>
          <a:xfrm>
            <a:off x="761695" y="4297680"/>
            <a:ext cx="5048402" cy="590702"/>
          </a:xfrm>
          <a:prstGeom prst="roundRect">
            <a:avLst>
              <a:gd name="adj" fmla="val 19974"/>
            </a:avLst>
          </a:prstGeom>
          <a:solidFill>
            <a:srgbClr val="F43F5E">
              <a:alpha val="5000"/>
            </a:srgbClr>
          </a:solidFill>
          <a:ln w="12700">
            <a:solidFill>
              <a:srgbClr val="F43F5E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0" name="Shape 15"/>
          <p:cNvSpPr/>
          <p:nvPr/>
        </p:nvSpPr>
        <p:spPr>
          <a:xfrm>
            <a:off x="961949" y="4459529"/>
            <a:ext cx="267005" cy="267005"/>
          </a:xfrm>
          <a:prstGeom prst="roundRect">
            <a:avLst>
              <a:gd name="adj" fmla="val 73385"/>
            </a:avLst>
          </a:prstGeom>
          <a:solidFill>
            <a:srgbClr val="F43F5E">
              <a:alpha val="10000"/>
            </a:srgbClr>
          </a:solidFill>
          <a:ln w="25400">
            <a:solidFill>
              <a:srgbClr val="F43F5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21" name="Image 3" descr="preencoded.png"/>
          <p:cNvPicPr>
            <a:picLocks noChangeAspect="1"/>
          </p:cNvPicPr>
          <p:nvPr/>
        </p:nvPicPr>
        <p:blipFill>
          <a:blip r:embed="rId4"/>
          <a:srcRect l="-2512" r="-2512"/>
          <a:stretch/>
        </p:blipFill>
        <p:spPr>
          <a:xfrm>
            <a:off x="1043330" y="4526280"/>
            <a:ext cx="105156" cy="133502"/>
          </a:xfrm>
          <a:prstGeom prst="rect">
            <a:avLst/>
          </a:prstGeom>
        </p:spPr>
      </p:pic>
      <p:sp>
        <p:nvSpPr>
          <p:cNvPr id="22" name="Text 16"/>
          <p:cNvSpPr txBox="1"/>
          <p:nvPr/>
        </p:nvSpPr>
        <p:spPr>
          <a:xfrm>
            <a:off x="1380744" y="4471416"/>
            <a:ext cx="353049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E2E8F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마감 직전에 급하게 작성하여 퇴고를 놓치지 마세요.</a:t>
            </a:r>
            <a:endParaRPr lang="en-US" sz="1200" dirty="0"/>
          </a:p>
        </p:txBody>
      </p:sp>
      <p:sp>
        <p:nvSpPr>
          <p:cNvPr id="23" name="Shape 17"/>
          <p:cNvSpPr/>
          <p:nvPr/>
        </p:nvSpPr>
        <p:spPr>
          <a:xfrm>
            <a:off x="761695" y="5041087"/>
            <a:ext cx="5048402" cy="590702"/>
          </a:xfrm>
          <a:prstGeom prst="roundRect">
            <a:avLst>
              <a:gd name="adj" fmla="val 19974"/>
            </a:avLst>
          </a:prstGeom>
          <a:solidFill>
            <a:srgbClr val="F43F5E">
              <a:alpha val="5000"/>
            </a:srgbClr>
          </a:solidFill>
          <a:ln w="12700">
            <a:solidFill>
              <a:srgbClr val="F43F5E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4" name="Shape 18"/>
          <p:cNvSpPr/>
          <p:nvPr/>
        </p:nvSpPr>
        <p:spPr>
          <a:xfrm>
            <a:off x="961949" y="5202936"/>
            <a:ext cx="267005" cy="267005"/>
          </a:xfrm>
          <a:prstGeom prst="roundRect">
            <a:avLst>
              <a:gd name="adj" fmla="val 73385"/>
            </a:avLst>
          </a:prstGeom>
          <a:solidFill>
            <a:srgbClr val="F43F5E">
              <a:alpha val="10000"/>
            </a:srgbClr>
          </a:solidFill>
          <a:ln w="25400">
            <a:solidFill>
              <a:srgbClr val="F43F5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25" name="Image 4" descr="preencoded.png"/>
          <p:cNvPicPr>
            <a:picLocks noChangeAspect="1"/>
          </p:cNvPicPr>
          <p:nvPr/>
        </p:nvPicPr>
        <p:blipFill>
          <a:blip r:embed="rId4"/>
          <a:srcRect l="-2512" r="-2512"/>
          <a:stretch/>
        </p:blipFill>
        <p:spPr>
          <a:xfrm>
            <a:off x="1043330" y="5269687"/>
            <a:ext cx="105156" cy="133502"/>
          </a:xfrm>
          <a:prstGeom prst="rect">
            <a:avLst/>
          </a:prstGeom>
        </p:spPr>
      </p:pic>
      <p:sp>
        <p:nvSpPr>
          <p:cNvPr id="26" name="Text 19"/>
          <p:cNvSpPr txBox="1"/>
          <p:nvPr/>
        </p:nvSpPr>
        <p:spPr>
          <a:xfrm>
            <a:off x="1380744" y="5213909"/>
            <a:ext cx="3568903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E2E8F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파일 백업을 하지 않아 데이터를 잃지 않도록 하세요.</a:t>
            </a:r>
            <a:endParaRPr lang="en-US" sz="1200" dirty="0"/>
          </a:p>
        </p:txBody>
      </p:sp>
      <p:pic>
        <p:nvPicPr>
          <p:cNvPr id="27" name="Image 5" descr="preencoded.png"/>
          <p:cNvPicPr>
            <a:picLocks noChangeAspect="1"/>
          </p:cNvPicPr>
          <p:nvPr/>
        </p:nvPicPr>
        <p:blipFill>
          <a:blip r:embed="rId5"/>
          <a:srcRect l="-3425" r="-3425"/>
          <a:stretch/>
        </p:blipFill>
        <p:spPr>
          <a:xfrm>
            <a:off x="6381598" y="2403958"/>
            <a:ext cx="142646" cy="133502"/>
          </a:xfrm>
          <a:prstGeom prst="rect">
            <a:avLst/>
          </a:prstGeom>
        </p:spPr>
      </p:pic>
      <p:sp>
        <p:nvSpPr>
          <p:cNvPr id="28" name="Text 20"/>
          <p:cNvSpPr txBox="1"/>
          <p:nvPr/>
        </p:nvSpPr>
        <p:spPr>
          <a:xfrm>
            <a:off x="6524244" y="2358238"/>
            <a:ext cx="865022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F43F5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내용 및 윤리</a:t>
            </a:r>
            <a:endParaRPr lang="en-US" sz="1000" dirty="0"/>
          </a:p>
        </p:txBody>
      </p:sp>
      <p:sp>
        <p:nvSpPr>
          <p:cNvPr id="29" name="Shape 21"/>
          <p:cNvSpPr/>
          <p:nvPr/>
        </p:nvSpPr>
        <p:spPr>
          <a:xfrm>
            <a:off x="6381598" y="2811780"/>
            <a:ext cx="5048402" cy="590702"/>
          </a:xfrm>
          <a:prstGeom prst="roundRect">
            <a:avLst>
              <a:gd name="adj" fmla="val 19974"/>
            </a:avLst>
          </a:prstGeom>
          <a:solidFill>
            <a:srgbClr val="F43F5E">
              <a:alpha val="5000"/>
            </a:srgbClr>
          </a:solidFill>
          <a:ln w="12700">
            <a:solidFill>
              <a:srgbClr val="F43F5E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0" name="Shape 22"/>
          <p:cNvSpPr/>
          <p:nvPr/>
        </p:nvSpPr>
        <p:spPr>
          <a:xfrm>
            <a:off x="6581851" y="2973629"/>
            <a:ext cx="267005" cy="267005"/>
          </a:xfrm>
          <a:prstGeom prst="roundRect">
            <a:avLst>
              <a:gd name="adj" fmla="val 73385"/>
            </a:avLst>
          </a:prstGeom>
          <a:solidFill>
            <a:srgbClr val="F43F5E">
              <a:alpha val="10000"/>
            </a:srgbClr>
          </a:solidFill>
          <a:ln w="25400">
            <a:solidFill>
              <a:srgbClr val="F43F5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31" name="Image 6" descr="preencoded.png"/>
          <p:cNvPicPr>
            <a:picLocks noChangeAspect="1"/>
          </p:cNvPicPr>
          <p:nvPr/>
        </p:nvPicPr>
        <p:blipFill>
          <a:blip r:embed="rId4"/>
          <a:srcRect l="-2512" r="-2512"/>
          <a:stretch/>
        </p:blipFill>
        <p:spPr>
          <a:xfrm>
            <a:off x="6662318" y="3040380"/>
            <a:ext cx="105156" cy="133502"/>
          </a:xfrm>
          <a:prstGeom prst="rect">
            <a:avLst/>
          </a:prstGeom>
        </p:spPr>
      </p:pic>
      <p:sp>
        <p:nvSpPr>
          <p:cNvPr id="32" name="Text 23"/>
          <p:cNvSpPr txBox="1"/>
          <p:nvPr/>
        </p:nvSpPr>
        <p:spPr>
          <a:xfrm>
            <a:off x="7000646" y="2985516"/>
            <a:ext cx="3568903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E2E8F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큰 글꼴과 여백으로 분량 늘리기 꼼수를 쓰지 마세요.</a:t>
            </a:r>
            <a:endParaRPr lang="en-US" sz="1200" dirty="0"/>
          </a:p>
        </p:txBody>
      </p:sp>
      <p:sp>
        <p:nvSpPr>
          <p:cNvPr id="33" name="Shape 24"/>
          <p:cNvSpPr/>
          <p:nvPr/>
        </p:nvSpPr>
        <p:spPr>
          <a:xfrm>
            <a:off x="6381598" y="3555187"/>
            <a:ext cx="5048402" cy="590702"/>
          </a:xfrm>
          <a:prstGeom prst="roundRect">
            <a:avLst>
              <a:gd name="adj" fmla="val 19974"/>
            </a:avLst>
          </a:prstGeom>
          <a:solidFill>
            <a:srgbClr val="F43F5E">
              <a:alpha val="5000"/>
            </a:srgbClr>
          </a:solidFill>
          <a:ln w="12700">
            <a:solidFill>
              <a:srgbClr val="F43F5E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4" name="Shape 25"/>
          <p:cNvSpPr/>
          <p:nvPr/>
        </p:nvSpPr>
        <p:spPr>
          <a:xfrm>
            <a:off x="6581851" y="3717036"/>
            <a:ext cx="267005" cy="267005"/>
          </a:xfrm>
          <a:prstGeom prst="roundRect">
            <a:avLst>
              <a:gd name="adj" fmla="val 73385"/>
            </a:avLst>
          </a:prstGeom>
          <a:solidFill>
            <a:srgbClr val="F43F5E">
              <a:alpha val="10000"/>
            </a:srgbClr>
          </a:solidFill>
          <a:ln w="25400">
            <a:solidFill>
              <a:srgbClr val="F43F5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35" name="Image 7" descr="preencoded.png"/>
          <p:cNvPicPr>
            <a:picLocks noChangeAspect="1"/>
          </p:cNvPicPr>
          <p:nvPr/>
        </p:nvPicPr>
        <p:blipFill>
          <a:blip r:embed="rId4"/>
          <a:srcRect l="-2512" r="-2512"/>
          <a:stretch/>
        </p:blipFill>
        <p:spPr>
          <a:xfrm>
            <a:off x="6662318" y="3783787"/>
            <a:ext cx="105156" cy="133502"/>
          </a:xfrm>
          <a:prstGeom prst="rect">
            <a:avLst/>
          </a:prstGeom>
        </p:spPr>
      </p:pic>
      <p:sp>
        <p:nvSpPr>
          <p:cNvPr id="36" name="Text 26"/>
          <p:cNvSpPr txBox="1"/>
          <p:nvPr/>
        </p:nvSpPr>
        <p:spPr>
          <a:xfrm>
            <a:off x="7000646" y="3728009"/>
            <a:ext cx="353964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E2E8F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출처 불명(SNS, 위키)의 자료를 근거로 삼지 마세요.</a:t>
            </a:r>
            <a:endParaRPr lang="en-US" sz="1200" dirty="0"/>
          </a:p>
        </p:txBody>
      </p:sp>
      <p:sp>
        <p:nvSpPr>
          <p:cNvPr id="37" name="Shape 27"/>
          <p:cNvSpPr/>
          <p:nvPr/>
        </p:nvSpPr>
        <p:spPr>
          <a:xfrm>
            <a:off x="6381598" y="4297680"/>
            <a:ext cx="5048402" cy="590702"/>
          </a:xfrm>
          <a:prstGeom prst="roundRect">
            <a:avLst>
              <a:gd name="adj" fmla="val 19974"/>
            </a:avLst>
          </a:prstGeom>
          <a:solidFill>
            <a:srgbClr val="F43F5E">
              <a:alpha val="5000"/>
            </a:srgbClr>
          </a:solidFill>
          <a:ln w="12700">
            <a:solidFill>
              <a:srgbClr val="F43F5E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8" name="Shape 28"/>
          <p:cNvSpPr/>
          <p:nvPr/>
        </p:nvSpPr>
        <p:spPr>
          <a:xfrm>
            <a:off x="6581851" y="4459529"/>
            <a:ext cx="267005" cy="267005"/>
          </a:xfrm>
          <a:prstGeom prst="roundRect">
            <a:avLst>
              <a:gd name="adj" fmla="val 73385"/>
            </a:avLst>
          </a:prstGeom>
          <a:solidFill>
            <a:srgbClr val="F43F5E">
              <a:alpha val="10000"/>
            </a:srgbClr>
          </a:solidFill>
          <a:ln w="25400">
            <a:solidFill>
              <a:srgbClr val="F43F5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39" name="Image 8" descr="preencoded.png"/>
          <p:cNvPicPr>
            <a:picLocks noChangeAspect="1"/>
          </p:cNvPicPr>
          <p:nvPr/>
        </p:nvPicPr>
        <p:blipFill>
          <a:blip r:embed="rId4"/>
          <a:srcRect l="-2512" r="-2512"/>
          <a:stretch/>
        </p:blipFill>
        <p:spPr>
          <a:xfrm>
            <a:off x="6662318" y="4526280"/>
            <a:ext cx="105156" cy="133502"/>
          </a:xfrm>
          <a:prstGeom prst="rect">
            <a:avLst/>
          </a:prstGeom>
        </p:spPr>
      </p:pic>
      <p:sp>
        <p:nvSpPr>
          <p:cNvPr id="40" name="Text 29"/>
          <p:cNvSpPr txBox="1"/>
          <p:nvPr/>
        </p:nvSpPr>
        <p:spPr>
          <a:xfrm>
            <a:off x="7000646" y="4471416"/>
            <a:ext cx="4158691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E2E8F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검증 없이 생성형 AI의 답변을 무비판적으로 복사하지 마세요.</a:t>
            </a:r>
            <a:endParaRPr lang="en-US" sz="1200" dirty="0"/>
          </a:p>
        </p:txBody>
      </p:sp>
      <p:sp>
        <p:nvSpPr>
          <p:cNvPr id="41" name="Shape 30"/>
          <p:cNvSpPr/>
          <p:nvPr/>
        </p:nvSpPr>
        <p:spPr>
          <a:xfrm>
            <a:off x="6381598" y="5041087"/>
            <a:ext cx="5048402" cy="590702"/>
          </a:xfrm>
          <a:prstGeom prst="roundRect">
            <a:avLst>
              <a:gd name="adj" fmla="val 19974"/>
            </a:avLst>
          </a:prstGeom>
          <a:solidFill>
            <a:srgbClr val="F43F5E">
              <a:alpha val="5000"/>
            </a:srgbClr>
          </a:solidFill>
          <a:ln w="12700">
            <a:solidFill>
              <a:srgbClr val="F43F5E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2" name="Shape 31"/>
          <p:cNvSpPr/>
          <p:nvPr/>
        </p:nvSpPr>
        <p:spPr>
          <a:xfrm>
            <a:off x="6581851" y="5202936"/>
            <a:ext cx="267005" cy="267005"/>
          </a:xfrm>
          <a:prstGeom prst="roundRect">
            <a:avLst>
              <a:gd name="adj" fmla="val 73385"/>
            </a:avLst>
          </a:prstGeom>
          <a:solidFill>
            <a:srgbClr val="F43F5E">
              <a:alpha val="10000"/>
            </a:srgbClr>
          </a:solidFill>
          <a:ln w="25400">
            <a:solidFill>
              <a:srgbClr val="F43F5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43" name="Image 9" descr="preencoded.png"/>
          <p:cNvPicPr>
            <a:picLocks noChangeAspect="1"/>
          </p:cNvPicPr>
          <p:nvPr/>
        </p:nvPicPr>
        <p:blipFill>
          <a:blip r:embed="rId4"/>
          <a:srcRect l="-2512" r="-2512"/>
          <a:stretch/>
        </p:blipFill>
        <p:spPr>
          <a:xfrm>
            <a:off x="6662318" y="5269687"/>
            <a:ext cx="105156" cy="133502"/>
          </a:xfrm>
          <a:prstGeom prst="rect">
            <a:avLst/>
          </a:prstGeom>
        </p:spPr>
      </p:pic>
      <p:sp>
        <p:nvSpPr>
          <p:cNvPr id="44" name="Text 32"/>
          <p:cNvSpPr txBox="1"/>
          <p:nvPr/>
        </p:nvSpPr>
        <p:spPr>
          <a:xfrm>
            <a:off x="7000646" y="5213909"/>
            <a:ext cx="3235147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E2E8F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인용 표기를 누락하여 표절 의심을 사지 마세요.</a:t>
            </a:r>
            <a:endParaRPr lang="en-US" sz="1200" dirty="0"/>
          </a:p>
        </p:txBody>
      </p:sp>
      <p:sp>
        <p:nvSpPr>
          <p:cNvPr id="45" name="Shape 33"/>
          <p:cNvSpPr/>
          <p:nvPr/>
        </p:nvSpPr>
        <p:spPr>
          <a:xfrm>
            <a:off x="761695" y="5695798"/>
            <a:ext cx="10668305" cy="685800"/>
          </a:xfrm>
          <a:prstGeom prst="rect">
            <a:avLst/>
          </a:prstGeom>
          <a:solidFill>
            <a:srgbClr val="F43F5E">
              <a:alpha val="10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6" name="Shape 34"/>
          <p:cNvSpPr/>
          <p:nvPr/>
        </p:nvSpPr>
        <p:spPr>
          <a:xfrm>
            <a:off x="761695" y="5695798"/>
            <a:ext cx="38405" cy="685800"/>
          </a:xfrm>
          <a:prstGeom prst="rect">
            <a:avLst/>
          </a:prstGeom>
          <a:solidFill>
            <a:srgbClr val="F43F5E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47" name="Image 10" descr="preencoded.png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1086307" y="5886907"/>
            <a:ext cx="304495" cy="304495"/>
          </a:xfrm>
          <a:prstGeom prst="rect">
            <a:avLst/>
          </a:prstGeom>
        </p:spPr>
      </p:pic>
      <p:sp>
        <p:nvSpPr>
          <p:cNvPr id="48" name="Text 35"/>
          <p:cNvSpPr txBox="1"/>
          <p:nvPr/>
        </p:nvSpPr>
        <p:spPr>
          <a:xfrm>
            <a:off x="1580998" y="5913425"/>
            <a:ext cx="5927141" cy="2386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이 8가지 실수만 피해도, 여러분의 리포트는 기본 점수와 신뢰를 확보할 수 있습니다.</a:t>
            </a:r>
            <a:endParaRPr lang="en-US" sz="1300" dirty="0"/>
          </a:p>
        </p:txBody>
      </p:sp>
      <p:sp>
        <p:nvSpPr>
          <p:cNvPr id="49" name="deckgen:wrap:footer"/>
          <p:cNvSpPr txBox="1"/>
          <p:nvPr/>
        </p:nvSpPr>
        <p:spPr>
          <a:xfrm>
            <a:off x="365760" y="6549390"/>
            <a:ext cx="11460480" cy="240030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0">
                <a:solidFill>
                  <a:srgbClr val="8A8F99"/>
                </a:solidFill>
                <a:latin typeface="Pretendard"/>
              </a:rPr>
              <a:t>© 2026 이애본 · 홍문원(洪文院) 발행 · CC BY-NC-ND 4.0 · useful-ai.dreamitbiz.com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0F0F0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204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" name="Shape 2"/>
          <p:cNvSpPr/>
          <p:nvPr/>
        </p:nvSpPr>
        <p:spPr>
          <a:xfrm>
            <a:off x="761695" y="476402"/>
            <a:ext cx="571500" cy="57607"/>
          </a:xfrm>
          <a:prstGeom prst="rect">
            <a:avLst/>
          </a:prstGeom>
          <a:solidFill>
            <a:srgbClr val="00BBF0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 txBox="1"/>
          <p:nvPr/>
        </p:nvSpPr>
        <p:spPr>
          <a:xfrm>
            <a:off x="761695" y="657454"/>
            <a:ext cx="5458054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평가 루브릭 예시(채점기준)</a:t>
            </a:r>
            <a:endParaRPr lang="en-US" sz="3600" dirty="0"/>
          </a:p>
        </p:txBody>
      </p:sp>
      <p:sp>
        <p:nvSpPr>
          <p:cNvPr id="6" name="Text 4"/>
          <p:cNvSpPr txBox="1"/>
          <p:nvPr/>
        </p:nvSpPr>
        <p:spPr>
          <a:xfrm>
            <a:off x="761695" y="1387145"/>
            <a:ext cx="6020410" cy="54589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dirty="0">
                <a:solidFill>
                  <a:srgbClr val="CBD5E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교수님이 무엇을 보고 점수를 주시는지 알면, </a:t>
            </a:r>
          </a:p>
          <a:p>
            <a:pPr marL="0" indent="0" algn="l">
              <a:buNone/>
            </a:pPr>
            <a:r>
              <a:rPr lang="en-US" sz="1500" dirty="0">
                <a:solidFill>
                  <a:srgbClr val="CBD5E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A+ 리포트의 조건이 보입니다.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761695" y="3286354"/>
            <a:ext cx="4038905" cy="9144"/>
          </a:xfrm>
          <a:prstGeom prst="rect">
            <a:avLst/>
          </a:prstGeom>
          <a:solidFill>
            <a:srgbClr val="FFFFFF">
              <a:alpha val="20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rcRect l="-80" r="-80"/>
          <a:stretch/>
        </p:blipFill>
        <p:spPr>
          <a:xfrm>
            <a:off x="761695" y="2829154"/>
            <a:ext cx="286207" cy="228600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1190549" y="2753258"/>
            <a:ext cx="2391156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평가 기준 및 가중치</a:t>
            </a:r>
            <a:endParaRPr lang="en-US" sz="2100" dirty="0"/>
          </a:p>
        </p:txBody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rcRect t="-2725" b="-2725"/>
          <a:stretch/>
        </p:blipFill>
        <p:spPr>
          <a:xfrm>
            <a:off x="761695" y="3639312"/>
            <a:ext cx="142646" cy="171907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1047902" y="3581705"/>
            <a:ext cx="1033272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논지 명확성</a:t>
            </a:r>
            <a:endParaRPr lang="en-US" sz="1400" dirty="0"/>
          </a:p>
        </p:txBody>
      </p:sp>
      <p:sp>
        <p:nvSpPr>
          <p:cNvPr id="12" name="Shape 8"/>
          <p:cNvSpPr/>
          <p:nvPr/>
        </p:nvSpPr>
        <p:spPr>
          <a:xfrm>
            <a:off x="4347972" y="3585362"/>
            <a:ext cx="457200" cy="267005"/>
          </a:xfrm>
          <a:prstGeom prst="roundRect">
            <a:avLst>
              <a:gd name="adj" fmla="val 48924"/>
            </a:avLst>
          </a:prstGeom>
          <a:solidFill>
            <a:srgbClr val="3B82F6">
              <a:alpha val="30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3" name="Text 9"/>
          <p:cNvSpPr txBox="1"/>
          <p:nvPr/>
        </p:nvSpPr>
        <p:spPr>
          <a:xfrm>
            <a:off x="4424782" y="3604565"/>
            <a:ext cx="41971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CBD5E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40%</a:t>
            </a:r>
            <a:endParaRPr lang="en-US" sz="1200" dirty="0"/>
          </a:p>
        </p:txBody>
      </p:sp>
      <p:sp>
        <p:nvSpPr>
          <p:cNvPr id="14" name="Text 10"/>
          <p:cNvSpPr txBox="1"/>
          <p:nvPr/>
        </p:nvSpPr>
        <p:spPr>
          <a:xfrm>
            <a:off x="1047902" y="3894430"/>
            <a:ext cx="386791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CBD5E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주제문이 서론 첫 단락에 명확히 제시되는가?</a:t>
            </a:r>
            <a:endParaRPr lang="en-US" sz="1200" dirty="0"/>
          </a:p>
        </p:txBody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4"/>
          <a:srcRect t="-2725" b="-2725"/>
          <a:stretch/>
        </p:blipFill>
        <p:spPr>
          <a:xfrm>
            <a:off x="761695" y="4370832"/>
            <a:ext cx="142646" cy="171907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1047902" y="4313225"/>
            <a:ext cx="1594714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근거 신뢰성·적합성</a:t>
            </a:r>
            <a:endParaRPr lang="en-US" sz="1400" dirty="0"/>
          </a:p>
        </p:txBody>
      </p:sp>
      <p:sp>
        <p:nvSpPr>
          <p:cNvPr id="17" name="Shape 12"/>
          <p:cNvSpPr/>
          <p:nvPr/>
        </p:nvSpPr>
        <p:spPr>
          <a:xfrm>
            <a:off x="4347972" y="4316882"/>
            <a:ext cx="457200" cy="267005"/>
          </a:xfrm>
          <a:prstGeom prst="roundRect">
            <a:avLst>
              <a:gd name="adj" fmla="val 48924"/>
            </a:avLst>
          </a:prstGeom>
          <a:solidFill>
            <a:srgbClr val="3B82F6">
              <a:alpha val="30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8" name="Text 13"/>
          <p:cNvSpPr txBox="1"/>
          <p:nvPr/>
        </p:nvSpPr>
        <p:spPr>
          <a:xfrm>
            <a:off x="4424782" y="4336085"/>
            <a:ext cx="41971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CBD5E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30%</a:t>
            </a:r>
            <a:endParaRPr lang="en-US" sz="1200" dirty="0"/>
          </a:p>
        </p:txBody>
      </p:sp>
      <p:sp>
        <p:nvSpPr>
          <p:cNvPr id="19" name="Text 14"/>
          <p:cNvSpPr txBox="1"/>
          <p:nvPr/>
        </p:nvSpPr>
        <p:spPr>
          <a:xfrm>
            <a:off x="1047902" y="4625950"/>
            <a:ext cx="386791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CBD5E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최신/공식/피어리뷰 자료로 주장을 입증했는가?</a:t>
            </a:r>
            <a:endParaRPr lang="en-US" sz="1200" dirty="0"/>
          </a:p>
        </p:txBody>
      </p:sp>
      <p:pic>
        <p:nvPicPr>
          <p:cNvPr id="20" name="Image 3" descr="preencoded.png"/>
          <p:cNvPicPr>
            <a:picLocks noChangeAspect="1"/>
          </p:cNvPicPr>
          <p:nvPr/>
        </p:nvPicPr>
        <p:blipFill>
          <a:blip r:embed="rId4"/>
          <a:srcRect t="-2725" b="-2725"/>
          <a:stretch/>
        </p:blipFill>
        <p:spPr>
          <a:xfrm>
            <a:off x="761695" y="5102352"/>
            <a:ext cx="142646" cy="171907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1047902" y="5044745"/>
            <a:ext cx="1042416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구조·글쓰기</a:t>
            </a:r>
            <a:endParaRPr lang="en-US" sz="1400" dirty="0"/>
          </a:p>
        </p:txBody>
      </p:sp>
      <p:sp>
        <p:nvSpPr>
          <p:cNvPr id="22" name="Shape 16"/>
          <p:cNvSpPr/>
          <p:nvPr/>
        </p:nvSpPr>
        <p:spPr>
          <a:xfrm>
            <a:off x="4347972" y="5048402"/>
            <a:ext cx="457200" cy="267005"/>
          </a:xfrm>
          <a:prstGeom prst="roundRect">
            <a:avLst>
              <a:gd name="adj" fmla="val 48924"/>
            </a:avLst>
          </a:prstGeom>
          <a:solidFill>
            <a:srgbClr val="3B82F6">
              <a:alpha val="30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3" name="Text 17"/>
          <p:cNvSpPr txBox="1"/>
          <p:nvPr/>
        </p:nvSpPr>
        <p:spPr>
          <a:xfrm>
            <a:off x="4424782" y="5067605"/>
            <a:ext cx="41971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CBD5E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20%</a:t>
            </a:r>
            <a:endParaRPr lang="en-US" sz="1200" dirty="0"/>
          </a:p>
        </p:txBody>
      </p:sp>
      <p:sp>
        <p:nvSpPr>
          <p:cNvPr id="24" name="Text 18"/>
          <p:cNvSpPr txBox="1"/>
          <p:nvPr/>
        </p:nvSpPr>
        <p:spPr>
          <a:xfrm>
            <a:off x="1047902" y="5357470"/>
            <a:ext cx="386791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CBD5E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서론-본론-결론 일관성, 두괄식, 문장 명료성</a:t>
            </a:r>
            <a:endParaRPr lang="en-US" sz="1200" dirty="0"/>
          </a:p>
        </p:txBody>
      </p:sp>
      <p:pic>
        <p:nvPicPr>
          <p:cNvPr id="25" name="Image 4" descr="preencoded.png"/>
          <p:cNvPicPr>
            <a:picLocks noChangeAspect="1"/>
          </p:cNvPicPr>
          <p:nvPr/>
        </p:nvPicPr>
        <p:blipFill>
          <a:blip r:embed="rId4"/>
          <a:srcRect t="-2725" b="-2725"/>
          <a:stretch/>
        </p:blipFill>
        <p:spPr>
          <a:xfrm>
            <a:off x="761695" y="5833872"/>
            <a:ext cx="142646" cy="171907"/>
          </a:xfrm>
          <a:prstGeom prst="rect">
            <a:avLst/>
          </a:prstGeom>
        </p:spPr>
      </p:pic>
      <p:sp>
        <p:nvSpPr>
          <p:cNvPr id="26" name="Text 19"/>
          <p:cNvSpPr txBox="1"/>
          <p:nvPr/>
        </p:nvSpPr>
        <p:spPr>
          <a:xfrm>
            <a:off x="1047902" y="5776265"/>
            <a:ext cx="871423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형식·인용</a:t>
            </a:r>
            <a:endParaRPr lang="en-US" sz="1400" dirty="0"/>
          </a:p>
        </p:txBody>
      </p:sp>
      <p:sp>
        <p:nvSpPr>
          <p:cNvPr id="27" name="Shape 20"/>
          <p:cNvSpPr/>
          <p:nvPr/>
        </p:nvSpPr>
        <p:spPr>
          <a:xfrm>
            <a:off x="4347972" y="5779922"/>
            <a:ext cx="457200" cy="267005"/>
          </a:xfrm>
          <a:prstGeom prst="roundRect">
            <a:avLst>
              <a:gd name="adj" fmla="val 48924"/>
            </a:avLst>
          </a:prstGeom>
          <a:solidFill>
            <a:srgbClr val="3B82F6">
              <a:alpha val="30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8" name="Text 21"/>
          <p:cNvSpPr txBox="1"/>
          <p:nvPr/>
        </p:nvSpPr>
        <p:spPr>
          <a:xfrm>
            <a:off x="4424782" y="5799125"/>
            <a:ext cx="41971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CBD5E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10%</a:t>
            </a:r>
            <a:endParaRPr lang="en-US" sz="1200" dirty="0"/>
          </a:p>
        </p:txBody>
      </p:sp>
      <p:sp>
        <p:nvSpPr>
          <p:cNvPr id="29" name="Text 22"/>
          <p:cNvSpPr txBox="1"/>
          <p:nvPr/>
        </p:nvSpPr>
        <p:spPr>
          <a:xfrm>
            <a:off x="1047902" y="6088990"/>
            <a:ext cx="386791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CBD5E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과제 규정 준수, 인용-참고문헌 일치, 캡션</a:t>
            </a:r>
            <a:endParaRPr lang="en-US" sz="1200" dirty="0"/>
          </a:p>
        </p:txBody>
      </p:sp>
      <p:sp>
        <p:nvSpPr>
          <p:cNvPr id="30" name="Shape 23"/>
          <p:cNvSpPr/>
          <p:nvPr/>
        </p:nvSpPr>
        <p:spPr>
          <a:xfrm>
            <a:off x="5524804" y="1437437"/>
            <a:ext cx="6057900" cy="1104595"/>
          </a:xfrm>
          <a:prstGeom prst="roundRect">
            <a:avLst>
              <a:gd name="adj" fmla="val 2855"/>
            </a:avLst>
          </a:prstGeom>
          <a:solidFill>
            <a:srgbClr val="00BBF0">
              <a:alpha val="10000"/>
            </a:srgbClr>
          </a:solidFill>
          <a:ln w="12700">
            <a:solidFill>
              <a:srgbClr val="00BBF0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1" name="Text 24"/>
          <p:cNvSpPr txBox="1"/>
          <p:nvPr/>
        </p:nvSpPr>
        <p:spPr>
          <a:xfrm>
            <a:off x="5862218" y="1761134"/>
            <a:ext cx="4389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00BBF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</a:t>
            </a:r>
            <a:endParaRPr lang="en-US" sz="2400" dirty="0"/>
          </a:p>
        </p:txBody>
      </p:sp>
      <p:sp>
        <p:nvSpPr>
          <p:cNvPr id="32" name="Text 25"/>
          <p:cNvSpPr txBox="1"/>
          <p:nvPr/>
        </p:nvSpPr>
        <p:spPr>
          <a:xfrm>
            <a:off x="6391655" y="1636776"/>
            <a:ext cx="1506931" cy="2386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탁월함 (Excellent)</a:t>
            </a:r>
            <a:endParaRPr lang="en-US" sz="1300" dirty="0"/>
          </a:p>
        </p:txBody>
      </p:sp>
      <p:sp>
        <p:nvSpPr>
          <p:cNvPr id="33" name="Text 26"/>
          <p:cNvSpPr txBox="1"/>
          <p:nvPr/>
        </p:nvSpPr>
        <p:spPr>
          <a:xfrm>
            <a:off x="6391655" y="1926641"/>
            <a:ext cx="5023714" cy="4197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CBD5E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논제가 첫 문단에 선명하고 반론 대응까지 포함됨. 신뢰할 수 있는 자료 5건 이상 활용, 형식 완벽 준수.</a:t>
            </a:r>
            <a:endParaRPr lang="en-US" sz="1100" dirty="0"/>
          </a:p>
        </p:txBody>
      </p:sp>
      <p:sp>
        <p:nvSpPr>
          <p:cNvPr id="34" name="Shape 27"/>
          <p:cNvSpPr/>
          <p:nvPr/>
        </p:nvSpPr>
        <p:spPr>
          <a:xfrm>
            <a:off x="5524804" y="2684678"/>
            <a:ext cx="6057900" cy="1104595"/>
          </a:xfrm>
          <a:prstGeom prst="roundRect">
            <a:avLst>
              <a:gd name="adj" fmla="val 2855"/>
            </a:avLst>
          </a:prstGeom>
          <a:solidFill>
            <a:srgbClr val="FFFFFF">
              <a:alpha val="5000"/>
            </a:srgbClr>
          </a:solidFill>
          <a:ln w="12700">
            <a:solidFill>
              <a:srgbClr val="FFFFFF">
                <a:alpha val="1000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5" name="Text 28"/>
          <p:cNvSpPr txBox="1"/>
          <p:nvPr/>
        </p:nvSpPr>
        <p:spPr>
          <a:xfrm>
            <a:off x="5856731" y="3008376"/>
            <a:ext cx="448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60A5F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B</a:t>
            </a:r>
            <a:endParaRPr lang="en-US" sz="2400" dirty="0"/>
          </a:p>
        </p:txBody>
      </p:sp>
      <p:sp>
        <p:nvSpPr>
          <p:cNvPr id="36" name="Text 29"/>
          <p:cNvSpPr txBox="1"/>
          <p:nvPr/>
        </p:nvSpPr>
        <p:spPr>
          <a:xfrm>
            <a:off x="6391655" y="2884932"/>
            <a:ext cx="1202436" cy="2386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우수함 (Good)</a:t>
            </a:r>
            <a:endParaRPr lang="en-US" sz="1300" dirty="0"/>
          </a:p>
        </p:txBody>
      </p:sp>
      <p:sp>
        <p:nvSpPr>
          <p:cNvPr id="37" name="Text 30"/>
          <p:cNvSpPr txBox="1"/>
          <p:nvPr/>
        </p:nvSpPr>
        <p:spPr>
          <a:xfrm>
            <a:off x="6391655" y="3173882"/>
            <a:ext cx="5100523" cy="4197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CBD5E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논지는 명확하나 연결성이 다소 약함. 자료 3~4건 활용, 형식이 전반적으로 양호하나 경미한 누락 있음.</a:t>
            </a:r>
            <a:endParaRPr lang="en-US" sz="1100" dirty="0"/>
          </a:p>
        </p:txBody>
      </p:sp>
      <p:sp>
        <p:nvSpPr>
          <p:cNvPr id="38" name="Shape 31"/>
          <p:cNvSpPr/>
          <p:nvPr/>
        </p:nvSpPr>
        <p:spPr>
          <a:xfrm>
            <a:off x="5524804" y="3931920"/>
            <a:ext cx="6057900" cy="905256"/>
          </a:xfrm>
          <a:prstGeom prst="roundRect">
            <a:avLst>
              <a:gd name="adj" fmla="val 4253"/>
            </a:avLst>
          </a:prstGeom>
          <a:solidFill>
            <a:srgbClr val="FFFFFF">
              <a:alpha val="5000"/>
            </a:srgbClr>
          </a:solidFill>
          <a:ln w="12700">
            <a:solidFill>
              <a:srgbClr val="FFFFFF">
                <a:alpha val="1000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9" name="Text 32"/>
          <p:cNvSpPr txBox="1"/>
          <p:nvPr/>
        </p:nvSpPr>
        <p:spPr>
          <a:xfrm>
            <a:off x="5861303" y="4154119"/>
            <a:ext cx="4389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60A5F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</a:t>
            </a:r>
            <a:endParaRPr lang="en-US" sz="2400" dirty="0"/>
          </a:p>
        </p:txBody>
      </p:sp>
      <p:sp>
        <p:nvSpPr>
          <p:cNvPr id="40" name="Text 33"/>
          <p:cNvSpPr txBox="1"/>
          <p:nvPr/>
        </p:nvSpPr>
        <p:spPr>
          <a:xfrm>
            <a:off x="6391655" y="4132174"/>
            <a:ext cx="1269187" cy="2386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보통 (Average)</a:t>
            </a:r>
            <a:endParaRPr lang="en-US" sz="1300" dirty="0"/>
          </a:p>
        </p:txBody>
      </p:sp>
      <p:sp>
        <p:nvSpPr>
          <p:cNvPr id="41" name="Text 34"/>
          <p:cNvSpPr txBox="1"/>
          <p:nvPr/>
        </p:nvSpPr>
        <p:spPr>
          <a:xfrm>
            <a:off x="6391655" y="4422038"/>
            <a:ext cx="4928616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CBD5E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논지가 모호하거나 일관성이 부족함. 자료 1~2건에 그치며 구조적 불균형이 보임.</a:t>
            </a:r>
            <a:endParaRPr lang="en-US" sz="1100" dirty="0"/>
          </a:p>
        </p:txBody>
      </p:sp>
      <p:sp>
        <p:nvSpPr>
          <p:cNvPr id="42" name="Shape 35"/>
          <p:cNvSpPr/>
          <p:nvPr/>
        </p:nvSpPr>
        <p:spPr>
          <a:xfrm>
            <a:off x="5524804" y="4977079"/>
            <a:ext cx="6057900" cy="905256"/>
          </a:xfrm>
          <a:prstGeom prst="roundRect">
            <a:avLst>
              <a:gd name="adj" fmla="val 4253"/>
            </a:avLst>
          </a:prstGeom>
          <a:solidFill>
            <a:srgbClr val="FFFFFF">
              <a:alpha val="70000"/>
            </a:srgbClr>
          </a:solidFill>
          <a:ln w="12700">
            <a:solidFill>
              <a:srgbClr val="FFFFFF">
                <a:alpha val="1000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3" name="Text 36"/>
          <p:cNvSpPr txBox="1"/>
          <p:nvPr/>
        </p:nvSpPr>
        <p:spPr>
          <a:xfrm>
            <a:off x="5725058" y="5199278"/>
            <a:ext cx="76261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60A5FA">
                    <a:alpha val="70000"/>
                  </a:srgbClr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D/F</a:t>
            </a:r>
            <a:endParaRPr lang="en-US" sz="2400" dirty="0"/>
          </a:p>
        </p:txBody>
      </p:sp>
      <p:sp>
        <p:nvSpPr>
          <p:cNvPr id="44" name="Text 37"/>
          <p:cNvSpPr txBox="1"/>
          <p:nvPr/>
        </p:nvSpPr>
        <p:spPr>
          <a:xfrm>
            <a:off x="6440118" y="5176418"/>
            <a:ext cx="1735531" cy="2386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FFFFF">
                    <a:alpha val="70000"/>
                  </a:srgbClr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미흡/낙제 (Poor/Fail)</a:t>
            </a:r>
            <a:endParaRPr lang="en-US" sz="1300" dirty="0"/>
          </a:p>
        </p:txBody>
      </p:sp>
      <p:sp>
        <p:nvSpPr>
          <p:cNvPr id="45" name="Text 38"/>
          <p:cNvSpPr txBox="1"/>
          <p:nvPr/>
        </p:nvSpPr>
        <p:spPr>
          <a:xfrm>
            <a:off x="6440118" y="5466283"/>
            <a:ext cx="389077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주장이 불명확하거나 근거 없음. 출처 오류 다수 또는 표절 의심.</a:t>
            </a:r>
            <a:endParaRPr lang="en-US" sz="1100" dirty="0"/>
          </a:p>
        </p:txBody>
      </p:sp>
      <p:sp>
        <p:nvSpPr>
          <p:cNvPr id="46" name="Shape 39"/>
          <p:cNvSpPr/>
          <p:nvPr/>
        </p:nvSpPr>
        <p:spPr>
          <a:xfrm>
            <a:off x="5524804" y="6116422"/>
            <a:ext cx="6057900" cy="466344"/>
          </a:xfrm>
          <a:prstGeom prst="roundRect">
            <a:avLst>
              <a:gd name="adj" fmla="val 16006"/>
            </a:avLst>
          </a:prstGeom>
          <a:solidFill>
            <a:srgbClr val="FBBF24">
              <a:alpha val="10000"/>
            </a:srgbClr>
          </a:solidFill>
          <a:ln w="12700">
            <a:solidFill>
              <a:srgbClr val="FBBF24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47" name="Image 5" descr="preencoded.png"/>
          <p:cNvPicPr>
            <a:picLocks noChangeAspect="1"/>
          </p:cNvPicPr>
          <p:nvPr/>
        </p:nvPicPr>
        <p:blipFill>
          <a:blip r:embed="rId5"/>
          <a:srcRect t="-870" b="-870"/>
          <a:stretch/>
        </p:blipFill>
        <p:spPr>
          <a:xfrm>
            <a:off x="6933894" y="6277356"/>
            <a:ext cx="105156" cy="142646"/>
          </a:xfrm>
          <a:prstGeom prst="rect">
            <a:avLst/>
          </a:prstGeom>
        </p:spPr>
      </p:pic>
      <p:sp>
        <p:nvSpPr>
          <p:cNvPr id="48" name="Text 40"/>
          <p:cNvSpPr txBox="1"/>
          <p:nvPr/>
        </p:nvSpPr>
        <p:spPr>
          <a:xfrm>
            <a:off x="7114946" y="6240780"/>
            <a:ext cx="3175711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FCD34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"채점 기준을 역설계하면 작성이 훨씬 쉬워집니다."</a:t>
            </a:r>
            <a:endParaRPr lang="en-US" sz="1100" dirty="0"/>
          </a:p>
        </p:txBody>
      </p:sp>
      <p:sp>
        <p:nvSpPr>
          <p:cNvPr id="49" name="deckgen:wrap:footer"/>
          <p:cNvSpPr txBox="1"/>
          <p:nvPr/>
        </p:nvSpPr>
        <p:spPr>
          <a:xfrm>
            <a:off x="365760" y="6549390"/>
            <a:ext cx="11460480" cy="240030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0">
                <a:solidFill>
                  <a:srgbClr val="8A8F99"/>
                </a:solidFill>
                <a:latin typeface="Pretendard"/>
              </a:rPr>
              <a:t>© 2026 이애본 · 홍문원(洪文院) 발행 · CC BY-NC-ND 4.0 · useful-ai.dreamitbiz.com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0F0F0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204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" name="Shape 2"/>
          <p:cNvSpPr/>
          <p:nvPr/>
        </p:nvSpPr>
        <p:spPr>
          <a:xfrm>
            <a:off x="761695" y="476402"/>
            <a:ext cx="571500" cy="57607"/>
          </a:xfrm>
          <a:prstGeom prst="rect">
            <a:avLst/>
          </a:prstGeom>
          <a:solidFill>
            <a:srgbClr val="00BBF0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 txBox="1"/>
          <p:nvPr/>
        </p:nvSpPr>
        <p:spPr>
          <a:xfrm>
            <a:off x="761695" y="657454"/>
            <a:ext cx="3667658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흔한 실수 Top 10</a:t>
            </a:r>
            <a:endParaRPr lang="en-US" sz="3600" dirty="0"/>
          </a:p>
        </p:txBody>
      </p:sp>
      <p:sp>
        <p:nvSpPr>
          <p:cNvPr id="6" name="Text 4"/>
          <p:cNvSpPr txBox="1"/>
          <p:nvPr/>
        </p:nvSpPr>
        <p:spPr>
          <a:xfrm>
            <a:off x="761695" y="1387145"/>
            <a:ext cx="5477256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dirty="0">
                <a:solidFill>
                  <a:srgbClr val="CBD5E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점수를 깎아먹는 대표적인 감점 요인들을 미리 확인하고 제거하세요.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761695" y="2244852"/>
            <a:ext cx="5048402" cy="9144"/>
          </a:xfrm>
          <a:prstGeom prst="rect">
            <a:avLst/>
          </a:prstGeom>
          <a:solidFill>
            <a:srgbClr val="FFFFFF">
              <a:alpha val="10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rcRect l="-3425" r="-3425"/>
          <a:stretch/>
        </p:blipFill>
        <p:spPr>
          <a:xfrm>
            <a:off x="761695" y="2004365"/>
            <a:ext cx="142646" cy="133502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1030444" y="1958645"/>
            <a:ext cx="865022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94A3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기획 및 태도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761695" y="2478024"/>
            <a:ext cx="5048402" cy="552298"/>
          </a:xfrm>
          <a:prstGeom prst="roundRect">
            <a:avLst>
              <a:gd name="adj" fmla="val 22836"/>
            </a:avLst>
          </a:prstGeom>
          <a:solidFill>
            <a:srgbClr val="FFFFFF">
              <a:alpha val="3000"/>
            </a:srgbClr>
          </a:solidFill>
          <a:ln w="12700">
            <a:solidFill>
              <a:srgbClr val="FFFFFF">
                <a:alpha val="500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Shape 8"/>
          <p:cNvSpPr/>
          <p:nvPr/>
        </p:nvSpPr>
        <p:spPr>
          <a:xfrm>
            <a:off x="961949" y="2621585"/>
            <a:ext cx="267005" cy="267005"/>
          </a:xfrm>
          <a:prstGeom prst="roundRect">
            <a:avLst>
              <a:gd name="adj" fmla="val 73385"/>
            </a:avLst>
          </a:prstGeom>
          <a:solidFill>
            <a:srgbClr val="00BBF0">
              <a:alpha val="10000"/>
            </a:srgbClr>
          </a:solidFill>
          <a:ln w="25400">
            <a:solidFill>
              <a:srgbClr val="00BB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rcRect l="-2838" r="-2838"/>
          <a:stretch/>
        </p:blipFill>
        <p:spPr>
          <a:xfrm>
            <a:off x="1033272" y="2688336"/>
            <a:ext cx="123444" cy="133502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1380744" y="2638044"/>
            <a:ext cx="30769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E2E8F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과제문 오독: 핵심 동사(분석/비교/제안) 미충족</a:t>
            </a:r>
            <a:endParaRPr lang="en-US" sz="1200" dirty="0"/>
          </a:p>
        </p:txBody>
      </p:sp>
      <p:sp>
        <p:nvSpPr>
          <p:cNvPr id="14" name="Shape 10"/>
          <p:cNvSpPr/>
          <p:nvPr/>
        </p:nvSpPr>
        <p:spPr>
          <a:xfrm>
            <a:off x="761695" y="3145536"/>
            <a:ext cx="5048402" cy="552298"/>
          </a:xfrm>
          <a:prstGeom prst="roundRect">
            <a:avLst>
              <a:gd name="adj" fmla="val 22836"/>
            </a:avLst>
          </a:prstGeom>
          <a:solidFill>
            <a:srgbClr val="FFFFFF">
              <a:alpha val="3000"/>
            </a:srgbClr>
          </a:solidFill>
          <a:ln w="12700">
            <a:solidFill>
              <a:srgbClr val="FFFFFF">
                <a:alpha val="500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" name="Shape 11"/>
          <p:cNvSpPr/>
          <p:nvPr/>
        </p:nvSpPr>
        <p:spPr>
          <a:xfrm>
            <a:off x="961949" y="3288182"/>
            <a:ext cx="267005" cy="267005"/>
          </a:xfrm>
          <a:prstGeom prst="roundRect">
            <a:avLst>
              <a:gd name="adj" fmla="val 73385"/>
            </a:avLst>
          </a:prstGeom>
          <a:solidFill>
            <a:srgbClr val="00BBF0">
              <a:alpha val="10000"/>
            </a:srgbClr>
          </a:solidFill>
          <a:ln w="25400">
            <a:solidFill>
              <a:srgbClr val="00BB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4"/>
          <a:srcRect l="-2838" r="-2838"/>
          <a:stretch/>
        </p:blipFill>
        <p:spPr>
          <a:xfrm>
            <a:off x="1033272" y="3354934"/>
            <a:ext cx="123444" cy="133502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1380744" y="3305556"/>
            <a:ext cx="312450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E2E8F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분량 꼼수: 큰 글꼴·넓은 여백으로 페이지 늘리기</a:t>
            </a:r>
            <a:endParaRPr lang="en-US" sz="1200" dirty="0"/>
          </a:p>
        </p:txBody>
      </p:sp>
      <p:sp>
        <p:nvSpPr>
          <p:cNvPr id="18" name="Shape 13"/>
          <p:cNvSpPr/>
          <p:nvPr/>
        </p:nvSpPr>
        <p:spPr>
          <a:xfrm>
            <a:off x="761695" y="3812134"/>
            <a:ext cx="5048402" cy="552298"/>
          </a:xfrm>
          <a:prstGeom prst="roundRect">
            <a:avLst>
              <a:gd name="adj" fmla="val 22836"/>
            </a:avLst>
          </a:prstGeom>
          <a:solidFill>
            <a:srgbClr val="FFFFFF">
              <a:alpha val="3000"/>
            </a:srgbClr>
          </a:solidFill>
          <a:ln w="12700">
            <a:solidFill>
              <a:srgbClr val="FFFFFF">
                <a:alpha val="500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9" name="Shape 14"/>
          <p:cNvSpPr/>
          <p:nvPr/>
        </p:nvSpPr>
        <p:spPr>
          <a:xfrm>
            <a:off x="961949" y="3954780"/>
            <a:ext cx="267005" cy="267005"/>
          </a:xfrm>
          <a:prstGeom prst="roundRect">
            <a:avLst>
              <a:gd name="adj" fmla="val 73385"/>
            </a:avLst>
          </a:prstGeom>
          <a:solidFill>
            <a:srgbClr val="00BBF0">
              <a:alpha val="10000"/>
            </a:srgbClr>
          </a:solidFill>
          <a:ln w="25400">
            <a:solidFill>
              <a:srgbClr val="00BB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20" name="Image 3" descr="preencoded.png"/>
          <p:cNvPicPr>
            <a:picLocks noChangeAspect="1"/>
          </p:cNvPicPr>
          <p:nvPr/>
        </p:nvPicPr>
        <p:blipFill>
          <a:blip r:embed="rId4"/>
          <a:srcRect l="-2838" r="-2838"/>
          <a:stretch/>
        </p:blipFill>
        <p:spPr>
          <a:xfrm>
            <a:off x="1033272" y="4021531"/>
            <a:ext cx="123444" cy="133502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1380744" y="3972154"/>
            <a:ext cx="312450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E2E8F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주제 과대: 기간·대상 미한정으로 자료 수집 불가</a:t>
            </a:r>
            <a:endParaRPr lang="en-US" sz="1200" dirty="0"/>
          </a:p>
        </p:txBody>
      </p:sp>
      <p:sp>
        <p:nvSpPr>
          <p:cNvPr id="22" name="Shape 16"/>
          <p:cNvSpPr/>
          <p:nvPr/>
        </p:nvSpPr>
        <p:spPr>
          <a:xfrm>
            <a:off x="761695" y="4478731"/>
            <a:ext cx="5048402" cy="552298"/>
          </a:xfrm>
          <a:prstGeom prst="roundRect">
            <a:avLst>
              <a:gd name="adj" fmla="val 22836"/>
            </a:avLst>
          </a:prstGeom>
          <a:solidFill>
            <a:srgbClr val="FFFFFF">
              <a:alpha val="3000"/>
            </a:srgbClr>
          </a:solidFill>
          <a:ln w="12700">
            <a:solidFill>
              <a:srgbClr val="FFFFFF">
                <a:alpha val="500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3" name="Shape 17"/>
          <p:cNvSpPr/>
          <p:nvPr/>
        </p:nvSpPr>
        <p:spPr>
          <a:xfrm>
            <a:off x="961949" y="4621378"/>
            <a:ext cx="267005" cy="267005"/>
          </a:xfrm>
          <a:prstGeom prst="roundRect">
            <a:avLst>
              <a:gd name="adj" fmla="val 73385"/>
            </a:avLst>
          </a:prstGeom>
          <a:solidFill>
            <a:srgbClr val="00BBF0">
              <a:alpha val="10000"/>
            </a:srgbClr>
          </a:solidFill>
          <a:ln w="25400">
            <a:solidFill>
              <a:srgbClr val="00BB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24" name="Image 4" descr="preencoded.png"/>
          <p:cNvPicPr>
            <a:picLocks noChangeAspect="1"/>
          </p:cNvPicPr>
          <p:nvPr/>
        </p:nvPicPr>
        <p:blipFill>
          <a:blip r:embed="rId4"/>
          <a:srcRect l="-2838" r="-2838"/>
          <a:stretch/>
        </p:blipFill>
        <p:spPr>
          <a:xfrm>
            <a:off x="1033272" y="4688129"/>
            <a:ext cx="123444" cy="133502"/>
          </a:xfrm>
          <a:prstGeom prst="rect">
            <a:avLst/>
          </a:prstGeom>
        </p:spPr>
      </p:pic>
      <p:sp>
        <p:nvSpPr>
          <p:cNvPr id="25" name="Text 18"/>
          <p:cNvSpPr txBox="1"/>
          <p:nvPr/>
        </p:nvSpPr>
        <p:spPr>
          <a:xfrm>
            <a:off x="1380744" y="4638751"/>
            <a:ext cx="28483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E2E8F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개요 부재: 블록화·목차 설계 없이 초안 직행</a:t>
            </a:r>
            <a:endParaRPr lang="en-US" sz="1200" dirty="0"/>
          </a:p>
        </p:txBody>
      </p:sp>
      <p:sp>
        <p:nvSpPr>
          <p:cNvPr id="26" name="Shape 19"/>
          <p:cNvSpPr/>
          <p:nvPr/>
        </p:nvSpPr>
        <p:spPr>
          <a:xfrm>
            <a:off x="761695" y="5145329"/>
            <a:ext cx="5048402" cy="552298"/>
          </a:xfrm>
          <a:prstGeom prst="roundRect">
            <a:avLst>
              <a:gd name="adj" fmla="val 22836"/>
            </a:avLst>
          </a:prstGeom>
          <a:solidFill>
            <a:srgbClr val="FFFFFF">
              <a:alpha val="3000"/>
            </a:srgbClr>
          </a:solidFill>
          <a:ln w="12700">
            <a:solidFill>
              <a:srgbClr val="FFFFFF">
                <a:alpha val="500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7" name="Shape 20"/>
          <p:cNvSpPr/>
          <p:nvPr/>
        </p:nvSpPr>
        <p:spPr>
          <a:xfrm>
            <a:off x="961949" y="5287975"/>
            <a:ext cx="267005" cy="267005"/>
          </a:xfrm>
          <a:prstGeom prst="roundRect">
            <a:avLst>
              <a:gd name="adj" fmla="val 73385"/>
            </a:avLst>
          </a:prstGeom>
          <a:solidFill>
            <a:srgbClr val="00BBF0">
              <a:alpha val="10000"/>
            </a:srgbClr>
          </a:solidFill>
          <a:ln w="25400">
            <a:solidFill>
              <a:srgbClr val="00BB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28" name="Image 5" descr="preencoded.png"/>
          <p:cNvPicPr>
            <a:picLocks noChangeAspect="1"/>
          </p:cNvPicPr>
          <p:nvPr/>
        </p:nvPicPr>
        <p:blipFill>
          <a:blip r:embed="rId4"/>
          <a:srcRect l="-2838" r="-2838"/>
          <a:stretch/>
        </p:blipFill>
        <p:spPr>
          <a:xfrm>
            <a:off x="1033272" y="5354726"/>
            <a:ext cx="123444" cy="133502"/>
          </a:xfrm>
          <a:prstGeom prst="rect">
            <a:avLst/>
          </a:prstGeom>
        </p:spPr>
      </p:pic>
      <p:sp>
        <p:nvSpPr>
          <p:cNvPr id="29" name="Text 21"/>
          <p:cNvSpPr txBox="1"/>
          <p:nvPr/>
        </p:nvSpPr>
        <p:spPr>
          <a:xfrm>
            <a:off x="1380744" y="5305349"/>
            <a:ext cx="2886761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E2E8F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마감 임박: 퇴고 시간 부족 및 버전 관리 실패</a:t>
            </a:r>
            <a:endParaRPr lang="en-US" sz="1200" dirty="0"/>
          </a:p>
        </p:txBody>
      </p:sp>
      <p:sp>
        <p:nvSpPr>
          <p:cNvPr id="30" name="Shape 22"/>
          <p:cNvSpPr/>
          <p:nvPr/>
        </p:nvSpPr>
        <p:spPr>
          <a:xfrm>
            <a:off x="6381598" y="2244852"/>
            <a:ext cx="5048402" cy="9144"/>
          </a:xfrm>
          <a:prstGeom prst="rect">
            <a:avLst/>
          </a:prstGeom>
          <a:solidFill>
            <a:srgbClr val="FFFFFF">
              <a:alpha val="10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31" name="Image 6" descr="preencoded.png"/>
          <p:cNvPicPr>
            <a:picLocks noChangeAspect="1"/>
          </p:cNvPicPr>
          <p:nvPr/>
        </p:nvPicPr>
        <p:blipFill>
          <a:blip r:embed="rId5"/>
          <a:srcRect l="-3425" r="-3425"/>
          <a:stretch/>
        </p:blipFill>
        <p:spPr>
          <a:xfrm>
            <a:off x="6381598" y="2004365"/>
            <a:ext cx="142646" cy="133502"/>
          </a:xfrm>
          <a:prstGeom prst="rect">
            <a:avLst/>
          </a:prstGeom>
        </p:spPr>
      </p:pic>
      <p:sp>
        <p:nvSpPr>
          <p:cNvPr id="32" name="Text 23"/>
          <p:cNvSpPr txBox="1"/>
          <p:nvPr/>
        </p:nvSpPr>
        <p:spPr>
          <a:xfrm>
            <a:off x="6649432" y="1958645"/>
            <a:ext cx="998525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94A3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글쓰기 및 형식</a:t>
            </a:r>
            <a:endParaRPr lang="en-US" sz="1000" dirty="0"/>
          </a:p>
        </p:txBody>
      </p:sp>
      <p:sp>
        <p:nvSpPr>
          <p:cNvPr id="33" name="Shape 24"/>
          <p:cNvSpPr/>
          <p:nvPr/>
        </p:nvSpPr>
        <p:spPr>
          <a:xfrm>
            <a:off x="6381598" y="2478024"/>
            <a:ext cx="5048402" cy="552298"/>
          </a:xfrm>
          <a:prstGeom prst="roundRect">
            <a:avLst>
              <a:gd name="adj" fmla="val 22836"/>
            </a:avLst>
          </a:prstGeom>
          <a:solidFill>
            <a:srgbClr val="FFFFFF">
              <a:alpha val="3000"/>
            </a:srgbClr>
          </a:solidFill>
          <a:ln w="12700">
            <a:solidFill>
              <a:srgbClr val="FFFFFF">
                <a:alpha val="500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4" name="Shape 25"/>
          <p:cNvSpPr/>
          <p:nvPr/>
        </p:nvSpPr>
        <p:spPr>
          <a:xfrm>
            <a:off x="6581851" y="2621585"/>
            <a:ext cx="267005" cy="267005"/>
          </a:xfrm>
          <a:prstGeom prst="roundRect">
            <a:avLst>
              <a:gd name="adj" fmla="val 73385"/>
            </a:avLst>
          </a:prstGeom>
          <a:solidFill>
            <a:srgbClr val="00BBF0">
              <a:alpha val="10000"/>
            </a:srgbClr>
          </a:solidFill>
          <a:ln w="25400">
            <a:solidFill>
              <a:srgbClr val="00BB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35" name="Image 7" descr="preencoded.png"/>
          <p:cNvPicPr>
            <a:picLocks noChangeAspect="1"/>
          </p:cNvPicPr>
          <p:nvPr/>
        </p:nvPicPr>
        <p:blipFill>
          <a:blip r:embed="rId4"/>
          <a:srcRect l="-2838" r="-2838"/>
          <a:stretch/>
        </p:blipFill>
        <p:spPr>
          <a:xfrm>
            <a:off x="6653174" y="2688336"/>
            <a:ext cx="123444" cy="133502"/>
          </a:xfrm>
          <a:prstGeom prst="rect">
            <a:avLst/>
          </a:prstGeom>
        </p:spPr>
      </p:pic>
      <p:sp>
        <p:nvSpPr>
          <p:cNvPr id="36" name="Text 26"/>
          <p:cNvSpPr txBox="1"/>
          <p:nvPr/>
        </p:nvSpPr>
        <p:spPr>
          <a:xfrm>
            <a:off x="7000646" y="2638044"/>
            <a:ext cx="30861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E2E8F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두괄식 미사용: 핵심이 문단 말미나 중간에 묻힘</a:t>
            </a:r>
            <a:endParaRPr lang="en-US" sz="1200" dirty="0"/>
          </a:p>
        </p:txBody>
      </p:sp>
      <p:sp>
        <p:nvSpPr>
          <p:cNvPr id="37" name="Shape 27"/>
          <p:cNvSpPr/>
          <p:nvPr/>
        </p:nvSpPr>
        <p:spPr>
          <a:xfrm>
            <a:off x="6381598" y="3145536"/>
            <a:ext cx="5048402" cy="552298"/>
          </a:xfrm>
          <a:prstGeom prst="roundRect">
            <a:avLst>
              <a:gd name="adj" fmla="val 22836"/>
            </a:avLst>
          </a:prstGeom>
          <a:solidFill>
            <a:srgbClr val="FFFFFF">
              <a:alpha val="3000"/>
            </a:srgbClr>
          </a:solidFill>
          <a:ln w="12700">
            <a:solidFill>
              <a:srgbClr val="FFFFFF">
                <a:alpha val="500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8" name="Shape 28"/>
          <p:cNvSpPr/>
          <p:nvPr/>
        </p:nvSpPr>
        <p:spPr>
          <a:xfrm>
            <a:off x="6581851" y="3288182"/>
            <a:ext cx="267005" cy="267005"/>
          </a:xfrm>
          <a:prstGeom prst="roundRect">
            <a:avLst>
              <a:gd name="adj" fmla="val 73385"/>
            </a:avLst>
          </a:prstGeom>
          <a:solidFill>
            <a:srgbClr val="00BBF0">
              <a:alpha val="10000"/>
            </a:srgbClr>
          </a:solidFill>
          <a:ln w="25400">
            <a:solidFill>
              <a:srgbClr val="00BB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39" name="Image 8" descr="preencoded.png"/>
          <p:cNvPicPr>
            <a:picLocks noChangeAspect="1"/>
          </p:cNvPicPr>
          <p:nvPr/>
        </p:nvPicPr>
        <p:blipFill>
          <a:blip r:embed="rId4"/>
          <a:srcRect l="-2838" r="-2838"/>
          <a:stretch/>
        </p:blipFill>
        <p:spPr>
          <a:xfrm>
            <a:off x="6653174" y="3354934"/>
            <a:ext cx="123444" cy="133502"/>
          </a:xfrm>
          <a:prstGeom prst="rect">
            <a:avLst/>
          </a:prstGeom>
        </p:spPr>
      </p:pic>
      <p:sp>
        <p:nvSpPr>
          <p:cNvPr id="40" name="Text 29"/>
          <p:cNvSpPr txBox="1"/>
          <p:nvPr/>
        </p:nvSpPr>
        <p:spPr>
          <a:xfrm>
            <a:off x="7000646" y="3305556"/>
            <a:ext cx="317205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E2E8F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주관적 문체: 1·2인칭(나/우리) 및 감정 표현 사용</a:t>
            </a:r>
            <a:endParaRPr lang="en-US" sz="1200" dirty="0"/>
          </a:p>
        </p:txBody>
      </p:sp>
      <p:sp>
        <p:nvSpPr>
          <p:cNvPr id="41" name="Shape 30"/>
          <p:cNvSpPr/>
          <p:nvPr/>
        </p:nvSpPr>
        <p:spPr>
          <a:xfrm>
            <a:off x="6381598" y="3812134"/>
            <a:ext cx="5048402" cy="552298"/>
          </a:xfrm>
          <a:prstGeom prst="roundRect">
            <a:avLst>
              <a:gd name="adj" fmla="val 22836"/>
            </a:avLst>
          </a:prstGeom>
          <a:solidFill>
            <a:srgbClr val="FFFFFF">
              <a:alpha val="3000"/>
            </a:srgbClr>
          </a:solidFill>
          <a:ln w="12700">
            <a:solidFill>
              <a:srgbClr val="FFFFFF">
                <a:alpha val="500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2" name="Shape 31"/>
          <p:cNvSpPr/>
          <p:nvPr/>
        </p:nvSpPr>
        <p:spPr>
          <a:xfrm>
            <a:off x="6581851" y="3954780"/>
            <a:ext cx="267005" cy="267005"/>
          </a:xfrm>
          <a:prstGeom prst="roundRect">
            <a:avLst>
              <a:gd name="adj" fmla="val 73385"/>
            </a:avLst>
          </a:prstGeom>
          <a:solidFill>
            <a:srgbClr val="00BBF0">
              <a:alpha val="10000"/>
            </a:srgbClr>
          </a:solidFill>
          <a:ln w="25400">
            <a:solidFill>
              <a:srgbClr val="00BB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43" name="Image 9" descr="preencoded.png"/>
          <p:cNvPicPr>
            <a:picLocks noChangeAspect="1"/>
          </p:cNvPicPr>
          <p:nvPr/>
        </p:nvPicPr>
        <p:blipFill>
          <a:blip r:embed="rId4"/>
          <a:srcRect l="-2838" r="-2838"/>
          <a:stretch/>
        </p:blipFill>
        <p:spPr>
          <a:xfrm>
            <a:off x="6653174" y="4021531"/>
            <a:ext cx="123444" cy="133502"/>
          </a:xfrm>
          <a:prstGeom prst="rect">
            <a:avLst/>
          </a:prstGeom>
        </p:spPr>
      </p:pic>
      <p:sp>
        <p:nvSpPr>
          <p:cNvPr id="44" name="Text 32"/>
          <p:cNvSpPr txBox="1"/>
          <p:nvPr/>
        </p:nvSpPr>
        <p:spPr>
          <a:xfrm>
            <a:off x="7000646" y="3972154"/>
            <a:ext cx="2658161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E2E8F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무근거 주장: 통계·연구 없이 단정적 서술</a:t>
            </a:r>
            <a:endParaRPr lang="en-US" sz="1200" dirty="0"/>
          </a:p>
        </p:txBody>
      </p:sp>
      <p:sp>
        <p:nvSpPr>
          <p:cNvPr id="45" name="Shape 33"/>
          <p:cNvSpPr/>
          <p:nvPr/>
        </p:nvSpPr>
        <p:spPr>
          <a:xfrm>
            <a:off x="6381598" y="4478731"/>
            <a:ext cx="5048402" cy="552298"/>
          </a:xfrm>
          <a:prstGeom prst="roundRect">
            <a:avLst>
              <a:gd name="adj" fmla="val 22836"/>
            </a:avLst>
          </a:prstGeom>
          <a:solidFill>
            <a:srgbClr val="FFFFFF">
              <a:alpha val="3000"/>
            </a:srgbClr>
          </a:solidFill>
          <a:ln w="12700">
            <a:solidFill>
              <a:srgbClr val="FFFFFF">
                <a:alpha val="500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6" name="Shape 34"/>
          <p:cNvSpPr/>
          <p:nvPr/>
        </p:nvSpPr>
        <p:spPr>
          <a:xfrm>
            <a:off x="6581851" y="4621378"/>
            <a:ext cx="267005" cy="267005"/>
          </a:xfrm>
          <a:prstGeom prst="roundRect">
            <a:avLst>
              <a:gd name="adj" fmla="val 73385"/>
            </a:avLst>
          </a:prstGeom>
          <a:solidFill>
            <a:srgbClr val="00BBF0">
              <a:alpha val="10000"/>
            </a:srgbClr>
          </a:solidFill>
          <a:ln w="25400">
            <a:solidFill>
              <a:srgbClr val="00BB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47" name="Image 10" descr="preencoded.png"/>
          <p:cNvPicPr>
            <a:picLocks noChangeAspect="1"/>
          </p:cNvPicPr>
          <p:nvPr/>
        </p:nvPicPr>
        <p:blipFill>
          <a:blip r:embed="rId4"/>
          <a:srcRect l="-2838" r="-2838"/>
          <a:stretch/>
        </p:blipFill>
        <p:spPr>
          <a:xfrm>
            <a:off x="6653174" y="4688129"/>
            <a:ext cx="123444" cy="133502"/>
          </a:xfrm>
          <a:prstGeom prst="rect">
            <a:avLst/>
          </a:prstGeom>
        </p:spPr>
      </p:pic>
      <p:sp>
        <p:nvSpPr>
          <p:cNvPr id="48" name="Text 35"/>
          <p:cNvSpPr txBox="1"/>
          <p:nvPr/>
        </p:nvSpPr>
        <p:spPr>
          <a:xfrm>
            <a:off x="7000646" y="4638751"/>
            <a:ext cx="30861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E2E8F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출처 오류: 본문 인용과 참고문헌 리스트 불일치</a:t>
            </a:r>
            <a:endParaRPr lang="en-US" sz="1200" dirty="0"/>
          </a:p>
        </p:txBody>
      </p:sp>
      <p:sp>
        <p:nvSpPr>
          <p:cNvPr id="49" name="Shape 36"/>
          <p:cNvSpPr/>
          <p:nvPr/>
        </p:nvSpPr>
        <p:spPr>
          <a:xfrm>
            <a:off x="6381598" y="5145329"/>
            <a:ext cx="5048402" cy="552298"/>
          </a:xfrm>
          <a:prstGeom prst="roundRect">
            <a:avLst>
              <a:gd name="adj" fmla="val 22836"/>
            </a:avLst>
          </a:prstGeom>
          <a:solidFill>
            <a:srgbClr val="FFFFFF">
              <a:alpha val="3000"/>
            </a:srgbClr>
          </a:solidFill>
          <a:ln w="12700">
            <a:solidFill>
              <a:srgbClr val="FFFFFF">
                <a:alpha val="500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0" name="Shape 37"/>
          <p:cNvSpPr/>
          <p:nvPr/>
        </p:nvSpPr>
        <p:spPr>
          <a:xfrm>
            <a:off x="6581851" y="5287975"/>
            <a:ext cx="267005" cy="267005"/>
          </a:xfrm>
          <a:prstGeom prst="roundRect">
            <a:avLst>
              <a:gd name="adj" fmla="val 73385"/>
            </a:avLst>
          </a:prstGeom>
          <a:solidFill>
            <a:srgbClr val="00BBF0">
              <a:alpha val="10000"/>
            </a:srgbClr>
          </a:solidFill>
          <a:ln w="25400">
            <a:solidFill>
              <a:srgbClr val="00BB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51" name="Image 11" descr="preencoded.png"/>
          <p:cNvPicPr>
            <a:picLocks noChangeAspect="1"/>
          </p:cNvPicPr>
          <p:nvPr/>
        </p:nvPicPr>
        <p:blipFill>
          <a:blip r:embed="rId4"/>
          <a:srcRect l="-2838" r="-2838"/>
          <a:stretch/>
        </p:blipFill>
        <p:spPr>
          <a:xfrm>
            <a:off x="6653174" y="5354726"/>
            <a:ext cx="123444" cy="133502"/>
          </a:xfrm>
          <a:prstGeom prst="rect">
            <a:avLst/>
          </a:prstGeom>
        </p:spPr>
      </p:pic>
      <p:sp>
        <p:nvSpPr>
          <p:cNvPr id="52" name="Text 38"/>
          <p:cNvSpPr txBox="1"/>
          <p:nvPr/>
        </p:nvSpPr>
        <p:spPr>
          <a:xfrm>
            <a:off x="7000646" y="5305349"/>
            <a:ext cx="318211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E2E8F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캡션 누락: 표·그림의 제목/출처 및 교차참조 미비</a:t>
            </a:r>
            <a:endParaRPr lang="en-US" sz="1200" dirty="0"/>
          </a:p>
        </p:txBody>
      </p:sp>
      <p:sp>
        <p:nvSpPr>
          <p:cNvPr id="53" name="Shape 39"/>
          <p:cNvSpPr/>
          <p:nvPr/>
        </p:nvSpPr>
        <p:spPr>
          <a:xfrm>
            <a:off x="761695" y="5790895"/>
            <a:ext cx="10668305" cy="685800"/>
          </a:xfrm>
          <a:prstGeom prst="rect">
            <a:avLst/>
          </a:prstGeom>
          <a:solidFill>
            <a:srgbClr val="00BBF0">
              <a:alpha val="10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4" name="Shape 40"/>
          <p:cNvSpPr/>
          <p:nvPr/>
        </p:nvSpPr>
        <p:spPr>
          <a:xfrm>
            <a:off x="761695" y="5790895"/>
            <a:ext cx="38405" cy="685800"/>
          </a:xfrm>
          <a:prstGeom prst="rect">
            <a:avLst/>
          </a:prstGeom>
          <a:solidFill>
            <a:srgbClr val="00BBF0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55" name="Image 12" descr="preencoded.png"/>
          <p:cNvPicPr>
            <a:picLocks noChangeAspect="1"/>
          </p:cNvPicPr>
          <p:nvPr/>
        </p:nvPicPr>
        <p:blipFill>
          <a:blip r:embed="rId6"/>
          <a:srcRect l="-50" r="-50"/>
          <a:stretch/>
        </p:blipFill>
        <p:spPr>
          <a:xfrm>
            <a:off x="1086307" y="5982005"/>
            <a:ext cx="342900" cy="304495"/>
          </a:xfrm>
          <a:prstGeom prst="rect">
            <a:avLst/>
          </a:prstGeom>
        </p:spPr>
      </p:pic>
      <p:sp>
        <p:nvSpPr>
          <p:cNvPr id="56" name="Text 41"/>
          <p:cNvSpPr txBox="1"/>
          <p:nvPr/>
        </p:nvSpPr>
        <p:spPr>
          <a:xfrm>
            <a:off x="1619402" y="6008522"/>
            <a:ext cx="4517136" cy="2386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오늘 이 리스트에서 실수 2개만 줄여도 점수가 확실히 오릅니다.</a:t>
            </a:r>
            <a:endParaRPr lang="en-US" sz="1300" dirty="0"/>
          </a:p>
        </p:txBody>
      </p:sp>
      <p:sp>
        <p:nvSpPr>
          <p:cNvPr id="57" name="deckgen:wrap:footer"/>
          <p:cNvSpPr txBox="1"/>
          <p:nvPr/>
        </p:nvSpPr>
        <p:spPr>
          <a:xfrm>
            <a:off x="365760" y="6549390"/>
            <a:ext cx="11460480" cy="240030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0">
                <a:solidFill>
                  <a:srgbClr val="8A8F99"/>
                </a:solidFill>
                <a:latin typeface="Pretendard"/>
              </a:rPr>
              <a:t>© 2026 이애본 · 홍문원(洪文院) 발행 · CC BY-NC-ND 4.0 · useful-ai.dreamitbiz.com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0F0F0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204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" name="Shape 2"/>
          <p:cNvSpPr/>
          <p:nvPr/>
        </p:nvSpPr>
        <p:spPr>
          <a:xfrm>
            <a:off x="750809" y="320824"/>
            <a:ext cx="571500" cy="57607"/>
          </a:xfrm>
          <a:prstGeom prst="rect">
            <a:avLst/>
          </a:prstGeom>
          <a:solidFill>
            <a:srgbClr val="00BBF0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 txBox="1"/>
          <p:nvPr/>
        </p:nvSpPr>
        <p:spPr>
          <a:xfrm>
            <a:off x="750809" y="501876"/>
            <a:ext cx="5906110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표·그림 캡션 및 교차참조 예시</a:t>
            </a:r>
            <a:endParaRPr lang="en-US" sz="3600" dirty="0"/>
          </a:p>
        </p:txBody>
      </p:sp>
      <p:sp>
        <p:nvSpPr>
          <p:cNvPr id="6" name="Text 4"/>
          <p:cNvSpPr txBox="1"/>
          <p:nvPr/>
        </p:nvSpPr>
        <p:spPr>
          <a:xfrm>
            <a:off x="780484" y="1330367"/>
            <a:ext cx="4349148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dirty="0">
                <a:solidFill>
                  <a:srgbClr val="CBD5E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시각 자료는 독립적인 정보로서 가치를 가져야 하며, </a:t>
            </a:r>
          </a:p>
          <a:p>
            <a:pPr marL="0" indent="0" algn="l">
              <a:buNone/>
            </a:pPr>
            <a:r>
              <a:rPr lang="en-US" sz="1500" dirty="0" err="1">
                <a:solidFill>
                  <a:srgbClr val="CBD5E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반드시</a:t>
            </a:r>
            <a:r>
              <a:rPr lang="en-US" sz="1500" dirty="0">
                <a:solidFill>
                  <a:srgbClr val="CBD5E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본문과 연결되어야 합니다.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790346" y="2451420"/>
            <a:ext cx="4038905" cy="9144"/>
          </a:xfrm>
          <a:prstGeom prst="rect">
            <a:avLst/>
          </a:prstGeom>
          <a:solidFill>
            <a:srgbClr val="FFFFFF">
              <a:alpha val="20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790346" y="1994220"/>
            <a:ext cx="228600" cy="228600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1162507" y="1917411"/>
            <a:ext cx="1420063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작성 5원칙</a:t>
            </a:r>
            <a:endParaRPr lang="en-US" sz="2100" dirty="0"/>
          </a:p>
        </p:txBody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rcRect t="-2725" b="-2725"/>
          <a:stretch/>
        </p:blipFill>
        <p:spPr>
          <a:xfrm>
            <a:off x="790346" y="2803464"/>
            <a:ext cx="142646" cy="171907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1076553" y="2746771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캡션 필수 요소 포함</a:t>
            </a:r>
            <a:endParaRPr lang="en-US" sz="1200" dirty="0"/>
          </a:p>
        </p:txBody>
      </p:sp>
      <p:sp>
        <p:nvSpPr>
          <p:cNvPr id="12" name="Text 8"/>
          <p:cNvSpPr txBox="1"/>
          <p:nvPr/>
        </p:nvSpPr>
        <p:spPr>
          <a:xfrm>
            <a:off x="1076553" y="2975371"/>
            <a:ext cx="373441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표/그림 번호, 핵심 제목, 단위, 출처를 반드시 명기하세요.</a:t>
            </a:r>
            <a:endParaRPr lang="en-US" sz="1200" dirty="0"/>
          </a:p>
        </p:txBody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4"/>
          <a:srcRect t="-2725" b="-2725"/>
          <a:stretch/>
        </p:blipFill>
        <p:spPr>
          <a:xfrm>
            <a:off x="790346" y="3450859"/>
            <a:ext cx="142646" cy="171907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1076553" y="3394167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별도 번호 체계 유지</a:t>
            </a:r>
            <a:endParaRPr lang="en-US" sz="1200" dirty="0"/>
          </a:p>
        </p:txBody>
      </p:sp>
      <p:sp>
        <p:nvSpPr>
          <p:cNvPr id="15" name="Text 10"/>
          <p:cNvSpPr txBox="1"/>
          <p:nvPr/>
        </p:nvSpPr>
        <p:spPr>
          <a:xfrm>
            <a:off x="1076553" y="3622767"/>
            <a:ext cx="385785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&lt;표 1&gt;, &lt;그림 1&gt; 처럼 표와 그림의 번호를 분리하여 매기세요.</a:t>
            </a:r>
            <a:endParaRPr lang="en-US" sz="1200" dirty="0"/>
          </a:p>
        </p:txBody>
      </p:sp>
      <p:pic>
        <p:nvPicPr>
          <p:cNvPr id="16" name="Image 3" descr="preencoded.png"/>
          <p:cNvPicPr>
            <a:picLocks noChangeAspect="1"/>
          </p:cNvPicPr>
          <p:nvPr/>
        </p:nvPicPr>
        <p:blipFill>
          <a:blip r:embed="rId4"/>
          <a:srcRect t="-2725" b="-2725"/>
          <a:stretch/>
        </p:blipFill>
        <p:spPr>
          <a:xfrm>
            <a:off x="790346" y="4327769"/>
            <a:ext cx="142646" cy="171907"/>
          </a:xfrm>
          <a:prstGeom prst="rect">
            <a:avLst/>
          </a:prstGeom>
        </p:spPr>
      </p:pic>
      <p:sp>
        <p:nvSpPr>
          <p:cNvPr id="17" name="Text 11"/>
          <p:cNvSpPr txBox="1"/>
          <p:nvPr/>
        </p:nvSpPr>
        <p:spPr>
          <a:xfrm>
            <a:off x="1076553" y="4270162"/>
            <a:ext cx="1191463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본문 내 교차참조</a:t>
            </a:r>
            <a:endParaRPr lang="en-US" sz="1200" dirty="0"/>
          </a:p>
        </p:txBody>
      </p:sp>
      <p:sp>
        <p:nvSpPr>
          <p:cNvPr id="18" name="Text 12"/>
          <p:cNvSpPr txBox="1"/>
          <p:nvPr/>
        </p:nvSpPr>
        <p:spPr>
          <a:xfrm>
            <a:off x="1076553" y="4498762"/>
            <a:ext cx="3820363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"아래 표 참조" 대신 "표 1에 따르면"과 같이 구체적으로 지칭하세요.</a:t>
            </a:r>
            <a:endParaRPr lang="en-US" sz="1200" dirty="0"/>
          </a:p>
        </p:txBody>
      </p:sp>
      <p:pic>
        <p:nvPicPr>
          <p:cNvPr id="19" name="Image 4" descr="preencoded.png"/>
          <p:cNvPicPr>
            <a:picLocks noChangeAspect="1"/>
          </p:cNvPicPr>
          <p:nvPr/>
        </p:nvPicPr>
        <p:blipFill>
          <a:blip r:embed="rId4"/>
          <a:srcRect t="-2725" b="-2725"/>
          <a:stretch/>
        </p:blipFill>
        <p:spPr>
          <a:xfrm>
            <a:off x="790346" y="5203764"/>
            <a:ext cx="142646" cy="171907"/>
          </a:xfrm>
          <a:prstGeom prst="rect">
            <a:avLst/>
          </a:prstGeom>
        </p:spPr>
      </p:pic>
      <p:sp>
        <p:nvSpPr>
          <p:cNvPr id="20" name="Text 13"/>
          <p:cNvSpPr txBox="1"/>
          <p:nvPr/>
        </p:nvSpPr>
        <p:spPr>
          <a:xfrm>
            <a:off x="1076553" y="5147071"/>
            <a:ext cx="1191463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일관된 서식 유지</a:t>
            </a:r>
            <a:endParaRPr lang="en-US" sz="1200" dirty="0"/>
          </a:p>
        </p:txBody>
      </p:sp>
      <p:sp>
        <p:nvSpPr>
          <p:cNvPr id="21" name="Text 14"/>
          <p:cNvSpPr txBox="1"/>
          <p:nvPr/>
        </p:nvSpPr>
        <p:spPr>
          <a:xfrm>
            <a:off x="1076553" y="5375671"/>
            <a:ext cx="341071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값 정렬(우측 정렬), 자릿수, 단위 표기를 통일하세요.</a:t>
            </a:r>
            <a:endParaRPr lang="en-US" sz="1200" dirty="0"/>
          </a:p>
        </p:txBody>
      </p:sp>
      <p:pic>
        <p:nvPicPr>
          <p:cNvPr id="22" name="Image 5" descr="preencoded.png"/>
          <p:cNvPicPr>
            <a:picLocks noChangeAspect="1"/>
          </p:cNvPicPr>
          <p:nvPr/>
        </p:nvPicPr>
        <p:blipFill>
          <a:blip r:embed="rId4"/>
          <a:srcRect t="-2725" b="-2725"/>
          <a:stretch/>
        </p:blipFill>
        <p:spPr>
          <a:xfrm>
            <a:off x="790346" y="5851159"/>
            <a:ext cx="142646" cy="171907"/>
          </a:xfrm>
          <a:prstGeom prst="rect">
            <a:avLst/>
          </a:prstGeom>
        </p:spPr>
      </p:pic>
      <p:sp>
        <p:nvSpPr>
          <p:cNvPr id="23" name="Text 15"/>
          <p:cNvSpPr txBox="1"/>
          <p:nvPr/>
        </p:nvSpPr>
        <p:spPr>
          <a:xfrm>
            <a:off x="1076553" y="5794467"/>
            <a:ext cx="1143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해상도와 가독성</a:t>
            </a:r>
            <a:endParaRPr lang="en-US" sz="1200" dirty="0"/>
          </a:p>
        </p:txBody>
      </p:sp>
      <p:sp>
        <p:nvSpPr>
          <p:cNvPr id="24" name="Text 16"/>
          <p:cNvSpPr txBox="1"/>
          <p:nvPr/>
        </p:nvSpPr>
        <p:spPr>
          <a:xfrm>
            <a:off x="1076553" y="6023067"/>
            <a:ext cx="38679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그림은 뭉개지지 않게, 범례와 축 제목은 식별 가능해야 합니다.</a:t>
            </a:r>
            <a:endParaRPr lang="en-US" sz="1200" dirty="0"/>
          </a:p>
        </p:txBody>
      </p:sp>
      <p:sp>
        <p:nvSpPr>
          <p:cNvPr id="25" name="Shape 17"/>
          <p:cNvSpPr/>
          <p:nvPr/>
        </p:nvSpPr>
        <p:spPr>
          <a:xfrm>
            <a:off x="5448300" y="1220594"/>
            <a:ext cx="6057900" cy="2076602"/>
          </a:xfrm>
          <a:prstGeom prst="roundRect">
            <a:avLst>
              <a:gd name="adj" fmla="val 1212"/>
            </a:avLst>
          </a:prstGeom>
          <a:solidFill>
            <a:srgbClr val="FFFFFF">
              <a:alpha val="5000"/>
            </a:srgbClr>
          </a:solidFill>
          <a:ln w="12700">
            <a:solidFill>
              <a:srgbClr val="FFFFFF">
                <a:alpha val="1000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26" name="Image 6" descr="preencoded.png"/>
          <p:cNvPicPr>
            <a:picLocks noChangeAspect="1"/>
          </p:cNvPicPr>
          <p:nvPr/>
        </p:nvPicPr>
        <p:blipFill>
          <a:blip r:embed="rId5"/>
          <a:srcRect l="-3425" r="-3425"/>
          <a:stretch/>
        </p:blipFill>
        <p:spPr>
          <a:xfrm>
            <a:off x="5648554" y="1456509"/>
            <a:ext cx="142646" cy="133502"/>
          </a:xfrm>
          <a:prstGeom prst="rect">
            <a:avLst/>
          </a:prstGeom>
        </p:spPr>
      </p:pic>
      <p:sp>
        <p:nvSpPr>
          <p:cNvPr id="27" name="Text 18"/>
          <p:cNvSpPr txBox="1"/>
          <p:nvPr/>
        </p:nvSpPr>
        <p:spPr>
          <a:xfrm>
            <a:off x="5791200" y="1419933"/>
            <a:ext cx="177027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60A5F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캡션(CAPTION) 작성 예시</a:t>
            </a:r>
            <a:endParaRPr lang="en-US" sz="1000" dirty="0"/>
          </a:p>
        </p:txBody>
      </p:sp>
      <p:sp>
        <p:nvSpPr>
          <p:cNvPr id="28" name="Shape 19"/>
          <p:cNvSpPr/>
          <p:nvPr/>
        </p:nvSpPr>
        <p:spPr>
          <a:xfrm>
            <a:off x="5648554" y="1720771"/>
            <a:ext cx="5658307" cy="1371600"/>
          </a:xfrm>
          <a:prstGeom prst="roundRect">
            <a:avLst>
              <a:gd name="adj" fmla="val 1852"/>
            </a:avLst>
          </a:prstGeom>
          <a:solidFill>
            <a:srgbClr val="000000">
              <a:alpha val="20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9" name="Shape 20"/>
          <p:cNvSpPr/>
          <p:nvPr/>
        </p:nvSpPr>
        <p:spPr>
          <a:xfrm>
            <a:off x="5648554" y="1720771"/>
            <a:ext cx="28346" cy="1371600"/>
          </a:xfrm>
          <a:prstGeom prst="rect">
            <a:avLst/>
          </a:prstGeom>
          <a:solidFill>
            <a:srgbClr val="00BBF0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0" name="Text 21"/>
          <p:cNvSpPr txBox="1"/>
          <p:nvPr/>
        </p:nvSpPr>
        <p:spPr>
          <a:xfrm>
            <a:off x="5819546" y="1864331"/>
            <a:ext cx="278160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E2E8F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&lt;표 1&gt; 청년층 실업률 추이 (2015~2024)</a:t>
            </a:r>
            <a:endParaRPr lang="en-US" sz="1200" dirty="0"/>
          </a:p>
        </p:txBody>
      </p:sp>
      <p:sp>
        <p:nvSpPr>
          <p:cNvPr id="31" name="Text 22"/>
          <p:cNvSpPr txBox="1"/>
          <p:nvPr/>
        </p:nvSpPr>
        <p:spPr>
          <a:xfrm>
            <a:off x="10615574" y="2140480"/>
            <a:ext cx="655625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E2E8F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(단위: %)</a:t>
            </a:r>
            <a:endParaRPr lang="en-US" sz="1000" dirty="0"/>
          </a:p>
        </p:txBody>
      </p:sp>
      <p:sp>
        <p:nvSpPr>
          <p:cNvPr id="32" name="Shape 23"/>
          <p:cNvSpPr/>
          <p:nvPr/>
        </p:nvSpPr>
        <p:spPr>
          <a:xfrm>
            <a:off x="5819546" y="2393769"/>
            <a:ext cx="5343754" cy="9144"/>
          </a:xfrm>
          <a:prstGeom prst="rect">
            <a:avLst/>
          </a:prstGeom>
          <a:solidFill>
            <a:srgbClr val="FFFFFF">
              <a:alpha val="30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3" name="Text 24"/>
          <p:cNvSpPr txBox="1"/>
          <p:nvPr/>
        </p:nvSpPr>
        <p:spPr>
          <a:xfrm>
            <a:off x="5819546" y="2450462"/>
            <a:ext cx="973836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CBD5E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[데이터 표 영역]</a:t>
            </a:r>
            <a:endParaRPr lang="en-US" sz="1000" dirty="0"/>
          </a:p>
        </p:txBody>
      </p:sp>
      <p:sp>
        <p:nvSpPr>
          <p:cNvPr id="34" name="Shape 25"/>
          <p:cNvSpPr/>
          <p:nvPr/>
        </p:nvSpPr>
        <p:spPr>
          <a:xfrm>
            <a:off x="5819546" y="2692778"/>
            <a:ext cx="5343754" cy="9144"/>
          </a:xfrm>
          <a:prstGeom prst="rect">
            <a:avLst/>
          </a:prstGeom>
          <a:solidFill>
            <a:srgbClr val="FFFFFF">
              <a:alpha val="30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5" name="Text 26"/>
          <p:cNvSpPr txBox="1"/>
          <p:nvPr/>
        </p:nvSpPr>
        <p:spPr>
          <a:xfrm>
            <a:off x="5819546" y="2750385"/>
            <a:ext cx="2192731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E2E8F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출처: 통계청, 「경제활동인구조사」, KOSIS (2025)</a:t>
            </a:r>
            <a:endParaRPr lang="en-US" sz="1000" dirty="0"/>
          </a:p>
        </p:txBody>
      </p:sp>
      <p:sp>
        <p:nvSpPr>
          <p:cNvPr id="36" name="Shape 27"/>
          <p:cNvSpPr/>
          <p:nvPr/>
        </p:nvSpPr>
        <p:spPr>
          <a:xfrm>
            <a:off x="5448300" y="3429784"/>
            <a:ext cx="6057900" cy="1752905"/>
          </a:xfrm>
          <a:prstGeom prst="roundRect">
            <a:avLst>
              <a:gd name="adj" fmla="val 1701"/>
            </a:avLst>
          </a:prstGeom>
          <a:solidFill>
            <a:srgbClr val="FFFFFF">
              <a:alpha val="5000"/>
            </a:srgbClr>
          </a:solidFill>
          <a:ln w="12700">
            <a:solidFill>
              <a:srgbClr val="FFFFFF">
                <a:alpha val="1000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37" name="Image 7" descr="preencoded.png"/>
          <p:cNvPicPr>
            <a:picLocks noChangeAspect="1"/>
          </p:cNvPicPr>
          <p:nvPr/>
        </p:nvPicPr>
        <p:blipFill>
          <a:blip r:embed="rId6"/>
          <a:srcRect l="-4247" r="-4247"/>
          <a:stretch/>
        </p:blipFill>
        <p:spPr>
          <a:xfrm>
            <a:off x="5648554" y="3666614"/>
            <a:ext cx="181051" cy="133502"/>
          </a:xfrm>
          <a:prstGeom prst="rect">
            <a:avLst/>
          </a:prstGeom>
        </p:spPr>
      </p:pic>
      <p:sp>
        <p:nvSpPr>
          <p:cNvPr id="38" name="Text 28"/>
          <p:cNvSpPr txBox="1"/>
          <p:nvPr/>
        </p:nvSpPr>
        <p:spPr>
          <a:xfrm>
            <a:off x="5829605" y="3630038"/>
            <a:ext cx="2475281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60A5F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본문 교차참조(CROSS-REFERENCE)</a:t>
            </a:r>
            <a:endParaRPr lang="en-US" sz="1000" dirty="0"/>
          </a:p>
        </p:txBody>
      </p:sp>
      <p:sp>
        <p:nvSpPr>
          <p:cNvPr id="39" name="Shape 29"/>
          <p:cNvSpPr/>
          <p:nvPr/>
        </p:nvSpPr>
        <p:spPr>
          <a:xfrm>
            <a:off x="5648554" y="3930875"/>
            <a:ext cx="5658307" cy="1047902"/>
          </a:xfrm>
          <a:prstGeom prst="roundRect">
            <a:avLst>
              <a:gd name="adj" fmla="val 3173"/>
            </a:avLst>
          </a:prstGeom>
          <a:solidFill>
            <a:srgbClr val="000000">
              <a:alpha val="20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0" name="Shape 30"/>
          <p:cNvSpPr/>
          <p:nvPr/>
        </p:nvSpPr>
        <p:spPr>
          <a:xfrm>
            <a:off x="5648554" y="3930875"/>
            <a:ext cx="28346" cy="1047902"/>
          </a:xfrm>
          <a:prstGeom prst="rect">
            <a:avLst/>
          </a:prstGeom>
          <a:solidFill>
            <a:srgbClr val="00BBF0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1" name="Text 31"/>
          <p:cNvSpPr txBox="1"/>
          <p:nvPr/>
        </p:nvSpPr>
        <p:spPr>
          <a:xfrm>
            <a:off x="5819546" y="4074436"/>
            <a:ext cx="544891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E2E8F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"정부의 고용 연계 정책 도입 이후 청년 실업률은 &lt;표 1&gt;과 같이 지속적으로 감소하는 추세를 보였다." (가상의 예시)</a:t>
            </a:r>
            <a:endParaRPr lang="en-US" sz="1200" dirty="0"/>
          </a:p>
        </p:txBody>
      </p:sp>
      <p:sp>
        <p:nvSpPr>
          <p:cNvPr id="42" name="Text 32"/>
          <p:cNvSpPr txBox="1"/>
          <p:nvPr/>
        </p:nvSpPr>
        <p:spPr>
          <a:xfrm>
            <a:off x="5819546" y="4607531"/>
            <a:ext cx="53721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E2E8F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"세부적인 변수 간의 상관관계는 &lt;그림 2&gt;를 참조하면 더욱 명확히 확인할 수 있다."</a:t>
            </a:r>
            <a:endParaRPr lang="en-US" sz="1200" dirty="0"/>
          </a:p>
        </p:txBody>
      </p:sp>
      <p:sp>
        <p:nvSpPr>
          <p:cNvPr id="43" name="Shape 33"/>
          <p:cNvSpPr/>
          <p:nvPr/>
        </p:nvSpPr>
        <p:spPr>
          <a:xfrm>
            <a:off x="5448300" y="5321678"/>
            <a:ext cx="6057900" cy="1399946"/>
          </a:xfrm>
          <a:prstGeom prst="roundRect">
            <a:avLst>
              <a:gd name="adj" fmla="val 2666"/>
            </a:avLst>
          </a:prstGeom>
          <a:solidFill>
            <a:srgbClr val="FFFFFF">
              <a:alpha val="5000"/>
            </a:srgbClr>
          </a:solidFill>
          <a:ln w="12700">
            <a:solidFill>
              <a:srgbClr val="FFFFFF">
                <a:alpha val="1000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44" name="Image 8" descr="preencoded.png"/>
          <p:cNvPicPr>
            <a:picLocks noChangeAspect="1"/>
          </p:cNvPicPr>
          <p:nvPr/>
        </p:nvPicPr>
        <p:blipFill>
          <a:blip r:embed="rId7"/>
          <a:srcRect l="-2838" r="-2838"/>
          <a:stretch/>
        </p:blipFill>
        <p:spPr>
          <a:xfrm>
            <a:off x="5648554" y="5557593"/>
            <a:ext cx="123444" cy="133502"/>
          </a:xfrm>
          <a:prstGeom prst="rect">
            <a:avLst/>
          </a:prstGeom>
        </p:spPr>
      </p:pic>
      <p:sp>
        <p:nvSpPr>
          <p:cNvPr id="45" name="Text 34"/>
          <p:cNvSpPr txBox="1"/>
          <p:nvPr/>
        </p:nvSpPr>
        <p:spPr>
          <a:xfrm>
            <a:off x="5771998" y="5521931"/>
            <a:ext cx="119877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60A5F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주석(NOTE) 활용</a:t>
            </a:r>
            <a:endParaRPr lang="en-US" sz="1000" dirty="0"/>
          </a:p>
        </p:txBody>
      </p:sp>
      <p:sp>
        <p:nvSpPr>
          <p:cNvPr id="46" name="Shape 35"/>
          <p:cNvSpPr/>
          <p:nvPr/>
        </p:nvSpPr>
        <p:spPr>
          <a:xfrm>
            <a:off x="5648554" y="5822769"/>
            <a:ext cx="5658307" cy="705002"/>
          </a:xfrm>
          <a:prstGeom prst="roundRect">
            <a:avLst>
              <a:gd name="adj" fmla="val 7011"/>
            </a:avLst>
          </a:prstGeom>
          <a:solidFill>
            <a:srgbClr val="000000">
              <a:alpha val="20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7" name="Shape 36"/>
          <p:cNvSpPr/>
          <p:nvPr/>
        </p:nvSpPr>
        <p:spPr>
          <a:xfrm>
            <a:off x="5648554" y="5822769"/>
            <a:ext cx="28346" cy="705002"/>
          </a:xfrm>
          <a:prstGeom prst="rect">
            <a:avLst/>
          </a:prstGeom>
          <a:solidFill>
            <a:srgbClr val="00BBF0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8" name="Text 37"/>
          <p:cNvSpPr txBox="1"/>
          <p:nvPr/>
        </p:nvSpPr>
        <p:spPr>
          <a:xfrm>
            <a:off x="5819546" y="5965415"/>
            <a:ext cx="5361127" cy="4096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i="1" dirty="0">
                <a:solidFill>
                  <a:srgbClr val="94A3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Note. N=1,200. 괄호 안의 수치는 표준편차를 의미함. *p &lt; .05. 결측치는 분석에서 제외하였음.</a:t>
            </a:r>
            <a:endParaRPr lang="en-US" sz="1000" dirty="0"/>
          </a:p>
        </p:txBody>
      </p:sp>
      <p:sp>
        <p:nvSpPr>
          <p:cNvPr id="49" name="deckgen:wrap:footer"/>
          <p:cNvSpPr txBox="1"/>
          <p:nvPr/>
        </p:nvSpPr>
        <p:spPr>
          <a:xfrm>
            <a:off x="365760" y="6549390"/>
            <a:ext cx="11460480" cy="240030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0">
                <a:solidFill>
                  <a:srgbClr val="8A8F99"/>
                </a:solidFill>
                <a:latin typeface="Pretendard"/>
              </a:rPr>
              <a:t>© 2026 이애본 · 홍문원(洪文院) 발행 · CC BY-NC-ND 4.0 · useful-ai.dreamitbiz.com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0F0F0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204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" name="Shape 2"/>
          <p:cNvSpPr/>
          <p:nvPr/>
        </p:nvSpPr>
        <p:spPr>
          <a:xfrm>
            <a:off x="761695" y="476402"/>
            <a:ext cx="571500" cy="57607"/>
          </a:xfrm>
          <a:prstGeom prst="rect">
            <a:avLst/>
          </a:prstGeom>
          <a:solidFill>
            <a:srgbClr val="00BBF0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 txBox="1"/>
          <p:nvPr/>
        </p:nvSpPr>
        <p:spPr>
          <a:xfrm>
            <a:off x="761695" y="657454"/>
            <a:ext cx="4420210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생성형 AI 활용 가이드</a:t>
            </a:r>
            <a:endParaRPr lang="en-US" sz="3600" dirty="0"/>
          </a:p>
        </p:txBody>
      </p:sp>
      <p:sp>
        <p:nvSpPr>
          <p:cNvPr id="6" name="Text 4"/>
          <p:cNvSpPr txBox="1"/>
          <p:nvPr/>
        </p:nvSpPr>
        <p:spPr>
          <a:xfrm>
            <a:off x="761695" y="1387145"/>
            <a:ext cx="6505956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dirty="0">
                <a:solidFill>
                  <a:srgbClr val="CBD5E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허용 범위와 금지 사항을 명확히 구분하고, 반드시 '공적 자료'로 교차 검증하세요.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761695" y="2501798"/>
            <a:ext cx="5048402" cy="9144"/>
          </a:xfrm>
          <a:prstGeom prst="rect">
            <a:avLst/>
          </a:prstGeom>
          <a:solidFill>
            <a:srgbClr val="FFFFFF">
              <a:alpha val="20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rcRect l="-80" r="-80"/>
          <a:stretch/>
        </p:blipFill>
        <p:spPr>
          <a:xfrm>
            <a:off x="761695" y="2043684"/>
            <a:ext cx="286207" cy="228600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1190549" y="1967789"/>
            <a:ext cx="3105302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허용(Do) vs 금지(Don't)</a:t>
            </a:r>
            <a:endParaRPr lang="en-US" sz="2100" dirty="0"/>
          </a:p>
        </p:txBody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767138" y="2836469"/>
            <a:ext cx="171907" cy="171907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1009498" y="2796235"/>
            <a:ext cx="1783080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34D39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허용 범위 (Safe Zone)</a:t>
            </a:r>
            <a:endParaRPr lang="en-US" sz="1300" dirty="0"/>
          </a:p>
        </p:txBody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5"/>
          <a:srcRect t="-43" b="-43"/>
          <a:stretch/>
        </p:blipFill>
        <p:spPr>
          <a:xfrm>
            <a:off x="825049" y="3161995"/>
            <a:ext cx="133502" cy="152705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990295" y="3161995"/>
            <a:ext cx="2115007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CBD5E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아이데이션 및 개요 초안 구조화</a:t>
            </a:r>
            <a:endParaRPr lang="en-US" sz="1200" dirty="0"/>
          </a:p>
        </p:txBody>
      </p:sp>
      <p:pic>
        <p:nvPicPr>
          <p:cNvPr id="14" name="Image 3" descr="preencoded.png"/>
          <p:cNvPicPr>
            <a:picLocks noChangeAspect="1"/>
          </p:cNvPicPr>
          <p:nvPr/>
        </p:nvPicPr>
        <p:blipFill>
          <a:blip r:embed="rId5"/>
          <a:srcRect t="-43" b="-43"/>
          <a:stretch/>
        </p:blipFill>
        <p:spPr>
          <a:xfrm>
            <a:off x="825049" y="3486607"/>
            <a:ext cx="133502" cy="152705"/>
          </a:xfrm>
          <a:prstGeom prst="rect">
            <a:avLst/>
          </a:prstGeom>
        </p:spPr>
      </p:pic>
      <p:sp>
        <p:nvSpPr>
          <p:cNvPr id="15" name="Text 9"/>
          <p:cNvSpPr txBox="1"/>
          <p:nvPr/>
        </p:nvSpPr>
        <p:spPr>
          <a:xfrm>
            <a:off x="990295" y="3486607"/>
            <a:ext cx="2686507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CBD5E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키워드 확장 및 검색식(Query) 작성 보조</a:t>
            </a:r>
            <a:endParaRPr lang="en-US" sz="1200" dirty="0"/>
          </a:p>
        </p:txBody>
      </p:sp>
      <p:pic>
        <p:nvPicPr>
          <p:cNvPr id="16" name="Image 4" descr="preencoded.png"/>
          <p:cNvPicPr>
            <a:picLocks noChangeAspect="1"/>
          </p:cNvPicPr>
          <p:nvPr/>
        </p:nvPicPr>
        <p:blipFill>
          <a:blip r:embed="rId5"/>
          <a:srcRect t="-43" b="-43"/>
          <a:stretch/>
        </p:blipFill>
        <p:spPr>
          <a:xfrm>
            <a:off x="825049" y="3810305"/>
            <a:ext cx="133502" cy="152705"/>
          </a:xfrm>
          <a:prstGeom prst="rect">
            <a:avLst/>
          </a:prstGeom>
        </p:spPr>
      </p:pic>
      <p:sp>
        <p:nvSpPr>
          <p:cNvPr id="17" name="Text 10"/>
          <p:cNvSpPr txBox="1"/>
          <p:nvPr/>
        </p:nvSpPr>
        <p:spPr>
          <a:xfrm>
            <a:off x="990295" y="3810305"/>
            <a:ext cx="202905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CBD5E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문장 다듬기 및 번역/요약 제안</a:t>
            </a:r>
            <a:endParaRPr lang="en-US" sz="1200" dirty="0"/>
          </a:p>
        </p:txBody>
      </p:sp>
      <p:pic>
        <p:nvPicPr>
          <p:cNvPr id="18" name="Image 5" descr="preencoded.png"/>
          <p:cNvPicPr>
            <a:picLocks noChangeAspect="1"/>
          </p:cNvPicPr>
          <p:nvPr/>
        </p:nvPicPr>
        <p:blipFill>
          <a:blip r:embed="rId5"/>
          <a:srcRect t="-43" b="-43"/>
          <a:stretch/>
        </p:blipFill>
        <p:spPr>
          <a:xfrm>
            <a:off x="825049" y="4134002"/>
            <a:ext cx="133502" cy="152705"/>
          </a:xfrm>
          <a:prstGeom prst="rect">
            <a:avLst/>
          </a:prstGeom>
        </p:spPr>
      </p:pic>
      <p:sp>
        <p:nvSpPr>
          <p:cNvPr id="19" name="Text 11"/>
          <p:cNvSpPr txBox="1"/>
          <p:nvPr/>
        </p:nvSpPr>
        <p:spPr>
          <a:xfrm>
            <a:off x="990295" y="4134002"/>
            <a:ext cx="21717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CBD5E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코딩/데이터 분석 코드 초안 생성</a:t>
            </a:r>
            <a:endParaRPr lang="en-US" sz="1200" dirty="0"/>
          </a:p>
        </p:txBody>
      </p:sp>
      <p:pic>
        <p:nvPicPr>
          <p:cNvPr id="20" name="Image 6" descr="preencoded.png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761695" y="4830775"/>
            <a:ext cx="171907" cy="171907"/>
          </a:xfrm>
          <a:prstGeom prst="rect">
            <a:avLst/>
          </a:prstGeom>
        </p:spPr>
      </p:pic>
      <p:sp>
        <p:nvSpPr>
          <p:cNvPr id="21" name="Text 12"/>
          <p:cNvSpPr txBox="1"/>
          <p:nvPr/>
        </p:nvSpPr>
        <p:spPr>
          <a:xfrm>
            <a:off x="1009498" y="4791456"/>
            <a:ext cx="2011680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8717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금지 사항 (Danger Zone)</a:t>
            </a:r>
            <a:endParaRPr lang="en-US" sz="1300" dirty="0"/>
          </a:p>
        </p:txBody>
      </p:sp>
      <p:pic>
        <p:nvPicPr>
          <p:cNvPr id="22" name="Image 7" descr="preencoded.png"/>
          <p:cNvPicPr>
            <a:picLocks noChangeAspect="1"/>
          </p:cNvPicPr>
          <p:nvPr/>
        </p:nvPicPr>
        <p:blipFill>
          <a:blip r:embed="rId7"/>
          <a:srcRect t="-100" b="-100"/>
          <a:stretch/>
        </p:blipFill>
        <p:spPr>
          <a:xfrm>
            <a:off x="825049" y="5157216"/>
            <a:ext cx="114300" cy="152705"/>
          </a:xfrm>
          <a:prstGeom prst="rect">
            <a:avLst/>
          </a:prstGeom>
        </p:spPr>
      </p:pic>
      <p:sp>
        <p:nvSpPr>
          <p:cNvPr id="23" name="Text 13"/>
          <p:cNvSpPr txBox="1"/>
          <p:nvPr/>
        </p:nvSpPr>
        <p:spPr>
          <a:xfrm>
            <a:off x="972007" y="5157216"/>
            <a:ext cx="304861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CBD5E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출처 없는 사실이나 통계 생성 (팩트 조작 위험)</a:t>
            </a:r>
            <a:endParaRPr lang="en-US" sz="1200" dirty="0"/>
          </a:p>
        </p:txBody>
      </p:sp>
      <p:pic>
        <p:nvPicPr>
          <p:cNvPr id="24" name="Image 8" descr="preencoded.png"/>
          <p:cNvPicPr>
            <a:picLocks noChangeAspect="1"/>
          </p:cNvPicPr>
          <p:nvPr/>
        </p:nvPicPr>
        <p:blipFill>
          <a:blip r:embed="rId7"/>
          <a:srcRect t="-100" b="-100"/>
          <a:stretch/>
        </p:blipFill>
        <p:spPr>
          <a:xfrm>
            <a:off x="825049" y="5480914"/>
            <a:ext cx="114300" cy="152705"/>
          </a:xfrm>
          <a:prstGeom prst="rect">
            <a:avLst/>
          </a:prstGeom>
        </p:spPr>
      </p:pic>
      <p:sp>
        <p:nvSpPr>
          <p:cNvPr id="25" name="Text 14"/>
          <p:cNvSpPr txBox="1"/>
          <p:nvPr/>
        </p:nvSpPr>
        <p:spPr>
          <a:xfrm>
            <a:off x="972007" y="5480914"/>
            <a:ext cx="1991563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CBD5E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참고문헌 날조 (할루시네이션)</a:t>
            </a:r>
            <a:endParaRPr lang="en-US" sz="1200" dirty="0"/>
          </a:p>
        </p:txBody>
      </p:sp>
      <p:pic>
        <p:nvPicPr>
          <p:cNvPr id="26" name="Image 9" descr="preencoded.png"/>
          <p:cNvPicPr>
            <a:picLocks noChangeAspect="1"/>
          </p:cNvPicPr>
          <p:nvPr/>
        </p:nvPicPr>
        <p:blipFill>
          <a:blip r:embed="rId7"/>
          <a:srcRect t="-100" b="-100"/>
          <a:stretch/>
        </p:blipFill>
        <p:spPr>
          <a:xfrm>
            <a:off x="825049" y="5804611"/>
            <a:ext cx="114300" cy="152705"/>
          </a:xfrm>
          <a:prstGeom prst="rect">
            <a:avLst/>
          </a:prstGeom>
        </p:spPr>
      </p:pic>
      <p:sp>
        <p:nvSpPr>
          <p:cNvPr id="27" name="Text 15"/>
          <p:cNvSpPr txBox="1"/>
          <p:nvPr/>
        </p:nvSpPr>
        <p:spPr>
          <a:xfrm>
            <a:off x="972007" y="5804611"/>
            <a:ext cx="243870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CBD5E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결과물을 검증 없이 그대로 복사·제출</a:t>
            </a:r>
            <a:endParaRPr lang="en-US" sz="1200" dirty="0"/>
          </a:p>
        </p:txBody>
      </p:sp>
      <p:pic>
        <p:nvPicPr>
          <p:cNvPr id="28" name="Image 10" descr="preencoded.png"/>
          <p:cNvPicPr>
            <a:picLocks noChangeAspect="1"/>
          </p:cNvPicPr>
          <p:nvPr/>
        </p:nvPicPr>
        <p:blipFill>
          <a:blip r:embed="rId7"/>
          <a:srcRect t="-100" b="-100"/>
          <a:stretch/>
        </p:blipFill>
        <p:spPr>
          <a:xfrm>
            <a:off x="825049" y="6128309"/>
            <a:ext cx="114300" cy="152705"/>
          </a:xfrm>
          <a:prstGeom prst="rect">
            <a:avLst/>
          </a:prstGeom>
        </p:spPr>
      </p:pic>
      <p:sp>
        <p:nvSpPr>
          <p:cNvPr id="29" name="Text 16"/>
          <p:cNvSpPr txBox="1"/>
          <p:nvPr/>
        </p:nvSpPr>
        <p:spPr>
          <a:xfrm>
            <a:off x="972007" y="6128309"/>
            <a:ext cx="243870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CBD5E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개인정보 및 저작권 민감 데이터 입력</a:t>
            </a:r>
            <a:endParaRPr lang="en-US" sz="1200" dirty="0"/>
          </a:p>
        </p:txBody>
      </p:sp>
      <p:sp>
        <p:nvSpPr>
          <p:cNvPr id="30" name="Shape 17"/>
          <p:cNvSpPr/>
          <p:nvPr/>
        </p:nvSpPr>
        <p:spPr>
          <a:xfrm>
            <a:off x="6381598" y="1958645"/>
            <a:ext cx="5048402" cy="4743907"/>
          </a:xfrm>
          <a:prstGeom prst="roundRect">
            <a:avLst>
              <a:gd name="adj" fmla="val 155"/>
            </a:avLst>
          </a:prstGeom>
          <a:solidFill>
            <a:srgbClr val="FFFFFF">
              <a:alpha val="5000"/>
            </a:srgbClr>
          </a:solidFill>
          <a:ln w="12700">
            <a:solidFill>
              <a:srgbClr val="FFFFFF">
                <a:alpha val="1000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1" name="Shape 18"/>
          <p:cNvSpPr/>
          <p:nvPr/>
        </p:nvSpPr>
        <p:spPr>
          <a:xfrm>
            <a:off x="6629400" y="2634386"/>
            <a:ext cx="4552798" cy="9144"/>
          </a:xfrm>
          <a:prstGeom prst="rect">
            <a:avLst/>
          </a:prstGeom>
          <a:solidFill>
            <a:srgbClr val="FFFFFF">
              <a:alpha val="10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32" name="Image 11" descr="preencoded.png"/>
          <p:cNvPicPr>
            <a:picLocks noChangeAspect="1"/>
          </p:cNvPicPr>
          <p:nvPr/>
        </p:nvPicPr>
        <p:blipFill>
          <a:blip r:embed="rId8"/>
          <a:srcRect/>
          <a:stretch/>
        </p:blipFill>
        <p:spPr>
          <a:xfrm>
            <a:off x="6629400" y="2253996"/>
            <a:ext cx="142646" cy="190195"/>
          </a:xfrm>
          <a:prstGeom prst="rect">
            <a:avLst/>
          </a:prstGeom>
        </p:spPr>
      </p:pic>
      <p:sp>
        <p:nvSpPr>
          <p:cNvPr id="33" name="Text 19"/>
          <p:cNvSpPr txBox="1"/>
          <p:nvPr/>
        </p:nvSpPr>
        <p:spPr>
          <a:xfrm>
            <a:off x="6848856" y="2205533"/>
            <a:ext cx="1828800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60A5F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필수 검증 체크리스트</a:t>
            </a:r>
            <a:endParaRPr lang="en-US" sz="1500" dirty="0"/>
          </a:p>
        </p:txBody>
      </p:sp>
      <p:sp>
        <p:nvSpPr>
          <p:cNvPr id="34" name="Shape 20"/>
          <p:cNvSpPr/>
          <p:nvPr/>
        </p:nvSpPr>
        <p:spPr>
          <a:xfrm>
            <a:off x="6629400" y="2834640"/>
            <a:ext cx="4552798" cy="457200"/>
          </a:xfrm>
          <a:prstGeom prst="roundRect">
            <a:avLst>
              <a:gd name="adj" fmla="val 16667"/>
            </a:avLst>
          </a:prstGeom>
          <a:solidFill>
            <a:srgbClr val="000000">
              <a:alpha val="20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5" name="Shape 21"/>
          <p:cNvSpPr/>
          <p:nvPr/>
        </p:nvSpPr>
        <p:spPr>
          <a:xfrm>
            <a:off x="6629400" y="2834640"/>
            <a:ext cx="38405" cy="457200"/>
          </a:xfrm>
          <a:prstGeom prst="rect">
            <a:avLst/>
          </a:prstGeom>
          <a:solidFill>
            <a:srgbClr val="00BBF0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36" name="Image 12" descr="preencoded.png"/>
          <p:cNvPicPr>
            <a:picLocks noChangeAspect="1"/>
          </p:cNvPicPr>
          <p:nvPr/>
        </p:nvPicPr>
        <p:blipFill>
          <a:blip r:embed="rId9"/>
          <a:srcRect l="-12275" r="-12275"/>
          <a:stretch/>
        </p:blipFill>
        <p:spPr>
          <a:xfrm>
            <a:off x="6810451" y="2987345"/>
            <a:ext cx="190195" cy="152705"/>
          </a:xfrm>
          <a:prstGeom prst="rect">
            <a:avLst/>
          </a:prstGeom>
        </p:spPr>
      </p:pic>
      <p:sp>
        <p:nvSpPr>
          <p:cNvPr id="37" name="Text 22"/>
          <p:cNvSpPr txBox="1"/>
          <p:nvPr/>
        </p:nvSpPr>
        <p:spPr>
          <a:xfrm>
            <a:off x="7000646" y="2948940"/>
            <a:ext cx="3495751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사실 교차 검증: 공식 통계/원문과 반드시 대조했는가?</a:t>
            </a:r>
            <a:endParaRPr lang="en-US" sz="1200" dirty="0"/>
          </a:p>
        </p:txBody>
      </p:sp>
      <p:sp>
        <p:nvSpPr>
          <p:cNvPr id="38" name="Shape 23"/>
          <p:cNvSpPr/>
          <p:nvPr/>
        </p:nvSpPr>
        <p:spPr>
          <a:xfrm>
            <a:off x="6629400" y="3434486"/>
            <a:ext cx="4552798" cy="457200"/>
          </a:xfrm>
          <a:prstGeom prst="roundRect">
            <a:avLst>
              <a:gd name="adj" fmla="val 16667"/>
            </a:avLst>
          </a:prstGeom>
          <a:solidFill>
            <a:srgbClr val="000000">
              <a:alpha val="20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9" name="Shape 24"/>
          <p:cNvSpPr/>
          <p:nvPr/>
        </p:nvSpPr>
        <p:spPr>
          <a:xfrm>
            <a:off x="6629400" y="3434486"/>
            <a:ext cx="38405" cy="457200"/>
          </a:xfrm>
          <a:prstGeom prst="rect">
            <a:avLst/>
          </a:prstGeom>
          <a:solidFill>
            <a:srgbClr val="00BBF0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40" name="Image 13" descr="preencoded.png"/>
          <p:cNvPicPr>
            <a:picLocks noChangeAspect="1"/>
          </p:cNvPicPr>
          <p:nvPr/>
        </p:nvPicPr>
        <p:blipFill>
          <a:blip r:embed="rId10"/>
          <a:srcRect t="-180" b="-180"/>
          <a:stretch/>
        </p:blipFill>
        <p:spPr>
          <a:xfrm>
            <a:off x="6810451" y="3587191"/>
            <a:ext cx="190195" cy="152705"/>
          </a:xfrm>
          <a:prstGeom prst="rect">
            <a:avLst/>
          </a:prstGeom>
        </p:spPr>
      </p:pic>
      <p:sp>
        <p:nvSpPr>
          <p:cNvPr id="41" name="Text 25"/>
          <p:cNvSpPr txBox="1"/>
          <p:nvPr/>
        </p:nvSpPr>
        <p:spPr>
          <a:xfrm>
            <a:off x="7000646" y="3548786"/>
            <a:ext cx="33055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링크 열람: 제시된 URL/DOI가 실제로 접속되는가?</a:t>
            </a:r>
            <a:endParaRPr lang="en-US" sz="1200" dirty="0"/>
          </a:p>
        </p:txBody>
      </p:sp>
      <p:sp>
        <p:nvSpPr>
          <p:cNvPr id="42" name="Shape 26"/>
          <p:cNvSpPr/>
          <p:nvPr/>
        </p:nvSpPr>
        <p:spPr>
          <a:xfrm>
            <a:off x="6629400" y="4034333"/>
            <a:ext cx="4552798" cy="457200"/>
          </a:xfrm>
          <a:prstGeom prst="roundRect">
            <a:avLst>
              <a:gd name="adj" fmla="val 16667"/>
            </a:avLst>
          </a:prstGeom>
          <a:solidFill>
            <a:srgbClr val="000000">
              <a:alpha val="20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3" name="Shape 27"/>
          <p:cNvSpPr/>
          <p:nvPr/>
        </p:nvSpPr>
        <p:spPr>
          <a:xfrm>
            <a:off x="6629400" y="4034333"/>
            <a:ext cx="38405" cy="457200"/>
          </a:xfrm>
          <a:prstGeom prst="rect">
            <a:avLst/>
          </a:prstGeom>
          <a:solidFill>
            <a:srgbClr val="00BBF0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44" name="Image 14" descr="preencoded.png"/>
          <p:cNvPicPr>
            <a:picLocks noChangeAspect="1"/>
          </p:cNvPicPr>
          <p:nvPr/>
        </p:nvPicPr>
        <p:blipFill>
          <a:blip r:embed="rId11"/>
          <a:srcRect l="-21172" r="-21172"/>
          <a:stretch/>
        </p:blipFill>
        <p:spPr>
          <a:xfrm>
            <a:off x="6810451" y="4187038"/>
            <a:ext cx="190195" cy="152705"/>
          </a:xfrm>
          <a:prstGeom prst="rect">
            <a:avLst/>
          </a:prstGeom>
        </p:spPr>
      </p:pic>
      <p:sp>
        <p:nvSpPr>
          <p:cNvPr id="45" name="Text 28"/>
          <p:cNvSpPr txBox="1"/>
          <p:nvPr/>
        </p:nvSpPr>
        <p:spPr>
          <a:xfrm>
            <a:off x="7000646" y="4148633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인용 일치: 해당 페이지에 실제 그 내용이 있는가?</a:t>
            </a:r>
            <a:endParaRPr lang="en-US" sz="1200" dirty="0"/>
          </a:p>
        </p:txBody>
      </p:sp>
      <p:sp>
        <p:nvSpPr>
          <p:cNvPr id="46" name="Shape 29"/>
          <p:cNvSpPr/>
          <p:nvPr/>
        </p:nvSpPr>
        <p:spPr>
          <a:xfrm>
            <a:off x="6629400" y="4635094"/>
            <a:ext cx="4552798" cy="457200"/>
          </a:xfrm>
          <a:prstGeom prst="roundRect">
            <a:avLst>
              <a:gd name="adj" fmla="val 16667"/>
            </a:avLst>
          </a:prstGeom>
          <a:solidFill>
            <a:srgbClr val="000000">
              <a:alpha val="20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7" name="Shape 30"/>
          <p:cNvSpPr/>
          <p:nvPr/>
        </p:nvSpPr>
        <p:spPr>
          <a:xfrm>
            <a:off x="6629400" y="4635094"/>
            <a:ext cx="38405" cy="457200"/>
          </a:xfrm>
          <a:prstGeom prst="rect">
            <a:avLst/>
          </a:prstGeom>
          <a:solidFill>
            <a:srgbClr val="00BBF0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48" name="Image 15" descr="preencoded.png"/>
          <p:cNvPicPr>
            <a:picLocks noChangeAspect="1"/>
          </p:cNvPicPr>
          <p:nvPr/>
        </p:nvPicPr>
        <p:blipFill>
          <a:blip r:embed="rId12"/>
          <a:srcRect t="-180" b="-180"/>
          <a:stretch/>
        </p:blipFill>
        <p:spPr>
          <a:xfrm>
            <a:off x="6810451" y="4786884"/>
            <a:ext cx="190195" cy="152705"/>
          </a:xfrm>
          <a:prstGeom prst="rect">
            <a:avLst/>
          </a:prstGeom>
        </p:spPr>
      </p:pic>
      <p:sp>
        <p:nvSpPr>
          <p:cNvPr id="49" name="Text 31"/>
          <p:cNvSpPr txBox="1"/>
          <p:nvPr/>
        </p:nvSpPr>
        <p:spPr>
          <a:xfrm>
            <a:off x="7000646" y="4749394"/>
            <a:ext cx="333390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윤리 점검: 저작권 및 개인정보 침해 요소는 없는가?</a:t>
            </a:r>
            <a:endParaRPr lang="en-US" sz="1200" dirty="0"/>
          </a:p>
        </p:txBody>
      </p:sp>
      <p:sp>
        <p:nvSpPr>
          <p:cNvPr id="50" name="Shape 32"/>
          <p:cNvSpPr/>
          <p:nvPr/>
        </p:nvSpPr>
        <p:spPr>
          <a:xfrm>
            <a:off x="6629400" y="5234940"/>
            <a:ext cx="4552798" cy="457200"/>
          </a:xfrm>
          <a:prstGeom prst="roundRect">
            <a:avLst>
              <a:gd name="adj" fmla="val 16667"/>
            </a:avLst>
          </a:prstGeom>
          <a:solidFill>
            <a:srgbClr val="000000">
              <a:alpha val="20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1" name="Shape 33"/>
          <p:cNvSpPr/>
          <p:nvPr/>
        </p:nvSpPr>
        <p:spPr>
          <a:xfrm>
            <a:off x="6629400" y="5234940"/>
            <a:ext cx="38405" cy="457200"/>
          </a:xfrm>
          <a:prstGeom prst="rect">
            <a:avLst/>
          </a:prstGeom>
          <a:solidFill>
            <a:srgbClr val="00BBF0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52" name="Image 16" descr="preencoded.png"/>
          <p:cNvPicPr>
            <a:picLocks noChangeAspect="1"/>
          </p:cNvPicPr>
          <p:nvPr/>
        </p:nvPicPr>
        <p:blipFill>
          <a:blip r:embed="rId13"/>
          <a:srcRect l="-12275" r="-12275"/>
          <a:stretch/>
        </p:blipFill>
        <p:spPr>
          <a:xfrm>
            <a:off x="6810451" y="5387645"/>
            <a:ext cx="190195" cy="152705"/>
          </a:xfrm>
          <a:prstGeom prst="rect">
            <a:avLst/>
          </a:prstGeom>
        </p:spPr>
      </p:pic>
      <p:sp>
        <p:nvSpPr>
          <p:cNvPr id="53" name="Text 34"/>
          <p:cNvSpPr txBox="1"/>
          <p:nvPr/>
        </p:nvSpPr>
        <p:spPr>
          <a:xfrm>
            <a:off x="7000646" y="5349240"/>
            <a:ext cx="351495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사용 고지: 과제 지침에 따라 AI 사용 여부를 밝혔는가?</a:t>
            </a:r>
            <a:endParaRPr lang="en-US" sz="1200" dirty="0"/>
          </a:p>
        </p:txBody>
      </p:sp>
      <p:sp>
        <p:nvSpPr>
          <p:cNvPr id="54" name="Shape 35"/>
          <p:cNvSpPr/>
          <p:nvPr/>
        </p:nvSpPr>
        <p:spPr>
          <a:xfrm>
            <a:off x="6629400" y="5692140"/>
            <a:ext cx="4552798" cy="761695"/>
          </a:xfrm>
          <a:prstGeom prst="roundRect">
            <a:avLst>
              <a:gd name="adj" fmla="val 6002"/>
            </a:avLst>
          </a:prstGeom>
          <a:solidFill>
            <a:srgbClr val="00BBF0">
              <a:alpha val="10000"/>
            </a:srgbClr>
          </a:solidFill>
          <a:ln w="12700">
            <a:solidFill>
              <a:srgbClr val="00BBF0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55" name="Image 17" descr="preencoded.png"/>
          <p:cNvPicPr>
            <a:picLocks noChangeAspect="1"/>
          </p:cNvPicPr>
          <p:nvPr/>
        </p:nvPicPr>
        <p:blipFill>
          <a:blip r:embed="rId14"/>
          <a:srcRect t="-100" b="-100"/>
          <a:stretch/>
        </p:blipFill>
        <p:spPr>
          <a:xfrm>
            <a:off x="6782105" y="5996635"/>
            <a:ext cx="114300" cy="152705"/>
          </a:xfrm>
          <a:prstGeom prst="rect">
            <a:avLst/>
          </a:prstGeom>
        </p:spPr>
      </p:pic>
      <p:sp>
        <p:nvSpPr>
          <p:cNvPr id="56" name="Text 36"/>
          <p:cNvSpPr txBox="1"/>
          <p:nvPr/>
        </p:nvSpPr>
        <p:spPr>
          <a:xfrm>
            <a:off x="7010705" y="5844845"/>
            <a:ext cx="39913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00BBF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AI는 훌륭한 '초안 도구'이지만, 리포트의 근거는 반드시 '공적 자료'여야 합니다.</a:t>
            </a:r>
            <a:endParaRPr lang="en-US" sz="1200" dirty="0"/>
          </a:p>
        </p:txBody>
      </p:sp>
      <p:sp>
        <p:nvSpPr>
          <p:cNvPr id="57" name="deckgen:wrap:footer"/>
          <p:cNvSpPr txBox="1"/>
          <p:nvPr/>
        </p:nvSpPr>
        <p:spPr>
          <a:xfrm>
            <a:off x="365760" y="6549390"/>
            <a:ext cx="11460480" cy="240030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0">
                <a:solidFill>
                  <a:srgbClr val="8A8F99"/>
                </a:solidFill>
                <a:latin typeface="Pretendard"/>
              </a:rPr>
              <a:t>© 2026 이애본 · 홍문원(洪文院) 발행 · CC BY-NC-ND 4.0 · useful-ai.dreamitbiz.com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0F0F0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204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" name="Shape 2"/>
          <p:cNvSpPr/>
          <p:nvPr/>
        </p:nvSpPr>
        <p:spPr>
          <a:xfrm>
            <a:off x="761695" y="381305"/>
            <a:ext cx="571500" cy="57607"/>
          </a:xfrm>
          <a:prstGeom prst="rect">
            <a:avLst/>
          </a:prstGeom>
          <a:solidFill>
            <a:srgbClr val="00BBF0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 txBox="1"/>
          <p:nvPr/>
        </p:nvSpPr>
        <p:spPr>
          <a:xfrm>
            <a:off x="761695" y="562356"/>
            <a:ext cx="4410151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과제문 핵심 동사 사전</a:t>
            </a:r>
            <a:endParaRPr lang="en-US" sz="3600" dirty="0"/>
          </a:p>
        </p:txBody>
      </p:sp>
      <p:sp>
        <p:nvSpPr>
          <p:cNvPr id="6" name="Text 4"/>
          <p:cNvSpPr txBox="1"/>
          <p:nvPr/>
        </p:nvSpPr>
        <p:spPr>
          <a:xfrm>
            <a:off x="761695" y="1291133"/>
            <a:ext cx="6324905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dirty="0">
                <a:solidFill>
                  <a:srgbClr val="CBD5E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과제에서 요구하는 '행동'을 정확히 이해하고, 그에 맞는 '결과물'을 제출하세요.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761695" y="2708453"/>
            <a:ext cx="5095951" cy="9144"/>
          </a:xfrm>
          <a:prstGeom prst="rect">
            <a:avLst/>
          </a:prstGeom>
          <a:solidFill>
            <a:srgbClr val="FFFFFF">
              <a:alpha val="20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rcRect t="-45" b="-45"/>
          <a:stretch/>
        </p:blipFill>
        <p:spPr>
          <a:xfrm>
            <a:off x="761695" y="2279599"/>
            <a:ext cx="256946" cy="228600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1162202" y="2221992"/>
            <a:ext cx="2686507" cy="3337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동사별 의미와 요구 산출물</a:t>
            </a:r>
            <a:endParaRPr lang="en-US" sz="1800" dirty="0"/>
          </a:p>
        </p:txBody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rcRect l="-16489" r="-16489"/>
          <a:stretch/>
        </p:blipFill>
        <p:spPr>
          <a:xfrm>
            <a:off x="664029" y="3002890"/>
            <a:ext cx="326266" cy="245352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1133856" y="2955341"/>
            <a:ext cx="1086307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분석 (Analyze)</a:t>
            </a:r>
            <a:endParaRPr lang="en-US" sz="1200" dirty="0"/>
          </a:p>
        </p:txBody>
      </p:sp>
      <p:sp>
        <p:nvSpPr>
          <p:cNvPr id="12" name="Text 8"/>
          <p:cNvSpPr txBox="1"/>
          <p:nvPr/>
        </p:nvSpPr>
        <p:spPr>
          <a:xfrm>
            <a:off x="1133856" y="3183941"/>
            <a:ext cx="4258361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요소를 분해하고 인과관계를 설명 (산출물: 원인-결과 구조 도식화)</a:t>
            </a:r>
            <a:endParaRPr lang="en-US" sz="1200" dirty="0"/>
          </a:p>
        </p:txBody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5"/>
          <a:srcRect l="-3192" r="-3192"/>
          <a:stretch/>
        </p:blipFill>
        <p:spPr>
          <a:xfrm>
            <a:off x="664029" y="3631997"/>
            <a:ext cx="326266" cy="245352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1133856" y="3584448"/>
            <a:ext cx="1191463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비교 (Compare)</a:t>
            </a:r>
            <a:endParaRPr lang="en-US" sz="1200" dirty="0"/>
          </a:p>
        </p:txBody>
      </p:sp>
      <p:sp>
        <p:nvSpPr>
          <p:cNvPr id="15" name="Text 10"/>
          <p:cNvSpPr txBox="1"/>
          <p:nvPr/>
        </p:nvSpPr>
        <p:spPr>
          <a:xfrm>
            <a:off x="1133856" y="3813048"/>
            <a:ext cx="3886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기준을 세워 공통점/차이점 도출 (산출물: 비교표, 평가 기준)</a:t>
            </a:r>
            <a:endParaRPr lang="en-US" sz="1200" dirty="0"/>
          </a:p>
        </p:txBody>
      </p:sp>
      <p:pic>
        <p:nvPicPr>
          <p:cNvPr id="16" name="Image 3" descr="preencoded.png"/>
          <p:cNvPicPr>
            <a:picLocks noChangeAspect="1"/>
          </p:cNvPicPr>
          <p:nvPr/>
        </p:nvPicPr>
        <p:blipFill>
          <a:blip r:embed="rId6"/>
          <a:srcRect l="-16489" r="-16489"/>
          <a:stretch/>
        </p:blipFill>
        <p:spPr>
          <a:xfrm>
            <a:off x="621860" y="4260190"/>
            <a:ext cx="368435" cy="277063"/>
          </a:xfrm>
          <a:prstGeom prst="rect">
            <a:avLst/>
          </a:prstGeom>
        </p:spPr>
      </p:pic>
      <p:sp>
        <p:nvSpPr>
          <p:cNvPr id="17" name="Text 11"/>
          <p:cNvSpPr txBox="1"/>
          <p:nvPr/>
        </p:nvSpPr>
        <p:spPr>
          <a:xfrm>
            <a:off x="1133856" y="4212641"/>
            <a:ext cx="135331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요약 (Summarize)</a:t>
            </a:r>
            <a:endParaRPr lang="en-US" sz="1200" dirty="0"/>
          </a:p>
        </p:txBody>
      </p:sp>
      <p:sp>
        <p:nvSpPr>
          <p:cNvPr id="18" name="Text 12"/>
          <p:cNvSpPr txBox="1"/>
          <p:nvPr/>
        </p:nvSpPr>
        <p:spPr>
          <a:xfrm>
            <a:off x="1133856" y="4441241"/>
            <a:ext cx="4800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핵심을 압축해 자신의 언어로 재서술 (산출물: 불릿 정리, 원문 의존 최소화)</a:t>
            </a:r>
            <a:endParaRPr lang="en-US" sz="1200" dirty="0"/>
          </a:p>
        </p:txBody>
      </p:sp>
      <p:pic>
        <p:nvPicPr>
          <p:cNvPr id="19" name="Image 4" descr="preencoded.png"/>
          <p:cNvPicPr>
            <a:picLocks noChangeAspect="1"/>
          </p:cNvPicPr>
          <p:nvPr/>
        </p:nvPicPr>
        <p:blipFill>
          <a:blip r:embed="rId7"/>
          <a:srcRect l="-38653" r="-38653"/>
          <a:stretch/>
        </p:blipFill>
        <p:spPr>
          <a:xfrm>
            <a:off x="551101" y="4851196"/>
            <a:ext cx="544749" cy="409651"/>
          </a:xfrm>
          <a:prstGeom prst="rect">
            <a:avLst/>
          </a:prstGeom>
        </p:spPr>
      </p:pic>
      <p:sp>
        <p:nvSpPr>
          <p:cNvPr id="20" name="Text 13"/>
          <p:cNvSpPr txBox="1"/>
          <p:nvPr/>
        </p:nvSpPr>
        <p:spPr>
          <a:xfrm>
            <a:off x="1133856" y="4841748"/>
            <a:ext cx="115305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평가 (Evaluate)</a:t>
            </a:r>
            <a:endParaRPr lang="en-US" sz="1200" dirty="0"/>
          </a:p>
        </p:txBody>
      </p:sp>
      <p:sp>
        <p:nvSpPr>
          <p:cNvPr id="21" name="Text 14"/>
          <p:cNvSpPr txBox="1"/>
          <p:nvPr/>
        </p:nvSpPr>
        <p:spPr>
          <a:xfrm>
            <a:off x="1133856" y="5070348"/>
            <a:ext cx="420075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명시된 기준으로 장·단점 및 가치 판단 (산출물: 근거와 한계 병기)</a:t>
            </a:r>
            <a:endParaRPr lang="en-US" sz="1200" dirty="0"/>
          </a:p>
        </p:txBody>
      </p:sp>
      <p:pic>
        <p:nvPicPr>
          <p:cNvPr id="22" name="Image 5" descr="preencoded.png"/>
          <p:cNvPicPr>
            <a:picLocks noChangeAspect="1"/>
          </p:cNvPicPr>
          <p:nvPr/>
        </p:nvPicPr>
        <p:blipFill>
          <a:blip r:embed="rId8"/>
          <a:srcRect l="-38653" r="-38653"/>
          <a:stretch/>
        </p:blipFill>
        <p:spPr>
          <a:xfrm>
            <a:off x="551101" y="5479389"/>
            <a:ext cx="544749" cy="409651"/>
          </a:xfrm>
          <a:prstGeom prst="rect">
            <a:avLst/>
          </a:prstGeom>
        </p:spPr>
      </p:pic>
      <p:sp>
        <p:nvSpPr>
          <p:cNvPr id="23" name="Text 15"/>
          <p:cNvSpPr txBox="1"/>
          <p:nvPr/>
        </p:nvSpPr>
        <p:spPr>
          <a:xfrm>
            <a:off x="1133856" y="5469941"/>
            <a:ext cx="11338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제안 (Propose)</a:t>
            </a:r>
            <a:endParaRPr lang="en-US" sz="1200" dirty="0"/>
          </a:p>
        </p:txBody>
      </p:sp>
      <p:sp>
        <p:nvSpPr>
          <p:cNvPr id="24" name="Text 16"/>
          <p:cNvSpPr txBox="1"/>
          <p:nvPr/>
        </p:nvSpPr>
        <p:spPr>
          <a:xfrm>
            <a:off x="1133856" y="5698541"/>
            <a:ext cx="3915461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실행 가능한 구체적 대안 제시 (산출물: 주체, 절차, 기대효과)</a:t>
            </a:r>
            <a:endParaRPr lang="en-US" sz="1200" dirty="0"/>
          </a:p>
        </p:txBody>
      </p:sp>
      <p:sp>
        <p:nvSpPr>
          <p:cNvPr id="25" name="Shape 17"/>
          <p:cNvSpPr/>
          <p:nvPr/>
        </p:nvSpPr>
        <p:spPr>
          <a:xfrm>
            <a:off x="6334049" y="1890065"/>
            <a:ext cx="5095951" cy="1914754"/>
          </a:xfrm>
          <a:prstGeom prst="roundRect">
            <a:avLst>
              <a:gd name="adj" fmla="val 1901"/>
            </a:avLst>
          </a:prstGeom>
          <a:solidFill>
            <a:srgbClr val="FFFFFF">
              <a:alpha val="5000"/>
            </a:srgbClr>
          </a:solidFill>
          <a:ln w="12700">
            <a:solidFill>
              <a:srgbClr val="FFFFFF">
                <a:alpha val="1000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26" name="Image 6" descr="preencoded.png"/>
          <p:cNvPicPr>
            <a:picLocks noChangeAspect="1"/>
          </p:cNvPicPr>
          <p:nvPr/>
        </p:nvPicPr>
        <p:blipFill>
          <a:blip r:embed="rId9"/>
          <a:srcRect l="-760" r="-760"/>
          <a:stretch/>
        </p:blipFill>
        <p:spPr>
          <a:xfrm>
            <a:off x="6581851" y="2178101"/>
            <a:ext cx="152705" cy="171907"/>
          </a:xfrm>
          <a:prstGeom prst="rect">
            <a:avLst/>
          </a:prstGeom>
        </p:spPr>
      </p:pic>
      <p:sp>
        <p:nvSpPr>
          <p:cNvPr id="27" name="Text 18"/>
          <p:cNvSpPr txBox="1"/>
          <p:nvPr/>
        </p:nvSpPr>
        <p:spPr>
          <a:xfrm>
            <a:off x="6810451" y="2137867"/>
            <a:ext cx="1764792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60A5F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제출물 필수 포함 요소</a:t>
            </a:r>
            <a:endParaRPr lang="en-US" sz="1300" dirty="0"/>
          </a:p>
        </p:txBody>
      </p:sp>
      <p:pic>
        <p:nvPicPr>
          <p:cNvPr id="28" name="Image 7" descr="preencoded.png"/>
          <p:cNvPicPr>
            <a:picLocks noChangeAspect="1"/>
          </p:cNvPicPr>
          <p:nvPr/>
        </p:nvPicPr>
        <p:blipFill>
          <a:blip r:embed="rId10"/>
          <a:srcRect/>
          <a:stretch/>
        </p:blipFill>
        <p:spPr>
          <a:xfrm>
            <a:off x="6581851" y="2617927"/>
            <a:ext cx="152705" cy="152705"/>
          </a:xfrm>
          <a:prstGeom prst="rect">
            <a:avLst/>
          </a:prstGeom>
        </p:spPr>
      </p:pic>
      <p:sp>
        <p:nvSpPr>
          <p:cNvPr id="29" name="Text 19"/>
          <p:cNvSpPr txBox="1"/>
          <p:nvPr/>
        </p:nvSpPr>
        <p:spPr>
          <a:xfrm>
            <a:off x="6848856" y="2579522"/>
            <a:ext cx="2800807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E2E8F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명시된 '핵심 동사'에 부합하는 결과물 유형</a:t>
            </a:r>
            <a:endParaRPr lang="en-US" sz="1200" dirty="0"/>
          </a:p>
        </p:txBody>
      </p:sp>
      <p:pic>
        <p:nvPicPr>
          <p:cNvPr id="30" name="Image 8" descr="preencoded.png"/>
          <p:cNvPicPr>
            <a:picLocks noChangeAspect="1"/>
          </p:cNvPicPr>
          <p:nvPr/>
        </p:nvPicPr>
        <p:blipFill>
          <a:blip r:embed="rId10"/>
          <a:srcRect/>
          <a:stretch/>
        </p:blipFill>
        <p:spPr>
          <a:xfrm>
            <a:off x="6581851" y="2989174"/>
            <a:ext cx="152705" cy="152705"/>
          </a:xfrm>
          <a:prstGeom prst="rect">
            <a:avLst/>
          </a:prstGeom>
        </p:spPr>
      </p:pic>
      <p:sp>
        <p:nvSpPr>
          <p:cNvPr id="31" name="Text 20"/>
          <p:cNvSpPr txBox="1"/>
          <p:nvPr/>
        </p:nvSpPr>
        <p:spPr>
          <a:xfrm>
            <a:off x="6848856" y="2951683"/>
            <a:ext cx="2334463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E2E8F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표/그림/데이터의 출처와 분석 방법</a:t>
            </a:r>
            <a:endParaRPr lang="en-US" sz="1200" dirty="0"/>
          </a:p>
        </p:txBody>
      </p:sp>
      <p:pic>
        <p:nvPicPr>
          <p:cNvPr id="32" name="Image 9" descr="preencoded.png"/>
          <p:cNvPicPr>
            <a:picLocks noChangeAspect="1"/>
          </p:cNvPicPr>
          <p:nvPr/>
        </p:nvPicPr>
        <p:blipFill>
          <a:blip r:embed="rId10"/>
          <a:srcRect/>
          <a:stretch/>
        </p:blipFill>
        <p:spPr>
          <a:xfrm>
            <a:off x="6581851" y="3361334"/>
            <a:ext cx="152705" cy="152705"/>
          </a:xfrm>
          <a:prstGeom prst="rect">
            <a:avLst/>
          </a:prstGeom>
        </p:spPr>
      </p:pic>
      <p:sp>
        <p:nvSpPr>
          <p:cNvPr id="33" name="Text 21"/>
          <p:cNvSpPr txBox="1"/>
          <p:nvPr/>
        </p:nvSpPr>
        <p:spPr>
          <a:xfrm>
            <a:off x="6848856" y="3322930"/>
            <a:ext cx="2057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E2E8F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연구의 범위, 가정, 한계점 명시</a:t>
            </a:r>
            <a:endParaRPr lang="en-US" sz="1200" dirty="0"/>
          </a:p>
        </p:txBody>
      </p:sp>
      <p:sp>
        <p:nvSpPr>
          <p:cNvPr id="34" name="Shape 22"/>
          <p:cNvSpPr/>
          <p:nvPr/>
        </p:nvSpPr>
        <p:spPr>
          <a:xfrm>
            <a:off x="6334049" y="3989527"/>
            <a:ext cx="5095951" cy="2276856"/>
          </a:xfrm>
          <a:prstGeom prst="roundRect">
            <a:avLst>
              <a:gd name="adj" fmla="val 1344"/>
            </a:avLst>
          </a:prstGeom>
          <a:solidFill>
            <a:srgbClr val="00BBF0">
              <a:alpha val="5000"/>
            </a:srgbClr>
          </a:solidFill>
          <a:ln w="12700">
            <a:solidFill>
              <a:srgbClr val="00BB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35" name="Image 10" descr="preencoded.png"/>
          <p:cNvPicPr>
            <a:picLocks noChangeAspect="1"/>
          </p:cNvPicPr>
          <p:nvPr/>
        </p:nvPicPr>
        <p:blipFill>
          <a:blip r:embed="rId11"/>
          <a:srcRect/>
          <a:stretch/>
        </p:blipFill>
        <p:spPr>
          <a:xfrm>
            <a:off x="6581851" y="4277563"/>
            <a:ext cx="171907" cy="171907"/>
          </a:xfrm>
          <a:prstGeom prst="rect">
            <a:avLst/>
          </a:prstGeom>
        </p:spPr>
      </p:pic>
      <p:sp>
        <p:nvSpPr>
          <p:cNvPr id="36" name="Text 23"/>
          <p:cNvSpPr txBox="1"/>
          <p:nvPr/>
        </p:nvSpPr>
        <p:spPr>
          <a:xfrm>
            <a:off x="6829654" y="4237330"/>
            <a:ext cx="783641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00BBF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1분 퀴즈</a:t>
            </a:r>
            <a:endParaRPr lang="en-US" sz="1300" dirty="0"/>
          </a:p>
        </p:txBody>
      </p:sp>
      <p:sp>
        <p:nvSpPr>
          <p:cNvPr id="37" name="Text 24"/>
          <p:cNvSpPr txBox="1"/>
          <p:nvPr/>
        </p:nvSpPr>
        <p:spPr>
          <a:xfrm>
            <a:off x="6581851" y="4669841"/>
            <a:ext cx="4555541" cy="4764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Q. '비교' 과제에서 이것이 빠지면 단순 나열이 되어 감점됩니다. </a:t>
            </a:r>
          </a:p>
          <a:p>
            <a:pPr marL="0" indent="0" algn="l">
              <a:buNone/>
            </a:pPr>
            <a:r>
              <a:rPr lang="en-US" sz="13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      </a:t>
            </a:r>
            <a:r>
              <a:rPr lang="en-US" sz="1300" b="1" dirty="0" err="1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무엇일까요</a:t>
            </a:r>
            <a:r>
              <a:rPr lang="en-US" sz="13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?</a:t>
            </a:r>
            <a:endParaRPr lang="en-US" sz="1300" dirty="0"/>
          </a:p>
        </p:txBody>
      </p:sp>
      <p:sp>
        <p:nvSpPr>
          <p:cNvPr id="38" name="Shape 25"/>
          <p:cNvSpPr/>
          <p:nvPr/>
        </p:nvSpPr>
        <p:spPr>
          <a:xfrm>
            <a:off x="6581851" y="5291633"/>
            <a:ext cx="4600346" cy="724205"/>
          </a:xfrm>
          <a:prstGeom prst="rect">
            <a:avLst/>
          </a:prstGeom>
          <a:solidFill>
            <a:srgbClr val="00204A">
              <a:alpha val="60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9" name="Shape 26"/>
          <p:cNvSpPr/>
          <p:nvPr/>
        </p:nvSpPr>
        <p:spPr>
          <a:xfrm>
            <a:off x="6581851" y="5291633"/>
            <a:ext cx="38405" cy="724205"/>
          </a:xfrm>
          <a:prstGeom prst="rect">
            <a:avLst/>
          </a:prstGeom>
          <a:solidFill>
            <a:srgbClr val="00BBF0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40" name="Image 11" descr="preencoded.png"/>
          <p:cNvPicPr>
            <a:picLocks noChangeAspect="1"/>
          </p:cNvPicPr>
          <p:nvPr/>
        </p:nvPicPr>
        <p:blipFill>
          <a:blip r:embed="rId12"/>
          <a:srcRect/>
          <a:stretch/>
        </p:blipFill>
        <p:spPr>
          <a:xfrm>
            <a:off x="6762902" y="5472684"/>
            <a:ext cx="142646" cy="142646"/>
          </a:xfrm>
          <a:prstGeom prst="rect">
            <a:avLst/>
          </a:prstGeom>
        </p:spPr>
      </p:pic>
      <p:sp>
        <p:nvSpPr>
          <p:cNvPr id="41" name="Text 27"/>
          <p:cNvSpPr txBox="1"/>
          <p:nvPr/>
        </p:nvSpPr>
        <p:spPr>
          <a:xfrm>
            <a:off x="7019849" y="5434279"/>
            <a:ext cx="423367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E2E8F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정답:</a:t>
            </a:r>
            <a:endParaRPr lang="en-US" sz="1100" dirty="0"/>
          </a:p>
        </p:txBody>
      </p:sp>
      <p:sp>
        <p:nvSpPr>
          <p:cNvPr id="42" name="Text 28"/>
          <p:cNvSpPr txBox="1"/>
          <p:nvPr/>
        </p:nvSpPr>
        <p:spPr>
          <a:xfrm>
            <a:off x="7326173" y="5434279"/>
            <a:ext cx="78547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E2E8F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'비교 기준'</a:t>
            </a:r>
            <a:endParaRPr lang="en-US" sz="1100" dirty="0"/>
          </a:p>
        </p:txBody>
      </p:sp>
      <p:sp>
        <p:nvSpPr>
          <p:cNvPr id="43" name="Text 29"/>
          <p:cNvSpPr txBox="1"/>
          <p:nvPr/>
        </p:nvSpPr>
        <p:spPr>
          <a:xfrm>
            <a:off x="7993685" y="5434279"/>
            <a:ext cx="70866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E2E8F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(Criteria)</a:t>
            </a:r>
            <a:endParaRPr lang="en-US" sz="1100" dirty="0"/>
          </a:p>
        </p:txBody>
      </p:sp>
      <p:sp>
        <p:nvSpPr>
          <p:cNvPr id="44" name="Text 30"/>
          <p:cNvSpPr txBox="1"/>
          <p:nvPr/>
        </p:nvSpPr>
        <p:spPr>
          <a:xfrm>
            <a:off x="7019849" y="5651906"/>
            <a:ext cx="3500323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E2E8F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기준이 없으면 분석이 아닌 단순 정보 나열에 불과합니다.</a:t>
            </a:r>
            <a:endParaRPr lang="en-US" sz="1100" dirty="0"/>
          </a:p>
        </p:txBody>
      </p:sp>
      <p:sp>
        <p:nvSpPr>
          <p:cNvPr id="45" name="deckgen:wrap:footer"/>
          <p:cNvSpPr txBox="1"/>
          <p:nvPr/>
        </p:nvSpPr>
        <p:spPr>
          <a:xfrm>
            <a:off x="365760" y="6549390"/>
            <a:ext cx="11460480" cy="240030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0">
                <a:solidFill>
                  <a:srgbClr val="8A8F99"/>
                </a:solidFill>
                <a:latin typeface="Pretendard"/>
              </a:rPr>
              <a:t>© 2026 이애본 · 홍문원(洪文院) 발행 · CC BY-NC-ND 4.0 · useful-ai.dreamitbiz.com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0F0F0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204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" name="Shape 2"/>
          <p:cNvSpPr/>
          <p:nvPr/>
        </p:nvSpPr>
        <p:spPr>
          <a:xfrm>
            <a:off x="761695" y="381305"/>
            <a:ext cx="571500" cy="57607"/>
          </a:xfrm>
          <a:prstGeom prst="rect">
            <a:avLst/>
          </a:prstGeom>
          <a:solidFill>
            <a:srgbClr val="00BBF0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 txBox="1"/>
          <p:nvPr/>
        </p:nvSpPr>
        <p:spPr>
          <a:xfrm>
            <a:off x="761695" y="562356"/>
            <a:ext cx="4991710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실습: 주제 좁히기 5W1H</a:t>
            </a:r>
            <a:endParaRPr lang="en-US" sz="3600" dirty="0"/>
          </a:p>
        </p:txBody>
      </p:sp>
      <p:sp>
        <p:nvSpPr>
          <p:cNvPr id="6" name="Text 4"/>
          <p:cNvSpPr txBox="1"/>
          <p:nvPr/>
        </p:nvSpPr>
        <p:spPr>
          <a:xfrm>
            <a:off x="761695" y="1291133"/>
            <a:ext cx="5410505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dirty="0">
                <a:solidFill>
                  <a:srgbClr val="CBD5E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광범위한 주제를 6가지 질문으로 구체화해 나만의 주제로 만드세요.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761695" y="1796796"/>
            <a:ext cx="3429000" cy="1923898"/>
          </a:xfrm>
          <a:prstGeom prst="roundRect">
            <a:avLst>
              <a:gd name="adj" fmla="val 1882"/>
            </a:avLst>
          </a:prstGeom>
          <a:solidFill>
            <a:srgbClr val="FFFFFF">
              <a:alpha val="5000"/>
            </a:srgbClr>
          </a:solidFill>
          <a:ln w="12700">
            <a:solidFill>
              <a:srgbClr val="FFFFFF">
                <a:alpha val="1000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Shape 6"/>
          <p:cNvSpPr/>
          <p:nvPr/>
        </p:nvSpPr>
        <p:spPr>
          <a:xfrm>
            <a:off x="1000354" y="2406701"/>
            <a:ext cx="2952598" cy="9144"/>
          </a:xfrm>
          <a:prstGeom prst="rect">
            <a:avLst/>
          </a:prstGeom>
          <a:solidFill>
            <a:srgbClr val="FFFFFF">
              <a:alpha val="10000"/>
            </a:srgbClr>
          </a:solidFill>
          <a:ln/>
        </p:spPr>
        <p:txBody>
          <a:bodyPr/>
          <a:lstStyle/>
          <a:p>
            <a:endParaRPr lang="ko-KR" altLang="en-US" sz="2000"/>
          </a:p>
        </p:txBody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1000354" y="2064715"/>
            <a:ext cx="237744" cy="190195"/>
          </a:xfrm>
          <a:prstGeom prst="rect">
            <a:avLst/>
          </a:prstGeom>
        </p:spPr>
      </p:pic>
      <p:sp>
        <p:nvSpPr>
          <p:cNvPr id="10" name="Text 7"/>
          <p:cNvSpPr txBox="1"/>
          <p:nvPr/>
        </p:nvSpPr>
        <p:spPr>
          <a:xfrm>
            <a:off x="1352398" y="2034540"/>
            <a:ext cx="1488643" cy="2386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Who (누가/누구를)</a:t>
            </a:r>
            <a:endParaRPr lang="en-US" sz="1400" dirty="0"/>
          </a:p>
        </p:txBody>
      </p:sp>
      <p:sp>
        <p:nvSpPr>
          <p:cNvPr id="11" name="Text 8"/>
          <p:cNvSpPr txBox="1"/>
          <p:nvPr/>
        </p:nvSpPr>
        <p:spPr>
          <a:xfrm>
            <a:off x="1000354" y="2562149"/>
            <a:ext cx="323264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E2E8F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연구 대상이나 주체를 구체적으로 한정</a:t>
            </a:r>
            <a:endParaRPr lang="en-US" sz="1400" dirty="0"/>
          </a:p>
        </p:txBody>
      </p:sp>
      <p:sp>
        <p:nvSpPr>
          <p:cNvPr id="12" name="Text 9"/>
          <p:cNvSpPr txBox="1"/>
          <p:nvPr/>
        </p:nvSpPr>
        <p:spPr>
          <a:xfrm>
            <a:off x="1000354" y="2891333"/>
            <a:ext cx="2617927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i="1" dirty="0">
                <a:solidFill>
                  <a:srgbClr val="94A3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예: '청년' → '비수도권 거주 20대 IT 구직자'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4381805" y="1796796"/>
            <a:ext cx="3429000" cy="1923898"/>
          </a:xfrm>
          <a:prstGeom prst="roundRect">
            <a:avLst>
              <a:gd name="adj" fmla="val 1882"/>
            </a:avLst>
          </a:prstGeom>
          <a:solidFill>
            <a:srgbClr val="FFFFFF">
              <a:alpha val="5000"/>
            </a:srgbClr>
          </a:solidFill>
          <a:ln w="12700">
            <a:solidFill>
              <a:srgbClr val="FFFFFF">
                <a:alpha val="1000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Shape 11"/>
          <p:cNvSpPr/>
          <p:nvPr/>
        </p:nvSpPr>
        <p:spPr>
          <a:xfrm>
            <a:off x="4619549" y="2406701"/>
            <a:ext cx="2952598" cy="9144"/>
          </a:xfrm>
          <a:prstGeom prst="rect">
            <a:avLst/>
          </a:prstGeom>
          <a:solidFill>
            <a:srgbClr val="FFFFFF">
              <a:alpha val="10000"/>
            </a:srgbClr>
          </a:solidFill>
          <a:ln/>
        </p:spPr>
        <p:txBody>
          <a:bodyPr/>
          <a:lstStyle/>
          <a:p>
            <a:endParaRPr lang="ko-KR" altLang="en-US" sz="2000"/>
          </a:p>
        </p:txBody>
      </p:sp>
      <p:pic>
        <p:nvPicPr>
          <p:cNvPr id="15" name="Image 1" descr="preencoded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4619549" y="2064715"/>
            <a:ext cx="190195" cy="190195"/>
          </a:xfrm>
          <a:prstGeom prst="rect">
            <a:avLst/>
          </a:prstGeom>
        </p:spPr>
      </p:pic>
      <p:sp>
        <p:nvSpPr>
          <p:cNvPr id="16" name="Text 12"/>
          <p:cNvSpPr txBox="1"/>
          <p:nvPr/>
        </p:nvSpPr>
        <p:spPr>
          <a:xfrm>
            <a:off x="4924044" y="2034540"/>
            <a:ext cx="1174090" cy="2386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What (무엇을)</a:t>
            </a:r>
            <a:endParaRPr lang="en-US" sz="1400" dirty="0"/>
          </a:p>
        </p:txBody>
      </p:sp>
      <p:sp>
        <p:nvSpPr>
          <p:cNvPr id="17" name="Text 13"/>
          <p:cNvSpPr txBox="1"/>
          <p:nvPr/>
        </p:nvSpPr>
        <p:spPr>
          <a:xfrm>
            <a:off x="4619549" y="2562149"/>
            <a:ext cx="296549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E2E8F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어떤 현상이나 변수를 다룰 것인가?</a:t>
            </a:r>
            <a:endParaRPr lang="en-US" sz="1400" dirty="0"/>
          </a:p>
        </p:txBody>
      </p:sp>
      <p:sp>
        <p:nvSpPr>
          <p:cNvPr id="18" name="Text 14"/>
          <p:cNvSpPr txBox="1"/>
          <p:nvPr/>
        </p:nvSpPr>
        <p:spPr>
          <a:xfrm>
            <a:off x="4619549" y="2891333"/>
            <a:ext cx="3018434" cy="4288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i="1" dirty="0">
                <a:solidFill>
                  <a:srgbClr val="94A3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예: '취업난' → '직무 교육 경험과 첫 입사 소요 기간의 상관관계'</a:t>
            </a:r>
            <a:endParaRPr lang="en-US" sz="1100" dirty="0"/>
          </a:p>
        </p:txBody>
      </p:sp>
      <p:sp>
        <p:nvSpPr>
          <p:cNvPr id="19" name="Shape 15"/>
          <p:cNvSpPr/>
          <p:nvPr/>
        </p:nvSpPr>
        <p:spPr>
          <a:xfrm>
            <a:off x="8001000" y="1796796"/>
            <a:ext cx="3429000" cy="1923898"/>
          </a:xfrm>
          <a:prstGeom prst="roundRect">
            <a:avLst>
              <a:gd name="adj" fmla="val 1882"/>
            </a:avLst>
          </a:prstGeom>
          <a:solidFill>
            <a:srgbClr val="FFFFFF">
              <a:alpha val="5000"/>
            </a:srgbClr>
          </a:solidFill>
          <a:ln w="12700">
            <a:solidFill>
              <a:srgbClr val="FFFFFF">
                <a:alpha val="1000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0" name="Shape 16"/>
          <p:cNvSpPr/>
          <p:nvPr/>
        </p:nvSpPr>
        <p:spPr>
          <a:xfrm>
            <a:off x="8238744" y="2406701"/>
            <a:ext cx="2952598" cy="9144"/>
          </a:xfrm>
          <a:prstGeom prst="rect">
            <a:avLst/>
          </a:prstGeom>
          <a:solidFill>
            <a:srgbClr val="FFFFFF">
              <a:alpha val="10000"/>
            </a:srgbClr>
          </a:solidFill>
          <a:ln/>
        </p:spPr>
        <p:txBody>
          <a:bodyPr/>
          <a:lstStyle/>
          <a:p>
            <a:endParaRPr lang="ko-KR" altLang="en-US" sz="2000"/>
          </a:p>
        </p:txBody>
      </p:sp>
      <p:pic>
        <p:nvPicPr>
          <p:cNvPr id="21" name="Image 2" descr="preencoded.png"/>
          <p:cNvPicPr>
            <a:picLocks noChangeAspect="1"/>
          </p:cNvPicPr>
          <p:nvPr/>
        </p:nvPicPr>
        <p:blipFill>
          <a:blip r:embed="rId5"/>
          <a:srcRect l="-1648" r="-1648"/>
          <a:stretch/>
        </p:blipFill>
        <p:spPr>
          <a:xfrm>
            <a:off x="8238744" y="2064715"/>
            <a:ext cx="171907" cy="190195"/>
          </a:xfrm>
          <a:prstGeom prst="rect">
            <a:avLst/>
          </a:prstGeom>
        </p:spPr>
      </p:pic>
      <p:sp>
        <p:nvSpPr>
          <p:cNvPr id="22" name="Text 17"/>
          <p:cNvSpPr txBox="1"/>
          <p:nvPr/>
        </p:nvSpPr>
        <p:spPr>
          <a:xfrm>
            <a:off x="8524951" y="2034540"/>
            <a:ext cx="1431036" cy="2386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When (언제/기간)</a:t>
            </a:r>
            <a:endParaRPr lang="en-US" sz="1400" dirty="0"/>
          </a:p>
        </p:txBody>
      </p:sp>
      <p:sp>
        <p:nvSpPr>
          <p:cNvPr id="23" name="Text 18"/>
          <p:cNvSpPr txBox="1"/>
          <p:nvPr/>
        </p:nvSpPr>
        <p:spPr>
          <a:xfrm>
            <a:off x="8238744" y="2562149"/>
            <a:ext cx="24673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E2E8F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분석할 시점이나 기간을 제한</a:t>
            </a:r>
            <a:endParaRPr lang="en-US" sz="1400" dirty="0"/>
          </a:p>
        </p:txBody>
      </p:sp>
      <p:sp>
        <p:nvSpPr>
          <p:cNvPr id="24" name="Text 19"/>
          <p:cNvSpPr txBox="1"/>
          <p:nvPr/>
        </p:nvSpPr>
        <p:spPr>
          <a:xfrm>
            <a:off x="8238744" y="2891333"/>
            <a:ext cx="2380183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i="1" dirty="0">
                <a:solidFill>
                  <a:srgbClr val="94A3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예: '최근' → '팬데믹 이후(2022~2025)'</a:t>
            </a:r>
            <a:endParaRPr lang="en-US" sz="1100" dirty="0"/>
          </a:p>
        </p:txBody>
      </p:sp>
      <p:sp>
        <p:nvSpPr>
          <p:cNvPr id="25" name="Shape 20"/>
          <p:cNvSpPr/>
          <p:nvPr/>
        </p:nvSpPr>
        <p:spPr>
          <a:xfrm>
            <a:off x="761695" y="3906317"/>
            <a:ext cx="3429000" cy="1705356"/>
          </a:xfrm>
          <a:prstGeom prst="roundRect">
            <a:avLst>
              <a:gd name="adj" fmla="val 2396"/>
            </a:avLst>
          </a:prstGeom>
          <a:solidFill>
            <a:srgbClr val="FFFFFF">
              <a:alpha val="5000"/>
            </a:srgbClr>
          </a:solidFill>
          <a:ln w="12700">
            <a:solidFill>
              <a:srgbClr val="FFFFFF">
                <a:alpha val="10000"/>
              </a:srgbClr>
            </a:solidFill>
            <a:prstDash val="solid"/>
          </a:ln>
        </p:spPr>
        <p:txBody>
          <a:bodyPr/>
          <a:lstStyle/>
          <a:p>
            <a:endParaRPr lang="ko-KR" altLang="en-US" sz="2000"/>
          </a:p>
        </p:txBody>
      </p:sp>
      <p:sp>
        <p:nvSpPr>
          <p:cNvPr id="26" name="Shape 21"/>
          <p:cNvSpPr/>
          <p:nvPr/>
        </p:nvSpPr>
        <p:spPr>
          <a:xfrm>
            <a:off x="1000354" y="4516222"/>
            <a:ext cx="2952598" cy="9144"/>
          </a:xfrm>
          <a:prstGeom prst="rect">
            <a:avLst/>
          </a:prstGeom>
          <a:solidFill>
            <a:srgbClr val="FFFFFF">
              <a:alpha val="10000"/>
            </a:srgbClr>
          </a:solidFill>
          <a:ln/>
        </p:spPr>
        <p:txBody>
          <a:bodyPr/>
          <a:lstStyle/>
          <a:p>
            <a:endParaRPr lang="ko-KR" altLang="en-US" sz="2000"/>
          </a:p>
        </p:txBody>
      </p:sp>
      <p:pic>
        <p:nvPicPr>
          <p:cNvPr id="27" name="Image 3" descr="preencoded.png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1000354" y="4175150"/>
            <a:ext cx="142646" cy="190195"/>
          </a:xfrm>
          <a:prstGeom prst="rect">
            <a:avLst/>
          </a:prstGeom>
        </p:spPr>
      </p:pic>
      <p:sp>
        <p:nvSpPr>
          <p:cNvPr id="28" name="Text 22"/>
          <p:cNvSpPr txBox="1"/>
          <p:nvPr/>
        </p:nvSpPr>
        <p:spPr>
          <a:xfrm>
            <a:off x="1257300" y="4144061"/>
            <a:ext cx="1640434" cy="2386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Where (어디서/맥락)</a:t>
            </a:r>
            <a:endParaRPr lang="en-US" sz="1400" dirty="0"/>
          </a:p>
        </p:txBody>
      </p:sp>
      <p:sp>
        <p:nvSpPr>
          <p:cNvPr id="29" name="Text 23"/>
          <p:cNvSpPr txBox="1"/>
          <p:nvPr/>
        </p:nvSpPr>
        <p:spPr>
          <a:xfrm>
            <a:off x="1000354" y="4672584"/>
            <a:ext cx="269834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E2E8F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지리적 범위나 공간적 배경 설정</a:t>
            </a:r>
            <a:endParaRPr lang="en-US" sz="1400" dirty="0"/>
          </a:p>
        </p:txBody>
      </p:sp>
      <p:sp>
        <p:nvSpPr>
          <p:cNvPr id="30" name="Text 24"/>
          <p:cNvSpPr txBox="1"/>
          <p:nvPr/>
        </p:nvSpPr>
        <p:spPr>
          <a:xfrm>
            <a:off x="1000354" y="5001768"/>
            <a:ext cx="2303374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i="1" dirty="0">
                <a:solidFill>
                  <a:srgbClr val="94A3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예: '전국' → '제조업 중심 산업단지 내'</a:t>
            </a:r>
            <a:endParaRPr lang="en-US" sz="1100" dirty="0"/>
          </a:p>
        </p:txBody>
      </p:sp>
      <p:sp>
        <p:nvSpPr>
          <p:cNvPr id="31" name="Shape 25"/>
          <p:cNvSpPr/>
          <p:nvPr/>
        </p:nvSpPr>
        <p:spPr>
          <a:xfrm>
            <a:off x="4381805" y="3906317"/>
            <a:ext cx="3429000" cy="1705356"/>
          </a:xfrm>
          <a:prstGeom prst="roundRect">
            <a:avLst>
              <a:gd name="adj" fmla="val 2396"/>
            </a:avLst>
          </a:prstGeom>
          <a:solidFill>
            <a:srgbClr val="FFFFFF">
              <a:alpha val="5000"/>
            </a:srgbClr>
          </a:solidFill>
          <a:ln w="12700">
            <a:solidFill>
              <a:srgbClr val="FFFFFF">
                <a:alpha val="10000"/>
              </a:srgbClr>
            </a:solidFill>
            <a:prstDash val="solid"/>
          </a:ln>
        </p:spPr>
        <p:txBody>
          <a:bodyPr/>
          <a:lstStyle/>
          <a:p>
            <a:endParaRPr lang="ko-KR" altLang="en-US" sz="2000"/>
          </a:p>
        </p:txBody>
      </p:sp>
      <p:sp>
        <p:nvSpPr>
          <p:cNvPr id="32" name="Shape 26"/>
          <p:cNvSpPr/>
          <p:nvPr/>
        </p:nvSpPr>
        <p:spPr>
          <a:xfrm>
            <a:off x="4619549" y="4516222"/>
            <a:ext cx="2952598" cy="9144"/>
          </a:xfrm>
          <a:prstGeom prst="rect">
            <a:avLst/>
          </a:prstGeom>
          <a:solidFill>
            <a:srgbClr val="FFFFFF">
              <a:alpha val="10000"/>
            </a:srgbClr>
          </a:solidFill>
          <a:ln/>
        </p:spPr>
        <p:txBody>
          <a:bodyPr/>
          <a:lstStyle/>
          <a:p>
            <a:endParaRPr lang="ko-KR" altLang="en-US" sz="2000"/>
          </a:p>
        </p:txBody>
      </p:sp>
      <p:pic>
        <p:nvPicPr>
          <p:cNvPr id="33" name="Image 4" descr="preencoded.png"/>
          <p:cNvPicPr>
            <a:picLocks noChangeAspect="1"/>
          </p:cNvPicPr>
          <p:nvPr/>
        </p:nvPicPr>
        <p:blipFill>
          <a:blip r:embed="rId7"/>
          <a:srcRect/>
          <a:stretch/>
        </p:blipFill>
        <p:spPr>
          <a:xfrm>
            <a:off x="4619549" y="4175150"/>
            <a:ext cx="190195" cy="190195"/>
          </a:xfrm>
          <a:prstGeom prst="rect">
            <a:avLst/>
          </a:prstGeom>
        </p:spPr>
      </p:pic>
      <p:sp>
        <p:nvSpPr>
          <p:cNvPr id="34" name="Text 27"/>
          <p:cNvSpPr txBox="1"/>
          <p:nvPr/>
        </p:nvSpPr>
        <p:spPr>
          <a:xfrm>
            <a:off x="4924044" y="4144061"/>
            <a:ext cx="1174090" cy="2386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Why (왜/의의)</a:t>
            </a:r>
            <a:endParaRPr lang="en-US" sz="1400" dirty="0"/>
          </a:p>
        </p:txBody>
      </p:sp>
      <p:sp>
        <p:nvSpPr>
          <p:cNvPr id="35" name="Text 28"/>
          <p:cNvSpPr txBox="1"/>
          <p:nvPr/>
        </p:nvSpPr>
        <p:spPr>
          <a:xfrm>
            <a:off x="4619549" y="4672584"/>
            <a:ext cx="3111319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E2E8F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이 주제가 왜 중요한지 문제의식 서술</a:t>
            </a:r>
            <a:endParaRPr lang="en-US" sz="1400" dirty="0"/>
          </a:p>
        </p:txBody>
      </p:sp>
      <p:sp>
        <p:nvSpPr>
          <p:cNvPr id="36" name="Text 29"/>
          <p:cNvSpPr txBox="1"/>
          <p:nvPr/>
        </p:nvSpPr>
        <p:spPr>
          <a:xfrm>
            <a:off x="4619549" y="5001768"/>
            <a:ext cx="2436876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i="1" dirty="0">
                <a:solidFill>
                  <a:srgbClr val="94A3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예: '기존 정책의 사각지대를 밝히기 위해'</a:t>
            </a:r>
            <a:endParaRPr lang="en-US" sz="1100" dirty="0"/>
          </a:p>
        </p:txBody>
      </p:sp>
      <p:sp>
        <p:nvSpPr>
          <p:cNvPr id="37" name="Shape 30"/>
          <p:cNvSpPr/>
          <p:nvPr/>
        </p:nvSpPr>
        <p:spPr>
          <a:xfrm>
            <a:off x="8001000" y="3906317"/>
            <a:ext cx="3429000" cy="1705356"/>
          </a:xfrm>
          <a:prstGeom prst="roundRect">
            <a:avLst>
              <a:gd name="adj" fmla="val 2396"/>
            </a:avLst>
          </a:prstGeom>
          <a:solidFill>
            <a:srgbClr val="FFFFFF">
              <a:alpha val="5000"/>
            </a:srgbClr>
          </a:solidFill>
          <a:ln w="12700">
            <a:solidFill>
              <a:srgbClr val="FFFFFF">
                <a:alpha val="10000"/>
              </a:srgbClr>
            </a:solidFill>
            <a:prstDash val="solid"/>
          </a:ln>
        </p:spPr>
        <p:txBody>
          <a:bodyPr/>
          <a:lstStyle/>
          <a:p>
            <a:endParaRPr lang="ko-KR" altLang="en-US" sz="2000"/>
          </a:p>
        </p:txBody>
      </p:sp>
      <p:sp>
        <p:nvSpPr>
          <p:cNvPr id="38" name="Shape 31"/>
          <p:cNvSpPr/>
          <p:nvPr/>
        </p:nvSpPr>
        <p:spPr>
          <a:xfrm>
            <a:off x="8238744" y="4516222"/>
            <a:ext cx="2952598" cy="9144"/>
          </a:xfrm>
          <a:prstGeom prst="rect">
            <a:avLst/>
          </a:prstGeom>
          <a:solidFill>
            <a:srgbClr val="FFFFFF">
              <a:alpha val="10000"/>
            </a:srgbClr>
          </a:solidFill>
          <a:ln/>
        </p:spPr>
        <p:txBody>
          <a:bodyPr/>
          <a:lstStyle/>
          <a:p>
            <a:endParaRPr lang="ko-KR" altLang="en-US" sz="2000"/>
          </a:p>
        </p:txBody>
      </p:sp>
      <p:pic>
        <p:nvPicPr>
          <p:cNvPr id="39" name="Image 5" descr="preencoded.png"/>
          <p:cNvPicPr>
            <a:picLocks noChangeAspect="1"/>
          </p:cNvPicPr>
          <p:nvPr/>
        </p:nvPicPr>
        <p:blipFill>
          <a:blip r:embed="rId8"/>
          <a:srcRect/>
          <a:stretch/>
        </p:blipFill>
        <p:spPr>
          <a:xfrm>
            <a:off x="8238744" y="4175150"/>
            <a:ext cx="190195" cy="190195"/>
          </a:xfrm>
          <a:prstGeom prst="rect">
            <a:avLst/>
          </a:prstGeom>
        </p:spPr>
      </p:pic>
      <p:sp>
        <p:nvSpPr>
          <p:cNvPr id="40" name="Text 32"/>
          <p:cNvSpPr txBox="1"/>
          <p:nvPr/>
        </p:nvSpPr>
        <p:spPr>
          <a:xfrm>
            <a:off x="8544154" y="4144061"/>
            <a:ext cx="1497787" cy="2386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How (어떻게/방법)</a:t>
            </a:r>
            <a:endParaRPr lang="en-US" sz="1400" dirty="0"/>
          </a:p>
        </p:txBody>
      </p:sp>
      <p:sp>
        <p:nvSpPr>
          <p:cNvPr id="41" name="Text 33"/>
          <p:cNvSpPr txBox="1"/>
          <p:nvPr/>
        </p:nvSpPr>
        <p:spPr>
          <a:xfrm>
            <a:off x="8238744" y="4672584"/>
            <a:ext cx="296549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E2E8F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어떤 방법과 자료로 접근할 것인가?</a:t>
            </a:r>
            <a:endParaRPr lang="en-US" sz="1400" dirty="0"/>
          </a:p>
        </p:txBody>
      </p:sp>
      <p:sp>
        <p:nvSpPr>
          <p:cNvPr id="42" name="Text 34"/>
          <p:cNvSpPr txBox="1"/>
          <p:nvPr/>
        </p:nvSpPr>
        <p:spPr>
          <a:xfrm>
            <a:off x="8238744" y="5001768"/>
            <a:ext cx="2723083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i="1" dirty="0">
                <a:solidFill>
                  <a:srgbClr val="94A3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예: '통계청 마이크로데이터 분석 및 사례 비교'</a:t>
            </a:r>
            <a:endParaRPr lang="en-US" sz="1100" dirty="0"/>
          </a:p>
        </p:txBody>
      </p:sp>
      <p:sp>
        <p:nvSpPr>
          <p:cNvPr id="43" name="Shape 35"/>
          <p:cNvSpPr/>
          <p:nvPr/>
        </p:nvSpPr>
        <p:spPr>
          <a:xfrm>
            <a:off x="761695" y="5892394"/>
            <a:ext cx="10668305" cy="562356"/>
          </a:xfrm>
          <a:prstGeom prst="rect">
            <a:avLst/>
          </a:prstGeom>
          <a:solidFill>
            <a:srgbClr val="00BBF0">
              <a:alpha val="10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4" name="Shape 36"/>
          <p:cNvSpPr/>
          <p:nvPr/>
        </p:nvSpPr>
        <p:spPr>
          <a:xfrm>
            <a:off x="761695" y="5892394"/>
            <a:ext cx="38405" cy="562356"/>
          </a:xfrm>
          <a:prstGeom prst="rect">
            <a:avLst/>
          </a:prstGeom>
          <a:solidFill>
            <a:srgbClr val="00BBF0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45" name="Image 6" descr="preencoded.png"/>
          <p:cNvPicPr>
            <a:picLocks noChangeAspect="1"/>
          </p:cNvPicPr>
          <p:nvPr/>
        </p:nvPicPr>
        <p:blipFill>
          <a:blip r:embed="rId9"/>
          <a:srcRect l="-57" r="-57"/>
          <a:stretch/>
        </p:blipFill>
        <p:spPr>
          <a:xfrm>
            <a:off x="1028700" y="6056071"/>
            <a:ext cx="200254" cy="228600"/>
          </a:xfrm>
          <a:prstGeom prst="rect">
            <a:avLst/>
          </a:prstGeom>
        </p:spPr>
      </p:pic>
      <p:sp>
        <p:nvSpPr>
          <p:cNvPr id="46" name="Text 37"/>
          <p:cNvSpPr txBox="1"/>
          <p:nvPr/>
        </p:nvSpPr>
        <p:spPr>
          <a:xfrm>
            <a:off x="1380744" y="6044184"/>
            <a:ext cx="5250485" cy="2386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여러분의 주제를 위 6가지 질문에 맞춰 한 줄씩 적어보세요.</a:t>
            </a:r>
            <a:endParaRPr lang="en-US" sz="1300" dirty="0"/>
          </a:p>
        </p:txBody>
      </p:sp>
      <p:sp>
        <p:nvSpPr>
          <p:cNvPr id="47" name="deckgen:wrap:footer"/>
          <p:cNvSpPr txBox="1"/>
          <p:nvPr/>
        </p:nvSpPr>
        <p:spPr>
          <a:xfrm>
            <a:off x="365760" y="6549390"/>
            <a:ext cx="11460480" cy="240030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0">
                <a:solidFill>
                  <a:srgbClr val="8A8F99"/>
                </a:solidFill>
                <a:latin typeface="Pretendard"/>
              </a:rPr>
              <a:t>© 2026 이애본 · 홍문원(洪文院) 발행 · CC BY-NC-ND 4.0 · useful-ai.dreamitbiz.com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0F0F0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204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" name="Shape 2"/>
          <p:cNvSpPr/>
          <p:nvPr/>
        </p:nvSpPr>
        <p:spPr>
          <a:xfrm>
            <a:off x="761695" y="381305"/>
            <a:ext cx="571500" cy="57607"/>
          </a:xfrm>
          <a:prstGeom prst="rect">
            <a:avLst/>
          </a:prstGeom>
          <a:solidFill>
            <a:srgbClr val="00BBF0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 txBox="1"/>
          <p:nvPr/>
        </p:nvSpPr>
        <p:spPr>
          <a:xfrm>
            <a:off x="761695" y="580644"/>
            <a:ext cx="5791810" cy="5532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주제문 품질 체크 (Quality Check)</a:t>
            </a:r>
            <a:endParaRPr lang="en-US" sz="3000" dirty="0"/>
          </a:p>
        </p:txBody>
      </p:sp>
      <p:sp>
        <p:nvSpPr>
          <p:cNvPr id="6" name="Text 4"/>
          <p:cNvSpPr txBox="1"/>
          <p:nvPr/>
        </p:nvSpPr>
        <p:spPr>
          <a:xfrm>
            <a:off x="761695" y="1181405"/>
            <a:ext cx="5193792" cy="2386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CBD5E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약한 문장은 '사실'만 나열하고, 강한 논제는 '주장'과 '범위'가 명확합니다.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761695" y="2208933"/>
            <a:ext cx="5095951" cy="9144"/>
          </a:xfrm>
          <a:prstGeom prst="rect">
            <a:avLst/>
          </a:prstGeom>
          <a:solidFill>
            <a:srgbClr val="FFFFFF">
              <a:alpha val="20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rcRect l="-1528" r="-1528"/>
          <a:stretch/>
        </p:blipFill>
        <p:spPr>
          <a:xfrm>
            <a:off x="761695" y="1836772"/>
            <a:ext cx="161849" cy="209398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1037844" y="1770021"/>
            <a:ext cx="2410358" cy="3337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좋은 주제문 체크리스트</a:t>
            </a:r>
            <a:endParaRPr lang="en-US" sz="1800" dirty="0"/>
          </a:p>
        </p:txBody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rcRect t="-43" b="-43"/>
          <a:stretch/>
        </p:blipFill>
        <p:spPr>
          <a:xfrm>
            <a:off x="761695" y="2496969"/>
            <a:ext cx="133502" cy="152705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1009498" y="2446677"/>
            <a:ext cx="3193085" cy="2386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한 문장에 주장 + 범위 + 조건이 드러나는가?</a:t>
            </a:r>
            <a:endParaRPr lang="en-US" sz="1300" dirty="0"/>
          </a:p>
        </p:txBody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4"/>
          <a:srcRect t="-43" b="-43"/>
          <a:stretch/>
        </p:blipFill>
        <p:spPr>
          <a:xfrm>
            <a:off x="761695" y="2874616"/>
            <a:ext cx="133502" cy="152705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1009498" y="2824324"/>
            <a:ext cx="2907792" cy="2386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단순 사실이 아닌 논쟁 가능성이 있는가?</a:t>
            </a:r>
            <a:endParaRPr lang="en-US" sz="1300" dirty="0"/>
          </a:p>
        </p:txBody>
      </p:sp>
      <p:pic>
        <p:nvPicPr>
          <p:cNvPr id="14" name="Image 3" descr="preencoded.png"/>
          <p:cNvPicPr>
            <a:picLocks noChangeAspect="1"/>
          </p:cNvPicPr>
          <p:nvPr/>
        </p:nvPicPr>
        <p:blipFill>
          <a:blip r:embed="rId4"/>
          <a:srcRect t="-43" b="-43"/>
          <a:stretch/>
        </p:blipFill>
        <p:spPr>
          <a:xfrm>
            <a:off x="761695" y="3252263"/>
            <a:ext cx="133502" cy="152705"/>
          </a:xfrm>
          <a:prstGeom prst="rect">
            <a:avLst/>
          </a:prstGeom>
        </p:spPr>
      </p:pic>
      <p:sp>
        <p:nvSpPr>
          <p:cNvPr id="15" name="Text 9"/>
          <p:cNvSpPr txBox="1"/>
          <p:nvPr/>
        </p:nvSpPr>
        <p:spPr>
          <a:xfrm>
            <a:off x="1009498" y="3201057"/>
            <a:ext cx="3354934" cy="2386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과제의 핵심 동사(분석/제안 등)와 일치하는가?</a:t>
            </a:r>
            <a:endParaRPr lang="en-US" sz="1300" dirty="0"/>
          </a:p>
        </p:txBody>
      </p:sp>
      <p:pic>
        <p:nvPicPr>
          <p:cNvPr id="16" name="Image 4" descr="preencoded.png"/>
          <p:cNvPicPr>
            <a:picLocks noChangeAspect="1"/>
          </p:cNvPicPr>
          <p:nvPr/>
        </p:nvPicPr>
        <p:blipFill>
          <a:blip r:embed="rId4"/>
          <a:srcRect t="-43" b="-43"/>
          <a:stretch/>
        </p:blipFill>
        <p:spPr>
          <a:xfrm>
            <a:off x="761695" y="3629911"/>
            <a:ext cx="133502" cy="152705"/>
          </a:xfrm>
          <a:prstGeom prst="rect">
            <a:avLst/>
          </a:prstGeom>
        </p:spPr>
      </p:pic>
      <p:sp>
        <p:nvSpPr>
          <p:cNvPr id="17" name="Text 10"/>
          <p:cNvSpPr txBox="1"/>
          <p:nvPr/>
        </p:nvSpPr>
        <p:spPr>
          <a:xfrm>
            <a:off x="1009498" y="3578704"/>
            <a:ext cx="2354580" cy="2386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자료와 방법으로 검증 가능한가?</a:t>
            </a:r>
            <a:endParaRPr lang="en-US" sz="1300" dirty="0"/>
          </a:p>
        </p:txBody>
      </p:sp>
      <p:pic>
        <p:nvPicPr>
          <p:cNvPr id="18" name="Image 5" descr="preencoded.png"/>
          <p:cNvPicPr>
            <a:picLocks noChangeAspect="1"/>
          </p:cNvPicPr>
          <p:nvPr/>
        </p:nvPicPr>
        <p:blipFill>
          <a:blip r:embed="rId4"/>
          <a:srcRect t="-43" b="-43"/>
          <a:stretch/>
        </p:blipFill>
        <p:spPr>
          <a:xfrm>
            <a:off x="761695" y="4007558"/>
            <a:ext cx="133502" cy="152705"/>
          </a:xfrm>
          <a:prstGeom prst="rect">
            <a:avLst/>
          </a:prstGeom>
        </p:spPr>
      </p:pic>
      <p:sp>
        <p:nvSpPr>
          <p:cNvPr id="19" name="Text 11"/>
          <p:cNvSpPr txBox="1"/>
          <p:nvPr/>
        </p:nvSpPr>
        <p:spPr>
          <a:xfrm>
            <a:off x="1009498" y="3956351"/>
            <a:ext cx="2421331" cy="2386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과도한 포괄/모호 표현이 없는가?</a:t>
            </a:r>
            <a:endParaRPr lang="en-US" sz="1300" dirty="0"/>
          </a:p>
        </p:txBody>
      </p:sp>
      <p:sp>
        <p:nvSpPr>
          <p:cNvPr id="20" name="Shape 12"/>
          <p:cNvSpPr/>
          <p:nvPr/>
        </p:nvSpPr>
        <p:spPr>
          <a:xfrm>
            <a:off x="761695" y="4486703"/>
            <a:ext cx="5095951" cy="1657807"/>
          </a:xfrm>
          <a:prstGeom prst="roundRect">
            <a:avLst>
              <a:gd name="adj" fmla="val 2536"/>
            </a:avLst>
          </a:prstGeom>
          <a:solidFill>
            <a:srgbClr val="EF4444">
              <a:alpha val="10000"/>
            </a:srgbClr>
          </a:solidFill>
          <a:ln w="12700">
            <a:solidFill>
              <a:srgbClr val="EF4444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21" name="Image 6" descr="preencoded.png"/>
          <p:cNvPicPr>
            <a:picLocks noChangeAspect="1"/>
          </p:cNvPicPr>
          <p:nvPr/>
        </p:nvPicPr>
        <p:blipFill>
          <a:blip r:embed="rId5"/>
          <a:srcRect t="-2725" b="-2725"/>
          <a:stretch/>
        </p:blipFill>
        <p:spPr>
          <a:xfrm>
            <a:off x="961949" y="4726276"/>
            <a:ext cx="142646" cy="171907"/>
          </a:xfrm>
          <a:prstGeom prst="rect">
            <a:avLst/>
          </a:prstGeom>
        </p:spPr>
      </p:pic>
      <p:sp>
        <p:nvSpPr>
          <p:cNvPr id="22" name="Text 13"/>
          <p:cNvSpPr txBox="1"/>
          <p:nvPr/>
        </p:nvSpPr>
        <p:spPr>
          <a:xfrm>
            <a:off x="1181405" y="4686957"/>
            <a:ext cx="2478938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CA5A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피해야 할 위험 신호 (Red Flags)</a:t>
            </a:r>
            <a:endParaRPr lang="en-US" sz="1300" dirty="0"/>
          </a:p>
        </p:txBody>
      </p:sp>
      <p:sp>
        <p:nvSpPr>
          <p:cNvPr id="23" name="Shape 14"/>
          <p:cNvSpPr/>
          <p:nvPr/>
        </p:nvSpPr>
        <p:spPr>
          <a:xfrm>
            <a:off x="961949" y="5081063"/>
            <a:ext cx="1505102" cy="866851"/>
          </a:xfrm>
          <a:prstGeom prst="roundRect">
            <a:avLst>
              <a:gd name="adj" fmla="val 6955"/>
            </a:avLst>
          </a:prstGeom>
          <a:solidFill>
            <a:srgbClr val="000000">
              <a:alpha val="20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24" name="Image 7" descr="preencoded.png"/>
          <p:cNvPicPr>
            <a:picLocks noChangeAspect="1"/>
          </p:cNvPicPr>
          <p:nvPr/>
        </p:nvPicPr>
        <p:blipFill>
          <a:blip r:embed="rId6"/>
          <a:srcRect l="-505" r="-505"/>
          <a:stretch/>
        </p:blipFill>
        <p:spPr>
          <a:xfrm>
            <a:off x="1598371" y="5176161"/>
            <a:ext cx="228600" cy="181051"/>
          </a:xfrm>
          <a:prstGeom prst="rect">
            <a:avLst/>
          </a:prstGeom>
        </p:spPr>
      </p:pic>
      <p:sp>
        <p:nvSpPr>
          <p:cNvPr id="25" name="Text 15"/>
          <p:cNvSpPr txBox="1"/>
          <p:nvPr/>
        </p:nvSpPr>
        <p:spPr>
          <a:xfrm>
            <a:off x="1378001" y="5433107"/>
            <a:ext cx="779983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CBD5E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모호한 단어</a:t>
            </a:r>
            <a:endParaRPr lang="en-US" sz="1000" dirty="0"/>
          </a:p>
        </p:txBody>
      </p:sp>
      <p:sp>
        <p:nvSpPr>
          <p:cNvPr id="26" name="Text 16"/>
          <p:cNvSpPr txBox="1"/>
          <p:nvPr/>
        </p:nvSpPr>
        <p:spPr>
          <a:xfrm>
            <a:off x="1186891" y="5639762"/>
            <a:ext cx="1160374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CBD5E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(심각하다, 나쁘다)</a:t>
            </a:r>
            <a:endParaRPr lang="en-US" sz="1000" dirty="0"/>
          </a:p>
        </p:txBody>
      </p:sp>
      <p:sp>
        <p:nvSpPr>
          <p:cNvPr id="27" name="Shape 17"/>
          <p:cNvSpPr/>
          <p:nvPr/>
        </p:nvSpPr>
        <p:spPr>
          <a:xfrm>
            <a:off x="2559406" y="5081063"/>
            <a:ext cx="1505102" cy="866851"/>
          </a:xfrm>
          <a:prstGeom prst="roundRect">
            <a:avLst>
              <a:gd name="adj" fmla="val 6955"/>
            </a:avLst>
          </a:prstGeom>
          <a:solidFill>
            <a:srgbClr val="000000">
              <a:alpha val="20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28" name="Image 8" descr="preencoded.png"/>
          <p:cNvPicPr>
            <a:picLocks noChangeAspect="1"/>
          </p:cNvPicPr>
          <p:nvPr/>
        </p:nvPicPr>
        <p:blipFill>
          <a:blip r:embed="rId7"/>
          <a:srcRect/>
          <a:stretch/>
        </p:blipFill>
        <p:spPr>
          <a:xfrm>
            <a:off x="3219602" y="5176161"/>
            <a:ext cx="181051" cy="181051"/>
          </a:xfrm>
          <a:prstGeom prst="rect">
            <a:avLst/>
          </a:prstGeom>
        </p:spPr>
      </p:pic>
      <p:sp>
        <p:nvSpPr>
          <p:cNvPr id="29" name="Text 18"/>
          <p:cNvSpPr txBox="1"/>
          <p:nvPr/>
        </p:nvSpPr>
        <p:spPr>
          <a:xfrm>
            <a:off x="2893162" y="5433107"/>
            <a:ext cx="941832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CBD5E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너무 넓은 범위</a:t>
            </a:r>
            <a:endParaRPr lang="en-US" sz="1000" dirty="0"/>
          </a:p>
        </p:txBody>
      </p:sp>
      <p:sp>
        <p:nvSpPr>
          <p:cNvPr id="30" name="Text 19"/>
          <p:cNvSpPr txBox="1"/>
          <p:nvPr/>
        </p:nvSpPr>
        <p:spPr>
          <a:xfrm>
            <a:off x="2827325" y="5639762"/>
            <a:ext cx="1074420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CBD5E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(전 세계, 역사상)</a:t>
            </a:r>
            <a:endParaRPr lang="en-US" sz="1000" dirty="0"/>
          </a:p>
        </p:txBody>
      </p:sp>
      <p:sp>
        <p:nvSpPr>
          <p:cNvPr id="31" name="Shape 20"/>
          <p:cNvSpPr/>
          <p:nvPr/>
        </p:nvSpPr>
        <p:spPr>
          <a:xfrm>
            <a:off x="4155948" y="5081063"/>
            <a:ext cx="1505102" cy="866851"/>
          </a:xfrm>
          <a:prstGeom prst="roundRect">
            <a:avLst>
              <a:gd name="adj" fmla="val 6955"/>
            </a:avLst>
          </a:prstGeom>
          <a:solidFill>
            <a:srgbClr val="000000">
              <a:alpha val="20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32" name="Image 9" descr="preencoded.png"/>
          <p:cNvPicPr>
            <a:picLocks noChangeAspect="1"/>
          </p:cNvPicPr>
          <p:nvPr/>
        </p:nvPicPr>
        <p:blipFill>
          <a:blip r:embed="rId8"/>
          <a:srcRect/>
          <a:stretch/>
        </p:blipFill>
        <p:spPr>
          <a:xfrm>
            <a:off x="4816145" y="5176161"/>
            <a:ext cx="181051" cy="181051"/>
          </a:xfrm>
          <a:prstGeom prst="rect">
            <a:avLst/>
          </a:prstGeom>
        </p:spPr>
      </p:pic>
      <p:sp>
        <p:nvSpPr>
          <p:cNvPr id="33" name="Text 21"/>
          <p:cNvSpPr txBox="1"/>
          <p:nvPr/>
        </p:nvSpPr>
        <p:spPr>
          <a:xfrm>
            <a:off x="4489704" y="5433107"/>
            <a:ext cx="941832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CBD5E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단순 사실 나열</a:t>
            </a:r>
            <a:endParaRPr lang="en-US" sz="1000" dirty="0"/>
          </a:p>
        </p:txBody>
      </p:sp>
      <p:sp>
        <p:nvSpPr>
          <p:cNvPr id="34" name="Text 22"/>
          <p:cNvSpPr txBox="1"/>
          <p:nvPr/>
        </p:nvSpPr>
        <p:spPr>
          <a:xfrm>
            <a:off x="4400093" y="5639762"/>
            <a:ext cx="1122883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CBD5E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(현황을 조사했다)</a:t>
            </a:r>
            <a:endParaRPr lang="en-US" sz="1000" dirty="0"/>
          </a:p>
        </p:txBody>
      </p:sp>
      <p:sp>
        <p:nvSpPr>
          <p:cNvPr id="35" name="Shape 23"/>
          <p:cNvSpPr/>
          <p:nvPr/>
        </p:nvSpPr>
        <p:spPr>
          <a:xfrm>
            <a:off x="6334049" y="1770021"/>
            <a:ext cx="5095951" cy="1772107"/>
          </a:xfrm>
          <a:prstGeom prst="roundRect">
            <a:avLst>
              <a:gd name="adj" fmla="val 2219"/>
            </a:avLst>
          </a:prstGeom>
          <a:solidFill>
            <a:srgbClr val="FFFFFF">
              <a:alpha val="5000"/>
            </a:srgbClr>
          </a:solidFill>
          <a:ln w="12700">
            <a:solidFill>
              <a:srgbClr val="FFFFFF">
                <a:alpha val="1000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6" name="Shape 24"/>
          <p:cNvSpPr/>
          <p:nvPr/>
        </p:nvSpPr>
        <p:spPr>
          <a:xfrm>
            <a:off x="6581851" y="2017823"/>
            <a:ext cx="1352398" cy="286207"/>
          </a:xfrm>
          <a:prstGeom prst="roundRect">
            <a:avLst>
              <a:gd name="adj" fmla="val 42599"/>
            </a:avLst>
          </a:prstGeom>
          <a:solidFill>
            <a:srgbClr val="EF4444">
              <a:alpha val="20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7" name="Text 25"/>
          <p:cNvSpPr txBox="1"/>
          <p:nvPr/>
        </p:nvSpPr>
        <p:spPr>
          <a:xfrm>
            <a:off x="6676949" y="2056228"/>
            <a:ext cx="1265530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FCA5A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WEAK (약한 문장)</a:t>
            </a:r>
            <a:endParaRPr lang="en-US" sz="1000" dirty="0"/>
          </a:p>
        </p:txBody>
      </p:sp>
      <p:sp>
        <p:nvSpPr>
          <p:cNvPr id="38" name="Text 26"/>
          <p:cNvSpPr txBox="1"/>
          <p:nvPr/>
        </p:nvSpPr>
        <p:spPr>
          <a:xfrm>
            <a:off x="6581851" y="2500090"/>
            <a:ext cx="2726741" cy="2386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청년 실업은 최근 매우 심각한 문제다.</a:t>
            </a:r>
            <a:endParaRPr lang="en-US" sz="1300" dirty="0"/>
          </a:p>
        </p:txBody>
      </p:sp>
      <p:sp>
        <p:nvSpPr>
          <p:cNvPr id="39" name="Shape 27"/>
          <p:cNvSpPr/>
          <p:nvPr/>
        </p:nvSpPr>
        <p:spPr>
          <a:xfrm>
            <a:off x="6581851" y="2979772"/>
            <a:ext cx="4600346" cy="9144"/>
          </a:xfrm>
          <a:prstGeom prst="rect">
            <a:avLst/>
          </a:prstGeom>
          <a:solidFill>
            <a:srgbClr val="FFFFFF">
              <a:alpha val="20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40" name="Image 10" descr="preencoded.png"/>
          <p:cNvPicPr>
            <a:picLocks noChangeAspect="1"/>
          </p:cNvPicPr>
          <p:nvPr/>
        </p:nvPicPr>
        <p:blipFill>
          <a:blip r:embed="rId9"/>
          <a:srcRect/>
          <a:stretch/>
        </p:blipFill>
        <p:spPr>
          <a:xfrm>
            <a:off x="6581851" y="3130648"/>
            <a:ext cx="133502" cy="133502"/>
          </a:xfrm>
          <a:prstGeom prst="rect">
            <a:avLst/>
          </a:prstGeom>
        </p:spPr>
      </p:pic>
      <p:sp>
        <p:nvSpPr>
          <p:cNvPr id="41" name="Text 28"/>
          <p:cNvSpPr txBox="1"/>
          <p:nvPr/>
        </p:nvSpPr>
        <p:spPr>
          <a:xfrm>
            <a:off x="6752844" y="3084928"/>
            <a:ext cx="2265883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94A3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단순 사실 진술, '심각하다'는 주관적임</a:t>
            </a:r>
            <a:endParaRPr lang="en-US" sz="1000" dirty="0"/>
          </a:p>
        </p:txBody>
      </p:sp>
      <p:pic>
        <p:nvPicPr>
          <p:cNvPr id="42" name="Image 11" descr="preencoded.png"/>
          <p:cNvPicPr>
            <a:picLocks noChangeAspect="1"/>
          </p:cNvPicPr>
          <p:nvPr/>
        </p:nvPicPr>
        <p:blipFill>
          <a:blip r:embed="rId10"/>
          <a:srcRect l="-133" r="-133"/>
          <a:stretch/>
        </p:blipFill>
        <p:spPr>
          <a:xfrm>
            <a:off x="8796528" y="3633568"/>
            <a:ext cx="171907" cy="228600"/>
          </a:xfrm>
          <a:prstGeom prst="rect">
            <a:avLst/>
          </a:prstGeom>
        </p:spPr>
      </p:pic>
      <p:sp>
        <p:nvSpPr>
          <p:cNvPr id="43" name="Shape 29"/>
          <p:cNvSpPr/>
          <p:nvPr/>
        </p:nvSpPr>
        <p:spPr>
          <a:xfrm>
            <a:off x="6334049" y="3926398"/>
            <a:ext cx="5095951" cy="2029054"/>
          </a:xfrm>
          <a:prstGeom prst="roundRect">
            <a:avLst>
              <a:gd name="adj" fmla="val 1693"/>
            </a:avLst>
          </a:prstGeom>
          <a:solidFill>
            <a:srgbClr val="FFFFFF">
              <a:alpha val="5000"/>
            </a:srgbClr>
          </a:solidFill>
          <a:ln w="12700">
            <a:solidFill>
              <a:srgbClr val="FFFFFF">
                <a:alpha val="1000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4" name="Shape 30"/>
          <p:cNvSpPr/>
          <p:nvPr/>
        </p:nvSpPr>
        <p:spPr>
          <a:xfrm>
            <a:off x="6581851" y="4205068"/>
            <a:ext cx="1543507" cy="286207"/>
          </a:xfrm>
          <a:prstGeom prst="roundRect">
            <a:avLst>
              <a:gd name="adj" fmla="val 42599"/>
            </a:avLst>
          </a:prstGeom>
          <a:solidFill>
            <a:srgbClr val="10B981">
              <a:alpha val="20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5" name="Text 31"/>
          <p:cNvSpPr txBox="1"/>
          <p:nvPr/>
        </p:nvSpPr>
        <p:spPr>
          <a:xfrm>
            <a:off x="6676949" y="4242559"/>
            <a:ext cx="1455725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6EE7B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STRONG (강한 논제)</a:t>
            </a:r>
            <a:endParaRPr lang="en-US" sz="1000" dirty="0"/>
          </a:p>
        </p:txBody>
      </p:sp>
      <p:sp>
        <p:nvSpPr>
          <p:cNvPr id="46" name="Text 32"/>
          <p:cNvSpPr txBox="1"/>
          <p:nvPr/>
        </p:nvSpPr>
        <p:spPr>
          <a:xfrm>
            <a:off x="6553046" y="4694746"/>
            <a:ext cx="4724553" cy="4956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청년실업 완화를 위해 교육-산업 연계형 중장기 정책 전환이 필요하다.</a:t>
            </a:r>
            <a:endParaRPr lang="en-US" sz="1300" dirty="0"/>
          </a:p>
        </p:txBody>
      </p:sp>
      <p:sp>
        <p:nvSpPr>
          <p:cNvPr id="47" name="Shape 33"/>
          <p:cNvSpPr/>
          <p:nvPr/>
        </p:nvSpPr>
        <p:spPr>
          <a:xfrm>
            <a:off x="6581851" y="5418477"/>
            <a:ext cx="4600346" cy="9144"/>
          </a:xfrm>
          <a:prstGeom prst="rect">
            <a:avLst/>
          </a:prstGeom>
          <a:solidFill>
            <a:srgbClr val="FFFFFF">
              <a:alpha val="20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48" name="Image 12" descr="preencoded.png"/>
          <p:cNvPicPr>
            <a:picLocks noChangeAspect="1"/>
          </p:cNvPicPr>
          <p:nvPr/>
        </p:nvPicPr>
        <p:blipFill>
          <a:blip r:embed="rId11"/>
          <a:srcRect/>
          <a:stretch/>
        </p:blipFill>
        <p:spPr>
          <a:xfrm>
            <a:off x="6581851" y="5569353"/>
            <a:ext cx="133502" cy="133502"/>
          </a:xfrm>
          <a:prstGeom prst="rect">
            <a:avLst/>
          </a:prstGeom>
        </p:spPr>
      </p:pic>
      <p:sp>
        <p:nvSpPr>
          <p:cNvPr id="49" name="Text 34"/>
          <p:cNvSpPr txBox="1"/>
          <p:nvPr/>
        </p:nvSpPr>
        <p:spPr>
          <a:xfrm>
            <a:off x="6752844" y="5523633"/>
            <a:ext cx="2265883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94A3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해결책(주장)과 방향성(조건)이 명확함</a:t>
            </a:r>
            <a:endParaRPr lang="en-US" sz="1000" dirty="0"/>
          </a:p>
        </p:txBody>
      </p:sp>
      <p:sp>
        <p:nvSpPr>
          <p:cNvPr id="50" name="deckgen:wrap:footer"/>
          <p:cNvSpPr txBox="1"/>
          <p:nvPr/>
        </p:nvSpPr>
        <p:spPr>
          <a:xfrm>
            <a:off x="365760" y="6549390"/>
            <a:ext cx="11460480" cy="240030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0">
                <a:solidFill>
                  <a:srgbClr val="8A8F99"/>
                </a:solidFill>
                <a:latin typeface="Pretendard"/>
              </a:rPr>
              <a:t>© 2026 이애본 · 홍문원(洪文院) 발행 · CC BY-NC-ND 4.0 · useful-ai.dreamitbiz.com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0F0F0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204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" name="Shape 2"/>
          <p:cNvSpPr/>
          <p:nvPr/>
        </p:nvSpPr>
        <p:spPr>
          <a:xfrm>
            <a:off x="761695" y="476402"/>
            <a:ext cx="571500" cy="57607"/>
          </a:xfrm>
          <a:prstGeom prst="rect">
            <a:avLst/>
          </a:prstGeom>
          <a:solidFill>
            <a:srgbClr val="00BBF0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 txBox="1"/>
          <p:nvPr/>
        </p:nvSpPr>
        <p:spPr>
          <a:xfrm>
            <a:off x="761695" y="657454"/>
            <a:ext cx="7230161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출처 평가 간이 프레임 (CRAAP Lite)</a:t>
            </a:r>
            <a:endParaRPr lang="en-US" sz="3600" dirty="0"/>
          </a:p>
        </p:txBody>
      </p:sp>
      <p:sp>
        <p:nvSpPr>
          <p:cNvPr id="6" name="Text 4"/>
          <p:cNvSpPr txBox="1"/>
          <p:nvPr/>
        </p:nvSpPr>
        <p:spPr>
          <a:xfrm>
            <a:off x="761695" y="1387145"/>
            <a:ext cx="4410151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dirty="0">
                <a:solidFill>
                  <a:srgbClr val="CBD5E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정보의 홍수 속에서 '진짜 근거'를 가려내는 4가지 필터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761695" y="2974543"/>
            <a:ext cx="4038905" cy="9144"/>
          </a:xfrm>
          <a:prstGeom prst="rect">
            <a:avLst/>
          </a:prstGeom>
          <a:solidFill>
            <a:srgbClr val="FFFFFF">
              <a:alpha val="20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761695" y="2517343"/>
            <a:ext cx="228600" cy="228600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1133856" y="2441448"/>
            <a:ext cx="1743761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4대 평가 기준</a:t>
            </a:r>
            <a:endParaRPr lang="en-US" sz="2100" dirty="0"/>
          </a:p>
        </p:txBody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761695" y="3317443"/>
            <a:ext cx="171907" cy="171907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1076249" y="3269894"/>
            <a:ext cx="1324051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최신성 (Currency)</a:t>
            </a:r>
            <a:endParaRPr lang="en-US" sz="1200" dirty="0"/>
          </a:p>
        </p:txBody>
      </p:sp>
      <p:sp>
        <p:nvSpPr>
          <p:cNvPr id="12" name="Text 8"/>
          <p:cNvSpPr txBox="1"/>
          <p:nvPr/>
        </p:nvSpPr>
        <p:spPr>
          <a:xfrm>
            <a:off x="1076249" y="3498494"/>
            <a:ext cx="3610051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최근 정보인가? (통계/IT는 3년, 인문은 10년 이내 권장)</a:t>
            </a:r>
            <a:endParaRPr lang="en-US" sz="1200" dirty="0"/>
          </a:p>
        </p:txBody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761695" y="4013302"/>
            <a:ext cx="171907" cy="171907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1076249" y="3964838"/>
            <a:ext cx="1209751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권위 (Authority)</a:t>
            </a:r>
            <a:endParaRPr lang="en-US" sz="1200" dirty="0"/>
          </a:p>
        </p:txBody>
      </p:sp>
      <p:sp>
        <p:nvSpPr>
          <p:cNvPr id="15" name="Text 10"/>
          <p:cNvSpPr txBox="1"/>
          <p:nvPr/>
        </p:nvSpPr>
        <p:spPr>
          <a:xfrm>
            <a:off x="1076249" y="4193438"/>
            <a:ext cx="333390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저자와 기관의 전문성이 입증되었는가? (소속/자격)</a:t>
            </a:r>
            <a:endParaRPr lang="en-US" sz="1200" dirty="0"/>
          </a:p>
        </p:txBody>
      </p:sp>
      <p:pic>
        <p:nvPicPr>
          <p:cNvPr id="16" name="Image 3" descr="preencoded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761695" y="4708246"/>
            <a:ext cx="171907" cy="171907"/>
          </a:xfrm>
          <a:prstGeom prst="rect">
            <a:avLst/>
          </a:prstGeom>
        </p:spPr>
      </p:pic>
      <p:sp>
        <p:nvSpPr>
          <p:cNvPr id="17" name="Text 11"/>
          <p:cNvSpPr txBox="1"/>
          <p:nvPr/>
        </p:nvSpPr>
        <p:spPr>
          <a:xfrm>
            <a:off x="1076249" y="4660697"/>
            <a:ext cx="118140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근거 (Accuracy)</a:t>
            </a:r>
            <a:endParaRPr lang="en-US" sz="1200" dirty="0"/>
          </a:p>
        </p:txBody>
      </p:sp>
      <p:sp>
        <p:nvSpPr>
          <p:cNvPr id="18" name="Text 12"/>
          <p:cNvSpPr txBox="1"/>
          <p:nvPr/>
        </p:nvSpPr>
        <p:spPr>
          <a:xfrm>
            <a:off x="1076249" y="4889297"/>
            <a:ext cx="3591763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주장을 뒷받침하는 데이터와 참고문헌이 명시되었는가?</a:t>
            </a:r>
            <a:endParaRPr lang="en-US" sz="1200" dirty="0"/>
          </a:p>
        </p:txBody>
      </p:sp>
      <p:pic>
        <p:nvPicPr>
          <p:cNvPr id="19" name="Image 4" descr="preencoded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761695" y="5403190"/>
            <a:ext cx="171907" cy="171907"/>
          </a:xfrm>
          <a:prstGeom prst="rect">
            <a:avLst/>
          </a:prstGeom>
        </p:spPr>
      </p:pic>
      <p:sp>
        <p:nvSpPr>
          <p:cNvPr id="20" name="Text 13"/>
          <p:cNvSpPr txBox="1"/>
          <p:nvPr/>
        </p:nvSpPr>
        <p:spPr>
          <a:xfrm>
            <a:off x="1076249" y="5355641"/>
            <a:ext cx="11338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목적 (Purpose)</a:t>
            </a:r>
            <a:endParaRPr lang="en-US" sz="1200" dirty="0"/>
          </a:p>
        </p:txBody>
      </p:sp>
      <p:sp>
        <p:nvSpPr>
          <p:cNvPr id="21" name="Text 14"/>
          <p:cNvSpPr txBox="1"/>
          <p:nvPr/>
        </p:nvSpPr>
        <p:spPr>
          <a:xfrm>
            <a:off x="1076249" y="5584241"/>
            <a:ext cx="329641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객관적 사실 전달인가, 특정 이익을 위한 홍보인가?</a:t>
            </a:r>
            <a:endParaRPr lang="en-US" sz="1200" dirty="0"/>
          </a:p>
        </p:txBody>
      </p:sp>
      <p:sp>
        <p:nvSpPr>
          <p:cNvPr id="22" name="Shape 15"/>
          <p:cNvSpPr/>
          <p:nvPr/>
        </p:nvSpPr>
        <p:spPr>
          <a:xfrm>
            <a:off x="5372100" y="2187245"/>
            <a:ext cx="6057900" cy="3010205"/>
          </a:xfrm>
          <a:prstGeom prst="roundRect">
            <a:avLst>
              <a:gd name="adj" fmla="val 385"/>
            </a:avLst>
          </a:prstGeom>
          <a:solidFill>
            <a:srgbClr val="FFFFFF">
              <a:alpha val="5000"/>
            </a:srgbClr>
          </a:solidFill>
          <a:ln w="12700">
            <a:solidFill>
              <a:srgbClr val="FFFFFF">
                <a:alpha val="1000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23" name="Image 5" descr="preencoded.png"/>
          <p:cNvPicPr>
            <a:picLocks noChangeAspect="1"/>
          </p:cNvPicPr>
          <p:nvPr/>
        </p:nvPicPr>
        <p:blipFill>
          <a:blip r:embed="rId5"/>
          <a:srcRect l="-6738" r="-6738"/>
          <a:stretch/>
        </p:blipFill>
        <p:spPr>
          <a:xfrm>
            <a:off x="5619902" y="2475281"/>
            <a:ext cx="219456" cy="171907"/>
          </a:xfrm>
          <a:prstGeom prst="rect">
            <a:avLst/>
          </a:prstGeom>
        </p:spPr>
      </p:pic>
      <p:sp>
        <p:nvSpPr>
          <p:cNvPr id="24" name="Text 16"/>
          <p:cNvSpPr txBox="1"/>
          <p:nvPr/>
        </p:nvSpPr>
        <p:spPr>
          <a:xfrm>
            <a:off x="5915254" y="2435047"/>
            <a:ext cx="2221992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60A5F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신뢰도 간이 점수표 (0~2점)</a:t>
            </a:r>
            <a:endParaRPr lang="en-US" sz="1300" dirty="0"/>
          </a:p>
        </p:txBody>
      </p:sp>
      <p:sp>
        <p:nvSpPr>
          <p:cNvPr id="25" name="Shape 17"/>
          <p:cNvSpPr/>
          <p:nvPr/>
        </p:nvSpPr>
        <p:spPr>
          <a:xfrm>
            <a:off x="5619902" y="3563417"/>
            <a:ext cx="5562295" cy="9144"/>
          </a:xfrm>
          <a:prstGeom prst="rect">
            <a:avLst/>
          </a:prstGeom>
          <a:solidFill>
            <a:srgbClr val="FFFFFF">
              <a:alpha val="10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6" name="Text 18"/>
          <p:cNvSpPr txBox="1"/>
          <p:nvPr/>
        </p:nvSpPr>
        <p:spPr>
          <a:xfrm>
            <a:off x="5715000" y="3104388"/>
            <a:ext cx="3429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0점</a:t>
            </a:r>
            <a:endParaRPr lang="en-US" sz="1200" dirty="0"/>
          </a:p>
        </p:txBody>
      </p:sp>
      <p:sp>
        <p:nvSpPr>
          <p:cNvPr id="27" name="Text 19"/>
          <p:cNvSpPr txBox="1"/>
          <p:nvPr/>
        </p:nvSpPr>
        <p:spPr>
          <a:xfrm>
            <a:off x="6476695" y="2991917"/>
            <a:ext cx="1886407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개인 블로그 · 익명 커뮤니티</a:t>
            </a:r>
            <a:endParaRPr lang="en-US" sz="1200" dirty="0"/>
          </a:p>
        </p:txBody>
      </p:sp>
      <p:sp>
        <p:nvSpPr>
          <p:cNvPr id="28" name="Text 20"/>
          <p:cNvSpPr txBox="1"/>
          <p:nvPr/>
        </p:nvSpPr>
        <p:spPr>
          <a:xfrm>
            <a:off x="6476695" y="3238805"/>
            <a:ext cx="2160727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94A3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검증되지 않은 개인 의견 (사용 지양)</a:t>
            </a:r>
            <a:endParaRPr lang="en-US" sz="1000" dirty="0"/>
          </a:p>
        </p:txBody>
      </p:sp>
      <p:sp>
        <p:nvSpPr>
          <p:cNvPr id="29" name="Shape 21"/>
          <p:cNvSpPr/>
          <p:nvPr/>
        </p:nvSpPr>
        <p:spPr>
          <a:xfrm>
            <a:off x="5619902" y="4250131"/>
            <a:ext cx="5562295" cy="9144"/>
          </a:xfrm>
          <a:prstGeom prst="rect">
            <a:avLst/>
          </a:prstGeom>
          <a:solidFill>
            <a:srgbClr val="FFFFFF">
              <a:alpha val="10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0" name="Text 22"/>
          <p:cNvSpPr txBox="1"/>
          <p:nvPr/>
        </p:nvSpPr>
        <p:spPr>
          <a:xfrm>
            <a:off x="5715000" y="3795674"/>
            <a:ext cx="3429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1점</a:t>
            </a:r>
            <a:endParaRPr lang="en-US" sz="1200" dirty="0"/>
          </a:p>
        </p:txBody>
      </p:sp>
      <p:sp>
        <p:nvSpPr>
          <p:cNvPr id="31" name="Text 23"/>
          <p:cNvSpPr txBox="1"/>
          <p:nvPr/>
        </p:nvSpPr>
        <p:spPr>
          <a:xfrm>
            <a:off x="6476695" y="3683203"/>
            <a:ext cx="145755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일반 뉴스 기사 · 칼럼</a:t>
            </a:r>
            <a:endParaRPr lang="en-US" sz="1200" dirty="0"/>
          </a:p>
        </p:txBody>
      </p:sp>
      <p:sp>
        <p:nvSpPr>
          <p:cNvPr id="32" name="Text 24"/>
          <p:cNvSpPr txBox="1"/>
          <p:nvPr/>
        </p:nvSpPr>
        <p:spPr>
          <a:xfrm>
            <a:off x="6476695" y="3931006"/>
            <a:ext cx="2104034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94A3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2차 가공 정보 (보조 근거로만 활용)</a:t>
            </a:r>
            <a:endParaRPr lang="en-US" sz="1000" dirty="0"/>
          </a:p>
        </p:txBody>
      </p:sp>
      <p:sp>
        <p:nvSpPr>
          <p:cNvPr id="33" name="Text 25"/>
          <p:cNvSpPr txBox="1"/>
          <p:nvPr/>
        </p:nvSpPr>
        <p:spPr>
          <a:xfrm>
            <a:off x="5715000" y="4486961"/>
            <a:ext cx="3429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2점</a:t>
            </a:r>
            <a:endParaRPr lang="en-US" sz="1200" dirty="0"/>
          </a:p>
        </p:txBody>
      </p:sp>
      <p:sp>
        <p:nvSpPr>
          <p:cNvPr id="34" name="Text 26"/>
          <p:cNvSpPr txBox="1"/>
          <p:nvPr/>
        </p:nvSpPr>
        <p:spPr>
          <a:xfrm>
            <a:off x="6476695" y="4374490"/>
            <a:ext cx="201991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공식 통계 · 기관 보고서 · 논문</a:t>
            </a:r>
            <a:endParaRPr lang="en-US" sz="1200" dirty="0"/>
          </a:p>
        </p:txBody>
      </p:sp>
      <p:sp>
        <p:nvSpPr>
          <p:cNvPr id="35" name="Text 27"/>
          <p:cNvSpPr txBox="1"/>
          <p:nvPr/>
        </p:nvSpPr>
        <p:spPr>
          <a:xfrm>
            <a:off x="6476695" y="4622292"/>
            <a:ext cx="2236622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94A3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전문가가 검증한 1차 자료 (핵심 근거)</a:t>
            </a:r>
            <a:endParaRPr lang="en-US" sz="1000" dirty="0"/>
          </a:p>
        </p:txBody>
      </p:sp>
      <p:sp>
        <p:nvSpPr>
          <p:cNvPr id="36" name="Shape 28"/>
          <p:cNvSpPr/>
          <p:nvPr/>
        </p:nvSpPr>
        <p:spPr>
          <a:xfrm>
            <a:off x="5372100" y="5523890"/>
            <a:ext cx="6057900" cy="533095"/>
          </a:xfrm>
          <a:prstGeom prst="roundRect">
            <a:avLst>
              <a:gd name="adj" fmla="val 12252"/>
            </a:avLst>
          </a:prstGeom>
          <a:solidFill>
            <a:srgbClr val="3B82F6">
              <a:alpha val="10000"/>
            </a:srgbClr>
          </a:solidFill>
          <a:ln w="12700">
            <a:solidFill>
              <a:srgbClr val="3B82F6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37" name="Image 6" descr="preencoded.png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6526987" y="5714086"/>
            <a:ext cx="152705" cy="152705"/>
          </a:xfrm>
          <a:prstGeom prst="rect">
            <a:avLst/>
          </a:prstGeom>
        </p:spPr>
      </p:pic>
      <p:sp>
        <p:nvSpPr>
          <p:cNvPr id="38" name="Text 29"/>
          <p:cNvSpPr txBox="1"/>
          <p:nvPr/>
        </p:nvSpPr>
        <p:spPr>
          <a:xfrm>
            <a:off x="6793078" y="5675681"/>
            <a:ext cx="3600907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93C5F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핵심 주장은 반드시 '총점 6점 이상' 자료로 입증하세요. (점수표·6점 기준은 본 자료의 제안)</a:t>
            </a:r>
            <a:endParaRPr lang="en-US" sz="1200" dirty="0"/>
          </a:p>
        </p:txBody>
      </p:sp>
      <p:sp>
        <p:nvSpPr>
          <p:cNvPr id="39" name="Stage3 Note"/>
          <p:cNvSpPr txBox="1"/>
          <p:nvPr/>
        </p:nvSpPr>
        <p:spPr>
          <a:xfrm>
            <a:off x="571500" y="6300000"/>
            <a:ext cx="11049000" cy="30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900">
                <a:solidFill>
                  <a:srgbClr val="8B95A7"/>
                </a:solidFill>
                <a:latin typeface="Noto Sans KR"/>
                <a:ea typeface="Noto Sans KR"/>
                <a:cs typeface="Noto Sans KR"/>
              </a:rPr>
              <a:t>CRAAP 테스트의 다섯 기준 중 관련성(Relevance)을 뺀 4개를 추린 간이판이다.  Blakeslee, S. (2004). The CRAAP test. LOEX Quarterly, 31(3), 4. https://commons.emich.edu/loexquarterly/vol31/iss3/4</a:t>
            </a:r>
          </a:p>
        </p:txBody>
      </p:sp>
      <p:sp>
        <p:nvSpPr>
          <p:cNvPr id="40" name="deckgen:wrap:footer"/>
          <p:cNvSpPr txBox="1"/>
          <p:nvPr/>
        </p:nvSpPr>
        <p:spPr>
          <a:xfrm>
            <a:off x="365760" y="6549390"/>
            <a:ext cx="11460480" cy="240030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0">
                <a:solidFill>
                  <a:srgbClr val="8A8F99"/>
                </a:solidFill>
                <a:latin typeface="Pretendard"/>
              </a:rPr>
              <a:t>© 2026 이애본 · 홍문원(洪文院) 발행 · CC BY-NC-ND 4.0 · useful-ai.dreamitbiz.com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0F0F0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204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" name="Shape 2"/>
          <p:cNvSpPr/>
          <p:nvPr/>
        </p:nvSpPr>
        <p:spPr>
          <a:xfrm>
            <a:off x="761695" y="476402"/>
            <a:ext cx="571500" cy="57607"/>
          </a:xfrm>
          <a:prstGeom prst="rect">
            <a:avLst/>
          </a:prstGeom>
          <a:solidFill>
            <a:srgbClr val="00BBF0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 txBox="1"/>
          <p:nvPr/>
        </p:nvSpPr>
        <p:spPr>
          <a:xfrm>
            <a:off x="761695" y="657454"/>
            <a:ext cx="5162702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서지카드/노트테이킹 예시</a:t>
            </a:r>
            <a:endParaRPr lang="en-US" sz="3600" dirty="0"/>
          </a:p>
        </p:txBody>
      </p:sp>
      <p:sp>
        <p:nvSpPr>
          <p:cNvPr id="6" name="Text 4"/>
          <p:cNvSpPr txBox="1"/>
          <p:nvPr/>
        </p:nvSpPr>
        <p:spPr>
          <a:xfrm>
            <a:off x="782269" y="1555394"/>
            <a:ext cx="6029554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dirty="0">
                <a:solidFill>
                  <a:srgbClr val="CBD5E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효율적인 자료 </a:t>
            </a:r>
            <a:r>
              <a:rPr lang="en-US" sz="1500" dirty="0" err="1">
                <a:solidFill>
                  <a:srgbClr val="CBD5E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정리를</a:t>
            </a:r>
            <a:r>
              <a:rPr lang="en-US" sz="1500" dirty="0">
                <a:solidFill>
                  <a:srgbClr val="CBD5E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</a:t>
            </a:r>
            <a:r>
              <a:rPr lang="en-US" sz="1500" dirty="0" err="1">
                <a:solidFill>
                  <a:srgbClr val="CBD5E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위해</a:t>
            </a:r>
            <a:endParaRPr lang="en-US" sz="1500" dirty="0">
              <a:solidFill>
                <a:srgbClr val="CBD5E1"/>
              </a:solidFill>
              <a:latin typeface="Noto Sans KR" pitchFamily="34" charset="0"/>
              <a:ea typeface="Noto Sans KR" pitchFamily="34" charset="-122"/>
              <a:cs typeface="Noto Sans KR" pitchFamily="34" charset="-120"/>
            </a:endParaRPr>
          </a:p>
          <a:p>
            <a:pPr marL="0" indent="0" algn="l">
              <a:buNone/>
            </a:pPr>
            <a:r>
              <a:rPr lang="en-US" sz="1500" dirty="0">
                <a:solidFill>
                  <a:srgbClr val="CBD5E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'서지 정보'와 '핵심 내용'을 한 곳에 기록하세요.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761695" y="3330245"/>
            <a:ext cx="4038905" cy="9144"/>
          </a:xfrm>
          <a:prstGeom prst="rect">
            <a:avLst/>
          </a:prstGeom>
          <a:solidFill>
            <a:srgbClr val="FFFFFF">
              <a:alpha val="20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761695" y="2872130"/>
            <a:ext cx="228600" cy="228600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1133856" y="2796235"/>
            <a:ext cx="3115361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필수 기록 항목 (8 Fields)</a:t>
            </a:r>
            <a:endParaRPr lang="en-US" sz="2100" dirty="0"/>
          </a:p>
        </p:txBody>
      </p:sp>
      <p:sp>
        <p:nvSpPr>
          <p:cNvPr id="10" name="Shape 7"/>
          <p:cNvSpPr/>
          <p:nvPr/>
        </p:nvSpPr>
        <p:spPr>
          <a:xfrm>
            <a:off x="761695" y="3624682"/>
            <a:ext cx="1923898" cy="485546"/>
          </a:xfrm>
          <a:prstGeom prst="roundRect">
            <a:avLst>
              <a:gd name="adj" fmla="val 22156"/>
            </a:avLst>
          </a:prstGeom>
          <a:solidFill>
            <a:srgbClr val="FFFFFF">
              <a:alpha val="5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1" name="Shape 8"/>
          <p:cNvSpPr/>
          <p:nvPr/>
        </p:nvSpPr>
        <p:spPr>
          <a:xfrm>
            <a:off x="761695" y="3624682"/>
            <a:ext cx="38405" cy="485546"/>
          </a:xfrm>
          <a:prstGeom prst="rect">
            <a:avLst/>
          </a:prstGeom>
          <a:solidFill>
            <a:srgbClr val="00BBF0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rcRect l="-25988" r="-25988"/>
          <a:stretch/>
        </p:blipFill>
        <p:spPr>
          <a:xfrm>
            <a:off x="942746" y="3779215"/>
            <a:ext cx="228600" cy="171907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1285646" y="3738982"/>
            <a:ext cx="1183234" cy="2386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저자 (Author)</a:t>
            </a:r>
            <a:endParaRPr lang="en-US" sz="1300" dirty="0"/>
          </a:p>
        </p:txBody>
      </p:sp>
      <p:sp>
        <p:nvSpPr>
          <p:cNvPr id="14" name="Shape 10"/>
          <p:cNvSpPr/>
          <p:nvPr/>
        </p:nvSpPr>
        <p:spPr>
          <a:xfrm>
            <a:off x="2876702" y="3624682"/>
            <a:ext cx="1923898" cy="485546"/>
          </a:xfrm>
          <a:prstGeom prst="roundRect">
            <a:avLst>
              <a:gd name="adj" fmla="val 22156"/>
            </a:avLst>
          </a:prstGeom>
          <a:solidFill>
            <a:srgbClr val="FFFFFF">
              <a:alpha val="5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5" name="Shape 11"/>
          <p:cNvSpPr/>
          <p:nvPr/>
        </p:nvSpPr>
        <p:spPr>
          <a:xfrm>
            <a:off x="2876702" y="3624682"/>
            <a:ext cx="38405" cy="485546"/>
          </a:xfrm>
          <a:prstGeom prst="rect">
            <a:avLst/>
          </a:prstGeom>
          <a:solidFill>
            <a:srgbClr val="00BBF0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5"/>
          <a:srcRect l="-25988" r="-25988"/>
          <a:stretch/>
        </p:blipFill>
        <p:spPr>
          <a:xfrm>
            <a:off x="3057754" y="3779215"/>
            <a:ext cx="228600" cy="171907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3400654" y="3738982"/>
            <a:ext cx="792785" cy="2386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발행 연도</a:t>
            </a:r>
            <a:endParaRPr lang="en-US" sz="1300" dirty="0"/>
          </a:p>
        </p:txBody>
      </p:sp>
      <p:sp>
        <p:nvSpPr>
          <p:cNvPr id="18" name="Shape 13"/>
          <p:cNvSpPr/>
          <p:nvPr/>
        </p:nvSpPr>
        <p:spPr>
          <a:xfrm>
            <a:off x="761695" y="4295851"/>
            <a:ext cx="1923898" cy="485546"/>
          </a:xfrm>
          <a:prstGeom prst="roundRect">
            <a:avLst>
              <a:gd name="adj" fmla="val 22156"/>
            </a:avLst>
          </a:prstGeom>
          <a:solidFill>
            <a:srgbClr val="FFFFFF">
              <a:alpha val="5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9" name="Shape 14"/>
          <p:cNvSpPr/>
          <p:nvPr/>
        </p:nvSpPr>
        <p:spPr>
          <a:xfrm>
            <a:off x="761695" y="4295851"/>
            <a:ext cx="38405" cy="485546"/>
          </a:xfrm>
          <a:prstGeom prst="rect">
            <a:avLst/>
          </a:prstGeom>
          <a:solidFill>
            <a:srgbClr val="00BBF0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20" name="Image 3" descr="preencoded.png"/>
          <p:cNvPicPr>
            <a:picLocks noChangeAspect="1"/>
          </p:cNvPicPr>
          <p:nvPr/>
        </p:nvPicPr>
        <p:blipFill>
          <a:blip r:embed="rId6"/>
          <a:srcRect l="-25988" r="-25988"/>
          <a:stretch/>
        </p:blipFill>
        <p:spPr>
          <a:xfrm>
            <a:off x="942746" y="4449470"/>
            <a:ext cx="228600" cy="171907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1285646" y="4410151"/>
            <a:ext cx="1012241" cy="2386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논문/책 제목</a:t>
            </a:r>
            <a:endParaRPr lang="en-US" sz="1300" dirty="0"/>
          </a:p>
        </p:txBody>
      </p:sp>
      <p:sp>
        <p:nvSpPr>
          <p:cNvPr id="22" name="Shape 16"/>
          <p:cNvSpPr/>
          <p:nvPr/>
        </p:nvSpPr>
        <p:spPr>
          <a:xfrm>
            <a:off x="2876702" y="4295851"/>
            <a:ext cx="1923898" cy="485546"/>
          </a:xfrm>
          <a:prstGeom prst="roundRect">
            <a:avLst>
              <a:gd name="adj" fmla="val 22156"/>
            </a:avLst>
          </a:prstGeom>
          <a:solidFill>
            <a:srgbClr val="FFFFFF">
              <a:alpha val="5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3" name="Shape 17"/>
          <p:cNvSpPr/>
          <p:nvPr/>
        </p:nvSpPr>
        <p:spPr>
          <a:xfrm>
            <a:off x="2876702" y="4295851"/>
            <a:ext cx="38405" cy="485546"/>
          </a:xfrm>
          <a:prstGeom prst="rect">
            <a:avLst/>
          </a:prstGeom>
          <a:solidFill>
            <a:srgbClr val="00BBF0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24" name="Image 4" descr="preencoded.png"/>
          <p:cNvPicPr>
            <a:picLocks noChangeAspect="1"/>
          </p:cNvPicPr>
          <p:nvPr/>
        </p:nvPicPr>
        <p:blipFill>
          <a:blip r:embed="rId7"/>
          <a:srcRect l="-25988" r="-25988"/>
          <a:stretch/>
        </p:blipFill>
        <p:spPr>
          <a:xfrm>
            <a:off x="3057754" y="4449470"/>
            <a:ext cx="228600" cy="171907"/>
          </a:xfrm>
          <a:prstGeom prst="rect">
            <a:avLst/>
          </a:prstGeom>
        </p:spPr>
      </p:pic>
      <p:sp>
        <p:nvSpPr>
          <p:cNvPr id="25" name="Text 18"/>
          <p:cNvSpPr txBox="1"/>
          <p:nvPr/>
        </p:nvSpPr>
        <p:spPr>
          <a:xfrm>
            <a:off x="3400654" y="4410151"/>
            <a:ext cx="1078992" cy="2386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출처 (저널명)</a:t>
            </a:r>
            <a:endParaRPr lang="en-US" sz="1300" dirty="0"/>
          </a:p>
        </p:txBody>
      </p:sp>
      <p:sp>
        <p:nvSpPr>
          <p:cNvPr id="26" name="Shape 19"/>
          <p:cNvSpPr/>
          <p:nvPr/>
        </p:nvSpPr>
        <p:spPr>
          <a:xfrm>
            <a:off x="761695" y="4966106"/>
            <a:ext cx="1923898" cy="485546"/>
          </a:xfrm>
          <a:prstGeom prst="roundRect">
            <a:avLst>
              <a:gd name="adj" fmla="val 22156"/>
            </a:avLst>
          </a:prstGeom>
          <a:solidFill>
            <a:srgbClr val="FFFFFF">
              <a:alpha val="5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7" name="Shape 20"/>
          <p:cNvSpPr/>
          <p:nvPr/>
        </p:nvSpPr>
        <p:spPr>
          <a:xfrm>
            <a:off x="761695" y="4966106"/>
            <a:ext cx="38405" cy="485546"/>
          </a:xfrm>
          <a:prstGeom prst="rect">
            <a:avLst/>
          </a:prstGeom>
          <a:solidFill>
            <a:srgbClr val="00BBF0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28" name="Image 5" descr="preencoded.png"/>
          <p:cNvPicPr>
            <a:picLocks noChangeAspect="1"/>
          </p:cNvPicPr>
          <p:nvPr/>
        </p:nvPicPr>
        <p:blipFill>
          <a:blip r:embed="rId8"/>
          <a:srcRect l="-38653" r="-38653"/>
          <a:stretch/>
        </p:blipFill>
        <p:spPr>
          <a:xfrm>
            <a:off x="942746" y="5120640"/>
            <a:ext cx="228600" cy="171907"/>
          </a:xfrm>
          <a:prstGeom prst="rect">
            <a:avLst/>
          </a:prstGeom>
        </p:spPr>
      </p:pic>
      <p:sp>
        <p:nvSpPr>
          <p:cNvPr id="29" name="Text 21"/>
          <p:cNvSpPr txBox="1"/>
          <p:nvPr/>
        </p:nvSpPr>
        <p:spPr>
          <a:xfrm>
            <a:off x="1285646" y="5080406"/>
            <a:ext cx="1078992" cy="2386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페이지 (쪽수)</a:t>
            </a:r>
            <a:endParaRPr lang="en-US" sz="1300" dirty="0"/>
          </a:p>
        </p:txBody>
      </p:sp>
      <p:sp>
        <p:nvSpPr>
          <p:cNvPr id="30" name="Shape 22"/>
          <p:cNvSpPr/>
          <p:nvPr/>
        </p:nvSpPr>
        <p:spPr>
          <a:xfrm>
            <a:off x="2876702" y="4966106"/>
            <a:ext cx="1923898" cy="485546"/>
          </a:xfrm>
          <a:prstGeom prst="roundRect">
            <a:avLst>
              <a:gd name="adj" fmla="val 22156"/>
            </a:avLst>
          </a:prstGeom>
          <a:solidFill>
            <a:srgbClr val="FFFFFF">
              <a:alpha val="5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1" name="Shape 23"/>
          <p:cNvSpPr/>
          <p:nvPr/>
        </p:nvSpPr>
        <p:spPr>
          <a:xfrm>
            <a:off x="2876702" y="4966106"/>
            <a:ext cx="38405" cy="485546"/>
          </a:xfrm>
          <a:prstGeom prst="rect">
            <a:avLst/>
          </a:prstGeom>
          <a:solidFill>
            <a:srgbClr val="00BBF0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32" name="Image 6" descr="preencoded.png"/>
          <p:cNvPicPr>
            <a:picLocks noChangeAspect="1"/>
          </p:cNvPicPr>
          <p:nvPr/>
        </p:nvPicPr>
        <p:blipFill>
          <a:blip r:embed="rId9"/>
          <a:srcRect l="-3192" r="-3192"/>
          <a:stretch/>
        </p:blipFill>
        <p:spPr>
          <a:xfrm>
            <a:off x="3057754" y="5120640"/>
            <a:ext cx="228600" cy="171907"/>
          </a:xfrm>
          <a:prstGeom prst="rect">
            <a:avLst/>
          </a:prstGeom>
        </p:spPr>
      </p:pic>
      <p:sp>
        <p:nvSpPr>
          <p:cNvPr id="33" name="Text 24"/>
          <p:cNvSpPr txBox="1"/>
          <p:nvPr/>
        </p:nvSpPr>
        <p:spPr>
          <a:xfrm>
            <a:off x="3400654" y="5080406"/>
            <a:ext cx="926287" cy="2386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DOI / URL</a:t>
            </a:r>
            <a:endParaRPr lang="en-US" sz="1300" dirty="0"/>
          </a:p>
        </p:txBody>
      </p:sp>
      <p:sp>
        <p:nvSpPr>
          <p:cNvPr id="34" name="Shape 25"/>
          <p:cNvSpPr/>
          <p:nvPr/>
        </p:nvSpPr>
        <p:spPr>
          <a:xfrm>
            <a:off x="761695" y="5636362"/>
            <a:ext cx="1923898" cy="485546"/>
          </a:xfrm>
          <a:prstGeom prst="roundRect">
            <a:avLst>
              <a:gd name="adj" fmla="val 22156"/>
            </a:avLst>
          </a:prstGeom>
          <a:solidFill>
            <a:srgbClr val="FFFFFF">
              <a:alpha val="5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5" name="Shape 26"/>
          <p:cNvSpPr/>
          <p:nvPr/>
        </p:nvSpPr>
        <p:spPr>
          <a:xfrm>
            <a:off x="761695" y="5636362"/>
            <a:ext cx="38405" cy="485546"/>
          </a:xfrm>
          <a:prstGeom prst="rect">
            <a:avLst/>
          </a:prstGeom>
          <a:solidFill>
            <a:srgbClr val="00BBF0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36" name="Image 7" descr="preencoded.png"/>
          <p:cNvPicPr>
            <a:picLocks noChangeAspect="1"/>
          </p:cNvPicPr>
          <p:nvPr/>
        </p:nvPicPr>
        <p:blipFill>
          <a:blip r:embed="rId10"/>
          <a:srcRect l="-38653" r="-38653"/>
          <a:stretch/>
        </p:blipFill>
        <p:spPr>
          <a:xfrm>
            <a:off x="942746" y="5790895"/>
            <a:ext cx="228600" cy="171907"/>
          </a:xfrm>
          <a:prstGeom prst="rect">
            <a:avLst/>
          </a:prstGeom>
        </p:spPr>
      </p:pic>
      <p:sp>
        <p:nvSpPr>
          <p:cNvPr id="37" name="Text 27"/>
          <p:cNvSpPr txBox="1"/>
          <p:nvPr/>
        </p:nvSpPr>
        <p:spPr>
          <a:xfrm>
            <a:off x="1285646" y="5750662"/>
            <a:ext cx="792785" cy="2386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핵심 요지</a:t>
            </a:r>
            <a:endParaRPr lang="en-US" sz="1300" dirty="0"/>
          </a:p>
        </p:txBody>
      </p:sp>
      <p:sp>
        <p:nvSpPr>
          <p:cNvPr id="38" name="Shape 28"/>
          <p:cNvSpPr/>
          <p:nvPr/>
        </p:nvSpPr>
        <p:spPr>
          <a:xfrm>
            <a:off x="2876702" y="5636362"/>
            <a:ext cx="1923898" cy="485546"/>
          </a:xfrm>
          <a:prstGeom prst="roundRect">
            <a:avLst>
              <a:gd name="adj" fmla="val 22156"/>
            </a:avLst>
          </a:prstGeom>
          <a:solidFill>
            <a:srgbClr val="FFFFFF">
              <a:alpha val="5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9" name="Shape 29"/>
          <p:cNvSpPr/>
          <p:nvPr/>
        </p:nvSpPr>
        <p:spPr>
          <a:xfrm>
            <a:off x="2876702" y="5636362"/>
            <a:ext cx="38405" cy="485546"/>
          </a:xfrm>
          <a:prstGeom prst="rect">
            <a:avLst/>
          </a:prstGeom>
          <a:solidFill>
            <a:srgbClr val="00BBF0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40" name="Image 8" descr="preencoded.png"/>
          <p:cNvPicPr>
            <a:picLocks noChangeAspect="1"/>
          </p:cNvPicPr>
          <p:nvPr/>
        </p:nvPicPr>
        <p:blipFill>
          <a:blip r:embed="rId11"/>
          <a:srcRect l="-16489" r="-16489"/>
          <a:stretch/>
        </p:blipFill>
        <p:spPr>
          <a:xfrm>
            <a:off x="3057754" y="5790895"/>
            <a:ext cx="228600" cy="171907"/>
          </a:xfrm>
          <a:prstGeom prst="rect">
            <a:avLst/>
          </a:prstGeom>
        </p:spPr>
      </p:pic>
      <p:sp>
        <p:nvSpPr>
          <p:cNvPr id="41" name="Text 30"/>
          <p:cNvSpPr txBox="1"/>
          <p:nvPr/>
        </p:nvSpPr>
        <p:spPr>
          <a:xfrm>
            <a:off x="3400654" y="5750662"/>
            <a:ext cx="592531" cy="2386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키워드</a:t>
            </a:r>
            <a:endParaRPr lang="en-US" sz="1300" dirty="0"/>
          </a:p>
        </p:txBody>
      </p:sp>
      <p:sp>
        <p:nvSpPr>
          <p:cNvPr id="42" name="Shape 31"/>
          <p:cNvSpPr/>
          <p:nvPr/>
        </p:nvSpPr>
        <p:spPr>
          <a:xfrm>
            <a:off x="5467197" y="1455724"/>
            <a:ext cx="6057900" cy="4990795"/>
          </a:xfrm>
          <a:prstGeom prst="roundRect">
            <a:avLst>
              <a:gd name="adj" fmla="val 280"/>
            </a:avLst>
          </a:prstGeom>
          <a:solidFill>
            <a:srgbClr val="FFFFFF"/>
          </a:solidFill>
          <a:ln/>
          <a:effectLst>
            <a:outerShdw blurRad="241300" dist="101600" dir="54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43" name="Shape 32"/>
          <p:cNvSpPr/>
          <p:nvPr/>
        </p:nvSpPr>
        <p:spPr>
          <a:xfrm>
            <a:off x="5753404" y="2169870"/>
            <a:ext cx="5486400" cy="19202"/>
          </a:xfrm>
          <a:prstGeom prst="rect">
            <a:avLst/>
          </a:prstGeom>
          <a:solidFill>
            <a:srgbClr val="E2E8F0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44" name="Image 9" descr="preencoded.png"/>
          <p:cNvPicPr>
            <a:picLocks noChangeAspect="1"/>
          </p:cNvPicPr>
          <p:nvPr/>
        </p:nvPicPr>
        <p:blipFill>
          <a:blip r:embed="rId12"/>
          <a:srcRect l="-1648" r="-1648"/>
          <a:stretch/>
        </p:blipFill>
        <p:spPr>
          <a:xfrm>
            <a:off x="5753404" y="1788565"/>
            <a:ext cx="171907" cy="190195"/>
          </a:xfrm>
          <a:prstGeom prst="rect">
            <a:avLst/>
          </a:prstGeom>
        </p:spPr>
      </p:pic>
      <p:sp>
        <p:nvSpPr>
          <p:cNvPr id="45" name="Text 33"/>
          <p:cNvSpPr txBox="1"/>
          <p:nvPr/>
        </p:nvSpPr>
        <p:spPr>
          <a:xfrm>
            <a:off x="6000292" y="1741017"/>
            <a:ext cx="1657807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00204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서지카드 작성 예시</a:t>
            </a:r>
            <a:endParaRPr lang="en-US" sz="1500" dirty="0"/>
          </a:p>
        </p:txBody>
      </p:sp>
      <p:sp>
        <p:nvSpPr>
          <p:cNvPr id="46" name="Shape 34"/>
          <p:cNvSpPr/>
          <p:nvPr/>
        </p:nvSpPr>
        <p:spPr>
          <a:xfrm>
            <a:off x="10489996" y="1754733"/>
            <a:ext cx="752551" cy="267005"/>
          </a:xfrm>
          <a:prstGeom prst="roundRect">
            <a:avLst>
              <a:gd name="adj" fmla="val 48924"/>
            </a:avLst>
          </a:prstGeom>
          <a:solidFill>
            <a:srgbClr val="00BBF0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7" name="Text 35"/>
          <p:cNvSpPr txBox="1"/>
          <p:nvPr/>
        </p:nvSpPr>
        <p:spPr>
          <a:xfrm>
            <a:off x="10585094" y="1792223"/>
            <a:ext cx="653796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Template</a:t>
            </a:r>
            <a:endParaRPr lang="en-US" sz="900" dirty="0"/>
          </a:p>
        </p:txBody>
      </p:sp>
      <p:sp>
        <p:nvSpPr>
          <p:cNvPr id="48" name="Shape 36"/>
          <p:cNvSpPr/>
          <p:nvPr/>
        </p:nvSpPr>
        <p:spPr>
          <a:xfrm>
            <a:off x="5753404" y="2379268"/>
            <a:ext cx="5486400" cy="828446"/>
          </a:xfrm>
          <a:prstGeom prst="rect">
            <a:avLst/>
          </a:prstGeom>
          <a:solidFill>
            <a:srgbClr val="F8FAF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9" name="Shape 37"/>
          <p:cNvSpPr/>
          <p:nvPr/>
        </p:nvSpPr>
        <p:spPr>
          <a:xfrm>
            <a:off x="5753404" y="2379268"/>
            <a:ext cx="38405" cy="828446"/>
          </a:xfrm>
          <a:prstGeom prst="rect">
            <a:avLst/>
          </a:prstGeom>
          <a:solidFill>
            <a:srgbClr val="3B82F6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0" name="Text 38"/>
          <p:cNvSpPr txBox="1"/>
          <p:nvPr/>
        </p:nvSpPr>
        <p:spPr>
          <a:xfrm>
            <a:off x="5933541" y="2560319"/>
            <a:ext cx="5278831" cy="4672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1E293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홍길동 (2024). "청년 고용 정책의 효과성 분석: 수도권 사례를 중심으로."</a:t>
            </a:r>
            <a:endParaRPr lang="en-US" sz="1300" dirty="0"/>
          </a:p>
        </p:txBody>
      </p:sp>
      <p:sp>
        <p:nvSpPr>
          <p:cNvPr id="51" name="Text 39"/>
          <p:cNvSpPr txBox="1"/>
          <p:nvPr/>
        </p:nvSpPr>
        <p:spPr>
          <a:xfrm>
            <a:off x="6211519" y="2828238"/>
            <a:ext cx="1135685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i="1" dirty="0">
                <a:solidFill>
                  <a:srgbClr val="1E293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한국행정학보</a:t>
            </a:r>
            <a:endParaRPr lang="en-US" sz="1300" dirty="0"/>
          </a:p>
        </p:txBody>
      </p:sp>
      <p:sp>
        <p:nvSpPr>
          <p:cNvPr id="52" name="Text 40"/>
          <p:cNvSpPr txBox="1"/>
          <p:nvPr/>
        </p:nvSpPr>
        <p:spPr>
          <a:xfrm>
            <a:off x="7217359" y="2828238"/>
            <a:ext cx="3469234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1E293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, 55(2), 123-145. https://doi.org/10.xxxx/kaj.yyyy</a:t>
            </a:r>
            <a:endParaRPr lang="en-US" sz="1300" dirty="0"/>
          </a:p>
        </p:txBody>
      </p:sp>
      <p:sp>
        <p:nvSpPr>
          <p:cNvPr id="53" name="Shape 41"/>
          <p:cNvSpPr/>
          <p:nvPr/>
        </p:nvSpPr>
        <p:spPr>
          <a:xfrm>
            <a:off x="5753404" y="3391509"/>
            <a:ext cx="5486400" cy="905256"/>
          </a:xfrm>
          <a:prstGeom prst="roundRect">
            <a:avLst>
              <a:gd name="adj" fmla="val 6380"/>
            </a:avLst>
          </a:prstGeom>
          <a:solidFill>
            <a:srgbClr val="F1F5F9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4" name="Text 42"/>
          <p:cNvSpPr txBox="1"/>
          <p:nvPr/>
        </p:nvSpPr>
        <p:spPr>
          <a:xfrm>
            <a:off x="5867704" y="3505809"/>
            <a:ext cx="1392631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핵심 요지 (SUMMARY)</a:t>
            </a:r>
            <a:endParaRPr lang="en-US" sz="1000" dirty="0"/>
          </a:p>
        </p:txBody>
      </p:sp>
      <p:sp>
        <p:nvSpPr>
          <p:cNvPr id="55" name="Text 43"/>
          <p:cNvSpPr txBox="1"/>
          <p:nvPr/>
        </p:nvSpPr>
        <p:spPr>
          <a:xfrm>
            <a:off x="5867704" y="3738981"/>
            <a:ext cx="5353812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3341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단기 재정 지원 정책은 초기 진입에는 효과적이나 장기 근속에는 유의미한 영향을 주지 못함. 직무 교육 연계형 프로그램이 고용 유지율을 15% 높임. (가상의 예시)</a:t>
            </a:r>
            <a:endParaRPr lang="en-US" sz="1200" dirty="0"/>
          </a:p>
        </p:txBody>
      </p:sp>
      <p:sp>
        <p:nvSpPr>
          <p:cNvPr id="56" name="Shape 44"/>
          <p:cNvSpPr/>
          <p:nvPr/>
        </p:nvSpPr>
        <p:spPr>
          <a:xfrm>
            <a:off x="5753404" y="4432096"/>
            <a:ext cx="5486400" cy="905256"/>
          </a:xfrm>
          <a:prstGeom prst="roundRect">
            <a:avLst>
              <a:gd name="adj" fmla="val 6380"/>
            </a:avLst>
          </a:prstGeom>
          <a:solidFill>
            <a:srgbClr val="FFF7ED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7" name="Text 45"/>
          <p:cNvSpPr txBox="1"/>
          <p:nvPr/>
        </p:nvSpPr>
        <p:spPr>
          <a:xfrm>
            <a:off x="5867704" y="4546396"/>
            <a:ext cx="1707185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EA580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직접 인용 (DIRECT QUOTE)</a:t>
            </a:r>
            <a:endParaRPr lang="en-US" sz="1000" dirty="0"/>
          </a:p>
        </p:txBody>
      </p:sp>
      <p:sp>
        <p:nvSpPr>
          <p:cNvPr id="58" name="Text 46"/>
          <p:cNvSpPr txBox="1"/>
          <p:nvPr/>
        </p:nvSpPr>
        <p:spPr>
          <a:xfrm>
            <a:off x="5867704" y="4778653"/>
            <a:ext cx="5334610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3341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"교육과 산업 현장의 미스매치를 해결하지 않는 한, 단순 보조금 지급은 미봉책에 불과하다." (p. 138)</a:t>
            </a:r>
            <a:endParaRPr lang="en-US" sz="1200" dirty="0"/>
          </a:p>
        </p:txBody>
      </p:sp>
      <p:sp>
        <p:nvSpPr>
          <p:cNvPr id="59" name="Shape 47"/>
          <p:cNvSpPr/>
          <p:nvPr/>
        </p:nvSpPr>
        <p:spPr>
          <a:xfrm>
            <a:off x="5753404" y="5472683"/>
            <a:ext cx="5486400" cy="685800"/>
          </a:xfrm>
          <a:prstGeom prst="roundRect">
            <a:avLst>
              <a:gd name="adj" fmla="val 11111"/>
            </a:avLst>
          </a:prstGeom>
          <a:solidFill>
            <a:srgbClr val="F1F5F9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0" name="Text 48"/>
          <p:cNvSpPr txBox="1"/>
          <p:nvPr/>
        </p:nvSpPr>
        <p:spPr>
          <a:xfrm>
            <a:off x="5867704" y="5586983"/>
            <a:ext cx="1316736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키워드 (KEYWORDS)</a:t>
            </a:r>
            <a:endParaRPr lang="en-US" sz="1000" dirty="0"/>
          </a:p>
        </p:txBody>
      </p:sp>
      <p:sp>
        <p:nvSpPr>
          <p:cNvPr id="61" name="Text 49"/>
          <p:cNvSpPr txBox="1"/>
          <p:nvPr/>
        </p:nvSpPr>
        <p:spPr>
          <a:xfrm>
            <a:off x="5867704" y="5819241"/>
            <a:ext cx="28483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3341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#청년실업 #고용연계 #정책평가 #미스매치</a:t>
            </a:r>
            <a:endParaRPr lang="en-US" sz="1200" dirty="0"/>
          </a:p>
        </p:txBody>
      </p:sp>
      <p:sp>
        <p:nvSpPr>
          <p:cNvPr id="62" name="deckgen:wrap:footer"/>
          <p:cNvSpPr txBox="1"/>
          <p:nvPr/>
        </p:nvSpPr>
        <p:spPr>
          <a:xfrm>
            <a:off x="365760" y="6549390"/>
            <a:ext cx="11460480" cy="240030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0">
                <a:solidFill>
                  <a:srgbClr val="8A8F99"/>
                </a:solidFill>
                <a:latin typeface="Pretendard"/>
              </a:rPr>
              <a:t>© 2026 이애본 · 홍문원(洪文院) 발행 · CC BY-NC-ND 4.0 · useful-ai.dreamitbiz.com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0F0F0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204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" name="Shape 2"/>
          <p:cNvSpPr/>
          <p:nvPr/>
        </p:nvSpPr>
        <p:spPr>
          <a:xfrm>
            <a:off x="761695" y="476402"/>
            <a:ext cx="571500" cy="57607"/>
          </a:xfrm>
          <a:prstGeom prst="rect">
            <a:avLst/>
          </a:prstGeom>
          <a:solidFill>
            <a:srgbClr val="00BBF0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 txBox="1"/>
          <p:nvPr/>
        </p:nvSpPr>
        <p:spPr>
          <a:xfrm>
            <a:off x="761695" y="657454"/>
            <a:ext cx="6591910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개요 → 문단 매핑: 첫 문장 템플릿</a:t>
            </a:r>
            <a:endParaRPr lang="en-US" sz="3600" dirty="0"/>
          </a:p>
        </p:txBody>
      </p:sp>
      <p:sp>
        <p:nvSpPr>
          <p:cNvPr id="6" name="Text 4"/>
          <p:cNvSpPr txBox="1"/>
          <p:nvPr/>
        </p:nvSpPr>
        <p:spPr>
          <a:xfrm>
            <a:off x="761695" y="1387145"/>
            <a:ext cx="4429354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dirty="0">
                <a:solidFill>
                  <a:srgbClr val="CBD5E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개요의 블록을 실제 문장으로 전환하는 4단계 프로세스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1238098" y="2444191"/>
            <a:ext cx="9715500" cy="19202"/>
          </a:xfrm>
          <a:prstGeom prst="rect">
            <a:avLst/>
          </a:prstGeom>
          <a:solidFill>
            <a:srgbClr val="FFFFFF">
              <a:alpha val="15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8" name="Shape 6"/>
          <p:cNvSpPr/>
          <p:nvPr/>
        </p:nvSpPr>
        <p:spPr>
          <a:xfrm>
            <a:off x="761695" y="5625389"/>
            <a:ext cx="10668305" cy="562356"/>
          </a:xfrm>
          <a:prstGeom prst="rect">
            <a:avLst/>
          </a:prstGeom>
          <a:solidFill>
            <a:srgbClr val="00BBF0">
              <a:alpha val="10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9" name="Shape 7"/>
          <p:cNvSpPr/>
          <p:nvPr/>
        </p:nvSpPr>
        <p:spPr>
          <a:xfrm>
            <a:off x="761695" y="5625389"/>
            <a:ext cx="38405" cy="562356"/>
          </a:xfrm>
          <a:prstGeom prst="rect">
            <a:avLst/>
          </a:prstGeom>
          <a:solidFill>
            <a:srgbClr val="00BBF0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10" name="Image 0" descr="preencoded.png"/>
          <p:cNvPicPr>
            <a:picLocks noChangeAspect="1"/>
          </p:cNvPicPr>
          <p:nvPr/>
        </p:nvPicPr>
        <p:blipFill>
          <a:blip r:embed="rId3"/>
          <a:srcRect t="-842" b="-842"/>
          <a:stretch/>
        </p:blipFill>
        <p:spPr>
          <a:xfrm>
            <a:off x="2891333" y="5817413"/>
            <a:ext cx="190195" cy="171907"/>
          </a:xfrm>
          <a:prstGeom prst="rect">
            <a:avLst/>
          </a:prstGeom>
        </p:spPr>
      </p:pic>
      <p:sp>
        <p:nvSpPr>
          <p:cNvPr id="11" name="Text 8"/>
          <p:cNvSpPr txBox="1"/>
          <p:nvPr/>
        </p:nvSpPr>
        <p:spPr>
          <a:xfrm>
            <a:off x="3195828" y="5778094"/>
            <a:ext cx="6270041" cy="2386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E2E8F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실습 (2분): 내 목차 중 3개 블록을 골라 각 블록의 '첫 문장(두괄식)'을 지금 작성해보세요.</a:t>
            </a:r>
            <a:endParaRPr lang="en-US" sz="1300" dirty="0"/>
          </a:p>
        </p:txBody>
      </p:sp>
      <p:sp>
        <p:nvSpPr>
          <p:cNvPr id="13" name="Shape 10"/>
          <p:cNvSpPr/>
          <p:nvPr/>
        </p:nvSpPr>
        <p:spPr>
          <a:xfrm>
            <a:off x="1702613" y="2157984"/>
            <a:ext cx="571500" cy="571500"/>
          </a:xfrm>
          <a:prstGeom prst="ellipse">
            <a:avLst/>
          </a:prstGeom>
          <a:solidFill>
            <a:srgbClr val="00204A"/>
          </a:solidFill>
          <a:ln w="38100">
            <a:solidFill>
              <a:srgbClr val="00BBF0"/>
            </a:solidFill>
            <a:prstDash val="solid"/>
          </a:ln>
          <a:effectLst>
            <a:outerShdw blurRad="139700" dist="12700" dir="16200000" algn="bl" rotWithShape="0">
              <a:srgbClr val="00BBF0">
                <a:alpha val="3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4" name="Text 11"/>
          <p:cNvSpPr txBox="1"/>
          <p:nvPr/>
        </p:nvSpPr>
        <p:spPr>
          <a:xfrm>
            <a:off x="1921154" y="2272284"/>
            <a:ext cx="314554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00BBF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</a:t>
            </a:r>
            <a:endParaRPr lang="en-US" sz="1800" dirty="0"/>
          </a:p>
        </p:txBody>
      </p:sp>
      <p:sp>
        <p:nvSpPr>
          <p:cNvPr id="15" name="Shape 12"/>
          <p:cNvSpPr/>
          <p:nvPr/>
        </p:nvSpPr>
        <p:spPr>
          <a:xfrm>
            <a:off x="761695" y="2958084"/>
            <a:ext cx="2457907" cy="2286000"/>
          </a:xfrm>
          <a:prstGeom prst="roundRect">
            <a:avLst>
              <a:gd name="adj" fmla="val 1333"/>
            </a:avLst>
          </a:prstGeom>
          <a:solidFill>
            <a:srgbClr val="FFFFFF">
              <a:alpha val="5000"/>
            </a:srgbClr>
          </a:solidFill>
          <a:ln w="12700">
            <a:solidFill>
              <a:srgbClr val="FFFFFF">
                <a:alpha val="1000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6" name="Text 13"/>
          <p:cNvSpPr txBox="1"/>
          <p:nvPr/>
        </p:nvSpPr>
        <p:spPr>
          <a:xfrm>
            <a:off x="1410005" y="3653942"/>
            <a:ext cx="1305763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개요 블록 확인</a:t>
            </a:r>
            <a:endParaRPr lang="en-US" sz="1500" dirty="0"/>
          </a:p>
        </p:txBody>
      </p:sp>
      <p:sp>
        <p:nvSpPr>
          <p:cNvPr id="17" name="Text 14"/>
          <p:cNvSpPr txBox="1"/>
          <p:nvPr/>
        </p:nvSpPr>
        <p:spPr>
          <a:xfrm>
            <a:off x="1024128" y="4053535"/>
            <a:ext cx="2042770" cy="6483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CBD5E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설계한 개요의 핵심 </a:t>
            </a:r>
            <a:r>
              <a:rPr lang="en-US" sz="1100" dirty="0" err="1">
                <a:solidFill>
                  <a:srgbClr val="CBD5E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블록을</a:t>
            </a:r>
            <a:r>
              <a:rPr lang="en-US" sz="1100" dirty="0">
                <a:solidFill>
                  <a:srgbClr val="CBD5E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</a:t>
            </a:r>
          </a:p>
          <a:p>
            <a:pPr marL="0" indent="0" algn="ctr">
              <a:buNone/>
            </a:pPr>
            <a:r>
              <a:rPr lang="en-US" sz="1100" dirty="0" err="1">
                <a:solidFill>
                  <a:srgbClr val="CBD5E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확인하세요</a:t>
            </a:r>
            <a:r>
              <a:rPr lang="en-US" sz="1100" dirty="0">
                <a:solidFill>
                  <a:srgbClr val="CBD5E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.</a:t>
            </a:r>
          </a:p>
          <a:p>
            <a:pPr marL="0" indent="0" algn="ctr">
              <a:buNone/>
            </a:pPr>
            <a:r>
              <a:rPr lang="en-US" sz="1100" dirty="0">
                <a:solidFill>
                  <a:srgbClr val="CBD5E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예: A 원인, B 대안,C 사례</a:t>
            </a:r>
            <a:endParaRPr lang="en-US" sz="1100" dirty="0"/>
          </a:p>
        </p:txBody>
      </p:sp>
      <p:pic>
        <p:nvPicPr>
          <p:cNvPr id="18" name="Image 1" descr="preencoded.png"/>
          <p:cNvPicPr>
            <a:picLocks noChangeAspect="1"/>
          </p:cNvPicPr>
          <p:nvPr/>
        </p:nvPicPr>
        <p:blipFill>
          <a:blip r:embed="rId4">
            <a:alphaModFix amt="80000"/>
          </a:blip>
          <a:srcRect l="-50" r="-50"/>
          <a:stretch/>
        </p:blipFill>
        <p:spPr>
          <a:xfrm>
            <a:off x="1816913" y="3196742"/>
            <a:ext cx="342900" cy="304495"/>
          </a:xfrm>
          <a:prstGeom prst="rect">
            <a:avLst/>
          </a:prstGeom>
        </p:spPr>
      </p:pic>
      <p:pic>
        <p:nvPicPr>
          <p:cNvPr id="19" name="Image 2" descr="preencoded.png"/>
          <p:cNvPicPr>
            <a:picLocks noChangeAspect="1"/>
          </p:cNvPicPr>
          <p:nvPr/>
        </p:nvPicPr>
        <p:blipFill>
          <a:blip r:embed="rId5"/>
          <a:srcRect t="-180" b="-180"/>
          <a:stretch/>
        </p:blipFill>
        <p:spPr>
          <a:xfrm>
            <a:off x="3488436" y="2368296"/>
            <a:ext cx="95098" cy="152705"/>
          </a:xfrm>
          <a:prstGeom prst="rect">
            <a:avLst/>
          </a:prstGeom>
        </p:spPr>
      </p:pic>
      <p:sp>
        <p:nvSpPr>
          <p:cNvPr id="20" name="Shape 15"/>
          <p:cNvSpPr/>
          <p:nvPr/>
        </p:nvSpPr>
        <p:spPr>
          <a:xfrm>
            <a:off x="4441241" y="2157984"/>
            <a:ext cx="571500" cy="571500"/>
          </a:xfrm>
          <a:prstGeom prst="ellipse">
            <a:avLst/>
          </a:prstGeom>
          <a:solidFill>
            <a:srgbClr val="00204A"/>
          </a:solidFill>
          <a:ln w="38100">
            <a:solidFill>
              <a:srgbClr val="00BBF0"/>
            </a:solidFill>
            <a:prstDash val="solid"/>
          </a:ln>
          <a:effectLst>
            <a:outerShdw blurRad="139700" dist="12700" dir="16200000" algn="bl" rotWithShape="0">
              <a:srgbClr val="00BBF0">
                <a:alpha val="3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1" name="Text 16"/>
          <p:cNvSpPr txBox="1"/>
          <p:nvPr/>
        </p:nvSpPr>
        <p:spPr>
          <a:xfrm>
            <a:off x="4659782" y="2272284"/>
            <a:ext cx="314554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00BBF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</a:t>
            </a:r>
            <a:endParaRPr lang="en-US" sz="1800" dirty="0"/>
          </a:p>
        </p:txBody>
      </p:sp>
      <p:sp>
        <p:nvSpPr>
          <p:cNvPr id="22" name="Shape 17"/>
          <p:cNvSpPr/>
          <p:nvPr/>
        </p:nvSpPr>
        <p:spPr>
          <a:xfrm>
            <a:off x="3500323" y="2958084"/>
            <a:ext cx="2457907" cy="2286000"/>
          </a:xfrm>
          <a:prstGeom prst="roundRect">
            <a:avLst>
              <a:gd name="adj" fmla="val 1333"/>
            </a:avLst>
          </a:prstGeom>
          <a:solidFill>
            <a:srgbClr val="FFFFFF">
              <a:alpha val="5000"/>
            </a:srgbClr>
          </a:solidFill>
          <a:ln w="12700">
            <a:solidFill>
              <a:srgbClr val="FFFFFF">
                <a:alpha val="1000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3" name="Text 18"/>
          <p:cNvSpPr txBox="1"/>
          <p:nvPr/>
        </p:nvSpPr>
        <p:spPr>
          <a:xfrm>
            <a:off x="4235501" y="3653942"/>
            <a:ext cx="1133856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첫 문장 작성</a:t>
            </a:r>
            <a:endParaRPr lang="en-US" sz="1500" dirty="0"/>
          </a:p>
        </p:txBody>
      </p:sp>
      <p:sp>
        <p:nvSpPr>
          <p:cNvPr id="24" name="Text 19"/>
          <p:cNvSpPr txBox="1"/>
          <p:nvPr/>
        </p:nvSpPr>
        <p:spPr>
          <a:xfrm>
            <a:off x="3766414" y="4053535"/>
            <a:ext cx="2032711" cy="6483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CBD5E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각 블록의 </a:t>
            </a:r>
            <a:r>
              <a:rPr lang="en-US" sz="1100" dirty="0" err="1">
                <a:solidFill>
                  <a:srgbClr val="CBD5E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핵심</a:t>
            </a:r>
            <a:r>
              <a:rPr lang="en-US" sz="1100" dirty="0">
                <a:solidFill>
                  <a:srgbClr val="CBD5E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</a:t>
            </a:r>
            <a:r>
              <a:rPr lang="en-US" sz="1100" dirty="0" err="1">
                <a:solidFill>
                  <a:srgbClr val="CBD5E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주장을</a:t>
            </a:r>
            <a:endParaRPr lang="en-US" sz="1100" dirty="0">
              <a:solidFill>
                <a:srgbClr val="CBD5E1"/>
              </a:solidFill>
              <a:latin typeface="Noto Sans KR" pitchFamily="34" charset="0"/>
              <a:ea typeface="Noto Sans KR" pitchFamily="34" charset="-122"/>
              <a:cs typeface="Noto Sans KR" pitchFamily="34" charset="-120"/>
            </a:endParaRPr>
          </a:p>
          <a:p>
            <a:pPr marL="0" indent="0" algn="ctr">
              <a:buNone/>
            </a:pPr>
            <a:r>
              <a:rPr lang="en-US" sz="1100" dirty="0">
                <a:solidFill>
                  <a:srgbClr val="CBD5E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첫 문장으로 </a:t>
            </a:r>
            <a:r>
              <a:rPr lang="en-US" sz="1100" dirty="0" err="1">
                <a:solidFill>
                  <a:srgbClr val="CBD5E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선언하세요</a:t>
            </a:r>
            <a:r>
              <a:rPr lang="en-US" sz="1100" dirty="0">
                <a:solidFill>
                  <a:srgbClr val="CBD5E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.</a:t>
            </a:r>
          </a:p>
          <a:p>
            <a:pPr marL="0" indent="0" algn="ctr">
              <a:buNone/>
            </a:pPr>
            <a:r>
              <a:rPr lang="en-US" sz="1100" dirty="0">
                <a:solidFill>
                  <a:srgbClr val="CBD5E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"이 단락은 ...을 주장한다."</a:t>
            </a:r>
            <a:endParaRPr lang="en-US" sz="1100" dirty="0"/>
          </a:p>
        </p:txBody>
      </p:sp>
      <p:pic>
        <p:nvPicPr>
          <p:cNvPr id="25" name="Image 3" descr="preencoded.png"/>
          <p:cNvPicPr>
            <a:picLocks noChangeAspect="1"/>
          </p:cNvPicPr>
          <p:nvPr/>
        </p:nvPicPr>
        <p:blipFill>
          <a:blip r:embed="rId6">
            <a:alphaModFix amt="80000"/>
          </a:blip>
          <a:srcRect/>
          <a:stretch/>
        </p:blipFill>
        <p:spPr>
          <a:xfrm>
            <a:off x="4574743" y="3196742"/>
            <a:ext cx="304495" cy="304495"/>
          </a:xfrm>
          <a:prstGeom prst="rect">
            <a:avLst/>
          </a:prstGeom>
        </p:spPr>
      </p:pic>
      <p:pic>
        <p:nvPicPr>
          <p:cNvPr id="26" name="Image 4" descr="preencoded.png"/>
          <p:cNvPicPr>
            <a:picLocks noChangeAspect="1"/>
          </p:cNvPicPr>
          <p:nvPr/>
        </p:nvPicPr>
        <p:blipFill>
          <a:blip r:embed="rId5"/>
          <a:srcRect t="-180" b="-180"/>
          <a:stretch/>
        </p:blipFill>
        <p:spPr>
          <a:xfrm>
            <a:off x="6226150" y="2368296"/>
            <a:ext cx="95098" cy="152705"/>
          </a:xfrm>
          <a:prstGeom prst="rect">
            <a:avLst/>
          </a:prstGeom>
        </p:spPr>
      </p:pic>
      <p:sp>
        <p:nvSpPr>
          <p:cNvPr id="27" name="Shape 20"/>
          <p:cNvSpPr/>
          <p:nvPr/>
        </p:nvSpPr>
        <p:spPr>
          <a:xfrm>
            <a:off x="7178954" y="2157984"/>
            <a:ext cx="571500" cy="571500"/>
          </a:xfrm>
          <a:prstGeom prst="ellipse">
            <a:avLst/>
          </a:prstGeom>
          <a:solidFill>
            <a:srgbClr val="00204A"/>
          </a:solidFill>
          <a:ln w="38100">
            <a:solidFill>
              <a:srgbClr val="00BBF0"/>
            </a:solidFill>
            <a:prstDash val="solid"/>
          </a:ln>
          <a:effectLst>
            <a:outerShdw blurRad="139700" dist="12700" dir="16200000" algn="bl" rotWithShape="0">
              <a:srgbClr val="00BBF0">
                <a:alpha val="3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8" name="Text 21"/>
          <p:cNvSpPr txBox="1"/>
          <p:nvPr/>
        </p:nvSpPr>
        <p:spPr>
          <a:xfrm>
            <a:off x="7397496" y="2272284"/>
            <a:ext cx="314554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00BBF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3</a:t>
            </a:r>
            <a:endParaRPr lang="en-US" sz="1800" dirty="0"/>
          </a:p>
        </p:txBody>
      </p:sp>
      <p:sp>
        <p:nvSpPr>
          <p:cNvPr id="29" name="Shape 22"/>
          <p:cNvSpPr/>
          <p:nvPr/>
        </p:nvSpPr>
        <p:spPr>
          <a:xfrm>
            <a:off x="6238037" y="2958084"/>
            <a:ext cx="2457907" cy="2286000"/>
          </a:xfrm>
          <a:prstGeom prst="roundRect">
            <a:avLst>
              <a:gd name="adj" fmla="val 1333"/>
            </a:avLst>
          </a:prstGeom>
          <a:solidFill>
            <a:srgbClr val="FFFFFF">
              <a:alpha val="5000"/>
            </a:srgbClr>
          </a:solidFill>
          <a:ln w="12700">
            <a:solidFill>
              <a:srgbClr val="FFFFFF">
                <a:alpha val="1000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0" name="Text 23"/>
          <p:cNvSpPr txBox="1"/>
          <p:nvPr/>
        </p:nvSpPr>
        <p:spPr>
          <a:xfrm>
            <a:off x="7087514" y="3653942"/>
            <a:ext cx="905256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근거 배치</a:t>
            </a:r>
            <a:endParaRPr lang="en-US" sz="1500" dirty="0"/>
          </a:p>
        </p:txBody>
      </p:sp>
      <p:sp>
        <p:nvSpPr>
          <p:cNvPr id="31" name="Text 24"/>
          <p:cNvSpPr txBox="1"/>
          <p:nvPr/>
        </p:nvSpPr>
        <p:spPr>
          <a:xfrm>
            <a:off x="6533388" y="4053535"/>
            <a:ext cx="1976018" cy="6483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CBD5E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주장을 뒷받침할 자료를 순서대로 </a:t>
            </a:r>
            <a:r>
              <a:rPr lang="en-US" sz="1100" dirty="0" err="1">
                <a:solidFill>
                  <a:srgbClr val="CBD5E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배치하세요</a:t>
            </a:r>
            <a:r>
              <a:rPr lang="en-US" sz="1100" dirty="0">
                <a:solidFill>
                  <a:srgbClr val="CBD5E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.</a:t>
            </a:r>
          </a:p>
          <a:p>
            <a:pPr marL="0" indent="0" algn="ctr">
              <a:buNone/>
            </a:pPr>
            <a:r>
              <a:rPr lang="en-US" sz="1100" dirty="0" err="1">
                <a:solidFill>
                  <a:srgbClr val="CBD5E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데이터</a:t>
            </a:r>
            <a:r>
              <a:rPr lang="en-US" sz="1100" dirty="0">
                <a:solidFill>
                  <a:srgbClr val="CBD5E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→ 선행 연구 → 사례</a:t>
            </a:r>
            <a:endParaRPr lang="en-US" sz="1100" dirty="0"/>
          </a:p>
        </p:txBody>
      </p:sp>
      <p:pic>
        <p:nvPicPr>
          <p:cNvPr id="32" name="Image 5" descr="preencoded.png"/>
          <p:cNvPicPr>
            <a:picLocks noChangeAspect="1"/>
          </p:cNvPicPr>
          <p:nvPr/>
        </p:nvPicPr>
        <p:blipFill>
          <a:blip r:embed="rId7">
            <a:alphaModFix amt="80000"/>
          </a:blip>
          <a:srcRect l="-107" r="-107"/>
          <a:stretch/>
        </p:blipFill>
        <p:spPr>
          <a:xfrm>
            <a:off x="7331659" y="3196742"/>
            <a:ext cx="267005" cy="304495"/>
          </a:xfrm>
          <a:prstGeom prst="rect">
            <a:avLst/>
          </a:prstGeom>
        </p:spPr>
      </p:pic>
      <p:pic>
        <p:nvPicPr>
          <p:cNvPr id="33" name="Image 6" descr="preencoded.png"/>
          <p:cNvPicPr>
            <a:picLocks noChangeAspect="1"/>
          </p:cNvPicPr>
          <p:nvPr/>
        </p:nvPicPr>
        <p:blipFill>
          <a:blip r:embed="rId5"/>
          <a:srcRect t="-180" b="-180"/>
          <a:stretch/>
        </p:blipFill>
        <p:spPr>
          <a:xfrm>
            <a:off x="8964778" y="2368296"/>
            <a:ext cx="95098" cy="152705"/>
          </a:xfrm>
          <a:prstGeom prst="rect">
            <a:avLst/>
          </a:prstGeom>
        </p:spPr>
      </p:pic>
      <p:sp>
        <p:nvSpPr>
          <p:cNvPr id="34" name="Shape 25"/>
          <p:cNvSpPr/>
          <p:nvPr/>
        </p:nvSpPr>
        <p:spPr>
          <a:xfrm>
            <a:off x="9917582" y="2157984"/>
            <a:ext cx="571500" cy="571500"/>
          </a:xfrm>
          <a:prstGeom prst="ellipse">
            <a:avLst/>
          </a:prstGeom>
          <a:solidFill>
            <a:srgbClr val="00204A"/>
          </a:solidFill>
          <a:ln w="38100">
            <a:solidFill>
              <a:srgbClr val="00BBF0"/>
            </a:solidFill>
            <a:prstDash val="solid"/>
          </a:ln>
          <a:effectLst>
            <a:outerShdw blurRad="139700" dist="12700" dir="16200000" algn="bl" rotWithShape="0">
              <a:srgbClr val="00BBF0">
                <a:alpha val="3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35" name="Text 26"/>
          <p:cNvSpPr txBox="1"/>
          <p:nvPr/>
        </p:nvSpPr>
        <p:spPr>
          <a:xfrm>
            <a:off x="10135210" y="2272284"/>
            <a:ext cx="314554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00BBF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4</a:t>
            </a:r>
            <a:endParaRPr lang="en-US" sz="1800" dirty="0"/>
          </a:p>
        </p:txBody>
      </p:sp>
      <p:sp>
        <p:nvSpPr>
          <p:cNvPr id="36" name="Shape 27"/>
          <p:cNvSpPr/>
          <p:nvPr/>
        </p:nvSpPr>
        <p:spPr>
          <a:xfrm>
            <a:off x="8976665" y="2958084"/>
            <a:ext cx="2457907" cy="2286000"/>
          </a:xfrm>
          <a:prstGeom prst="roundRect">
            <a:avLst>
              <a:gd name="adj" fmla="val 1333"/>
            </a:avLst>
          </a:prstGeom>
          <a:solidFill>
            <a:srgbClr val="FFFFFF">
              <a:alpha val="5000"/>
            </a:srgbClr>
          </a:solidFill>
          <a:ln w="12700">
            <a:solidFill>
              <a:srgbClr val="FFFFFF">
                <a:alpha val="1000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7" name="Text 28"/>
          <p:cNvSpPr txBox="1"/>
          <p:nvPr/>
        </p:nvSpPr>
        <p:spPr>
          <a:xfrm>
            <a:off x="9738360" y="3653942"/>
            <a:ext cx="1077163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연결어 삽입</a:t>
            </a:r>
            <a:endParaRPr lang="en-US" sz="1500" dirty="0"/>
          </a:p>
        </p:txBody>
      </p:sp>
      <p:sp>
        <p:nvSpPr>
          <p:cNvPr id="38" name="Text 29"/>
          <p:cNvSpPr txBox="1"/>
          <p:nvPr/>
        </p:nvSpPr>
        <p:spPr>
          <a:xfrm>
            <a:off x="9364370" y="4053535"/>
            <a:ext cx="1794967" cy="6483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CBD5E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문장 간의 </a:t>
            </a:r>
            <a:r>
              <a:rPr lang="en-US" sz="1100" dirty="0" err="1">
                <a:solidFill>
                  <a:srgbClr val="CBD5E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논리적</a:t>
            </a:r>
            <a:r>
              <a:rPr lang="en-US" sz="1100" dirty="0">
                <a:solidFill>
                  <a:srgbClr val="CBD5E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</a:t>
            </a:r>
            <a:r>
              <a:rPr lang="en-US" sz="1100" dirty="0" err="1">
                <a:solidFill>
                  <a:srgbClr val="CBD5E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관계를</a:t>
            </a:r>
            <a:r>
              <a:rPr lang="en-US" sz="1100" dirty="0">
                <a:solidFill>
                  <a:srgbClr val="CBD5E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</a:t>
            </a:r>
          </a:p>
          <a:p>
            <a:pPr marL="0" indent="0" algn="ctr">
              <a:buNone/>
            </a:pPr>
            <a:r>
              <a:rPr lang="en-US" sz="1100" dirty="0" err="1">
                <a:solidFill>
                  <a:srgbClr val="CBD5E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연결어로</a:t>
            </a:r>
            <a:r>
              <a:rPr lang="en-US" sz="1100" dirty="0">
                <a:solidFill>
                  <a:srgbClr val="CBD5E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</a:t>
            </a:r>
            <a:r>
              <a:rPr lang="en-US" sz="1100" dirty="0" err="1">
                <a:solidFill>
                  <a:srgbClr val="CBD5E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명시하세요</a:t>
            </a:r>
            <a:r>
              <a:rPr lang="en-US" sz="1100" dirty="0">
                <a:solidFill>
                  <a:srgbClr val="CBD5E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.</a:t>
            </a:r>
          </a:p>
          <a:p>
            <a:pPr marL="0" indent="0" algn="ctr">
              <a:buNone/>
            </a:pPr>
            <a:r>
              <a:rPr lang="en-US" sz="1100" dirty="0" err="1">
                <a:solidFill>
                  <a:srgbClr val="CBD5E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따라서</a:t>
            </a:r>
            <a:r>
              <a:rPr lang="en-US" sz="1100" dirty="0">
                <a:solidFill>
                  <a:srgbClr val="CBD5E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/ 그러나 / 한편</a:t>
            </a:r>
            <a:endParaRPr lang="en-US" sz="1100" dirty="0"/>
          </a:p>
        </p:txBody>
      </p:sp>
      <p:pic>
        <p:nvPicPr>
          <p:cNvPr id="39" name="Image 7" descr="preencoded.png"/>
          <p:cNvPicPr>
            <a:picLocks noChangeAspect="1"/>
          </p:cNvPicPr>
          <p:nvPr/>
        </p:nvPicPr>
        <p:blipFill>
          <a:blip r:embed="rId8">
            <a:alphaModFix amt="80000"/>
          </a:blip>
          <a:srcRect l="-90" r="-90"/>
          <a:stretch/>
        </p:blipFill>
        <p:spPr>
          <a:xfrm>
            <a:off x="10012680" y="3196742"/>
            <a:ext cx="381305" cy="304495"/>
          </a:xfrm>
          <a:prstGeom prst="rect">
            <a:avLst/>
          </a:prstGeom>
        </p:spPr>
      </p:pic>
      <p:sp>
        <p:nvSpPr>
          <p:cNvPr id="40" name="deckgen:wrap:footer"/>
          <p:cNvSpPr txBox="1"/>
          <p:nvPr/>
        </p:nvSpPr>
        <p:spPr>
          <a:xfrm>
            <a:off x="365760" y="6549390"/>
            <a:ext cx="11460480" cy="240030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0">
                <a:solidFill>
                  <a:srgbClr val="8A8F99"/>
                </a:solidFill>
                <a:latin typeface="Pretendard"/>
              </a:rPr>
              <a:t>© 2026 이애본 · 홍문원(洪文院) 발행 · CC BY-NC-ND 4.0 · useful-ai.dreamitbiz.com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0F0F0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204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" name="Shape 2"/>
          <p:cNvSpPr/>
          <p:nvPr/>
        </p:nvSpPr>
        <p:spPr>
          <a:xfrm>
            <a:off x="761695" y="571500"/>
            <a:ext cx="571500" cy="57607"/>
          </a:xfrm>
          <a:prstGeom prst="rect">
            <a:avLst/>
          </a:prstGeom>
          <a:solidFill>
            <a:srgbClr val="00BBF0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 txBox="1"/>
          <p:nvPr/>
        </p:nvSpPr>
        <p:spPr>
          <a:xfrm>
            <a:off x="761695" y="790956"/>
            <a:ext cx="5420563" cy="7717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2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반론–반박 한 줄 템플릿</a:t>
            </a:r>
            <a:endParaRPr lang="en-US" sz="4200" dirty="0"/>
          </a:p>
        </p:txBody>
      </p:sp>
      <p:sp>
        <p:nvSpPr>
          <p:cNvPr id="6" name="Shape 4"/>
          <p:cNvSpPr/>
          <p:nvPr/>
        </p:nvSpPr>
        <p:spPr>
          <a:xfrm>
            <a:off x="761695" y="1649578"/>
            <a:ext cx="8725205" cy="514807"/>
          </a:xfrm>
          <a:prstGeom prst="roundRect">
            <a:avLst>
              <a:gd name="adj" fmla="val 26314"/>
            </a:avLst>
          </a:prstGeom>
          <a:solidFill>
            <a:srgbClr val="FFFFFF">
              <a:alpha val="5000"/>
            </a:srgbClr>
          </a:solidFill>
          <a:ln w="12700">
            <a:solidFill>
              <a:srgbClr val="FFFFFF">
                <a:alpha val="1000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Text 5"/>
          <p:cNvSpPr txBox="1"/>
          <p:nvPr/>
        </p:nvSpPr>
        <p:spPr>
          <a:xfrm>
            <a:off x="961949" y="1735531"/>
            <a:ext cx="8496605" cy="3337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CBD5E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패턴 공식: 반론 (Opposing View) → 그러나 → 근거 (Evidence) → 따라서 (Rebuttal)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761695" y="2449678"/>
            <a:ext cx="3353105" cy="3258007"/>
          </a:xfrm>
          <a:prstGeom prst="roundRect">
            <a:avLst>
              <a:gd name="adj" fmla="val 328"/>
            </a:avLst>
          </a:prstGeom>
          <a:solidFill>
            <a:srgbClr val="FFFFFF">
              <a:alpha val="5000"/>
            </a:srgbClr>
          </a:solidFill>
          <a:ln w="12700">
            <a:solidFill>
              <a:srgbClr val="FFFFFF">
                <a:alpha val="1000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Shape 7"/>
          <p:cNvSpPr/>
          <p:nvPr/>
        </p:nvSpPr>
        <p:spPr>
          <a:xfrm>
            <a:off x="761695" y="2449678"/>
            <a:ext cx="3333902" cy="38405"/>
          </a:xfrm>
          <a:prstGeom prst="rect">
            <a:avLst/>
          </a:prstGeom>
          <a:solidFill>
            <a:srgbClr val="00BBF0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0" name="Shape 8"/>
          <p:cNvSpPr/>
          <p:nvPr/>
        </p:nvSpPr>
        <p:spPr>
          <a:xfrm>
            <a:off x="1076249" y="2764231"/>
            <a:ext cx="533095" cy="533095"/>
          </a:xfrm>
          <a:prstGeom prst="ellipse">
            <a:avLst/>
          </a:prstGeom>
          <a:solidFill>
            <a:srgbClr val="00BBF0">
              <a:alpha val="10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11" name="Image 0" descr="preencoded.png"/>
          <p:cNvPicPr>
            <a:picLocks noChangeAspect="1"/>
          </p:cNvPicPr>
          <p:nvPr/>
        </p:nvPicPr>
        <p:blipFill>
          <a:blip r:embed="rId3"/>
          <a:srcRect t="-45" b="-45"/>
          <a:stretch/>
        </p:blipFill>
        <p:spPr>
          <a:xfrm>
            <a:off x="1214323" y="2916936"/>
            <a:ext cx="256946" cy="228600"/>
          </a:xfrm>
          <a:prstGeom prst="rect">
            <a:avLst/>
          </a:prstGeom>
        </p:spPr>
      </p:pic>
      <p:sp>
        <p:nvSpPr>
          <p:cNvPr id="12" name="Text 9"/>
          <p:cNvSpPr txBox="1"/>
          <p:nvPr/>
        </p:nvSpPr>
        <p:spPr>
          <a:xfrm>
            <a:off x="1076249" y="3525926"/>
            <a:ext cx="1543507" cy="3337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비용 문제 반박</a:t>
            </a:r>
            <a:endParaRPr lang="en-US" sz="1800" dirty="0"/>
          </a:p>
        </p:txBody>
      </p:sp>
      <p:sp>
        <p:nvSpPr>
          <p:cNvPr id="13" name="Text 10"/>
          <p:cNvSpPr txBox="1"/>
          <p:nvPr/>
        </p:nvSpPr>
        <p:spPr>
          <a:xfrm>
            <a:off x="1076249" y="4021531"/>
            <a:ext cx="2829154" cy="4764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CBD5E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"반론: A 정책 도입은 초기 비용을 과도하게 증가시킨다는 지적이 있다."</a:t>
            </a:r>
            <a:endParaRPr lang="en-US" sz="1200" dirty="0"/>
          </a:p>
        </p:txBody>
      </p:sp>
      <p:sp>
        <p:nvSpPr>
          <p:cNvPr id="14" name="Text 11"/>
          <p:cNvSpPr txBox="1"/>
          <p:nvPr/>
        </p:nvSpPr>
        <p:spPr>
          <a:xfrm>
            <a:off x="1076249" y="4661611"/>
            <a:ext cx="2800807" cy="7242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93C5F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"그러나 최근 연구(2024)에 따르면, 자동화로 인한 장기 유지비용은 오히려 30% 감소하는 것으로 나타났다." (가상의 예시)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4419295" y="2449678"/>
            <a:ext cx="3353105" cy="3258007"/>
          </a:xfrm>
          <a:prstGeom prst="roundRect">
            <a:avLst>
              <a:gd name="adj" fmla="val 328"/>
            </a:avLst>
          </a:prstGeom>
          <a:solidFill>
            <a:srgbClr val="FFFFFF">
              <a:alpha val="5000"/>
            </a:srgbClr>
          </a:solidFill>
          <a:ln w="12700">
            <a:solidFill>
              <a:srgbClr val="FFFFFF">
                <a:alpha val="1000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6" name="Shape 13"/>
          <p:cNvSpPr/>
          <p:nvPr/>
        </p:nvSpPr>
        <p:spPr>
          <a:xfrm>
            <a:off x="4419295" y="2449678"/>
            <a:ext cx="3333902" cy="38405"/>
          </a:xfrm>
          <a:prstGeom prst="rect">
            <a:avLst/>
          </a:prstGeom>
          <a:solidFill>
            <a:srgbClr val="3B82F6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7" name="Shape 14"/>
          <p:cNvSpPr/>
          <p:nvPr/>
        </p:nvSpPr>
        <p:spPr>
          <a:xfrm>
            <a:off x="4733849" y="2764231"/>
            <a:ext cx="533095" cy="533095"/>
          </a:xfrm>
          <a:prstGeom prst="ellipse">
            <a:avLst/>
          </a:prstGeom>
          <a:solidFill>
            <a:srgbClr val="00BBF0">
              <a:alpha val="10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18" name="Image 1" descr="preencoded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4886554" y="2916936"/>
            <a:ext cx="228600" cy="228600"/>
          </a:xfrm>
          <a:prstGeom prst="rect">
            <a:avLst/>
          </a:prstGeom>
        </p:spPr>
      </p:pic>
      <p:sp>
        <p:nvSpPr>
          <p:cNvPr id="19" name="Text 15"/>
          <p:cNvSpPr txBox="1"/>
          <p:nvPr/>
        </p:nvSpPr>
        <p:spPr>
          <a:xfrm>
            <a:off x="4733849" y="3525926"/>
            <a:ext cx="1543507" cy="3337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표본 한계 반박</a:t>
            </a:r>
            <a:endParaRPr lang="en-US" sz="1800" dirty="0"/>
          </a:p>
        </p:txBody>
      </p:sp>
      <p:sp>
        <p:nvSpPr>
          <p:cNvPr id="20" name="Text 16"/>
          <p:cNvSpPr txBox="1"/>
          <p:nvPr/>
        </p:nvSpPr>
        <p:spPr>
          <a:xfrm>
            <a:off x="4733849" y="4021531"/>
            <a:ext cx="2829154" cy="4764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CBD5E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"반론: 연구 표본이 작아 결과를 일반화하기 어렵다는 비판이 있을 수 있다."</a:t>
            </a:r>
            <a:endParaRPr lang="en-US" sz="1200" dirty="0"/>
          </a:p>
        </p:txBody>
      </p:sp>
      <p:sp>
        <p:nvSpPr>
          <p:cNvPr id="21" name="Text 17"/>
          <p:cNvSpPr txBox="1"/>
          <p:nvPr/>
        </p:nvSpPr>
        <p:spPr>
          <a:xfrm>
            <a:off x="4733849" y="4661611"/>
            <a:ext cx="2809951" cy="7242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93C5F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"하지만 메타분석 결과, 다수의 선행 연구에서도 동일한 상관관계가 일관되게 확인된다."</a:t>
            </a:r>
            <a:endParaRPr lang="en-US" sz="1200" dirty="0"/>
          </a:p>
        </p:txBody>
      </p:sp>
      <p:sp>
        <p:nvSpPr>
          <p:cNvPr id="22" name="Shape 18"/>
          <p:cNvSpPr/>
          <p:nvPr/>
        </p:nvSpPr>
        <p:spPr>
          <a:xfrm>
            <a:off x="8076895" y="2449678"/>
            <a:ext cx="3353105" cy="3258007"/>
          </a:xfrm>
          <a:prstGeom prst="roundRect">
            <a:avLst>
              <a:gd name="adj" fmla="val 328"/>
            </a:avLst>
          </a:prstGeom>
          <a:solidFill>
            <a:srgbClr val="FFFFFF">
              <a:alpha val="5000"/>
            </a:srgbClr>
          </a:solidFill>
          <a:ln w="12700">
            <a:solidFill>
              <a:srgbClr val="FFFFFF">
                <a:alpha val="1000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3" name="Shape 19"/>
          <p:cNvSpPr/>
          <p:nvPr/>
        </p:nvSpPr>
        <p:spPr>
          <a:xfrm>
            <a:off x="8076895" y="2449678"/>
            <a:ext cx="3333902" cy="38405"/>
          </a:xfrm>
          <a:prstGeom prst="rect">
            <a:avLst/>
          </a:prstGeom>
          <a:solidFill>
            <a:srgbClr val="60A5F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4" name="Shape 20"/>
          <p:cNvSpPr/>
          <p:nvPr/>
        </p:nvSpPr>
        <p:spPr>
          <a:xfrm>
            <a:off x="8391449" y="2764231"/>
            <a:ext cx="533095" cy="533095"/>
          </a:xfrm>
          <a:prstGeom prst="ellipse">
            <a:avLst/>
          </a:prstGeom>
          <a:solidFill>
            <a:srgbClr val="00BBF0">
              <a:alpha val="10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25" name="Image 2" descr="preencoded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8544154" y="2916936"/>
            <a:ext cx="228600" cy="228600"/>
          </a:xfrm>
          <a:prstGeom prst="rect">
            <a:avLst/>
          </a:prstGeom>
        </p:spPr>
      </p:pic>
      <p:sp>
        <p:nvSpPr>
          <p:cNvPr id="26" name="Text 21"/>
          <p:cNvSpPr txBox="1"/>
          <p:nvPr/>
        </p:nvSpPr>
        <p:spPr>
          <a:xfrm>
            <a:off x="8391449" y="3525926"/>
            <a:ext cx="1752905" cy="3337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효과 불분명 반박</a:t>
            </a:r>
            <a:endParaRPr lang="en-US" sz="1800" dirty="0"/>
          </a:p>
        </p:txBody>
      </p:sp>
      <p:sp>
        <p:nvSpPr>
          <p:cNvPr id="27" name="Text 22"/>
          <p:cNvSpPr txBox="1"/>
          <p:nvPr/>
        </p:nvSpPr>
        <p:spPr>
          <a:xfrm>
            <a:off x="8391449" y="4021531"/>
            <a:ext cx="2686507" cy="4764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CBD5E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"반론: 해당 제도의 실질적인 개선 효과가 불분명하다는 의견이 있다."</a:t>
            </a:r>
            <a:endParaRPr lang="en-US" sz="1200" dirty="0"/>
          </a:p>
        </p:txBody>
      </p:sp>
      <p:sp>
        <p:nvSpPr>
          <p:cNvPr id="28" name="Text 23"/>
          <p:cNvSpPr txBox="1"/>
          <p:nvPr/>
        </p:nvSpPr>
        <p:spPr>
          <a:xfrm>
            <a:off x="8391449" y="4661611"/>
            <a:ext cx="2724912" cy="7242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93C5F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"이에 대해 본 보고서는 KPI 정량 지표 분석을 통해 구체적인 개선 수치를 입증했다."</a:t>
            </a:r>
            <a:endParaRPr lang="en-US" sz="1200" dirty="0"/>
          </a:p>
        </p:txBody>
      </p:sp>
      <p:sp>
        <p:nvSpPr>
          <p:cNvPr id="29" name="Shape 24"/>
          <p:cNvSpPr/>
          <p:nvPr/>
        </p:nvSpPr>
        <p:spPr>
          <a:xfrm>
            <a:off x="761695" y="5935370"/>
            <a:ext cx="10668305" cy="9144"/>
          </a:xfrm>
          <a:prstGeom prst="rect">
            <a:avLst/>
          </a:prstGeom>
          <a:solidFill>
            <a:srgbClr val="FFFFFF">
              <a:alpha val="10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30" name="Image 3" descr="preencoded.png"/>
          <p:cNvPicPr>
            <a:picLocks noChangeAspect="1"/>
          </p:cNvPicPr>
          <p:nvPr/>
        </p:nvPicPr>
        <p:blipFill>
          <a:blip r:embed="rId6"/>
          <a:srcRect l="-760" r="-760"/>
          <a:stretch/>
        </p:blipFill>
        <p:spPr>
          <a:xfrm>
            <a:off x="3467405" y="6090818"/>
            <a:ext cx="152705" cy="171907"/>
          </a:xfrm>
          <a:prstGeom prst="rect">
            <a:avLst/>
          </a:prstGeom>
        </p:spPr>
      </p:pic>
      <p:sp>
        <p:nvSpPr>
          <p:cNvPr id="31" name="Text 25"/>
          <p:cNvSpPr txBox="1"/>
          <p:nvPr/>
        </p:nvSpPr>
        <p:spPr>
          <a:xfrm>
            <a:off x="3696005" y="6040526"/>
            <a:ext cx="4929530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94A3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반론은 공정하게 인정하고, 반박은 확실한 근거 데이터로 대응하세요</a:t>
            </a:r>
            <a:endParaRPr lang="en-US" sz="1300" dirty="0"/>
          </a:p>
        </p:txBody>
      </p:sp>
      <p:pic>
        <p:nvPicPr>
          <p:cNvPr id="32" name="Image 4" descr="preencoded.png"/>
          <p:cNvPicPr>
            <a:picLocks noChangeAspect="1"/>
          </p:cNvPicPr>
          <p:nvPr/>
        </p:nvPicPr>
        <p:blipFill>
          <a:blip r:embed="rId7"/>
          <a:srcRect l="-760" r="-760"/>
          <a:stretch/>
        </p:blipFill>
        <p:spPr>
          <a:xfrm>
            <a:off x="8572500" y="6090818"/>
            <a:ext cx="152705" cy="171907"/>
          </a:xfrm>
          <a:prstGeom prst="rect">
            <a:avLst/>
          </a:prstGeom>
        </p:spPr>
      </p:pic>
      <p:sp>
        <p:nvSpPr>
          <p:cNvPr id="33" name="deckgen:wrap:footer"/>
          <p:cNvSpPr txBox="1"/>
          <p:nvPr/>
        </p:nvSpPr>
        <p:spPr>
          <a:xfrm>
            <a:off x="365760" y="6549390"/>
            <a:ext cx="11460480" cy="240030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0">
                <a:solidFill>
                  <a:srgbClr val="8A8F99"/>
                </a:solidFill>
                <a:latin typeface="Pretendard"/>
              </a:rPr>
              <a:t>© 2026 이애본 · 홍문원(洪文院) 발행 · CC BY-NC-ND 4.0 · useful-ai.dreamitbiz.com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0F0F0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204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" name="Shape 2"/>
          <p:cNvSpPr/>
          <p:nvPr/>
        </p:nvSpPr>
        <p:spPr>
          <a:xfrm>
            <a:off x="761695" y="571500"/>
            <a:ext cx="571500" cy="57607"/>
          </a:xfrm>
          <a:prstGeom prst="rect">
            <a:avLst/>
          </a:prstGeom>
          <a:solidFill>
            <a:srgbClr val="00BBF0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 txBox="1"/>
          <p:nvPr/>
        </p:nvSpPr>
        <p:spPr>
          <a:xfrm>
            <a:off x="761695" y="790956"/>
            <a:ext cx="4038905" cy="7717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2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결론 문장 템플릿</a:t>
            </a:r>
            <a:endParaRPr lang="en-US" sz="4200" dirty="0"/>
          </a:p>
        </p:txBody>
      </p:sp>
      <p:sp>
        <p:nvSpPr>
          <p:cNvPr id="6" name="Text 4"/>
          <p:cNvSpPr txBox="1"/>
          <p:nvPr/>
        </p:nvSpPr>
        <p:spPr>
          <a:xfrm>
            <a:off x="761695" y="1649578"/>
            <a:ext cx="6286500" cy="3337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CBD5E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결론은 본론의 요약과 시사점입니다. 주의: 새로운 정보 도입 금지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761695" y="2373782"/>
            <a:ext cx="3353105" cy="3724351"/>
          </a:xfrm>
          <a:prstGeom prst="roundRect">
            <a:avLst>
              <a:gd name="adj" fmla="val 620"/>
            </a:avLst>
          </a:prstGeom>
          <a:solidFill>
            <a:srgbClr val="FFFFFF">
              <a:alpha val="5000"/>
            </a:srgbClr>
          </a:solidFill>
          <a:ln w="12700">
            <a:solidFill>
              <a:srgbClr val="FFFFFF">
                <a:alpha val="1000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Shape 6"/>
          <p:cNvSpPr/>
          <p:nvPr/>
        </p:nvSpPr>
        <p:spPr>
          <a:xfrm>
            <a:off x="761695" y="2373782"/>
            <a:ext cx="3333902" cy="38405"/>
          </a:xfrm>
          <a:prstGeom prst="roundRect">
            <a:avLst>
              <a:gd name="adj" fmla="val 2380940"/>
            </a:avLst>
          </a:prstGeom>
          <a:solidFill>
            <a:srgbClr val="00BBF0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9" name="Shape 7"/>
          <p:cNvSpPr/>
          <p:nvPr/>
        </p:nvSpPr>
        <p:spPr>
          <a:xfrm>
            <a:off x="1057046" y="2669134"/>
            <a:ext cx="571500" cy="571500"/>
          </a:xfrm>
          <a:prstGeom prst="ellipse">
            <a:avLst/>
          </a:prstGeom>
          <a:solidFill>
            <a:srgbClr val="00BBF0">
              <a:alpha val="10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10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1209751" y="2820924"/>
            <a:ext cx="267005" cy="267005"/>
          </a:xfrm>
          <a:prstGeom prst="rect">
            <a:avLst/>
          </a:prstGeom>
        </p:spPr>
      </p:pic>
      <p:sp>
        <p:nvSpPr>
          <p:cNvPr id="11" name="Text 8"/>
          <p:cNvSpPr txBox="1"/>
          <p:nvPr/>
        </p:nvSpPr>
        <p:spPr>
          <a:xfrm>
            <a:off x="1057046" y="3469234"/>
            <a:ext cx="1905610" cy="3337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요약 (Summary)</a:t>
            </a:r>
            <a:endParaRPr lang="en-US" sz="1800" dirty="0"/>
          </a:p>
        </p:txBody>
      </p:sp>
      <p:sp>
        <p:nvSpPr>
          <p:cNvPr id="12" name="Text 9"/>
          <p:cNvSpPr txBox="1"/>
          <p:nvPr/>
        </p:nvSpPr>
        <p:spPr>
          <a:xfrm>
            <a:off x="1057046" y="3963924"/>
            <a:ext cx="2714854" cy="4764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CBD5E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본론에서 증명한 핵심 논지와 </a:t>
            </a:r>
            <a:r>
              <a:rPr lang="en-US" sz="1400" dirty="0" err="1">
                <a:solidFill>
                  <a:srgbClr val="CBD5E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주요</a:t>
            </a:r>
            <a:r>
              <a:rPr lang="en-US" sz="1400" dirty="0">
                <a:solidFill>
                  <a:srgbClr val="CBD5E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</a:t>
            </a:r>
          </a:p>
          <a:p>
            <a:pPr marL="0" indent="0" algn="l">
              <a:buNone/>
            </a:pPr>
            <a:r>
              <a:rPr lang="en-US" sz="1400" dirty="0" err="1">
                <a:solidFill>
                  <a:srgbClr val="CBD5E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근거를</a:t>
            </a:r>
            <a:r>
              <a:rPr lang="en-US" sz="1400" dirty="0">
                <a:solidFill>
                  <a:srgbClr val="CBD5E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간결하게 재진술합니다.</a:t>
            </a:r>
            <a:endParaRPr lang="en-US" sz="1400" dirty="0"/>
          </a:p>
        </p:txBody>
      </p:sp>
      <p:sp>
        <p:nvSpPr>
          <p:cNvPr id="13" name="Shape 10"/>
          <p:cNvSpPr/>
          <p:nvPr/>
        </p:nvSpPr>
        <p:spPr>
          <a:xfrm>
            <a:off x="1057046" y="5042916"/>
            <a:ext cx="2762402" cy="761695"/>
          </a:xfrm>
          <a:prstGeom prst="roundRect">
            <a:avLst>
              <a:gd name="adj" fmla="val 9004"/>
            </a:avLst>
          </a:prstGeom>
          <a:solidFill>
            <a:srgbClr val="00204A">
              <a:alpha val="60000"/>
            </a:srgbClr>
          </a:solidFill>
          <a:ln w="12700">
            <a:solidFill>
              <a:srgbClr val="FFFFFF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ko-KR" altLang="en-US" sz="2000"/>
          </a:p>
        </p:txBody>
      </p:sp>
      <p:sp>
        <p:nvSpPr>
          <p:cNvPr id="14" name="Text 11"/>
          <p:cNvSpPr txBox="1"/>
          <p:nvPr/>
        </p:nvSpPr>
        <p:spPr>
          <a:xfrm>
            <a:off x="1218895" y="5204765"/>
            <a:ext cx="2556662" cy="4288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A5F3F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"본 보고서는 [주장]을 [핵심 근거 1, 2]를 통해 입증했다."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4419295" y="2373782"/>
            <a:ext cx="3353105" cy="3724351"/>
          </a:xfrm>
          <a:prstGeom prst="roundRect">
            <a:avLst>
              <a:gd name="adj" fmla="val 620"/>
            </a:avLst>
          </a:prstGeom>
          <a:solidFill>
            <a:srgbClr val="FFFFFF">
              <a:alpha val="5000"/>
            </a:srgbClr>
          </a:solidFill>
          <a:ln w="12700">
            <a:solidFill>
              <a:srgbClr val="FFFFFF">
                <a:alpha val="1000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6" name="Shape 13"/>
          <p:cNvSpPr/>
          <p:nvPr/>
        </p:nvSpPr>
        <p:spPr>
          <a:xfrm>
            <a:off x="4419295" y="2373782"/>
            <a:ext cx="3333902" cy="38405"/>
          </a:xfrm>
          <a:prstGeom prst="roundRect">
            <a:avLst>
              <a:gd name="adj" fmla="val 2380940"/>
            </a:avLst>
          </a:prstGeom>
          <a:solidFill>
            <a:srgbClr val="3B82F6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7" name="Shape 14"/>
          <p:cNvSpPr/>
          <p:nvPr/>
        </p:nvSpPr>
        <p:spPr>
          <a:xfrm>
            <a:off x="4714646" y="2669134"/>
            <a:ext cx="571500" cy="571500"/>
          </a:xfrm>
          <a:prstGeom prst="ellipse">
            <a:avLst/>
          </a:prstGeom>
          <a:solidFill>
            <a:srgbClr val="00BBF0">
              <a:alpha val="10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18" name="Image 1" descr="preencoded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4900270" y="2820924"/>
            <a:ext cx="200254" cy="267005"/>
          </a:xfrm>
          <a:prstGeom prst="rect">
            <a:avLst/>
          </a:prstGeom>
        </p:spPr>
      </p:pic>
      <p:sp>
        <p:nvSpPr>
          <p:cNvPr id="19" name="Text 15"/>
          <p:cNvSpPr txBox="1"/>
          <p:nvPr/>
        </p:nvSpPr>
        <p:spPr>
          <a:xfrm>
            <a:off x="4714646" y="3469234"/>
            <a:ext cx="2296058" cy="3337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시사점 (Implication)</a:t>
            </a:r>
            <a:endParaRPr lang="en-US" sz="1800" dirty="0"/>
          </a:p>
        </p:txBody>
      </p:sp>
      <p:sp>
        <p:nvSpPr>
          <p:cNvPr id="20" name="Text 16"/>
          <p:cNvSpPr txBox="1"/>
          <p:nvPr/>
        </p:nvSpPr>
        <p:spPr>
          <a:xfrm>
            <a:off x="4714646" y="3963924"/>
            <a:ext cx="2762402" cy="4764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CBD5E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나의 주장이 해당 분야나 현실 </a:t>
            </a:r>
            <a:r>
              <a:rPr lang="en-US" sz="1400" dirty="0" err="1">
                <a:solidFill>
                  <a:srgbClr val="CBD5E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문제</a:t>
            </a:r>
            <a:r>
              <a:rPr lang="en-US" sz="1400" dirty="0">
                <a:solidFill>
                  <a:srgbClr val="CBD5E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</a:t>
            </a:r>
          </a:p>
          <a:p>
            <a:pPr marL="0" indent="0" algn="l">
              <a:buNone/>
            </a:pPr>
            <a:r>
              <a:rPr lang="en-US" sz="1400" dirty="0" err="1">
                <a:solidFill>
                  <a:srgbClr val="CBD5E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해결에</a:t>
            </a:r>
            <a:r>
              <a:rPr lang="en-US" sz="1400" dirty="0">
                <a:solidFill>
                  <a:srgbClr val="CBD5E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갖는 의미를 설명합니다.</a:t>
            </a:r>
            <a:endParaRPr lang="en-US" sz="1400" dirty="0"/>
          </a:p>
        </p:txBody>
      </p:sp>
      <p:sp>
        <p:nvSpPr>
          <p:cNvPr id="21" name="Shape 17"/>
          <p:cNvSpPr/>
          <p:nvPr/>
        </p:nvSpPr>
        <p:spPr>
          <a:xfrm>
            <a:off x="4714646" y="5042916"/>
            <a:ext cx="2762402" cy="761695"/>
          </a:xfrm>
          <a:prstGeom prst="roundRect">
            <a:avLst>
              <a:gd name="adj" fmla="val 9004"/>
            </a:avLst>
          </a:prstGeom>
          <a:solidFill>
            <a:srgbClr val="00204A">
              <a:alpha val="60000"/>
            </a:srgbClr>
          </a:solidFill>
          <a:ln w="12700">
            <a:solidFill>
              <a:srgbClr val="FFFFFF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ko-KR" altLang="en-US" sz="2000"/>
          </a:p>
        </p:txBody>
      </p:sp>
      <p:sp>
        <p:nvSpPr>
          <p:cNvPr id="22" name="Text 18"/>
          <p:cNvSpPr txBox="1"/>
          <p:nvPr/>
        </p:nvSpPr>
        <p:spPr>
          <a:xfrm>
            <a:off x="4876495" y="5204765"/>
            <a:ext cx="2423160" cy="4288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A5F3F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"이는 [정책/실무/이론]적 관점에서 [구체적 의미]를 갖는다."</a:t>
            </a:r>
            <a:endParaRPr lang="en-US" sz="1200" dirty="0"/>
          </a:p>
        </p:txBody>
      </p:sp>
      <p:sp>
        <p:nvSpPr>
          <p:cNvPr id="23" name="Shape 19"/>
          <p:cNvSpPr/>
          <p:nvPr/>
        </p:nvSpPr>
        <p:spPr>
          <a:xfrm>
            <a:off x="8076895" y="2373782"/>
            <a:ext cx="3353105" cy="3724351"/>
          </a:xfrm>
          <a:prstGeom prst="roundRect">
            <a:avLst>
              <a:gd name="adj" fmla="val 620"/>
            </a:avLst>
          </a:prstGeom>
          <a:solidFill>
            <a:srgbClr val="FFFFFF">
              <a:alpha val="5000"/>
            </a:srgbClr>
          </a:solidFill>
          <a:ln w="12700">
            <a:solidFill>
              <a:srgbClr val="FFFFFF">
                <a:alpha val="1000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4" name="Shape 20"/>
          <p:cNvSpPr/>
          <p:nvPr/>
        </p:nvSpPr>
        <p:spPr>
          <a:xfrm>
            <a:off x="8076895" y="2373782"/>
            <a:ext cx="3333902" cy="38405"/>
          </a:xfrm>
          <a:prstGeom prst="roundRect">
            <a:avLst>
              <a:gd name="adj" fmla="val 2380940"/>
            </a:avLst>
          </a:prstGeom>
          <a:solidFill>
            <a:srgbClr val="60A5F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5" name="Shape 21"/>
          <p:cNvSpPr/>
          <p:nvPr/>
        </p:nvSpPr>
        <p:spPr>
          <a:xfrm>
            <a:off x="8372246" y="2669134"/>
            <a:ext cx="571500" cy="571500"/>
          </a:xfrm>
          <a:prstGeom prst="ellipse">
            <a:avLst/>
          </a:prstGeom>
          <a:solidFill>
            <a:srgbClr val="00BBF0">
              <a:alpha val="10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26" name="Image 2" descr="preencoded.png"/>
          <p:cNvPicPr>
            <a:picLocks noChangeAspect="1"/>
          </p:cNvPicPr>
          <p:nvPr/>
        </p:nvPicPr>
        <p:blipFill>
          <a:blip r:embed="rId5"/>
          <a:srcRect l="-881" r="-881"/>
          <a:stretch/>
        </p:blipFill>
        <p:spPr>
          <a:xfrm>
            <a:off x="8539582" y="2820924"/>
            <a:ext cx="237744" cy="267005"/>
          </a:xfrm>
          <a:prstGeom prst="rect">
            <a:avLst/>
          </a:prstGeom>
        </p:spPr>
      </p:pic>
      <p:sp>
        <p:nvSpPr>
          <p:cNvPr id="27" name="Text 22"/>
          <p:cNvSpPr txBox="1"/>
          <p:nvPr/>
        </p:nvSpPr>
        <p:spPr>
          <a:xfrm>
            <a:off x="8372246" y="3469234"/>
            <a:ext cx="2048256" cy="3337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제언 (Suggestion)</a:t>
            </a:r>
            <a:endParaRPr lang="en-US" sz="1800" dirty="0"/>
          </a:p>
        </p:txBody>
      </p:sp>
      <p:sp>
        <p:nvSpPr>
          <p:cNvPr id="28" name="Text 23"/>
          <p:cNvSpPr txBox="1"/>
          <p:nvPr/>
        </p:nvSpPr>
        <p:spPr>
          <a:xfrm>
            <a:off x="8372246" y="3963924"/>
            <a:ext cx="2857500" cy="4764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CBD5E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연구의 한계를 밝히거나 미래를 </a:t>
            </a:r>
            <a:r>
              <a:rPr lang="en-US" sz="1400" dirty="0" err="1">
                <a:solidFill>
                  <a:srgbClr val="CBD5E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위한</a:t>
            </a:r>
            <a:r>
              <a:rPr lang="en-US" sz="1400" dirty="0">
                <a:solidFill>
                  <a:srgbClr val="CBD5E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</a:t>
            </a:r>
          </a:p>
          <a:p>
            <a:pPr marL="0" indent="0" algn="l">
              <a:buNone/>
            </a:pPr>
            <a:r>
              <a:rPr lang="en-US" sz="1400" dirty="0" err="1">
                <a:solidFill>
                  <a:srgbClr val="CBD5E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구체적인</a:t>
            </a:r>
            <a:r>
              <a:rPr lang="en-US" sz="1400" dirty="0">
                <a:solidFill>
                  <a:srgbClr val="CBD5E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행동을 제안합니다.</a:t>
            </a:r>
            <a:endParaRPr lang="en-US" sz="1400" dirty="0"/>
          </a:p>
        </p:txBody>
      </p:sp>
      <p:sp>
        <p:nvSpPr>
          <p:cNvPr id="29" name="Shape 24"/>
          <p:cNvSpPr/>
          <p:nvPr/>
        </p:nvSpPr>
        <p:spPr>
          <a:xfrm>
            <a:off x="8372246" y="5042916"/>
            <a:ext cx="2762402" cy="761695"/>
          </a:xfrm>
          <a:prstGeom prst="roundRect">
            <a:avLst>
              <a:gd name="adj" fmla="val 9004"/>
            </a:avLst>
          </a:prstGeom>
          <a:solidFill>
            <a:srgbClr val="00204A">
              <a:alpha val="60000"/>
            </a:srgbClr>
          </a:solidFill>
          <a:ln w="12700">
            <a:solidFill>
              <a:srgbClr val="FFFFFF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ko-KR" altLang="en-US" sz="2000"/>
          </a:p>
        </p:txBody>
      </p:sp>
      <p:sp>
        <p:nvSpPr>
          <p:cNvPr id="30" name="Text 25"/>
          <p:cNvSpPr txBox="1"/>
          <p:nvPr/>
        </p:nvSpPr>
        <p:spPr>
          <a:xfrm>
            <a:off x="8534095" y="5204765"/>
            <a:ext cx="2547518" cy="4288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A5F3F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"따라서 [주체]는 향후 [구체적 행동/후속 연구]를 수행할 것을 제안한다."</a:t>
            </a:r>
            <a:endParaRPr lang="en-US" sz="1200" dirty="0"/>
          </a:p>
        </p:txBody>
      </p:sp>
      <p:sp>
        <p:nvSpPr>
          <p:cNvPr id="31" name="deckgen:wrap:footer"/>
          <p:cNvSpPr txBox="1"/>
          <p:nvPr/>
        </p:nvSpPr>
        <p:spPr>
          <a:xfrm>
            <a:off x="365760" y="6549390"/>
            <a:ext cx="11460480" cy="240030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0">
                <a:solidFill>
                  <a:srgbClr val="8A8F99"/>
                </a:solidFill>
                <a:latin typeface="Pretendard"/>
              </a:rPr>
              <a:t>© 2026 이애본 · 홍문원(洪文院) 발행 · CC BY-NC-ND 4.0 · useful-ai.dreamitbiz.com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wrap:bg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deckgen:wrap:side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072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deckgen:wrap:rule"/>
          <p:cNvSpPr/>
          <p:nvPr/>
        </p:nvSpPr>
        <p:spPr>
          <a:xfrm>
            <a:off x="853440" y="2057400"/>
            <a:ext cx="975360" cy="38100"/>
          </a:xfrm>
          <a:prstGeom prst="rect">
            <a:avLst/>
          </a:prstGeom>
          <a:solidFill>
            <a:srgbClr val="0072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deckgen:wrap:eyebrow"/>
          <p:cNvSpPr txBox="1"/>
          <p:nvPr/>
        </p:nvSpPr>
        <p:spPr>
          <a:xfrm>
            <a:off x="853440" y="1165860"/>
            <a:ext cx="10485120" cy="3429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1">
                <a:solidFill>
                  <a:srgbClr val="0072CE"/>
                </a:solidFill>
                <a:latin typeface="Pretendard"/>
              </a:rPr>
              <a:t>HOW TO USE</a:t>
            </a:r>
          </a:p>
        </p:txBody>
      </p:sp>
      <p:sp>
        <p:nvSpPr>
          <p:cNvPr id="6" name="deckgen:wrap:title"/>
          <p:cNvSpPr txBox="1"/>
          <p:nvPr/>
        </p:nvSpPr>
        <p:spPr>
          <a:xfrm>
            <a:off x="853440" y="1440180"/>
            <a:ext cx="10485120" cy="6172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3000" b="1">
                <a:solidFill>
                  <a:srgbClr val="1A2A5E"/>
                </a:solidFill>
                <a:latin typeface="Pretendard"/>
              </a:rPr>
              <a:t>이 자료 사용 방법</a:t>
            </a:r>
          </a:p>
        </p:txBody>
      </p:sp>
      <p:sp>
        <p:nvSpPr>
          <p:cNvPr id="7" name="deckgen:wrap:body"/>
          <p:cNvSpPr txBox="1"/>
          <p:nvPr/>
        </p:nvSpPr>
        <p:spPr>
          <a:xfrm>
            <a:off x="853440" y="2400300"/>
            <a:ext cx="10485120" cy="3566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>
                <a:solidFill>
                  <a:srgbClr val="333333"/>
                </a:solidFill>
                <a:latin typeface="Pretendard"/>
              </a:rPr>
              <a:t>1.  수업·강의·자습에 그대로 쓰셔도 됩니다. 출처만 남겨 주세요.</a:t>
            </a:r>
          </a:p>
          <a:p>
            <a:pPr algn="l">
              <a:lnSpc>
                <a:spcPct val="130000"/>
              </a:lnSpc>
              <a:spcBef>
                <a:spcPts val="900"/>
              </a:spcBef>
            </a:pPr>
            <a:r>
              <a:rPr sz="1500" b="0">
                <a:solidFill>
                  <a:srgbClr val="333333"/>
                </a:solidFill>
                <a:latin typeface="Pretendard"/>
              </a:rPr>
              <a:t>2.  PDF 는 화면으로 읽는 용도, PPTX 는 발표용입니다. PPTX 는 Pretendard 글꼴이 설치된 컴퓨터에서 가장 똑같이 보입니다.</a:t>
            </a:r>
          </a:p>
          <a:p>
            <a:pPr algn="l">
              <a:lnSpc>
                <a:spcPct val="130000"/>
              </a:lnSpc>
              <a:spcBef>
                <a:spcPts val="900"/>
              </a:spcBef>
            </a:pPr>
            <a:r>
              <a:rPr sz="1500" b="0">
                <a:solidFill>
                  <a:srgbClr val="333333"/>
                </a:solidFill>
                <a:latin typeface="Pretendard"/>
              </a:rPr>
              <a:t>3.  출처 표기 예: 이애본(드림아이티비즈), 「자료 제목」, 홍문원, useful-ai.dreamitbiz.com, CC BY-NC-ND 4.0</a:t>
            </a:r>
          </a:p>
          <a:p>
            <a:pPr algn="l">
              <a:lnSpc>
                <a:spcPct val="130000"/>
              </a:lnSpc>
              <a:spcBef>
                <a:spcPts val="900"/>
              </a:spcBef>
            </a:pPr>
            <a:r>
              <a:rPr sz="1500" b="0">
                <a:solidFill>
                  <a:srgbClr val="333333"/>
                </a:solidFill>
                <a:latin typeface="Pretendard"/>
              </a:rPr>
              <a:t>4.  자료 안의 프롬프트는 복사해 바로 쓸 수 있습니다. [대괄호]만 내 상황으로 바꾸세요.</a:t>
            </a:r>
          </a:p>
          <a:p>
            <a:pPr algn="l">
              <a:lnSpc>
                <a:spcPct val="130000"/>
              </a:lnSpc>
              <a:spcBef>
                <a:spcPts val="900"/>
              </a:spcBef>
            </a:pPr>
            <a:r>
              <a:rPr sz="1500" b="0">
                <a:solidFill>
                  <a:srgbClr val="333333"/>
                </a:solidFill>
                <a:latin typeface="Pretendard"/>
              </a:rPr>
              <a:t>5.  모든 자료와 영상 강의는 useful-ai.dreamitbiz.com 에서 다시 받을 수 있습니다.</a:t>
            </a:r>
          </a:p>
        </p:txBody>
      </p:sp>
      <p:sp>
        <p:nvSpPr>
          <p:cNvPr id="8" name="deckgen:wrap:footer"/>
          <p:cNvSpPr txBox="1"/>
          <p:nvPr/>
        </p:nvSpPr>
        <p:spPr>
          <a:xfrm>
            <a:off x="853440" y="6240780"/>
            <a:ext cx="10485120" cy="3429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0">
                <a:solidFill>
                  <a:srgbClr val="888888"/>
                </a:solidFill>
                <a:latin typeface="Pretendard"/>
              </a:rPr>
              <a:t>© 2026 이애본 · 홍문원(洪文院) 발행 · CC BY-NC-ND 4.0 · useful-ai.dreamitbiz.com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wrap:bg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deckgen:wrap:side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072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deckgen:wrap:rule"/>
          <p:cNvSpPr/>
          <p:nvPr/>
        </p:nvSpPr>
        <p:spPr>
          <a:xfrm>
            <a:off x="853440" y="2057400"/>
            <a:ext cx="975360" cy="38100"/>
          </a:xfrm>
          <a:prstGeom prst="rect">
            <a:avLst/>
          </a:prstGeom>
          <a:solidFill>
            <a:srgbClr val="0072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deckgen:wrap:eyebrow"/>
          <p:cNvSpPr txBox="1"/>
          <p:nvPr/>
        </p:nvSpPr>
        <p:spPr>
          <a:xfrm>
            <a:off x="853440" y="1165860"/>
            <a:ext cx="10485120" cy="3429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1">
                <a:solidFill>
                  <a:srgbClr val="0072CE"/>
                </a:solidFill>
                <a:latin typeface="Pretendard"/>
              </a:rPr>
              <a:t>COPYRIGHT · LICENSE</a:t>
            </a:r>
          </a:p>
        </p:txBody>
      </p:sp>
      <p:sp>
        <p:nvSpPr>
          <p:cNvPr id="6" name="deckgen:wrap:title"/>
          <p:cNvSpPr txBox="1"/>
          <p:nvPr/>
        </p:nvSpPr>
        <p:spPr>
          <a:xfrm>
            <a:off x="853440" y="1440180"/>
            <a:ext cx="10485120" cy="6172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3000" b="1">
                <a:solidFill>
                  <a:srgbClr val="1A2A5E"/>
                </a:solidFill>
                <a:latin typeface="Pretendard"/>
              </a:rPr>
              <a:t>저작권 · 이용 조건 (CC BY-NC-ND 4.0)</a:t>
            </a:r>
          </a:p>
        </p:txBody>
      </p:sp>
      <p:sp>
        <p:nvSpPr>
          <p:cNvPr id="7" name="deckgen:wrap:body"/>
          <p:cNvSpPr txBox="1"/>
          <p:nvPr/>
        </p:nvSpPr>
        <p:spPr>
          <a:xfrm>
            <a:off x="853440" y="2400300"/>
            <a:ext cx="10485120" cy="3566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>
                <a:solidFill>
                  <a:srgbClr val="333333"/>
                </a:solidFill>
                <a:latin typeface="Pretendard"/>
              </a:rPr>
              <a:t>1.  저작권 © 2026 이애본(드림아이티비즈 DreamIT Biz). 발행 홍문원(洪文院, 출판사 신고번호 제2026-000026호). 2026년 1월 「생성형 AI와 창의력·복합문제능력 향상 과정」 강의안을 전자출판용으로 다시 묶은 것입니다. ISBN: 등록 후 기재.</a:t>
            </a:r>
          </a:p>
          <a:p>
            <a:pPr algn="l">
              <a:lnSpc>
                <a:spcPct val="130000"/>
              </a:lnSpc>
              <a:spcBef>
                <a:spcPts val="900"/>
              </a:spcBef>
            </a:pPr>
            <a:r>
              <a:rPr sz="1500" b="0">
                <a:solidFill>
                  <a:srgbClr val="333333"/>
                </a:solidFill>
                <a:latin typeface="Pretendard"/>
              </a:rPr>
              <a:t>2.  이 자료는 크리에이티브 커먼즈 저작자표시-비영리-변경금지 4.0 국제(CC BY-NC-ND 4.0) 라이선스를 따릅니다. creativecommons.org/licenses/by-nc-nd/4.0/deed.ko</a:t>
            </a:r>
          </a:p>
          <a:p>
            <a:pPr algn="l">
              <a:lnSpc>
                <a:spcPct val="130000"/>
              </a:lnSpc>
              <a:spcBef>
                <a:spcPts val="900"/>
              </a:spcBef>
            </a:pPr>
            <a:r>
              <a:rPr sz="1500" b="0">
                <a:solidFill>
                  <a:srgbClr val="333333"/>
                </a:solidFill>
                <a:latin typeface="Pretendard"/>
              </a:rPr>
              <a:t>3.  저작자 표시(BY): 출처를 밝히면 그대로 복사해 수업·강의·자습에 쓸 수 있습니다. 비영리(NC): 유료 강의·판매·광고 수익 목적에는 쓸 수 없습니다. 변경금지(ND): 내용을 고치거나 잘라 재조합해 배포할 수 없습니다.</a:t>
            </a:r>
          </a:p>
          <a:p>
            <a:pPr algn="l">
              <a:lnSpc>
                <a:spcPct val="130000"/>
              </a:lnSpc>
              <a:spcBef>
                <a:spcPts val="900"/>
              </a:spcBef>
            </a:pPr>
            <a:r>
              <a:rPr sz="1500" b="0">
                <a:solidFill>
                  <a:srgbClr val="333333"/>
                </a:solidFill>
                <a:latin typeface="Pretendard"/>
              </a:rPr>
              <a:t>4.  자료 안의 외부 서비스 화면 캡처와 상표는 교육 목적 인용이며 각 서비스의 소유입니다. AI 생성 이미지는 생성 도구의 이용 약관을 따릅니다.</a:t>
            </a:r>
          </a:p>
          <a:p>
            <a:pPr algn="l">
              <a:lnSpc>
                <a:spcPct val="130000"/>
              </a:lnSpc>
              <a:spcBef>
                <a:spcPts val="900"/>
              </a:spcBef>
            </a:pPr>
            <a:r>
              <a:rPr sz="1500" b="0">
                <a:solidFill>
                  <a:srgbClr val="333333"/>
                </a:solidFill>
                <a:latin typeface="Pretendard"/>
              </a:rPr>
              <a:t>5.  라이선스 범위 밖의 이용(영리·변형·2차 저작)은 먼저 문의해 주세요. aebon@dreamitbiz.com · 카카오톡 ID aebon</a:t>
            </a:r>
          </a:p>
        </p:txBody>
      </p:sp>
      <p:sp>
        <p:nvSpPr>
          <p:cNvPr id="8" name="deckgen:wrap:footer"/>
          <p:cNvSpPr txBox="1"/>
          <p:nvPr/>
        </p:nvSpPr>
        <p:spPr>
          <a:xfrm>
            <a:off x="853440" y="6240780"/>
            <a:ext cx="10485120" cy="3429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0">
                <a:solidFill>
                  <a:srgbClr val="888888"/>
                </a:solidFill>
                <a:latin typeface="Pretendard"/>
              </a:rPr>
              <a:t>© 2026 이애본 · 홍문원(洪文院) 발행 · CC BY-NC-ND 4.0 · useful-ai.dreamitbiz.com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wrap:bg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deckgen:wrap:side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072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deckgen:wrap:rule"/>
          <p:cNvSpPr/>
          <p:nvPr/>
        </p:nvSpPr>
        <p:spPr>
          <a:xfrm>
            <a:off x="853440" y="2057400"/>
            <a:ext cx="975360" cy="38100"/>
          </a:xfrm>
          <a:prstGeom prst="rect">
            <a:avLst/>
          </a:prstGeom>
          <a:solidFill>
            <a:srgbClr val="0072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deckgen:wrap:eyebrow"/>
          <p:cNvSpPr txBox="1"/>
          <p:nvPr/>
        </p:nvSpPr>
        <p:spPr>
          <a:xfrm>
            <a:off x="853440" y="1165860"/>
            <a:ext cx="10485120" cy="3429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1">
                <a:solidFill>
                  <a:srgbClr val="0072CE"/>
                </a:solidFill>
                <a:latin typeface="Pretendard"/>
              </a:rPr>
              <a:t>CREDITS · CONTACT</a:t>
            </a:r>
          </a:p>
        </p:txBody>
      </p:sp>
      <p:sp>
        <p:nvSpPr>
          <p:cNvPr id="6" name="deckgen:wrap:title"/>
          <p:cNvSpPr txBox="1"/>
          <p:nvPr/>
        </p:nvSpPr>
        <p:spPr>
          <a:xfrm>
            <a:off x="853440" y="1440180"/>
            <a:ext cx="10485120" cy="6172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3000" b="1">
                <a:solidFill>
                  <a:srgbClr val="1A2A5E"/>
                </a:solidFill>
                <a:latin typeface="Pretendard"/>
              </a:rPr>
              <a:t>출처 · 문의</a:t>
            </a:r>
          </a:p>
        </p:txBody>
      </p:sp>
      <p:sp>
        <p:nvSpPr>
          <p:cNvPr id="7" name="deckgen:wrap:body"/>
          <p:cNvSpPr txBox="1"/>
          <p:nvPr/>
        </p:nvSpPr>
        <p:spPr>
          <a:xfrm>
            <a:off x="853440" y="2400300"/>
            <a:ext cx="10485120" cy="3566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>
                <a:solidFill>
                  <a:srgbClr val="333333"/>
                </a:solidFill>
                <a:latin typeface="Pretendard"/>
              </a:rPr>
              <a:t>이애본 (Aebon Lee, Ph.D) — 드림아이티비즈 대표 · 한신대학교 AI·SW대학 겸임교수</a:t>
            </a:r>
          </a:p>
          <a:p>
            <a:pPr algn="l">
              <a:lnSpc>
                <a:spcPct val="130000"/>
              </a:lnSpc>
              <a:spcBef>
                <a:spcPts val="900"/>
              </a:spcBef>
            </a:pPr>
            <a:r>
              <a:rPr sz="1500" b="0">
                <a:solidFill>
                  <a:srgbClr val="333333"/>
                </a:solidFill>
                <a:latin typeface="Pretendard"/>
              </a:rPr>
              <a:t>useful-ai.dreamitbiz.com — 강의안·영상 강의 라이브러리</a:t>
            </a:r>
          </a:p>
          <a:p>
            <a:pPr algn="l">
              <a:lnSpc>
                <a:spcPct val="130000"/>
              </a:lnSpc>
              <a:spcBef>
                <a:spcPts val="900"/>
              </a:spcBef>
            </a:pPr>
            <a:r>
              <a:rPr sz="1500" b="0">
                <a:solidFill>
                  <a:srgbClr val="333333"/>
                </a:solidFill>
                <a:latin typeface="Pretendard"/>
              </a:rPr>
              <a:t>aebon@dreamitbiz.com · 카카오톡 ID aebon</a:t>
            </a:r>
          </a:p>
          <a:p>
            <a:pPr algn="l">
              <a:lnSpc>
                <a:spcPct val="130000"/>
              </a:lnSpc>
              <a:spcBef>
                <a:spcPts val="900"/>
              </a:spcBef>
            </a:pPr>
            <a:r>
              <a:rPr sz="1500" b="0">
                <a:solidFill>
                  <a:srgbClr val="333333"/>
                </a:solidFill>
                <a:latin typeface="Pretendard"/>
              </a:rPr>
              <a:t>© 2026 이애본 · 발행 홍문원(洪文院) · CC BY-NC-ND 4.0</a:t>
            </a:r>
          </a:p>
        </p:txBody>
      </p:sp>
      <p:sp>
        <p:nvSpPr>
          <p:cNvPr id="8" name="deckgen:wrap:footer"/>
          <p:cNvSpPr txBox="1"/>
          <p:nvPr/>
        </p:nvSpPr>
        <p:spPr>
          <a:xfrm>
            <a:off x="853440" y="6240780"/>
            <a:ext cx="10485120" cy="3429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0">
                <a:solidFill>
                  <a:srgbClr val="888888"/>
                </a:solidFill>
                <a:latin typeface="Pretendard"/>
              </a:rPr>
              <a:t>© 2026 이애본 · 홍문원(洪文院) 발행 · CC BY-NC-ND 4.0 · useful-ai.dreamitbiz.com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134</TotalTime>
  <Words>6131</Words>
  <Application>Microsoft Office PowerPoint</Application>
  <PresentationFormat>와이드스크린</PresentationFormat>
  <Paragraphs>952</Paragraphs>
  <Slides>45</Slides>
  <Notes>45</Notes>
  <HiddenSlides>0</HiddenSlides>
  <MMClips>0</MMClips>
  <ScaleCrop>false</ScaleCrop>
  <HeadingPairs>
    <vt:vector size="6" baseType="variant">
      <vt:variant>
        <vt:lpstr>사용한 글꼴</vt:lpstr>
      </vt:variant>
      <vt:variant>
        <vt:i4>5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45</vt:i4>
      </vt:variant>
    </vt:vector>
  </HeadingPairs>
  <TitlesOfParts>
    <vt:vector size="51" baseType="lpstr">
      <vt:lpstr>Noto Sans KR</vt:lpstr>
      <vt:lpstr>ui-monospace</vt:lpstr>
      <vt:lpstr>Arial</vt:lpstr>
      <vt:lpstr>Courier New</vt:lpstr>
      <vt:lpstr>Times New Roman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>Generated by Gen-Spark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Multi-page HTML Content</dc:title>
  <dc:subject>PptxGenJS Presentation</dc:subject>
  <dc:creator>Visual Extract to PPTX Converter</dc:creator>
  <cp:lastModifiedBy>이애본</cp:lastModifiedBy>
  <cp:revision>7</cp:revision>
  <dcterms:created xsi:type="dcterms:W3CDTF">2026-01-19T07:09:49Z</dcterms:created>
  <dcterms:modified xsi:type="dcterms:W3CDTF">2026-01-25T18:44:33Z</dcterms:modified>
</cp:coreProperties>
</file>