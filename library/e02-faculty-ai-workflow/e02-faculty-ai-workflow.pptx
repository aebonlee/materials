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473" r:id="rId3"/>
    <p:sldId id="474" r:id="rId53"/>
    <p:sldId id="457" r:id="rId2"/>
    <p:sldId id="408" r:id="rId4"/>
    <p:sldId id="450" r:id="rId5"/>
    <p:sldId id="442" r:id="rId6"/>
    <p:sldId id="410" r:id="rId7"/>
    <p:sldId id="402" r:id="rId8"/>
    <p:sldId id="411" r:id="rId9"/>
    <p:sldId id="412" r:id="rId10"/>
    <p:sldId id="403" r:id="rId11"/>
    <p:sldId id="458" r:id="rId12"/>
    <p:sldId id="443" r:id="rId13"/>
    <p:sldId id="451" r:id="rId14"/>
    <p:sldId id="459" r:id="rId15"/>
    <p:sldId id="460" r:id="rId16"/>
    <p:sldId id="461" r:id="rId17"/>
    <p:sldId id="462" r:id="rId18"/>
    <p:sldId id="463" r:id="rId19"/>
    <p:sldId id="420" r:id="rId20"/>
    <p:sldId id="452" r:id="rId21"/>
    <p:sldId id="464" r:id="rId22"/>
    <p:sldId id="422" r:id="rId23"/>
    <p:sldId id="445" r:id="rId24"/>
    <p:sldId id="465" r:id="rId25"/>
    <p:sldId id="466" r:id="rId26"/>
    <p:sldId id="426" r:id="rId27"/>
    <p:sldId id="453" r:id="rId28"/>
    <p:sldId id="446" r:id="rId29"/>
    <p:sldId id="467" r:id="rId30"/>
    <p:sldId id="468" r:id="rId31"/>
    <p:sldId id="469" r:id="rId32"/>
    <p:sldId id="470" r:id="rId33"/>
    <p:sldId id="454" r:id="rId34"/>
    <p:sldId id="432" r:id="rId35"/>
    <p:sldId id="404" r:id="rId36"/>
    <p:sldId id="433" r:id="rId37"/>
    <p:sldId id="434" r:id="rId38"/>
    <p:sldId id="405" r:id="rId39"/>
    <p:sldId id="471" r:id="rId40"/>
    <p:sldId id="436" r:id="rId41"/>
    <p:sldId id="455" r:id="rId42"/>
    <p:sldId id="437" r:id="rId43"/>
    <p:sldId id="472" r:id="rId44"/>
    <p:sldId id="439" r:id="rId45"/>
    <p:sldId id="440" r:id="rId46"/>
    <p:sldId id="448" r:id="rId47"/>
    <p:sldId id="456" r:id="rId48"/>
    <p:sldId id="475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3"/>
    <p:restoredTop sz="94664"/>
  </p:normalViewPr>
  <p:slideViewPr>
    <p:cSldViewPr snapToGrid="0">
      <p:cViewPr varScale="1">
        <p:scale>
          <a:sx n="103" d="100"/>
          <a:sy n="103" d="100"/>
        </p:scale>
        <p:origin x="2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7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dLbls>
            <c:numFmt formatCode="0&quot;문항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하 (3)</c:v>
              </c:pt>
              <c:pt idx="1">
                <c:v>중 (5)</c:v>
              </c:pt>
              <c:pt idx="2">
                <c:v>상 (2)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5</c:v>
              </c:pt>
              <c:pt idx="2">
                <c:v>2</c:v>
              </c:pt>
            </c:numLit>
          </c:val>
          <c:extLst>
            <c:ext xmlns:c16="http://schemas.microsoft.com/office/drawing/2014/chart" uri="{C3380CC4-5D6E-409C-BE32-E72D297353CC}">
              <c16:uniqueId val="{00000000-3984-EF4B-8C66-6E6DB9A1A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400"/>
          </a:pPr>
          <a:endParaRPr lang="ko-KR"/>
        </a:p>
      </c:txPr>
    </c:legend>
    <c:plotVisOnly val="1"/>
    <c:dispBlanksAs val="zero"/>
    <c:showDLblsOverMax val="1"/>
  </c:chart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9B32C-52D1-3ABC-2E5E-242B72426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8E1D79-F13F-0B1E-90BC-DA7E95F1F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C09B0-14CF-0926-F822-890F5A46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7FA7B1-82A6-C370-77F9-9FB8DF78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60C83-9B6D-1BF6-4D45-9FD91BB6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059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F4268-2FCC-AF9D-3F2F-4D2D059E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D78EA7-9CAE-7696-870B-529DC844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52B9D-DD32-9B6B-5B5F-8C2BAFD5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AF38F-E46A-E27D-6DFB-415CD887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405FE-A82C-8BFD-FD5B-A4B229DB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503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E0B5C-1ABB-378A-3901-B04D328B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B7CFB-474E-B75D-B016-86346AFFC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3ECADE-5BBF-7137-F442-1BC0C2925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FDE28C-756C-8A95-189E-E23AD6B4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7F2C63-FDCF-BB37-766D-0E7FCA79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2571F-0E51-9A9B-46A6-F0FA5943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738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EFFC47-717A-4F16-226B-546DBA3A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5F0B8-BEAF-29E9-61B1-FDF243DC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478CD-977A-A2E8-F55B-FB52C797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73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398CE-E0C4-938A-C4FF-3B58490B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BE748F-9D6B-746F-546F-BC8FAB23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79013C-C851-2493-5540-8D81A0556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AF3335-B61F-4F4B-0E23-265B1913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51BC84-7174-6CF7-7786-01217A97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A257E2-004D-3CF0-E9B1-8B9FD5EA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113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B7D63-F646-3D93-E413-23080AAF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2EEE09-7466-3544-02BE-6AA2C7A05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335D71-DEB5-6CCD-3638-0F5D981E6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E53FA2-C1E1-3611-6AD7-F8920BBA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FD2A8D-9F0E-4863-2E86-876744FB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F5982A-EDBC-7F99-37B8-55981061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40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D4C67-684C-6A1C-01CE-2B307717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74C981-F551-7284-3845-0B58EB741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3955D-7CDE-15F9-2E9A-B234FF6C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681A2-3A83-418A-A61C-761CD3C7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E7C7F-79D0-28CA-317B-903DA541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549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80E04E-6C03-95D4-AB04-A893D956B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F2B870-D0EF-C79D-5497-019BC13D6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BCB60-D5FE-1B05-5F07-8A03A607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53E80-E397-9F43-8543-E7533D24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E7A6B1-33F6-8472-6581-0D094A46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399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3D6FE0">
                <a:alpha val="1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3D6FE0">
                <a:alpha val="1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3D6FE0">
              <a:alpha val="7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3D6FE0">
                <a:alpha val="1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3D6FE0">
                <a:alpha val="1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3D6FE0">
              <a:alpha val="7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3D6FE0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bgCircle"/>
          <p:cNvSpPr/>
          <p:nvPr/>
        </p:nvSpPr>
        <p:spPr>
          <a:xfrm>
            <a:off x="9537700" y="1790700"/>
            <a:ext cx="228600" cy="228600"/>
          </a:xfrm>
          <a:prstGeom prst="ellipse">
            <a:avLst/>
          </a:prstGeom>
          <a:solidFill>
            <a:srgbClr val="3D6FE0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bgCircle"/>
          <p:cNvSpPr/>
          <p:nvPr/>
        </p:nvSpPr>
        <p:spPr>
          <a:xfrm>
            <a:off x="2159000" y="5740400"/>
            <a:ext cx="254000" cy="254000"/>
          </a:xfrm>
          <a:prstGeom prst="ellipse">
            <a:avLst/>
          </a:prstGeom>
          <a:solidFill>
            <a:srgbClr val="3D6FE0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1EC40E-7148-BBC3-6C31-9D41FBE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C6274-D794-0548-41EA-C1AB986F6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3EE0DD-9D79-87F0-BF52-C378E9849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4C0BB-93CA-534E-AF1A-FA86B008076E}" type="datetimeFigureOut">
              <a:rPr kumimoji="1" lang="ko-KR" altLang="en-US" smtClean="0"/>
              <a:t>2026. 6. 12.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D810F1-8056-3853-20AE-B0AF0434B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FE444-449B-7AD8-F63D-069E43D08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48E3C-C6ED-2C4A-8685-21FDA148D7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197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324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40413-507E-B155-CDEB-1217B501A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000" y="1162050"/>
            <a:ext cx="10287000" cy="1397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800" b="1" dirty="0">
                <a:solidFill>
                  <a:srgbClr val="FFFFFF"/>
                </a:solidFill>
                <a:ea typeface="Noto Sans KR"/>
              </a:rPr>
              <a:t>교수의 일하는 방식을 </a:t>
            </a:r>
            <a:r>
              <a:rPr lang="en-US" altLang="ko-KR" sz="3800" b="1" dirty="0">
                <a:solidFill>
                  <a:srgbClr val="FFFFFF"/>
                </a:solidFill>
              </a:rPr>
              <a:t>AI</a:t>
            </a:r>
            <a:r>
              <a:rPr lang="ko-KR" altLang="en-US" sz="3800" b="1" dirty="0">
                <a:solidFill>
                  <a:srgbClr val="FFFFFF"/>
                </a:solidFill>
                <a:ea typeface="Noto Sans KR"/>
              </a:rPr>
              <a:t>로 혁신하는 </a:t>
            </a:r>
            <a:r>
              <a:rPr lang="en-US" altLang="ko-KR" sz="3800" b="1" dirty="0">
                <a:solidFill>
                  <a:srgbClr val="FFFFFF"/>
                </a:solidFill>
              </a:rPr>
              <a:t>2</a:t>
            </a:r>
            <a:r>
              <a:rPr lang="ko-KR" altLang="en-US" sz="3800" b="1" dirty="0">
                <a:solidFill>
                  <a:srgbClr val="FFFFFF"/>
                </a:solidFill>
                <a:ea typeface="Noto Sans KR"/>
              </a:rPr>
              <a:t>시간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CCA3A0-0966-E606-C832-DCFA0C7C0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00" y="2946400"/>
            <a:ext cx="10414000" cy="50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solidFill>
                  <a:srgbClr val="AFC4F0"/>
                </a:solidFill>
                <a:ea typeface="Noto Sans KR"/>
              </a:rPr>
              <a:t>대학 교수자 대상 </a:t>
            </a:r>
            <a:r>
              <a:rPr lang="en-US" altLang="ko-KR" sz="1800" dirty="0">
                <a:solidFill>
                  <a:srgbClr val="AFC4F0"/>
                </a:solidFill>
              </a:rPr>
              <a:t>· </a:t>
            </a:r>
            <a:r>
              <a:rPr lang="ko-KR" altLang="en-US" sz="1800" dirty="0">
                <a:solidFill>
                  <a:srgbClr val="AFC4F0"/>
                </a:solidFill>
                <a:ea typeface="Noto Sans KR"/>
              </a:rPr>
              <a:t>생성형 인공지능 활용 강의</a:t>
            </a:r>
          </a:p>
        </p:txBody>
      </p:sp>
      <p:sp>
        <p:nvSpPr>
          <p:cNvPr id="500" name="accent"/>
          <p:cNvSpPr/>
          <p:nvPr/>
        </p:nvSpPr>
        <p:spPr>
          <a:xfrm>
            <a:off x="914400" y="2667000"/>
            <a:ext cx="1524000" cy="635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metric0"/>
          <p:cNvSpPr/>
          <p:nvPr/>
        </p:nvSpPr>
        <p:spPr>
          <a:xfrm>
            <a:off x="1016000" y="3810000"/>
            <a:ext cx="2349500" cy="1422400"/>
          </a:xfrm>
          <a:prstGeom prst="roundRect">
            <a:avLst>
              <a:gd name="adj" fmla="val 8000"/>
            </a:avLst>
          </a:prstGeom>
          <a:solidFill>
            <a:srgbClr val="22304F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5B8DEF"/>
                </a:solidFill>
              </a:rPr>
              <a:t>6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ko-KR" sz="1450" b="0" dirty="0">
                <a:solidFill>
                  <a:srgbClr val="C7D4EE"/>
                </a:solidFill>
                <a:ea typeface="Noto Sans KR"/>
              </a:rPr>
              <a:t>강의 세션</a:t>
            </a:r>
          </a:p>
        </p:txBody>
      </p:sp>
      <p:sp>
        <p:nvSpPr>
          <p:cNvPr id="502" name="metric1"/>
          <p:cNvSpPr/>
          <p:nvPr/>
        </p:nvSpPr>
        <p:spPr>
          <a:xfrm>
            <a:off x="3619500" y="3810000"/>
            <a:ext cx="2349500" cy="1422400"/>
          </a:xfrm>
          <a:prstGeom prst="roundRect">
            <a:avLst>
              <a:gd name="adj" fmla="val 8000"/>
            </a:avLst>
          </a:prstGeom>
          <a:solidFill>
            <a:srgbClr val="22304F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5B8DEF"/>
                </a:solidFill>
              </a:rPr>
              <a:t>2h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ko-KR" sz="1450" b="0" dirty="0">
                <a:solidFill>
                  <a:srgbClr val="C7D4EE"/>
                </a:solidFill>
                <a:ea typeface="Noto Sans KR"/>
              </a:rPr>
              <a:t>총 강의 시간</a:t>
            </a:r>
          </a:p>
        </p:txBody>
      </p:sp>
      <p:sp>
        <p:nvSpPr>
          <p:cNvPr id="503" name="metric2"/>
          <p:cNvSpPr/>
          <p:nvPr/>
        </p:nvSpPr>
        <p:spPr>
          <a:xfrm>
            <a:off x="6223000" y="3810000"/>
            <a:ext cx="2349500" cy="1422400"/>
          </a:xfrm>
          <a:prstGeom prst="roundRect">
            <a:avLst>
              <a:gd name="adj" fmla="val 8000"/>
            </a:avLst>
          </a:prstGeom>
          <a:solidFill>
            <a:srgbClr val="22304F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5B8DEF"/>
                </a:solidFill>
              </a:rPr>
              <a:t>4+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ko-KR" sz="1450" b="0" dirty="0">
                <a:solidFill>
                  <a:srgbClr val="C7D4EE"/>
                </a:solidFill>
                <a:ea typeface="Noto Sans KR"/>
              </a:rPr>
              <a:t>AI 도구 소개</a:t>
            </a:r>
          </a:p>
        </p:txBody>
      </p:sp>
      <p:sp>
        <p:nvSpPr>
          <p:cNvPr id="504" name="metric3"/>
          <p:cNvSpPr/>
          <p:nvPr/>
        </p:nvSpPr>
        <p:spPr>
          <a:xfrm>
            <a:off x="8826500" y="3810000"/>
            <a:ext cx="2349500" cy="1422400"/>
          </a:xfrm>
          <a:prstGeom prst="roundRect">
            <a:avLst>
              <a:gd name="adj" fmla="val 8000"/>
            </a:avLst>
          </a:prstGeom>
          <a:solidFill>
            <a:srgbClr val="22304F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5B8DEF"/>
                </a:solidFill>
              </a:rPr>
              <a:t>100%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ko-KR" sz="1450" b="0" dirty="0">
                <a:solidFill>
                  <a:srgbClr val="C7D4EE"/>
                </a:solidFill>
                <a:ea typeface="Noto Sans KR"/>
              </a:rPr>
              <a:t>교수 맞춤</a:t>
            </a:r>
          </a:p>
        </p:txBody>
      </p:sp>
      <p:sp>
        <p:nvSpPr>
          <p:cNvPr id="505" name="credit"/>
          <p:cNvSpPr/>
          <p:nvPr/>
        </p:nvSpPr>
        <p:spPr>
          <a:xfrm>
            <a:off x="889000" y="5943600"/>
            <a:ext cx="10414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50000"/>
              </a:lnSpc>
            </a:pPr>
            <a:r>
              <a:rPr lang="en-US" sz="1450" dirty="0" err="1">
                <a:solidFill>
                  <a:srgbClr val="9DB0D6"/>
                </a:solidFill>
                <a:ea typeface="Noto Sans KR"/>
              </a:rPr>
              <a:t>강사</a:t>
            </a:r>
            <a:r>
              <a:rPr lang="en-US" sz="1450" dirty="0">
                <a:solidFill>
                  <a:srgbClr val="9DB0D6"/>
                </a:solidFill>
              </a:rPr>
              <a:t>: Ph.D. </a:t>
            </a:r>
            <a:r>
              <a:rPr lang="en-US" dirty="0" err="1">
                <a:solidFill>
                  <a:srgbClr val="9DB0D6"/>
                </a:solidFill>
                <a:ea typeface="Noto Sans KR"/>
              </a:rPr>
              <a:t>이애본 (드림아이티비즈(DreamIT Biz) · aebon@dreamitbiz.com)</a:t>
            </a:r>
            <a:r>
              <a:rPr lang="ko-KR" altLang="en-US" dirty="0">
                <a:solidFill>
                  <a:srgbClr val="9DB0D6"/>
                </a:solidFill>
              </a:rPr>
              <a:t/>
            </a:r>
            <a:r>
              <a:rPr lang="en-US" dirty="0" err="1">
                <a:solidFill>
                  <a:srgbClr val="9DB0D6"/>
                </a:solidFill>
              </a:rPr>
              <a:t/>
            </a:r>
            <a:r>
              <a:rPr lang="ko-KR" altLang="en-US" dirty="0">
                <a:solidFill>
                  <a:srgbClr val="9DB0D6"/>
                </a:solidFill>
              </a:rPr>
              <a:t/>
            </a:r>
            <a:r>
              <a:rPr lang="en-US" dirty="0" err="1">
                <a:solidFill>
                  <a:srgbClr val="9DB0D6"/>
                </a:solidFill>
              </a:rPr>
              <a:t/>
            </a:r>
            <a:r>
              <a:rPr lang="ko-KR" altLang="en-US" dirty="0">
                <a:solidFill>
                  <a:srgbClr val="9DB0D6"/>
                </a:solidFill>
              </a:rPr>
              <a:t/>
            </a:r>
            <a:r>
              <a:rPr lang="en-US" sz="1450" dirty="0">
                <a:solidFill>
                  <a:srgbClr val="9DB0D6"/>
                </a:solidFill>
              </a:rPr>
              <a:t/>
            </a:r>
            <a:r>
              <a:rPr lang="en-US" sz="1450" dirty="0" err="1">
                <a:solidFill>
                  <a:srgbClr val="9DB0D6"/>
                </a:solidFill>
              </a:rPr>
              <a:t/>
            </a:r>
            <a:r>
              <a:rPr lang="en-US" sz="1450" dirty="0">
                <a:solidFill>
                  <a:srgbClr val="9DB0D6"/>
                </a:solidFill>
              </a:rPr>
              <a:t/>
            </a:r>
            <a:r>
              <a:rPr lang="ko-KR" altLang="en-US" sz="1450" dirty="0">
                <a:solidFill>
                  <a:srgbClr val="9DB0D6"/>
                </a:solidFill>
              </a:rPr>
              <a:t/>
            </a:r>
            <a:r>
              <a:rPr lang="en-US" altLang="ko-KR" sz="1450" dirty="0">
                <a:solidFill>
                  <a:srgbClr val="9DB0D6"/>
                </a:solidFill>
              </a:rPr>
              <a:t/>
            </a:r>
            <a:r>
              <a:rPr lang="ko-KR" altLang="en-US" sz="1450" dirty="0">
                <a:solidFill>
                  <a:srgbClr val="9DB0D6"/>
                </a:solidFill>
              </a:rPr>
              <a:t/>
            </a:r>
            <a:r>
              <a:rPr lang="en-US" altLang="ko-KR" sz="1450" dirty="0">
                <a:solidFill>
                  <a:srgbClr val="9DB0D6"/>
                </a:solidFill>
              </a:rPr>
              <a:t/>
            </a:r>
            <a:r>
              <a:rPr lang="ko-KR" altLang="en-US" sz="1450" dirty="0">
                <a:solidFill>
                  <a:srgbClr val="9DB0D6"/>
                </a:solidFill>
              </a:rPr>
              <a:t/>
            </a:r>
            <a:r>
              <a:rPr lang="en-US" altLang="ko-KR" sz="1450" dirty="0">
                <a:solidFill>
                  <a:srgbClr val="9DB0D6"/>
                </a:solidFill>
              </a:rPr>
              <a:t/>
            </a:r>
            <a:r>
              <a:rPr lang="en-US" altLang="ko-KR" sz="1450" dirty="0" err="1">
                <a:solidFill>
                  <a:srgbClr val="9DB0D6"/>
                </a:solidFill>
              </a:rPr>
              <a:t/>
            </a:r>
            <a:r>
              <a:rPr lang="en-US" sz="1450" dirty="0">
                <a:solidFill>
                  <a:srgbClr val="9DB0D6"/>
                </a:solidFill>
              </a:rPr>
              <a:t/>
            </a:r>
            <a:r>
              <a:rPr lang="ko-KR" altLang="en-US" sz="1450" dirty="0">
                <a:solidFill>
                  <a:srgbClr val="9DB0D6"/>
                </a:solidFill>
              </a:rPr>
              <a:t/>
            </a:r>
            <a:endParaRPr lang="en-US" sz="1450" dirty="0">
              <a:solidFill>
                <a:srgbClr val="9DB0D6"/>
              </a:solidFill>
            </a:endParaRPr>
          </a:p>
        </p:txBody>
      </p:sp>
      <p:sp>
        <p:nvSpPr>
          <p:cNvPr id="4" name="accent">
            <a:extLst>
              <a:ext uri="{FF2B5EF4-FFF2-40B4-BE49-F238E27FC236}">
                <a16:creationId xmlns:a16="http://schemas.microsoft.com/office/drawing/2014/main" id="{C85711AA-482A-C410-23B5-039F4135768A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0264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오늘의 커리큘럼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7112000" y="6604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6세션 · 120분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6764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4" name="s"/>
          <p:cNvSpPr/>
          <p:nvPr/>
        </p:nvSpPr>
        <p:spPr>
          <a:xfrm>
            <a:off x="863600" y="17780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05" name="s"/>
          <p:cNvSpPr/>
          <p:nvPr/>
        </p:nvSpPr>
        <p:spPr>
          <a:xfrm>
            <a:off x="1473200" y="16764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20분</a:t>
            </a:r>
          </a:p>
        </p:txBody>
      </p:sp>
      <p:sp>
        <p:nvSpPr>
          <p:cNvPr id="606" name="s"/>
          <p:cNvSpPr/>
          <p:nvPr/>
        </p:nvSpPr>
        <p:spPr>
          <a:xfrm>
            <a:off x="2286000" y="16764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생성형 AI의 이해와 교육 활용 전략</a:t>
            </a:r>
          </a:p>
        </p:txBody>
      </p:sp>
      <p:sp>
        <p:nvSpPr>
          <p:cNvPr id="607" name="s"/>
          <p:cNvSpPr/>
          <p:nvPr/>
        </p:nvSpPr>
        <p:spPr>
          <a:xfrm>
            <a:off x="762000" y="23622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8" name="s"/>
          <p:cNvSpPr/>
          <p:nvPr/>
        </p:nvSpPr>
        <p:spPr>
          <a:xfrm>
            <a:off x="863600" y="24638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09" name="s"/>
          <p:cNvSpPr/>
          <p:nvPr/>
        </p:nvSpPr>
        <p:spPr>
          <a:xfrm>
            <a:off x="1473200" y="23622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25분</a:t>
            </a:r>
          </a:p>
        </p:txBody>
      </p:sp>
      <p:sp>
        <p:nvSpPr>
          <p:cNvPr id="610" name="s"/>
          <p:cNvSpPr/>
          <p:nvPr/>
        </p:nvSpPr>
        <p:spPr>
          <a:xfrm>
            <a:off x="2286000" y="23622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AI 활용 강의계획서 작성 (+실습)</a:t>
            </a:r>
          </a:p>
        </p:txBody>
      </p:sp>
      <p:sp>
        <p:nvSpPr>
          <p:cNvPr id="611" name="s"/>
          <p:cNvSpPr/>
          <p:nvPr/>
        </p:nvSpPr>
        <p:spPr>
          <a:xfrm>
            <a:off x="762000" y="30480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12" name="s"/>
          <p:cNvSpPr/>
          <p:nvPr/>
        </p:nvSpPr>
        <p:spPr>
          <a:xfrm>
            <a:off x="863600" y="31496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13" name="s"/>
          <p:cNvSpPr/>
          <p:nvPr/>
        </p:nvSpPr>
        <p:spPr>
          <a:xfrm>
            <a:off x="1473200" y="30480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25분</a:t>
            </a:r>
          </a:p>
        </p:txBody>
      </p:sp>
      <p:sp>
        <p:nvSpPr>
          <p:cNvPr id="614" name="s"/>
          <p:cNvSpPr/>
          <p:nvPr/>
        </p:nvSpPr>
        <p:spPr>
          <a:xfrm>
            <a:off x="2286000" y="30480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AI 기반 학생 평가 설계 (+실습)</a:t>
            </a:r>
          </a:p>
        </p:txBody>
      </p:sp>
      <p:sp>
        <p:nvSpPr>
          <p:cNvPr id="615" name="s"/>
          <p:cNvSpPr/>
          <p:nvPr/>
        </p:nvSpPr>
        <p:spPr>
          <a:xfrm>
            <a:off x="762000" y="37338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16" name="s"/>
          <p:cNvSpPr/>
          <p:nvPr/>
        </p:nvSpPr>
        <p:spPr>
          <a:xfrm>
            <a:off x="863600" y="38354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17" name="s"/>
          <p:cNvSpPr/>
          <p:nvPr/>
        </p:nvSpPr>
        <p:spPr>
          <a:xfrm>
            <a:off x="1473200" y="37338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25분</a:t>
            </a:r>
          </a:p>
        </p:txBody>
      </p:sp>
      <p:sp>
        <p:nvSpPr>
          <p:cNvPr id="618" name="s"/>
          <p:cNvSpPr/>
          <p:nvPr/>
        </p:nvSpPr>
        <p:spPr>
          <a:xfrm>
            <a:off x="2286000" y="37338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AI 활용 학생 피드백 (+실습)</a:t>
            </a:r>
          </a:p>
        </p:txBody>
      </p:sp>
      <p:sp>
        <p:nvSpPr>
          <p:cNvPr id="619" name="s"/>
          <p:cNvSpPr/>
          <p:nvPr/>
        </p:nvSpPr>
        <p:spPr>
          <a:xfrm>
            <a:off x="762000" y="44196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20" name="s"/>
          <p:cNvSpPr/>
          <p:nvPr/>
        </p:nvSpPr>
        <p:spPr>
          <a:xfrm>
            <a:off x="863600" y="45212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21" name="s"/>
          <p:cNvSpPr/>
          <p:nvPr/>
        </p:nvSpPr>
        <p:spPr>
          <a:xfrm>
            <a:off x="1473200" y="44196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15분</a:t>
            </a:r>
          </a:p>
        </p:txBody>
      </p:sp>
      <p:sp>
        <p:nvSpPr>
          <p:cNvPr id="622" name="s"/>
          <p:cNvSpPr/>
          <p:nvPr/>
        </p:nvSpPr>
        <p:spPr>
          <a:xfrm>
            <a:off x="2286000" y="44196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프롬프트 엔지니어링 핵심</a:t>
            </a:r>
          </a:p>
        </p:txBody>
      </p:sp>
      <p:sp>
        <p:nvSpPr>
          <p:cNvPr id="623" name="s"/>
          <p:cNvSpPr/>
          <p:nvPr/>
        </p:nvSpPr>
        <p:spPr>
          <a:xfrm>
            <a:off x="762000" y="5105400"/>
            <a:ext cx="6324600" cy="609600"/>
          </a:xfrm>
          <a:prstGeom prst="roundRect">
            <a:avLst>
              <a:gd name="adj" fmla="val 12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24" name="s"/>
          <p:cNvSpPr/>
          <p:nvPr/>
        </p:nvSpPr>
        <p:spPr>
          <a:xfrm>
            <a:off x="863600" y="5207000"/>
            <a:ext cx="508000" cy="406400"/>
          </a:xfrm>
          <a:prstGeom prst="roundRect">
            <a:avLst>
              <a:gd name="adj" fmla="val 18"/>
            </a:avLst>
          </a:prstGeom>
          <a:solidFill>
            <a:srgbClr val="1B2A4A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25" name="s"/>
          <p:cNvSpPr/>
          <p:nvPr/>
        </p:nvSpPr>
        <p:spPr>
          <a:xfrm>
            <a:off x="1473200" y="51054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D6FE0"/>
                </a:solidFill>
                <a:ea typeface="Noto Sans KR"/>
              </a:rPr>
              <a:t>10분</a:t>
            </a:r>
          </a:p>
        </p:txBody>
      </p:sp>
      <p:sp>
        <p:nvSpPr>
          <p:cNvPr id="626" name="s"/>
          <p:cNvSpPr/>
          <p:nvPr/>
        </p:nvSpPr>
        <p:spPr>
          <a:xfrm>
            <a:off x="2286000" y="5105400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dirty="0">
                <a:solidFill>
                  <a:srgbClr val="1B2A4A"/>
                </a:solidFill>
                <a:ea typeface="Noto Sans KR"/>
              </a:rPr>
              <a:t>지속 학습 안내</a:t>
            </a:r>
          </a:p>
        </p:txBody>
      </p:sp>
      <p:sp>
        <p:nvSpPr>
          <p:cNvPr id="627" name="s"/>
          <p:cNvSpPr/>
          <p:nvPr/>
        </p:nvSpPr>
        <p:spPr>
          <a:xfrm>
            <a:off x="7302500" y="1625600"/>
            <a:ext cx="4127500" cy="330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강의 방향 3원칙</a:t>
            </a:r>
          </a:p>
        </p:txBody>
      </p:sp>
      <p:sp>
        <p:nvSpPr>
          <p:cNvPr id="628" name="s"/>
          <p:cNvSpPr/>
          <p:nvPr/>
        </p:nvSpPr>
        <p:spPr>
          <a:xfrm>
            <a:off x="7302500" y="2057400"/>
            <a:ext cx="4127500" cy="1168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D6FE0"/>
                </a:solidFill>
                <a:ea typeface="Noto Sans KR"/>
              </a:rPr>
              <a:t>①  교수자 중심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강의계획서·평가·피드백 등 실제 업무 최적화</a:t>
            </a:r>
          </a:p>
        </p:txBody>
      </p:sp>
      <p:sp>
        <p:nvSpPr>
          <p:cNvPr id="629" name="s"/>
          <p:cNvSpPr/>
          <p:nvPr/>
        </p:nvSpPr>
        <p:spPr>
          <a:xfrm>
            <a:off x="7302500" y="3352800"/>
            <a:ext cx="4127500" cy="1168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D6FE0"/>
                </a:solidFill>
                <a:ea typeface="Noto Sans KR"/>
              </a:rPr>
              <a:t>②  즉시 활용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실습으로 내 교과목 결과물을 직접 제작</a:t>
            </a:r>
          </a:p>
        </p:txBody>
      </p:sp>
      <p:sp>
        <p:nvSpPr>
          <p:cNvPr id="630" name="s"/>
          <p:cNvSpPr/>
          <p:nvPr/>
        </p:nvSpPr>
        <p:spPr>
          <a:xfrm>
            <a:off x="7302500" y="4648200"/>
            <a:ext cx="4127500" cy="1168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D6FE0"/>
                </a:solidFill>
                <a:ea typeface="Noto Sans KR"/>
              </a:rPr>
              <a:t>③  지속 학습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플랫폼 통한 자가학습·평가 지원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E7A10E03-BF6D-5AB6-2F98-47B60D13C0F8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069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s"/>
          <p:cNvSpPr/>
          <p:nvPr/>
        </p:nvSpPr>
        <p:spPr>
          <a:xfrm>
            <a:off x="8128000" y="762000"/>
            <a:ext cx="330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3600" b="1" dirty="0">
                <a:solidFill>
                  <a:srgbClr val="33476E"/>
                </a:solidFill>
              </a:rPr>
              <a:t>01 / 06</a:t>
            </a:r>
          </a:p>
        </p:txBody>
      </p:sp>
      <p:sp>
        <p:nvSpPr>
          <p:cNvPr id="602" name="s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603" name="s"/>
          <p:cNvSpPr/>
          <p:nvPr/>
        </p:nvSpPr>
        <p:spPr>
          <a:xfrm>
            <a:off x="1295400" y="2565400"/>
            <a:ext cx="914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01 · 20분</a:t>
            </a:r>
          </a:p>
        </p:txBody>
      </p:sp>
      <p:sp>
        <p:nvSpPr>
          <p:cNvPr id="604" name="s"/>
          <p:cNvSpPr/>
          <p:nvPr/>
        </p:nvSpPr>
        <p:spPr>
          <a:xfrm>
            <a:off x="1270000" y="2997200"/>
            <a:ext cx="9398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200" b="1" dirty="0">
                <a:solidFill>
                  <a:srgbClr val="FFFFFF"/>
                </a:solidFill>
                <a:ea typeface="Noto Sans KR"/>
              </a:rPr>
              <a:t>생성형 AI의 이해와 교육 활용 전략</a:t>
            </a:r>
          </a:p>
        </p:txBody>
      </p:sp>
      <p:sp>
        <p:nvSpPr>
          <p:cNvPr id="605" name="s"/>
          <p:cNvSpPr/>
          <p:nvPr/>
        </p:nvSpPr>
        <p:spPr>
          <a:xfrm>
            <a:off x="1295400" y="4572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AI 트렌드   →   주요 서비스 비교   →   교육 현장 동향   →   윤리적 고려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9C21D174-D1F3-E059-7018-EA76179C6903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823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AI의 진화와 현재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3" name="s"/>
          <p:cNvSpPr/>
          <p:nvPr/>
        </p:nvSpPr>
        <p:spPr>
          <a:xfrm>
            <a:off x="825500" y="1905000"/>
            <a:ext cx="2349500" cy="889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규칙 기반 AI</a:t>
            </a:r>
          </a:p>
        </p:txBody>
      </p:sp>
      <p:sp>
        <p:nvSpPr>
          <p:cNvPr id="604" name="s"/>
          <p:cNvSpPr/>
          <p:nvPr/>
        </p:nvSpPr>
        <p:spPr>
          <a:xfrm>
            <a:off x="3175000" y="1905000"/>
            <a:ext cx="38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400" b="1" dirty="0">
                <a:solidFill>
                  <a:srgbClr val="3D6FE0"/>
                </a:solidFill>
              </a:rPr>
              <a:t>→</a:t>
            </a:r>
          </a:p>
        </p:txBody>
      </p:sp>
      <p:sp>
        <p:nvSpPr>
          <p:cNvPr id="605" name="s"/>
          <p:cNvSpPr/>
          <p:nvPr/>
        </p:nvSpPr>
        <p:spPr>
          <a:xfrm>
            <a:off x="3556000" y="1905000"/>
            <a:ext cx="2349500" cy="889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머신러닝</a:t>
            </a:r>
          </a:p>
        </p:txBody>
      </p:sp>
      <p:sp>
        <p:nvSpPr>
          <p:cNvPr id="606" name="s"/>
          <p:cNvSpPr/>
          <p:nvPr/>
        </p:nvSpPr>
        <p:spPr>
          <a:xfrm>
            <a:off x="5905500" y="1905000"/>
            <a:ext cx="38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400" b="1" dirty="0">
                <a:solidFill>
                  <a:srgbClr val="3D6FE0"/>
                </a:solidFill>
              </a:rPr>
              <a:t>→</a:t>
            </a:r>
          </a:p>
        </p:txBody>
      </p:sp>
      <p:sp>
        <p:nvSpPr>
          <p:cNvPr id="607" name="s"/>
          <p:cNvSpPr/>
          <p:nvPr/>
        </p:nvSpPr>
        <p:spPr>
          <a:xfrm>
            <a:off x="6286500" y="1905000"/>
            <a:ext cx="2349500" cy="889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딥러닝</a:t>
            </a:r>
          </a:p>
        </p:txBody>
      </p:sp>
      <p:sp>
        <p:nvSpPr>
          <p:cNvPr id="608" name="s"/>
          <p:cNvSpPr/>
          <p:nvPr/>
        </p:nvSpPr>
        <p:spPr>
          <a:xfrm>
            <a:off x="8636000" y="1905000"/>
            <a:ext cx="38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400" b="1" dirty="0">
                <a:solidFill>
                  <a:srgbClr val="3D6FE0"/>
                </a:solidFill>
              </a:rPr>
              <a:t>→</a:t>
            </a:r>
          </a:p>
        </p:txBody>
      </p:sp>
      <p:sp>
        <p:nvSpPr>
          <p:cNvPr id="609" name="s"/>
          <p:cNvSpPr/>
          <p:nvPr/>
        </p:nvSpPr>
        <p:spPr>
          <a:xfrm>
            <a:off x="9017000" y="1905000"/>
            <a:ext cx="2349500" cy="889000"/>
          </a:xfrm>
          <a:prstGeom prst="roundRect">
            <a:avLst>
              <a:gd name="adj" fmla="val 10"/>
            </a:avLst>
          </a:prstGeom>
          <a:solidFill>
            <a:srgbClr val="3D6FE0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FFFFFF"/>
                </a:solidFill>
                <a:ea typeface="Noto Sans KR"/>
              </a:rPr>
              <a:t>생성형 AI · LLM</a:t>
            </a:r>
          </a:p>
        </p:txBody>
      </p:sp>
      <p:sp>
        <p:nvSpPr>
          <p:cNvPr id="610" name="s"/>
          <p:cNvSpPr/>
          <p:nvPr/>
        </p:nvSpPr>
        <p:spPr>
          <a:xfrm>
            <a:off x="825500" y="3530600"/>
            <a:ext cx="5080000" cy="2159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핵심 기술</a:t>
            </a:r>
          </a:p>
          <a:p>
            <a:pPr marL="216000" indent="-216000" algn="l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Transformer 아키텍처 기반 언어 모델 </a:t>
            </a:r>
            <a:br>
              <a:rPr lang="en-US" altLang="ko-KR" sz="1500" dirty="0">
                <a:solidFill>
                  <a:srgbClr val="2B3245"/>
                </a:solidFill>
              </a:rPr>
            </a:br>
            <a:r>
              <a:rPr lang="ko-KR" sz="1500" dirty="0">
                <a:solidFill>
                  <a:srgbClr val="2B3245"/>
                </a:solidFill>
              </a:rPr>
              <a:t>(Vaswani et al., 2017)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주의(Attention) 메커니즘으로 문맥을 파악</a:t>
            </a:r>
          </a:p>
        </p:txBody>
      </p:sp>
      <p:sp>
        <p:nvSpPr>
          <p:cNvPr id="611" name="s"/>
          <p:cNvSpPr/>
          <p:nvPr/>
        </p:nvSpPr>
        <p:spPr>
          <a:xfrm>
            <a:off x="6286500" y="3530600"/>
            <a:ext cx="5080000" cy="2159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최신 모델 시대</a:t>
            </a:r>
          </a:p>
          <a:p>
            <a:pPr marL="216000" indent="-216000" algn="l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추론(Reasoning) 모델의 부상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AI 에이전트(Agent)의 확산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멀티모달 — 텍스트·이미지·음성 통합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CE7E6A2B-56CB-FA68-A79F-E8566D826E74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3710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2026 주요 AI 서비스 한눈에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7" name="s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</a:rPr>
              <a:t>ChatGPT   (OpenAI)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대화형 AI의 표준 — 강의계획서·평가 설계·피드백 작성</a:t>
            </a:r>
          </a:p>
        </p:txBody>
      </p:sp>
      <p:sp>
        <p:nvSpPr>
          <p:cNvPr id="608" name="s"/>
          <p:cNvSpPr/>
          <p:nvPr/>
        </p:nvSpPr>
        <p:spPr>
          <a:xfrm>
            <a:off x="6096000" y="1524000"/>
            <a:ext cx="5080000" cy="139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</a:rPr>
              <a:t>Claude   (Anthropic)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긴 문서 분석·정밀한 추론 — 논문 리뷰·교안 설계 강점</a:t>
            </a:r>
          </a:p>
        </p:txBody>
      </p:sp>
      <p:sp>
        <p:nvSpPr>
          <p:cNvPr id="609" name="s"/>
          <p:cNvSpPr/>
          <p:nvPr/>
        </p:nvSpPr>
        <p:spPr>
          <a:xfrm>
            <a:off x="762000" y="3073400"/>
            <a:ext cx="5080000" cy="139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</a:rPr>
              <a:t>Gemini   (Google)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워크스페이스 연계 — 강의 자료 정리·공유에 최적</a:t>
            </a:r>
          </a:p>
        </p:txBody>
      </p:sp>
      <p:sp>
        <p:nvSpPr>
          <p:cNvPr id="610" name="s"/>
          <p:cNvSpPr/>
          <p:nvPr/>
        </p:nvSpPr>
        <p:spPr>
          <a:xfrm>
            <a:off x="6096000" y="3073400"/>
            <a:ext cx="5080000" cy="139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Genspark   (AI 검색)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최신 교육 연구·자료 탐색에 강점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8532307B-3104-A8C6-54FD-4AF987580620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ourceNote">
            <a:extLst>
              <a:ext uri="{FF2B5EF4-FFF2-40B4-BE49-F238E27FC236}">
                <a16:creationId xmlns:a16="http://schemas.microsoft.com/office/drawing/2014/main" id="{BD80132B-99B9-D641-A0E4-EECC54280BFD}"/>
              </a:ext>
            </a:extLst>
          </p:cNvPr>
          <p:cNvSpPr txBox="1"/>
          <p:nvPr/>
        </p:nvSpPr>
        <p:spPr>
          <a:xfrm>
            <a:off x="762000" y="6045200"/>
            <a:ext cx="914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출처</a:t>
            </a:r>
            <a:r>
              <a:rPr lang="en-US" altLang="ko-KR" sz="1400" i="1">
                <a:solidFill>
                  <a:srgbClr val="8A94A6"/>
                </a:solidFill>
              </a:rPr>
              <a:t>: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각 사 공식 발표 및 벤치마크 리더보드 종합 </a:t>
            </a:r>
            <a:r>
              <a:rPr lang="en-US" altLang="ko-KR" sz="1400" i="1">
                <a:solidFill>
                  <a:srgbClr val="8A94A6"/>
                </a:solidFill>
              </a:rPr>
              <a:t>(2026.04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기준</a:t>
            </a:r>
            <a:r>
              <a:rPr lang="en-US" altLang="ko-KR" sz="1400" i="1">
                <a:solidFill>
                  <a:srgbClr val="8A94A6"/>
                </a:solidFill>
              </a:rPr>
              <a:t>)</a:t>
            </a:r>
            <a:endParaRPr lang="ko-KR" altLang="en-US" sz="1400" i="1">
              <a:solidFill>
                <a:srgbClr val="8A94A6"/>
              </a:solidFill>
            </a:endParaRPr>
          </a:p>
        </p:txBody>
      </p:sp>
      <p:sp>
        <p:nvSpPr>
          <p:cNvPr id="6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50000"/>
              </a:lnSpc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OpenAI 모델 라인업 (2026)</a:t>
            </a:r>
          </a:p>
        </p:txBody>
      </p:sp>
      <p:sp>
        <p:nvSpPr>
          <p:cNvPr id="601" name="bar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50000"/>
              </a:lnSpc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graphicFrame>
        <p:nvGraphicFramePr>
          <p:cNvPr id="603" name="tbl"/>
          <p:cNvGraphicFramePr/>
          <p:nvPr/>
        </p:nvGraphicFramePr>
        <p:xfrm>
          <a:off x="762000" y="1625600"/>
          <a:ext cx="10668000" cy="4089400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모델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유형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특징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최적 용도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</a:rPr>
                        <a:t>GPT-5.5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</a:rPr>
                        <a:t>Flagship (2026.04)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최신 플래그십 · 에이전트형 작업 강화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종합 최고 성능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ChatGPT 자동(Auto)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</a:rPr>
                        <a:t>Auto Router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난이도별 Instant/Thinking 자동 선택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일반 대화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</a:rPr>
                        <a:t>GPT-5.4 / mini / nano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</a:rPr>
                        <a:t>Chat/Small/Tiny (2026.03)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mini: 이전 mini 대비 2배+ 속도 · 40만 토큰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추론 / 고속 / 경량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</a:rPr>
                        <a:t>GPT-5.2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</a:rPr>
                        <a:t>Reasoning (2025.12)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44개 직종 GDPval 인간 전문가 수준 최초 달성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전문 업무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</a:rPr>
                        <a:t>GPT-5.3 / 5.2 Codex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</a:rPr>
                        <a:t>Code Agent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코딩 에이전트 특화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코딩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accent">
            <a:extLst>
              <a:ext uri="{FF2B5EF4-FFF2-40B4-BE49-F238E27FC236}">
                <a16:creationId xmlns:a16="http://schemas.microsoft.com/office/drawing/2014/main" id="{4E56DCEA-B6C2-1E63-8F83-BC7FD61C4F2A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ourceNote">
            <a:extLst>
              <a:ext uri="{FF2B5EF4-FFF2-40B4-BE49-F238E27FC236}">
                <a16:creationId xmlns:a16="http://schemas.microsoft.com/office/drawing/2014/main" id="{D55A28BD-1A07-A84C-8CDC-496DA411040F}"/>
              </a:ext>
            </a:extLst>
          </p:cNvPr>
          <p:cNvSpPr txBox="1"/>
          <p:nvPr/>
        </p:nvSpPr>
        <p:spPr>
          <a:xfrm>
            <a:off x="762000" y="6045200"/>
            <a:ext cx="914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출처</a:t>
            </a:r>
            <a:r>
              <a:rPr lang="en-US" altLang="ko-KR" sz="1400" i="1">
                <a:solidFill>
                  <a:srgbClr val="8A94A6"/>
                </a:solidFill>
              </a:rPr>
              <a:t>: OpenAI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공식 발표 및 기술 문서 </a:t>
            </a:r>
            <a:r>
              <a:rPr lang="en-US" altLang="ko-KR" sz="1400" i="1">
                <a:solidFill>
                  <a:srgbClr val="8A94A6"/>
                </a:solidFill>
                <a:ea typeface="Noto Sans KR"/>
              </a:rPr>
              <a:t>(2026년 4월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기준</a:t>
            </a:r>
            <a:r>
              <a:rPr lang="en-US" altLang="ko-KR" sz="1400" i="1">
                <a:solidFill>
                  <a:srgbClr val="8A94A6"/>
                </a:solidFill>
              </a:rPr>
              <a:t>)</a:t>
            </a:r>
            <a:endParaRPr lang="ko-KR" altLang="en-US" sz="1400" i="1">
              <a:solidFill>
                <a:srgbClr val="8A94A6"/>
              </a:solidFill>
            </a:endParaRPr>
          </a:p>
        </p:txBody>
      </p:sp>
      <p:sp>
        <p:nvSpPr>
          <p:cNvPr id="60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9395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Anthropic Claude &amp; Google Gemini (2026년 6월 기준)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3657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50" b="1" dirty="0">
                <a:solidFill>
                  <a:srgbClr val="3D6FE0"/>
                </a:solidFill>
              </a:rPr>
              <a:t>Claude · Anthropic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Opus 4.8 — 2026.05 출시 · 100만 토큰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Opus 4.7 — 2026.04 출시 · 100만 토큰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Sonnet 4.6 — 속도·성능 균형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Haiku 4.5 — 고속 응답</a:t>
            </a:r>
          </a:p>
        </p:txBody>
      </p:sp>
      <p:sp>
        <p:nvSpPr>
          <p:cNvPr id="604" name="s"/>
          <p:cNvSpPr/>
          <p:nvPr/>
        </p:nvSpPr>
        <p:spPr>
          <a:xfrm>
            <a:off x="6350000" y="1524000"/>
            <a:ext cx="5080000" cy="3657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50" b="1" dirty="0">
                <a:solidFill>
                  <a:srgbClr val="3D6FE0"/>
                </a:solidFill>
              </a:rPr>
              <a:t>Gemini · Google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3.1 Pro — ARC-AGI-2 77.1% (구글 발표, 2026.02)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3.1 Flash-Lite — 저비용·고속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3 Flash — 속도·성능 균형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2.5 Pro — 100만 토큰 컨텍스트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5359400"/>
            <a:ext cx="10668000" cy="889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기타 주목 모델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Grok 4.1 Fast (2M 토큰·X 실시간)   ·   Llama 4 Maverick (오픈 웨이트)   ·   Perplexity Sonar Pro (검색 증강)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B3248464-FB63-AE3D-8483-C17821A43103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2040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한국 AI 모델 (2026)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1879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</a:rPr>
              <a:t>K-EXAONE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8A94A6"/>
                </a:solidFill>
                <a:ea typeface="Noto Sans KR"/>
              </a:rPr>
              <a:t>LG AI연구원 · 2025.12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MoE 236B · 독자 AI 파운데이션 모델 1차 발표</a:t>
            </a:r>
          </a:p>
        </p:txBody>
      </p:sp>
      <p:sp>
        <p:nvSpPr>
          <p:cNvPr id="604" name="s"/>
          <p:cNvSpPr/>
          <p:nvPr/>
        </p:nvSpPr>
        <p:spPr>
          <a:xfrm>
            <a:off x="6096000" y="1524000"/>
            <a:ext cx="5080000" cy="1879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</a:rPr>
              <a:t>Solar Pro 3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8A94A6"/>
                </a:solidFill>
              </a:rPr>
              <a:t>Upstage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Solar Pro 2 후속 · 한국어 문서 작업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3556000"/>
            <a:ext cx="5080000" cy="1879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</a:rPr>
              <a:t>Solar Pro 2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8A94A6"/>
                </a:solidFill>
              </a:rPr>
              <a:t>Upstage · 2025.07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문서 분석·요약 강점</a:t>
            </a:r>
          </a:p>
        </p:txBody>
      </p:sp>
      <p:sp>
        <p:nvSpPr>
          <p:cNvPr id="606" name="s"/>
          <p:cNvSpPr/>
          <p:nvPr/>
        </p:nvSpPr>
        <p:spPr>
          <a:xfrm>
            <a:off x="6096000" y="3556000"/>
            <a:ext cx="5080000" cy="1879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  <a:ea typeface="Noto Sans KR"/>
              </a:rPr>
              <a:t>FactChat (팩트챗)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8A94A6"/>
                </a:solidFill>
              </a:rPr>
              <a:t>Mindlogic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여러 LLM을 한곳에서 쓰는 기관용 플랫폼 · 대학 도입 확산</a:t>
            </a:r>
            <a:r>
              <a:rPr lang="ko-KR" sz="1400" dirty="0">
                <a:solidFill>
                  <a:srgbClr val="2B3245"/>
                </a:solidFill>
              </a:rPr>
              <a:t/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6FFE2A1B-3626-6804-7AAD-755142671F58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ourceNote">
            <a:extLst>
              <a:ext uri="{FF2B5EF4-FFF2-40B4-BE49-F238E27FC236}">
                <a16:creationId xmlns:a16="http://schemas.microsoft.com/office/drawing/2014/main" id="{0AA43280-240A-0D46-815F-734A97A73672}"/>
              </a:ext>
            </a:extLst>
          </p:cNvPr>
          <p:cNvSpPr txBox="1"/>
          <p:nvPr/>
        </p:nvSpPr>
        <p:spPr>
          <a:xfrm>
            <a:off x="762000" y="6045200"/>
            <a:ext cx="914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출처</a:t>
            </a:r>
            <a:r>
              <a:rPr lang="en-US" altLang="ko-KR" sz="1400" i="1">
                <a:solidFill>
                  <a:srgbClr val="8A94A6"/>
                </a:solidFill>
              </a:rPr>
              <a:t>: LG AI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연구원 </a:t>
            </a:r>
            <a:r>
              <a:rPr lang="en-US" altLang="ko-KR" sz="1400" i="1">
                <a:solidFill>
                  <a:srgbClr val="8A94A6"/>
                </a:solidFill>
              </a:rPr>
              <a:t>· Upstage · Mindlogic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공식 발표 </a:t>
            </a:r>
            <a:r>
              <a:rPr lang="en-US" altLang="ko-KR" sz="1400" i="1">
                <a:solidFill>
                  <a:srgbClr val="8A94A6"/>
                </a:solidFill>
                <a:ea typeface="Noto Sans KR"/>
              </a:rPr>
              <a:t>(2026년 6월 기준)</a:t>
            </a:r>
            <a:endParaRPr lang="ko-KR" altLang="en-US" sz="1400" i="1">
              <a:solidFill>
                <a:srgbClr val="8A94A6"/>
              </a:solidFill>
            </a:endParaRPr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0495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lnSpc>
                <a:spcPct val="150000"/>
              </a:lnSpc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교수 업무별 추천 모델 가이드 (2026년 6월 기준)</a:t>
            </a:r>
          </a:p>
        </p:txBody>
      </p:sp>
      <p:sp>
        <p:nvSpPr>
          <p:cNvPr id="601" name="t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602" name="t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lnSpc>
                <a:spcPct val="150000"/>
              </a:lnSpc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graphicFrame>
        <p:nvGraphicFramePr>
          <p:cNvPr id="603" name="tbl"/>
          <p:cNvGraphicFramePr/>
          <p:nvPr/>
        </p:nvGraphicFramePr>
        <p:xfrm>
          <a:off x="762000" y="1625600"/>
          <a:ext cx="10668000" cy="4318000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용도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추천 모델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포인트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강의계획서 작성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</a:rPr>
                        <a:t>GPT-5.4 · Claude Sonnet 4.6 · Gemini 3 Flash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구조화 문서·교육과정 설계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평가 루브릭 설계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</a:rPr>
                        <a:t>GPT-5.5 Thinking · Claude Opus 4.8 · Gemini 3.1 Pro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깊은 추론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학생 피드백 작성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ChatGPT 자동 · Claude Sonnet 4.6 · Gemini 3 Flash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자연스러운 맞춤형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자료 검색·분석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</a:rPr>
                        <a:t>Sonar Reasoning Pro · Grok 4.1 Fast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실시간·출처 기반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코딩·프로그래밍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</a:rPr>
                        <a:t>GPT-5.3 Codex · Claude Opus 4.8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코드 생성·디버깅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1B2A4A"/>
                          </a:solidFill>
                          <a:ea typeface="Noto Sans KR"/>
                        </a:rPr>
                        <a:t>한국어 작업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</a:rPr>
                        <a:t>K-EXAONE · Solar Pro 3 · HyperCLOVA X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한국어·문화 맥락 최적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accent">
            <a:extLst>
              <a:ext uri="{FF2B5EF4-FFF2-40B4-BE49-F238E27FC236}">
                <a16:creationId xmlns:a16="http://schemas.microsoft.com/office/drawing/2014/main" id="{FCE3AC7E-D83F-500E-E49E-D42603403A7A}"/>
              </a:ext>
            </a:extLst>
          </p:cNvPr>
          <p:cNvSpPr/>
          <p:nvPr/>
        </p:nvSpPr>
        <p:spPr>
          <a:xfrm>
            <a:off x="0" y="0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2400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교육 현장에서의 AI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498600"/>
            <a:ext cx="3429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해외 동향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MIT · Stanford · Oxford AI 교육 정책</a:t>
            </a:r>
          </a:p>
        </p:txBody>
      </p:sp>
      <p:sp>
        <p:nvSpPr>
          <p:cNvPr id="604" name="s"/>
          <p:cNvSpPr/>
          <p:nvPr/>
        </p:nvSpPr>
        <p:spPr>
          <a:xfrm>
            <a:off x="4381500" y="1498600"/>
            <a:ext cx="3429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국내 현황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대학 AI 가이드라인 수립 확산</a:t>
            </a:r>
          </a:p>
        </p:txBody>
      </p:sp>
      <p:sp>
        <p:nvSpPr>
          <p:cNvPr id="605" name="s"/>
          <p:cNvSpPr/>
          <p:nvPr/>
        </p:nvSpPr>
        <p:spPr>
          <a:xfrm>
            <a:off x="8001000" y="1498600"/>
            <a:ext cx="3429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AI 리터러시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교수자의 역할 재정의</a:t>
            </a:r>
          </a:p>
        </p:txBody>
      </p:sp>
      <p:sp>
        <p:nvSpPr>
          <p:cNvPr id="606" name="s"/>
          <p:cNvSpPr/>
          <p:nvPr/>
        </p:nvSpPr>
        <p:spPr>
          <a:xfrm>
            <a:off x="762000" y="2616200"/>
            <a:ext cx="5080000" cy="3378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50" b="1" dirty="0">
                <a:solidFill>
                  <a:srgbClr val="1B2A4A"/>
                </a:solidFill>
                <a:ea typeface="Noto Sans KR"/>
              </a:rPr>
              <a:t>학생의 AI 활용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개념 학습 보조 · 자료 탐색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과제·리포트 초안 작성</a:t>
            </a:r>
            <a:br>
              <a:rPr lang="en-US" altLang="ko-KR" sz="1450" dirty="0">
                <a:solidFill>
                  <a:srgbClr val="2B3245"/>
                </a:solidFill>
              </a:rPr>
            </a:br>
            <a:endParaRPr lang="ko-KR" sz="1450" dirty="0">
              <a:solidFill>
                <a:srgbClr val="2B3245"/>
              </a:solidFill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sz="1450" dirty="0">
                <a:solidFill>
                  <a:srgbClr val="3F4F7A"/>
                </a:solidFill>
                <a:ea typeface="Noto Sans KR"/>
              </a:rPr>
              <a:t>⚠ 학술적 정직성 관리가 핵심 과제</a:t>
            </a:r>
          </a:p>
        </p:txBody>
      </p:sp>
      <p:sp>
        <p:nvSpPr>
          <p:cNvPr id="607" name="s"/>
          <p:cNvSpPr/>
          <p:nvPr/>
        </p:nvSpPr>
        <p:spPr>
          <a:xfrm>
            <a:off x="6350000" y="2616200"/>
            <a:ext cx="5080000" cy="3378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50" b="1" dirty="0">
                <a:solidFill>
                  <a:srgbClr val="3D6FE0"/>
                </a:solidFill>
                <a:ea typeface="Noto Sans KR"/>
              </a:rPr>
              <a:t>교수자의 AI 활용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강의계획·강의 자료 제작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평가·루브릭 설계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학생 피드백 자동화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업무 생산성·교육 품질 향상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B1C2A582-6E8E-AAFF-7C5B-123299CB2FDB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13868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윤리적 고려사항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01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1905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D9534F"/>
                </a:solidFill>
                <a:ea typeface="Noto Sans KR"/>
              </a:rPr>
              <a:t>환각 (Hallucination)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AI가 사실 아닌 내용을 자신 있게 생성 </a:t>
            </a:r>
            <a:endParaRPr lang="en-US" altLang="ko-KR" sz="1450" dirty="0">
              <a:solidFill>
                <a:srgbClr val="2B3245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→ 학술 정보·참고문헌·통계는 반드시 검증</a:t>
            </a:r>
          </a:p>
        </p:txBody>
      </p:sp>
      <p:sp>
        <p:nvSpPr>
          <p:cNvPr id="604" name="s"/>
          <p:cNvSpPr/>
          <p:nvPr/>
        </p:nvSpPr>
        <p:spPr>
          <a:xfrm>
            <a:off x="6096000" y="1524000"/>
            <a:ext cx="5080000" cy="1905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학술적 정직성 (Academic Integrity)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AI는 보조 도구 — 교수의 전문적 판단을 대체하지 않음. </a:t>
            </a:r>
            <a:endParaRPr lang="en-US" altLang="ko-KR" sz="1450" dirty="0">
              <a:solidFill>
                <a:srgbClr val="2B3245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활용 경계를 명확히 설정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3657600"/>
            <a:ext cx="5080000" cy="1905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D9534F"/>
                </a:solidFill>
                <a:ea typeface="Noto Sans KR"/>
              </a:rPr>
              <a:t>개인정보·보안 (Privacy &amp; Security)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학생 개인정보·성적 데이터·미공개 시험 문제를 </a:t>
            </a:r>
            <a:endParaRPr lang="en-US" altLang="ko-KR" sz="1450" dirty="0">
              <a:solidFill>
                <a:srgbClr val="2B3245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 err="1">
                <a:solidFill>
                  <a:srgbClr val="2B3245"/>
                </a:solidFill>
                <a:ea typeface="Noto Sans KR"/>
              </a:rPr>
              <a:t>AI에</a:t>
            </a:r>
            <a:r>
              <a:rPr lang="ko-KR" sz="1450" dirty="0">
                <a:solidFill>
                  <a:srgbClr val="2B3245"/>
                </a:solidFill>
                <a:ea typeface="Noto Sans KR"/>
              </a:rPr>
              <a:t> 입력 금지</a:t>
            </a:r>
          </a:p>
        </p:txBody>
      </p:sp>
      <p:sp>
        <p:nvSpPr>
          <p:cNvPr id="606" name="s"/>
          <p:cNvSpPr/>
          <p:nvPr/>
        </p:nvSpPr>
        <p:spPr>
          <a:xfrm>
            <a:off x="6096000" y="3657600"/>
            <a:ext cx="5080000" cy="1905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저작권 (Copyright)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AI 생성물의 저작권 이슈 인지 </a:t>
            </a:r>
            <a:endParaRPr lang="en-US" altLang="ko-KR" sz="1450" dirty="0">
              <a:solidFill>
                <a:srgbClr val="2B3245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— 최종 검토·수정은 교수자가 수행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6922FBEA-7C50-DC49-8D36-26F6BCA9463C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5026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t"/>
          <p:cNvSpPr/>
          <p:nvPr/>
        </p:nvSpPr>
        <p:spPr>
          <a:xfrm>
            <a:off x="7747000" y="762000"/>
            <a:ext cx="3810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50000"/>
              </a:lnSpc>
            </a:pPr>
            <a:r>
              <a:rPr lang="ko-KR" sz="4400" b="1" dirty="0">
                <a:solidFill>
                  <a:srgbClr val="33476E"/>
                </a:solidFill>
              </a:rPr>
              <a:t>02 / 06</a:t>
            </a:r>
          </a:p>
        </p:txBody>
      </p:sp>
      <p:sp>
        <p:nvSpPr>
          <p:cNvPr id="602" name="b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"/>
          <p:cNvSpPr/>
          <p:nvPr/>
        </p:nvSpPr>
        <p:spPr>
          <a:xfrm>
            <a:off x="1270000" y="2540000"/>
            <a:ext cx="9398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02 · 25분</a:t>
            </a:r>
          </a:p>
        </p:txBody>
      </p:sp>
      <p:sp>
        <p:nvSpPr>
          <p:cNvPr id="604" name="t"/>
          <p:cNvSpPr/>
          <p:nvPr/>
        </p:nvSpPr>
        <p:spPr>
          <a:xfrm>
            <a:off x="1244600" y="2946400"/>
            <a:ext cx="965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3200" b="1" dirty="0">
                <a:solidFill>
                  <a:srgbClr val="FFFFFF"/>
                </a:solidFill>
                <a:ea typeface="Noto Sans KR"/>
              </a:rPr>
              <a:t>AI 활용 강의계획서 작성</a:t>
            </a:r>
          </a:p>
        </p:txBody>
      </p:sp>
      <p:sp>
        <p:nvSpPr>
          <p:cNvPr id="605" name="t"/>
          <p:cNvSpPr/>
          <p:nvPr/>
        </p:nvSpPr>
        <p:spPr>
          <a:xfrm>
            <a:off x="1270000" y="4419600"/>
            <a:ext cx="9652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학습목표 설계  →  주차별 계획  →  실습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FF64A542-877D-9BCB-ECF6-17BAD41F2946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69692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800" b="1" dirty="0">
                <a:solidFill>
                  <a:srgbClr val="1B2A4A"/>
                </a:solidFill>
                <a:ea typeface="Noto Sans KR"/>
              </a:rPr>
              <a:t>학습목표 설계 · Bloom's Taxonomy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838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기억</a:t>
            </a:r>
          </a:p>
        </p:txBody>
      </p:sp>
      <p:sp>
        <p:nvSpPr>
          <p:cNvPr id="604" name="s"/>
          <p:cNvSpPr/>
          <p:nvPr/>
        </p:nvSpPr>
        <p:spPr>
          <a:xfrm>
            <a:off x="2336800" y="1473200"/>
            <a:ext cx="27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8A94A6"/>
                </a:solidFill>
              </a:rPr>
              <a:t>›</a:t>
            </a:r>
          </a:p>
        </p:txBody>
      </p:sp>
      <p:sp>
        <p:nvSpPr>
          <p:cNvPr id="605" name="s"/>
          <p:cNvSpPr/>
          <p:nvPr/>
        </p:nvSpPr>
        <p:spPr>
          <a:xfrm>
            <a:off x="2616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이해</a:t>
            </a:r>
          </a:p>
        </p:txBody>
      </p:sp>
      <p:sp>
        <p:nvSpPr>
          <p:cNvPr id="606" name="s"/>
          <p:cNvSpPr/>
          <p:nvPr/>
        </p:nvSpPr>
        <p:spPr>
          <a:xfrm>
            <a:off x="4114800" y="1473200"/>
            <a:ext cx="27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8A94A6"/>
                </a:solidFill>
              </a:rPr>
              <a:t>›</a:t>
            </a:r>
          </a:p>
        </p:txBody>
      </p:sp>
      <p:sp>
        <p:nvSpPr>
          <p:cNvPr id="607" name="s"/>
          <p:cNvSpPr/>
          <p:nvPr/>
        </p:nvSpPr>
        <p:spPr>
          <a:xfrm>
            <a:off x="4394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적용</a:t>
            </a:r>
          </a:p>
        </p:txBody>
      </p:sp>
      <p:sp>
        <p:nvSpPr>
          <p:cNvPr id="608" name="s"/>
          <p:cNvSpPr/>
          <p:nvPr/>
        </p:nvSpPr>
        <p:spPr>
          <a:xfrm>
            <a:off x="5892800" y="1473200"/>
            <a:ext cx="27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8A94A6"/>
                </a:solidFill>
              </a:rPr>
              <a:t>›</a:t>
            </a:r>
          </a:p>
        </p:txBody>
      </p:sp>
      <p:sp>
        <p:nvSpPr>
          <p:cNvPr id="609" name="s"/>
          <p:cNvSpPr/>
          <p:nvPr/>
        </p:nvSpPr>
        <p:spPr>
          <a:xfrm>
            <a:off x="6172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분석</a:t>
            </a:r>
          </a:p>
        </p:txBody>
      </p:sp>
      <p:sp>
        <p:nvSpPr>
          <p:cNvPr id="610" name="s"/>
          <p:cNvSpPr/>
          <p:nvPr/>
        </p:nvSpPr>
        <p:spPr>
          <a:xfrm>
            <a:off x="7670800" y="1473200"/>
            <a:ext cx="27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8A94A6"/>
                </a:solidFill>
              </a:rPr>
              <a:t>›</a:t>
            </a:r>
          </a:p>
        </p:txBody>
      </p:sp>
      <p:sp>
        <p:nvSpPr>
          <p:cNvPr id="611" name="s"/>
          <p:cNvSpPr/>
          <p:nvPr/>
        </p:nvSpPr>
        <p:spPr>
          <a:xfrm>
            <a:off x="7950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평가</a:t>
            </a:r>
          </a:p>
        </p:txBody>
      </p:sp>
      <p:sp>
        <p:nvSpPr>
          <p:cNvPr id="612" name="s"/>
          <p:cNvSpPr/>
          <p:nvPr/>
        </p:nvSpPr>
        <p:spPr>
          <a:xfrm>
            <a:off x="9448800" y="1473200"/>
            <a:ext cx="27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8A94A6"/>
                </a:solidFill>
              </a:rPr>
              <a:t>›</a:t>
            </a:r>
          </a:p>
        </p:txBody>
      </p:sp>
      <p:sp>
        <p:nvSpPr>
          <p:cNvPr id="613" name="s"/>
          <p:cNvSpPr/>
          <p:nvPr/>
        </p:nvSpPr>
        <p:spPr>
          <a:xfrm>
            <a:off x="9728200" y="1473200"/>
            <a:ext cx="1498600" cy="635000"/>
          </a:xfrm>
          <a:prstGeom prst="roundRect">
            <a:avLst>
              <a:gd name="adj" fmla="val 10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  <a:ea typeface="Noto Sans KR"/>
              </a:rPr>
              <a:t>창조</a:t>
            </a:r>
          </a:p>
        </p:txBody>
      </p:sp>
      <p:sp>
        <p:nvSpPr>
          <p:cNvPr id="614" name="s"/>
          <p:cNvSpPr/>
          <p:nvPr/>
        </p:nvSpPr>
        <p:spPr>
          <a:xfrm>
            <a:off x="762000" y="2413000"/>
            <a:ext cx="4445000" cy="2540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설계 포인트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역량 기반 교육과정과 AI 연계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교과목 수준별 학습 성과 설정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측정 가능한(Measurable) 목표 작성</a:t>
            </a:r>
          </a:p>
        </p:txBody>
      </p:sp>
      <p:sp>
        <p:nvSpPr>
          <p:cNvPr id="615" name="s"/>
          <p:cNvSpPr/>
          <p:nvPr/>
        </p:nvSpPr>
        <p:spPr>
          <a:xfrm>
            <a:off x="762000" y="5080000"/>
            <a:ext cx="4445000" cy="889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학습목표가 구체적·측정 가능한지 확인</a:t>
            </a:r>
          </a:p>
        </p:txBody>
      </p:sp>
      <p:sp>
        <p:nvSpPr>
          <p:cNvPr id="616" name="s"/>
          <p:cNvSpPr/>
          <p:nvPr/>
        </p:nvSpPr>
        <p:spPr>
          <a:xfrm>
            <a:off x="5461000" y="2413000"/>
            <a:ext cx="5969000" cy="35560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예시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300" dirty="0">
                <a:solidFill>
                  <a:srgbClr val="E6ECF7"/>
                </a:solidFill>
                <a:ea typeface="Noto Sans KR"/>
              </a:rPr>
              <a:t>Bloom's Taxonomy 6단계에 기반하여 '{교과목명}'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E6ECF7"/>
                </a:solidFill>
                <a:ea typeface="Noto Sans KR"/>
              </a:rPr>
              <a:t>교과목의 학습목표 6개를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목표는 구체적이고 측정 가능해야 함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학습 수준별로 1개씩 작성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형식: 번호 | Bloom 수준 | 학습목표 | 평가 방법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D3E1656D-0D8A-0441-B727-3A7D03EB999C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ourceNote">
            <a:extLst>
              <a:ext uri="{FF2B5EF4-FFF2-40B4-BE49-F238E27FC236}">
                <a16:creationId xmlns:a16="http://schemas.microsoft.com/office/drawing/2014/main" id="{187AE9BC-4A7B-674C-B94A-CC76217FA736}"/>
              </a:ext>
            </a:extLst>
          </p:cNvPr>
          <p:cNvSpPr txBox="1"/>
          <p:nvPr/>
        </p:nvSpPr>
        <p:spPr>
          <a:xfrm>
            <a:off x="762000" y="6045200"/>
            <a:ext cx="914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이론적 근거</a:t>
            </a:r>
            <a:r>
              <a:rPr lang="en-US" altLang="ko-KR" sz="1400" i="1">
                <a:solidFill>
                  <a:srgbClr val="8A94A6"/>
                </a:solidFill>
              </a:rPr>
              <a:t>: Anderson &amp; Krathwohl (2001), Bloom's Taxonomy 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개정판</a:t>
            </a:r>
          </a:p>
        </p:txBody>
      </p:sp>
      <p:sp>
        <p:nvSpPr>
          <p:cNvPr id="6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73229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주차별 강의 계획 자동 생성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74800"/>
            <a:ext cx="4445000" cy="2540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활용 포인트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15주/16주 강의 계획 자동 생성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이론·실습 균형 배분 최적화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500" dirty="0">
                <a:solidFill>
                  <a:srgbClr val="2B3245"/>
                </a:solidFill>
                <a:ea typeface="Noto Sans KR"/>
              </a:rPr>
              <a:t>교재·참고문헌 추천 자동화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4267200"/>
            <a:ext cx="4445000" cy="1498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{학과}·{학년}·{교과목명}을 실제 정보로 교체. </a:t>
            </a:r>
            <a:endParaRPr lang="en-US" altLang="ko-KR" sz="1350" dirty="0">
              <a:solidFill>
                <a:srgbClr val="44537A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학과 특성을 맥락에 추가하면 결과가 향상됩니다.</a:t>
            </a:r>
          </a:p>
        </p:txBody>
      </p:sp>
      <p:sp>
        <p:nvSpPr>
          <p:cNvPr id="605" name="s"/>
          <p:cNvSpPr/>
          <p:nvPr/>
        </p:nvSpPr>
        <p:spPr>
          <a:xfrm>
            <a:off x="5461000" y="1574800"/>
            <a:ext cx="5969000" cy="41910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예시 · 15주차 강의계획서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너는 대학 교육과정 설계 전문가야.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우리 대학 {학과} 학부 {학년}학년 대상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'{교과목명}' 교과목의 15주차 강의계획서를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주차: 주제 · 학습목표 · 학습활동 · 과제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평가: 중간30 · 기말30 · 과제20 · 출석10 · 프로젝트10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실무 중심 교육 강조, 산업체 사례 포함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265B326E-259B-4E21-E370-B87C762499F9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91691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좋은 프롬프트 vs 나쁜 프롬프트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3657600"/>
          </a:xfrm>
          <a:prstGeom prst="roundRect">
            <a:avLst>
              <a:gd name="adj" fmla="val 8"/>
            </a:avLst>
          </a:prstGeom>
          <a:solidFill>
            <a:srgbClr val="E2E8F4"/>
          </a:solidFill>
          <a:ln w="12700">
            <a:solidFill>
              <a:srgbClr val="7C8DB5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F4F7A"/>
                </a:solidFill>
                <a:ea typeface="Noto Sans KR"/>
              </a:rPr>
              <a:t>✕  나쁜 예시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550" i="1" dirty="0">
                <a:solidFill>
                  <a:srgbClr val="1B2A4A"/>
                </a:solidFill>
                <a:ea typeface="Noto Sans KR"/>
              </a:rPr>
              <a:t>“강의계획서 작성해줘”</a:t>
            </a:r>
          </a:p>
          <a:p>
            <a:pPr marL="216000" indent="-216000" algn="l">
              <a:lnSpc>
                <a:spcPct val="15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교과목·대상·형식을 몰라 모호한 결과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원하는 방향이 안 나와 매번 재설명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재작업 증가 → 시간 낭비</a:t>
            </a:r>
          </a:p>
        </p:txBody>
      </p:sp>
      <p:sp>
        <p:nvSpPr>
          <p:cNvPr id="604" name="s"/>
          <p:cNvSpPr/>
          <p:nvPr/>
        </p:nvSpPr>
        <p:spPr>
          <a:xfrm>
            <a:off x="6350000" y="1524000"/>
            <a:ext cx="5080000" cy="36576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○  좋은 예시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00" dirty="0">
                <a:solidFill>
                  <a:srgbClr val="1B2A4A"/>
                </a:solidFill>
                <a:ea typeface="Noto Sans KR"/>
              </a:rPr>
              <a:t>우리 대학 컴퓨터공학과 '인공지능개론'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400" dirty="0">
                <a:solidFill>
                  <a:srgbClr val="1B2A4A"/>
                </a:solidFill>
                <a:ea typeface="Noto Sans KR"/>
              </a:rPr>
              <a:t>15주차 강의계획서를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- 대상: 학부 3학년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- 형식: 주차별 주제·학습목표·학습활동·과제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- 학습목표: Bloom's Taxonomy 기반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- 평가: 중간30 기말30 과제20 출석10 프로젝트10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5384800"/>
            <a:ext cx="10668000" cy="787400"/>
          </a:xfrm>
          <a:prstGeom prst="roundRect">
            <a:avLst>
              <a:gd name="adj" fmla="val 8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FFFFFF"/>
                </a:solidFill>
                <a:ea typeface="Noto Sans KR"/>
              </a:rPr>
              <a:t>핵심 원칙 — 프롬프트가 구체적·명확할수록 AI 답변도 정확하고 유용해진다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40B98E47-732E-0F09-CCE4-E38CD7D68402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15459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800" b="1" dirty="0">
                <a:solidFill>
                  <a:srgbClr val="1B2A4A"/>
                </a:solidFill>
                <a:ea typeface="Noto Sans KR"/>
              </a:rPr>
              <a:t>활용 사례 · 교재 추천 &amp; PBL 설계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143500" cy="37592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5B8DEF"/>
                </a:solidFill>
                <a:ea typeface="Noto Sans KR"/>
              </a:rPr>
              <a:t>프롬프트 · 교재·참고문헌 추천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'{교과목명}'에 적합한 주교재 2권과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참고문헌 5개를 추천해줘.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최신(2022년 이후) 출판물 우선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자료: 제목·저자·출판사·연도·추천 이유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학부 {학년}학년 수준에 적합</a:t>
            </a:r>
          </a:p>
        </p:txBody>
      </p:sp>
      <p:sp>
        <p:nvSpPr>
          <p:cNvPr id="604" name="s"/>
          <p:cNvSpPr/>
          <p:nvPr/>
        </p:nvSpPr>
        <p:spPr>
          <a:xfrm>
            <a:off x="6286500" y="1524000"/>
            <a:ext cx="5143500" cy="37592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5B8DEF"/>
                </a:solidFill>
                <a:ea typeface="Noto Sans KR"/>
              </a:rPr>
              <a:t>프롬프트 · PBL 재설계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'{교과목명}'을 프로젝트 기반 학습(PBL)으로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재설계해줘.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- 4~5인 팀 학기 프로젝트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단계: 주제선정→계획→실행→발표→평가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단계별 활동·산출물·교수자 역할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중간 점검 포인트 3회 포함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5410200"/>
            <a:ext cx="10668000" cy="711200"/>
          </a:xfrm>
          <a:prstGeom prst="roundRect">
            <a:avLst>
              <a:gd name="adj" fmla="val 8"/>
            </a:avLst>
          </a:prstGeom>
          <a:solidFill>
            <a:srgbClr val="E2E8F4"/>
          </a:solidFill>
          <a:ln w="12700">
            <a:solidFill>
              <a:srgbClr val="7C8DB5"/>
            </a:solidFill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3F4F7A"/>
                </a:solidFill>
                <a:ea typeface="Noto Sans KR"/>
              </a:rPr>
              <a:t>⚠  AI가 존재하지 않는 책을 추천할 수 있습니다 — 추천 자료의 실제 존재 여부를 반드시 확인하세요.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B504AE6A-0770-0928-6CF8-D889C3E294C4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36603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800" b="1" dirty="0">
                <a:solidFill>
                  <a:srgbClr val="1B2A4A"/>
                </a:solidFill>
                <a:ea typeface="Noto Sans KR"/>
              </a:rPr>
              <a:t>활용 사례 · AI 활용 정책 실라버스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4445000" cy="14224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E5BC6"/>
                </a:solidFill>
                <a:ea typeface="Noto Sans KR"/>
              </a:rPr>
              <a:t>○ 허용 범위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자료 조사 · 아이디어 발산 · 코드 디버깅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3098800"/>
            <a:ext cx="4445000" cy="1219200"/>
          </a:xfrm>
          <a:prstGeom prst="roundRect">
            <a:avLst>
              <a:gd name="adj" fmla="val 8"/>
            </a:avLst>
          </a:prstGeom>
          <a:solidFill>
            <a:srgbClr val="E2E8F4"/>
          </a:solidFill>
          <a:ln w="12700">
            <a:solidFill>
              <a:srgbClr val="7C8DB5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F4F7A"/>
                </a:solidFill>
                <a:ea typeface="Noto Sans KR"/>
              </a:rPr>
              <a:t>✕ 금지 항목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시험 · 최종 보고서 등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445000"/>
            <a:ext cx="4445000" cy="13208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학과·교과목 성격에 따라 AI 허용 범위를 조정하세요.</a:t>
            </a:r>
          </a:p>
        </p:txBody>
      </p:sp>
      <p:sp>
        <p:nvSpPr>
          <p:cNvPr id="606" name="s"/>
          <p:cNvSpPr/>
          <p:nvPr/>
        </p:nvSpPr>
        <p:spPr>
          <a:xfrm>
            <a:off x="5461000" y="1549400"/>
            <a:ext cx="59690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AI 활용 정책 섹션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대학 교과목 강의계획서에 포함할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'AI 활용 정책' 섹션을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 허용 범위 (자료조사·아이디어·디버깅)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 금지 항목 (시험·최종 보고서)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 사용 시 출처 표기 방법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학문적 정직성과의 연계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학생이 이해하기 쉬운 어투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F8409010-2DAA-D5A0-5194-F9E7317E6920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22907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600" b="1" dirty="0">
                <a:solidFill>
                  <a:srgbClr val="1B2A4A"/>
                </a:solidFill>
                <a:ea typeface="Noto Sans KR"/>
              </a:rPr>
              <a:t>실습 ① · 내 교과목 강의계획서 프롬프트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02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10668000" cy="8636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1B2A4A"/>
                </a:solidFill>
                <a:ea typeface="Noto Sans KR"/>
              </a:rPr>
              <a:t>과제 — 본인 교과목의 15주차 강의계획서 프롬프트를 직접 작성해 보세요.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25908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포함 요소 체크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2997200"/>
            <a:ext cx="20320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역할 부여</a:t>
            </a:r>
          </a:p>
        </p:txBody>
      </p:sp>
      <p:sp>
        <p:nvSpPr>
          <p:cNvPr id="606" name="s"/>
          <p:cNvSpPr/>
          <p:nvPr/>
        </p:nvSpPr>
        <p:spPr>
          <a:xfrm>
            <a:off x="2921000" y="2997200"/>
            <a:ext cx="20320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학과·학년 맥락</a:t>
            </a:r>
          </a:p>
        </p:txBody>
      </p:sp>
      <p:sp>
        <p:nvSpPr>
          <p:cNvPr id="607" name="s"/>
          <p:cNvSpPr/>
          <p:nvPr/>
        </p:nvSpPr>
        <p:spPr>
          <a:xfrm>
            <a:off x="5080000" y="2997200"/>
            <a:ext cx="20320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학습목표 기준</a:t>
            </a:r>
          </a:p>
        </p:txBody>
      </p:sp>
      <p:sp>
        <p:nvSpPr>
          <p:cNvPr id="608" name="s"/>
          <p:cNvSpPr/>
          <p:nvPr/>
        </p:nvSpPr>
        <p:spPr>
          <a:xfrm>
            <a:off x="7239000" y="2997200"/>
            <a:ext cx="20320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평가 비중</a:t>
            </a:r>
          </a:p>
        </p:txBody>
      </p:sp>
      <p:sp>
        <p:nvSpPr>
          <p:cNvPr id="609" name="s"/>
          <p:cNvSpPr/>
          <p:nvPr/>
        </p:nvSpPr>
        <p:spPr>
          <a:xfrm>
            <a:off x="9398000" y="2997200"/>
            <a:ext cx="2032000" cy="635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출력 형식</a:t>
            </a:r>
          </a:p>
        </p:txBody>
      </p:sp>
      <p:sp>
        <p:nvSpPr>
          <p:cNvPr id="610" name="s"/>
          <p:cNvSpPr/>
          <p:nvPr/>
        </p:nvSpPr>
        <p:spPr>
          <a:xfrm>
            <a:off x="762000" y="3860800"/>
            <a:ext cx="10668000" cy="1905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프롬프트 개선 기법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역할 부여 + 맥락 제공 + 형식 지정 — 세 요소를 함께 담으면 결과가 좋아집니다.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결과 확인 후 후속 질문으로 반복 개선: "더 구체적으로", "표로 정리해줘"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AE7460BD-545C-C5E8-8EE5-754EC8D2D16D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93108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t"/>
          <p:cNvSpPr/>
          <p:nvPr/>
        </p:nvSpPr>
        <p:spPr>
          <a:xfrm>
            <a:off x="7747000" y="762000"/>
            <a:ext cx="3810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50000"/>
              </a:lnSpc>
            </a:pPr>
            <a:r>
              <a:rPr lang="ko-KR" sz="4400" b="1" dirty="0">
                <a:solidFill>
                  <a:srgbClr val="33476E"/>
                </a:solidFill>
              </a:rPr>
              <a:t>03 / 06</a:t>
            </a:r>
          </a:p>
        </p:txBody>
      </p:sp>
      <p:sp>
        <p:nvSpPr>
          <p:cNvPr id="602" name="b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"/>
          <p:cNvSpPr/>
          <p:nvPr/>
        </p:nvSpPr>
        <p:spPr>
          <a:xfrm>
            <a:off x="1270000" y="2540000"/>
            <a:ext cx="9398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03 · 25분</a:t>
            </a:r>
          </a:p>
        </p:txBody>
      </p:sp>
      <p:sp>
        <p:nvSpPr>
          <p:cNvPr id="604" name="t"/>
          <p:cNvSpPr/>
          <p:nvPr/>
        </p:nvSpPr>
        <p:spPr>
          <a:xfrm>
            <a:off x="1244600" y="2946400"/>
            <a:ext cx="9906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3200" b="1" dirty="0">
                <a:solidFill>
                  <a:srgbClr val="FFFFFF"/>
                </a:solidFill>
                <a:ea typeface="Noto Sans KR"/>
              </a:rPr>
              <a:t>AI 기반 학생 평가 설계</a:t>
            </a:r>
          </a:p>
        </p:txBody>
      </p:sp>
      <p:sp>
        <p:nvSpPr>
          <p:cNvPr id="605" name="t"/>
          <p:cNvSpPr/>
          <p:nvPr/>
        </p:nvSpPr>
        <p:spPr>
          <a:xfrm>
            <a:off x="1270000" y="4419600"/>
            <a:ext cx="9906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평가 루브릭  →  문항 설계  →  공정성 확보  →  실습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B96976FA-A8AC-8CD7-D299-2B446A4BB1C7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90697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평가 루브릭 자동 생성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4445000" cy="13208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D6FE0"/>
                </a:solidFill>
                <a:ea typeface="Noto Sans KR"/>
              </a:rPr>
              <a:t>분석적 루브릭 (Analytic Rubric)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평가 항목별로 수준·점수를 세분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2997200"/>
            <a:ext cx="4445000" cy="1244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총체적 루브릭 (Holistic Rubric)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과제 전체를 하나의 기준으로 평가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368800"/>
            <a:ext cx="4445000" cy="1397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평가 항목을 교과목 특성에 맞게 변경하세요.</a:t>
            </a:r>
          </a:p>
        </p:txBody>
      </p:sp>
      <p:sp>
        <p:nvSpPr>
          <p:cNvPr id="606" name="s"/>
          <p:cNvSpPr/>
          <p:nvPr/>
        </p:nvSpPr>
        <p:spPr>
          <a:xfrm>
            <a:off x="5461000" y="1549400"/>
            <a:ext cx="59690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분석적 루브릭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다음 과제에 대한 분석적 루브릭을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과제: {과제 설명}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평가 항목: 정확성·논리적 구성·창의성·표현력·참고자료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수준: 우수(A 90~100)·양호(B 80~89)</a:t>
            </a:r>
          </a:p>
          <a:p>
            <a:pPr marL="0" indent="0" algn="l">
              <a:lnSpc>
                <a:spcPct val="150000"/>
              </a:lnSpc>
              <a:spcBef>
                <a:spcPts val="8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          보통(C 70~79)·미흡(D 60~69)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각 수준별 3줄 이내 구체적 기술어 포함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B56B20B6-8B86-8898-C13F-D63FAAEBAED3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26750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시험 문항 설계 · 객관식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5651500" cy="38100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객관식 10문항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'{교과목명}' {범위}에 대한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객관식 문제 10개를 출제해줘.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- 4지선다형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난이도: 하(3) · 중(5) · 상(2)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문항에 정답과 해설 포함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AI로 쉽게 풀 수 없는 적용·분석 수준 포함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5461000"/>
            <a:ext cx="5651500" cy="660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난이도별 세트 구성 · 학생 수준에 맞게 출제 범위 지정</a:t>
            </a:r>
          </a:p>
        </p:txBody>
      </p:sp>
      <p:sp>
        <p:nvSpPr>
          <p:cNvPr id="605" name="s"/>
          <p:cNvSpPr/>
          <p:nvPr/>
        </p:nvSpPr>
        <p:spPr>
          <a:xfrm>
            <a:off x="6667500" y="15494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난이도 분포 (10문항)</a:t>
            </a:r>
          </a:p>
        </p:txBody>
      </p:sp>
      <p:graphicFrame>
        <p:nvGraphicFramePr>
          <p:cNvPr id="151" name="Chart"/>
          <p:cNvGraphicFramePr/>
          <p:nvPr/>
        </p:nvGraphicFramePr>
        <p:xfrm>
          <a:off x="6667500" y="2032000"/>
          <a:ext cx="476250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accent">
            <a:extLst>
              <a:ext uri="{FF2B5EF4-FFF2-40B4-BE49-F238E27FC236}">
                <a16:creationId xmlns:a16="http://schemas.microsoft.com/office/drawing/2014/main" id="{DBAFA061-52E3-8995-1835-5FA0F8944198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55685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시험 문항 설계 · 서술형 (고차원 사고력)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56515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서술형 3문항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'{교과목명}' 기말 서술형 문항 3개를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설계해줘.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Bloom 분석·평가·창조 수준 (Anderson &amp; Krathwohl, 2001)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학생이 직접 사고해야 하는 문항(AI 복사 방지)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모범 답안과 채점 기준 포함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예상 분량: 각 문항 A4 반 페이지</a:t>
            </a:r>
          </a:p>
        </p:txBody>
      </p:sp>
      <p:sp>
        <p:nvSpPr>
          <p:cNvPr id="604" name="s"/>
          <p:cNvSpPr/>
          <p:nvPr/>
        </p:nvSpPr>
        <p:spPr>
          <a:xfrm>
            <a:off x="6667500" y="15494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핵심 전략</a:t>
            </a:r>
          </a:p>
        </p:txBody>
      </p:sp>
      <p:sp>
        <p:nvSpPr>
          <p:cNvPr id="605" name="s"/>
          <p:cNvSpPr/>
          <p:nvPr/>
        </p:nvSpPr>
        <p:spPr>
          <a:xfrm>
            <a:off x="6667500" y="2032000"/>
            <a:ext cx="4762500" cy="11430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수업 중 다룬 구체적 사례 포함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→ AI 단순 복사를 효과적으로 방지</a:t>
            </a:r>
          </a:p>
        </p:txBody>
      </p:sp>
      <p:sp>
        <p:nvSpPr>
          <p:cNvPr id="606" name="s"/>
          <p:cNvSpPr/>
          <p:nvPr/>
        </p:nvSpPr>
        <p:spPr>
          <a:xfrm>
            <a:off x="6667500" y="3276600"/>
            <a:ext cx="4762500" cy="1143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고차원적 사고력(HOTS) 평가가 관건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AI가 풀기 어려운 분석·종합형 문항 설계</a:t>
            </a:r>
          </a:p>
        </p:txBody>
      </p:sp>
      <p:sp>
        <p:nvSpPr>
          <p:cNvPr id="607" name="s"/>
          <p:cNvSpPr/>
          <p:nvPr/>
        </p:nvSpPr>
        <p:spPr>
          <a:xfrm>
            <a:off x="6667500" y="4521200"/>
            <a:ext cx="4762500" cy="1244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모범답안 + 채점기준 동시 확보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2B3245"/>
                </a:solidFill>
                <a:ea typeface="Noto Sans KR"/>
              </a:rPr>
              <a:t>채점 일관성과 피드백 효율을 함께 확보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A2E89B37-902F-F2EA-9A77-3DED8AA268C6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9687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900" b="1" dirty="0">
                <a:solidFill>
                  <a:srgbClr val="1B2A4A"/>
                </a:solidFill>
                <a:ea typeface="Noto Sans KR"/>
              </a:rPr>
              <a:t>공정성 확보 · AI 시대의 평가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4445000" cy="266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핵심 원칙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학생 고유 기여도를 평가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과정 중심 평가 · AI 포트폴리오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AI 탐지 도구의 한계 인지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4368800"/>
            <a:ext cx="4445000" cy="1397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AI 활용 로그(프롬프트 기록) 제출 </a:t>
            </a:r>
            <a:br>
              <a:rPr lang="en-US" altLang="ko-KR" sz="1350" dirty="0">
                <a:solidFill>
                  <a:srgbClr val="44537A"/>
                </a:solidFill>
              </a:rPr>
            </a:br>
            <a:r>
              <a:rPr lang="ko-KR" sz="1350" dirty="0">
                <a:solidFill>
                  <a:srgbClr val="44537A"/>
                </a:solidFill>
                <a:ea typeface="Noto Sans KR"/>
              </a:rPr>
              <a:t>→ 학습 과정 자체를 평가</a:t>
            </a:r>
          </a:p>
        </p:txBody>
      </p:sp>
      <p:sp>
        <p:nvSpPr>
          <p:cNvPr id="605" name="s"/>
          <p:cNvSpPr/>
          <p:nvPr/>
        </p:nvSpPr>
        <p:spPr>
          <a:xfrm>
            <a:off x="5461000" y="1549400"/>
            <a:ext cx="59690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AI 허용 과제 평가 기준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AI 활용을 허용한 과제의 평가 기준을 설계해줘.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 활용 과정 기록 (사용 프롬프트)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AI 출력물의 비판적 분석 및 수정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학생 고유 기여도 평가 방법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평가 비중: 활용 과정 30 · 분석/수정 40 · 결과물 30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2DCB2F53-46D5-A64B-1BD9-5EB92F93B6C0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91563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800" b="1" dirty="0">
                <a:solidFill>
                  <a:srgbClr val="1B2A4A"/>
                </a:solidFill>
                <a:ea typeface="Noto Sans KR"/>
              </a:rPr>
              <a:t>활용 사례 · 동료 평가 체크리스트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56515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팀 프로젝트 동료 평가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팀 프로젝트 동료 평가 체크리스트를 만들어줘.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항목: 기여도·협업 태도·의사소통·책임감·창의적 기여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- 5점 척도 (매우 부족 ~ 매우 우수)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각 항목에 평가 기준 설명 포함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서술형 의견란 2개 (잘한 점·개선할 점)</a:t>
            </a:r>
          </a:p>
        </p:txBody>
      </p:sp>
      <p:sp>
        <p:nvSpPr>
          <p:cNvPr id="604" name="s"/>
          <p:cNvSpPr/>
          <p:nvPr/>
        </p:nvSpPr>
        <p:spPr>
          <a:xfrm>
            <a:off x="6667500" y="1549400"/>
            <a:ext cx="4762500" cy="1524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공정성을 위해 자기평가(Self)도 함께 포함하세요.</a:t>
            </a:r>
          </a:p>
        </p:txBody>
      </p:sp>
      <p:sp>
        <p:nvSpPr>
          <p:cNvPr id="605" name="s"/>
          <p:cNvSpPr/>
          <p:nvPr/>
        </p:nvSpPr>
        <p:spPr>
          <a:xfrm>
            <a:off x="6667500" y="3200400"/>
            <a:ext cx="4762500" cy="25654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보너스 · 형성평가 퀴즈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수업 중 5분 퀴즈 프롬프트: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OX 2문항 + 단답형 2문항 + 주관식 1문항</a:t>
            </a:r>
          </a:p>
          <a:p>
            <a:pPr marL="216000" indent="-216000" algn="l">
              <a:lnSpc>
                <a:spcPct val="150000"/>
              </a:lnSpc>
              <a:spcBef>
                <a:spcPts val="1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5분 분량 · 정답과 해설 포함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1738A652-1212-2209-4456-E7C61B5A7385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76082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실습 ② · 평가 루브릭 프롬프트 작성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03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74800"/>
            <a:ext cx="10668000" cy="8890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과제 — 본인 교과목의 실제 과제 1개를 골라 ‘분석적 루브릭’ 프롬프트를 직접 작성해 보세요.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26924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3D6FE0"/>
                </a:solidFill>
                <a:ea typeface="Noto Sans KR"/>
              </a:rPr>
              <a:t>체크포인트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3149600"/>
            <a:ext cx="2514600" cy="7112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평가 항목 5개</a:t>
            </a:r>
          </a:p>
        </p:txBody>
      </p:sp>
      <p:sp>
        <p:nvSpPr>
          <p:cNvPr id="606" name="s"/>
          <p:cNvSpPr/>
          <p:nvPr/>
        </p:nvSpPr>
        <p:spPr>
          <a:xfrm>
            <a:off x="3429000" y="3149600"/>
            <a:ext cx="2514600" cy="7112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수준별 점수 구간</a:t>
            </a:r>
          </a:p>
        </p:txBody>
      </p:sp>
      <p:sp>
        <p:nvSpPr>
          <p:cNvPr id="607" name="s"/>
          <p:cNvSpPr/>
          <p:nvPr/>
        </p:nvSpPr>
        <p:spPr>
          <a:xfrm>
            <a:off x="6096000" y="3149600"/>
            <a:ext cx="2514600" cy="7112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구체적 기술어 요구</a:t>
            </a:r>
          </a:p>
        </p:txBody>
      </p:sp>
      <p:sp>
        <p:nvSpPr>
          <p:cNvPr id="608" name="s"/>
          <p:cNvSpPr/>
          <p:nvPr/>
        </p:nvSpPr>
        <p:spPr>
          <a:xfrm>
            <a:off x="8763000" y="3149600"/>
            <a:ext cx="2514600" cy="7112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☐ 출력 형식 (표)</a:t>
            </a:r>
          </a:p>
        </p:txBody>
      </p:sp>
      <p:sp>
        <p:nvSpPr>
          <p:cNvPr id="609" name="s"/>
          <p:cNvSpPr/>
          <p:nvPr/>
        </p:nvSpPr>
        <p:spPr>
          <a:xfrm>
            <a:off x="762000" y="4140200"/>
            <a:ext cx="10668000" cy="16256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심화 — 후속 질문으로 반복 개선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생성된 루브릭에 이어서 요청해 보세요:  “3번 항목의 평가 기준을 더 상세하게 작성해줘”</a:t>
            </a:r>
          </a:p>
          <a:p>
            <a:pPr marL="0" indent="0" algn="l">
              <a:lnSpc>
                <a:spcPct val="150000"/>
              </a:lnSpc>
              <a:spcBef>
                <a:spcPts val="250"/>
              </a:spcBef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결과를 확인하며 ‘더 구체적으로’, ‘표로 정리해줘’ 등으로 다듬어 완성도를 높입니다.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78F3B4FE-9657-BA5A-9E2D-71F4A1E85505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43546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t"/>
          <p:cNvSpPr/>
          <p:nvPr/>
        </p:nvSpPr>
        <p:spPr>
          <a:xfrm>
            <a:off x="7747000" y="762000"/>
            <a:ext cx="3810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50000"/>
              </a:lnSpc>
            </a:pPr>
            <a:r>
              <a:rPr lang="ko-KR" sz="4400" b="1" dirty="0">
                <a:solidFill>
                  <a:srgbClr val="33476E"/>
                </a:solidFill>
              </a:rPr>
              <a:t>04 / 06</a:t>
            </a:r>
          </a:p>
        </p:txBody>
      </p:sp>
      <p:sp>
        <p:nvSpPr>
          <p:cNvPr id="602" name="b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"/>
          <p:cNvSpPr/>
          <p:nvPr/>
        </p:nvSpPr>
        <p:spPr>
          <a:xfrm>
            <a:off x="1270000" y="2540000"/>
            <a:ext cx="9398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04 · 25분</a:t>
            </a:r>
          </a:p>
        </p:txBody>
      </p:sp>
      <p:sp>
        <p:nvSpPr>
          <p:cNvPr id="604" name="t"/>
          <p:cNvSpPr/>
          <p:nvPr/>
        </p:nvSpPr>
        <p:spPr>
          <a:xfrm>
            <a:off x="1244600" y="2946400"/>
            <a:ext cx="9906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3200" b="1" dirty="0">
                <a:solidFill>
                  <a:srgbClr val="FFFFFF"/>
                </a:solidFill>
                <a:ea typeface="Noto Sans KR"/>
              </a:rPr>
              <a:t>AI 활용 학생 피드백</a:t>
            </a:r>
          </a:p>
        </p:txBody>
      </p:sp>
      <p:sp>
        <p:nvSpPr>
          <p:cNvPr id="605" name="t"/>
          <p:cNvSpPr/>
          <p:nvPr/>
        </p:nvSpPr>
        <p:spPr>
          <a:xfrm>
            <a:off x="1270000" y="4419600"/>
            <a:ext cx="9906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피드백 원칙  →  대량 피드백 전략  →  실습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128E8992-F780-6385-B1C6-7B16B92B2816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52052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효과적인 피드백 원칙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04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4445000" cy="2540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피드백 3원칙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성장 마인드셋(Dweck, 2006) 기반 프레임워크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구체적·건설적·실행 가능하게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학생 수준·맥락 반영 개인화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4241800"/>
            <a:ext cx="4445000" cy="15240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3단 피드백 구성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3D6FE0"/>
                </a:solidFill>
                <a:ea typeface="Noto Sans KR"/>
              </a:rPr>
              <a:t>잘한 점  →  개선할 점  →  다음 단계  ·  피드백 </a:t>
            </a:r>
            <a:br>
              <a:rPr lang="en-US" altLang="ko-KR" sz="1450" b="1" dirty="0">
                <a:solidFill>
                  <a:srgbClr val="3D6FE0"/>
                </a:solidFill>
              </a:rPr>
            </a:br>
            <a:r>
              <a:rPr lang="ko-KR" sz="1450" b="1" dirty="0">
                <a:solidFill>
                  <a:srgbClr val="3D6FE0"/>
                </a:solidFill>
                <a:ea typeface="Noto Sans KR"/>
              </a:rPr>
              <a:t>3요소 모델 (Hattie &amp; Timperley, 2007)</a:t>
            </a:r>
          </a:p>
        </p:txBody>
      </p:sp>
      <p:sp>
        <p:nvSpPr>
          <p:cNvPr id="605" name="s"/>
          <p:cNvSpPr/>
          <p:nvPr/>
        </p:nvSpPr>
        <p:spPr>
          <a:xfrm>
            <a:off x="5461000" y="1549400"/>
            <a:ext cx="59690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성장 중심 피드백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다음 학생 과제에 대해 성장 중심 피드백을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과제 내용: {과제 내용 요약}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형식: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1) 잘한 점 (구체적 근거 2~3개)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2) 개선할 점 (건설적 제안 2~3개)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3) 다음 단계 (실행 가능한 조언 1~2개)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어투: 격려적·전문적, 존댓말 사용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45E4CEAE-0DF9-3AB4-B492-E55FE693A27C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19394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대량 피드백 전략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04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4445000" cy="2667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3D6FE0"/>
                </a:solidFill>
                <a:ea typeface="Noto Sans KR"/>
              </a:rPr>
              <a:t>핵심 전략</a:t>
            </a:r>
          </a:p>
          <a:p>
            <a:pPr marL="216000" indent="-216000" algn="l">
              <a:lnSpc>
                <a:spcPct val="150000"/>
              </a:lnSpc>
              <a:spcBef>
                <a:spcPts val="5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프롬프트 템플릿으로 일괄 생성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공통 피드백 + 개별 피드백 분리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피드백 톤·수준 조절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4368800"/>
            <a:ext cx="4445000" cy="1397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팁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50" dirty="0">
                <a:solidFill>
                  <a:srgbClr val="44537A"/>
                </a:solidFill>
                <a:ea typeface="Noto Sans KR"/>
              </a:rPr>
              <a:t>수준별 템플릿을 만들어두면 대량 피드백 시 </a:t>
            </a:r>
            <a:br>
              <a:rPr lang="en-US" altLang="ko-KR" sz="1350" dirty="0">
                <a:solidFill>
                  <a:srgbClr val="44537A"/>
                </a:solidFill>
              </a:rPr>
            </a:br>
            <a:r>
              <a:rPr lang="ko-KR" sz="1350" dirty="0">
                <a:solidFill>
                  <a:srgbClr val="44537A"/>
                </a:solidFill>
                <a:ea typeface="Noto Sans KR"/>
              </a:rPr>
              <a:t>효율적입니다.</a:t>
            </a:r>
          </a:p>
        </p:txBody>
      </p:sp>
      <p:sp>
        <p:nvSpPr>
          <p:cNvPr id="605" name="s"/>
          <p:cNvSpPr/>
          <p:nvPr/>
        </p:nvSpPr>
        <p:spPr>
          <a:xfrm>
            <a:off x="5461000" y="1549400"/>
            <a:ext cx="5969000" cy="4216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수준별 템플릿 5종</a:t>
            </a:r>
          </a:p>
          <a:p>
            <a:pPr marL="0" indent="0" algn="l">
              <a:lnSpc>
                <a:spcPct val="150000"/>
              </a:lnSpc>
              <a:spcBef>
                <a:spcPts val="4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학생 과제 피드백 템플릿 5개를 만들어줘.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우수(A): 강점 강조 + 심화 학습 제안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양호(B): 강점 + 구체적 개선점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보통(C): 개선점 + 단계별 개선 방법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미흡(D): 기본 개념 재학습 + 자원 안내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- 매우 미흡(F): 면담 권유 + 기초 자료 제공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25350E02-4ABA-E0E3-FF21-3053B8A6D2BF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46256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800" b="1" dirty="0">
                <a:solidFill>
                  <a:srgbClr val="1B2A4A"/>
                </a:solidFill>
                <a:ea typeface="Noto Sans KR"/>
              </a:rPr>
              <a:t>활용 사례 · 논문 / 보고서 피드백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04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5651500" cy="33020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학술 피드백</a:t>
            </a:r>
          </a:p>
          <a:p>
            <a:pPr marL="0" indent="0" algn="l">
              <a:lnSpc>
                <a:spcPct val="150000"/>
              </a:lnSpc>
              <a:spcBef>
                <a:spcPts val="4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다음 학생 연구보고서에 대해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학술적 피드백을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보고서 요약: {보고서 내용 요약}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→ 각 항목별 점수(1~5)와 코멘트 포함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4978400"/>
            <a:ext cx="5651500" cy="787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44537A"/>
                </a:solidFill>
                <a:ea typeface="Noto Sans KR"/>
              </a:rPr>
              <a:t>팁 — 학문 분야의 관행을 맥락에 포함하면 더 적절한 피드백</a:t>
            </a:r>
          </a:p>
        </p:txBody>
      </p:sp>
      <p:sp>
        <p:nvSpPr>
          <p:cNvPr id="605" name="s"/>
          <p:cNvSpPr/>
          <p:nvPr/>
        </p:nvSpPr>
        <p:spPr>
          <a:xfrm>
            <a:off x="6667500" y="1498600"/>
            <a:ext cx="47625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피드백 항목 5가지</a:t>
            </a:r>
          </a:p>
        </p:txBody>
      </p:sp>
      <p:sp>
        <p:nvSpPr>
          <p:cNvPr id="606" name="s"/>
          <p:cNvSpPr/>
          <p:nvPr/>
        </p:nvSpPr>
        <p:spPr>
          <a:xfrm>
            <a:off x="6667500" y="1930400"/>
            <a:ext cx="584200" cy="584200"/>
          </a:xfrm>
          <a:prstGeom prst="roundRect">
            <a:avLst>
              <a:gd name="adj" fmla="val 18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7" name="s"/>
          <p:cNvSpPr/>
          <p:nvPr/>
        </p:nvSpPr>
        <p:spPr>
          <a:xfrm>
            <a:off x="7340600" y="1930400"/>
            <a:ext cx="4089400" cy="584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연구 질문의 명확성</a:t>
            </a:r>
          </a:p>
        </p:txBody>
      </p:sp>
      <p:sp>
        <p:nvSpPr>
          <p:cNvPr id="608" name="s"/>
          <p:cNvSpPr/>
          <p:nvPr/>
        </p:nvSpPr>
        <p:spPr>
          <a:xfrm>
            <a:off x="6667500" y="2692400"/>
            <a:ext cx="584200" cy="584200"/>
          </a:xfrm>
          <a:prstGeom prst="roundRect">
            <a:avLst>
              <a:gd name="adj" fmla="val 18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9" name="s"/>
          <p:cNvSpPr/>
          <p:nvPr/>
        </p:nvSpPr>
        <p:spPr>
          <a:xfrm>
            <a:off x="7340600" y="2692400"/>
            <a:ext cx="4089400" cy="584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문헌 검토의 충실성</a:t>
            </a:r>
          </a:p>
        </p:txBody>
      </p:sp>
      <p:sp>
        <p:nvSpPr>
          <p:cNvPr id="610" name="s"/>
          <p:cNvSpPr/>
          <p:nvPr/>
        </p:nvSpPr>
        <p:spPr>
          <a:xfrm>
            <a:off x="6667500" y="3454400"/>
            <a:ext cx="584200" cy="584200"/>
          </a:xfrm>
          <a:prstGeom prst="roundRect">
            <a:avLst>
              <a:gd name="adj" fmla="val 18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1" name="s"/>
          <p:cNvSpPr/>
          <p:nvPr/>
        </p:nvSpPr>
        <p:spPr>
          <a:xfrm>
            <a:off x="7340600" y="3454400"/>
            <a:ext cx="4089400" cy="584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연구 방법의 적절성</a:t>
            </a:r>
          </a:p>
        </p:txBody>
      </p:sp>
      <p:sp>
        <p:nvSpPr>
          <p:cNvPr id="612" name="s"/>
          <p:cNvSpPr/>
          <p:nvPr/>
        </p:nvSpPr>
        <p:spPr>
          <a:xfrm>
            <a:off x="6667500" y="4216400"/>
            <a:ext cx="584200" cy="584200"/>
          </a:xfrm>
          <a:prstGeom prst="roundRect">
            <a:avLst>
              <a:gd name="adj" fmla="val 18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3" name="s"/>
          <p:cNvSpPr/>
          <p:nvPr/>
        </p:nvSpPr>
        <p:spPr>
          <a:xfrm>
            <a:off x="7340600" y="4216400"/>
            <a:ext cx="4089400" cy="584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분석·해석의 타당성</a:t>
            </a:r>
          </a:p>
        </p:txBody>
      </p:sp>
      <p:sp>
        <p:nvSpPr>
          <p:cNvPr id="614" name="s"/>
          <p:cNvSpPr/>
          <p:nvPr/>
        </p:nvSpPr>
        <p:spPr>
          <a:xfrm>
            <a:off x="6667500" y="4978400"/>
            <a:ext cx="584200" cy="584200"/>
          </a:xfrm>
          <a:prstGeom prst="roundRect">
            <a:avLst>
              <a:gd name="adj" fmla="val 18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5" name="s"/>
          <p:cNvSpPr/>
          <p:nvPr/>
        </p:nvSpPr>
        <p:spPr>
          <a:xfrm>
            <a:off x="7340600" y="4978400"/>
            <a:ext cx="4089400" cy="5842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1B2A4A"/>
                </a:solidFill>
                <a:ea typeface="Noto Sans KR"/>
              </a:rPr>
              <a:t>논리적 구성과 표현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E28759AD-D454-154C-B916-C47658DA3408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92187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900" b="1" dirty="0">
                <a:solidFill>
                  <a:srgbClr val="1B2A4A"/>
                </a:solidFill>
                <a:ea typeface="Noto Sans KR"/>
              </a:rPr>
              <a:t>활용 사례 · 발표 평가 피드백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27432" rIns="45720" bIns="27432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04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49400"/>
            <a:ext cx="5651500" cy="36322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5B8DEF"/>
                </a:solidFill>
                <a:ea typeface="Noto Sans KR"/>
              </a:rPr>
              <a:t>프롬프트 · 발표 피드백</a:t>
            </a:r>
          </a:p>
          <a:p>
            <a:pPr marL="0" indent="0" algn="l">
              <a:lnSpc>
                <a:spcPct val="150000"/>
              </a:lnSpc>
              <a:spcBef>
                <a:spcPts val="450"/>
              </a:spcBef>
              <a:buNone/>
            </a:pPr>
            <a:r>
              <a:rPr lang="ko-KR" sz="1350" dirty="0">
                <a:solidFill>
                  <a:srgbClr val="E6ECF7"/>
                </a:solidFill>
                <a:ea typeface="Noto Sans KR"/>
              </a:rPr>
              <a:t>학생 발표에 대한 피드백을 작성해줘.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발표 주제: {주제}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평가 항목: 아래 5개 항목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각 항목별 5점 척도 + 코멘트 포함</a:t>
            </a:r>
            <a:br>
              <a:rPr lang="en-US" altLang="ko-KR" sz="1300" dirty="0">
                <a:solidFill>
                  <a:srgbClr val="AFC4F0"/>
                </a:solidFill>
              </a:rPr>
            </a:br>
            <a:endParaRPr lang="ko-KR" sz="1300" dirty="0">
              <a:solidFill>
                <a:srgbClr val="AFC4F0"/>
              </a:solidFill>
            </a:endParaRP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9DB8F0"/>
                </a:solidFill>
                <a:ea typeface="Noto Sans KR"/>
              </a:rPr>
              <a:t>발표 중 메모한 핵심 포인트를 맥락에 포함</a:t>
            </a:r>
          </a:p>
        </p:txBody>
      </p:sp>
      <p:sp>
        <p:nvSpPr>
          <p:cNvPr id="604" name="s"/>
          <p:cNvSpPr/>
          <p:nvPr/>
        </p:nvSpPr>
        <p:spPr>
          <a:xfrm>
            <a:off x="6667500" y="1549400"/>
            <a:ext cx="47625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평가 항목 5</a:t>
            </a:r>
          </a:p>
        </p:txBody>
      </p:sp>
      <p:sp>
        <p:nvSpPr>
          <p:cNvPr id="605" name="e"/>
          <p:cNvSpPr/>
          <p:nvPr/>
        </p:nvSpPr>
        <p:spPr>
          <a:xfrm>
            <a:off x="6667500" y="1981200"/>
            <a:ext cx="381000" cy="3810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6" name="s"/>
          <p:cNvSpPr/>
          <p:nvPr/>
        </p:nvSpPr>
        <p:spPr>
          <a:xfrm>
            <a:off x="7150100" y="1981200"/>
            <a:ext cx="4279900" cy="381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내용의 전문성·정확성</a:t>
            </a:r>
          </a:p>
        </p:txBody>
      </p:sp>
      <p:sp>
        <p:nvSpPr>
          <p:cNvPr id="607" name="e"/>
          <p:cNvSpPr/>
          <p:nvPr/>
        </p:nvSpPr>
        <p:spPr>
          <a:xfrm>
            <a:off x="6667500" y="2616200"/>
            <a:ext cx="381000" cy="3810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8" name="s"/>
          <p:cNvSpPr/>
          <p:nvPr/>
        </p:nvSpPr>
        <p:spPr>
          <a:xfrm>
            <a:off x="7150100" y="2616200"/>
            <a:ext cx="4279900" cy="381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발표 구성과 흐름</a:t>
            </a:r>
          </a:p>
        </p:txBody>
      </p:sp>
      <p:sp>
        <p:nvSpPr>
          <p:cNvPr id="609" name="e"/>
          <p:cNvSpPr/>
          <p:nvPr/>
        </p:nvSpPr>
        <p:spPr>
          <a:xfrm>
            <a:off x="6667500" y="3251200"/>
            <a:ext cx="381000" cy="3810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0" name="s"/>
          <p:cNvSpPr/>
          <p:nvPr/>
        </p:nvSpPr>
        <p:spPr>
          <a:xfrm>
            <a:off x="7150100" y="3251200"/>
            <a:ext cx="4279900" cy="381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시각 자료(PPT) 품질</a:t>
            </a:r>
          </a:p>
        </p:txBody>
      </p:sp>
      <p:sp>
        <p:nvSpPr>
          <p:cNvPr id="611" name="e"/>
          <p:cNvSpPr/>
          <p:nvPr/>
        </p:nvSpPr>
        <p:spPr>
          <a:xfrm>
            <a:off x="6667500" y="3886200"/>
            <a:ext cx="381000" cy="3810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2" name="s"/>
          <p:cNvSpPr/>
          <p:nvPr/>
        </p:nvSpPr>
        <p:spPr>
          <a:xfrm>
            <a:off x="7150100" y="3886200"/>
            <a:ext cx="4279900" cy="381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전달력과 발표 태도</a:t>
            </a:r>
          </a:p>
        </p:txBody>
      </p:sp>
      <p:sp>
        <p:nvSpPr>
          <p:cNvPr id="613" name="e"/>
          <p:cNvSpPr/>
          <p:nvPr/>
        </p:nvSpPr>
        <p:spPr>
          <a:xfrm>
            <a:off x="6667500" y="4521200"/>
            <a:ext cx="381000" cy="3810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4" name="s"/>
          <p:cNvSpPr/>
          <p:nvPr/>
        </p:nvSpPr>
        <p:spPr>
          <a:xfrm>
            <a:off x="7150100" y="4521200"/>
            <a:ext cx="4279900" cy="3810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질의응답 대응</a:t>
            </a:r>
          </a:p>
        </p:txBody>
      </p:sp>
      <p:sp>
        <p:nvSpPr>
          <p:cNvPr id="615" name="s"/>
          <p:cNvSpPr/>
          <p:nvPr/>
        </p:nvSpPr>
        <p:spPr>
          <a:xfrm>
            <a:off x="762000" y="5308600"/>
            <a:ext cx="10668000" cy="7874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Few-shot 응용 — 예시 피드백 1개를 보여주고 "같은 형식으로" 요청하면 일관성을 확보할 수 있습니다.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71F15B54-5CBD-2B7B-07F5-39AAC0EB6ACE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7490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 실습 ③ · 학생 피드백 프롬프트 작성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04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74800"/>
            <a:ext cx="10668000" cy="8890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3D6FE0"/>
                </a:solidFill>
                <a:ea typeface="Noto Sans KR"/>
              </a:rPr>
              <a:t>과제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최근 채점한 과제 1건을 떠올려, 성장 중심 피드백 프롬프트를 직접 작성해 보세요.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26670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체크포인트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3175000"/>
            <a:ext cx="10668000" cy="635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2B3245"/>
                </a:solidFill>
                <a:ea typeface="Noto Sans KR"/>
              </a:rPr>
              <a:t>☐  과제 요약 입력</a:t>
            </a:r>
          </a:p>
        </p:txBody>
      </p:sp>
      <p:sp>
        <p:nvSpPr>
          <p:cNvPr id="606" name="s"/>
          <p:cNvSpPr/>
          <p:nvPr/>
        </p:nvSpPr>
        <p:spPr>
          <a:xfrm>
            <a:off x="762000" y="3937000"/>
            <a:ext cx="10668000" cy="635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2B3245"/>
                </a:solidFill>
                <a:ea typeface="Noto Sans KR"/>
              </a:rPr>
              <a:t>☐  3단 구성(잘한 점·개선점·다음 단계)</a:t>
            </a:r>
          </a:p>
        </p:txBody>
      </p:sp>
      <p:sp>
        <p:nvSpPr>
          <p:cNvPr id="607" name="s"/>
          <p:cNvSpPr/>
          <p:nvPr/>
        </p:nvSpPr>
        <p:spPr>
          <a:xfrm>
            <a:off x="762000" y="4699000"/>
            <a:ext cx="10668000" cy="635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6576" rIns="109728" bIns="36576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2B3245"/>
                </a:solidFill>
                <a:ea typeface="Noto Sans KR"/>
              </a:rPr>
              <a:t>☐  어투 지정(격려·존댓말)</a:t>
            </a:r>
          </a:p>
        </p:txBody>
      </p:sp>
      <p:sp>
        <p:nvSpPr>
          <p:cNvPr id="608" name="s"/>
          <p:cNvSpPr/>
          <p:nvPr/>
        </p:nvSpPr>
        <p:spPr>
          <a:xfrm>
            <a:off x="762000" y="5562600"/>
            <a:ext cx="10668000" cy="812800"/>
          </a:xfrm>
          <a:prstGeom prst="roundRect">
            <a:avLst>
              <a:gd name="adj" fmla="val 8"/>
            </a:avLst>
          </a:prstGeom>
          <a:solidFill>
            <a:srgbClr val="E2E8F4"/>
          </a:solidFill>
          <a:ln w="12700">
            <a:solidFill>
              <a:srgbClr val="7C8DB5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3F4F7A"/>
                </a:solidFill>
                <a:ea typeface="Noto Sans KR"/>
              </a:rPr>
              <a:t>⚠  주의 — 학생 실명·학번 등 개인정보는 입력하지 마세요. 반드시 익명화하여 사용합니다.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8F34B66D-4511-0A50-9448-7C7541E5241D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2655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t"/>
          <p:cNvSpPr/>
          <p:nvPr/>
        </p:nvSpPr>
        <p:spPr>
          <a:xfrm>
            <a:off x="7747000" y="762000"/>
            <a:ext cx="3810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50000"/>
              </a:lnSpc>
            </a:pPr>
            <a:r>
              <a:rPr lang="ko-KR" sz="4400" b="1" dirty="0">
                <a:solidFill>
                  <a:srgbClr val="33476E"/>
                </a:solidFill>
              </a:rPr>
              <a:t>05 / 06</a:t>
            </a:r>
          </a:p>
        </p:txBody>
      </p:sp>
      <p:sp>
        <p:nvSpPr>
          <p:cNvPr id="602" name="b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"/>
          <p:cNvSpPr/>
          <p:nvPr/>
        </p:nvSpPr>
        <p:spPr>
          <a:xfrm>
            <a:off x="1270000" y="2540000"/>
            <a:ext cx="9398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05 · 15분</a:t>
            </a:r>
          </a:p>
        </p:txBody>
      </p:sp>
      <p:sp>
        <p:nvSpPr>
          <p:cNvPr id="604" name="t"/>
          <p:cNvSpPr/>
          <p:nvPr/>
        </p:nvSpPr>
        <p:spPr>
          <a:xfrm>
            <a:off x="1244600" y="2946400"/>
            <a:ext cx="10160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3200" b="1" dirty="0">
                <a:solidFill>
                  <a:srgbClr val="FFFFFF"/>
                </a:solidFill>
                <a:ea typeface="Noto Sans KR"/>
              </a:rPr>
              <a:t>프롬프트 엔지니어링 핵심</a:t>
            </a:r>
          </a:p>
        </p:txBody>
      </p:sp>
      <p:sp>
        <p:nvSpPr>
          <p:cNvPr id="605" name="t"/>
          <p:cNvSpPr/>
          <p:nvPr/>
        </p:nvSpPr>
        <p:spPr>
          <a:xfrm>
            <a:off x="1270000" y="44196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프롬프트 5요소  →  핵심 기법 4가지  →  SCORE 평가 모델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CCACB9FF-8A13-53B5-D516-A238C79D1FC5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82962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프롬프트란 무엇인가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27432" rIns="45720" bIns="27432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625600"/>
            <a:ext cx="10668000" cy="1473200"/>
          </a:xfrm>
          <a:prstGeom prst="roundRect">
            <a:avLst>
              <a:gd name="adj" fmla="val 8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100" b="1" dirty="0">
                <a:solidFill>
                  <a:srgbClr val="FFFFFF"/>
                </a:solidFill>
                <a:ea typeface="Noto Sans KR"/>
              </a:rPr>
              <a:t>프롬프트 = AI에게 보내는 지시문 · 질문 · 요청</a:t>
            </a:r>
          </a:p>
          <a:p>
            <a:pPr marL="0" indent="0" algn="ctr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550" dirty="0">
                <a:solidFill>
                  <a:srgbClr val="AFC4F0"/>
                </a:solidFill>
                <a:ea typeface="Noto Sans KR"/>
              </a:rPr>
              <a:t>AI와 소통하는 인터페이스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3327400"/>
            <a:ext cx="10668000" cy="7874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1B2A4A"/>
                </a:solidFill>
                <a:ea typeface="Noto Sans KR"/>
              </a:rPr>
              <a:t>핵심 원칙 — 프롬프트의 품질이 곧 AI 응답의 품질을 결정합니다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3688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좋은 프롬프트 =</a:t>
            </a:r>
          </a:p>
        </p:txBody>
      </p:sp>
      <p:sp>
        <p:nvSpPr>
          <p:cNvPr id="606" name="s"/>
          <p:cNvSpPr/>
          <p:nvPr/>
        </p:nvSpPr>
        <p:spPr>
          <a:xfrm>
            <a:off x="1524000" y="4851400"/>
            <a:ext cx="2667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명확한 지시</a:t>
            </a:r>
          </a:p>
        </p:txBody>
      </p:sp>
      <p:sp>
        <p:nvSpPr>
          <p:cNvPr id="607" name="s"/>
          <p:cNvSpPr/>
          <p:nvPr/>
        </p:nvSpPr>
        <p:spPr>
          <a:xfrm>
            <a:off x="4191000" y="4851400"/>
            <a:ext cx="50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400" b="1" dirty="0">
                <a:solidFill>
                  <a:srgbClr val="3D6FE0"/>
                </a:solidFill>
              </a:rPr>
              <a:t>+</a:t>
            </a:r>
          </a:p>
        </p:txBody>
      </p:sp>
      <p:sp>
        <p:nvSpPr>
          <p:cNvPr id="608" name="s"/>
          <p:cNvSpPr/>
          <p:nvPr/>
        </p:nvSpPr>
        <p:spPr>
          <a:xfrm>
            <a:off x="4699000" y="4851400"/>
            <a:ext cx="2667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충분한 맥락</a:t>
            </a:r>
          </a:p>
        </p:txBody>
      </p:sp>
      <p:sp>
        <p:nvSpPr>
          <p:cNvPr id="609" name="s"/>
          <p:cNvSpPr/>
          <p:nvPr/>
        </p:nvSpPr>
        <p:spPr>
          <a:xfrm>
            <a:off x="7366000" y="4851400"/>
            <a:ext cx="50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2400" b="1" dirty="0">
                <a:solidFill>
                  <a:srgbClr val="3D6FE0"/>
                </a:solidFill>
              </a:rPr>
              <a:t>+</a:t>
            </a:r>
          </a:p>
        </p:txBody>
      </p:sp>
      <p:sp>
        <p:nvSpPr>
          <p:cNvPr id="610" name="s"/>
          <p:cNvSpPr/>
          <p:nvPr/>
        </p:nvSpPr>
        <p:spPr>
          <a:xfrm>
            <a:off x="7874000" y="4851400"/>
            <a:ext cx="2667000" cy="914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원하는 출력 형식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6DB0F9DE-3E8B-A7D0-F885-AD5774404264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30037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lnSpc>
                <a:spcPct val="150000"/>
              </a:lnSpc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프롬프트 구성 5요소</a:t>
            </a:r>
          </a:p>
        </p:txBody>
      </p:sp>
      <p:sp>
        <p:nvSpPr>
          <p:cNvPr id="601" name="t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602" name="t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lnSpc>
                <a:spcPct val="150000"/>
              </a:lnSpc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graphicFrame>
        <p:nvGraphicFramePr>
          <p:cNvPr id="603" name="tbl"/>
          <p:cNvGraphicFramePr/>
          <p:nvPr/>
        </p:nvGraphicFramePr>
        <p:xfrm>
          <a:off x="762000" y="1600200"/>
          <a:ext cx="10668000" cy="42926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요소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설명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50" b="1" dirty="0">
                          <a:solidFill>
                            <a:srgbClr val="FFFFFF"/>
                          </a:solidFill>
                          <a:ea typeface="Noto Sans KR"/>
                        </a:rPr>
                        <a:t>예시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3D6FE0"/>
                          </a:solidFill>
                          <a:ea typeface="Noto Sans KR"/>
                        </a:rPr>
                        <a:t>① 역할 (Role)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전문가 역할 부여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250" dirty="0">
                          <a:solidFill>
                            <a:srgbClr val="2B3245"/>
                          </a:solidFill>
                          <a:ea typeface="Noto Sans KR"/>
                        </a:rPr>
                        <a:t>"너는 20년 경력의 대학 교수이자 교육과정 설계 전문가야"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3D6FE0"/>
                          </a:solidFill>
                          <a:ea typeface="Noto Sans KR"/>
                        </a:rPr>
                        <a:t>② 맥락 (Context)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배경 정보·상황 설명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250" dirty="0">
                          <a:solidFill>
                            <a:srgbClr val="2B3245"/>
                          </a:solidFill>
                          <a:ea typeface="Noto Sans KR"/>
                        </a:rPr>
                        <a:t>"우리 대학은 공학 중심 종합대학. '데이터사이언스'는 학부 2학년 대상"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3D6FE0"/>
                          </a:solidFill>
                          <a:ea typeface="Noto Sans KR"/>
                        </a:rPr>
                        <a:t>③ 지시 (Instruction)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구체적 작업 명시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250" dirty="0">
                          <a:solidFill>
                            <a:srgbClr val="2B3245"/>
                          </a:solidFill>
                          <a:ea typeface="Noto Sans KR"/>
                        </a:rPr>
                        <a:t>"보고서를 분석하고 강점·개선점·개선 방법을 포함한 피드백 작성"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3D6FE0"/>
                          </a:solidFill>
                          <a:ea typeface="Noto Sans KR"/>
                        </a:rPr>
                        <a:t>④ 형식 (Format)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출력 형식 지정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250" dirty="0">
                          <a:solidFill>
                            <a:srgbClr val="2B3245"/>
                          </a:solidFill>
                          <a:ea typeface="Noto Sans KR"/>
                        </a:rPr>
                        <a:t>"표 형식으로. 항목: 주차·주제·학습목표·학습활동"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3D6FE0"/>
                          </a:solidFill>
                          <a:ea typeface="Noto Sans KR"/>
                        </a:rPr>
                        <a:t>⑤ 예시 (Example)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dirty="0">
                          <a:solidFill>
                            <a:srgbClr val="2B3245"/>
                          </a:solidFill>
                          <a:ea typeface="Noto Sans KR"/>
                        </a:rPr>
                        <a:t>원하는 결과 예시 제공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250" dirty="0">
                          <a:solidFill>
                            <a:srgbClr val="2B3245"/>
                          </a:solidFill>
                          <a:ea typeface="Noto Sans KR"/>
                        </a:rPr>
                        <a:t>"다음 예시처럼 루브릭을 작성해줘: [예시]…"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accent">
            <a:extLst>
              <a:ext uri="{FF2B5EF4-FFF2-40B4-BE49-F238E27FC236}">
                <a16:creationId xmlns:a16="http://schemas.microsoft.com/office/drawing/2014/main" id="{34629122-5776-44B5-065E-85CA5AF8D706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4482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핵심 기법 ①② · Zero-shot &amp; Few-shot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6576" rIns="45720" bIns="36576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6576" rIns="45720" bIns="36576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3810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3D6FE0"/>
                </a:solidFill>
              </a:rPr>
              <a:t>① Zero-shot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예시 없이 직접 질문</a:t>
            </a:r>
          </a:p>
        </p:txBody>
      </p:sp>
      <p:sp>
        <p:nvSpPr>
          <p:cNvPr id="604" name="s"/>
          <p:cNvSpPr/>
          <p:nvPr/>
        </p:nvSpPr>
        <p:spPr>
          <a:xfrm>
            <a:off x="990600" y="2667000"/>
            <a:ext cx="4622800" cy="24130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300" b="1" dirty="0">
                <a:solidFill>
                  <a:srgbClr val="5B8DEF"/>
                </a:solidFill>
                <a:ea typeface="Noto Sans KR"/>
              </a:rPr>
              <a:t>예시</a:t>
            </a:r>
          </a:p>
          <a:p>
            <a:pPr marL="0" indent="0" algn="l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sz="1400" dirty="0">
                <a:solidFill>
                  <a:srgbClr val="E6ECF7"/>
                </a:solidFill>
                <a:ea typeface="Noto Sans KR"/>
              </a:rPr>
              <a:t>학부 3학년 '운영체제' 중간고사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400" dirty="0">
                <a:solidFill>
                  <a:srgbClr val="E6ECF7"/>
                </a:solidFill>
                <a:ea typeface="Noto Sans KR"/>
              </a:rPr>
              <a:t>문제 5개를 만들어줘.</a:t>
            </a:r>
          </a:p>
        </p:txBody>
      </p:sp>
      <p:sp>
        <p:nvSpPr>
          <p:cNvPr id="605" name="s"/>
          <p:cNvSpPr/>
          <p:nvPr/>
        </p:nvSpPr>
        <p:spPr>
          <a:xfrm>
            <a:off x="6350000" y="1524000"/>
            <a:ext cx="5080000" cy="4572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800" b="1" dirty="0">
                <a:solidFill>
                  <a:srgbClr val="3D6FE0"/>
                </a:solidFill>
              </a:rPr>
              <a:t>② Few-shot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50" dirty="0">
                <a:solidFill>
                  <a:srgbClr val="2B3245"/>
                </a:solidFill>
                <a:ea typeface="Noto Sans KR"/>
              </a:rPr>
              <a:t>예시 2~5개로 패턴을 학습시킴</a:t>
            </a:r>
          </a:p>
        </p:txBody>
      </p:sp>
      <p:sp>
        <p:nvSpPr>
          <p:cNvPr id="606" name="s"/>
          <p:cNvSpPr/>
          <p:nvPr/>
        </p:nvSpPr>
        <p:spPr>
          <a:xfrm>
            <a:off x="6578600" y="2667000"/>
            <a:ext cx="4622800" cy="32512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300" b="1" dirty="0">
                <a:solidFill>
                  <a:srgbClr val="5B8DEF"/>
                </a:solidFill>
                <a:ea typeface="Noto Sans KR"/>
              </a:rPr>
              <a:t>예시처럼 학생 피드백을 작성해줘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E6ECF7"/>
                </a:solidFill>
                <a:ea typeface="Noto Sans KR"/>
              </a:rPr>
              <a:t>[예시 1] 학생: 김OO · 알고리즘 보고서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250" dirty="0">
                <a:solidFill>
                  <a:srgbClr val="AFC4F0"/>
                </a:solidFill>
                <a:ea typeface="Noto Sans KR"/>
              </a:rPr>
              <a:t>잘한 점: 시간 복잡도 분석이 정확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250" dirty="0">
                <a:solidFill>
                  <a:srgbClr val="AFC4F0"/>
                </a:solidFill>
                <a:ea typeface="Noto Sans KR"/>
              </a:rPr>
              <a:t>개선점: 공간 복잡도 분석 누락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250" dirty="0">
                <a:solidFill>
                  <a:srgbClr val="AFC4F0"/>
                </a:solidFill>
                <a:ea typeface="Noto Sans KR"/>
              </a:rPr>
              <a:t>권장: 다음 과제에서 함께 분석</a:t>
            </a:r>
          </a:p>
          <a:p>
            <a:pPr marL="0" indent="0" algn="l">
              <a:lnSpc>
                <a:spcPct val="150000"/>
              </a:lnSpc>
              <a:spcBef>
                <a:spcPts val="250"/>
              </a:spcBef>
              <a:buNone/>
            </a:pPr>
            <a:r>
              <a:rPr lang="ko-KR" sz="1300" dirty="0">
                <a:solidFill>
                  <a:srgbClr val="9DB8F0"/>
                </a:solidFill>
                <a:ea typeface="Noto Sans KR"/>
              </a:rPr>
              <a:t>→ 다음 학생도 같은 형식으로 작성해줘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36940A55-5A12-3655-F0F6-62034E6FA2CD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70551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500" b="1" dirty="0">
                <a:solidFill>
                  <a:srgbClr val="1B2A4A"/>
                </a:solidFill>
                <a:ea typeface="Noto Sans KR"/>
              </a:rPr>
              <a:t>핵심 기법 ③④ · Chain-of-Thought &amp; 반복 개선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27432" rIns="45720" bIns="27432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4986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  <a:ea typeface="Noto Sans KR"/>
              </a:rPr>
              <a:t>③ Chain-of-Thought · 단계별 사고</a:t>
            </a:r>
          </a:p>
        </p:txBody>
      </p:sp>
      <p:sp>
        <p:nvSpPr>
          <p:cNvPr id="604" name="s"/>
          <p:cNvSpPr/>
          <p:nvPr/>
        </p:nvSpPr>
        <p:spPr>
          <a:xfrm>
            <a:off x="762000" y="2057400"/>
            <a:ext cx="5334000" cy="3708400"/>
          </a:xfrm>
          <a:prstGeom prst="roundRect">
            <a:avLst>
              <a:gd name="adj" fmla="val 6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5B8DEF"/>
                </a:solidFill>
                <a:ea typeface="Noto Sans KR"/>
              </a:rPr>
              <a:t>프롬프트 · 단계별 분석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300" dirty="0">
                <a:solidFill>
                  <a:srgbClr val="E6ECF7"/>
                </a:solidFill>
                <a:ea typeface="Noto Sans KR"/>
              </a:rPr>
              <a:t>학문적 정직성 확보 방안을 단계별로 분석해줘.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Step 1: 현재 문제점 분석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Step 2: 해외 대학 사례 조사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Step 3: 적용 가능한 정책 도출</a:t>
            </a:r>
          </a:p>
          <a:p>
            <a:pPr marL="0" indent="0" algn="l">
              <a:lnSpc>
                <a:spcPct val="150000"/>
              </a:lnSpc>
              <a:spcBef>
                <a:spcPts val="120"/>
              </a:spcBef>
              <a:buNone/>
            </a:pPr>
            <a:r>
              <a:rPr lang="ko-KR" sz="1300" dirty="0">
                <a:solidFill>
                  <a:srgbClr val="AFC4F0"/>
                </a:solidFill>
                <a:ea typeface="Noto Sans KR"/>
              </a:rPr>
              <a:t>Step 4: 실행 계획 수립</a:t>
            </a:r>
          </a:p>
        </p:txBody>
      </p:sp>
      <p:sp>
        <p:nvSpPr>
          <p:cNvPr id="605" name="s"/>
          <p:cNvSpPr/>
          <p:nvPr/>
        </p:nvSpPr>
        <p:spPr>
          <a:xfrm>
            <a:off x="6350000" y="1498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4572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  <a:ea typeface="Noto Sans KR"/>
              </a:rPr>
              <a:t>④ 반복 개선 · Iterative</a:t>
            </a:r>
          </a:p>
        </p:txBody>
      </p:sp>
      <p:sp>
        <p:nvSpPr>
          <p:cNvPr id="606" name="s"/>
          <p:cNvSpPr/>
          <p:nvPr/>
        </p:nvSpPr>
        <p:spPr>
          <a:xfrm>
            <a:off x="6350000" y="2057400"/>
            <a:ext cx="5080000" cy="8890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첫 답변 후, 후속 질문으로 결과를 다듬어 갑니다.</a:t>
            </a:r>
          </a:p>
        </p:txBody>
      </p:sp>
      <p:sp>
        <p:nvSpPr>
          <p:cNvPr id="607" name="s"/>
          <p:cNvSpPr/>
          <p:nvPr/>
        </p:nvSpPr>
        <p:spPr>
          <a:xfrm>
            <a:off x="6350000" y="3073400"/>
            <a:ext cx="5080000" cy="584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"더 구체적으로"</a:t>
            </a:r>
          </a:p>
        </p:txBody>
      </p:sp>
      <p:sp>
        <p:nvSpPr>
          <p:cNvPr id="608" name="s"/>
          <p:cNvSpPr/>
          <p:nvPr/>
        </p:nvSpPr>
        <p:spPr>
          <a:xfrm>
            <a:off x="6350000" y="3759200"/>
            <a:ext cx="5080000" cy="584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"학생 수준에 맞게 쉽게"</a:t>
            </a:r>
          </a:p>
        </p:txBody>
      </p:sp>
      <p:sp>
        <p:nvSpPr>
          <p:cNvPr id="609" name="s"/>
          <p:cNvSpPr/>
          <p:nvPr/>
        </p:nvSpPr>
        <p:spPr>
          <a:xfrm>
            <a:off x="6350000" y="4445000"/>
            <a:ext cx="5080000" cy="584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"표로 정리해줘"</a:t>
            </a:r>
          </a:p>
        </p:txBody>
      </p:sp>
      <p:sp>
        <p:nvSpPr>
          <p:cNvPr id="610" name="s"/>
          <p:cNvSpPr/>
          <p:nvPr/>
        </p:nvSpPr>
        <p:spPr>
          <a:xfrm>
            <a:off x="6350000" y="5130800"/>
            <a:ext cx="5080000" cy="584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09728" tIns="27432" rIns="109728" bIns="27432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"3번 항목 기준을 더 상세하게"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EDC87811-3EAC-6E65-8A26-A7086435E783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75109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36576" bIns="18288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900" b="1" dirty="0">
                <a:solidFill>
                  <a:srgbClr val="1B2A4A"/>
                </a:solidFill>
                <a:ea typeface="Noto Sans KR"/>
              </a:rPr>
              <a:t>SCORE · 프롬프트 품질 평가 모델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45720" tIns="18288" rIns="36576" bIns="18288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36576" bIns="18288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graphicFrame>
        <p:nvGraphicFramePr>
          <p:cNvPr id="603" name="tbl"/>
          <p:cNvGraphicFramePr/>
          <p:nvPr/>
        </p:nvGraphicFramePr>
        <p:xfrm>
          <a:off x="762000" y="1549400"/>
          <a:ext cx="10668000" cy="31242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FFFFFF"/>
                          </a:solidFill>
                          <a:ea typeface="Noto Sans KR"/>
                        </a:rPr>
                        <a:t>기준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FFFFFF"/>
                          </a:solidFill>
                          <a:ea typeface="Noto Sans KR"/>
                        </a:rPr>
                        <a:t>약자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FFFFFF"/>
                          </a:solidFill>
                          <a:ea typeface="Noto Sans KR"/>
                        </a:rPr>
                        <a:t>평가 내용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400" b="1" dirty="0">
                          <a:solidFill>
                            <a:srgbClr val="FFFFFF"/>
                          </a:solidFill>
                          <a:ea typeface="Noto Sans KR"/>
                        </a:rPr>
                        <a:t>배점</a:t>
                      </a:r>
                    </a:p>
                  </a:txBody>
                  <a:tcPr marL="137160" marR="13716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구체성 (Specificity)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3D6FE0"/>
                          </a:solidFill>
                        </a:rPr>
                        <a:t>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요청이 구체적이고 명확한가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20점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맥락 (Context)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3D6FE0"/>
                          </a:solidFill>
                        </a:rPr>
                        <a:t>C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충분한 배경 정보를 제공했는가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20점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출력지정 (Output)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3D6FE0"/>
                          </a:solidFill>
                        </a:rPr>
                        <a:t>O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원하는 결과 형식을 명시했는가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20점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역할부여 (Role)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3D6FE0"/>
                          </a:solidFill>
                        </a:rPr>
                        <a:t>R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적절한 전문가 역할을 지정했는가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20점</a:t>
                      </a:r>
                    </a:p>
                  </a:txBody>
                  <a:tcPr marL="137160" marR="137160" anchor="ctr">
                    <a:solidFill>
                      <a:srgbClr val="F1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1B2A4A"/>
                          </a:solidFill>
                          <a:ea typeface="Noto Sans KR"/>
                        </a:rPr>
                        <a:t>효과성 (Effectiveness)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b="1" dirty="0">
                          <a:solidFill>
                            <a:srgbClr val="3D6FE0"/>
                          </a:solidFill>
                        </a:rPr>
                        <a:t>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실제로 원하는 결과를 얻었는가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sz="1350" dirty="0">
                          <a:solidFill>
                            <a:srgbClr val="2B3245"/>
                          </a:solidFill>
                          <a:ea typeface="Noto Sans KR"/>
                        </a:rPr>
                        <a:t>20점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4" name="s"/>
          <p:cNvSpPr/>
          <p:nvPr/>
        </p:nvSpPr>
        <p:spPr>
          <a:xfrm>
            <a:off x="762000" y="5181600"/>
            <a:ext cx="2032000" cy="787400"/>
          </a:xfrm>
          <a:prstGeom prst="roundRect">
            <a:avLst>
              <a:gd name="adj" fmla="val 10"/>
            </a:avLst>
          </a:prstGeom>
          <a:solidFill>
            <a:srgbClr val="3D6FE0"/>
          </a:solidFill>
          <a:ln>
            <a:noFill/>
          </a:ln>
        </p:spPr>
        <p:txBody>
          <a:bodyPr wrap="square" lIns="91440" tIns="64008" rIns="91440" bIns="6400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900" b="1" dirty="0">
                <a:solidFill>
                  <a:srgbClr val="FFFFFF"/>
                </a:solidFill>
              </a:rPr>
              <a:t>S</a:t>
            </a:r>
          </a:p>
          <a:p>
            <a:pPr marL="0" indent="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lang="ko-KR" sz="1250" dirty="0">
                <a:solidFill>
                  <a:srgbClr val="D6E4FF"/>
                </a:solidFill>
                <a:ea typeface="Noto Sans KR"/>
              </a:rPr>
              <a:t>90–100 탁월</a:t>
            </a:r>
          </a:p>
        </p:txBody>
      </p:sp>
      <p:sp>
        <p:nvSpPr>
          <p:cNvPr id="605" name="s"/>
          <p:cNvSpPr/>
          <p:nvPr/>
        </p:nvSpPr>
        <p:spPr>
          <a:xfrm>
            <a:off x="2921000" y="5181600"/>
            <a:ext cx="2032000" cy="787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91440" tIns="64008" rIns="91440" bIns="6400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900" b="1" dirty="0">
                <a:solidFill>
                  <a:srgbClr val="3D6FE0"/>
                </a:solidFill>
              </a:rPr>
              <a:t>A</a:t>
            </a:r>
          </a:p>
          <a:p>
            <a:pPr marL="0" indent="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lang="ko-KR" sz="1250" dirty="0">
                <a:solidFill>
                  <a:srgbClr val="2B3245"/>
                </a:solidFill>
                <a:ea typeface="Noto Sans KR"/>
              </a:rPr>
              <a:t>80–89 우수</a:t>
            </a:r>
          </a:p>
        </p:txBody>
      </p:sp>
      <p:sp>
        <p:nvSpPr>
          <p:cNvPr id="606" name="s"/>
          <p:cNvSpPr/>
          <p:nvPr/>
        </p:nvSpPr>
        <p:spPr>
          <a:xfrm>
            <a:off x="5080000" y="5181600"/>
            <a:ext cx="2032000" cy="787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91440" tIns="64008" rIns="91440" bIns="6400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900" b="1" dirty="0">
                <a:solidFill>
                  <a:srgbClr val="3D6FE0"/>
                </a:solidFill>
              </a:rPr>
              <a:t>B</a:t>
            </a:r>
          </a:p>
          <a:p>
            <a:pPr marL="0" indent="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lang="ko-KR" sz="1250" dirty="0">
                <a:solidFill>
                  <a:srgbClr val="2B3245"/>
                </a:solidFill>
                <a:ea typeface="Noto Sans KR"/>
              </a:rPr>
              <a:t>70–79 보통</a:t>
            </a:r>
          </a:p>
        </p:txBody>
      </p:sp>
      <p:sp>
        <p:nvSpPr>
          <p:cNvPr id="607" name="s"/>
          <p:cNvSpPr/>
          <p:nvPr/>
        </p:nvSpPr>
        <p:spPr>
          <a:xfrm>
            <a:off x="7239000" y="5181600"/>
            <a:ext cx="2032000" cy="787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91440" tIns="64008" rIns="91440" bIns="6400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900" b="1" dirty="0">
                <a:solidFill>
                  <a:srgbClr val="3D6FE0"/>
                </a:solidFill>
              </a:rPr>
              <a:t>C</a:t>
            </a:r>
          </a:p>
          <a:p>
            <a:pPr marL="0" indent="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lang="ko-KR" sz="1250" dirty="0">
                <a:solidFill>
                  <a:srgbClr val="2B3245"/>
                </a:solidFill>
                <a:ea typeface="Noto Sans KR"/>
              </a:rPr>
              <a:t>60–69 미흡</a:t>
            </a:r>
          </a:p>
        </p:txBody>
      </p:sp>
      <p:sp>
        <p:nvSpPr>
          <p:cNvPr id="608" name="s"/>
          <p:cNvSpPr/>
          <p:nvPr/>
        </p:nvSpPr>
        <p:spPr>
          <a:xfrm>
            <a:off x="9398000" y="5181600"/>
            <a:ext cx="2032000" cy="787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91440" tIns="64008" rIns="91440" bIns="6400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900" b="1" dirty="0">
                <a:solidFill>
                  <a:srgbClr val="3D6FE0"/>
                </a:solidFill>
              </a:rPr>
              <a:t>D</a:t>
            </a:r>
          </a:p>
          <a:p>
            <a:pPr marL="0" indent="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lang="ko-KR" sz="1250" dirty="0">
                <a:solidFill>
                  <a:srgbClr val="2B3245"/>
                </a:solidFill>
                <a:ea typeface="Noto Sans KR"/>
              </a:rPr>
              <a:t>0–59 부족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251CEFE1-1BFD-5102-B5C2-FF3071AA25D3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ourceNote">
            <a:extLst>
              <a:ext uri="{FF2B5EF4-FFF2-40B4-BE49-F238E27FC236}">
                <a16:creationId xmlns:a16="http://schemas.microsoft.com/office/drawing/2014/main" id="{21667511-344D-2D47-B36A-38505A4A95A5}"/>
              </a:ext>
            </a:extLst>
          </p:cNvPr>
          <p:cNvSpPr txBox="1"/>
          <p:nvPr/>
        </p:nvSpPr>
        <p:spPr>
          <a:xfrm>
            <a:off x="762000" y="6045200"/>
            <a:ext cx="914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1400" i="1">
                <a:solidFill>
                  <a:srgbClr val="8A94A6"/>
                </a:solidFill>
              </a:rPr>
              <a:t>SCORE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는 </a:t>
            </a:r>
            <a:r>
              <a:rPr lang="en-US" altLang="ko-KR" sz="1400" i="1">
                <a:solidFill>
                  <a:srgbClr val="8A94A6"/>
                </a:solidFill>
              </a:rPr>
              <a:t>DreamIT Biz</a:t>
            </a:r>
            <a:r>
              <a:rPr lang="ko-KR" altLang="en-US" sz="1400" i="1">
                <a:solidFill>
                  <a:srgbClr val="8A94A6"/>
                </a:solidFill>
                <a:ea typeface="Noto Sans KR"/>
              </a:rPr>
              <a:t>가 개발한 프롬프트 품질 자체 평가 모델</a:t>
            </a:r>
          </a:p>
        </p:txBody>
      </p:sp>
      <p:sp>
        <p:nvSpPr>
          <p:cNvPr id="60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43444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SCORE 채점 실례 · 같은 주제, 극적인 차이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2616200"/>
          </a:xfrm>
          <a:prstGeom prst="roundRect">
            <a:avLst>
              <a:gd name="adj" fmla="val 8"/>
            </a:avLst>
          </a:prstGeom>
          <a:solidFill>
            <a:srgbClr val="E2E8F4"/>
          </a:solidFill>
          <a:ln w="12700">
            <a:solidFill>
              <a:srgbClr val="7C8DB5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F4F7A"/>
                </a:solidFill>
                <a:ea typeface="Noto Sans KR"/>
              </a:rPr>
              <a:t>Before · 26점 (D등급)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400" i="1" dirty="0">
                <a:solidFill>
                  <a:srgbClr val="2B3245"/>
                </a:solidFill>
                <a:ea typeface="Noto Sans KR"/>
              </a:rPr>
              <a:t>"React로 할 일 목록 앱 만들어줘"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ko-KR" sz="1450" b="1" dirty="0">
                <a:solidFill>
                  <a:srgbClr val="3F4F7A"/>
                </a:solidFill>
              </a:rPr>
              <a:t>S 8 · C 4 · O 6 · R 0 · E 8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300" dirty="0">
                <a:solidFill>
                  <a:srgbClr val="5B6B8C"/>
                </a:solidFill>
                <a:ea typeface="Noto Sans KR"/>
              </a:rPr>
              <a:t>역할·맥락·형식 모두 누락</a:t>
            </a:r>
          </a:p>
        </p:txBody>
      </p:sp>
      <p:sp>
        <p:nvSpPr>
          <p:cNvPr id="604" name="s"/>
          <p:cNvSpPr/>
          <p:nvPr/>
        </p:nvSpPr>
        <p:spPr>
          <a:xfrm>
            <a:off x="6350000" y="1524000"/>
            <a:ext cx="5080000" cy="2616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1E5BC6"/>
                </a:solidFill>
                <a:ea typeface="Noto Sans KR"/>
              </a:rPr>
              <a:t>After · 83점 (A등급)</a:t>
            </a:r>
          </a:p>
          <a:p>
            <a:pPr marL="0" indent="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sz="1300" i="1" dirty="0">
                <a:solidFill>
                  <a:srgbClr val="2B3245"/>
                </a:solidFill>
                <a:ea typeface="Noto Sans KR"/>
              </a:rPr>
              <a:t>"시니어 React 개발자로서, TS+상태관리로 할 일 앱을 만들어줘. 기능: 추가/삭제/완료/필터. 컴포넌트 분리 명시…"</a:t>
            </a:r>
          </a:p>
          <a:p>
            <a:pPr marL="0" indent="0" algn="l">
              <a:lnSpc>
                <a:spcPct val="150000"/>
              </a:lnSpc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1E5BC6"/>
                </a:solidFill>
              </a:rPr>
              <a:t>S 18 · C 14 · O 16 · R 18 · E 17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3D6FE0"/>
                </a:solidFill>
                <a:ea typeface="Noto Sans KR"/>
              </a:rPr>
              <a:t>역할·맥락·형식·예시 완비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292600"/>
            <a:ext cx="10668000" cy="838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E5BC6"/>
                </a:solidFill>
                <a:ea typeface="Noto Sans KR"/>
              </a:rPr>
              <a:t>다른 주제 예시 · 94점 (S등급)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"당신은 영양학 전문가입니다. 30대 직장인 1주일 점심 식단을 표로, 1끼 8,000원·600kcal 이하" — 역할·대상·형식·제약 완비</a:t>
            </a:r>
          </a:p>
        </p:txBody>
      </p:sp>
      <p:sp>
        <p:nvSpPr>
          <p:cNvPr id="606" name="s"/>
          <p:cNvSpPr/>
          <p:nvPr/>
        </p:nvSpPr>
        <p:spPr>
          <a:xfrm>
            <a:off x="762000" y="5257800"/>
            <a:ext cx="10668000" cy="787400"/>
          </a:xfrm>
          <a:prstGeom prst="roundRect">
            <a:avLst>
              <a:gd name="adj" fmla="val 8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FFFFFF"/>
                </a:solidFill>
                <a:ea typeface="Noto Sans KR"/>
              </a:rPr>
              <a:t>같은 주제라도 프롬프트 품질에 따라 결과물 수준이 극적으로 달라집니다.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855D7A26-DF08-1EE1-99B4-B494D8FAB164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86979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18288" rIns="45720" bIns="18288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프롬프트 작성 체크리스트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18288" rIns="45720" bIns="18288" anchor="ctr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18288" rIns="45720" bIns="18288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05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목적이 명확한가?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무엇을 얻고 싶은지 한 문장으로</a:t>
            </a:r>
          </a:p>
        </p:txBody>
      </p:sp>
      <p:sp>
        <p:nvSpPr>
          <p:cNvPr id="604" name="s"/>
          <p:cNvSpPr/>
          <p:nvPr/>
        </p:nvSpPr>
        <p:spPr>
          <a:xfrm>
            <a:off x="6096000" y="15240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맥락이 충분한가?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배경 · 대상 · 용도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26416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제약 조건이 있는가?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글자 수 · 형식 · 스타일</a:t>
            </a:r>
          </a:p>
        </p:txBody>
      </p:sp>
      <p:sp>
        <p:nvSpPr>
          <p:cNvPr id="606" name="s"/>
          <p:cNvSpPr/>
          <p:nvPr/>
        </p:nvSpPr>
        <p:spPr>
          <a:xfrm>
            <a:off x="6096000" y="26416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출력 형식을 지정했는가?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표 · 목록 · 보고서</a:t>
            </a:r>
          </a:p>
        </p:txBody>
      </p:sp>
      <p:sp>
        <p:nvSpPr>
          <p:cNvPr id="607" name="s"/>
          <p:cNvSpPr/>
          <p:nvPr/>
        </p:nvSpPr>
        <p:spPr>
          <a:xfrm>
            <a:off x="762000" y="37592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예시를 제공했는가?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원하는 결과 형태를 보여주기</a:t>
            </a:r>
          </a:p>
        </p:txBody>
      </p:sp>
      <p:sp>
        <p:nvSpPr>
          <p:cNvPr id="608" name="s"/>
          <p:cNvSpPr/>
          <p:nvPr/>
        </p:nvSpPr>
        <p:spPr>
          <a:xfrm>
            <a:off x="6096000" y="3759200"/>
            <a:ext cx="5080000" cy="9906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☐ 한 번에 하나의 작업만?</a:t>
            </a:r>
          </a:p>
          <a:p>
            <a:pPr marL="0" indent="0" algn="l">
              <a:lnSpc>
                <a:spcPct val="150000"/>
              </a:lnSpc>
              <a:spcBef>
                <a:spcPts val="150"/>
              </a:spcBef>
              <a:buNone/>
            </a:pPr>
            <a:r>
              <a:rPr lang="ko-KR" sz="1300" dirty="0">
                <a:solidFill>
                  <a:srgbClr val="5A6678"/>
                </a:solidFill>
                <a:ea typeface="Noto Sans KR"/>
              </a:rPr>
              <a:t>복합 작업은 분리하여 요청</a:t>
            </a:r>
          </a:p>
        </p:txBody>
      </p:sp>
      <p:sp>
        <p:nvSpPr>
          <p:cNvPr id="609" name="s"/>
          <p:cNvSpPr/>
          <p:nvPr/>
        </p:nvSpPr>
        <p:spPr>
          <a:xfrm>
            <a:off x="762000" y="5003800"/>
            <a:ext cx="10668000" cy="1016000"/>
          </a:xfrm>
          <a:prstGeom prst="roundRect">
            <a:avLst>
              <a:gd name="adj" fmla="val 8"/>
            </a:avLst>
          </a:prstGeom>
          <a:solidFill>
            <a:srgbClr val="1B2A4A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  <a:ea typeface="Noto Sans KR"/>
              </a:rPr>
              <a:t>프롬프트 작성은 "한 번에 완벽하게"가 아니라 "반복적으로 개선"하는 과정 </a:t>
            </a:r>
            <a:endParaRPr lang="en-US" altLang="ko-KR" sz="1500" b="1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  <a:ea typeface="Noto Sans KR"/>
              </a:rPr>
              <a:t>— 타고나는 능력이 아니라 반복 연습으로 향상됩니다.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3293C949-46EA-7298-FF29-139C0171F92D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73273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t"/>
          <p:cNvSpPr/>
          <p:nvPr/>
        </p:nvSpPr>
        <p:spPr>
          <a:xfrm>
            <a:off x="7747000" y="762000"/>
            <a:ext cx="3810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50000"/>
              </a:lnSpc>
            </a:pPr>
            <a:r>
              <a:rPr lang="ko-KR" sz="4400" b="1" dirty="0">
                <a:solidFill>
                  <a:srgbClr val="33476E"/>
                </a:solidFill>
              </a:rPr>
              <a:t>06 / 06</a:t>
            </a:r>
          </a:p>
        </p:txBody>
      </p:sp>
      <p:sp>
        <p:nvSpPr>
          <p:cNvPr id="602" name="b"/>
          <p:cNvSpPr/>
          <p:nvPr/>
        </p:nvSpPr>
        <p:spPr>
          <a:xfrm>
            <a:off x="1016000" y="2540000"/>
            <a:ext cx="76200" cy="19050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"/>
          <p:cNvSpPr/>
          <p:nvPr/>
        </p:nvSpPr>
        <p:spPr>
          <a:xfrm>
            <a:off x="1270000" y="2540000"/>
            <a:ext cx="9398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5B8DEF"/>
                </a:solidFill>
                <a:ea typeface="Noto Sans KR"/>
              </a:rPr>
              <a:t>SESSION 06 · 10분</a:t>
            </a:r>
          </a:p>
        </p:txBody>
      </p:sp>
      <p:sp>
        <p:nvSpPr>
          <p:cNvPr id="604" name="t"/>
          <p:cNvSpPr/>
          <p:nvPr/>
        </p:nvSpPr>
        <p:spPr>
          <a:xfrm>
            <a:off x="1244600" y="2946400"/>
            <a:ext cx="10160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3000" b="1" dirty="0">
                <a:solidFill>
                  <a:srgbClr val="FFFFFF"/>
                </a:solidFill>
                <a:ea typeface="Noto Sans KR"/>
              </a:rPr>
              <a:t>DreamIT Biz 추가 학습 안내</a:t>
            </a:r>
          </a:p>
        </p:txBody>
      </p:sp>
      <p:sp>
        <p:nvSpPr>
          <p:cNvPr id="605" name="t"/>
          <p:cNvSpPr/>
          <p:nvPr/>
        </p:nvSpPr>
        <p:spPr>
          <a:xfrm>
            <a:off x="1270000" y="44196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</a:pPr>
            <a:r>
              <a:rPr lang="ko-KR" sz="1600" dirty="0">
                <a:solidFill>
                  <a:srgbClr val="AFC4F0"/>
                </a:solidFill>
                <a:ea typeface="Noto Sans KR"/>
              </a:rPr>
              <a:t>전용 학습 플랫폼  →  자가 학습 로드맵  →  마무리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DD951498-C9F7-0A21-15FA-A09F7B47AE62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5273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482600"/>
            <a:ext cx="660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57150" tIns="27432" rIns="3810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교수자 학습 플랫폼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1938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57150" tIns="27432" rIns="38100" bIns="27432" anchor="t"/>
          <a:lstStyle/>
          <a:p>
            <a:endParaRPr/>
          </a:p>
        </p:txBody>
      </p:sp>
      <p:sp>
        <p:nvSpPr>
          <p:cNvPr id="604" name="s"/>
          <p:cNvSpPr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57150" tIns="27432" rIns="3810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50" b="1" dirty="0">
                <a:solidFill>
                  <a:srgbClr val="5B7C99"/>
                </a:solidFill>
                <a:ea typeface="Noto Sans KR"/>
              </a:rPr>
              <a:t>교수자 대상 맞춤 플랫폼(기관별 운영) · 교육 종료 후에도 지속 접근 가능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18542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①  커리큘럼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2시간 · 6세션 구성</a:t>
            </a:r>
          </a:p>
        </p:txBody>
      </p:sp>
      <p:sp>
        <p:nvSpPr>
          <p:cNvPr id="606" name="s"/>
          <p:cNvSpPr/>
          <p:nvPr/>
        </p:nvSpPr>
        <p:spPr>
          <a:xfrm>
            <a:off x="4381500" y="18542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②  학습 자료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세션별 강의노트</a:t>
            </a:r>
          </a:p>
        </p:txBody>
      </p:sp>
      <p:sp>
        <p:nvSpPr>
          <p:cNvPr id="607" name="s"/>
          <p:cNvSpPr/>
          <p:nvPr/>
        </p:nvSpPr>
        <p:spPr>
          <a:xfrm>
            <a:off x="8001000" y="18542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③  프롬프트 학습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교수용 가이드</a:t>
            </a:r>
          </a:p>
        </p:txBody>
      </p:sp>
      <p:sp>
        <p:nvSpPr>
          <p:cNvPr id="608" name="s"/>
          <p:cNvSpPr/>
          <p:nvPr/>
        </p:nvSpPr>
        <p:spPr>
          <a:xfrm>
            <a:off x="762000" y="30226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④  프롬프트 사례 24선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6개 카테고리</a:t>
            </a:r>
          </a:p>
        </p:txBody>
      </p:sp>
      <p:sp>
        <p:nvSpPr>
          <p:cNvPr id="609" name="s"/>
          <p:cNvSpPr/>
          <p:nvPr/>
        </p:nvSpPr>
        <p:spPr>
          <a:xfrm>
            <a:off x="4381500" y="30226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⑤  프롬프트 평가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작성 평가 + 250점 테스트</a:t>
            </a:r>
          </a:p>
        </p:txBody>
      </p:sp>
      <p:sp>
        <p:nvSpPr>
          <p:cNvPr id="610" name="s"/>
          <p:cNvSpPr/>
          <p:nvPr/>
        </p:nvSpPr>
        <p:spPr>
          <a:xfrm>
            <a:off x="8001000" y="3022600"/>
            <a:ext cx="3429000" cy="10668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3D6FE0"/>
                </a:solidFill>
                <a:ea typeface="Noto Sans KR"/>
              </a:rPr>
              <a:t>⑥  추천 사이트</a:t>
            </a:r>
          </a:p>
          <a:p>
            <a:pPr marL="0" indent="0" algn="l">
              <a:lnSpc>
                <a:spcPct val="15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2B3245"/>
                </a:solidFill>
                <a:ea typeface="Noto Sans KR"/>
              </a:rPr>
              <a:t>엄선 AI 리소스</a:t>
            </a:r>
          </a:p>
        </p:txBody>
      </p:sp>
      <p:sp>
        <p:nvSpPr>
          <p:cNvPr id="611" name="s"/>
          <p:cNvSpPr/>
          <p:nvPr/>
        </p:nvSpPr>
        <p:spPr>
          <a:xfrm>
            <a:off x="762000" y="42926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57150" tIns="27432" rIns="38100" bIns="27432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  <a:ea typeface="Noto Sans KR"/>
              </a:rPr>
              <a:t>프롬프트 사례 · 6개 카테고리</a:t>
            </a:r>
          </a:p>
        </p:txBody>
      </p:sp>
      <p:sp>
        <p:nvSpPr>
          <p:cNvPr id="612" name="s"/>
          <p:cNvSpPr/>
          <p:nvPr/>
        </p:nvSpPr>
        <p:spPr>
          <a:xfrm>
            <a:off x="762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강의계획서</a:t>
            </a:r>
          </a:p>
        </p:txBody>
      </p:sp>
      <p:sp>
        <p:nvSpPr>
          <p:cNvPr id="613" name="s"/>
          <p:cNvSpPr/>
          <p:nvPr/>
        </p:nvSpPr>
        <p:spPr>
          <a:xfrm>
            <a:off x="2540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평가·시험</a:t>
            </a:r>
          </a:p>
        </p:txBody>
      </p:sp>
      <p:sp>
        <p:nvSpPr>
          <p:cNvPr id="614" name="s"/>
          <p:cNvSpPr/>
          <p:nvPr/>
        </p:nvSpPr>
        <p:spPr>
          <a:xfrm>
            <a:off x="4318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학생 피드백</a:t>
            </a:r>
          </a:p>
        </p:txBody>
      </p:sp>
      <p:sp>
        <p:nvSpPr>
          <p:cNvPr id="615" name="s"/>
          <p:cNvSpPr/>
          <p:nvPr/>
        </p:nvSpPr>
        <p:spPr>
          <a:xfrm>
            <a:off x="6096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강의 자료</a:t>
            </a:r>
          </a:p>
        </p:txBody>
      </p:sp>
      <p:sp>
        <p:nvSpPr>
          <p:cNvPr id="616" name="s"/>
          <p:cNvSpPr/>
          <p:nvPr/>
        </p:nvSpPr>
        <p:spPr>
          <a:xfrm>
            <a:off x="7874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연구·논문</a:t>
            </a:r>
          </a:p>
        </p:txBody>
      </p:sp>
      <p:sp>
        <p:nvSpPr>
          <p:cNvPr id="617" name="s"/>
          <p:cNvSpPr/>
          <p:nvPr/>
        </p:nvSpPr>
        <p:spPr>
          <a:xfrm>
            <a:off x="9652000" y="4724400"/>
            <a:ext cx="1651000" cy="584200"/>
          </a:xfrm>
          <a:prstGeom prst="roundRect">
            <a:avLst>
              <a:gd name="adj" fmla="val 10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57150" tIns="27432" rIns="38100" bIns="27432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350" b="1" dirty="0">
                <a:solidFill>
                  <a:srgbClr val="1B2A4A"/>
                </a:solidFill>
                <a:ea typeface="Noto Sans KR"/>
              </a:rPr>
              <a:t>행정·기타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9089A923-01DB-001F-6FEE-6A22463E38E7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0678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2700" b="1" dirty="0">
                <a:solidFill>
                  <a:srgbClr val="1B2A4A"/>
                </a:solidFill>
                <a:ea typeface="Noto Sans KR"/>
              </a:rPr>
              <a:t>자가 학습 로드맵 · 학습 → 평가 → 인증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06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29464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3D6FE0"/>
                </a:solidFill>
                <a:ea typeface="Noto Sans KR"/>
              </a:rPr>
              <a:t>STEP 1 · 프롬프트 작성 평가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6개 시나리오 중 선택 (자유·마케팅·코드리뷰·학습자료·데이터분석·이메일)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SCORE 기준 자동 채점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수정하며 점수 변화 확인</a:t>
            </a:r>
          </a:p>
        </p:txBody>
      </p:sp>
      <p:sp>
        <p:nvSpPr>
          <p:cNvPr id="604" name="s"/>
          <p:cNvSpPr/>
          <p:nvPr/>
        </p:nvSpPr>
        <p:spPr>
          <a:xfrm>
            <a:off x="6350000" y="1524000"/>
            <a:ext cx="5080000" cy="2946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50" b="1" dirty="0">
                <a:solidFill>
                  <a:srgbClr val="1B2A4A"/>
                </a:solidFill>
                <a:ea typeface="Noto Sans KR"/>
              </a:rPr>
              <a:t>STEP 2 · 종합 실습 테스트 (250점)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선택형 퀴즈 10문항 (100점)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프롬프트 등급 판정 5문항 (50점)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직접 작성 5문항 (100점)</a:t>
            </a:r>
          </a:p>
          <a:p>
            <a:pPr marL="216000" indent="-216000" algn="l">
              <a:lnSpc>
                <a:spcPct val="15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영역별 정답률 + 맞춤 학습 추천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622800"/>
            <a:ext cx="2032000" cy="660400"/>
          </a:xfrm>
          <a:prstGeom prst="roundRect">
            <a:avLst>
              <a:gd name="adj" fmla="val 10"/>
            </a:avLst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FFFFFF"/>
                </a:solidFill>
              </a:rPr>
              <a:t>S  225+</a:t>
            </a:r>
          </a:p>
        </p:txBody>
      </p:sp>
      <p:sp>
        <p:nvSpPr>
          <p:cNvPr id="606" name="s"/>
          <p:cNvSpPr/>
          <p:nvPr/>
        </p:nvSpPr>
        <p:spPr>
          <a:xfrm>
            <a:off x="2921000" y="4622800"/>
            <a:ext cx="2032000" cy="660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</a:rPr>
              <a:t>A  200+</a:t>
            </a:r>
          </a:p>
        </p:txBody>
      </p:sp>
      <p:sp>
        <p:nvSpPr>
          <p:cNvPr id="607" name="s"/>
          <p:cNvSpPr/>
          <p:nvPr/>
        </p:nvSpPr>
        <p:spPr>
          <a:xfrm>
            <a:off x="5080000" y="4622800"/>
            <a:ext cx="2032000" cy="660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</a:rPr>
              <a:t>B  175+</a:t>
            </a:r>
          </a:p>
        </p:txBody>
      </p:sp>
      <p:sp>
        <p:nvSpPr>
          <p:cNvPr id="608" name="s"/>
          <p:cNvSpPr/>
          <p:nvPr/>
        </p:nvSpPr>
        <p:spPr>
          <a:xfrm>
            <a:off x="7239000" y="4622800"/>
            <a:ext cx="2032000" cy="660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</a:rPr>
              <a:t>C  150+</a:t>
            </a:r>
          </a:p>
        </p:txBody>
      </p:sp>
      <p:sp>
        <p:nvSpPr>
          <p:cNvPr id="609" name="s"/>
          <p:cNvSpPr/>
          <p:nvPr/>
        </p:nvSpPr>
        <p:spPr>
          <a:xfrm>
            <a:off x="9398000" y="4622800"/>
            <a:ext cx="2032000" cy="660400"/>
          </a:xfrm>
          <a:prstGeom prst="roundRect">
            <a:avLst>
              <a:gd name="adj" fmla="val 10"/>
            </a:avLst>
          </a:prstGeom>
          <a:solidFill>
            <a:srgbClr val="F1F3F9"/>
          </a:solidFill>
          <a:ln>
            <a:noFill/>
          </a:ln>
        </p:spPr>
        <p:txBody>
          <a:bodyPr wrap="square" lIns="64008" tIns="32004" rIns="45720" bIns="32004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1B2A4A"/>
                </a:solidFill>
              </a:rPr>
              <a:t>D  –</a:t>
            </a:r>
          </a:p>
        </p:txBody>
      </p:sp>
      <p:sp>
        <p:nvSpPr>
          <p:cNvPr id="610" name="s"/>
          <p:cNvSpPr/>
          <p:nvPr/>
        </p:nvSpPr>
        <p:spPr>
          <a:xfrm>
            <a:off x="762000" y="5435600"/>
            <a:ext cx="10668000" cy="660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09728" tIns="32004" rIns="109728" bIns="32004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1B2A4A"/>
                </a:solidFill>
                <a:ea typeface="Noto Sans KR"/>
              </a:rPr>
              <a:t>로그인하면 점수가 저장되고 성장 추이를 확인할 수 있습니다.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68FFB432-0CE1-E5BE-46F8-59ACBC50F191}"/>
              </a:ext>
            </a:extLst>
          </p:cNvPr>
          <p:cNvSpPr/>
          <p:nvPr/>
        </p:nvSpPr>
        <p:spPr>
          <a:xfrm>
            <a:off x="0" y="0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66528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추천 AI 도구 &amp; 리소스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32004" rIns="45720" bIns="32004" anchor="t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32004" rIns="45720" bIns="32004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06 / 06</a:t>
            </a:r>
          </a:p>
        </p:txBody>
      </p:sp>
      <p:sp>
        <p:nvSpPr>
          <p:cNvPr id="603" name="s"/>
          <p:cNvSpPr/>
          <p:nvPr/>
        </p:nvSpPr>
        <p:spPr>
          <a:xfrm>
            <a:off x="762000" y="1524000"/>
            <a:ext cx="5080000" cy="19812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AI 서비스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</a:rPr>
              <a:t>ChatGPT · Claude · Gemini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Copilot(M365) · Genspark · Perplexity(출처 표시)</a:t>
            </a:r>
          </a:p>
        </p:txBody>
      </p:sp>
      <p:sp>
        <p:nvSpPr>
          <p:cNvPr id="604" name="s"/>
          <p:cNvSpPr/>
          <p:nvPr/>
        </p:nvSpPr>
        <p:spPr>
          <a:xfrm>
            <a:off x="6096000" y="1524000"/>
            <a:ext cx="5080000" cy="19812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교육 도구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Gamma(프레젠테이션) · Canva AI(인포그래픽)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DeepL(논문 번역) · Notion AI(강의 노트)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3657600"/>
            <a:ext cx="5080000" cy="1981200"/>
          </a:xfrm>
          <a:prstGeom prst="roundRect">
            <a:avLst>
              <a:gd name="adj" fmla="val 8"/>
            </a:avLst>
          </a:prstGeom>
          <a:solidFill>
            <a:srgbClr val="EAF0FC"/>
          </a:solidFill>
          <a:ln w="12700">
            <a:solidFill>
              <a:srgbClr val="3D6FE0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3D6FE0"/>
                </a:solidFill>
                <a:ea typeface="Noto Sans KR"/>
              </a:rPr>
              <a:t>FactChat · 대학 도입형 플랫폼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여러 AI 모델 · 시험 출제·논문 분석·발표 설계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스튜디오/스토어 · 이미지 생성 → 소속 대학 도입 여부 확인</a:t>
            </a:r>
          </a:p>
        </p:txBody>
      </p:sp>
      <p:sp>
        <p:nvSpPr>
          <p:cNvPr id="606" name="s"/>
          <p:cNvSpPr/>
          <p:nvPr/>
        </p:nvSpPr>
        <p:spPr>
          <a:xfrm>
            <a:off x="6096000" y="3657600"/>
            <a:ext cx="5080000" cy="19812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b="1" dirty="0">
                <a:solidFill>
                  <a:srgbClr val="1B2A4A"/>
                </a:solidFill>
                <a:ea typeface="Noto Sans KR"/>
              </a:rPr>
              <a:t>DreamIT Biz 계열</a:t>
            </a:r>
          </a:p>
          <a:p>
            <a:pPr marL="216000" indent="-216000" algn="l">
              <a:lnSpc>
                <a:spcPct val="150000"/>
              </a:lnSpc>
              <a:spcBef>
                <a:spcPts val="4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AI 프롬프트 교육 · ChatGPT 활용 · AI 코딩</a:t>
            </a:r>
          </a:p>
          <a:p>
            <a:pPr marL="216000" indent="-216000" algn="l">
              <a:lnSpc>
                <a:spcPct val="150000"/>
              </a:lnSpc>
              <a:spcBef>
                <a:spcPts val="250"/>
              </a:spcBef>
              <a:buFont typeface="Arial"/>
              <a:buChar char="•"/>
            </a:pPr>
            <a:r>
              <a:rPr lang="ko-KR" sz="1400" dirty="0">
                <a:solidFill>
                  <a:srgbClr val="2B3245"/>
                </a:solidFill>
                <a:ea typeface="Noto Sans KR"/>
              </a:rPr>
              <a:t>PyMaster 파이썬 · AHP 연구 플랫폼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59A8F4F4-1A40-91E1-CB7F-342533FAB9E5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16330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18288" rIns="45720" bIns="18288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3000" b="1" dirty="0">
                <a:solidFill>
                  <a:srgbClr val="1B2A4A"/>
                </a:solidFill>
                <a:ea typeface="Noto Sans KR"/>
              </a:rPr>
              <a:t>핵심 요약 · Take-aways</a:t>
            </a:r>
          </a:p>
        </p:txBody>
      </p:sp>
      <p:sp>
        <p:nvSpPr>
          <p:cNvPr id="601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64008" tIns="18288" rIns="45720" bIns="18288" anchor="ctr"/>
          <a:lstStyle/>
          <a:p>
            <a:endParaRPr/>
          </a:p>
        </p:txBody>
      </p:sp>
      <p:sp>
        <p:nvSpPr>
          <p:cNvPr id="602" name="s"/>
          <p:cNvSpPr/>
          <p:nvPr/>
        </p:nvSpPr>
        <p:spPr>
          <a:xfrm>
            <a:off x="10160000" y="584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18288" rIns="45720" bIns="18288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sz="1500" b="1" dirty="0">
                <a:solidFill>
                  <a:srgbClr val="8A94A6"/>
                </a:solidFill>
              </a:rPr>
              <a:t>06 / 06</a:t>
            </a:r>
          </a:p>
        </p:txBody>
      </p:sp>
      <p:sp>
        <p:nvSpPr>
          <p:cNvPr id="603" name="e"/>
          <p:cNvSpPr/>
          <p:nvPr/>
        </p:nvSpPr>
        <p:spPr>
          <a:xfrm>
            <a:off x="762000" y="1676400"/>
            <a:ext cx="584200" cy="5842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4" name="s"/>
          <p:cNvSpPr/>
          <p:nvPr/>
        </p:nvSpPr>
        <p:spPr>
          <a:xfrm>
            <a:off x="1524000" y="1574800"/>
            <a:ext cx="9906000" cy="787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AI는 교수 업무의 보조 도구 — 최종 판단과 검증은 교수자의 몫</a:t>
            </a:r>
          </a:p>
        </p:txBody>
      </p:sp>
      <p:sp>
        <p:nvSpPr>
          <p:cNvPr id="605" name="e"/>
          <p:cNvSpPr/>
          <p:nvPr/>
        </p:nvSpPr>
        <p:spPr>
          <a:xfrm>
            <a:off x="762000" y="2565400"/>
            <a:ext cx="584200" cy="5842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6" name="s"/>
          <p:cNvSpPr/>
          <p:nvPr/>
        </p:nvSpPr>
        <p:spPr>
          <a:xfrm>
            <a:off x="1524000" y="2463800"/>
            <a:ext cx="9906000" cy="787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좋은 결과 = 좋은 프롬프트: 역할+맥락+지시+형식+예시 (5요소)</a:t>
            </a:r>
          </a:p>
        </p:txBody>
      </p:sp>
      <p:sp>
        <p:nvSpPr>
          <p:cNvPr id="607" name="e"/>
          <p:cNvSpPr/>
          <p:nvPr/>
        </p:nvSpPr>
        <p:spPr>
          <a:xfrm>
            <a:off x="762000" y="3454400"/>
            <a:ext cx="584200" cy="5842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8" name="s"/>
          <p:cNvSpPr/>
          <p:nvPr/>
        </p:nvSpPr>
        <p:spPr>
          <a:xfrm>
            <a:off x="1524000" y="3352800"/>
            <a:ext cx="9906000" cy="787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강의계획서·평가·피드백 — 오늘 실습한 프롬프트를 내일 바로 적용</a:t>
            </a:r>
          </a:p>
        </p:txBody>
      </p:sp>
      <p:sp>
        <p:nvSpPr>
          <p:cNvPr id="609" name="e"/>
          <p:cNvSpPr/>
          <p:nvPr/>
        </p:nvSpPr>
        <p:spPr>
          <a:xfrm>
            <a:off x="762000" y="4343400"/>
            <a:ext cx="584200" cy="5842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0" name="s"/>
          <p:cNvSpPr/>
          <p:nvPr/>
        </p:nvSpPr>
        <p:spPr>
          <a:xfrm>
            <a:off x="1524000" y="4241800"/>
            <a:ext cx="9906000" cy="787400"/>
          </a:xfrm>
          <a:prstGeom prst="roundRect">
            <a:avLst>
              <a:gd name="adj" fmla="val 8"/>
            </a:avLst>
          </a:prstGeom>
          <a:solidFill>
            <a:srgbClr val="F1F3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SCORE로 내 프롬프트를 점검하고, 반복 개선으로 다듬기</a:t>
            </a:r>
          </a:p>
        </p:txBody>
      </p:sp>
      <p:sp>
        <p:nvSpPr>
          <p:cNvPr id="611" name="e"/>
          <p:cNvSpPr/>
          <p:nvPr/>
        </p:nvSpPr>
        <p:spPr>
          <a:xfrm>
            <a:off x="762000" y="5232400"/>
            <a:ext cx="584200" cy="584200"/>
          </a:xfrm>
          <a:prstGeom prst="ellipse">
            <a:avLst/>
          </a:prstGeom>
          <a:solidFill>
            <a:srgbClr val="3D6FE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2" name="s"/>
          <p:cNvSpPr/>
          <p:nvPr/>
        </p:nvSpPr>
        <p:spPr>
          <a:xfrm>
            <a:off x="1524000" y="5130800"/>
            <a:ext cx="9906000" cy="787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D6DEEC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550" b="1" dirty="0">
                <a:solidFill>
                  <a:srgbClr val="1B2A4A"/>
                </a:solidFill>
                <a:ea typeface="Noto Sans KR"/>
              </a:rPr>
              <a:t>환각 검증 · 개인정보 보호 · 학술적 정직성 — 윤리 3원칙 항상 유지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ABA60A54-C03A-6F59-858D-81FA16F70304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68477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0" y="-12700"/>
            <a:ext cx="12192000" cy="1905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01" name="s"/>
          <p:cNvSpPr/>
          <p:nvPr/>
        </p:nvSpPr>
        <p:spPr>
          <a:xfrm>
            <a:off x="762000" y="508000"/>
            <a:ext cx="8890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3000" b="1" dirty="0">
                <a:solidFill>
                  <a:srgbClr val="1B2A4A"/>
                </a:solidFill>
                <a:ea typeface="Noto Sans KR"/>
              </a:rPr>
              <a:t>참고문헌 (References)</a:t>
            </a:r>
          </a:p>
        </p:txBody>
      </p:sp>
      <p:sp>
        <p:nvSpPr>
          <p:cNvPr id="602" name="s"/>
          <p:cNvSpPr/>
          <p:nvPr/>
        </p:nvSpPr>
        <p:spPr>
          <a:xfrm>
            <a:off x="787400" y="1270000"/>
            <a:ext cx="889000" cy="508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03" name="s"/>
          <p:cNvSpPr/>
          <p:nvPr/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3D6FE0"/>
                </a:solidFill>
                <a:ea typeface="Noto Sans KR"/>
              </a:rPr>
              <a:t>학술 문헌</a:t>
            </a:r>
          </a:p>
        </p:txBody>
      </p:sp>
      <p:sp>
        <p:nvSpPr>
          <p:cNvPr id="604" name="s"/>
          <p:cNvSpPr/>
          <p:nvPr/>
        </p:nvSpPr>
        <p:spPr>
          <a:xfrm>
            <a:off x="761999" y="1981200"/>
            <a:ext cx="10880501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2B3245"/>
                </a:solidFill>
              </a:rPr>
              <a:t>Anderson, L. W., &amp; Krathwohl, D. R. (2001). A Taxonomy for Learning, Teaching, and Assessing</a:t>
            </a:r>
            <a:br>
              <a:rPr lang="en-US" altLang="ko-KR" sz="1400" dirty="0">
                <a:solidFill>
                  <a:srgbClr val="2B3245"/>
                </a:solidFill>
              </a:rPr>
            </a:br>
            <a:r>
              <a:rPr lang="en-US" altLang="ko-KR" sz="1400" dirty="0">
                <a:solidFill>
                  <a:srgbClr val="2B3245"/>
                </a:solidFill>
              </a:rPr>
              <a:t>: A Revision of Bloom's Taxonomy of Educational Objectives. New York: Longman.</a:t>
            </a:r>
          </a:p>
          <a:p>
            <a:pPr marL="285750" indent="-28575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altLang="ko-KR" sz="1400" dirty="0">
                <a:solidFill>
                  <a:srgbClr val="2B3245"/>
                </a:solidFill>
              </a:rPr>
              <a:t>Dweck, C. S. (2006). Mindset: The New Psychology of Success. New York: Random House.</a:t>
            </a:r>
          </a:p>
          <a:p>
            <a:pPr marL="285750" indent="-28575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altLang="ko-KR" sz="1400" dirty="0">
                <a:solidFill>
                  <a:srgbClr val="2B3245"/>
                </a:solidFill>
              </a:rPr>
              <a:t>Hattie, J., &amp; Timperley, H. (2007). The Power of Feedback. Review of Educational Research, 77(1), 81–112.</a:t>
            </a:r>
          </a:p>
          <a:p>
            <a:pPr marL="285750" indent="-28575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altLang="ko-KR" sz="1400" dirty="0">
                <a:solidFill>
                  <a:srgbClr val="2B3245"/>
                </a:solidFill>
              </a:rPr>
              <a:t>Vaswani, A., Shazeer, N., Parmar, N., et al. (2017). Attention Is All You Need. Advances in Neural Information Processing Systems, 30.</a:t>
            </a:r>
          </a:p>
        </p:txBody>
      </p:sp>
      <p:sp>
        <p:nvSpPr>
          <p:cNvPr id="605" name="s"/>
          <p:cNvSpPr/>
          <p:nvPr/>
        </p:nvSpPr>
        <p:spPr>
          <a:xfrm>
            <a:off x="762000" y="44704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3D6FE0"/>
                </a:solidFill>
                <a:ea typeface="Noto Sans KR"/>
              </a:rPr>
              <a:t>자료 및 플랫폼</a:t>
            </a:r>
          </a:p>
        </p:txBody>
      </p:sp>
      <p:sp>
        <p:nvSpPr>
          <p:cNvPr id="606" name="s"/>
          <p:cNvSpPr/>
          <p:nvPr/>
        </p:nvSpPr>
        <p:spPr>
          <a:xfrm>
            <a:off x="762000" y="48768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2B3245"/>
                </a:solidFill>
                <a:ea typeface="Noto Sans KR"/>
              </a:rPr>
              <a:t>OpenAI · Anthropic · Google · LG AI연구원 · Upstage · Mindlogic · NAVER Cloud 공식 발표 자료 및 벤치마크 리더보드 (2025–2026).</a:t>
            </a:r>
          </a:p>
          <a:p>
            <a:pPr marL="285750" indent="-28575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altLang="ko-KR" sz="1400" dirty="0">
                <a:solidFill>
                  <a:srgbClr val="2B3245"/>
                </a:solidFill>
                <a:ea typeface="Noto Sans KR"/>
              </a:rPr>
              <a:t>DreamIT Biz (2026). SCORE 프롬프트 품질 평가 모델 · 교수자 학습 플랫폼.</a:t>
            </a:r>
          </a:p>
          <a:p>
            <a:pPr marL="285750" indent="-285750" algn="l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altLang="ko-KR" sz="1400" dirty="0">
                <a:solidFill>
                  <a:srgbClr val="2B3245"/>
                </a:solidFill>
                <a:ea typeface="Noto Sans KR"/>
              </a:rPr>
              <a:t>Mindlogic. FactChat 기관용 생성형 AI 플랫폼. mindlogic.ai</a:t>
            </a:r>
          </a:p>
        </p:txBody>
      </p:sp>
      <p:sp>
        <p:nvSpPr>
          <p:cNvPr id="60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64243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endParaRPr/>
          </a:p>
        </p:txBody>
      </p:sp>
      <p:sp>
        <p:nvSpPr>
          <p:cNvPr id="970" name="bgCircle"/>
          <p:cNvSpPr/>
          <p:nvPr/>
        </p:nvSpPr>
        <p:spPr>
          <a:xfrm>
            <a:off x="10096500" y="-698500"/>
            <a:ext cx="2794000" cy="2794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bgCircle"/>
          <p:cNvSpPr/>
          <p:nvPr/>
        </p:nvSpPr>
        <p:spPr>
          <a:xfrm>
            <a:off x="10502900" y="-292100"/>
            <a:ext cx="1981200" cy="19812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bgCircle"/>
          <p:cNvSpPr/>
          <p:nvPr/>
        </p:nvSpPr>
        <p:spPr>
          <a:xfrm>
            <a:off x="10909300" y="114300"/>
            <a:ext cx="1168400" cy="11684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3" name="bgCircle"/>
          <p:cNvSpPr/>
          <p:nvPr/>
        </p:nvSpPr>
        <p:spPr>
          <a:xfrm>
            <a:off x="-952500" y="4635500"/>
            <a:ext cx="3302000" cy="3302000"/>
          </a:xfrm>
          <a:prstGeom prst="ellipse">
            <a:avLst/>
          </a:prstGeom>
          <a:noFill/>
          <a:ln w="15875">
            <a:solidFill>
              <a:srgbClr val="5B8DEF">
                <a:alpha val="14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bgCircle"/>
          <p:cNvSpPr/>
          <p:nvPr/>
        </p:nvSpPr>
        <p:spPr>
          <a:xfrm>
            <a:off x="-508000" y="5080000"/>
            <a:ext cx="2413000" cy="2413000"/>
          </a:xfrm>
          <a:prstGeom prst="ellipse">
            <a:avLst/>
          </a:prstGeom>
          <a:noFill/>
          <a:ln w="15875">
            <a:solidFill>
              <a:srgbClr val="5B8DEF">
                <a:alpha val="11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bgCircle"/>
          <p:cNvSpPr/>
          <p:nvPr/>
        </p:nvSpPr>
        <p:spPr>
          <a:xfrm>
            <a:off x="-38100" y="5549900"/>
            <a:ext cx="1473200" cy="1473200"/>
          </a:xfrm>
          <a:prstGeom prst="ellipse">
            <a:avLst/>
          </a:prstGeom>
          <a:solidFill>
            <a:srgbClr val="5B8DEF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6" name="bgCircle"/>
          <p:cNvSpPr/>
          <p:nvPr/>
        </p:nvSpPr>
        <p:spPr>
          <a:xfrm>
            <a:off x="2895600" y="800100"/>
            <a:ext cx="304800" cy="3048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7" name="bgCircle"/>
          <p:cNvSpPr/>
          <p:nvPr/>
        </p:nvSpPr>
        <p:spPr>
          <a:xfrm>
            <a:off x="9525000" y="5715000"/>
            <a:ext cx="254000" cy="254000"/>
          </a:xfrm>
          <a:prstGeom prst="ellipse">
            <a:avLst/>
          </a:prstGeom>
          <a:solidFill>
            <a:srgbClr val="5B8DE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s"/>
          <p:cNvSpPr/>
          <p:nvPr/>
        </p:nvSpPr>
        <p:spPr>
          <a:xfrm>
            <a:off x="1016000" y="14986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4000" b="1" dirty="0">
                <a:solidFill>
                  <a:srgbClr val="FFFFFF"/>
                </a:solidFill>
                <a:ea typeface="Noto Sans KR"/>
              </a:rPr>
              <a:t>AI와 함께, 더 나은 교육을.</a:t>
            </a:r>
          </a:p>
        </p:txBody>
      </p:sp>
      <p:sp>
        <p:nvSpPr>
          <p:cNvPr id="602" name="s"/>
          <p:cNvSpPr/>
          <p:nvPr/>
        </p:nvSpPr>
        <p:spPr>
          <a:xfrm>
            <a:off x="5461000" y="2489200"/>
            <a:ext cx="1270000" cy="6350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endParaRPr/>
          </a:p>
        </p:txBody>
      </p:sp>
      <p:sp>
        <p:nvSpPr>
          <p:cNvPr id="603" name="s"/>
          <p:cNvSpPr/>
          <p:nvPr/>
        </p:nvSpPr>
        <p:spPr>
          <a:xfrm>
            <a:off x="4064000" y="2819400"/>
            <a:ext cx="4064000" cy="584200"/>
          </a:xfrm>
          <a:prstGeom prst="roundRect">
            <a:avLst>
              <a:gd name="adj" fmla="val 10"/>
            </a:avLst>
          </a:prstGeom>
          <a:solidFill>
            <a:srgbClr val="3D6F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ko-KR" sz="1700" b="1" dirty="0">
                <a:solidFill>
                  <a:srgbClr val="FFFFFF"/>
                </a:solidFill>
              </a:rPr>
              <a:t>https://useful-ai</a:t>
            </a:r>
            <a:r>
              <a:rPr lang="ko-KR" sz="1700" b="1" dirty="0" err="1">
                <a:solidFill>
                  <a:srgbClr val="FFFFFF"/>
                </a:solidFill>
              </a:rPr>
              <a:t>.dreamitbiz.com</a:t>
            </a:r>
            <a:endParaRPr lang="ko-KR" sz="1700" b="1" dirty="0">
              <a:solidFill>
                <a:srgbClr val="FFFFFF"/>
              </a:solidFill>
            </a:endParaRPr>
          </a:p>
        </p:txBody>
      </p:sp>
      <p:sp>
        <p:nvSpPr>
          <p:cNvPr id="604" name="s"/>
          <p:cNvSpPr/>
          <p:nvPr/>
        </p:nvSpPr>
        <p:spPr>
          <a:xfrm>
            <a:off x="2540000" y="38100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700" b="1" dirty="0">
                <a:solidFill>
                  <a:srgbClr val="FFFFFF"/>
                </a:solidFill>
                <a:ea typeface="Noto Sans KR"/>
              </a:rPr>
              <a:t>이애본   ·   DreamIT Biz</a:t>
            </a:r>
          </a:p>
        </p:txBody>
      </p:sp>
      <p:sp>
        <p:nvSpPr>
          <p:cNvPr id="605" name="s"/>
          <p:cNvSpPr/>
          <p:nvPr/>
        </p:nvSpPr>
        <p:spPr>
          <a:xfrm>
            <a:off x="2032000" y="4368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50" dirty="0">
                <a:solidFill>
                  <a:srgbClr val="AFC4F0"/>
                </a:solidFill>
                <a:ea typeface="Noto Sans KR"/>
              </a:rPr>
              <a:t>aebon@dreamitbiz.com   ·   010-3700-0629   ·   카카오톡 aebon</a:t>
            </a:r>
          </a:p>
        </p:txBody>
      </p:sp>
      <p:sp>
        <p:nvSpPr>
          <p:cNvPr id="607" name="s"/>
          <p:cNvSpPr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sz="1400" dirty="0">
                <a:solidFill>
                  <a:srgbClr val="8AA0C8"/>
                </a:solidFill>
                <a:ea typeface="Noto Sans KR"/>
              </a:rPr>
              <a:t>감사합니다 · </a:t>
            </a:r>
            <a:r>
              <a:rPr lang="ko-KR" altLang="en-US" sz="1400" dirty="0">
                <a:solidFill>
                  <a:srgbClr val="8AA0C8"/>
                </a:solidFill>
                <a:ea typeface="Noto Sans KR"/>
              </a:rPr>
              <a:t>발전적인 교류를</a:t>
            </a:r>
            <a:r>
              <a:rPr lang="ko-KR" sz="1400" dirty="0">
                <a:solidFill>
                  <a:srgbClr val="8AA0C8"/>
                </a:solidFill>
                <a:ea typeface="Noto Sans KR"/>
              </a:rPr>
              <a:t> 환영합니다</a:t>
            </a:r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AA8BBEEA-FCE4-4DCD-07AB-100BD3A1591E}"/>
              </a:ext>
            </a:extLst>
          </p:cNvPr>
          <p:cNvSpPr/>
          <p:nvPr/>
        </p:nvSpPr>
        <p:spPr>
          <a:xfrm>
            <a:off x="0" y="-12879"/>
            <a:ext cx="12192000" cy="190680"/>
          </a:xfrm>
          <a:prstGeom prst="rect">
            <a:avLst/>
          </a:prstGeom>
          <a:solidFill>
            <a:srgbClr val="3D6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19684210"/>
      </p:ext>
    </p:extLst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 [1781269790609]">
  <a:themeElements>
    <a:clrScheme name="Office">
      <a:dk1>
        <a:srgbClr val="1B2A4A"/>
      </a:dk1>
      <a:lt1>
        <a:srgbClr val="FFFFFF"/>
      </a:lt1>
      <a:dk2>
        <a:srgbClr val="1B2A4A"/>
      </a:dk2>
      <a:lt2>
        <a:srgbClr val="F1F3F9"/>
      </a:lt2>
      <a:accent1>
        <a:srgbClr val="3D6FE0"/>
      </a:accent1>
      <a:accent2>
        <a:srgbClr val="5B8DEF"/>
      </a:accent2>
      <a:accent3>
        <a:srgbClr val="3D6FE0"/>
      </a:accent3>
      <a:accent4>
        <a:srgbClr val="7C8DB5"/>
      </a:accent4>
      <a:accent5>
        <a:srgbClr val="8A94A6"/>
      </a:accent5>
      <a:accent6>
        <a:srgbClr val="A9C0F0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DCAEA3-5B67-A943-A586-3399B8FBC78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e913b35-e52e-478a-82b1-141fcdbe192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4185</Words>
  <Application>Microsoft Macintosh PowerPoint</Application>
  <PresentationFormat>와이드스크린</PresentationFormat>
  <Paragraphs>746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0" baseType="lpstr">
      <vt:lpstr>맑은 고딕</vt:lpstr>
      <vt:lpstr>Arial</vt:lpstr>
      <vt:lpstr>Office 테마 [1781269790609]</vt:lpstr>
      <vt:lpstr>교수의 일하는 방식을 AI로 혁신하는 2시간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이애본</dc:creator>
  <cp:lastModifiedBy>이애본</cp:lastModifiedBy>
  <cp:revision>9</cp:revision>
  <dcterms:created xsi:type="dcterms:W3CDTF">2026-06-12T07:42:45Z</dcterms:created>
  <dcterms:modified xsi:type="dcterms:W3CDTF">2026-06-12T13:18:16Z</dcterms:modified>
</cp:coreProperties>
</file>